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3.xml" ContentType="application/vnd.openxmlformats-officedocument.presentationml.tags+xml"/>
  <Override PartName="/ppt/notesSlides/notesSlide20.xml" ContentType="application/vnd.openxmlformats-officedocument.presentationml.notesSlide+xml"/>
  <Override PartName="/ppt/tags/tag4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5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86" r:id="rId2"/>
    <p:sldId id="454" r:id="rId3"/>
    <p:sldId id="457" r:id="rId4"/>
    <p:sldId id="538" r:id="rId5"/>
    <p:sldId id="537" r:id="rId6"/>
    <p:sldId id="536" r:id="rId7"/>
    <p:sldId id="539" r:id="rId8"/>
    <p:sldId id="540" r:id="rId9"/>
    <p:sldId id="541" r:id="rId10"/>
    <p:sldId id="542" r:id="rId11"/>
    <p:sldId id="571" r:id="rId12"/>
    <p:sldId id="543" r:id="rId13"/>
    <p:sldId id="544" r:id="rId14"/>
    <p:sldId id="545" r:id="rId15"/>
    <p:sldId id="546" r:id="rId16"/>
    <p:sldId id="535" r:id="rId17"/>
    <p:sldId id="534" r:id="rId18"/>
    <p:sldId id="533" r:id="rId19"/>
    <p:sldId id="532" r:id="rId20"/>
    <p:sldId id="531" r:id="rId21"/>
    <p:sldId id="529" r:id="rId22"/>
    <p:sldId id="561" r:id="rId23"/>
    <p:sldId id="562" r:id="rId24"/>
    <p:sldId id="563" r:id="rId25"/>
    <p:sldId id="564" r:id="rId26"/>
    <p:sldId id="565" r:id="rId27"/>
    <p:sldId id="566" r:id="rId28"/>
    <p:sldId id="567" r:id="rId29"/>
    <p:sldId id="569" r:id="rId30"/>
    <p:sldId id="456" r:id="rId31"/>
  </p:sldIdLst>
  <p:sldSz cx="12192000" cy="6858000"/>
  <p:notesSz cx="7010400" cy="92964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2">
          <p15:clr>
            <a:srgbClr val="A4A3A4"/>
          </p15:clr>
        </p15:guide>
        <p15:guide id="2" orient="horz" pos="2755">
          <p15:clr>
            <a:srgbClr val="A4A3A4"/>
          </p15:clr>
        </p15:guide>
        <p15:guide id="3" orient="horz" pos="1281">
          <p15:clr>
            <a:srgbClr val="A4A3A4"/>
          </p15:clr>
        </p15:guide>
        <p15:guide id="4" pos="3840">
          <p15:clr>
            <a:srgbClr val="A4A3A4"/>
          </p15:clr>
        </p15:guide>
        <p15:guide id="5" pos="1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2">
          <p15:clr>
            <a:srgbClr val="A4A3A4"/>
          </p15:clr>
        </p15:guide>
        <p15:guide id="2" orient="horz" pos="3202">
          <p15:clr>
            <a:srgbClr val="A4A3A4"/>
          </p15:clr>
        </p15:guide>
        <p15:guide id="3" pos="2880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00FF"/>
    <a:srgbClr val="FF0000"/>
    <a:srgbClr val="9933FF"/>
    <a:srgbClr val="009AD0"/>
    <a:srgbClr val="002060"/>
    <a:srgbClr val="009900"/>
    <a:srgbClr val="1569F0"/>
    <a:srgbClr val="F79646"/>
    <a:srgbClr val="245D60"/>
    <a:srgbClr val="DD4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4" autoAdjust="0"/>
    <p:restoredTop sz="64642" autoAdjust="0"/>
  </p:normalViewPr>
  <p:slideViewPr>
    <p:cSldViewPr snapToGrid="0">
      <p:cViewPr varScale="1">
        <p:scale>
          <a:sx n="69" d="100"/>
          <a:sy n="69" d="100"/>
        </p:scale>
        <p:origin x="2288" y="184"/>
      </p:cViewPr>
      <p:guideLst>
        <p:guide orient="horz" pos="2362"/>
        <p:guide orient="horz" pos="2755"/>
        <p:guide orient="horz" pos="1281"/>
        <p:guide pos="3840"/>
        <p:guide pos="12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-2790" y="-78"/>
      </p:cViewPr>
      <p:guideLst>
        <p:guide orient="horz" pos="2102"/>
        <p:guide orient="horz" pos="3202"/>
        <p:guide pos="2880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915CCEA-4D12-4250-ABBC-1F15DE901CBC}" type="datetimeFigureOut">
              <a:rPr lang="zh-CN" altLang="en-US"/>
              <a:t>2025/10/23</a:t>
            </a:fld>
            <a:endParaRPr lang="en-US" altLang="zh-CN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A76C4A-4CA1-4C6A-946C-E26A5534DC9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49965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1344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FAF2163-2CD8-43A9-AAB8-953EE3B200FA}" type="datetimeFigureOut">
              <a:rPr lang="zh-CN" altLang="en-US"/>
              <a:t>2025/10/23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1344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798234E-E7EE-4FBE-B288-F5A88D0BAAD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723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zh-CN" sz="1200" kern="12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ln>
                <a:noFill/>
              </a:ln>
              <a:solidFill>
                <a:srgbClr val="CC33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 eaLnBrk="1" hangingPunct="1">
              <a:lnSpc>
                <a:spcPct val="130000"/>
              </a:lnSpc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G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-1" y="6817500"/>
            <a:ext cx="12204000" cy="40500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8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68"/>
            <a:ext cx="1716196" cy="50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 descr="https://gimg2.baidu.com/image_search/src=http%3A%2F%2Fscibit.com%2Fwp-content%2Fuploads%2Fsites%2F29%2F2016%2F12%2Fmysql.jpg&amp;refer=http%3A%2F%2Fscibit.com&amp;app=2002&amp;size=f9999,10000&amp;q=a80&amp;n=0&amp;g=0n&amp;fmt=jpeg?sec=1617097019&amp;t=50d79522f2407f4e27c19386f4a66441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14"/>
          <p:cNvGrpSpPr/>
          <p:nvPr userDrawn="1"/>
        </p:nvGrpSpPr>
        <p:grpSpPr>
          <a:xfrm flipV="1">
            <a:off x="-1" y="6857999"/>
            <a:ext cx="12204000" cy="45719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15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710" y="6450629"/>
            <a:ext cx="1968290" cy="366871"/>
          </a:xfrm>
          <a:prstGeom prst="rect">
            <a:avLst/>
          </a:prstGeom>
        </p:spPr>
      </p:pic>
      <p:pic>
        <p:nvPicPr>
          <p:cNvPr id="17" name="图片 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25"/>
            <a:ext cx="210661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48551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28958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T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矩形 7"/>
          <p:cNvSpPr>
            <a:spLocks noChangeArrowheads="1"/>
          </p:cNvSpPr>
          <p:nvPr userDrawn="1"/>
        </p:nvSpPr>
        <p:spPr bwMode="auto">
          <a:xfrm>
            <a:off x="5298013" y="6807215"/>
            <a:ext cx="4318041" cy="54000"/>
          </a:xfrm>
          <a:prstGeom prst="rect">
            <a:avLst/>
          </a:prstGeom>
          <a:solidFill>
            <a:srgbClr val="317FB7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8"/>
          <p:cNvSpPr>
            <a:spLocks noChangeArrowheads="1"/>
          </p:cNvSpPr>
          <p:nvPr userDrawn="1"/>
        </p:nvSpPr>
        <p:spPr bwMode="auto">
          <a:xfrm flipH="1">
            <a:off x="-1" y="6807215"/>
            <a:ext cx="3429017" cy="54000"/>
          </a:xfrm>
          <a:prstGeom prst="rect">
            <a:avLst/>
          </a:prstGeom>
          <a:solidFill>
            <a:srgbClr val="92D050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 userDrawn="1"/>
        </p:nvSpPr>
        <p:spPr bwMode="auto">
          <a:xfrm flipH="1">
            <a:off x="3428982" y="6807215"/>
            <a:ext cx="1873285" cy="54000"/>
          </a:xfrm>
          <a:prstGeom prst="rect">
            <a:avLst/>
          </a:prstGeom>
          <a:solidFill>
            <a:srgbClr val="F49022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矩形 12"/>
          <p:cNvSpPr>
            <a:spLocks noChangeArrowheads="1"/>
          </p:cNvSpPr>
          <p:nvPr userDrawn="1"/>
        </p:nvSpPr>
        <p:spPr bwMode="auto">
          <a:xfrm flipH="1">
            <a:off x="9620274" y="6807215"/>
            <a:ext cx="2571725" cy="54000"/>
          </a:xfrm>
          <a:prstGeom prst="rect">
            <a:avLst/>
          </a:prstGeom>
          <a:solidFill>
            <a:srgbClr val="EE3636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296303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209" y="6497747"/>
            <a:ext cx="1968290" cy="366871"/>
          </a:xfrm>
          <a:prstGeom prst="rect">
            <a:avLst/>
          </a:prstGeom>
        </p:spPr>
      </p:pic>
      <p:pic>
        <p:nvPicPr>
          <p:cNvPr id="7" name="Picture 2" descr="https://www.shiep.edu.cn/_upload/article/images/ae/f5/a315f22e46eba7886e93c3942349/e87d7fad-391a-42bc-b0b3-a522274164b9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0" y="6063"/>
            <a:ext cx="1647588" cy="39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7143" y="1"/>
            <a:ext cx="564856" cy="62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22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8.png"/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448763" y="15"/>
            <a:ext cx="27262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                  </a:t>
            </a:r>
          </a:p>
          <a:p>
            <a:endParaRPr lang="zh-CN" altLang="en-US" dirty="0"/>
          </a:p>
        </p:txBody>
      </p:sp>
      <p:sp>
        <p:nvSpPr>
          <p:cNvPr id="9" name="TextBox 1"/>
          <p:cNvSpPr>
            <a:spLocks noChangeArrowheads="1"/>
          </p:cNvSpPr>
          <p:nvPr/>
        </p:nvSpPr>
        <p:spPr bwMode="auto">
          <a:xfrm>
            <a:off x="2218540" y="975521"/>
            <a:ext cx="7345184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rIns="0">
            <a:spAutoFit/>
          </a:bodyPr>
          <a:lstStyle/>
          <a:p>
            <a:pPr algn="ctr"/>
            <a:endParaRPr lang="en-US" altLang="zh-CN" sz="5400" b="1" dirty="0">
              <a:solidFill>
                <a:srgbClr val="0058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细圆简体"/>
            </a:endParaRPr>
          </a:p>
          <a:p>
            <a:pPr algn="ctr"/>
            <a:r>
              <a:rPr lang="zh-CN" altLang="en-US" sz="5400" b="1" dirty="0">
                <a:solidFill>
                  <a:srgbClr val="0058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细圆简体"/>
              </a:rPr>
              <a:t>数据库原理</a:t>
            </a: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833" y="15"/>
            <a:ext cx="5515227" cy="481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44074" y="1015661"/>
            <a:ext cx="8128000" cy="5262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sz="4000" b="1" dirty="0">
                <a:solidFill>
                  <a:srgbClr val="003300"/>
                </a:solidFill>
              </a:rPr>
              <a:t>第三章    </a:t>
            </a:r>
            <a:r>
              <a:rPr lang="zh-CN" sz="4000" b="1" dirty="0">
                <a:solidFill>
                  <a:srgbClr val="003300"/>
                </a:solidFill>
              </a:rPr>
              <a:t>结构化查询语言</a:t>
            </a:r>
            <a:r>
              <a:rPr lang="en-US" altLang="zh-CN" sz="4000" b="1" dirty="0">
                <a:solidFill>
                  <a:srgbClr val="003300"/>
                </a:solidFill>
              </a:rPr>
              <a:t>SQL</a:t>
            </a:r>
          </a:p>
          <a:p>
            <a:pPr eaLnBrk="1" hangingPunct="1">
              <a:spcBef>
                <a:spcPct val="40000"/>
              </a:spcBef>
            </a:pPr>
            <a:endParaRPr lang="zh-CN" altLang="en-US" sz="4000" b="1" dirty="0">
              <a:solidFill>
                <a:srgbClr val="FF66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</a:rPr>
              <a:t>	3.1 SQL</a:t>
            </a:r>
            <a:r>
              <a:rPr lang="zh-CN" altLang="en-US" sz="3200" b="1" dirty="0">
                <a:solidFill>
                  <a:schemeClr val="tx1"/>
                </a:solidFill>
              </a:rPr>
              <a:t>概述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</a:t>
            </a:r>
            <a:r>
              <a:rPr lang="en-US" altLang="zh-CN" sz="3200" b="1" dirty="0">
                <a:solidFill>
                  <a:schemeClr val="tx1"/>
                </a:solidFill>
              </a:rPr>
              <a:t>3.2 </a:t>
            </a:r>
            <a:r>
              <a:rPr lang="zh-CN" altLang="en-US" sz="3200" b="1" dirty="0">
                <a:solidFill>
                  <a:schemeClr val="tx1"/>
                </a:solidFill>
              </a:rPr>
              <a:t>数据定义语句</a:t>
            </a:r>
            <a:endParaRPr lang="zh-CN" altLang="en-US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</a:t>
            </a:r>
            <a:r>
              <a:rPr lang="en-US" altLang="zh-CN" sz="3200" b="1" dirty="0">
                <a:solidFill>
                  <a:srgbClr val="FF0000"/>
                </a:solidFill>
              </a:rPr>
              <a:t>3.3 </a:t>
            </a:r>
            <a:r>
              <a:rPr lang="zh-CN" altLang="en-US" sz="3200" b="1" dirty="0">
                <a:solidFill>
                  <a:srgbClr val="FF0000"/>
                </a:solidFill>
              </a:rPr>
              <a:t>查询</a:t>
            </a:r>
            <a:endParaRPr lang="zh-CN" altLang="en-US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dirty="0"/>
              <a:t>       </a:t>
            </a:r>
            <a:r>
              <a:rPr lang="en-US" altLang="zh-CN" sz="3200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3.4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数据更新</a:t>
            </a:r>
            <a:endParaRPr lang="zh-CN" altLang="en-US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ym typeface="+mn-ea"/>
              </a:rPr>
              <a:t>	3.5 </a:t>
            </a:r>
            <a:r>
              <a:rPr lang="zh-CN" altLang="en-US" sz="3200" b="1" dirty="0">
                <a:sym typeface="+mn-ea"/>
              </a:rPr>
              <a:t>视图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91138" name="Rectangle 3"/>
          <p:cNvSpPr>
            <a:spLocks noGrp="1"/>
          </p:cNvSpPr>
          <p:nvPr/>
        </p:nvSpPr>
        <p:spPr>
          <a:xfrm>
            <a:off x="616585" y="829945"/>
            <a:ext cx="11181715" cy="16764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在一个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select-from-while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子句或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having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短语中，又出现了另一个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语句，这种查询称为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嵌套查询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250884" name="Rectangle 4"/>
          <p:cNvSpPr/>
          <p:nvPr/>
        </p:nvSpPr>
        <p:spPr>
          <a:xfrm>
            <a:off x="757555" y="2058670"/>
            <a:ext cx="8305800" cy="3048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如：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prj_name </a:t>
            </a:r>
          </a:p>
          <a:p>
            <a:pPr marL="342900" indent="-342900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FROM Salvaging</a:t>
            </a:r>
          </a:p>
          <a:p>
            <a:pPr marL="342900" indent="-342900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WHERE prj_num IN</a:t>
            </a:r>
          </a:p>
          <a:p>
            <a:pPr marL="342900" indent="-342900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(  SELECT prj_num </a:t>
            </a:r>
          </a:p>
          <a:p>
            <a:pPr marL="342900" indent="-342900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FROM Out_stock</a:t>
            </a:r>
          </a:p>
          <a:p>
            <a:pPr marL="342900" indent="-342900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WHERE mat_num='m003'</a:t>
            </a:r>
          </a:p>
          <a:p>
            <a:pPr marL="342900" indent="-342900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);</a:t>
            </a:r>
          </a:p>
        </p:txBody>
      </p:sp>
      <p:grpSp>
        <p:nvGrpSpPr>
          <p:cNvPr id="2" name="Group 6"/>
          <p:cNvGrpSpPr/>
          <p:nvPr/>
        </p:nvGrpSpPr>
        <p:grpSpPr>
          <a:xfrm>
            <a:off x="4737735" y="2429907"/>
            <a:ext cx="3171663" cy="1116568"/>
            <a:chOff x="2784" y="2022"/>
            <a:chExt cx="1150" cy="272"/>
          </a:xfrm>
        </p:grpSpPr>
        <p:sp>
          <p:nvSpPr>
            <p:cNvPr id="91141" name="AutoShape 7"/>
            <p:cNvSpPr/>
            <p:nvPr/>
          </p:nvSpPr>
          <p:spPr>
            <a:xfrm>
              <a:off x="2784" y="2022"/>
              <a:ext cx="204" cy="272"/>
            </a:xfrm>
            <a:prstGeom prst="rightBrace">
              <a:avLst>
                <a:gd name="adj1" fmla="val 25000"/>
                <a:gd name="adj2" fmla="val 47421"/>
              </a:avLst>
            </a:prstGeom>
            <a:noFill/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anchor="ctr" anchorCtr="0">
              <a:spAutoFit/>
            </a:bodyPr>
            <a:lstStyle/>
            <a:p>
              <a:pPr eaLnBrk="1" latinLnBrk="0" hangingPunct="1">
                <a:lnSpc>
                  <a:spcPct val="125000"/>
                </a:lnSpc>
                <a:spcBef>
                  <a:spcPts val="0"/>
                </a:spcBef>
              </a:pP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142" name="Rectangle 8"/>
            <p:cNvSpPr/>
            <p:nvPr/>
          </p:nvSpPr>
          <p:spPr>
            <a:xfrm>
              <a:off x="3023" y="2081"/>
              <a:ext cx="911" cy="135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1" latinLnBrk="0" hangingPunct="1">
                <a:lnSpc>
                  <a:spcPct val="125000"/>
                </a:lnSpc>
                <a:spcBef>
                  <a:spcPts val="0"/>
                </a:spcBef>
              </a:pPr>
              <a:r>
                <a:rPr lang="zh-CN" altLang="en-US" sz="24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外层查询</a:t>
              </a:r>
              <a:r>
                <a:rPr lang="en-US" altLang="zh-CN" sz="24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24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父查询</a:t>
              </a:r>
            </a:p>
          </p:txBody>
        </p:sp>
      </p:grpSp>
      <p:grpSp>
        <p:nvGrpSpPr>
          <p:cNvPr id="3" name="Group 9"/>
          <p:cNvGrpSpPr/>
          <p:nvPr/>
        </p:nvGrpSpPr>
        <p:grpSpPr>
          <a:xfrm>
            <a:off x="6278880" y="3762375"/>
            <a:ext cx="3124835" cy="1464310"/>
            <a:chOff x="2784" y="2104"/>
            <a:chExt cx="1539" cy="115"/>
          </a:xfrm>
        </p:grpSpPr>
        <p:sp>
          <p:nvSpPr>
            <p:cNvPr id="91144" name="AutoShape 10"/>
            <p:cNvSpPr/>
            <p:nvPr/>
          </p:nvSpPr>
          <p:spPr>
            <a:xfrm>
              <a:off x="2784" y="2104"/>
              <a:ext cx="262" cy="115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222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anchor="ctr" anchorCtr="0">
              <a:spAutoFit/>
            </a:bodyPr>
            <a:lstStyle/>
            <a:p>
              <a:pPr eaLnBrk="1" latinLnBrk="0" hangingPunct="1">
                <a:lnSpc>
                  <a:spcPct val="125000"/>
                </a:lnSpc>
                <a:spcBef>
                  <a:spcPts val="0"/>
                </a:spcBef>
              </a:pP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145" name="Rectangle 11"/>
            <p:cNvSpPr/>
            <p:nvPr/>
          </p:nvSpPr>
          <p:spPr>
            <a:xfrm>
              <a:off x="3104" y="2144"/>
              <a:ext cx="1219" cy="43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1" latinLnBrk="0" hangingPunct="1">
                <a:lnSpc>
                  <a:spcPct val="125000"/>
                </a:lnSpc>
                <a:spcBef>
                  <a:spcPts val="0"/>
                </a:spcBef>
              </a:pPr>
              <a:r>
                <a:rPr lang="zh-CN" altLang="en-US" sz="24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内层查询</a:t>
              </a:r>
              <a:r>
                <a:rPr lang="en-US" altLang="zh-CN" sz="24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24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子查询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251907" name="Rectangle 3"/>
          <p:cNvSpPr>
            <a:spLocks noGrp="1"/>
          </p:cNvSpPr>
          <p:nvPr/>
        </p:nvSpPr>
        <p:spPr>
          <a:xfrm>
            <a:off x="245745" y="1206500"/>
            <a:ext cx="11334115" cy="313436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eaLnBrk="1" hangingPunct="1">
              <a:lnSpc>
                <a:spcPct val="14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允许多层嵌套查询，层层嵌套方式反映了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语言的结构化；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子查询的限制：不能使用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ORDER BY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子句，即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order by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只能对最终结果排序；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有些嵌套查询可以用连接运算替代。</a:t>
            </a:r>
          </a:p>
          <a:p>
            <a:pPr lvl="1" eaLnBrk="1" hangingPunct="1">
              <a:lnSpc>
                <a:spcPct val="14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92515" name="Rectangle 3"/>
          <p:cNvSpPr/>
          <p:nvPr/>
        </p:nvSpPr>
        <p:spPr>
          <a:xfrm>
            <a:off x="245745" y="1884045"/>
            <a:ext cx="11727815" cy="48768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09600" indent="-609600"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3.52】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查询与规格为“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BVV-120”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的“护套绝缘电线”在同一个仓库存放的物资名称、规格和数量。</a:t>
            </a:r>
          </a:p>
          <a:p>
            <a:pPr marL="609600" indent="-609600"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）确定规格为“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BVV-120”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的“护套绝缘电线”的物资所存放仓库名称：</a:t>
            </a:r>
          </a:p>
          <a:p>
            <a:pPr marL="609600" indent="-609600"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warehouse</a:t>
            </a:r>
          </a:p>
          <a:p>
            <a:pPr marL="609600" indent="-609600"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FROM Stock</a:t>
            </a:r>
          </a:p>
          <a:p>
            <a:pPr marL="609600" indent="-609600"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WHERE speci ='BVV-120'  AND mat_name ='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护套绝缘电线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';</a:t>
            </a:r>
          </a:p>
          <a:p>
            <a:pPr marL="609600" indent="-609600"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09600" indent="-609600"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结果：</a:t>
            </a:r>
          </a:p>
          <a:p>
            <a:pPr marL="609600" indent="-609600"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</a:p>
        </p:txBody>
      </p:sp>
      <p:sp>
        <p:nvSpPr>
          <p:cNvPr id="93188" name="Rectangle 6"/>
          <p:cNvSpPr/>
          <p:nvPr/>
        </p:nvSpPr>
        <p:spPr>
          <a:xfrm>
            <a:off x="381000" y="741045"/>
            <a:ext cx="9220200" cy="55308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带谓词</a:t>
            </a: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的嵌套查询</a:t>
            </a:r>
          </a:p>
        </p:txBody>
      </p:sp>
      <p:sp>
        <p:nvSpPr>
          <p:cNvPr id="93189" name="Rectangle 7"/>
          <p:cNvSpPr/>
          <p:nvPr/>
        </p:nvSpPr>
        <p:spPr>
          <a:xfrm>
            <a:off x="457200" y="1274445"/>
            <a:ext cx="11145520" cy="609600"/>
          </a:xfrm>
          <a:prstGeom prst="rect">
            <a:avLst/>
          </a:prstGeom>
          <a:noFill/>
          <a:ln w="22225">
            <a:noFill/>
          </a:ln>
        </p:spPr>
        <p:txBody>
          <a:bodyPr anchor="t" anchorCtr="0"/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－子查询的结果是一个集合。</a:t>
            </a:r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029" y="4898390"/>
            <a:ext cx="3262757" cy="1418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charRg st="123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2515">
                                            <p:txEl>
                                              <p:charRg st="123" end="1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charRg st="177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2515">
                                            <p:txEl>
                                              <p:charRg st="177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93538" name="Rectangle 2"/>
          <p:cNvSpPr/>
          <p:nvPr/>
        </p:nvSpPr>
        <p:spPr>
          <a:xfrm>
            <a:off x="268605" y="1003300"/>
            <a:ext cx="5474970" cy="462851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②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查找存放在供电局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仓库的物资：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mat_name, speci, amount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warehouse ='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';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查询结果为：</a:t>
            </a:r>
          </a:p>
          <a:p>
            <a:pPr eaLnBrk="1" hangingPunct="1">
              <a:buNone/>
            </a:pP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5233" name="Rectangle 2"/>
          <p:cNvSpPr/>
          <p:nvPr/>
        </p:nvSpPr>
        <p:spPr>
          <a:xfrm>
            <a:off x="5905500" y="894715"/>
            <a:ext cx="6200140" cy="506920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步查询嵌入到第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步查询的条件中，构造嵌套查询，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语句如下：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mat_name, speci, amount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warehouse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</a:t>
            </a: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( SELECT warehouse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FROM 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WHERE speci ='BVV-120'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AND mat_name ='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护套绝缘电线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');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5743575" y="705485"/>
            <a:ext cx="64770" cy="6152515"/>
          </a:xfrm>
          <a:prstGeom prst="line">
            <a:avLst/>
          </a:prstGeom>
          <a:ln>
            <a:solidFill>
              <a:srgbClr val="4CC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177030"/>
            <a:ext cx="4459140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3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3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5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5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5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5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52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52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52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52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1978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96257" name="Rectangle 3"/>
          <p:cNvSpPr>
            <a:spLocks noGrp="1"/>
          </p:cNvSpPr>
          <p:nvPr/>
        </p:nvSpPr>
        <p:spPr>
          <a:xfrm>
            <a:off x="530225" y="3409950"/>
            <a:ext cx="10161270" cy="294195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本例中的查询也可以用自身连接来完成：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s1.mat_name, s1.speci, s1.amount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Stock s1,Stock s2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s1.warehouse=s2.warehouse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and s2.speci ='BVV-120'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and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s2.mat_name ='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护套绝缘电线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';</a:t>
            </a:r>
          </a:p>
        </p:txBody>
      </p:sp>
      <p:sp>
        <p:nvSpPr>
          <p:cNvPr id="99329" name="Rectangle 3"/>
          <p:cNvSpPr>
            <a:spLocks noGrp="1"/>
          </p:cNvSpPr>
          <p:nvPr/>
        </p:nvSpPr>
        <p:spPr>
          <a:xfrm>
            <a:off x="530225" y="751205"/>
            <a:ext cx="8763000" cy="12954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</a:pP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不相关子查询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－子查询的查询条件不依赖于父查询。</a:t>
            </a:r>
          </a:p>
        </p:txBody>
      </p:sp>
      <p:sp>
        <p:nvSpPr>
          <p:cNvPr id="254980" name="Rectangle 4"/>
          <p:cNvSpPr/>
          <p:nvPr/>
        </p:nvSpPr>
        <p:spPr>
          <a:xfrm>
            <a:off x="290830" y="1689100"/>
            <a:ext cx="11670030" cy="147637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求解方法：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由里向外逐层处理</a:t>
            </a:r>
          </a:p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即每个子查询在上一级查询处理之前求解，子查询的结果用于建立其父查询的查找条件。</a:t>
            </a:r>
          </a:p>
        </p:txBody>
      </p:sp>
      <p:sp>
        <p:nvSpPr>
          <p:cNvPr id="2" name="矩形 1"/>
          <p:cNvSpPr/>
          <p:nvPr/>
        </p:nvSpPr>
        <p:spPr>
          <a:xfrm>
            <a:off x="399415" y="751205"/>
            <a:ext cx="11393805" cy="2658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7" grpId="0"/>
      <p:bldP spid="96257" grpId="1"/>
      <p:bldP spid="25498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97281" name="Rectangle 3"/>
          <p:cNvSpPr>
            <a:spLocks noGrp="1"/>
          </p:cNvSpPr>
          <p:nvPr/>
        </p:nvSpPr>
        <p:spPr>
          <a:xfrm>
            <a:off x="430530" y="740410"/>
            <a:ext cx="10884535" cy="6096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3.47】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查询工程项目为“观澜站光缆抢修”抢修所使用的物资编号和名称。</a:t>
            </a:r>
          </a:p>
        </p:txBody>
      </p:sp>
      <p:sp>
        <p:nvSpPr>
          <p:cNvPr id="253956" name="Rectangle 4"/>
          <p:cNvSpPr/>
          <p:nvPr/>
        </p:nvSpPr>
        <p:spPr>
          <a:xfrm>
            <a:off x="1366203" y="2810193"/>
            <a:ext cx="5029200" cy="1524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mat_num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FROM Out_stock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WHERE prj_num IN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53957" name="Rectangle 5"/>
          <p:cNvSpPr/>
          <p:nvPr/>
        </p:nvSpPr>
        <p:spPr>
          <a:xfrm>
            <a:off x="430213" y="1514793"/>
            <a:ext cx="5867400" cy="1524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mat_num, mat_name 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Stock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WHERE mat_num IN</a:t>
            </a:r>
          </a:p>
        </p:txBody>
      </p:sp>
      <p:sp>
        <p:nvSpPr>
          <p:cNvPr id="253958" name="Rectangle 6"/>
          <p:cNvSpPr/>
          <p:nvPr/>
        </p:nvSpPr>
        <p:spPr>
          <a:xfrm>
            <a:off x="2186623" y="4236720"/>
            <a:ext cx="5943600" cy="14763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  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prj_num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FROM Salvaging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WHERE prj_name ='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观澜站光缆抢修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));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12815" y="4334510"/>
            <a:ext cx="4927600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①</a:t>
            </a:r>
            <a:r>
              <a:rPr 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Salvaging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表中确定观澜站光缆抢修的项目编号：20110003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737735" y="2068830"/>
            <a:ext cx="2963545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③</a:t>
            </a:r>
            <a:r>
              <a:rPr 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在stock关系中</a:t>
            </a:r>
            <a:r>
              <a:rPr 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查询其</a:t>
            </a:r>
            <a:r>
              <a:rPr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mat_num和mat_name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98795" y="3383280"/>
            <a:ext cx="4666615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②在out_stock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表中</a:t>
            </a:r>
            <a:r>
              <a:rPr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找出20110003号工程使用的物资编号</a:t>
            </a:r>
            <a:r>
              <a:rPr 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m001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m003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3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3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/>
      <p:bldP spid="253957" grpId="0"/>
      <p:bldP spid="253958" grpId="0"/>
      <p:bldP spid="5" grpId="0"/>
      <p:bldP spid="5" grpId="1"/>
      <p:bldP spid="6" grpId="0"/>
      <p:bldP spid="6" grpId="1"/>
      <p:bldP spid="7" grpId="0"/>
      <p:bldP spid="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96610" name="Rectangle 2"/>
          <p:cNvSpPr/>
          <p:nvPr/>
        </p:nvSpPr>
        <p:spPr>
          <a:xfrm>
            <a:off x="883920" y="1811020"/>
            <a:ext cx="8748395" cy="266001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Stock.mat_num, mat_name                        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Stock,Out_stock, Salvaging                                               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Stock.mat_num = Out_stock.mat_num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AND  Out_stock.prj_num= Salvaging.prj_num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AND  prj_name ='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观澜站光缆抢修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';</a:t>
            </a:r>
          </a:p>
        </p:txBody>
      </p:sp>
      <p:sp>
        <p:nvSpPr>
          <p:cNvPr id="98306" name="Rectangle 3"/>
          <p:cNvSpPr/>
          <p:nvPr/>
        </p:nvSpPr>
        <p:spPr>
          <a:xfrm>
            <a:off x="457200" y="1066800"/>
            <a:ext cx="7772400" cy="60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也可用连接查询实现：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6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0" grpId="0"/>
      <p:bldP spid="196610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97635" name="Rectangle 3"/>
          <p:cNvSpPr/>
          <p:nvPr/>
        </p:nvSpPr>
        <p:spPr>
          <a:xfrm>
            <a:off x="300990" y="2033270"/>
            <a:ext cx="11590655" cy="452628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3.54】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查询出库存量超过该仓库物资平均库存量的物资编号、名称、规格及数量。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SELECT mat_num, mat_name,speci,amount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FROM Stock  </a:t>
            </a: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WHERE amount&gt;(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       );	 </a:t>
            </a:r>
          </a:p>
        </p:txBody>
      </p:sp>
      <p:sp>
        <p:nvSpPr>
          <p:cNvPr id="100354" name="Rectangle 5"/>
          <p:cNvSpPr/>
          <p:nvPr/>
        </p:nvSpPr>
        <p:spPr>
          <a:xfrm>
            <a:off x="426085" y="798830"/>
            <a:ext cx="8783320" cy="55308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带有比较运算符的子查询</a:t>
            </a:r>
          </a:p>
        </p:txBody>
      </p:sp>
      <p:sp>
        <p:nvSpPr>
          <p:cNvPr id="100355" name="Rectangle 6"/>
          <p:cNvSpPr/>
          <p:nvPr/>
        </p:nvSpPr>
        <p:spPr>
          <a:xfrm>
            <a:off x="502285" y="1350010"/>
            <a:ext cx="10855960" cy="990600"/>
          </a:xfrm>
          <a:prstGeom prst="rect">
            <a:avLst/>
          </a:prstGeom>
          <a:noFill/>
          <a:ln w="22225">
            <a:noFill/>
          </a:ln>
        </p:spPr>
        <p:txBody>
          <a:bodyPr anchor="t" anchorCtr="0"/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</a:pPr>
            <a:r>
              <a:rPr lang="zh-CN" altLang="en-US" sz="2400" dirty="0">
                <a:solidFill>
                  <a:srgbClr val="1D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－确定子查询返回的是单值，则子查询与父查询之间可用比较运算符连接。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766820" y="3960495"/>
            <a:ext cx="685419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SELECT avg(amount)</a:t>
            </a: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FROM Stock  </a:t>
            </a: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WHERE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874010" y="3500120"/>
            <a:ext cx="10134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solidFill>
                  <a:srgbClr val="1D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s1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763260" y="4468495"/>
            <a:ext cx="10134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solidFill>
                  <a:srgbClr val="1D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s2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166995" y="4928870"/>
            <a:ext cx="43484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400" dirty="0">
                <a:solidFill>
                  <a:srgbClr val="1D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s2.warehouse=s1.warehouse</a:t>
            </a:r>
          </a:p>
        </p:txBody>
      </p:sp>
      <p:sp>
        <p:nvSpPr>
          <p:cNvPr id="8" name="圆角矩形标注 7"/>
          <p:cNvSpPr/>
          <p:nvPr/>
        </p:nvSpPr>
        <p:spPr>
          <a:xfrm>
            <a:off x="8465185" y="3115310"/>
            <a:ext cx="2155825" cy="634365"/>
          </a:xfrm>
          <a:prstGeom prst="wedgeRoundRectCallout">
            <a:avLst>
              <a:gd name="adj1" fmla="val -82724"/>
              <a:gd name="adj2" fmla="val 112362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相关子查询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  <p:bldP spid="6" grpId="0"/>
      <p:bldP spid="6" grpId="1"/>
      <p:bldP spid="7" grpId="0"/>
      <p:bldP spid="7" grpId="1"/>
      <p:bldP spid="8" grpId="0" animBg="1"/>
      <p:bldP spid="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pic>
        <p:nvPicPr>
          <p:cNvPr id="2" name="图片 -21474826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030" y="746125"/>
            <a:ext cx="5675630" cy="32689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123825" y="746125"/>
            <a:ext cx="6339205" cy="54775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9875" eaLnBrk="1" latinLnBrk="0" hangingPunct="1">
              <a:lnSpc>
                <a:spcPct val="125000"/>
              </a:lnSpc>
            </a:pPr>
            <a:r>
              <a:rPr 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执行过程：</a:t>
            </a:r>
            <a:endParaRPr lang="en-US" sz="20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9875" eaLnBrk="1" latinLnBrk="0" hangingPunct="1">
              <a:lnSpc>
                <a:spcPct val="125000"/>
              </a:lnSpc>
            </a:pPr>
            <a:r>
              <a:rPr 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① </a:t>
            </a:r>
            <a:r>
              <a:rPr 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从外层查询中取出</a:t>
            </a:r>
            <a:r>
              <a:rPr 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Stock</a:t>
            </a:r>
            <a:r>
              <a:rPr 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表的一个元组</a:t>
            </a:r>
            <a:r>
              <a:rPr 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s1</a:t>
            </a:r>
            <a:r>
              <a:rPr 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，将元组</a:t>
            </a:r>
            <a:r>
              <a:rPr 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s1</a:t>
            </a:r>
            <a:r>
              <a:rPr 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warehouse</a:t>
            </a:r>
            <a:r>
              <a:rPr 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值（供电局</a:t>
            </a:r>
            <a:r>
              <a:rPr 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仓库）传送给内层查询。</a:t>
            </a:r>
            <a:endParaRPr lang="en-US" sz="20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9875" eaLnBrk="1" latinLnBrk="0" hangingPunct="1">
              <a:lnSpc>
                <a:spcPct val="125000"/>
              </a:lnSpc>
            </a:pPr>
            <a:r>
              <a:rPr 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</a:t>
            </a:r>
            <a:r>
              <a:rPr lang="en-US" sz="2000" b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avg</a:t>
            </a:r>
            <a:r>
              <a:rPr 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(amount)</a:t>
            </a:r>
          </a:p>
          <a:p>
            <a:pPr marL="0" indent="269875" eaLnBrk="1" latinLnBrk="0" hangingPunct="1">
              <a:lnSpc>
                <a:spcPct val="125000"/>
              </a:lnSpc>
            </a:pPr>
            <a:r>
              <a:rPr 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FROM stock  s2</a:t>
            </a:r>
          </a:p>
          <a:p>
            <a:pPr marL="0" indent="269875" eaLnBrk="1" latinLnBrk="0" hangingPunct="1">
              <a:lnSpc>
                <a:spcPct val="125000"/>
              </a:lnSpc>
            </a:pPr>
            <a:r>
              <a:rPr 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WHERE s2.warehouse='</a:t>
            </a:r>
            <a:r>
              <a:rPr 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</a:p>
          <a:p>
            <a:pPr marL="0" indent="269875" eaLnBrk="1" latinLnBrk="0" hangingPunct="1">
              <a:lnSpc>
                <a:spcPct val="125000"/>
              </a:lnSpc>
            </a:pPr>
            <a:r>
              <a:rPr lang="en-US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 执行内层查询，得到值125，用该值代替内层查询，得到外层查询：</a:t>
            </a:r>
          </a:p>
          <a:p>
            <a:pPr marL="0" indent="269875" eaLnBrk="1" latinLnBrk="0" hangingPunct="1">
              <a:lnSpc>
                <a:spcPct val="125000"/>
              </a:lnSpc>
            </a:pPr>
            <a:r>
              <a:rPr lang="en-US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</a:t>
            </a:r>
            <a:r>
              <a:rPr lang="en-US" altLang="en-US" sz="2000" b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mat_num,mat_name,speci,amount</a:t>
            </a:r>
            <a:endParaRPr lang="en-US" altLang="en-US" sz="20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9875" eaLnBrk="1" latinLnBrk="0" hangingPunct="1">
              <a:lnSpc>
                <a:spcPct val="125000"/>
              </a:lnSpc>
            </a:pPr>
            <a:r>
              <a:rPr lang="en-US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stock  s1</a:t>
            </a:r>
          </a:p>
          <a:p>
            <a:pPr marL="0" indent="269875" eaLnBrk="1" latinLnBrk="0" hangingPunct="1">
              <a:lnSpc>
                <a:spcPct val="125000"/>
              </a:lnSpc>
            </a:pPr>
            <a:r>
              <a:rPr lang="en-US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amount &gt; 125 and s1.warehouse='供电局1#仓库'</a:t>
            </a:r>
          </a:p>
          <a:p>
            <a:pPr marL="0" indent="269875" eaLnBrk="1" latinLnBrk="0" hangingPunct="1">
              <a:lnSpc>
                <a:spcPct val="125000"/>
              </a:lnSpc>
            </a:pPr>
            <a:r>
              <a:rPr lang="en-US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 </a:t>
            </a:r>
            <a:r>
              <a:rPr lang="en-US" altLang="en-US" sz="2000" b="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执行这个查询</a:t>
            </a:r>
            <a:r>
              <a:rPr lang="en-US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</a:p>
          <a:p>
            <a:pPr marL="0" indent="269875" eaLnBrk="1" latinLnBrk="0" hangingPunct="1">
              <a:lnSpc>
                <a:spcPct val="125000"/>
              </a:lnSpc>
            </a:pPr>
            <a:endParaRPr lang="en-US" altLang="en-US" sz="20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779895" y="1032510"/>
            <a:ext cx="5314315" cy="33464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74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895" y="4499293"/>
            <a:ext cx="5161684" cy="1536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520" y="5954712"/>
            <a:ext cx="4010959" cy="49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998" y="2152014"/>
            <a:ext cx="2060979" cy="749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01378" name="Rectangle 3"/>
          <p:cNvSpPr/>
          <p:nvPr/>
        </p:nvSpPr>
        <p:spPr>
          <a:xfrm>
            <a:off x="391795" y="990600"/>
            <a:ext cx="11236325" cy="1295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  <a:buChar char="•"/>
            </a:pP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相关子查询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－子查询的查询条件依赖于父查询。</a:t>
            </a:r>
          </a:p>
        </p:txBody>
      </p:sp>
      <p:sp>
        <p:nvSpPr>
          <p:cNvPr id="256004" name="Rectangle 4"/>
          <p:cNvSpPr/>
          <p:nvPr/>
        </p:nvSpPr>
        <p:spPr>
          <a:xfrm>
            <a:off x="10795" y="2057400"/>
            <a:ext cx="11887835" cy="239966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求解方法：</a:t>
            </a:r>
          </a:p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）首先取外层查询中表的第一个元组，根据它与内层查询相关的属性值处理内层查询，若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子句返回值为真，则取此元组放入结果表；</a:t>
            </a:r>
          </a:p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）然后再取外层表的下一个元组；</a:t>
            </a:r>
          </a:p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）重复这一过程，直至外层表全部检查完为止。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02402" name="Rectangle 3"/>
          <p:cNvSpPr>
            <a:spLocks noGrp="1"/>
          </p:cNvSpPr>
          <p:nvPr/>
        </p:nvSpPr>
        <p:spPr>
          <a:xfrm>
            <a:off x="457200" y="990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带有</a:t>
            </a: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ANY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ALL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谓词的子查询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－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必须同时使用比较运算符</a:t>
            </a:r>
          </a:p>
        </p:txBody>
      </p:sp>
      <p:graphicFrame>
        <p:nvGraphicFramePr>
          <p:cNvPr id="257028" name="Group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78560" y="1981200"/>
          <a:ext cx="10648315" cy="3278672"/>
        </p:xfrm>
        <a:graphic>
          <a:graphicData uri="http://schemas.openxmlformats.org/drawingml/2006/table">
            <a:tbl>
              <a:tblPr/>
              <a:tblGrid>
                <a:gridCol w="1472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7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3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59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&gt;ANY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大于子查询结果中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某个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值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&gt;ALL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大于子查询结果中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所有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值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&lt;ANY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小于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&lt;ALL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小于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&gt;=ANY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大于等于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&gt;=ALL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大于等于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&lt;=ANY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小于等于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&lt;=ALL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小于等于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=ANY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等于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=ALL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等于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61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!=ANY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&lt;&gt;ANY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不等于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!=ALL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&lt;&gt;ALL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不等于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5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03426" name="Rectangle 3"/>
          <p:cNvSpPr>
            <a:spLocks noGrp="1"/>
          </p:cNvSpPr>
          <p:nvPr/>
        </p:nvSpPr>
        <p:spPr>
          <a:xfrm>
            <a:off x="245745" y="939800"/>
            <a:ext cx="11042015" cy="9144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3.49】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查询其他仓库中比供电局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仓库的某一物资库存量少的物资名称、规格和数量。</a:t>
            </a:r>
          </a:p>
        </p:txBody>
      </p:sp>
      <p:sp>
        <p:nvSpPr>
          <p:cNvPr id="258052" name="Rectangle 4"/>
          <p:cNvSpPr/>
          <p:nvPr/>
        </p:nvSpPr>
        <p:spPr>
          <a:xfrm>
            <a:off x="459740" y="2015490"/>
            <a:ext cx="8458200" cy="3505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mat_name, speci, amount 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Stock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warehouse &lt;&gt; 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AND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amount &lt; ANY</a:t>
            </a: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( 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13635" y="3909695"/>
            <a:ext cx="594741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SELECT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amount</a:t>
            </a: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FROM Stock</a:t>
            </a: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WHERE warehouse = 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</a:t>
            </a:r>
          </a:p>
        </p:txBody>
      </p:sp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7210" y="1854200"/>
            <a:ext cx="4477647" cy="2519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2" grpId="0"/>
      <p:bldP spid="258052" grpId="1"/>
      <p:bldP spid="3" grpId="0"/>
      <p:bldP spid="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04450" name="Rectangle 3"/>
          <p:cNvSpPr>
            <a:spLocks noGrp="1"/>
          </p:cNvSpPr>
          <p:nvPr/>
        </p:nvSpPr>
        <p:spPr>
          <a:xfrm>
            <a:off x="457200" y="1066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也可用集函数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MAX()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实现：</a:t>
            </a:r>
          </a:p>
        </p:txBody>
      </p:sp>
      <p:sp>
        <p:nvSpPr>
          <p:cNvPr id="259076" name="Rectangle 4"/>
          <p:cNvSpPr/>
          <p:nvPr/>
        </p:nvSpPr>
        <p:spPr>
          <a:xfrm>
            <a:off x="685800" y="1752600"/>
            <a:ext cx="8610600" cy="342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mat_name, speci, amount 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Stock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warehouse &lt;&gt; 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AND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amount &lt; </a:t>
            </a: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(SELECT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MAX (amount)</a:t>
            </a: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FROM Stock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WHERE warehouse = 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');  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05474" name="Rectangle 3"/>
          <p:cNvSpPr>
            <a:spLocks noGrp="1"/>
          </p:cNvSpPr>
          <p:nvPr/>
        </p:nvSpPr>
        <p:spPr>
          <a:xfrm>
            <a:off x="468630" y="908050"/>
            <a:ext cx="10965180" cy="9144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】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查询其他仓库中比供电局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仓库的所有物资库存量少的物资名称、规格和数量。</a:t>
            </a:r>
          </a:p>
        </p:txBody>
      </p:sp>
      <p:sp>
        <p:nvSpPr>
          <p:cNvPr id="262148" name="Rectangle 4"/>
          <p:cNvSpPr/>
          <p:nvPr/>
        </p:nvSpPr>
        <p:spPr>
          <a:xfrm>
            <a:off x="395605" y="1989455"/>
            <a:ext cx="11064240" cy="3505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mat_name, speci, amount 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Stock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warehouse &lt;&gt; 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AND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amount &lt;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ALL</a:t>
            </a: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( SELECT amount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FROM Stock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WHERE warehouse = 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757" y="2091103"/>
            <a:ext cx="4824498" cy="783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06498" name="Rectangle 3"/>
          <p:cNvSpPr>
            <a:spLocks noGrp="1"/>
          </p:cNvSpPr>
          <p:nvPr/>
        </p:nvSpPr>
        <p:spPr>
          <a:xfrm>
            <a:off x="457200" y="1066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也可用集函数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MIN()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实现：</a:t>
            </a:r>
          </a:p>
        </p:txBody>
      </p:sp>
      <p:sp>
        <p:nvSpPr>
          <p:cNvPr id="263172" name="Rectangle 4"/>
          <p:cNvSpPr/>
          <p:nvPr/>
        </p:nvSpPr>
        <p:spPr>
          <a:xfrm>
            <a:off x="533400" y="1773238"/>
            <a:ext cx="8610600" cy="342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mat_name, speci, amount 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Stock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warehouse &lt;&gt; 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AND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amount &lt; </a:t>
            </a: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(SELECT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MIN (amount)</a:t>
            </a: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FROM Stock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WHERE warehouse = 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');  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264195" name="Rectangle 3"/>
          <p:cNvSpPr>
            <a:spLocks noGrp="1"/>
          </p:cNvSpPr>
          <p:nvPr/>
        </p:nvSpPr>
        <p:spPr>
          <a:xfrm>
            <a:off x="762000" y="4876800"/>
            <a:ext cx="10197465" cy="819785"/>
          </a:xfrm>
          <a:prstGeom prst="rect">
            <a:avLst/>
          </a:prstGeom>
          <a:noFill/>
          <a:ln w="22225"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注：使用集函数比使用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ANY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ALL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效率高，因为能减少比较次数。</a:t>
            </a:r>
          </a:p>
        </p:txBody>
      </p:sp>
      <p:graphicFrame>
        <p:nvGraphicFramePr>
          <p:cNvPr id="264196" name="Group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85800" y="2133600"/>
          <a:ext cx="10020300" cy="1904999"/>
        </p:xfrm>
        <a:graphic>
          <a:graphicData uri="http://schemas.openxmlformats.org/drawingml/2006/table">
            <a:tbl>
              <a:tblPr/>
              <a:tblGrid>
                <a:gridCol w="126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0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5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9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13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05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666" marB="4566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!=</a:t>
                      </a: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&lt;=</a:t>
                      </a: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&gt;=</a:t>
                      </a: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19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ANY</a:t>
                      </a:r>
                    </a:p>
                  </a:txBody>
                  <a:tcPr marT="45666" marB="4566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</a:t>
                      </a: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&lt;MAX</a:t>
                      </a: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&lt;=MAX</a:t>
                      </a: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&gt;MIN</a:t>
                      </a: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&gt;=MIN</a:t>
                      </a: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75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ALL</a:t>
                      </a:r>
                    </a:p>
                  </a:txBody>
                  <a:tcPr marT="45666" marB="4566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NOT IN</a:t>
                      </a: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&lt;MIN</a:t>
                      </a: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&lt;=MIN</a:t>
                      </a: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&gt;MAX</a:t>
                      </a: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&gt;=MAX</a:t>
                      </a:r>
                    </a:p>
                  </a:txBody>
                  <a:tcPr marT="45666" marB="456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7557" name="Rectangle 38"/>
          <p:cNvSpPr/>
          <p:nvPr/>
        </p:nvSpPr>
        <p:spPr>
          <a:xfrm>
            <a:off x="457200" y="1143000"/>
            <a:ext cx="10409555" cy="46037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ANY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ALL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谓词有时可以用聚集函数实现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08546" name="Rectangle 3"/>
          <p:cNvSpPr>
            <a:spLocks noGrp="1"/>
          </p:cNvSpPr>
          <p:nvPr/>
        </p:nvSpPr>
        <p:spPr>
          <a:xfrm>
            <a:off x="381000" y="990600"/>
            <a:ext cx="10586085" cy="16764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带有</a:t>
            </a: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EXISTS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谓词的子查询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－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EXISTS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代表存在量词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，不返回任何数据，只产生逻辑真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(true)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或逻辑假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(false)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265220" name="Rectangle 4"/>
          <p:cNvSpPr/>
          <p:nvPr/>
        </p:nvSpPr>
        <p:spPr>
          <a:xfrm>
            <a:off x="457200" y="2667000"/>
            <a:ext cx="8010525" cy="1014730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lvl="2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50000"/>
              <a:buFont typeface="宋体" panose="02010600030101010101" pitchFamily="2" charset="-122"/>
              <a:buChar char="●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若内层查询结果非空，则返回真值</a:t>
            </a:r>
          </a:p>
          <a:p>
            <a:pPr lvl="2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50000"/>
              <a:buFont typeface="宋体" panose="02010600030101010101" pitchFamily="2" charset="-122"/>
              <a:buChar char="●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若内层查询结果为空，则返回假值</a:t>
            </a:r>
          </a:p>
        </p:txBody>
      </p:sp>
      <p:sp>
        <p:nvSpPr>
          <p:cNvPr id="265221" name="Rectangle 5"/>
          <p:cNvSpPr/>
          <p:nvPr/>
        </p:nvSpPr>
        <p:spPr>
          <a:xfrm>
            <a:off x="245745" y="4186555"/>
            <a:ext cx="11062335" cy="1014730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55000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－由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EXISTS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引出的子查询，其目标列表达式通常都用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 ，因为带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EXISTS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的子查询只返回真值或假值，给出列名无实际意义。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6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20" grpId="0"/>
      <p:bldP spid="2652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205827" name="Rectangle 3"/>
          <p:cNvSpPr/>
          <p:nvPr/>
        </p:nvSpPr>
        <p:spPr>
          <a:xfrm>
            <a:off x="108903" y="663575"/>
            <a:ext cx="8461375" cy="4525963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3.56】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查询使用了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m001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号物资的工程项目名称。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prj_name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Salvaging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EXISTS</a:t>
            </a: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(SELECT *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FROM Out_stock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WHERE prj_num=Salvaging.prj_num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AND mat_num ='m001' );</a:t>
            </a:r>
          </a:p>
        </p:txBody>
      </p:sp>
      <p:pic>
        <p:nvPicPr>
          <p:cNvPr id="3" name="图片 -21474826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305" y="1170940"/>
            <a:ext cx="4744720" cy="24726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-21474826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758305" y="3749040"/>
            <a:ext cx="5138420" cy="284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6877685" y="1418590"/>
            <a:ext cx="5314315" cy="30797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670675" y="3930015"/>
            <a:ext cx="5314315" cy="23939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838" y="4475285"/>
            <a:ext cx="4032771" cy="1960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5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5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05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5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5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5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  <p:bldP spid="5" grpId="0" bldLvl="0" animBg="1"/>
      <p:bldP spid="5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267266" name="Rectangle 2"/>
          <p:cNvSpPr/>
          <p:nvPr/>
        </p:nvSpPr>
        <p:spPr>
          <a:xfrm>
            <a:off x="245745" y="663575"/>
            <a:ext cx="10333990" cy="518477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3.57】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查询没有使用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m001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号物资的工程项目编号及名称。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prj_num, prj_name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Salvaging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NOT EXISTS</a:t>
            </a: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(SELECT *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FROM Out_stock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WHERE prj_num=Salvaging.prj_num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AND mat_num ='m001' );</a:t>
            </a:r>
          </a:p>
        </p:txBody>
      </p:sp>
      <p:pic>
        <p:nvPicPr>
          <p:cNvPr id="3" name="图片 -21474826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790" y="1170940"/>
            <a:ext cx="4744720" cy="24726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-21474826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877685" y="3643630"/>
            <a:ext cx="5138420" cy="284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6877685" y="1403985"/>
            <a:ext cx="5138420" cy="32258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873240" y="3836670"/>
            <a:ext cx="5142865" cy="32766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955790" y="3304540"/>
            <a:ext cx="5147945" cy="339090"/>
          </a:xfrm>
          <a:prstGeom prst="rect">
            <a:avLst/>
          </a:prstGeom>
          <a:noFill/>
          <a:ln>
            <a:solidFill>
              <a:srgbClr val="1569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标注 8"/>
          <p:cNvSpPr/>
          <p:nvPr/>
        </p:nvSpPr>
        <p:spPr>
          <a:xfrm>
            <a:off x="4579620" y="2279015"/>
            <a:ext cx="2155825" cy="634365"/>
          </a:xfrm>
          <a:prstGeom prst="wedgeRoundRectCallout">
            <a:avLst>
              <a:gd name="adj1" fmla="val -82724"/>
              <a:gd name="adj2" fmla="val 112362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相关子查询</a:t>
            </a:r>
          </a:p>
        </p:txBody>
      </p:sp>
      <p:pic>
        <p:nvPicPr>
          <p:cNvPr id="7170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0" y="5183920"/>
            <a:ext cx="4968362" cy="917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7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67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67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67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7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67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67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  <p:bldP spid="6" grpId="0" bldLvl="0" animBg="1"/>
      <p:bldP spid="6" grpId="1" animBg="1"/>
      <p:bldP spid="8" grpId="0" bldLvl="0" animBg="1"/>
      <p:bldP spid="8" grpId="1" animBg="1"/>
      <p:bldP spid="9" grpId="0" bldLvl="0" animBg="1"/>
      <p:bldP spid="9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269315" name="Rectangle 3"/>
          <p:cNvSpPr/>
          <p:nvPr/>
        </p:nvSpPr>
        <p:spPr>
          <a:xfrm>
            <a:off x="609600" y="2895600"/>
            <a:ext cx="10925810" cy="2858770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buClr>
                <a:srgbClr val="FFFF66"/>
              </a:buClr>
              <a:buSzPct val="45000"/>
              <a:buFont typeface="宋体" panose="02010600030101010101" pitchFamily="2" charset="-122"/>
              <a:buChar char="●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不同形式的查询间的替换：</a:t>
            </a:r>
          </a:p>
          <a:p>
            <a:pPr lvl="1" indent="0" eaLnBrk="1" hangingPunct="1">
              <a:lnSpc>
                <a:spcPct val="130000"/>
              </a:lnSpc>
              <a:spcBef>
                <a:spcPct val="5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所有带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谓词、比较运算符、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ANY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谓词的子查询都能用带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EXISTS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谓词的子查询等价替换；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eaLnBrk="1" hangingPunct="1">
              <a:lnSpc>
                <a:spcPct val="130000"/>
              </a:lnSpc>
              <a:spcBef>
                <a:spcPct val="5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一些带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EXISTS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NOT EXISTS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谓词的子查询不能被其他形式的子查询等价替换。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9316" name="Rectangle 4"/>
          <p:cNvSpPr/>
          <p:nvPr/>
        </p:nvSpPr>
        <p:spPr>
          <a:xfrm>
            <a:off x="611505" y="1701165"/>
            <a:ext cx="8500745" cy="1014730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lvl="2" indent="0" eaLnBrk="1" hangingPunct="1">
              <a:spcBef>
                <a:spcPct val="50000"/>
              </a:spcBef>
              <a:buClr>
                <a:schemeClr val="folHlink"/>
              </a:buClr>
              <a:buSzPct val="50000"/>
              <a:buFont typeface="宋体" panose="02010600030101010101" pitchFamily="2" charset="-122"/>
              <a:buChar char="●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若内层查询结果为空，则返回真值</a:t>
            </a:r>
          </a:p>
          <a:p>
            <a:pPr lvl="2" indent="0" eaLnBrk="1" hangingPunct="1">
              <a:spcBef>
                <a:spcPct val="50000"/>
              </a:spcBef>
              <a:buClr>
                <a:schemeClr val="folHlink"/>
              </a:buClr>
              <a:buSzPct val="50000"/>
              <a:buFont typeface="宋体" panose="02010600030101010101" pitchFamily="2" charset="-122"/>
              <a:buChar char="●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若内层查询结果非空，则返回假值</a:t>
            </a:r>
          </a:p>
        </p:txBody>
      </p:sp>
      <p:sp>
        <p:nvSpPr>
          <p:cNvPr id="113668" name="Rectangle 5"/>
          <p:cNvSpPr/>
          <p:nvPr/>
        </p:nvSpPr>
        <p:spPr>
          <a:xfrm>
            <a:off x="459105" y="1091565"/>
            <a:ext cx="4168775" cy="46037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>
              <a:buChar char="•"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NOT EXISTS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谓词：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69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14690" name="Rectangle 3"/>
          <p:cNvSpPr>
            <a:spLocks noGrp="1"/>
          </p:cNvSpPr>
          <p:nvPr/>
        </p:nvSpPr>
        <p:spPr>
          <a:xfrm>
            <a:off x="493395" y="916940"/>
            <a:ext cx="10962640" cy="41148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40000"/>
              </a:lnSpc>
              <a:buClr>
                <a:srgbClr val="FFFF66"/>
              </a:buClr>
              <a:buSzPct val="95000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EXISTS/NOT EXISTS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实现全称量词</a:t>
            </a:r>
            <a:endParaRPr lang="en-US" altLang="zh-CN" sz="28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SQL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语言中没有全称量词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；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可以把带有全称量词的谓词转换为等价的带有存在量词的谓词：</a:t>
            </a: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　 </a:t>
            </a:r>
            <a:r>
              <a:rPr lang="en-US" altLang="zh-CN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</a:t>
            </a:r>
            <a:r>
              <a:rPr lang="en-US" altLang="zh-CN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x)P</a:t>
            </a:r>
          </a:p>
        </p:txBody>
      </p:sp>
      <p:sp>
        <p:nvSpPr>
          <p:cNvPr id="270340" name="Rectangle 4"/>
          <p:cNvSpPr/>
          <p:nvPr/>
        </p:nvSpPr>
        <p:spPr>
          <a:xfrm>
            <a:off x="2959735" y="3039110"/>
            <a:ext cx="2339975" cy="780415"/>
          </a:xfrm>
          <a:prstGeom prst="rect">
            <a:avLst/>
          </a:prstGeom>
          <a:noFill/>
          <a:ln w="22225">
            <a:noFill/>
          </a:ln>
        </p:spPr>
        <p:txBody>
          <a:bodyPr wrap="none" anchor="t" anchorCtr="0">
            <a:spAutoFit/>
          </a:bodyPr>
          <a:lstStyle/>
          <a:p>
            <a:pPr>
              <a:lnSpc>
                <a:spcPct val="14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en-US" altLang="zh-CN" sz="32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≡ </a:t>
            </a:r>
            <a:r>
              <a:rPr lang="en-US" altLang="zh-CN" sz="32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32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32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x(</a:t>
            </a:r>
            <a:r>
              <a:rPr lang="en-US" altLang="zh-CN" sz="32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P))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15713" name="Rectangle 2"/>
          <p:cNvSpPr/>
          <p:nvPr/>
        </p:nvSpPr>
        <p:spPr>
          <a:xfrm>
            <a:off x="126365" y="822325"/>
            <a:ext cx="11169650" cy="100838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3.59】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查询被所有的抢修工程项目都使用了的物资编号及物资名称、规格。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8899" name="Rectangle 3"/>
          <p:cNvSpPr/>
          <p:nvPr/>
        </p:nvSpPr>
        <p:spPr>
          <a:xfrm>
            <a:off x="7084060" y="1539875"/>
            <a:ext cx="4744720" cy="1143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1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分析：查询这样的物资，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没有一个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抢修工程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没有使用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过它。</a:t>
            </a:r>
          </a:p>
        </p:txBody>
      </p:sp>
      <p:sp>
        <p:nvSpPr>
          <p:cNvPr id="208900" name="Rectangle 4"/>
          <p:cNvSpPr/>
          <p:nvPr/>
        </p:nvSpPr>
        <p:spPr>
          <a:xfrm>
            <a:off x="408940" y="1403985"/>
            <a:ext cx="5384165" cy="169354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mat_num,mat_name, speci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Stock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WHERE </a:t>
            </a:r>
          </a:p>
        </p:txBody>
      </p:sp>
      <p:sp>
        <p:nvSpPr>
          <p:cNvPr id="2" name="Rectangle 4"/>
          <p:cNvSpPr/>
          <p:nvPr/>
        </p:nvSpPr>
        <p:spPr>
          <a:xfrm>
            <a:off x="3408680" y="3731895"/>
            <a:ext cx="7349490" cy="27305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 EXISTS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(  SELECT *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FROM Out_stock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WHERE  mat_num= Stock.mat_num  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AND   prj_num = Salvaging.prj_num));</a:t>
            </a:r>
          </a:p>
        </p:txBody>
      </p:sp>
      <p:sp>
        <p:nvSpPr>
          <p:cNvPr id="3" name="Rectangle 4"/>
          <p:cNvSpPr/>
          <p:nvPr/>
        </p:nvSpPr>
        <p:spPr>
          <a:xfrm>
            <a:off x="1623695" y="2327275"/>
            <a:ext cx="3676015" cy="2111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NOT EXISTS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(  SELECT *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FROM Salvaging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WHERE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99" grpId="0"/>
      <p:bldP spid="208900" grpId="0"/>
      <p:bldP spid="2" grpId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pic>
        <p:nvPicPr>
          <p:cNvPr id="2" name="图片 -21474826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45" y="663575"/>
            <a:ext cx="4730750" cy="27247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-21474826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6410" y="597535"/>
            <a:ext cx="5567045" cy="29013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-21474826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2885" y="3512185"/>
            <a:ext cx="8147685" cy="31946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332740" y="875665"/>
            <a:ext cx="4643120" cy="34607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897880" y="901065"/>
            <a:ext cx="5146675" cy="320675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03530" y="756285"/>
            <a:ext cx="677545" cy="46545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5897880" y="802640"/>
            <a:ext cx="677545" cy="465455"/>
          </a:xfrm>
          <a:prstGeom prst="ellipse">
            <a:avLst/>
          </a:prstGeom>
          <a:noFill/>
          <a:ln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99390" y="3666490"/>
            <a:ext cx="8194040" cy="320675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236325" y="894080"/>
            <a:ext cx="453390" cy="2618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solidFill>
                  <a:srgbClr val="FF0000"/>
                </a:solidFill>
              </a:rPr>
              <a:t>F</a:t>
            </a:r>
          </a:p>
          <a:p>
            <a:pPr algn="ctr"/>
            <a:r>
              <a:rPr lang="en-US" altLang="zh-CN" sz="2000" b="1">
                <a:solidFill>
                  <a:srgbClr val="FF0000"/>
                </a:solidFill>
              </a:rPr>
              <a:t>F</a:t>
            </a:r>
          </a:p>
          <a:p>
            <a:pPr algn="ctr"/>
            <a:r>
              <a:rPr lang="en-US" altLang="zh-CN" sz="2000" b="1">
                <a:solidFill>
                  <a:srgbClr val="FF0000"/>
                </a:solidFill>
              </a:rPr>
              <a:t>F</a:t>
            </a:r>
          </a:p>
          <a:p>
            <a:pPr algn="ctr"/>
            <a:r>
              <a:rPr lang="en-US" altLang="zh-CN" sz="2000" b="1">
                <a:solidFill>
                  <a:srgbClr val="FF0000"/>
                </a:solidFill>
              </a:rPr>
              <a:t>F</a:t>
            </a:r>
          </a:p>
          <a:p>
            <a:pPr algn="ctr"/>
            <a:r>
              <a:rPr lang="en-US" altLang="zh-CN" sz="2000" b="1">
                <a:solidFill>
                  <a:srgbClr val="FF0000"/>
                </a:solidFill>
              </a:rPr>
              <a:t>F</a:t>
            </a:r>
          </a:p>
          <a:p>
            <a:pPr algn="ctr"/>
            <a:r>
              <a:rPr lang="en-US" altLang="zh-CN" sz="2000" b="1">
                <a:solidFill>
                  <a:srgbClr val="FF0000"/>
                </a:solidFill>
              </a:rPr>
              <a:t>F </a:t>
            </a:r>
          </a:p>
          <a:p>
            <a:pPr algn="ctr"/>
            <a:r>
              <a:rPr lang="en-US" altLang="zh-CN" sz="2000" b="1">
                <a:solidFill>
                  <a:srgbClr val="FF0000"/>
                </a:solidFill>
              </a:rPr>
              <a:t>F</a:t>
            </a:r>
          </a:p>
          <a:p>
            <a:pPr algn="ctr"/>
            <a:r>
              <a:rPr lang="en-US" altLang="zh-CN" sz="2000" b="1">
                <a:solidFill>
                  <a:srgbClr val="FF0000"/>
                </a:solidFill>
              </a:rPr>
              <a:t>T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8730" y="4455160"/>
            <a:ext cx="3060065" cy="76962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5086350" y="756285"/>
            <a:ext cx="453390" cy="51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b="1">
              <a:solidFill>
                <a:srgbClr val="FF0000"/>
              </a:solidFill>
            </a:endParaRPr>
          </a:p>
          <a:p>
            <a:pPr algn="ctr"/>
            <a:r>
              <a:rPr lang="en-US" altLang="zh-CN" sz="2000" b="1">
                <a:solidFill>
                  <a:srgbClr val="FF0000"/>
                </a:solidFill>
              </a:rPr>
              <a:t>F</a:t>
            </a:r>
          </a:p>
          <a:p>
            <a:pPr algn="ctr"/>
            <a:endParaRPr lang="en-US" altLang="zh-CN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build="p" animBg="1"/>
      <p:bldP spid="11" grpId="1" animBg="1"/>
      <p:bldP spid="16" grpId="0" build="p" animBg="1"/>
      <p:bldP spid="16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16738" name="Rectangle 3"/>
          <p:cNvSpPr>
            <a:spLocks noGrp="1"/>
          </p:cNvSpPr>
          <p:nvPr/>
        </p:nvSpPr>
        <p:spPr>
          <a:xfrm>
            <a:off x="386715" y="1073150"/>
            <a:ext cx="12371070" cy="32766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Clr>
                <a:srgbClr val="FFFF66"/>
              </a:buClr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EXISTS/NOT EXISTS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实现逻辑蕴涵</a:t>
            </a:r>
            <a:r>
              <a:rPr lang="en-US" altLang="zh-CN" sz="28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8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难点</a:t>
            </a:r>
            <a:r>
              <a:rPr lang="en-US" altLang="zh-CN" sz="28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SQL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语言中没有逻辑蕴涵运算；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可以利用谓词演算将逻辑蕴涵谓词等价转换为：</a:t>
            </a: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</a:t>
            </a:r>
            <a:r>
              <a:rPr lang="en-US" altLang="zh-CN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 </a:t>
            </a:r>
            <a:r>
              <a:rPr lang="en-US" altLang="zh-CN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q</a:t>
            </a:r>
          </a:p>
        </p:txBody>
      </p:sp>
      <p:sp>
        <p:nvSpPr>
          <p:cNvPr id="271364" name="Rectangle 4"/>
          <p:cNvSpPr/>
          <p:nvPr/>
        </p:nvSpPr>
        <p:spPr>
          <a:xfrm>
            <a:off x="3900170" y="3136900"/>
            <a:ext cx="1764030" cy="583565"/>
          </a:xfrm>
          <a:prstGeom prst="rect">
            <a:avLst/>
          </a:prstGeom>
          <a:noFill/>
          <a:ln w="222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32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≡ </a:t>
            </a:r>
            <a:r>
              <a:rPr lang="en-US" altLang="zh-CN" sz="32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p∨q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17762" name="Rectangle 3"/>
          <p:cNvSpPr/>
          <p:nvPr/>
        </p:nvSpPr>
        <p:spPr>
          <a:xfrm>
            <a:off x="306705" y="787400"/>
            <a:ext cx="11579225" cy="533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3.60】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查询所用物资包含抢修工程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20100016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所用物资的抢修工程号。</a:t>
            </a:r>
          </a:p>
        </p:txBody>
      </p:sp>
      <p:sp>
        <p:nvSpPr>
          <p:cNvPr id="272388" name="Rectangle 4"/>
          <p:cNvSpPr/>
          <p:nvPr/>
        </p:nvSpPr>
        <p:spPr>
          <a:xfrm>
            <a:off x="582930" y="1121410"/>
            <a:ext cx="11609070" cy="332295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解题思路：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  <a:buSzPct val="50000"/>
              <a:buFont typeface="宋体" panose="02010600030101010101" pitchFamily="2" charset="-122"/>
              <a:buChar char="●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用逻辑蕴涵表达：查询抢修工程号为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的工程，对所有的物资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，只要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20100016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号工程项目使用了物资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也使用了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  <a:buSzPct val="50000"/>
              <a:buFont typeface="宋体" panose="02010600030101010101" pitchFamily="2" charset="-122"/>
              <a:buChar char="●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形式化表示：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用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表示谓词 “抢修工程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20100016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使用了物资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y”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表示谓词 “抢修工程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使用了物资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y”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则上述查询为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y) (p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q)</a:t>
            </a:r>
          </a:p>
        </p:txBody>
      </p:sp>
      <p:sp>
        <p:nvSpPr>
          <p:cNvPr id="273411" name="Rectangle 3"/>
          <p:cNvSpPr>
            <a:spLocks noGrp="1"/>
          </p:cNvSpPr>
          <p:nvPr/>
        </p:nvSpPr>
        <p:spPr>
          <a:xfrm>
            <a:off x="4833620" y="4025900"/>
            <a:ext cx="6714490" cy="183832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90000"/>
              </a:lnSpc>
              <a:buClr>
                <a:srgbClr val="FFFF66"/>
              </a:buClr>
              <a:buSzPct val="50000"/>
              <a:buFont typeface="宋体" panose="02010600030101010101" pitchFamily="2" charset="-122"/>
              <a:buNone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等价变换：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y)(p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q) ≡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 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(p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q ))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       ≡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 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p∨ q)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        ≡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y(p∧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q)</a:t>
            </a:r>
          </a:p>
          <a:p>
            <a:pPr algn="just" eaLnBrk="1" hangingPunct="1">
              <a:lnSpc>
                <a:spcPct val="90000"/>
              </a:lnSpc>
              <a:buNone/>
            </a:pPr>
            <a:endParaRPr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hangingPunct="1">
              <a:lnSpc>
                <a:spcPct val="90000"/>
              </a:lnSpc>
              <a:buClr>
                <a:srgbClr val="FFFF66"/>
              </a:buClr>
              <a:buSzPct val="50000"/>
              <a:buFont typeface="宋体" panose="02010600030101010101" pitchFamily="2" charset="-122"/>
              <a:buNone/>
            </a:pP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2930" y="5467350"/>
            <a:ext cx="1111758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 latinLnBrk="0" hangingPunct="1">
              <a:lnSpc>
                <a:spcPct val="100000"/>
              </a:lnSpc>
              <a:buClr>
                <a:srgbClr val="FFFF66"/>
              </a:buClr>
              <a:buSzPct val="50000"/>
              <a:buFont typeface="宋体" panose="02010600030101010101" pitchFamily="2" charset="-122"/>
              <a:buChar char="●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变换后语义：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不存在这样的物资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y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，抢修工程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20100016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使用了物资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y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，而抢修工程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x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没有使用物资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y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72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72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72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272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272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272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8" grpId="0" build="p"/>
      <p:bldP spid="273411" grpId="0" build="p"/>
      <p:bldP spid="2" grpId="0"/>
      <p:bldP spid="2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19809" name="Rectangle 2"/>
          <p:cNvSpPr/>
          <p:nvPr/>
        </p:nvSpPr>
        <p:spPr>
          <a:xfrm>
            <a:off x="406083" y="928688"/>
            <a:ext cx="8229600" cy="453707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DISTINCT prj_num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Out_stock  sx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WHERE </a:t>
            </a:r>
          </a:p>
        </p:txBody>
      </p:sp>
      <p:sp>
        <p:nvSpPr>
          <p:cNvPr id="2" name="Rectangle 2"/>
          <p:cNvSpPr/>
          <p:nvPr/>
        </p:nvSpPr>
        <p:spPr>
          <a:xfrm>
            <a:off x="1718628" y="1887538"/>
            <a:ext cx="8229600" cy="453707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NOT EXISTS</a:t>
            </a: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( SELECT *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FROM Out_stock  sy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WHERE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sy.prj_num = '20100016'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AND </a:t>
            </a: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51960" y="3740785"/>
            <a:ext cx="6449695" cy="253238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NOT EXISTS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(  SELECT *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FROM Out_stock  sz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WHERE  sz.mat_num= sy.mat_num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AND   sz.prj_num = sx.prj_num));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910705" y="929005"/>
            <a:ext cx="45840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eaLnBrk="1" latinLnBrk="0" hangingPunct="1">
              <a:lnSpc>
                <a:spcPct val="100000"/>
              </a:lnSpc>
              <a:buClr>
                <a:srgbClr val="FFFF66"/>
              </a:buClr>
              <a:buSzPct val="50000"/>
              <a:buFont typeface="宋体" panose="02010600030101010101" pitchFamily="2" charset="-12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不存在这样的物资，抢修工程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20100016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使用了，而抢修工程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x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没有使用。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09" grpId="0"/>
      <p:bldP spid="119809" grpId="1"/>
      <p:bldP spid="2" grpId="0"/>
      <p:bldP spid="2" grpId="1"/>
      <p:bldP spid="3" grpId="0"/>
      <p:bldP spid="3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6874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</a:p>
        </p:txBody>
      </p:sp>
      <p:pic>
        <p:nvPicPr>
          <p:cNvPr id="5" name="图片 -21474826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60985" y="648335"/>
            <a:ext cx="4492625" cy="304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-21474826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683250" y="687070"/>
            <a:ext cx="4911090" cy="3024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-214748262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45745" y="3771900"/>
            <a:ext cx="5870575" cy="3078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332740" y="875665"/>
            <a:ext cx="4508500" cy="20066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09310" y="1249045"/>
            <a:ext cx="4601210" cy="426085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43230" y="756285"/>
            <a:ext cx="677545" cy="41275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6814185" y="1249045"/>
            <a:ext cx="677545" cy="465455"/>
          </a:xfrm>
          <a:prstGeom prst="ellipse">
            <a:avLst/>
          </a:prstGeom>
          <a:noFill/>
          <a:ln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45745" y="3949700"/>
            <a:ext cx="5447030" cy="424815"/>
          </a:xfrm>
          <a:prstGeom prst="rect">
            <a:avLst/>
          </a:prstGeom>
          <a:noFill/>
          <a:ln>
            <a:gradFill>
              <a:gsLst>
                <a:gs pos="0">
                  <a:srgbClr val="7B32B2"/>
                </a:gs>
                <a:gs pos="100000">
                  <a:srgbClr val="401A5D"/>
                </a:gs>
              </a:gsLst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753725" y="1105535"/>
            <a:ext cx="440055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b="1">
              <a:solidFill>
                <a:srgbClr val="FF0000"/>
              </a:solidFill>
            </a:endParaRPr>
          </a:p>
          <a:p>
            <a:pPr algn="ctr"/>
            <a:r>
              <a:rPr lang="en-US" altLang="zh-CN" sz="1600" b="1">
                <a:solidFill>
                  <a:srgbClr val="FF0000"/>
                </a:solidFill>
              </a:rPr>
              <a:t>F</a:t>
            </a:r>
          </a:p>
          <a:p>
            <a:pPr algn="ctr"/>
            <a:r>
              <a:rPr lang="en-US" altLang="zh-CN" sz="1600" b="1">
                <a:solidFill>
                  <a:srgbClr val="FF0000"/>
                </a:solidFill>
              </a:rPr>
              <a:t>T</a:t>
            </a:r>
          </a:p>
          <a:p>
            <a:pPr algn="ctr"/>
            <a:endParaRPr lang="en-US" altLang="zh-CN" sz="1600" b="1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47345" y="3053715"/>
            <a:ext cx="4493260" cy="20066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443230" y="2947670"/>
            <a:ext cx="677545" cy="41275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47345" y="6202680"/>
            <a:ext cx="5447030" cy="647700"/>
          </a:xfrm>
          <a:prstGeom prst="rect">
            <a:avLst/>
          </a:prstGeom>
          <a:noFill/>
          <a:ln>
            <a:gradFill>
              <a:gsLst>
                <a:gs pos="0">
                  <a:srgbClr val="7B32B2"/>
                </a:gs>
                <a:gs pos="100000">
                  <a:srgbClr val="401A5D"/>
                </a:gs>
              </a:gsLst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1436985" y="1105535"/>
            <a:ext cx="440055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rgbClr val="FF0000"/>
                </a:solidFill>
              </a:rPr>
              <a:t>F</a:t>
            </a:r>
          </a:p>
          <a:p>
            <a:pPr algn="ctr"/>
            <a:r>
              <a:rPr lang="en-US" altLang="zh-CN" sz="1600" b="1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21" name="矩形 20"/>
          <p:cNvSpPr/>
          <p:nvPr/>
        </p:nvSpPr>
        <p:spPr>
          <a:xfrm>
            <a:off x="5035550" y="2909570"/>
            <a:ext cx="453390" cy="51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b="1">
              <a:solidFill>
                <a:srgbClr val="FF0000"/>
              </a:solidFill>
            </a:endParaRPr>
          </a:p>
          <a:p>
            <a:pPr algn="ctr"/>
            <a:r>
              <a:rPr lang="en-US" altLang="zh-CN" sz="2000" b="1">
                <a:solidFill>
                  <a:srgbClr val="FF0000"/>
                </a:solidFill>
              </a:rPr>
              <a:t>T</a:t>
            </a:r>
          </a:p>
          <a:p>
            <a:pPr algn="ctr"/>
            <a:endParaRPr lang="en-US" altLang="zh-CN" sz="2000" b="1">
              <a:solidFill>
                <a:srgbClr val="FF0000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162550" y="735330"/>
            <a:ext cx="453390" cy="51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b="1">
              <a:solidFill>
                <a:srgbClr val="FF0000"/>
              </a:solidFill>
            </a:endParaRPr>
          </a:p>
          <a:p>
            <a:pPr algn="ctr"/>
            <a:r>
              <a:rPr lang="en-US" altLang="zh-CN" sz="2000" b="1">
                <a:solidFill>
                  <a:srgbClr val="FF0000"/>
                </a:solidFill>
              </a:rPr>
              <a:t>F</a:t>
            </a:r>
          </a:p>
          <a:p>
            <a:pPr algn="ctr"/>
            <a:endParaRPr lang="en-US" altLang="zh-CN" sz="2000" b="1">
              <a:solidFill>
                <a:srgbClr val="FF000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539" y="4349359"/>
            <a:ext cx="2363613" cy="1541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7" grpId="0" bldLvl="0" animBg="1"/>
      <p:bldP spid="7" grpId="1" animBg="1"/>
      <p:bldP spid="8" grpId="0" bldLvl="0" animBg="1"/>
      <p:bldP spid="8" grpId="1" animBg="1"/>
      <p:bldP spid="9" grpId="0" bldLvl="0" animBg="1"/>
      <p:bldP spid="9" grpId="1" animBg="1"/>
      <p:bldP spid="10" grpId="0" bldLvl="0" animBg="1"/>
      <p:bldP spid="10" grpId="1" animBg="1"/>
      <p:bldP spid="11" grpId="0" build="p" animBg="1"/>
      <p:bldP spid="11" grpId="1" animBg="1"/>
      <p:bldP spid="14" grpId="0" bldLvl="0" animBg="1"/>
      <p:bldP spid="14" grpId="1" animBg="1"/>
      <p:bldP spid="15" grpId="0" bldLvl="0" animBg="1"/>
      <p:bldP spid="15" grpId="1" animBg="1"/>
      <p:bldP spid="16" grpId="0" bldLvl="0" animBg="1"/>
      <p:bldP spid="16" grpId="1" animBg="1"/>
      <p:bldP spid="17" grpId="0" build="p" animBg="1"/>
      <p:bldP spid="17" grpId="1" animBg="1"/>
      <p:bldP spid="21" grpId="0" animBg="1"/>
      <p:bldP spid="21" grpId="1" animBg="1"/>
      <p:bldP spid="22" grpId="0" uiExpand="1" build="p" animBg="1"/>
      <p:bldP spid="22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72110" y="859155"/>
            <a:ext cx="10984865" cy="23488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带谓词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的嵌套查询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带有比较运算符的子查询</a:t>
            </a: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带有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ANY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谓词的子查询</a:t>
            </a: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带有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EXISTS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谓词的子查询</a:t>
            </a:r>
          </a:p>
        </p:txBody>
      </p:sp>
      <p:sp>
        <p:nvSpPr>
          <p:cNvPr id="2" name="矩形 1"/>
          <p:cNvSpPr/>
          <p:nvPr/>
        </p:nvSpPr>
        <p:spPr>
          <a:xfrm>
            <a:off x="4313693" y="3600884"/>
            <a:ext cx="36952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谢谢观看！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427d3f4-dcb1-4d62-855f-512e0ddc7be9}"/>
  <p:tag name="TABLE_ENDDRAG_ORIGIN_RECT" val="838*286"/>
  <p:tag name="TABLE_ENDDRAG_RECT" val="92*156*838*28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29f1dd9-410c-47df-833d-dd2998f9a58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523,&quot;width&quot;:663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523,&quot;width&quot;:663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523,&quot;width&quot;:663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523,&quot;width&quot;:663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523,&quot;width&quot;:663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523,&quot;width&quot;:663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4CC2E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2333</Words>
  <Application>Microsoft Macintosh PowerPoint</Application>
  <PresentationFormat>宽屏</PresentationFormat>
  <Paragraphs>382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宋体</vt:lpstr>
      <vt:lpstr>微软雅黑</vt:lpstr>
      <vt:lpstr>Arial</vt:lpstr>
      <vt:lpstr>Calibri</vt:lpstr>
      <vt:lpstr>Calibri Light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zhouping</dc:creator>
  <cp:lastModifiedBy>Qingting Xu</cp:lastModifiedBy>
  <cp:revision>1386</cp:revision>
  <dcterms:created xsi:type="dcterms:W3CDTF">2014-07-02T10:42:00Z</dcterms:created>
  <dcterms:modified xsi:type="dcterms:W3CDTF">2025-10-23T06:32:23Z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所有者">
    <vt:lpwstr>大同煤炭职业技术学院</vt:lpwstr>
  </property>
  <property fmtid="{D5CDD505-2E9C-101B-9397-08002B2CF9AE}" pid="3" name="KSOProductBuildVer">
    <vt:lpwstr>2052-11.1.0.10700</vt:lpwstr>
  </property>
  <property fmtid="{D5CDD505-2E9C-101B-9397-08002B2CF9AE}" pid="4" name="ICV">
    <vt:lpwstr>75FBFBAC476340568F9F1620A9CEC301</vt:lpwstr>
  </property>
</Properties>
</file>