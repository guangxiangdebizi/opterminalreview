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86" r:id="rId2"/>
    <p:sldId id="648" r:id="rId3"/>
    <p:sldId id="610" r:id="rId4"/>
    <p:sldId id="611" r:id="rId5"/>
    <p:sldId id="649" r:id="rId6"/>
    <p:sldId id="612" r:id="rId7"/>
    <p:sldId id="613" r:id="rId8"/>
    <p:sldId id="650" r:id="rId9"/>
    <p:sldId id="614" r:id="rId10"/>
    <p:sldId id="615" r:id="rId11"/>
    <p:sldId id="616" r:id="rId12"/>
    <p:sldId id="617" r:id="rId13"/>
    <p:sldId id="618" r:id="rId14"/>
    <p:sldId id="619" r:id="rId15"/>
    <p:sldId id="620" r:id="rId16"/>
    <p:sldId id="621" r:id="rId17"/>
    <p:sldId id="622" r:id="rId18"/>
    <p:sldId id="624" r:id="rId19"/>
    <p:sldId id="625" r:id="rId20"/>
    <p:sldId id="655" r:id="rId21"/>
    <p:sldId id="651" r:id="rId22"/>
    <p:sldId id="656" r:id="rId23"/>
    <p:sldId id="627" r:id="rId24"/>
    <p:sldId id="628" r:id="rId25"/>
    <p:sldId id="629" r:id="rId26"/>
    <p:sldId id="653" r:id="rId27"/>
    <p:sldId id="654" r:id="rId28"/>
    <p:sldId id="456" r:id="rId29"/>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p15:clr>
            <a:srgbClr val="A4A3A4"/>
          </p15:clr>
        </p15:guide>
        <p15:guide id="2" orient="horz" pos="2876">
          <p15:clr>
            <a:srgbClr val="A4A3A4"/>
          </p15:clr>
        </p15:guide>
        <p15:guide id="3" orient="horz" pos="1298">
          <p15:clr>
            <a:srgbClr val="A4A3A4"/>
          </p15:clr>
        </p15:guide>
        <p15:guide id="4" pos="3871">
          <p15:clr>
            <a:srgbClr val="A4A3A4"/>
          </p15:clr>
        </p15:guide>
        <p15:guide id="5" pos="1234">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guide id="3" orient="horz" pos="2924">
          <p15:clr>
            <a:srgbClr val="A4A3A4"/>
          </p15:clr>
        </p15:guide>
        <p15:guide id="4" pos="22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9F0"/>
    <a:srgbClr val="FF0000"/>
    <a:srgbClr val="002060"/>
    <a:srgbClr val="009900"/>
    <a:srgbClr val="F79646"/>
    <a:srgbClr val="009AD0"/>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4" autoAdjust="0"/>
    <p:restoredTop sz="83851" autoAdjust="0"/>
  </p:normalViewPr>
  <p:slideViewPr>
    <p:cSldViewPr snapToGrid="0">
      <p:cViewPr varScale="1">
        <p:scale>
          <a:sx n="92" d="100"/>
          <a:sy n="92" d="100"/>
        </p:scale>
        <p:origin x="1376" y="184"/>
      </p:cViewPr>
      <p:guideLst>
        <p:guide orient="horz" pos="2205"/>
        <p:guide orient="horz" pos="2876"/>
        <p:guide orient="horz" pos="1298"/>
        <p:guide pos="3871"/>
        <p:guide pos="1234"/>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160"/>
        <p:guide pos="2880"/>
        <p:guide orient="horz" pos="2924"/>
        <p:guide pos="22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pPr>
              <a:defRPr/>
            </a:pPr>
            <a:endParaRPr lang="zh-CN" altLang="en-US"/>
          </a:p>
        </p:txBody>
      </p:sp>
      <p:sp>
        <p:nvSpPr>
          <p:cNvPr id="33795"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pPr>
              <a:defRPr/>
            </a:pPr>
            <a:fld id="{3915CCEA-4D12-4250-ABBC-1F15DE901CBC}" type="datetimeFigureOut">
              <a:rPr lang="zh-CN" altLang="en-US"/>
              <a:t>2025/9/26</a:t>
            </a:fld>
            <a:endParaRPr lang="en-US" altLang="zh-CN"/>
          </a:p>
        </p:txBody>
      </p:sp>
      <p:sp>
        <p:nvSpPr>
          <p:cNvPr id="33796"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pPr>
              <a:defRPr/>
            </a:pPr>
            <a:endParaRPr lang="en-US" altLang="zh-CN"/>
          </a:p>
        </p:txBody>
      </p:sp>
      <p:sp>
        <p:nvSpPr>
          <p:cNvPr id="33797"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pPr>
              <a:defRPr/>
            </a:pPr>
            <a:fld id="{C6A76C4A-4CA1-4C6A-946C-E26A5534DC95}" type="slidenum">
              <a:rPr lang="zh-CN" altLang="en-US"/>
              <a:t>‹#›</a:t>
            </a:fld>
            <a:endParaRPr lang="en-US" altLang="zh-CN"/>
          </a:p>
        </p:txBody>
      </p:sp>
    </p:spTree>
    <p:extLst>
      <p:ext uri="{BB962C8B-B14F-4D97-AF65-F5344CB8AC3E}">
        <p14:creationId xmlns:p14="http://schemas.microsoft.com/office/powerpoint/2010/main" val="151847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8FAF2163-2CD8-43A9-AAB8-953EE3B200FA}" type="datetimeFigureOut">
              <a:rPr lang="zh-CN" altLang="en-US"/>
              <a:t>2025/9/26</a:t>
            </a:fld>
            <a:endParaRPr lang="zh-CN" altLang="en-US"/>
          </a:p>
        </p:txBody>
      </p:sp>
      <p:sp>
        <p:nvSpPr>
          <p:cNvPr id="4"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1798234E-E7EE-4FBE-B288-F5A88D0BAADF}" type="slidenum">
              <a:rPr lang="zh-CN" altLang="en-US"/>
              <a:t>‹#›</a:t>
            </a:fld>
            <a:endParaRPr lang="zh-CN" altLang="en-US"/>
          </a:p>
        </p:txBody>
      </p:sp>
    </p:spTree>
    <p:extLst>
      <p:ext uri="{BB962C8B-B14F-4D97-AF65-F5344CB8AC3E}">
        <p14:creationId xmlns:p14="http://schemas.microsoft.com/office/powerpoint/2010/main" val="12164179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extLst>
      <p:ext uri="{BB962C8B-B14F-4D97-AF65-F5344CB8AC3E}">
        <p14:creationId xmlns:p14="http://schemas.microsoft.com/office/powerpoint/2010/main" val="57187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a:t>
            </a:fld>
            <a:endParaRPr lang="zh-CN" altLang="en-US"/>
          </a:p>
        </p:txBody>
      </p:sp>
    </p:spTree>
    <p:extLst>
      <p:ext uri="{BB962C8B-B14F-4D97-AF65-F5344CB8AC3E}">
        <p14:creationId xmlns:p14="http://schemas.microsoft.com/office/powerpoint/2010/main" val="3251787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a:t>
            </a:fld>
            <a:endParaRPr lang="zh-CN" altLang="en-US"/>
          </a:p>
        </p:txBody>
      </p:sp>
    </p:spTree>
    <p:extLst>
      <p:ext uri="{BB962C8B-B14F-4D97-AF65-F5344CB8AC3E}">
        <p14:creationId xmlns:p14="http://schemas.microsoft.com/office/powerpoint/2010/main" val="3258063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a:t>
            </a:fld>
            <a:endParaRPr lang="zh-CN" altLang="en-US"/>
          </a:p>
        </p:txBody>
      </p:sp>
    </p:spTree>
    <p:extLst>
      <p:ext uri="{BB962C8B-B14F-4D97-AF65-F5344CB8AC3E}">
        <p14:creationId xmlns:p14="http://schemas.microsoft.com/office/powerpoint/2010/main" val="1106591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a:t>
            </a:fld>
            <a:endParaRPr lang="zh-CN" altLang="en-US"/>
          </a:p>
        </p:txBody>
      </p:sp>
    </p:spTree>
    <p:extLst>
      <p:ext uri="{BB962C8B-B14F-4D97-AF65-F5344CB8AC3E}">
        <p14:creationId xmlns:p14="http://schemas.microsoft.com/office/powerpoint/2010/main" val="2069174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6</a:t>
            </a:fld>
            <a:endParaRPr lang="zh-CN" altLang="en-US"/>
          </a:p>
        </p:txBody>
      </p:sp>
    </p:spTree>
    <p:extLst>
      <p:ext uri="{BB962C8B-B14F-4D97-AF65-F5344CB8AC3E}">
        <p14:creationId xmlns:p14="http://schemas.microsoft.com/office/powerpoint/2010/main" val="2568170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7</a:t>
            </a:fld>
            <a:endParaRPr lang="zh-CN" altLang="en-US"/>
          </a:p>
        </p:txBody>
      </p:sp>
    </p:spTree>
    <p:extLst>
      <p:ext uri="{BB962C8B-B14F-4D97-AF65-F5344CB8AC3E}">
        <p14:creationId xmlns:p14="http://schemas.microsoft.com/office/powerpoint/2010/main" val="3115367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8</a:t>
            </a:fld>
            <a:endParaRPr lang="zh-CN" altLang="en-US"/>
          </a:p>
        </p:txBody>
      </p:sp>
    </p:spTree>
    <p:extLst>
      <p:ext uri="{BB962C8B-B14F-4D97-AF65-F5344CB8AC3E}">
        <p14:creationId xmlns:p14="http://schemas.microsoft.com/office/powerpoint/2010/main" val="1100225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9</a:t>
            </a:fld>
            <a:endParaRPr lang="zh-CN" altLang="en-US"/>
          </a:p>
        </p:txBody>
      </p:sp>
    </p:spTree>
    <p:extLst>
      <p:ext uri="{BB962C8B-B14F-4D97-AF65-F5344CB8AC3E}">
        <p14:creationId xmlns:p14="http://schemas.microsoft.com/office/powerpoint/2010/main" val="1987626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10</a:t>
            </a:fld>
            <a:endParaRPr lang="zh-CN" altLang="en-US"/>
          </a:p>
        </p:txBody>
      </p:sp>
    </p:spTree>
    <p:extLst>
      <p:ext uri="{BB962C8B-B14F-4D97-AF65-F5344CB8AC3E}">
        <p14:creationId xmlns:p14="http://schemas.microsoft.com/office/powerpoint/2010/main" val="1473126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11</a:t>
            </a:fld>
            <a:endParaRPr lang="zh-CN" altLang="en-US"/>
          </a:p>
        </p:txBody>
      </p:sp>
    </p:spTree>
    <p:extLst>
      <p:ext uri="{BB962C8B-B14F-4D97-AF65-F5344CB8AC3E}">
        <p14:creationId xmlns:p14="http://schemas.microsoft.com/office/powerpoint/2010/main" val="3651248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12</a:t>
            </a:fld>
            <a:endParaRPr lang="zh-CN" altLang="en-US"/>
          </a:p>
        </p:txBody>
      </p:sp>
    </p:spTree>
    <p:extLst>
      <p:ext uri="{BB962C8B-B14F-4D97-AF65-F5344CB8AC3E}">
        <p14:creationId xmlns:p14="http://schemas.microsoft.com/office/powerpoint/2010/main" val="3801150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13</a:t>
            </a:fld>
            <a:endParaRPr lang="zh-CN" altLang="en-US"/>
          </a:p>
        </p:txBody>
      </p:sp>
    </p:spTree>
    <p:extLst>
      <p:ext uri="{BB962C8B-B14F-4D97-AF65-F5344CB8AC3E}">
        <p14:creationId xmlns:p14="http://schemas.microsoft.com/office/powerpoint/2010/main" val="2378445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14</a:t>
            </a:fld>
            <a:endParaRPr lang="zh-CN" altLang="en-US"/>
          </a:p>
        </p:txBody>
      </p:sp>
    </p:spTree>
    <p:extLst>
      <p:ext uri="{BB962C8B-B14F-4D97-AF65-F5344CB8AC3E}">
        <p14:creationId xmlns:p14="http://schemas.microsoft.com/office/powerpoint/2010/main" val="791778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15</a:t>
            </a:fld>
            <a:endParaRPr lang="zh-CN" altLang="en-US"/>
          </a:p>
        </p:txBody>
      </p:sp>
    </p:spTree>
    <p:extLst>
      <p:ext uri="{BB962C8B-B14F-4D97-AF65-F5344CB8AC3E}">
        <p14:creationId xmlns:p14="http://schemas.microsoft.com/office/powerpoint/2010/main" val="2987096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16</a:t>
            </a:fld>
            <a:endParaRPr lang="zh-CN" altLang="en-US"/>
          </a:p>
        </p:txBody>
      </p:sp>
    </p:spTree>
    <p:extLst>
      <p:ext uri="{BB962C8B-B14F-4D97-AF65-F5344CB8AC3E}">
        <p14:creationId xmlns:p14="http://schemas.microsoft.com/office/powerpoint/2010/main" val="1824016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17</a:t>
            </a:fld>
            <a:endParaRPr lang="zh-CN" altLang="en-US"/>
          </a:p>
        </p:txBody>
      </p:sp>
    </p:spTree>
    <p:extLst>
      <p:ext uri="{BB962C8B-B14F-4D97-AF65-F5344CB8AC3E}">
        <p14:creationId xmlns:p14="http://schemas.microsoft.com/office/powerpoint/2010/main" val="1703234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18</a:t>
            </a:fld>
            <a:endParaRPr lang="zh-CN" altLang="en-US"/>
          </a:p>
        </p:txBody>
      </p:sp>
    </p:spTree>
    <p:extLst>
      <p:ext uri="{BB962C8B-B14F-4D97-AF65-F5344CB8AC3E}">
        <p14:creationId xmlns:p14="http://schemas.microsoft.com/office/powerpoint/2010/main" val="3515563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19</a:t>
            </a:fld>
            <a:endParaRPr lang="zh-CN" altLang="en-US"/>
          </a:p>
        </p:txBody>
      </p:sp>
    </p:spTree>
    <p:extLst>
      <p:ext uri="{BB962C8B-B14F-4D97-AF65-F5344CB8AC3E}">
        <p14:creationId xmlns:p14="http://schemas.microsoft.com/office/powerpoint/2010/main" val="3638339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20</a:t>
            </a:fld>
            <a:endParaRPr lang="zh-CN" altLang="en-US"/>
          </a:p>
        </p:txBody>
      </p:sp>
    </p:spTree>
    <p:extLst>
      <p:ext uri="{BB962C8B-B14F-4D97-AF65-F5344CB8AC3E}">
        <p14:creationId xmlns:p14="http://schemas.microsoft.com/office/powerpoint/2010/main" val="2013488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22</a:t>
            </a:fld>
            <a:endParaRPr lang="zh-CN" altLang="en-US"/>
          </a:p>
        </p:txBody>
      </p:sp>
    </p:spTree>
    <p:extLst>
      <p:ext uri="{BB962C8B-B14F-4D97-AF65-F5344CB8AC3E}">
        <p14:creationId xmlns:p14="http://schemas.microsoft.com/office/powerpoint/2010/main" val="20134882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23</a:t>
            </a:fld>
            <a:endParaRPr lang="zh-CN" altLang="en-US"/>
          </a:p>
        </p:txBody>
      </p:sp>
    </p:spTree>
    <p:extLst>
      <p:ext uri="{BB962C8B-B14F-4D97-AF65-F5344CB8AC3E}">
        <p14:creationId xmlns:p14="http://schemas.microsoft.com/office/powerpoint/2010/main" val="1424914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24</a:t>
            </a:fld>
            <a:endParaRPr lang="zh-CN" altLang="en-US"/>
          </a:p>
        </p:txBody>
      </p:sp>
    </p:spTree>
    <p:extLst>
      <p:ext uri="{BB962C8B-B14F-4D97-AF65-F5344CB8AC3E}">
        <p14:creationId xmlns:p14="http://schemas.microsoft.com/office/powerpoint/2010/main" val="14383934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25</a:t>
            </a:fld>
            <a:endParaRPr lang="zh-CN" altLang="en-US"/>
          </a:p>
        </p:txBody>
      </p:sp>
    </p:spTree>
    <p:extLst>
      <p:ext uri="{BB962C8B-B14F-4D97-AF65-F5344CB8AC3E}">
        <p14:creationId xmlns:p14="http://schemas.microsoft.com/office/powerpoint/2010/main" val="14985287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28</a:t>
            </a:fld>
            <a:endParaRPr lang="zh-CN" altLang="en-US"/>
          </a:p>
        </p:txBody>
      </p:sp>
    </p:spTree>
    <p:extLst>
      <p:ext uri="{BB962C8B-B14F-4D97-AF65-F5344CB8AC3E}">
        <p14:creationId xmlns:p14="http://schemas.microsoft.com/office/powerpoint/2010/main" val="11044486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65479" y="6370882"/>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715" y="6316356"/>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146161" y="6470879"/>
            <a:ext cx="1968290" cy="366871"/>
          </a:xfrm>
          <a:prstGeom prst="rect">
            <a:avLst/>
          </a:prstGeom>
        </p:spPr>
      </p:pic>
      <p:pic>
        <p:nvPicPr>
          <p:cNvPr id="9"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1917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图片 1" descr="logo.jpg"/>
          <p:cNvPicPr>
            <a:picLocks noChangeAspect="1"/>
          </p:cNvPicPr>
          <p:nvPr userDrawn="1"/>
        </p:nvPicPr>
        <p:blipFill>
          <a:blip r:embed="rId2" cstate="print"/>
          <a:stretch>
            <a:fillRect/>
          </a:stretch>
        </p:blipFill>
        <p:spPr>
          <a:xfrm>
            <a:off x="10217716" y="6491129"/>
            <a:ext cx="1968290" cy="366871"/>
          </a:xfrm>
          <a:prstGeom prst="rect">
            <a:avLst/>
          </a:prstGeom>
        </p:spPr>
      </p:pic>
      <p:pic>
        <p:nvPicPr>
          <p:cNvPr id="4" name="Picture 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8" name="图片 7" descr="logo.jpg"/>
          <p:cNvPicPr>
            <a:picLocks noChangeAspect="1"/>
          </p:cNvPicPr>
          <p:nvPr userDrawn="1"/>
        </p:nvPicPr>
        <p:blipFill>
          <a:blip r:embed="rId2" cstate="print"/>
          <a:stretch>
            <a:fillRect/>
          </a:stretch>
        </p:blipFill>
        <p:spPr>
          <a:xfrm>
            <a:off x="10223709" y="6440344"/>
            <a:ext cx="1968290" cy="366871"/>
          </a:xfrm>
          <a:prstGeom prst="rect">
            <a:avLst/>
          </a:prstGeom>
        </p:spPr>
      </p:pic>
      <p:pic>
        <p:nvPicPr>
          <p:cNvPr id="9" name="Picture 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715" y="6297039"/>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710" y="6491129"/>
            <a:ext cx="1968290" cy="366871"/>
          </a:xfrm>
          <a:prstGeom prst="rect">
            <a:avLst/>
          </a:prstGeom>
        </p:spPr>
      </p:pic>
      <p:pic>
        <p:nvPicPr>
          <p:cNvPr id="4"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360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descr="logo.jpg"/>
          <p:cNvPicPr>
            <a:picLocks noChangeAspect="1"/>
          </p:cNvPicPr>
          <p:nvPr userDrawn="1"/>
        </p:nvPicPr>
        <p:blipFill>
          <a:blip r:embed="rId8" cstate="print"/>
          <a:stretch>
            <a:fillRect/>
          </a:stretch>
        </p:blipFill>
        <p:spPr>
          <a:xfrm>
            <a:off x="10223709" y="6491129"/>
            <a:ext cx="1968290" cy="366871"/>
          </a:xfrm>
          <a:prstGeom prst="rect">
            <a:avLst/>
          </a:prstGeom>
        </p:spPr>
      </p:pic>
      <p:pic>
        <p:nvPicPr>
          <p:cNvPr id="4" name="Picture 5"/>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7" r:id="rId5"/>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slide" Target="slide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pic>
        <p:nvPicPr>
          <p:cNvPr id="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2444074" y="620454"/>
            <a:ext cx="8128000"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第八章    数据库设计</a:t>
            </a:r>
            <a:endParaRPr lang="en-US" altLang="zh-CN" sz="4000" b="1" dirty="0">
              <a:solidFill>
                <a:srgbClr val="003300"/>
              </a:solidFill>
            </a:endParaRPr>
          </a:p>
          <a:p>
            <a:pPr eaLnBrk="1" hangingPunct="1">
              <a:spcBef>
                <a:spcPct val="50000"/>
              </a:spcBef>
            </a:pPr>
            <a:r>
              <a:rPr lang="en-US" altLang="zh-CN" sz="3200" b="1" dirty="0"/>
              <a:t>	8.1 </a:t>
            </a:r>
            <a:r>
              <a:rPr lang="zh-CN" altLang="en-US" sz="3200" b="1" dirty="0"/>
              <a:t>数据库设计概述</a:t>
            </a:r>
            <a:endParaRPr lang="en-US" altLang="zh-CN" sz="3200" b="1" dirty="0"/>
          </a:p>
          <a:p>
            <a:pPr eaLnBrk="1" hangingPunct="1">
              <a:spcBef>
                <a:spcPct val="50000"/>
              </a:spcBef>
            </a:pPr>
            <a:r>
              <a:rPr lang="en-US" altLang="zh-CN" sz="3200" b="1" dirty="0"/>
              <a:t>	8.2 </a:t>
            </a:r>
            <a:r>
              <a:rPr lang="zh-CN" altLang="en-US" sz="3200" b="1" dirty="0"/>
              <a:t>需求分析</a:t>
            </a:r>
            <a:endParaRPr lang="en-US" altLang="zh-CN" sz="3200" b="1" dirty="0"/>
          </a:p>
          <a:p>
            <a:pPr eaLnBrk="1" hangingPunct="1">
              <a:spcBef>
                <a:spcPct val="50000"/>
              </a:spcBef>
            </a:pPr>
            <a:r>
              <a:rPr lang="en-US" altLang="zh-CN" sz="3200" b="1" dirty="0"/>
              <a:t>	8.3 </a:t>
            </a:r>
            <a:r>
              <a:rPr lang="zh-CN" altLang="en-US" sz="3200" b="1" dirty="0"/>
              <a:t>概念设计</a:t>
            </a:r>
            <a:endParaRPr lang="en-US" altLang="zh-CN" sz="3200" b="1" dirty="0"/>
          </a:p>
          <a:p>
            <a:pPr eaLnBrk="1" hangingPunct="1">
              <a:spcBef>
                <a:spcPct val="50000"/>
              </a:spcBef>
            </a:pPr>
            <a:r>
              <a:rPr lang="en-US" altLang="zh-CN" sz="3200" b="1" dirty="0"/>
              <a:t>        </a:t>
            </a:r>
            <a:r>
              <a:rPr lang="en-US" altLang="zh-CN" sz="3200" b="1" dirty="0">
                <a:solidFill>
                  <a:srgbClr val="FF0000"/>
                </a:solidFill>
              </a:rPr>
              <a:t>8.4 </a:t>
            </a:r>
            <a:r>
              <a:rPr lang="zh-CN" altLang="en-US" sz="3200" b="1" dirty="0">
                <a:solidFill>
                  <a:srgbClr val="FF0000"/>
                </a:solidFill>
              </a:rPr>
              <a:t>逻辑设计</a:t>
            </a:r>
            <a:endParaRPr lang="en-US" altLang="zh-CN" sz="3200" b="1" dirty="0">
              <a:solidFill>
                <a:srgbClr val="FF0000"/>
              </a:solidFill>
            </a:endParaRPr>
          </a:p>
          <a:p>
            <a:pPr eaLnBrk="1" hangingPunct="1">
              <a:spcBef>
                <a:spcPct val="50000"/>
              </a:spcBef>
            </a:pPr>
            <a:r>
              <a:rPr lang="en-US" altLang="zh-CN" sz="3200" b="1" dirty="0"/>
              <a:t>        8.5 </a:t>
            </a:r>
            <a:r>
              <a:rPr lang="zh-CN" altLang="en-US" sz="3200" b="1" dirty="0"/>
              <a:t>物理设计</a:t>
            </a:r>
            <a:endParaRPr lang="en-US" altLang="zh-CN" sz="3200" b="1" dirty="0"/>
          </a:p>
          <a:p>
            <a:pPr eaLnBrk="1" hangingPunct="1">
              <a:spcBef>
                <a:spcPct val="50000"/>
              </a:spcBef>
            </a:pPr>
            <a:r>
              <a:rPr lang="en-US" altLang="zh-CN" sz="3200" b="1" dirty="0"/>
              <a:t>        8.6 </a:t>
            </a:r>
            <a:r>
              <a:rPr lang="zh-CN" altLang="en-US" sz="3200" b="1" dirty="0"/>
              <a:t>数据库实施、运行与维护</a:t>
            </a:r>
            <a:endParaRPr lang="en-US" altLang="zh-CN" sz="3200" dirty="0"/>
          </a:p>
        </p:txBody>
      </p:sp>
    </p:spTree>
    <p:extLst>
      <p:ext uri="{BB962C8B-B14F-4D97-AF65-F5344CB8AC3E}">
        <p14:creationId xmlns:p14="http://schemas.microsoft.com/office/powerpoint/2010/main" val="2678349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6" name="Rectangle 3"/>
          <p:cNvSpPr txBox="1">
            <a:spLocks noChangeArrowheads="1"/>
          </p:cNvSpPr>
          <p:nvPr/>
        </p:nvSpPr>
        <p:spPr bwMode="auto">
          <a:xfrm>
            <a:off x="462248" y="903194"/>
            <a:ext cx="10832670" cy="2862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ts val="1200"/>
              </a:spcBef>
              <a:buClr>
                <a:srgbClr val="FF0000"/>
              </a:buClr>
              <a:buFont typeface="Wingdings" panose="05000000000000000000" pitchFamily="2" charset="2"/>
              <a:buChar char="Ø"/>
            </a:pPr>
            <a:r>
              <a:rPr lang="zh-CN" altLang="en-US" b="1" dirty="0">
                <a:solidFill>
                  <a:srgbClr val="CC3300"/>
                </a:solidFill>
              </a:rPr>
              <a:t>逻辑结构设计的任务</a:t>
            </a:r>
          </a:p>
          <a:p>
            <a:pPr lvl="1" eaLnBrk="1" hangingPunct="1">
              <a:lnSpc>
                <a:spcPct val="125000"/>
              </a:lnSpc>
              <a:spcBef>
                <a:spcPts val="1200"/>
              </a:spcBef>
            </a:pPr>
            <a:r>
              <a:rPr lang="zh-CN" altLang="en-US" b="1" dirty="0">
                <a:solidFill>
                  <a:srgbClr val="000066"/>
                </a:solidFill>
              </a:rPr>
              <a:t>概念结构是各种数据模型的共同基础；</a:t>
            </a:r>
          </a:p>
          <a:p>
            <a:pPr lvl="1" eaLnBrk="1" hangingPunct="1">
              <a:lnSpc>
                <a:spcPct val="125000"/>
              </a:lnSpc>
              <a:spcBef>
                <a:spcPts val="1200"/>
              </a:spcBef>
            </a:pPr>
            <a:r>
              <a:rPr lang="zh-CN" altLang="en-US" b="1" dirty="0">
                <a:solidFill>
                  <a:srgbClr val="000066"/>
                </a:solidFill>
              </a:rPr>
              <a:t>为了能够用某一</a:t>
            </a:r>
            <a:r>
              <a:rPr lang="en-US" altLang="zh-CN" b="1" dirty="0">
                <a:solidFill>
                  <a:srgbClr val="000066"/>
                </a:solidFill>
              </a:rPr>
              <a:t>DBMS</a:t>
            </a:r>
            <a:r>
              <a:rPr lang="zh-CN" altLang="en-US" b="1" dirty="0">
                <a:solidFill>
                  <a:srgbClr val="000066"/>
                </a:solidFill>
              </a:rPr>
              <a:t>实现用户需求，还必须将概念结构设计好的</a:t>
            </a:r>
            <a:r>
              <a:rPr lang="en-US" altLang="zh-CN" b="1" dirty="0">
                <a:solidFill>
                  <a:srgbClr val="000066"/>
                </a:solidFill>
              </a:rPr>
              <a:t>E-R</a:t>
            </a:r>
            <a:r>
              <a:rPr lang="zh-CN" altLang="en-US" b="1" dirty="0">
                <a:solidFill>
                  <a:srgbClr val="000066"/>
                </a:solidFill>
              </a:rPr>
              <a:t>图进一步转化为相应的数据模型，这正是数据库逻辑结构设计所要完成的任务。</a:t>
            </a:r>
          </a:p>
        </p:txBody>
      </p:sp>
    </p:spTree>
    <p:extLst>
      <p:ext uri="{BB962C8B-B14F-4D97-AF65-F5344CB8AC3E}">
        <p14:creationId xmlns:p14="http://schemas.microsoft.com/office/powerpoint/2010/main" val="320331294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数据库设计的过程</a:t>
            </a:r>
          </a:p>
        </p:txBody>
      </p:sp>
      <p:sp>
        <p:nvSpPr>
          <p:cNvPr id="10" name="文本框 94"/>
          <p:cNvSpPr txBox="1">
            <a:spLocks noChangeArrowheads="1"/>
          </p:cNvSpPr>
          <p:nvPr/>
        </p:nvSpPr>
        <p:spPr bwMode="auto">
          <a:xfrm>
            <a:off x="4737459" y="75566"/>
            <a:ext cx="790877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8.2.4 </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cxnSp>
        <p:nvCxnSpPr>
          <p:cNvPr id="11" name="直接连接符 10"/>
          <p:cNvCxnSpPr/>
          <p:nvPr/>
        </p:nvCxnSpPr>
        <p:spPr>
          <a:xfrm rot="5400000">
            <a:off x="4354918"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3"/>
          <p:cNvGrpSpPr>
            <a:grpSpLocks/>
          </p:cNvGrpSpPr>
          <p:nvPr/>
        </p:nvGrpSpPr>
        <p:grpSpPr bwMode="auto">
          <a:xfrm>
            <a:off x="1206498" y="3494867"/>
            <a:ext cx="8186737" cy="2895600"/>
            <a:chOff x="288" y="1296"/>
            <a:chExt cx="5157" cy="1824"/>
          </a:xfrm>
        </p:grpSpPr>
        <p:sp>
          <p:nvSpPr>
            <p:cNvPr id="7" name="Oval 4"/>
            <p:cNvSpPr>
              <a:spLocks noChangeArrowheads="1"/>
            </p:cNvSpPr>
            <p:nvPr/>
          </p:nvSpPr>
          <p:spPr bwMode="auto">
            <a:xfrm>
              <a:off x="864" y="2448"/>
              <a:ext cx="912" cy="672"/>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66"/>
                </a:buClr>
              </a:pPr>
              <a:r>
                <a:rPr kumimoji="1" lang="zh-CN" altLang="en-US" sz="2000" b="1" i="0">
                  <a:solidFill>
                    <a:srgbClr val="000066"/>
                  </a:solidFill>
                  <a:latin typeface="Tahoma" panose="020B0604030504040204" pitchFamily="34" charset="0"/>
                </a:rPr>
                <a:t>转换</a:t>
              </a:r>
            </a:p>
            <a:p>
              <a:pPr algn="ctr" eaLnBrk="1" hangingPunct="1">
                <a:spcBef>
                  <a:spcPct val="20000"/>
                </a:spcBef>
                <a:buClr>
                  <a:srgbClr val="FFFF66"/>
                </a:buClr>
              </a:pPr>
              <a:r>
                <a:rPr kumimoji="1" lang="zh-CN" altLang="en-US" sz="2000" b="1" i="0">
                  <a:solidFill>
                    <a:srgbClr val="000066"/>
                  </a:solidFill>
                  <a:latin typeface="Tahoma" panose="020B0604030504040204" pitchFamily="34" charset="0"/>
                </a:rPr>
                <a:t>规则</a:t>
              </a:r>
            </a:p>
          </p:txBody>
        </p:sp>
        <p:sp>
          <p:nvSpPr>
            <p:cNvPr id="8" name="Oval 5"/>
            <p:cNvSpPr>
              <a:spLocks noChangeArrowheads="1"/>
            </p:cNvSpPr>
            <p:nvPr/>
          </p:nvSpPr>
          <p:spPr bwMode="auto">
            <a:xfrm>
              <a:off x="2496" y="2400"/>
              <a:ext cx="1008" cy="72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66"/>
                </a:buClr>
              </a:pPr>
              <a:r>
                <a:rPr kumimoji="1" lang="en-US" altLang="zh-CN" sz="2000" b="1" i="0">
                  <a:solidFill>
                    <a:srgbClr val="000066"/>
                  </a:solidFill>
                  <a:latin typeface="Tahoma" panose="020B0604030504040204" pitchFamily="34" charset="0"/>
                </a:rPr>
                <a:t>DBMS</a:t>
              </a:r>
              <a:r>
                <a:rPr kumimoji="1" lang="zh-CN" altLang="en-US" sz="2000" b="1" i="0">
                  <a:solidFill>
                    <a:srgbClr val="000066"/>
                  </a:solidFill>
                  <a:latin typeface="Tahoma" panose="020B0604030504040204" pitchFamily="34" charset="0"/>
                </a:rPr>
                <a:t>的</a:t>
              </a:r>
            </a:p>
            <a:p>
              <a:pPr algn="ctr" eaLnBrk="1" hangingPunct="1">
                <a:spcBef>
                  <a:spcPct val="20000"/>
                </a:spcBef>
                <a:buClr>
                  <a:srgbClr val="FFFF66"/>
                </a:buClr>
              </a:pPr>
              <a:r>
                <a:rPr kumimoji="1" lang="zh-CN" altLang="en-US" sz="2000" b="1" i="0">
                  <a:solidFill>
                    <a:srgbClr val="000066"/>
                  </a:solidFill>
                  <a:latin typeface="Tahoma" panose="020B0604030504040204" pitchFamily="34" charset="0"/>
                </a:rPr>
                <a:t>特点和限制</a:t>
              </a:r>
            </a:p>
          </p:txBody>
        </p:sp>
        <p:sp>
          <p:nvSpPr>
            <p:cNvPr id="9" name="Oval 6"/>
            <p:cNvSpPr>
              <a:spLocks noChangeArrowheads="1"/>
            </p:cNvSpPr>
            <p:nvPr/>
          </p:nvSpPr>
          <p:spPr bwMode="auto">
            <a:xfrm>
              <a:off x="4080" y="2448"/>
              <a:ext cx="864" cy="624"/>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66"/>
                </a:buClr>
              </a:pPr>
              <a:r>
                <a:rPr kumimoji="1" lang="zh-CN" altLang="en-US" sz="2000" b="1" i="0">
                  <a:solidFill>
                    <a:srgbClr val="000066"/>
                  </a:solidFill>
                  <a:latin typeface="Tahoma" panose="020B0604030504040204" pitchFamily="34" charset="0"/>
                </a:rPr>
                <a:t>优化</a:t>
              </a:r>
            </a:p>
            <a:p>
              <a:pPr algn="ctr" eaLnBrk="1" hangingPunct="1">
                <a:spcBef>
                  <a:spcPct val="20000"/>
                </a:spcBef>
                <a:buClr>
                  <a:srgbClr val="FFFF66"/>
                </a:buClr>
              </a:pPr>
              <a:r>
                <a:rPr kumimoji="1" lang="zh-CN" altLang="en-US" sz="2000" b="1" i="0">
                  <a:solidFill>
                    <a:srgbClr val="000066"/>
                  </a:solidFill>
                  <a:latin typeface="Tahoma" panose="020B0604030504040204" pitchFamily="34" charset="0"/>
                </a:rPr>
                <a:t>方法</a:t>
              </a:r>
            </a:p>
          </p:txBody>
        </p:sp>
        <p:grpSp>
          <p:nvGrpSpPr>
            <p:cNvPr id="12" name="Group 7"/>
            <p:cNvGrpSpPr>
              <a:grpSpLocks/>
            </p:cNvGrpSpPr>
            <p:nvPr/>
          </p:nvGrpSpPr>
          <p:grpSpPr bwMode="auto">
            <a:xfrm>
              <a:off x="288" y="1296"/>
              <a:ext cx="912" cy="624"/>
              <a:chOff x="528" y="1440"/>
              <a:chExt cx="1104" cy="624"/>
            </a:xfrm>
          </p:grpSpPr>
          <p:grpSp>
            <p:nvGrpSpPr>
              <p:cNvPr id="32" name="Group 8"/>
              <p:cNvGrpSpPr>
                <a:grpSpLocks/>
              </p:cNvGrpSpPr>
              <p:nvPr/>
            </p:nvGrpSpPr>
            <p:grpSpPr bwMode="auto">
              <a:xfrm>
                <a:off x="528" y="1440"/>
                <a:ext cx="1104" cy="624"/>
                <a:chOff x="528" y="1296"/>
                <a:chExt cx="1536" cy="768"/>
              </a:xfrm>
            </p:grpSpPr>
            <p:sp>
              <p:nvSpPr>
                <p:cNvPr id="35" name="Rectangle 9"/>
                <p:cNvSpPr>
                  <a:spLocks noChangeArrowheads="1"/>
                </p:cNvSpPr>
                <p:nvPr/>
              </p:nvSpPr>
              <p:spPr bwMode="auto">
                <a:xfrm>
                  <a:off x="528" y="1296"/>
                  <a:ext cx="1536" cy="768"/>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 name="Line 10"/>
                <p:cNvSpPr>
                  <a:spLocks noChangeShapeType="1"/>
                </p:cNvSpPr>
                <p:nvPr/>
              </p:nvSpPr>
              <p:spPr bwMode="auto">
                <a:xfrm>
                  <a:off x="528" y="1680"/>
                  <a:ext cx="1536" cy="0"/>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 name="Rectangle 11"/>
              <p:cNvSpPr>
                <a:spLocks noChangeArrowheads="1"/>
              </p:cNvSpPr>
              <p:nvPr/>
            </p:nvSpPr>
            <p:spPr bwMode="auto">
              <a:xfrm>
                <a:off x="576" y="1488"/>
                <a:ext cx="96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66"/>
                  </a:buClr>
                </a:pPr>
                <a:r>
                  <a:rPr kumimoji="1" lang="zh-CN" altLang="en-US" sz="2000" b="1" i="0">
                    <a:solidFill>
                      <a:srgbClr val="000066"/>
                    </a:solidFill>
                    <a:latin typeface="Tahoma" panose="020B0604030504040204" pitchFamily="34" charset="0"/>
                  </a:rPr>
                  <a:t>概念结构</a:t>
                </a:r>
              </a:p>
            </p:txBody>
          </p:sp>
          <p:sp>
            <p:nvSpPr>
              <p:cNvPr id="34" name="Rectangle 12"/>
              <p:cNvSpPr>
                <a:spLocks noChangeArrowheads="1"/>
              </p:cNvSpPr>
              <p:nvPr/>
            </p:nvSpPr>
            <p:spPr bwMode="auto">
              <a:xfrm>
                <a:off x="576" y="1776"/>
                <a:ext cx="96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66"/>
                  </a:buClr>
                </a:pPr>
                <a:r>
                  <a:rPr kumimoji="1" lang="zh-CN" altLang="en-US" sz="2000" b="1" i="0" dirty="0">
                    <a:solidFill>
                      <a:srgbClr val="000066"/>
                    </a:solidFill>
                    <a:latin typeface="Tahoma" panose="020B0604030504040204" pitchFamily="34" charset="0"/>
                  </a:rPr>
                  <a:t>基本</a:t>
                </a:r>
                <a:r>
                  <a:rPr kumimoji="1" lang="en-US" altLang="zh-CN" sz="2000" b="1" i="0" dirty="0">
                    <a:solidFill>
                      <a:srgbClr val="000066"/>
                    </a:solidFill>
                    <a:latin typeface="Tahoma" panose="020B0604030504040204" pitchFamily="34" charset="0"/>
                  </a:rPr>
                  <a:t>E-R</a:t>
                </a:r>
                <a:r>
                  <a:rPr kumimoji="1" lang="zh-CN" altLang="en-US" sz="2000" b="1" i="0" dirty="0">
                    <a:solidFill>
                      <a:srgbClr val="000066"/>
                    </a:solidFill>
                    <a:latin typeface="Tahoma" panose="020B0604030504040204" pitchFamily="34" charset="0"/>
                  </a:rPr>
                  <a:t>图</a:t>
                </a:r>
              </a:p>
            </p:txBody>
          </p:sp>
        </p:grpSp>
        <p:grpSp>
          <p:nvGrpSpPr>
            <p:cNvPr id="13" name="Group 13"/>
            <p:cNvGrpSpPr>
              <a:grpSpLocks/>
            </p:cNvGrpSpPr>
            <p:nvPr/>
          </p:nvGrpSpPr>
          <p:grpSpPr bwMode="auto">
            <a:xfrm>
              <a:off x="1536" y="1296"/>
              <a:ext cx="1344" cy="624"/>
              <a:chOff x="1968" y="1440"/>
              <a:chExt cx="1344" cy="624"/>
            </a:xfrm>
          </p:grpSpPr>
          <p:grpSp>
            <p:nvGrpSpPr>
              <p:cNvPr id="27" name="Group 14"/>
              <p:cNvGrpSpPr>
                <a:grpSpLocks/>
              </p:cNvGrpSpPr>
              <p:nvPr/>
            </p:nvGrpSpPr>
            <p:grpSpPr bwMode="auto">
              <a:xfrm>
                <a:off x="1968" y="1440"/>
                <a:ext cx="1344" cy="624"/>
                <a:chOff x="528" y="1296"/>
                <a:chExt cx="1536" cy="768"/>
              </a:xfrm>
            </p:grpSpPr>
            <p:sp>
              <p:nvSpPr>
                <p:cNvPr id="30" name="Rectangle 15"/>
                <p:cNvSpPr>
                  <a:spLocks noChangeArrowheads="1"/>
                </p:cNvSpPr>
                <p:nvPr/>
              </p:nvSpPr>
              <p:spPr bwMode="auto">
                <a:xfrm>
                  <a:off x="528" y="1296"/>
                  <a:ext cx="1536" cy="768"/>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 name="Line 16"/>
                <p:cNvSpPr>
                  <a:spLocks noChangeShapeType="1"/>
                </p:cNvSpPr>
                <p:nvPr/>
              </p:nvSpPr>
              <p:spPr bwMode="auto">
                <a:xfrm>
                  <a:off x="528" y="1680"/>
                  <a:ext cx="1536" cy="0"/>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 name="Rectangle 17"/>
              <p:cNvSpPr>
                <a:spLocks noChangeArrowheads="1"/>
              </p:cNvSpPr>
              <p:nvPr/>
            </p:nvSpPr>
            <p:spPr bwMode="auto">
              <a:xfrm>
                <a:off x="2160" y="1488"/>
                <a:ext cx="96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66"/>
                  </a:buClr>
                </a:pPr>
                <a:r>
                  <a:rPr kumimoji="1" lang="zh-CN" altLang="en-US" sz="2000" b="1" i="0">
                    <a:solidFill>
                      <a:srgbClr val="000066"/>
                    </a:solidFill>
                    <a:latin typeface="Tahoma" panose="020B0604030504040204" pitchFamily="34" charset="0"/>
                  </a:rPr>
                  <a:t>一般数据模型</a:t>
                </a:r>
              </a:p>
            </p:txBody>
          </p:sp>
          <p:sp>
            <p:nvSpPr>
              <p:cNvPr id="29" name="Rectangle 18"/>
              <p:cNvSpPr>
                <a:spLocks noChangeArrowheads="1"/>
              </p:cNvSpPr>
              <p:nvPr/>
            </p:nvSpPr>
            <p:spPr bwMode="auto">
              <a:xfrm>
                <a:off x="2160" y="1776"/>
                <a:ext cx="96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66"/>
                  </a:buClr>
                </a:pPr>
                <a:r>
                  <a:rPr kumimoji="1" lang="zh-CN" altLang="en-US" sz="2000" b="1" i="0" dirty="0">
                    <a:solidFill>
                      <a:srgbClr val="000066"/>
                    </a:solidFill>
                    <a:latin typeface="Tahoma" panose="020B0604030504040204" pitchFamily="34" charset="0"/>
                  </a:rPr>
                  <a:t>关系模型、 </a:t>
                </a:r>
                <a:r>
                  <a:rPr kumimoji="1" lang="en-US" altLang="zh-CN" sz="2000" b="1" i="0" dirty="0">
                    <a:solidFill>
                      <a:srgbClr val="000066"/>
                    </a:solidFill>
                    <a:latin typeface="Tahoma" panose="020B0604030504040204" pitchFamily="34" charset="0"/>
                  </a:rPr>
                  <a:t>…….</a:t>
                </a:r>
                <a:endParaRPr kumimoji="1" lang="zh-CN" altLang="en-US" sz="2000" b="1" i="0" dirty="0">
                  <a:solidFill>
                    <a:srgbClr val="000066"/>
                  </a:solidFill>
                  <a:latin typeface="Tahoma" panose="020B0604030504040204" pitchFamily="34" charset="0"/>
                </a:endParaRPr>
              </a:p>
            </p:txBody>
          </p:sp>
        </p:grpSp>
        <p:grpSp>
          <p:nvGrpSpPr>
            <p:cNvPr id="14" name="Group 19"/>
            <p:cNvGrpSpPr>
              <a:grpSpLocks/>
            </p:cNvGrpSpPr>
            <p:nvPr/>
          </p:nvGrpSpPr>
          <p:grpSpPr bwMode="auto">
            <a:xfrm>
              <a:off x="3216" y="1296"/>
              <a:ext cx="1104" cy="624"/>
              <a:chOff x="3426" y="1467"/>
              <a:chExt cx="1104" cy="624"/>
            </a:xfrm>
          </p:grpSpPr>
          <p:sp>
            <p:nvSpPr>
              <p:cNvPr id="25" name="Rectangle 20"/>
              <p:cNvSpPr>
                <a:spLocks noChangeArrowheads="1"/>
              </p:cNvSpPr>
              <p:nvPr/>
            </p:nvSpPr>
            <p:spPr bwMode="auto">
              <a:xfrm>
                <a:off x="3426" y="1467"/>
                <a:ext cx="1104" cy="624"/>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Rectangle 21"/>
              <p:cNvSpPr>
                <a:spLocks noChangeArrowheads="1"/>
              </p:cNvSpPr>
              <p:nvPr/>
            </p:nvSpPr>
            <p:spPr bwMode="auto">
              <a:xfrm>
                <a:off x="3456" y="1728"/>
                <a:ext cx="10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buClr>
                    <a:srgbClr val="FFFF66"/>
                  </a:buClr>
                </a:pPr>
                <a:r>
                  <a:rPr kumimoji="1" lang="zh-CN" altLang="en-US" sz="2000" b="1" i="0">
                    <a:solidFill>
                      <a:srgbClr val="000066"/>
                    </a:solidFill>
                    <a:latin typeface="Tahoma" panose="020B0604030504040204" pitchFamily="34" charset="0"/>
                  </a:rPr>
                  <a:t>特定的</a:t>
                </a:r>
                <a:r>
                  <a:rPr kumimoji="1" lang="en-US" altLang="zh-CN" sz="2000" b="1" i="0">
                    <a:solidFill>
                      <a:srgbClr val="000066"/>
                    </a:solidFill>
                    <a:latin typeface="Tahoma" panose="020B0604030504040204" pitchFamily="34" charset="0"/>
                  </a:rPr>
                  <a:t>DBMS</a:t>
                </a:r>
              </a:p>
              <a:p>
                <a:pPr eaLnBrk="1" hangingPunct="1">
                  <a:buClr>
                    <a:srgbClr val="FFFF66"/>
                  </a:buClr>
                </a:pPr>
                <a:r>
                  <a:rPr kumimoji="1" lang="zh-CN" altLang="en-US" sz="2000" b="1" i="0">
                    <a:solidFill>
                      <a:srgbClr val="000066"/>
                    </a:solidFill>
                    <a:latin typeface="Tahoma" panose="020B0604030504040204" pitchFamily="34" charset="0"/>
                  </a:rPr>
                  <a:t>支持下的数据</a:t>
                </a:r>
              </a:p>
              <a:p>
                <a:pPr eaLnBrk="1" hangingPunct="1">
                  <a:buClr>
                    <a:srgbClr val="FFFF66"/>
                  </a:buClr>
                </a:pPr>
                <a:r>
                  <a:rPr kumimoji="1" lang="zh-CN" altLang="en-US" sz="2000" b="1" i="0">
                    <a:solidFill>
                      <a:srgbClr val="000066"/>
                    </a:solidFill>
                    <a:latin typeface="Tahoma" panose="020B0604030504040204" pitchFamily="34" charset="0"/>
                  </a:rPr>
                  <a:t>模型</a:t>
                </a:r>
              </a:p>
            </p:txBody>
          </p:sp>
        </p:grpSp>
        <p:grpSp>
          <p:nvGrpSpPr>
            <p:cNvPr id="15" name="Group 22"/>
            <p:cNvGrpSpPr>
              <a:grpSpLocks/>
            </p:cNvGrpSpPr>
            <p:nvPr/>
          </p:nvGrpSpPr>
          <p:grpSpPr bwMode="auto">
            <a:xfrm>
              <a:off x="4677" y="1296"/>
              <a:ext cx="768" cy="624"/>
              <a:chOff x="3426" y="1467"/>
              <a:chExt cx="1104" cy="624"/>
            </a:xfrm>
          </p:grpSpPr>
          <p:sp>
            <p:nvSpPr>
              <p:cNvPr id="22" name="Rectangle 23"/>
              <p:cNvSpPr>
                <a:spLocks noChangeArrowheads="1"/>
              </p:cNvSpPr>
              <p:nvPr/>
            </p:nvSpPr>
            <p:spPr bwMode="auto">
              <a:xfrm>
                <a:off x="3426" y="1467"/>
                <a:ext cx="1104" cy="624"/>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 name="Rectangle 24"/>
              <p:cNvSpPr>
                <a:spLocks noChangeArrowheads="1"/>
              </p:cNvSpPr>
              <p:nvPr/>
            </p:nvSpPr>
            <p:spPr bwMode="auto">
              <a:xfrm>
                <a:off x="3456" y="1728"/>
                <a:ext cx="10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buClr>
                    <a:srgbClr val="FFFF66"/>
                  </a:buClr>
                </a:pPr>
                <a:r>
                  <a:rPr kumimoji="1" lang="zh-CN" altLang="en-US" sz="2000" b="1" i="0">
                    <a:solidFill>
                      <a:srgbClr val="000066"/>
                    </a:solidFill>
                    <a:latin typeface="Tahoma" panose="020B0604030504040204" pitchFamily="34" charset="0"/>
                  </a:rPr>
                  <a:t>优化的</a:t>
                </a:r>
              </a:p>
              <a:p>
                <a:pPr eaLnBrk="1" hangingPunct="1">
                  <a:buClr>
                    <a:srgbClr val="FFFF66"/>
                  </a:buClr>
                </a:pPr>
                <a:r>
                  <a:rPr kumimoji="1" lang="zh-CN" altLang="en-US" sz="2000" b="1" i="0">
                    <a:solidFill>
                      <a:srgbClr val="000066"/>
                    </a:solidFill>
                    <a:latin typeface="Tahoma" panose="020B0604030504040204" pitchFamily="34" charset="0"/>
                  </a:rPr>
                  <a:t>数据模型</a:t>
                </a:r>
              </a:p>
            </p:txBody>
          </p:sp>
        </p:grpSp>
        <p:sp>
          <p:nvSpPr>
            <p:cNvPr id="16" name="Line 25"/>
            <p:cNvSpPr>
              <a:spLocks noChangeShapeType="1"/>
            </p:cNvSpPr>
            <p:nvPr/>
          </p:nvSpPr>
          <p:spPr bwMode="auto">
            <a:xfrm>
              <a:off x="1200" y="1605"/>
              <a:ext cx="336" cy="0"/>
            </a:xfrm>
            <a:prstGeom prst="line">
              <a:avLst/>
            </a:prstGeom>
            <a:noFill/>
            <a:ln w="22225">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 name="Line 26"/>
            <p:cNvSpPr>
              <a:spLocks noChangeShapeType="1"/>
            </p:cNvSpPr>
            <p:nvPr/>
          </p:nvSpPr>
          <p:spPr bwMode="auto">
            <a:xfrm>
              <a:off x="2880" y="1611"/>
              <a:ext cx="336" cy="0"/>
            </a:xfrm>
            <a:prstGeom prst="line">
              <a:avLst/>
            </a:prstGeom>
            <a:noFill/>
            <a:ln w="22225">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 name="Line 27"/>
            <p:cNvSpPr>
              <a:spLocks noChangeShapeType="1"/>
            </p:cNvSpPr>
            <p:nvPr/>
          </p:nvSpPr>
          <p:spPr bwMode="auto">
            <a:xfrm>
              <a:off x="4320" y="1611"/>
              <a:ext cx="336" cy="0"/>
            </a:xfrm>
            <a:prstGeom prst="line">
              <a:avLst/>
            </a:prstGeom>
            <a:noFill/>
            <a:ln w="22225">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9" name="Line 28"/>
            <p:cNvSpPr>
              <a:spLocks noChangeShapeType="1"/>
            </p:cNvSpPr>
            <p:nvPr/>
          </p:nvSpPr>
          <p:spPr bwMode="auto">
            <a:xfrm flipV="1">
              <a:off x="1344" y="1632"/>
              <a:ext cx="0" cy="816"/>
            </a:xfrm>
            <a:prstGeom prst="line">
              <a:avLst/>
            </a:prstGeom>
            <a:noFill/>
            <a:ln w="22225">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0" name="Line 29"/>
            <p:cNvSpPr>
              <a:spLocks noChangeShapeType="1"/>
            </p:cNvSpPr>
            <p:nvPr/>
          </p:nvSpPr>
          <p:spPr bwMode="auto">
            <a:xfrm flipV="1">
              <a:off x="3024" y="1584"/>
              <a:ext cx="0" cy="816"/>
            </a:xfrm>
            <a:prstGeom prst="line">
              <a:avLst/>
            </a:prstGeom>
            <a:noFill/>
            <a:ln w="22225">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30"/>
            <p:cNvSpPr>
              <a:spLocks noChangeShapeType="1"/>
            </p:cNvSpPr>
            <p:nvPr/>
          </p:nvSpPr>
          <p:spPr bwMode="auto">
            <a:xfrm flipV="1">
              <a:off x="4464" y="1632"/>
              <a:ext cx="0" cy="816"/>
            </a:xfrm>
            <a:prstGeom prst="line">
              <a:avLst/>
            </a:prstGeom>
            <a:noFill/>
            <a:ln w="22225">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39" name="矩形 3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0"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43" name="Rectangle 4"/>
          <p:cNvSpPr>
            <a:spLocks noChangeArrowheads="1"/>
          </p:cNvSpPr>
          <p:nvPr/>
        </p:nvSpPr>
        <p:spPr bwMode="auto">
          <a:xfrm>
            <a:off x="476034" y="904897"/>
            <a:ext cx="10935132" cy="179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05000"/>
              </a:lnSpc>
              <a:buClr>
                <a:srgbClr val="FF0000"/>
              </a:buClr>
              <a:buFont typeface="Wingdings" panose="05000000000000000000" pitchFamily="2" charset="2"/>
              <a:buChar char="Ø"/>
            </a:pPr>
            <a:r>
              <a:rPr lang="zh-CN" altLang="en-US" sz="2800" b="1" i="0" dirty="0">
                <a:solidFill>
                  <a:srgbClr val="CC3300"/>
                </a:solidFill>
              </a:rPr>
              <a:t>逻辑结构设计的步骤</a:t>
            </a:r>
          </a:p>
          <a:p>
            <a:pPr marL="685800" lvl="1" indent="-228600" eaLnBrk="1" hangingPunct="1">
              <a:lnSpc>
                <a:spcPct val="125000"/>
              </a:lnSpc>
              <a:spcBef>
                <a:spcPts val="1200"/>
              </a:spcBef>
              <a:buFont typeface="Arial" panose="020B0604020202020204" pitchFamily="34" charset="0"/>
              <a:buChar char="•"/>
            </a:pPr>
            <a:r>
              <a:rPr lang="zh-CN" altLang="en-US" sz="2400" b="1" i="0" dirty="0">
                <a:solidFill>
                  <a:srgbClr val="000066"/>
                </a:solidFill>
                <a:latin typeface="+mn-lt"/>
                <a:ea typeface="+mn-ea"/>
              </a:rPr>
              <a:t>将概念结构转化为一般的关系模型；</a:t>
            </a:r>
          </a:p>
          <a:p>
            <a:pPr marL="685800" lvl="1" indent="-228600" eaLnBrk="1" hangingPunct="1">
              <a:lnSpc>
                <a:spcPct val="125000"/>
              </a:lnSpc>
              <a:spcBef>
                <a:spcPts val="1200"/>
              </a:spcBef>
              <a:buFont typeface="Arial" panose="020B0604020202020204" pitchFamily="34" charset="0"/>
              <a:buChar char="•"/>
            </a:pPr>
            <a:r>
              <a:rPr lang="zh-CN" altLang="en-US" sz="2400" b="1" i="0" dirty="0">
                <a:solidFill>
                  <a:srgbClr val="000066"/>
                </a:solidFill>
                <a:latin typeface="+mn-lt"/>
                <a:ea typeface="+mn-ea"/>
              </a:rPr>
              <a:t>将转化来的关系模型向特定</a:t>
            </a:r>
            <a:r>
              <a:rPr lang="en-US" altLang="zh-CN" sz="2400" b="1" i="0" dirty="0">
                <a:solidFill>
                  <a:srgbClr val="000066"/>
                </a:solidFill>
                <a:latin typeface="+mn-lt"/>
                <a:ea typeface="+mn-ea"/>
              </a:rPr>
              <a:t>DBMS</a:t>
            </a:r>
            <a:r>
              <a:rPr lang="zh-CN" altLang="en-US" sz="2400" b="1" i="0" dirty="0">
                <a:solidFill>
                  <a:srgbClr val="000066"/>
                </a:solidFill>
                <a:latin typeface="+mn-lt"/>
                <a:ea typeface="+mn-ea"/>
              </a:rPr>
              <a:t>支持下的数据模型转换；</a:t>
            </a:r>
          </a:p>
          <a:p>
            <a:pPr marL="685800" lvl="1" indent="-228600" eaLnBrk="1" hangingPunct="1">
              <a:lnSpc>
                <a:spcPct val="125000"/>
              </a:lnSpc>
              <a:spcBef>
                <a:spcPts val="1200"/>
              </a:spcBef>
              <a:buFont typeface="Arial" panose="020B0604020202020204" pitchFamily="34" charset="0"/>
              <a:buChar char="•"/>
            </a:pPr>
            <a:r>
              <a:rPr lang="zh-CN" altLang="en-US" sz="2400" b="1" i="0" dirty="0">
                <a:solidFill>
                  <a:srgbClr val="000066"/>
                </a:solidFill>
                <a:latin typeface="+mn-lt"/>
                <a:ea typeface="+mn-ea"/>
              </a:rPr>
              <a:t>对数据模型进行优化。</a:t>
            </a:r>
          </a:p>
        </p:txBody>
      </p:sp>
    </p:spTree>
    <p:extLst>
      <p:ext uri="{BB962C8B-B14F-4D97-AF65-F5344CB8AC3E}">
        <p14:creationId xmlns:p14="http://schemas.microsoft.com/office/powerpoint/2010/main" val="1030154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1"/>
          <p:cNvSpPr txBox="1">
            <a:spLocks noChangeArrowheads="1"/>
          </p:cNvSpPr>
          <p:nvPr/>
        </p:nvSpPr>
        <p:spPr bwMode="auto">
          <a:xfrm>
            <a:off x="463404" y="835487"/>
            <a:ext cx="8610600" cy="15827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1" hangingPunct="1">
              <a:lnSpc>
                <a:spcPct val="105000"/>
              </a:lnSpc>
              <a:spcBef>
                <a:spcPct val="0"/>
              </a:spcBef>
              <a:buClr>
                <a:srgbClr val="FF0000"/>
              </a:buClr>
              <a:buFont typeface="Wingdings" panose="05000000000000000000" pitchFamily="2" charset="2"/>
              <a:buChar char="Ø"/>
            </a:pPr>
            <a:r>
              <a:rPr lang="zh-CN" altLang="en-US" b="1" dirty="0">
                <a:solidFill>
                  <a:srgbClr val="CC3300"/>
                </a:solidFill>
                <a:latin typeface="Arial" panose="020B0604020202020204" pitchFamily="34" charset="0"/>
                <a:ea typeface="宋体" panose="02010600030101010101" pitchFamily="2" charset="-122"/>
              </a:rPr>
              <a:t>要解决的问题</a:t>
            </a:r>
          </a:p>
          <a:p>
            <a:pPr lvl="1" eaLnBrk="1" hangingPunct="1">
              <a:lnSpc>
                <a:spcPct val="110000"/>
              </a:lnSpc>
              <a:spcBef>
                <a:spcPct val="5000"/>
              </a:spcBef>
            </a:pPr>
            <a:r>
              <a:rPr lang="zh-CN" altLang="en-US" b="1" dirty="0">
                <a:solidFill>
                  <a:srgbClr val="000066"/>
                </a:solidFill>
              </a:rPr>
              <a:t>如何将实体和实体之间的联系转换为关系模式；</a:t>
            </a:r>
          </a:p>
          <a:p>
            <a:pPr lvl="1" eaLnBrk="1" hangingPunct="1">
              <a:lnSpc>
                <a:spcPct val="110000"/>
              </a:lnSpc>
              <a:spcBef>
                <a:spcPct val="5000"/>
              </a:spcBef>
            </a:pPr>
            <a:r>
              <a:rPr lang="zh-CN" altLang="en-US" b="1" dirty="0">
                <a:solidFill>
                  <a:srgbClr val="000066"/>
                </a:solidFill>
              </a:rPr>
              <a:t>如何确定这些关系模式的属性和码。</a:t>
            </a:r>
          </a:p>
        </p:txBody>
      </p:sp>
      <p:sp>
        <p:nvSpPr>
          <p:cNvPr id="3" name="Rectangle 32"/>
          <p:cNvSpPr>
            <a:spLocks noChangeArrowheads="1"/>
          </p:cNvSpPr>
          <p:nvPr/>
        </p:nvSpPr>
        <p:spPr bwMode="auto">
          <a:xfrm>
            <a:off x="639867" y="2535111"/>
            <a:ext cx="77724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10000"/>
              </a:lnSpc>
              <a:spcBef>
                <a:spcPct val="5000"/>
              </a:spcBef>
              <a:buFont typeface="Wingdings" panose="05000000000000000000" pitchFamily="2" charset="2"/>
              <a:buChar char="n"/>
            </a:pPr>
            <a:r>
              <a:rPr kumimoji="1" lang="zh-CN" altLang="en-US" sz="2800" b="1" i="0" dirty="0">
                <a:solidFill>
                  <a:srgbClr val="000066"/>
                </a:solidFill>
                <a:latin typeface="Tahoma" panose="020B0604030504040204" pitchFamily="34" charset="0"/>
              </a:rPr>
              <a:t>转换内容</a:t>
            </a:r>
          </a:p>
          <a:p>
            <a:pPr marL="457200" indent="-457200" eaLnBrk="1" hangingPunct="1">
              <a:lnSpc>
                <a:spcPct val="110000"/>
              </a:lnSpc>
              <a:spcBef>
                <a:spcPct val="5000"/>
              </a:spcBef>
              <a:buFont typeface="Wingdings" panose="05000000000000000000" pitchFamily="2" charset="2"/>
              <a:buChar char="n"/>
            </a:pPr>
            <a:r>
              <a:rPr kumimoji="1" lang="zh-CN" altLang="en-US" sz="2800" b="1" i="0" dirty="0">
                <a:solidFill>
                  <a:srgbClr val="000066"/>
                </a:solidFill>
                <a:latin typeface="Tahoma" panose="020B0604030504040204" pitchFamily="34" charset="0"/>
              </a:rPr>
              <a:t>转换原则</a:t>
            </a:r>
          </a:p>
        </p:txBody>
      </p:sp>
      <p:sp>
        <p:nvSpPr>
          <p:cNvPr id="4" name="矩形 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6" name="文本框 94"/>
          <p:cNvSpPr txBox="1">
            <a:spLocks noChangeArrowheads="1"/>
          </p:cNvSpPr>
          <p:nvPr/>
        </p:nvSpPr>
        <p:spPr bwMode="auto">
          <a:xfrm>
            <a:off x="5670885" y="-15479"/>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7" name="直接连接符 6"/>
          <p:cNvCxnSpPr/>
          <p:nvPr/>
        </p:nvCxnSpPr>
        <p:spPr>
          <a:xfrm rot="5400000">
            <a:off x="5259908" y="268135"/>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96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nvCxnSpPr>
        <p:spPr>
          <a:xfrm rot="5400000">
            <a:off x="4354918"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bwMode="auto">
          <a:xfrm>
            <a:off x="564572" y="983673"/>
            <a:ext cx="9234055"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1" hangingPunct="1">
              <a:lnSpc>
                <a:spcPct val="105000"/>
              </a:lnSpc>
              <a:spcBef>
                <a:spcPct val="0"/>
              </a:spcBef>
              <a:buClr>
                <a:srgbClr val="FF0000"/>
              </a:buClr>
              <a:buFont typeface="Wingdings" panose="05000000000000000000" pitchFamily="2" charset="2"/>
              <a:buChar char="Ø"/>
            </a:pPr>
            <a:r>
              <a:rPr lang="zh-CN" altLang="en-US" b="1" dirty="0">
                <a:solidFill>
                  <a:srgbClr val="CC3300"/>
                </a:solidFill>
                <a:latin typeface="Arial" panose="020B0604020202020204" pitchFamily="34" charset="0"/>
                <a:ea typeface="宋体" panose="02010600030101010101" pitchFamily="2" charset="-122"/>
              </a:rPr>
              <a:t>转换内容</a:t>
            </a:r>
          </a:p>
          <a:p>
            <a:pPr lvl="1" eaLnBrk="1" hangingPunct="1">
              <a:lnSpc>
                <a:spcPct val="120000"/>
              </a:lnSpc>
              <a:spcBef>
                <a:spcPct val="60000"/>
              </a:spcBef>
            </a:pPr>
            <a:r>
              <a:rPr lang="en-US" altLang="zh-CN" b="1" dirty="0">
                <a:solidFill>
                  <a:srgbClr val="000066"/>
                </a:solidFill>
              </a:rPr>
              <a:t>E-R</a:t>
            </a:r>
            <a:r>
              <a:rPr lang="zh-CN" altLang="en-US" b="1" dirty="0">
                <a:solidFill>
                  <a:srgbClr val="000066"/>
                </a:solidFill>
              </a:rPr>
              <a:t>图由实体、实体的属性和实体之间的联系三个要素组成；</a:t>
            </a:r>
          </a:p>
          <a:p>
            <a:pPr lvl="1" eaLnBrk="1" hangingPunct="1">
              <a:lnSpc>
                <a:spcPct val="120000"/>
              </a:lnSpc>
              <a:spcBef>
                <a:spcPct val="60000"/>
              </a:spcBef>
            </a:pPr>
            <a:r>
              <a:rPr lang="zh-CN" altLang="en-US" b="1" dirty="0">
                <a:solidFill>
                  <a:srgbClr val="000066"/>
                </a:solidFill>
              </a:rPr>
              <a:t>关系模型的逻辑结构是一组关系模式的集合；</a:t>
            </a:r>
          </a:p>
          <a:p>
            <a:pPr lvl="1" eaLnBrk="1" hangingPunct="1">
              <a:lnSpc>
                <a:spcPct val="120000"/>
              </a:lnSpc>
              <a:spcBef>
                <a:spcPct val="60000"/>
              </a:spcBef>
            </a:pPr>
            <a:r>
              <a:rPr lang="zh-CN" altLang="en-US" b="1" dirty="0">
                <a:solidFill>
                  <a:srgbClr val="000066"/>
                </a:solidFill>
              </a:rPr>
              <a:t>将</a:t>
            </a:r>
            <a:r>
              <a:rPr lang="en-US" altLang="zh-CN" b="1" dirty="0">
                <a:solidFill>
                  <a:srgbClr val="000066"/>
                </a:solidFill>
              </a:rPr>
              <a:t>E-R</a:t>
            </a:r>
            <a:r>
              <a:rPr lang="zh-CN" altLang="en-US" b="1" dirty="0">
                <a:solidFill>
                  <a:srgbClr val="000066"/>
                </a:solidFill>
              </a:rPr>
              <a:t>图转换为关系模型：</a:t>
            </a:r>
            <a:r>
              <a:rPr lang="zh-CN" altLang="en-US" b="1" dirty="0">
                <a:solidFill>
                  <a:srgbClr val="CC3300"/>
                </a:solidFill>
              </a:rPr>
              <a:t>将实体、实体的属性和实体之间的联系转化为关系模式</a:t>
            </a:r>
            <a:r>
              <a:rPr lang="zh-CN" altLang="en-US" b="1" dirty="0">
                <a:solidFill>
                  <a:srgbClr val="000066"/>
                </a:solidFill>
              </a:rPr>
              <a:t>。</a:t>
            </a:r>
          </a:p>
        </p:txBody>
      </p:sp>
      <p:sp>
        <p:nvSpPr>
          <p:cNvPr id="7" name="矩形 6"/>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8"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9"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10" name="直接连接符 9"/>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48473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533400" y="1066800"/>
            <a:ext cx="2561335"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1" hangingPunct="1">
              <a:lnSpc>
                <a:spcPct val="105000"/>
              </a:lnSpc>
              <a:spcBef>
                <a:spcPct val="0"/>
              </a:spcBef>
              <a:buClr>
                <a:srgbClr val="FF0000"/>
              </a:buClr>
              <a:buFont typeface="Wingdings" panose="05000000000000000000" pitchFamily="2" charset="2"/>
              <a:buChar char="Ø"/>
            </a:pPr>
            <a:r>
              <a:rPr lang="zh-CN" altLang="en-US" b="1" dirty="0">
                <a:solidFill>
                  <a:srgbClr val="CC3300"/>
                </a:solidFill>
                <a:latin typeface="Arial" panose="020B0604020202020204" pitchFamily="34" charset="0"/>
                <a:ea typeface="宋体" panose="02010600030101010101" pitchFamily="2" charset="-122"/>
              </a:rPr>
              <a:t>转换原则</a:t>
            </a:r>
          </a:p>
        </p:txBody>
      </p:sp>
      <p:sp>
        <p:nvSpPr>
          <p:cNvPr id="7" name="Rectangle 4"/>
          <p:cNvSpPr>
            <a:spLocks noChangeArrowheads="1"/>
          </p:cNvSpPr>
          <p:nvPr/>
        </p:nvSpPr>
        <p:spPr bwMode="auto">
          <a:xfrm>
            <a:off x="457200" y="1447800"/>
            <a:ext cx="8153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90000"/>
              </a:lnSpc>
              <a:spcBef>
                <a:spcPct val="20000"/>
              </a:spcBef>
              <a:buClr>
                <a:schemeClr val="accent1"/>
              </a:buClr>
            </a:pPr>
            <a:endParaRPr kumimoji="1" lang="en-US" altLang="zh-CN" b="1" i="0" dirty="0">
              <a:solidFill>
                <a:srgbClr val="000066"/>
              </a:solidFill>
              <a:latin typeface="Tahoma" panose="020B0604030504040204" pitchFamily="34" charset="0"/>
            </a:endParaRPr>
          </a:p>
          <a:p>
            <a:pPr eaLnBrk="1" hangingPunct="1">
              <a:lnSpc>
                <a:spcPct val="150000"/>
              </a:lnSpc>
              <a:spcBef>
                <a:spcPct val="20000"/>
              </a:spcBef>
              <a:buClr>
                <a:schemeClr val="accent1"/>
              </a:buClr>
            </a:pPr>
            <a:r>
              <a:rPr kumimoji="1" lang="en-US" altLang="zh-CN" sz="2400" b="1" i="0" dirty="0">
                <a:solidFill>
                  <a:srgbClr val="000066"/>
                </a:solidFill>
                <a:latin typeface="Tahoma" panose="020B0604030504040204" pitchFamily="34" charset="0"/>
              </a:rPr>
              <a:t>⒈ </a:t>
            </a:r>
            <a:r>
              <a:rPr kumimoji="1" lang="zh-CN" altLang="en-US" sz="2400" b="1" i="0" dirty="0">
                <a:solidFill>
                  <a:srgbClr val="000066"/>
                </a:solidFill>
                <a:latin typeface="Tahoma" panose="020B0604030504040204" pitchFamily="34" charset="0"/>
              </a:rPr>
              <a:t>一个实体型转换为一个关系模式：</a:t>
            </a:r>
          </a:p>
          <a:p>
            <a:pPr lvl="1" eaLnBrk="1" hangingPunct="1">
              <a:lnSpc>
                <a:spcPct val="150000"/>
              </a:lnSpc>
              <a:spcBef>
                <a:spcPct val="20000"/>
              </a:spcBef>
              <a:buClr>
                <a:schemeClr val="hlink"/>
              </a:buClr>
              <a:buFontTx/>
              <a:buChar char="–"/>
            </a:pPr>
            <a:r>
              <a:rPr kumimoji="1" lang="zh-CN" altLang="en-US" sz="2400" b="1" i="0" dirty="0">
                <a:solidFill>
                  <a:srgbClr val="000066"/>
                </a:solidFill>
                <a:latin typeface="Tahoma" panose="020B0604030504040204" pitchFamily="34" charset="0"/>
              </a:rPr>
              <a:t>关系的属性：实体型的属性</a:t>
            </a:r>
          </a:p>
          <a:p>
            <a:pPr lvl="1" eaLnBrk="1" hangingPunct="1">
              <a:lnSpc>
                <a:spcPct val="150000"/>
              </a:lnSpc>
              <a:spcBef>
                <a:spcPct val="20000"/>
              </a:spcBef>
              <a:buClr>
                <a:schemeClr val="hlink"/>
              </a:buClr>
              <a:buFontTx/>
              <a:buChar char="–"/>
            </a:pPr>
            <a:r>
              <a:rPr kumimoji="1" lang="zh-CN" altLang="en-US" sz="2400" b="1" i="0" dirty="0">
                <a:solidFill>
                  <a:srgbClr val="000066"/>
                </a:solidFill>
                <a:latin typeface="Tahoma" panose="020B0604030504040204" pitchFamily="34" charset="0"/>
              </a:rPr>
              <a:t>关系的码：实体型的码</a:t>
            </a: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8"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10" name="直接连接符 9"/>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0761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2811" y="854807"/>
            <a:ext cx="8694725" cy="5610730"/>
            <a:chOff x="0" y="577805"/>
            <a:chExt cx="8694725" cy="5610730"/>
          </a:xfrm>
        </p:grpSpPr>
        <p:sp>
          <p:nvSpPr>
            <p:cNvPr id="3" name="AutoShape 3"/>
            <p:cNvSpPr>
              <a:spLocks noChangeArrowheads="1"/>
            </p:cNvSpPr>
            <p:nvPr/>
          </p:nvSpPr>
          <p:spPr bwMode="auto">
            <a:xfrm>
              <a:off x="5435600" y="3284539"/>
              <a:ext cx="598488" cy="300280"/>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专业</a:t>
              </a:r>
              <a:endParaRPr lang="zh-CN" altLang="en-US" sz="1400" dirty="0"/>
            </a:p>
          </p:txBody>
        </p:sp>
        <p:sp>
          <p:nvSpPr>
            <p:cNvPr id="4" name="AutoShape 4"/>
            <p:cNvSpPr>
              <a:spLocks noChangeArrowheads="1"/>
            </p:cNvSpPr>
            <p:nvPr/>
          </p:nvSpPr>
          <p:spPr bwMode="auto">
            <a:xfrm>
              <a:off x="5395159" y="5216496"/>
              <a:ext cx="733425" cy="3127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班级</a:t>
              </a:r>
              <a:endParaRPr lang="zh-CN" altLang="en-US" sz="1400" dirty="0"/>
            </a:p>
          </p:txBody>
        </p:sp>
        <p:sp>
          <p:nvSpPr>
            <p:cNvPr id="5" name="AutoShape 5"/>
            <p:cNvSpPr>
              <a:spLocks noChangeArrowheads="1"/>
            </p:cNvSpPr>
            <p:nvPr/>
          </p:nvSpPr>
          <p:spPr bwMode="auto">
            <a:xfrm>
              <a:off x="3132138" y="5243027"/>
              <a:ext cx="700087" cy="2873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学生</a:t>
              </a:r>
              <a:endParaRPr lang="zh-CN" altLang="en-US" sz="1400" dirty="0"/>
            </a:p>
          </p:txBody>
        </p:sp>
        <p:sp>
          <p:nvSpPr>
            <p:cNvPr id="6" name="AutoShape 6"/>
            <p:cNvSpPr>
              <a:spLocks noChangeArrowheads="1"/>
            </p:cNvSpPr>
            <p:nvPr/>
          </p:nvSpPr>
          <p:spPr bwMode="auto">
            <a:xfrm>
              <a:off x="5292725" y="2170627"/>
              <a:ext cx="849313" cy="41751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开设</a:t>
              </a:r>
              <a:endParaRPr lang="zh-CN" altLang="en-US" sz="1400"/>
            </a:p>
          </p:txBody>
        </p:sp>
        <p:sp>
          <p:nvSpPr>
            <p:cNvPr id="7" name="AutoShape 7"/>
            <p:cNvSpPr>
              <a:spLocks noChangeArrowheads="1"/>
            </p:cNvSpPr>
            <p:nvPr/>
          </p:nvSpPr>
          <p:spPr bwMode="auto">
            <a:xfrm>
              <a:off x="4140200" y="3500438"/>
              <a:ext cx="920750" cy="35877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专业名</a:t>
              </a:r>
              <a:endParaRPr lang="zh-CN" altLang="en-US" sz="1400"/>
            </a:p>
          </p:txBody>
        </p:sp>
        <p:sp>
          <p:nvSpPr>
            <p:cNvPr id="8" name="AutoShape 8"/>
            <p:cNvSpPr>
              <a:spLocks noChangeArrowheads="1"/>
            </p:cNvSpPr>
            <p:nvPr/>
          </p:nvSpPr>
          <p:spPr bwMode="auto">
            <a:xfrm>
              <a:off x="5356116" y="4161940"/>
              <a:ext cx="798513" cy="42874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拥有</a:t>
              </a:r>
              <a:endParaRPr lang="zh-CN" altLang="en-US" sz="1400" dirty="0"/>
            </a:p>
          </p:txBody>
        </p:sp>
        <p:sp>
          <p:nvSpPr>
            <p:cNvPr id="9" name="AutoShape 9"/>
            <p:cNvSpPr>
              <a:spLocks noChangeArrowheads="1"/>
            </p:cNvSpPr>
            <p:nvPr/>
          </p:nvSpPr>
          <p:spPr bwMode="auto">
            <a:xfrm>
              <a:off x="4140200" y="5114062"/>
              <a:ext cx="958850" cy="549275"/>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包含</a:t>
              </a:r>
              <a:endParaRPr lang="zh-CN" altLang="en-US" sz="1400"/>
            </a:p>
          </p:txBody>
        </p:sp>
        <p:sp>
          <p:nvSpPr>
            <p:cNvPr id="10" name="AutoShape 10"/>
            <p:cNvSpPr>
              <a:spLocks noChangeArrowheads="1"/>
            </p:cNvSpPr>
            <p:nvPr/>
          </p:nvSpPr>
          <p:spPr bwMode="auto">
            <a:xfrm>
              <a:off x="4110901" y="3032919"/>
              <a:ext cx="920750" cy="3573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专业号</a:t>
              </a:r>
              <a:endParaRPr lang="zh-CN" altLang="en-US" sz="1400" u="sng"/>
            </a:p>
          </p:txBody>
        </p:sp>
        <p:sp>
          <p:nvSpPr>
            <p:cNvPr id="11" name="AutoShape 11"/>
            <p:cNvSpPr>
              <a:spLocks noChangeArrowheads="1"/>
            </p:cNvSpPr>
            <p:nvPr/>
          </p:nvSpPr>
          <p:spPr bwMode="auto">
            <a:xfrm>
              <a:off x="6474659" y="5003880"/>
              <a:ext cx="1042987" cy="43180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dirty="0">
                  <a:latin typeface="Times New Roman" panose="02020603050405020304" pitchFamily="18" charset="0"/>
                </a:rPr>
                <a:t>班号</a:t>
              </a:r>
              <a:endParaRPr lang="zh-CN" altLang="en-US" sz="1400" dirty="0"/>
            </a:p>
          </p:txBody>
        </p:sp>
        <p:sp>
          <p:nvSpPr>
            <p:cNvPr id="12" name="AutoShape 12"/>
            <p:cNvSpPr>
              <a:spLocks noChangeArrowheads="1"/>
            </p:cNvSpPr>
            <p:nvPr/>
          </p:nvSpPr>
          <p:spPr bwMode="auto">
            <a:xfrm>
              <a:off x="6410970" y="5547559"/>
              <a:ext cx="893763" cy="39233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班级名</a:t>
              </a:r>
              <a:endParaRPr lang="zh-CN" altLang="en-US" sz="1400" dirty="0"/>
            </a:p>
          </p:txBody>
        </p:sp>
        <p:sp>
          <p:nvSpPr>
            <p:cNvPr id="13" name="AutoShape 13"/>
            <p:cNvSpPr>
              <a:spLocks noChangeArrowheads="1"/>
            </p:cNvSpPr>
            <p:nvPr/>
          </p:nvSpPr>
          <p:spPr bwMode="auto">
            <a:xfrm>
              <a:off x="2726353" y="4505443"/>
              <a:ext cx="757238" cy="37862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dirty="0">
                  <a:latin typeface="Times New Roman" panose="02020603050405020304" pitchFamily="18" charset="0"/>
                </a:rPr>
                <a:t>学号</a:t>
              </a:r>
              <a:endParaRPr lang="zh-CN" altLang="en-US" sz="1400" dirty="0"/>
            </a:p>
          </p:txBody>
        </p:sp>
        <p:sp>
          <p:nvSpPr>
            <p:cNvPr id="14" name="AutoShape 14"/>
            <p:cNvSpPr>
              <a:spLocks noChangeArrowheads="1"/>
            </p:cNvSpPr>
            <p:nvPr/>
          </p:nvSpPr>
          <p:spPr bwMode="auto">
            <a:xfrm>
              <a:off x="3624878" y="4505443"/>
              <a:ext cx="757238" cy="3923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姓名</a:t>
              </a:r>
              <a:endParaRPr lang="zh-CN" altLang="en-US" sz="1400"/>
            </a:p>
          </p:txBody>
        </p:sp>
        <p:sp>
          <p:nvSpPr>
            <p:cNvPr id="15" name="AutoShape 15"/>
            <p:cNvSpPr>
              <a:spLocks noChangeArrowheads="1"/>
            </p:cNvSpPr>
            <p:nvPr/>
          </p:nvSpPr>
          <p:spPr bwMode="auto">
            <a:xfrm>
              <a:off x="2516188" y="5808156"/>
              <a:ext cx="757237" cy="380379"/>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性别</a:t>
              </a:r>
              <a:endParaRPr lang="zh-CN" altLang="en-US" sz="1400"/>
            </a:p>
          </p:txBody>
        </p:sp>
        <p:sp>
          <p:nvSpPr>
            <p:cNvPr id="16" name="AutoShape 16"/>
            <p:cNvSpPr>
              <a:spLocks noChangeArrowheads="1"/>
            </p:cNvSpPr>
            <p:nvPr/>
          </p:nvSpPr>
          <p:spPr bwMode="auto">
            <a:xfrm>
              <a:off x="3395663" y="5828794"/>
              <a:ext cx="1068024" cy="3597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出生日期</a:t>
              </a:r>
              <a:endParaRPr lang="zh-CN" altLang="en-US" sz="1400" dirty="0"/>
            </a:p>
          </p:txBody>
        </p:sp>
        <p:sp>
          <p:nvSpPr>
            <p:cNvPr id="17" name="Line 17"/>
            <p:cNvSpPr>
              <a:spLocks noChangeShapeType="1"/>
            </p:cNvSpPr>
            <p:nvPr/>
          </p:nvSpPr>
          <p:spPr bwMode="auto">
            <a:xfrm flipH="1">
              <a:off x="5076825" y="3500438"/>
              <a:ext cx="355600" cy="144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8"/>
            <p:cNvSpPr>
              <a:spLocks noChangeShapeType="1"/>
            </p:cNvSpPr>
            <p:nvPr/>
          </p:nvSpPr>
          <p:spPr bwMode="auto">
            <a:xfrm>
              <a:off x="6115884" y="5516563"/>
              <a:ext cx="287337" cy="2159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9"/>
            <p:cNvSpPr>
              <a:spLocks noChangeShapeType="1"/>
            </p:cNvSpPr>
            <p:nvPr/>
          </p:nvSpPr>
          <p:spPr bwMode="auto">
            <a:xfrm flipH="1">
              <a:off x="5750193" y="4590683"/>
              <a:ext cx="11678" cy="625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0"/>
            <p:cNvSpPr>
              <a:spLocks noChangeShapeType="1"/>
            </p:cNvSpPr>
            <p:nvPr/>
          </p:nvSpPr>
          <p:spPr bwMode="auto">
            <a:xfrm>
              <a:off x="5701278" y="1454636"/>
              <a:ext cx="10318" cy="7159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5717381" y="2588140"/>
              <a:ext cx="7144" cy="6963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flipV="1">
              <a:off x="5734843" y="3584818"/>
              <a:ext cx="0" cy="57712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3851275" y="5373688"/>
              <a:ext cx="3190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flipH="1">
              <a:off x="5076825" y="537368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5"/>
            <p:cNvSpPr>
              <a:spLocks noChangeShapeType="1"/>
            </p:cNvSpPr>
            <p:nvPr/>
          </p:nvSpPr>
          <p:spPr bwMode="auto">
            <a:xfrm>
              <a:off x="6115884" y="5229225"/>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6"/>
            <p:cNvSpPr>
              <a:spLocks noChangeShapeType="1"/>
            </p:cNvSpPr>
            <p:nvPr/>
          </p:nvSpPr>
          <p:spPr bwMode="auto">
            <a:xfrm flipH="1">
              <a:off x="3624878" y="4877713"/>
              <a:ext cx="325438" cy="368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7"/>
            <p:cNvSpPr>
              <a:spLocks noChangeShapeType="1"/>
            </p:cNvSpPr>
            <p:nvPr/>
          </p:nvSpPr>
          <p:spPr bwMode="auto">
            <a:xfrm>
              <a:off x="3245466" y="4863427"/>
              <a:ext cx="140672" cy="3530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8"/>
            <p:cNvSpPr>
              <a:spLocks noChangeShapeType="1"/>
            </p:cNvSpPr>
            <p:nvPr/>
          </p:nvSpPr>
          <p:spPr bwMode="auto">
            <a:xfrm>
              <a:off x="5011739" y="3211588"/>
              <a:ext cx="423862" cy="1321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9"/>
            <p:cNvSpPr>
              <a:spLocks noChangeShapeType="1"/>
            </p:cNvSpPr>
            <p:nvPr/>
          </p:nvSpPr>
          <p:spPr bwMode="auto">
            <a:xfrm>
              <a:off x="3606800" y="5558701"/>
              <a:ext cx="173038" cy="2700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0"/>
            <p:cNvSpPr>
              <a:spLocks noChangeShapeType="1"/>
            </p:cNvSpPr>
            <p:nvPr/>
          </p:nvSpPr>
          <p:spPr bwMode="auto">
            <a:xfrm flipH="1">
              <a:off x="3021012" y="5544413"/>
              <a:ext cx="412749" cy="284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1"/>
            <p:cNvSpPr>
              <a:spLocks noChangeShapeType="1"/>
            </p:cNvSpPr>
            <p:nvPr/>
          </p:nvSpPr>
          <p:spPr bwMode="auto">
            <a:xfrm flipH="1" flipV="1">
              <a:off x="3402605" y="1454636"/>
              <a:ext cx="293687"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2" name="AutoShape 32"/>
            <p:cNvSpPr>
              <a:spLocks noChangeArrowheads="1"/>
            </p:cNvSpPr>
            <p:nvPr/>
          </p:nvSpPr>
          <p:spPr bwMode="auto">
            <a:xfrm>
              <a:off x="896938" y="1143000"/>
              <a:ext cx="588962"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a:t>
              </a:r>
              <a:endParaRPr lang="zh-CN" altLang="en-US" sz="1400"/>
            </a:p>
          </p:txBody>
        </p:sp>
        <p:sp>
          <p:nvSpPr>
            <p:cNvPr id="33" name="AutoShape 33"/>
            <p:cNvSpPr>
              <a:spLocks noChangeArrowheads="1"/>
            </p:cNvSpPr>
            <p:nvPr/>
          </p:nvSpPr>
          <p:spPr bwMode="auto">
            <a:xfrm>
              <a:off x="2959100" y="1128713"/>
              <a:ext cx="588963" cy="324748"/>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教师</a:t>
              </a:r>
              <a:endParaRPr lang="zh-CN" altLang="en-US" sz="1400"/>
            </a:p>
          </p:txBody>
        </p:sp>
        <p:sp>
          <p:nvSpPr>
            <p:cNvPr id="34" name="AutoShape 34"/>
            <p:cNvSpPr>
              <a:spLocks noChangeArrowheads="1"/>
            </p:cNvSpPr>
            <p:nvPr/>
          </p:nvSpPr>
          <p:spPr bwMode="auto">
            <a:xfrm>
              <a:off x="0" y="891767"/>
              <a:ext cx="881063" cy="34330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课程名</a:t>
              </a:r>
              <a:endParaRPr lang="zh-CN" altLang="en-US" sz="1400"/>
            </a:p>
          </p:txBody>
        </p:sp>
        <p:sp>
          <p:nvSpPr>
            <p:cNvPr id="35" name="AutoShape 35"/>
            <p:cNvSpPr>
              <a:spLocks noChangeArrowheads="1"/>
            </p:cNvSpPr>
            <p:nvPr/>
          </p:nvSpPr>
          <p:spPr bwMode="auto">
            <a:xfrm>
              <a:off x="4130675" y="1073150"/>
              <a:ext cx="88106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属于</a:t>
              </a:r>
              <a:endParaRPr lang="zh-CN" altLang="en-US" sz="1400"/>
            </a:p>
          </p:txBody>
        </p:sp>
        <p:sp>
          <p:nvSpPr>
            <p:cNvPr id="36" name="AutoShape 36"/>
            <p:cNvSpPr>
              <a:spLocks noChangeArrowheads="1"/>
            </p:cNvSpPr>
            <p:nvPr/>
          </p:nvSpPr>
          <p:spPr bwMode="auto">
            <a:xfrm>
              <a:off x="1778000" y="109061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讲授</a:t>
              </a:r>
              <a:endParaRPr lang="zh-CN" altLang="en-US" sz="1400"/>
            </a:p>
          </p:txBody>
        </p:sp>
        <p:sp>
          <p:nvSpPr>
            <p:cNvPr id="37" name="AutoShape 37"/>
            <p:cNvSpPr>
              <a:spLocks noChangeArrowheads="1"/>
            </p:cNvSpPr>
            <p:nvPr/>
          </p:nvSpPr>
          <p:spPr bwMode="auto">
            <a:xfrm>
              <a:off x="755650" y="577805"/>
              <a:ext cx="874713" cy="29023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课程号</a:t>
              </a:r>
              <a:endParaRPr lang="zh-CN" altLang="en-US" sz="1400"/>
            </a:p>
          </p:txBody>
        </p:sp>
        <p:sp>
          <p:nvSpPr>
            <p:cNvPr id="38" name="AutoShape 38"/>
            <p:cNvSpPr>
              <a:spLocks noChangeArrowheads="1"/>
            </p:cNvSpPr>
            <p:nvPr/>
          </p:nvSpPr>
          <p:spPr bwMode="auto">
            <a:xfrm>
              <a:off x="5781336" y="577805"/>
              <a:ext cx="913113" cy="342648"/>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学院名</a:t>
              </a:r>
              <a:endParaRPr lang="zh-CN" altLang="en-US" sz="1400" dirty="0"/>
            </a:p>
          </p:txBody>
        </p:sp>
        <p:sp>
          <p:nvSpPr>
            <p:cNvPr id="39" name="AutoShape 39"/>
            <p:cNvSpPr>
              <a:spLocks noChangeArrowheads="1"/>
            </p:cNvSpPr>
            <p:nvPr/>
          </p:nvSpPr>
          <p:spPr bwMode="auto">
            <a:xfrm>
              <a:off x="2569271" y="577806"/>
              <a:ext cx="700680" cy="31834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工号</a:t>
              </a:r>
              <a:endParaRPr lang="zh-CN" altLang="en-US" sz="1400" dirty="0"/>
            </a:p>
          </p:txBody>
        </p:sp>
        <p:sp>
          <p:nvSpPr>
            <p:cNvPr id="40" name="AutoShape 40"/>
            <p:cNvSpPr>
              <a:spLocks noChangeArrowheads="1"/>
            </p:cNvSpPr>
            <p:nvPr/>
          </p:nvSpPr>
          <p:spPr bwMode="auto">
            <a:xfrm>
              <a:off x="3321884" y="577807"/>
              <a:ext cx="638787" cy="3139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姓名</a:t>
              </a:r>
              <a:endParaRPr lang="zh-CN" altLang="en-US" sz="1400" dirty="0"/>
            </a:p>
          </p:txBody>
        </p:sp>
        <p:sp>
          <p:nvSpPr>
            <p:cNvPr id="41" name="AutoShape 41"/>
            <p:cNvSpPr>
              <a:spLocks noChangeArrowheads="1"/>
            </p:cNvSpPr>
            <p:nvPr/>
          </p:nvSpPr>
          <p:spPr bwMode="auto">
            <a:xfrm>
              <a:off x="2561230" y="1999149"/>
              <a:ext cx="735012"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42" name="AutoShape 42"/>
            <p:cNvSpPr>
              <a:spLocks noChangeArrowheads="1"/>
            </p:cNvSpPr>
            <p:nvPr/>
          </p:nvSpPr>
          <p:spPr bwMode="auto">
            <a:xfrm>
              <a:off x="3349625" y="1999149"/>
              <a:ext cx="73501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职称</a:t>
              </a:r>
              <a:endParaRPr lang="zh-CN" altLang="en-US" sz="1400"/>
            </a:p>
          </p:txBody>
        </p:sp>
        <p:sp>
          <p:nvSpPr>
            <p:cNvPr id="43" name="Line 43"/>
            <p:cNvSpPr>
              <a:spLocks noChangeShapeType="1"/>
            </p:cNvSpPr>
            <p:nvPr/>
          </p:nvSpPr>
          <p:spPr bwMode="auto">
            <a:xfrm>
              <a:off x="755650" y="1196975"/>
              <a:ext cx="142875"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4" name="Line 44"/>
            <p:cNvSpPr>
              <a:spLocks noChangeShapeType="1"/>
            </p:cNvSpPr>
            <p:nvPr/>
          </p:nvSpPr>
          <p:spPr bwMode="auto">
            <a:xfrm flipH="1">
              <a:off x="2964455" y="1454636"/>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5" name="AutoShape 45"/>
            <p:cNvSpPr>
              <a:spLocks noChangeArrowheads="1"/>
            </p:cNvSpPr>
            <p:nvPr/>
          </p:nvSpPr>
          <p:spPr bwMode="auto">
            <a:xfrm>
              <a:off x="5432425" y="1143000"/>
              <a:ext cx="585788"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学院</a:t>
              </a:r>
              <a:endParaRPr lang="zh-CN" altLang="en-US" sz="1400" dirty="0"/>
            </a:p>
          </p:txBody>
        </p:sp>
        <p:sp>
          <p:nvSpPr>
            <p:cNvPr id="46" name="AutoShape 46"/>
            <p:cNvSpPr>
              <a:spLocks noChangeArrowheads="1"/>
            </p:cNvSpPr>
            <p:nvPr/>
          </p:nvSpPr>
          <p:spPr bwMode="auto">
            <a:xfrm>
              <a:off x="4571206" y="601052"/>
              <a:ext cx="1147438" cy="322009"/>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学院编号</a:t>
              </a:r>
              <a:endParaRPr lang="zh-CN" altLang="en-US" sz="1400" dirty="0"/>
            </a:p>
          </p:txBody>
        </p:sp>
        <p:sp>
          <p:nvSpPr>
            <p:cNvPr id="47" name="Line 47"/>
            <p:cNvSpPr>
              <a:spLocks noChangeShapeType="1"/>
            </p:cNvSpPr>
            <p:nvPr/>
          </p:nvSpPr>
          <p:spPr bwMode="auto">
            <a:xfrm flipH="1">
              <a:off x="5000625" y="1358900"/>
              <a:ext cx="431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8" name="Line 48"/>
            <p:cNvSpPr>
              <a:spLocks noChangeShapeType="1"/>
            </p:cNvSpPr>
            <p:nvPr/>
          </p:nvSpPr>
          <p:spPr bwMode="auto">
            <a:xfrm>
              <a:off x="1485900"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9"/>
            <p:cNvSpPr>
              <a:spLocks noChangeShapeType="1"/>
            </p:cNvSpPr>
            <p:nvPr/>
          </p:nvSpPr>
          <p:spPr bwMode="auto">
            <a:xfrm>
              <a:off x="2657475"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0"/>
            <p:cNvSpPr>
              <a:spLocks noChangeShapeType="1"/>
            </p:cNvSpPr>
            <p:nvPr/>
          </p:nvSpPr>
          <p:spPr bwMode="auto">
            <a:xfrm flipH="1">
              <a:off x="1189038" y="868035"/>
              <a:ext cx="3968" cy="2672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1"/>
            <p:cNvSpPr>
              <a:spLocks noChangeShapeType="1"/>
            </p:cNvSpPr>
            <p:nvPr/>
          </p:nvSpPr>
          <p:spPr bwMode="auto">
            <a:xfrm>
              <a:off x="2912269" y="891768"/>
              <a:ext cx="159544" cy="251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2"/>
            <p:cNvSpPr>
              <a:spLocks noChangeShapeType="1"/>
            </p:cNvSpPr>
            <p:nvPr/>
          </p:nvSpPr>
          <p:spPr bwMode="auto">
            <a:xfrm flipH="1">
              <a:off x="3365500" y="891768"/>
              <a:ext cx="241300" cy="2512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53"/>
            <p:cNvSpPr>
              <a:spLocks noChangeShapeType="1"/>
            </p:cNvSpPr>
            <p:nvPr/>
          </p:nvSpPr>
          <p:spPr bwMode="auto">
            <a:xfrm>
              <a:off x="3548063" y="1338263"/>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4"/>
            <p:cNvSpPr>
              <a:spLocks noChangeShapeType="1"/>
            </p:cNvSpPr>
            <p:nvPr/>
          </p:nvSpPr>
          <p:spPr bwMode="auto">
            <a:xfrm>
              <a:off x="5364163" y="920453"/>
              <a:ext cx="290512" cy="2003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55"/>
            <p:cNvSpPr>
              <a:spLocks noChangeShapeType="1"/>
            </p:cNvSpPr>
            <p:nvPr/>
          </p:nvSpPr>
          <p:spPr bwMode="auto">
            <a:xfrm flipH="1">
              <a:off x="5948363" y="938213"/>
              <a:ext cx="142875"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AutoShape 56"/>
            <p:cNvSpPr>
              <a:spLocks noChangeArrowheads="1"/>
            </p:cNvSpPr>
            <p:nvPr/>
          </p:nvSpPr>
          <p:spPr bwMode="auto">
            <a:xfrm>
              <a:off x="6584950" y="107156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负责</a:t>
              </a:r>
              <a:endParaRPr lang="zh-CN" altLang="en-US" sz="1400"/>
            </a:p>
          </p:txBody>
        </p:sp>
        <p:sp>
          <p:nvSpPr>
            <p:cNvPr id="57" name="Line 57"/>
            <p:cNvSpPr>
              <a:spLocks noChangeShapeType="1"/>
            </p:cNvSpPr>
            <p:nvPr/>
          </p:nvSpPr>
          <p:spPr bwMode="auto">
            <a:xfrm>
              <a:off x="6002338" y="1336675"/>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8"/>
            <p:cNvSpPr>
              <a:spLocks noChangeShapeType="1"/>
            </p:cNvSpPr>
            <p:nvPr/>
          </p:nvSpPr>
          <p:spPr bwMode="auto">
            <a:xfrm flipH="1">
              <a:off x="7016748" y="1604963"/>
              <a:ext cx="4365" cy="4032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9" name="Line 59"/>
            <p:cNvSpPr>
              <a:spLocks noChangeShapeType="1"/>
            </p:cNvSpPr>
            <p:nvPr/>
          </p:nvSpPr>
          <p:spPr bwMode="auto">
            <a:xfrm flipH="1" flipV="1">
              <a:off x="7227888" y="2419350"/>
              <a:ext cx="293687"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60" name="AutoShape 60"/>
            <p:cNvSpPr>
              <a:spLocks noChangeArrowheads="1"/>
            </p:cNvSpPr>
            <p:nvPr/>
          </p:nvSpPr>
          <p:spPr bwMode="auto">
            <a:xfrm>
              <a:off x="6800850" y="2008188"/>
              <a:ext cx="720725" cy="398462"/>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负责人</a:t>
              </a:r>
              <a:endParaRPr lang="zh-CN" altLang="en-US" sz="1400"/>
            </a:p>
          </p:txBody>
        </p:sp>
        <p:sp>
          <p:nvSpPr>
            <p:cNvPr id="61" name="AutoShape 61"/>
            <p:cNvSpPr>
              <a:spLocks noChangeArrowheads="1"/>
            </p:cNvSpPr>
            <p:nvPr/>
          </p:nvSpPr>
          <p:spPr bwMode="auto">
            <a:xfrm>
              <a:off x="6386513" y="2963863"/>
              <a:ext cx="735012"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62" name="AutoShape 62"/>
            <p:cNvSpPr>
              <a:spLocks noChangeArrowheads="1"/>
            </p:cNvSpPr>
            <p:nvPr/>
          </p:nvSpPr>
          <p:spPr bwMode="auto">
            <a:xfrm>
              <a:off x="7191375" y="2963863"/>
              <a:ext cx="73501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63" name="Line 63"/>
            <p:cNvSpPr>
              <a:spLocks noChangeShapeType="1"/>
            </p:cNvSpPr>
            <p:nvPr/>
          </p:nvSpPr>
          <p:spPr bwMode="auto">
            <a:xfrm flipH="1">
              <a:off x="6789738" y="2419350"/>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64" name="AutoShape 64"/>
            <p:cNvSpPr>
              <a:spLocks noChangeArrowheads="1"/>
            </p:cNvSpPr>
            <p:nvPr/>
          </p:nvSpPr>
          <p:spPr bwMode="auto">
            <a:xfrm>
              <a:off x="7956550" y="2035632"/>
              <a:ext cx="738175" cy="332229"/>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工号</a:t>
              </a:r>
              <a:endParaRPr lang="zh-CN" altLang="en-US" sz="1400"/>
            </a:p>
          </p:txBody>
        </p:sp>
        <p:sp>
          <p:nvSpPr>
            <p:cNvPr id="65" name="Line 65"/>
            <p:cNvSpPr>
              <a:spLocks noChangeShapeType="1"/>
            </p:cNvSpPr>
            <p:nvPr/>
          </p:nvSpPr>
          <p:spPr bwMode="auto">
            <a:xfrm flipV="1">
              <a:off x="7524750" y="2205038"/>
              <a:ext cx="436563" cy="238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AutoShape 67"/>
            <p:cNvSpPr>
              <a:spLocks noChangeArrowheads="1"/>
            </p:cNvSpPr>
            <p:nvPr/>
          </p:nvSpPr>
          <p:spPr bwMode="auto">
            <a:xfrm>
              <a:off x="1331913" y="2997200"/>
              <a:ext cx="887412"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选修</a:t>
              </a:r>
              <a:endParaRPr lang="zh-CN" altLang="en-US" sz="1400"/>
            </a:p>
          </p:txBody>
        </p:sp>
        <p:sp>
          <p:nvSpPr>
            <p:cNvPr id="67" name="AutoShape 68"/>
            <p:cNvSpPr>
              <a:spLocks noChangeArrowheads="1"/>
            </p:cNvSpPr>
            <p:nvPr/>
          </p:nvSpPr>
          <p:spPr bwMode="auto">
            <a:xfrm>
              <a:off x="323850" y="3068638"/>
              <a:ext cx="742950"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成绩</a:t>
              </a:r>
              <a:endParaRPr lang="zh-CN" altLang="en-US" sz="1400"/>
            </a:p>
          </p:txBody>
        </p:sp>
        <p:sp>
          <p:nvSpPr>
            <p:cNvPr id="68" name="Line 69"/>
            <p:cNvSpPr>
              <a:spLocks noChangeShapeType="1"/>
            </p:cNvSpPr>
            <p:nvPr/>
          </p:nvSpPr>
          <p:spPr bwMode="auto">
            <a:xfrm>
              <a:off x="1203325" y="1453461"/>
              <a:ext cx="560388" cy="15437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69" name="Line 70"/>
            <p:cNvSpPr>
              <a:spLocks noChangeShapeType="1"/>
            </p:cNvSpPr>
            <p:nvPr/>
          </p:nvSpPr>
          <p:spPr bwMode="auto">
            <a:xfrm flipH="1" flipV="1">
              <a:off x="1763713" y="3500438"/>
              <a:ext cx="1368425" cy="19446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71"/>
            <p:cNvSpPr>
              <a:spLocks noChangeShapeType="1"/>
            </p:cNvSpPr>
            <p:nvPr/>
          </p:nvSpPr>
          <p:spPr bwMode="auto">
            <a:xfrm>
              <a:off x="1042988" y="328453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 name="矩形 70"/>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7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74" name="Rectangle 3"/>
          <p:cNvSpPr txBox="1">
            <a:spLocks noChangeArrowheads="1"/>
          </p:cNvSpPr>
          <p:nvPr/>
        </p:nvSpPr>
        <p:spPr bwMode="auto">
          <a:xfrm>
            <a:off x="8388448" y="846373"/>
            <a:ext cx="3735269" cy="3061371"/>
          </a:xfrm>
          <a:prstGeom prst="rect">
            <a:avLst/>
          </a:prstGeom>
          <a:solidFill>
            <a:schemeClr val="accent5">
              <a:lumMod val="20000"/>
              <a:lumOff val="80000"/>
            </a:schemeClr>
          </a:solidFill>
          <a:ln>
            <a:solidFill>
              <a:schemeClr val="accent2"/>
            </a:solidFill>
          </a:ln>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spcBef>
                <a:spcPts val="0"/>
              </a:spcBef>
              <a:buNone/>
            </a:pPr>
            <a:r>
              <a:rPr lang="en-US" altLang="zh-CN" sz="1800" b="1" dirty="0">
                <a:solidFill>
                  <a:srgbClr val="FF0000"/>
                </a:solidFill>
              </a:rPr>
              <a:t>【</a:t>
            </a:r>
            <a:r>
              <a:rPr lang="zh-CN" altLang="en-US" sz="1800" b="1" dirty="0">
                <a:solidFill>
                  <a:srgbClr val="FF0000"/>
                </a:solidFill>
              </a:rPr>
              <a:t>例</a:t>
            </a:r>
            <a:r>
              <a:rPr lang="en-US" altLang="zh-CN" sz="1800" b="1" dirty="0">
                <a:solidFill>
                  <a:srgbClr val="FF0000"/>
                </a:solidFill>
              </a:rPr>
              <a:t>】</a:t>
            </a:r>
            <a:r>
              <a:rPr lang="zh-CN" altLang="en-US" sz="1800" b="1" dirty="0"/>
              <a:t>按照上述原则，教务管理系统中的实体可以转换为下列关系模型：</a:t>
            </a:r>
          </a:p>
          <a:p>
            <a:pPr eaLnBrk="1" hangingPunct="1">
              <a:lnSpc>
                <a:spcPct val="100000"/>
              </a:lnSpc>
              <a:spcBef>
                <a:spcPts val="0"/>
              </a:spcBef>
              <a:buFontTx/>
              <a:buNone/>
            </a:pPr>
            <a:endParaRPr lang="en-US" altLang="zh-CN" sz="1800" b="1" dirty="0">
              <a:solidFill>
                <a:srgbClr val="CC3300"/>
              </a:solidFill>
            </a:endParaRPr>
          </a:p>
          <a:p>
            <a:pPr eaLnBrk="1" hangingPunct="1">
              <a:lnSpc>
                <a:spcPct val="100000"/>
              </a:lnSpc>
              <a:spcBef>
                <a:spcPts val="0"/>
              </a:spcBef>
              <a:buFontTx/>
              <a:buNone/>
            </a:pPr>
            <a:r>
              <a:rPr lang="zh-CN" altLang="en-US" sz="1600" b="1" dirty="0">
                <a:solidFill>
                  <a:srgbClr val="CC3300"/>
                </a:solidFill>
              </a:rPr>
              <a:t>学院</a:t>
            </a:r>
            <a:r>
              <a:rPr lang="zh-CN" altLang="en-US" sz="1600" b="1" dirty="0">
                <a:solidFill>
                  <a:schemeClr val="tx2"/>
                </a:solidFill>
              </a:rPr>
              <a:t>（</a:t>
            </a:r>
            <a:r>
              <a:rPr lang="zh-CN" altLang="en-US" sz="1600" b="1" u="sng" dirty="0">
                <a:solidFill>
                  <a:schemeClr val="tx2"/>
                </a:solidFill>
              </a:rPr>
              <a:t>学院编号</a:t>
            </a:r>
            <a:r>
              <a:rPr lang="zh-CN" altLang="en-US" sz="1600" b="1" dirty="0">
                <a:solidFill>
                  <a:schemeClr val="tx2"/>
                </a:solidFill>
              </a:rPr>
              <a:t>，学院名）</a:t>
            </a:r>
          </a:p>
          <a:p>
            <a:pPr eaLnBrk="1" hangingPunct="1">
              <a:lnSpc>
                <a:spcPct val="100000"/>
              </a:lnSpc>
              <a:spcBef>
                <a:spcPts val="0"/>
              </a:spcBef>
              <a:buFontTx/>
              <a:buNone/>
            </a:pPr>
            <a:r>
              <a:rPr lang="zh-CN" altLang="en-US" sz="1600" b="1" dirty="0">
                <a:solidFill>
                  <a:srgbClr val="CC3300"/>
                </a:solidFill>
              </a:rPr>
              <a:t>专业</a:t>
            </a:r>
            <a:r>
              <a:rPr lang="zh-CN" altLang="en-US" sz="1600" b="1" dirty="0">
                <a:solidFill>
                  <a:schemeClr val="tx2"/>
                </a:solidFill>
              </a:rPr>
              <a:t>（</a:t>
            </a:r>
            <a:r>
              <a:rPr lang="zh-CN" altLang="en-US" sz="1600" b="1" u="sng" dirty="0">
                <a:solidFill>
                  <a:schemeClr val="tx2"/>
                </a:solidFill>
              </a:rPr>
              <a:t>专业号</a:t>
            </a:r>
            <a:r>
              <a:rPr lang="zh-CN" altLang="en-US" sz="1600" b="1" dirty="0">
                <a:solidFill>
                  <a:schemeClr val="tx2"/>
                </a:solidFill>
              </a:rPr>
              <a:t>，专业名）</a:t>
            </a:r>
          </a:p>
          <a:p>
            <a:pPr eaLnBrk="1" hangingPunct="1">
              <a:lnSpc>
                <a:spcPct val="100000"/>
              </a:lnSpc>
              <a:spcBef>
                <a:spcPts val="0"/>
              </a:spcBef>
              <a:buFontTx/>
              <a:buNone/>
            </a:pPr>
            <a:r>
              <a:rPr lang="zh-CN" altLang="en-US" sz="1600" b="1" dirty="0">
                <a:solidFill>
                  <a:srgbClr val="CC3300"/>
                </a:solidFill>
              </a:rPr>
              <a:t>班级</a:t>
            </a:r>
            <a:r>
              <a:rPr lang="zh-CN" altLang="en-US" sz="1600" b="1" dirty="0">
                <a:solidFill>
                  <a:schemeClr val="tx2"/>
                </a:solidFill>
              </a:rPr>
              <a:t>（</a:t>
            </a:r>
            <a:r>
              <a:rPr lang="zh-CN" altLang="en-US" sz="1600" b="1" u="sng" dirty="0">
                <a:solidFill>
                  <a:schemeClr val="tx2"/>
                </a:solidFill>
              </a:rPr>
              <a:t>班级号</a:t>
            </a:r>
            <a:r>
              <a:rPr lang="zh-CN" altLang="en-US" sz="1600" b="1" dirty="0">
                <a:solidFill>
                  <a:schemeClr val="tx2"/>
                </a:solidFill>
              </a:rPr>
              <a:t>，班级名）</a:t>
            </a:r>
          </a:p>
          <a:p>
            <a:pPr eaLnBrk="1" hangingPunct="1">
              <a:lnSpc>
                <a:spcPct val="100000"/>
              </a:lnSpc>
              <a:spcBef>
                <a:spcPts val="0"/>
              </a:spcBef>
              <a:buFontTx/>
              <a:buNone/>
            </a:pPr>
            <a:r>
              <a:rPr lang="zh-CN" altLang="en-US" sz="1600" b="1" dirty="0">
                <a:solidFill>
                  <a:srgbClr val="FF3300"/>
                </a:solidFill>
              </a:rPr>
              <a:t>学生</a:t>
            </a:r>
            <a:r>
              <a:rPr lang="zh-CN" altLang="en-US" sz="1600" b="1" dirty="0"/>
              <a:t>（</a:t>
            </a:r>
            <a:r>
              <a:rPr lang="zh-CN" altLang="en-US" sz="1600" b="1" u="sng" dirty="0"/>
              <a:t>学号</a:t>
            </a:r>
            <a:r>
              <a:rPr lang="zh-CN" altLang="en-US" sz="1600" b="1" dirty="0"/>
              <a:t>，姓名，性别，出生日期）</a:t>
            </a:r>
          </a:p>
          <a:p>
            <a:pPr eaLnBrk="1" hangingPunct="1">
              <a:lnSpc>
                <a:spcPct val="100000"/>
              </a:lnSpc>
              <a:spcBef>
                <a:spcPts val="0"/>
              </a:spcBef>
              <a:buFontTx/>
              <a:buNone/>
            </a:pPr>
            <a:r>
              <a:rPr lang="zh-CN" altLang="en-US" sz="1600" b="1" dirty="0">
                <a:solidFill>
                  <a:srgbClr val="FF3300"/>
                </a:solidFill>
              </a:rPr>
              <a:t>课程</a:t>
            </a:r>
            <a:r>
              <a:rPr lang="zh-CN" altLang="en-US" sz="1600" b="1" dirty="0"/>
              <a:t>（</a:t>
            </a:r>
            <a:r>
              <a:rPr lang="zh-CN" altLang="en-US" sz="1600" b="1" u="sng" dirty="0"/>
              <a:t>课程号</a:t>
            </a:r>
            <a:r>
              <a:rPr lang="zh-CN" altLang="en-US" sz="1600" b="1" dirty="0"/>
              <a:t>，课程名）</a:t>
            </a:r>
          </a:p>
          <a:p>
            <a:pPr eaLnBrk="1" hangingPunct="1">
              <a:lnSpc>
                <a:spcPct val="100000"/>
              </a:lnSpc>
              <a:spcBef>
                <a:spcPts val="0"/>
              </a:spcBef>
              <a:buFontTx/>
              <a:buNone/>
            </a:pPr>
            <a:r>
              <a:rPr lang="zh-CN" altLang="en-US" sz="1600" b="1" dirty="0">
                <a:solidFill>
                  <a:srgbClr val="FF3300"/>
                </a:solidFill>
              </a:rPr>
              <a:t>教师</a:t>
            </a:r>
            <a:r>
              <a:rPr lang="zh-CN" altLang="en-US" sz="1600" b="1" dirty="0"/>
              <a:t>（工</a:t>
            </a:r>
            <a:r>
              <a:rPr lang="zh-CN" altLang="en-US" sz="1600" b="1" u="sng" dirty="0"/>
              <a:t>号</a:t>
            </a:r>
            <a:r>
              <a:rPr lang="zh-CN" altLang="en-US" sz="1600" b="1" dirty="0"/>
              <a:t>，姓名，性别，职称）</a:t>
            </a:r>
          </a:p>
          <a:p>
            <a:pPr eaLnBrk="1" hangingPunct="1">
              <a:lnSpc>
                <a:spcPct val="100000"/>
              </a:lnSpc>
              <a:spcBef>
                <a:spcPts val="0"/>
              </a:spcBef>
              <a:buFontTx/>
              <a:buNone/>
            </a:pPr>
            <a:r>
              <a:rPr lang="zh-CN" altLang="en-US" sz="1600" b="1" dirty="0">
                <a:solidFill>
                  <a:srgbClr val="FF3300"/>
                </a:solidFill>
              </a:rPr>
              <a:t>负责人</a:t>
            </a:r>
            <a:r>
              <a:rPr lang="zh-CN" altLang="en-US" sz="1600" b="1" dirty="0"/>
              <a:t>（</a:t>
            </a:r>
            <a:r>
              <a:rPr lang="zh-CN" altLang="en-US" sz="1600" b="1" u="sng" dirty="0"/>
              <a:t>工号</a:t>
            </a:r>
            <a:r>
              <a:rPr lang="zh-CN" altLang="en-US" sz="1600" b="1" dirty="0"/>
              <a:t>，姓名，性别）</a:t>
            </a:r>
          </a:p>
          <a:p>
            <a:pPr eaLnBrk="1" hangingPunct="1">
              <a:lnSpc>
                <a:spcPct val="100000"/>
              </a:lnSpc>
              <a:spcBef>
                <a:spcPts val="0"/>
              </a:spcBef>
              <a:buFontTx/>
              <a:buNone/>
            </a:pPr>
            <a:r>
              <a:rPr lang="zh-CN" altLang="en-US" sz="1600" b="1" dirty="0">
                <a:solidFill>
                  <a:srgbClr val="000066"/>
                </a:solidFill>
              </a:rPr>
              <a:t>　</a:t>
            </a:r>
            <a:endParaRPr lang="en-US" altLang="zh-CN" sz="1600" b="1" dirty="0">
              <a:solidFill>
                <a:srgbClr val="000066"/>
              </a:solidFill>
            </a:endParaRPr>
          </a:p>
        </p:txBody>
      </p:sp>
      <p:sp>
        <p:nvSpPr>
          <p:cNvPr id="75"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76" name="直接连接符 75"/>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82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
                                            <p:txEl>
                                              <p:pRg st="2" end="2"/>
                                            </p:txEl>
                                          </p:spTgt>
                                        </p:tgtEl>
                                        <p:attrNameLst>
                                          <p:attrName>style.visibility</p:attrName>
                                        </p:attrNameLst>
                                      </p:cBhvr>
                                      <p:to>
                                        <p:strVal val="visible"/>
                                      </p:to>
                                    </p:set>
                                    <p:animEffect transition="in" filter="blinds(horizontal)">
                                      <p:cBhvr>
                                        <p:cTn id="7" dur="500"/>
                                        <p:tgtEl>
                                          <p:spTgt spid="7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4">
                                            <p:txEl>
                                              <p:pRg st="0" end="0"/>
                                            </p:txEl>
                                          </p:spTgt>
                                        </p:tgtEl>
                                        <p:attrNameLst>
                                          <p:attrName>style.visibility</p:attrName>
                                        </p:attrNameLst>
                                      </p:cBhvr>
                                      <p:to>
                                        <p:strVal val="visible"/>
                                      </p:to>
                                    </p:set>
                                    <p:animEffect transition="in" filter="blinds(horizontal)">
                                      <p:cBhvr>
                                        <p:cTn id="12" dur="500"/>
                                        <p:tgtEl>
                                          <p:spTgt spid="7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4">
                                            <p:txEl>
                                              <p:pRg st="3" end="3"/>
                                            </p:txEl>
                                          </p:spTgt>
                                        </p:tgtEl>
                                        <p:attrNameLst>
                                          <p:attrName>style.visibility</p:attrName>
                                        </p:attrNameLst>
                                      </p:cBhvr>
                                      <p:to>
                                        <p:strVal val="visible"/>
                                      </p:to>
                                    </p:set>
                                    <p:animEffect transition="in" filter="blinds(horizontal)">
                                      <p:cBhvr>
                                        <p:cTn id="17" dur="500"/>
                                        <p:tgtEl>
                                          <p:spTgt spid="7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4">
                                            <p:txEl>
                                              <p:pRg st="4" end="4"/>
                                            </p:txEl>
                                          </p:spTgt>
                                        </p:tgtEl>
                                        <p:attrNameLst>
                                          <p:attrName>style.visibility</p:attrName>
                                        </p:attrNameLst>
                                      </p:cBhvr>
                                      <p:to>
                                        <p:strVal val="visible"/>
                                      </p:to>
                                    </p:set>
                                    <p:animEffect transition="in" filter="blinds(horizontal)">
                                      <p:cBhvr>
                                        <p:cTn id="22" dur="500"/>
                                        <p:tgtEl>
                                          <p:spTgt spid="7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4">
                                            <p:txEl>
                                              <p:pRg st="5" end="5"/>
                                            </p:txEl>
                                          </p:spTgt>
                                        </p:tgtEl>
                                        <p:attrNameLst>
                                          <p:attrName>style.visibility</p:attrName>
                                        </p:attrNameLst>
                                      </p:cBhvr>
                                      <p:to>
                                        <p:strVal val="visible"/>
                                      </p:to>
                                    </p:set>
                                    <p:animEffect transition="in" filter="blinds(horizontal)">
                                      <p:cBhvr>
                                        <p:cTn id="27" dur="500"/>
                                        <p:tgtEl>
                                          <p:spTgt spid="7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4">
                                            <p:txEl>
                                              <p:pRg st="6" end="6"/>
                                            </p:txEl>
                                          </p:spTgt>
                                        </p:tgtEl>
                                        <p:attrNameLst>
                                          <p:attrName>style.visibility</p:attrName>
                                        </p:attrNameLst>
                                      </p:cBhvr>
                                      <p:to>
                                        <p:strVal val="visible"/>
                                      </p:to>
                                    </p:set>
                                    <p:animEffect transition="in" filter="blinds(horizontal)">
                                      <p:cBhvr>
                                        <p:cTn id="32" dur="500"/>
                                        <p:tgtEl>
                                          <p:spTgt spid="7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4">
                                            <p:txEl>
                                              <p:pRg st="7" end="7"/>
                                            </p:txEl>
                                          </p:spTgt>
                                        </p:tgtEl>
                                        <p:attrNameLst>
                                          <p:attrName>style.visibility</p:attrName>
                                        </p:attrNameLst>
                                      </p:cBhvr>
                                      <p:to>
                                        <p:strVal val="visible"/>
                                      </p:to>
                                    </p:set>
                                    <p:animEffect transition="in" filter="blinds(horizontal)">
                                      <p:cBhvr>
                                        <p:cTn id="37" dur="500"/>
                                        <p:tgtEl>
                                          <p:spTgt spid="7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4">
                                            <p:txEl>
                                              <p:pRg st="8" end="8"/>
                                            </p:txEl>
                                          </p:spTgt>
                                        </p:tgtEl>
                                        <p:attrNameLst>
                                          <p:attrName>style.visibility</p:attrName>
                                        </p:attrNameLst>
                                      </p:cBhvr>
                                      <p:to>
                                        <p:strVal val="visible"/>
                                      </p:to>
                                    </p:set>
                                    <p:animEffect transition="in" filter="blinds(horizontal)">
                                      <p:cBhvr>
                                        <p:cTn id="42" dur="500"/>
                                        <p:tgtEl>
                                          <p:spTgt spid="7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4">
                                            <p:txEl>
                                              <p:pRg st="9" end="9"/>
                                            </p:txEl>
                                          </p:spTgt>
                                        </p:tgtEl>
                                        <p:attrNameLst>
                                          <p:attrName>style.visibility</p:attrName>
                                        </p:attrNameLst>
                                      </p:cBhvr>
                                      <p:to>
                                        <p:strVal val="visible"/>
                                      </p:to>
                                    </p:set>
                                    <p:animEffect transition="in" filter="blinds(horizontal)">
                                      <p:cBhvr>
                                        <p:cTn id="47" dur="500"/>
                                        <p:tgtEl>
                                          <p:spTgt spid="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457199" y="786419"/>
            <a:ext cx="1077537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36000" eaLnBrk="1" hangingPunct="1">
              <a:lnSpc>
                <a:spcPct val="125000"/>
              </a:lnSpc>
              <a:spcBef>
                <a:spcPts val="0"/>
              </a:spcBef>
              <a:buClr>
                <a:schemeClr val="accent1"/>
              </a:buClr>
            </a:pPr>
            <a:r>
              <a:rPr kumimoji="1" lang="en-US" altLang="zh-CN" sz="2400" b="1" i="0" dirty="0">
                <a:solidFill>
                  <a:srgbClr val="000066"/>
                </a:solidFill>
                <a:latin typeface="Tahoma" panose="020B0604030504040204" pitchFamily="34" charset="0"/>
              </a:rPr>
              <a:t>2. </a:t>
            </a:r>
            <a:r>
              <a:rPr kumimoji="1" lang="zh-CN" altLang="en-US" sz="2400" b="1" i="0" dirty="0">
                <a:solidFill>
                  <a:srgbClr val="000066"/>
                </a:solidFill>
                <a:latin typeface="Tahoma" panose="020B0604030504040204" pitchFamily="34" charset="0"/>
              </a:rPr>
              <a:t>一个</a:t>
            </a:r>
            <a:r>
              <a:rPr kumimoji="1" lang="en-US" altLang="zh-CN" sz="2400" b="1" i="0" dirty="0">
                <a:solidFill>
                  <a:srgbClr val="CC3300"/>
                </a:solidFill>
                <a:latin typeface="Tahoma" panose="020B0604030504040204" pitchFamily="34" charset="0"/>
              </a:rPr>
              <a:t>1:1</a:t>
            </a:r>
            <a:r>
              <a:rPr kumimoji="1" lang="zh-CN" altLang="en-US" sz="2400" b="1" i="0" dirty="0">
                <a:solidFill>
                  <a:srgbClr val="CC3300"/>
                </a:solidFill>
                <a:latin typeface="Tahoma" panose="020B0604030504040204" pitchFamily="34" charset="0"/>
              </a:rPr>
              <a:t>联系</a:t>
            </a:r>
            <a:r>
              <a:rPr kumimoji="1" lang="zh-CN" altLang="en-US" sz="2400" b="1" i="0" dirty="0">
                <a:solidFill>
                  <a:srgbClr val="000066"/>
                </a:solidFill>
                <a:latin typeface="Tahoma" panose="020B0604030504040204" pitchFamily="34" charset="0"/>
              </a:rPr>
              <a:t>可转换为一个独立的关系模式也可以与任意一端对应的关系模式合并：</a:t>
            </a:r>
          </a:p>
        </p:txBody>
      </p:sp>
      <p:sp>
        <p:nvSpPr>
          <p:cNvPr id="7" name="Rectangle 4"/>
          <p:cNvSpPr>
            <a:spLocks noChangeArrowheads="1"/>
          </p:cNvSpPr>
          <p:nvPr/>
        </p:nvSpPr>
        <p:spPr bwMode="auto">
          <a:xfrm>
            <a:off x="462395" y="1750017"/>
            <a:ext cx="10962409"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90000"/>
              </a:lnSpc>
              <a:spcBef>
                <a:spcPct val="20000"/>
              </a:spcBef>
              <a:buClr>
                <a:schemeClr val="accent1"/>
              </a:buClr>
            </a:pPr>
            <a:endParaRPr kumimoji="1" lang="en-US" altLang="zh-CN" b="1" i="0" dirty="0">
              <a:solidFill>
                <a:srgbClr val="000066"/>
              </a:solidFill>
              <a:latin typeface="Tahoma" panose="020B0604030504040204" pitchFamily="34" charset="0"/>
            </a:endParaRPr>
          </a:p>
          <a:p>
            <a:pPr marL="457200" indent="-457200" eaLnBrk="1" hangingPunct="1">
              <a:lnSpc>
                <a:spcPct val="90000"/>
              </a:lnSpc>
              <a:spcBef>
                <a:spcPct val="20000"/>
              </a:spcBef>
              <a:buClr>
                <a:srgbClr val="FF0000"/>
              </a:buClr>
              <a:buFont typeface="Wingdings" panose="05000000000000000000" pitchFamily="2" charset="2"/>
              <a:buChar char="l"/>
            </a:pPr>
            <a:r>
              <a:rPr kumimoji="1" lang="en-US" altLang="zh-CN" sz="2400" b="1" i="0" dirty="0">
                <a:solidFill>
                  <a:srgbClr val="000066"/>
                </a:solidFill>
                <a:latin typeface="Tahoma" panose="020B0604030504040204" pitchFamily="34" charset="0"/>
              </a:rPr>
              <a:t> </a:t>
            </a:r>
            <a:r>
              <a:rPr kumimoji="1" lang="zh-CN" altLang="en-US" sz="2400" b="1" i="0" dirty="0">
                <a:solidFill>
                  <a:srgbClr val="000066"/>
                </a:solidFill>
                <a:latin typeface="Tahoma" panose="020B0604030504040204" pitchFamily="34" charset="0"/>
              </a:rPr>
              <a:t>转换为一个独立的关系模式：</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关系的属性</a:t>
            </a:r>
            <a:r>
              <a:rPr kumimoji="1" lang="zh-CN" altLang="en-US" sz="2400" b="1" i="0" dirty="0">
                <a:solidFill>
                  <a:srgbClr val="000066"/>
                </a:solidFill>
                <a:latin typeface="Tahoma" panose="020B0604030504040204" pitchFamily="34" charset="0"/>
              </a:rPr>
              <a:t>：与该联系相连的各实体的码以及联系本身的属性</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关系的码</a:t>
            </a:r>
            <a:r>
              <a:rPr kumimoji="1" lang="zh-CN" altLang="en-US" sz="2400" b="1" i="0" dirty="0">
                <a:solidFill>
                  <a:srgbClr val="000066"/>
                </a:solidFill>
                <a:latin typeface="Tahoma" panose="020B0604030504040204" pitchFamily="34" charset="0"/>
              </a:rPr>
              <a:t>：每个实体的码均是该关系的候选码</a:t>
            </a:r>
          </a:p>
        </p:txBody>
      </p:sp>
      <p:sp>
        <p:nvSpPr>
          <p:cNvPr id="8" name="Rectangle 5"/>
          <p:cNvSpPr>
            <a:spLocks noChangeArrowheads="1"/>
          </p:cNvSpPr>
          <p:nvPr/>
        </p:nvSpPr>
        <p:spPr bwMode="auto">
          <a:xfrm>
            <a:off x="457200" y="3483244"/>
            <a:ext cx="1145078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90000"/>
              </a:lnSpc>
              <a:spcBef>
                <a:spcPct val="20000"/>
              </a:spcBef>
              <a:buClr>
                <a:schemeClr val="accent1"/>
              </a:buClr>
            </a:pPr>
            <a:endParaRPr kumimoji="1" lang="en-US" altLang="zh-CN" b="1" i="0" dirty="0">
              <a:solidFill>
                <a:srgbClr val="000066"/>
              </a:solidFill>
              <a:latin typeface="Tahoma" panose="020B0604030504040204" pitchFamily="34" charset="0"/>
            </a:endParaRPr>
          </a:p>
          <a:p>
            <a:pPr marL="457200" indent="-457200" eaLnBrk="1" hangingPunct="1">
              <a:lnSpc>
                <a:spcPct val="90000"/>
              </a:lnSpc>
              <a:spcBef>
                <a:spcPct val="20000"/>
              </a:spcBef>
              <a:buClr>
                <a:srgbClr val="FF0000"/>
              </a:buClr>
              <a:buFont typeface="Wingdings" panose="05000000000000000000" pitchFamily="2" charset="2"/>
              <a:buChar char="l"/>
            </a:pPr>
            <a:r>
              <a:rPr kumimoji="1" lang="zh-CN" altLang="en-US" sz="2400" b="1" i="0" dirty="0">
                <a:solidFill>
                  <a:srgbClr val="000066"/>
                </a:solidFill>
                <a:latin typeface="Tahoma" panose="020B0604030504040204" pitchFamily="34" charset="0"/>
              </a:rPr>
              <a:t>与某一端对应的关系模式合并：</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关系的属性</a:t>
            </a:r>
            <a:r>
              <a:rPr kumimoji="1" lang="zh-CN" altLang="en-US" sz="2400" b="1" i="0" dirty="0">
                <a:solidFill>
                  <a:srgbClr val="000066"/>
                </a:solidFill>
                <a:latin typeface="Tahoma" panose="020B0604030504040204" pitchFamily="34" charset="0"/>
              </a:rPr>
              <a:t>：在该关系模式中加入对应关系的码和联系本身的属性</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关系的码</a:t>
            </a:r>
            <a:r>
              <a:rPr kumimoji="1" lang="zh-CN" altLang="en-US" sz="2400" b="1" i="0" dirty="0">
                <a:solidFill>
                  <a:srgbClr val="000066"/>
                </a:solidFill>
                <a:latin typeface="Tahoma" panose="020B0604030504040204" pitchFamily="34" charset="0"/>
              </a:rPr>
              <a:t>：不变</a:t>
            </a: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10"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11" name="直接连接符 10"/>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4214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95287" y="1066800"/>
            <a:ext cx="11045103" cy="546908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b="1" dirty="0">
                <a:solidFill>
                  <a:srgbClr val="000066"/>
                </a:solidFill>
              </a:rPr>
              <a:t>例：“负责”联系为</a:t>
            </a:r>
            <a:r>
              <a:rPr lang="en-US" altLang="zh-CN" b="1" dirty="0">
                <a:solidFill>
                  <a:srgbClr val="000066"/>
                </a:solidFill>
              </a:rPr>
              <a:t>1:1</a:t>
            </a:r>
            <a:r>
              <a:rPr lang="zh-CN" altLang="en-US" b="1" dirty="0">
                <a:solidFill>
                  <a:srgbClr val="000066"/>
                </a:solidFill>
              </a:rPr>
              <a:t>联系，可以有三种转换方法：</a:t>
            </a:r>
          </a:p>
          <a:p>
            <a:pPr eaLnBrk="1" hangingPunct="1">
              <a:buFontTx/>
              <a:buNone/>
            </a:pPr>
            <a:r>
              <a:rPr lang="zh-CN" altLang="en-US" sz="2400" b="1" dirty="0">
                <a:solidFill>
                  <a:srgbClr val="000066"/>
                </a:solidFill>
              </a:rPr>
              <a:t>（</a:t>
            </a:r>
            <a:r>
              <a:rPr lang="en-US" altLang="zh-CN" sz="2400" b="1" dirty="0">
                <a:solidFill>
                  <a:srgbClr val="000066"/>
                </a:solidFill>
              </a:rPr>
              <a:t>1</a:t>
            </a:r>
            <a:r>
              <a:rPr lang="zh-CN" altLang="en-US" sz="2400" b="1" dirty="0">
                <a:solidFill>
                  <a:srgbClr val="000066"/>
                </a:solidFill>
              </a:rPr>
              <a:t>）转换为一个独立的关系模式：</a:t>
            </a:r>
          </a:p>
          <a:p>
            <a:pPr eaLnBrk="1" hangingPunct="1">
              <a:buFontTx/>
              <a:buNone/>
            </a:pPr>
            <a:r>
              <a:rPr lang="zh-CN" altLang="en-US" sz="2400" b="1" dirty="0">
                <a:solidFill>
                  <a:srgbClr val="000066"/>
                </a:solidFill>
              </a:rPr>
              <a:t>     		负责（</a:t>
            </a:r>
            <a:r>
              <a:rPr lang="zh-CN" altLang="en-US" sz="2400" b="1" u="sng" dirty="0">
                <a:solidFill>
                  <a:srgbClr val="000066"/>
                </a:solidFill>
              </a:rPr>
              <a:t>学院编号</a:t>
            </a:r>
            <a:r>
              <a:rPr lang="zh-CN" altLang="en-US" sz="2400" b="1" dirty="0">
                <a:solidFill>
                  <a:srgbClr val="000066"/>
                </a:solidFill>
              </a:rPr>
              <a:t>，工号）</a:t>
            </a:r>
          </a:p>
          <a:p>
            <a:pPr eaLnBrk="1" hangingPunct="1">
              <a:buFontTx/>
              <a:buNone/>
            </a:pPr>
            <a:r>
              <a:rPr lang="zh-CN" altLang="en-US" sz="2400" b="1" dirty="0">
                <a:solidFill>
                  <a:srgbClr val="000066"/>
                </a:solidFill>
              </a:rPr>
              <a:t>        </a:t>
            </a:r>
            <a:r>
              <a:rPr lang="zh-CN" altLang="en-US" sz="2400" b="1" dirty="0">
                <a:solidFill>
                  <a:srgbClr val="FF0000"/>
                </a:solidFill>
              </a:rPr>
              <a:t>或</a:t>
            </a:r>
            <a:r>
              <a:rPr lang="zh-CN" altLang="en-US" sz="2400" b="1" dirty="0">
                <a:solidFill>
                  <a:srgbClr val="000066"/>
                </a:solidFill>
              </a:rPr>
              <a:t>              负责（学院编号，</a:t>
            </a:r>
            <a:r>
              <a:rPr lang="zh-CN" altLang="en-US" sz="2400" b="1" u="sng" dirty="0">
                <a:solidFill>
                  <a:srgbClr val="000066"/>
                </a:solidFill>
              </a:rPr>
              <a:t>工号</a:t>
            </a:r>
            <a:r>
              <a:rPr lang="zh-CN" altLang="en-US" sz="2400" b="1" dirty="0">
                <a:solidFill>
                  <a:srgbClr val="000066"/>
                </a:solidFill>
              </a:rPr>
              <a:t>）</a:t>
            </a:r>
          </a:p>
          <a:p>
            <a:pPr eaLnBrk="1" hangingPunct="1">
              <a:buFontTx/>
              <a:buNone/>
            </a:pPr>
            <a:endParaRPr lang="zh-CN" altLang="en-US" sz="2400" b="1" dirty="0">
              <a:solidFill>
                <a:srgbClr val="000066"/>
              </a:solidFill>
            </a:endParaRPr>
          </a:p>
          <a:p>
            <a:pPr eaLnBrk="1" hangingPunct="1">
              <a:buFontTx/>
              <a:buNone/>
            </a:pPr>
            <a:r>
              <a:rPr lang="zh-CN" altLang="en-US" sz="2400" b="1" dirty="0">
                <a:solidFill>
                  <a:srgbClr val="000066"/>
                </a:solidFill>
              </a:rPr>
              <a:t>（</a:t>
            </a:r>
            <a:r>
              <a:rPr lang="en-US" altLang="zh-CN" sz="2400" b="1" dirty="0">
                <a:solidFill>
                  <a:srgbClr val="000066"/>
                </a:solidFill>
              </a:rPr>
              <a:t>2</a:t>
            </a:r>
            <a:r>
              <a:rPr lang="zh-CN" altLang="en-US" sz="2400" b="1" dirty="0">
                <a:solidFill>
                  <a:srgbClr val="000066"/>
                </a:solidFill>
              </a:rPr>
              <a:t>）“负责”联系与系关系模式合并，则只需在系关系中加入负责人关系的码，即职工号：</a:t>
            </a:r>
          </a:p>
          <a:p>
            <a:pPr eaLnBrk="1" hangingPunct="1">
              <a:buFontTx/>
              <a:buNone/>
            </a:pPr>
            <a:r>
              <a:rPr lang="zh-CN" altLang="en-US" sz="2400" b="1" dirty="0">
                <a:solidFill>
                  <a:srgbClr val="000066"/>
                </a:solidFill>
              </a:rPr>
              <a:t>　　	系：（</a:t>
            </a:r>
            <a:r>
              <a:rPr lang="zh-CN" altLang="en-US" sz="2400" b="1" u="sng" dirty="0">
                <a:solidFill>
                  <a:srgbClr val="000066"/>
                </a:solidFill>
              </a:rPr>
              <a:t>学院编号</a:t>
            </a:r>
            <a:r>
              <a:rPr lang="zh-CN" altLang="en-US" sz="2400" b="1" dirty="0">
                <a:solidFill>
                  <a:srgbClr val="000066"/>
                </a:solidFill>
              </a:rPr>
              <a:t>，系名，</a:t>
            </a:r>
            <a:r>
              <a:rPr lang="zh-CN" altLang="en-US" sz="2400" b="1" dirty="0">
                <a:solidFill>
                  <a:srgbClr val="CC3300"/>
                </a:solidFill>
              </a:rPr>
              <a:t>工号</a:t>
            </a:r>
            <a:r>
              <a:rPr lang="zh-CN" altLang="en-US" sz="2400" b="1" dirty="0">
                <a:solidFill>
                  <a:srgbClr val="000066"/>
                </a:solidFill>
              </a:rPr>
              <a:t>）</a:t>
            </a:r>
          </a:p>
          <a:p>
            <a:pPr eaLnBrk="1" hangingPunct="1">
              <a:buFontTx/>
              <a:buNone/>
            </a:pPr>
            <a:endParaRPr lang="zh-CN" altLang="en-US" sz="2400" b="1" dirty="0">
              <a:solidFill>
                <a:srgbClr val="000066"/>
              </a:solidFill>
            </a:endParaRPr>
          </a:p>
          <a:p>
            <a:pPr eaLnBrk="1" hangingPunct="1">
              <a:buFontTx/>
              <a:buNone/>
            </a:pPr>
            <a:r>
              <a:rPr lang="zh-CN" altLang="en-US" sz="2400" b="1" dirty="0">
                <a:solidFill>
                  <a:srgbClr val="000066"/>
                </a:solidFill>
              </a:rPr>
              <a:t>（</a:t>
            </a:r>
            <a:r>
              <a:rPr lang="en-US" altLang="zh-CN" sz="2400" b="1" dirty="0">
                <a:solidFill>
                  <a:srgbClr val="000066"/>
                </a:solidFill>
              </a:rPr>
              <a:t>3</a:t>
            </a:r>
            <a:r>
              <a:rPr lang="zh-CN" altLang="en-US" sz="2400" b="1" dirty="0">
                <a:solidFill>
                  <a:srgbClr val="000066"/>
                </a:solidFill>
              </a:rPr>
              <a:t>）“负责”联系与负责人关系模式合并，则只需在负责人关系中加入学院关系的码，即学院编号：</a:t>
            </a:r>
          </a:p>
          <a:p>
            <a:pPr eaLnBrk="1" hangingPunct="1">
              <a:buFontTx/>
              <a:buNone/>
            </a:pPr>
            <a:r>
              <a:rPr lang="zh-CN" altLang="en-US" sz="2400" b="1" dirty="0">
                <a:solidFill>
                  <a:srgbClr val="000066"/>
                </a:solidFill>
              </a:rPr>
              <a:t>	      负责人：（</a:t>
            </a:r>
            <a:r>
              <a:rPr lang="zh-CN" altLang="en-US" sz="2400" b="1" u="sng" dirty="0">
                <a:solidFill>
                  <a:srgbClr val="000066"/>
                </a:solidFill>
              </a:rPr>
              <a:t>工号</a:t>
            </a:r>
            <a:r>
              <a:rPr lang="zh-CN" altLang="en-US" sz="2400" b="1" dirty="0">
                <a:solidFill>
                  <a:srgbClr val="000066"/>
                </a:solidFill>
              </a:rPr>
              <a:t>，姓名，性别，</a:t>
            </a:r>
            <a:r>
              <a:rPr lang="zh-CN" altLang="en-US" sz="2400" b="1" dirty="0">
                <a:solidFill>
                  <a:srgbClr val="CC3300"/>
                </a:solidFill>
              </a:rPr>
              <a:t>学院编号</a:t>
            </a:r>
            <a:r>
              <a:rPr lang="zh-CN" altLang="en-US" sz="2400" b="1" dirty="0">
                <a:solidFill>
                  <a:srgbClr val="000066"/>
                </a:solidFill>
              </a:rPr>
              <a:t>）</a:t>
            </a:r>
          </a:p>
        </p:txBody>
      </p:sp>
      <p:sp>
        <p:nvSpPr>
          <p:cNvPr id="7" name="矩形 6"/>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8"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grpSp>
        <p:nvGrpSpPr>
          <p:cNvPr id="13" name="Group 14"/>
          <p:cNvGrpSpPr>
            <a:grpSpLocks/>
          </p:cNvGrpSpPr>
          <p:nvPr/>
        </p:nvGrpSpPr>
        <p:grpSpPr bwMode="auto">
          <a:xfrm>
            <a:off x="9608088" y="711174"/>
            <a:ext cx="1523004" cy="2512473"/>
            <a:chOff x="672" y="1152"/>
            <a:chExt cx="754" cy="2160"/>
          </a:xfrm>
        </p:grpSpPr>
        <p:sp>
          <p:nvSpPr>
            <p:cNvPr id="14" name="AutoShape 15"/>
            <p:cNvSpPr>
              <a:spLocks noChangeArrowheads="1"/>
            </p:cNvSpPr>
            <p:nvPr/>
          </p:nvSpPr>
          <p:spPr bwMode="auto">
            <a:xfrm>
              <a:off x="768" y="2064"/>
              <a:ext cx="618" cy="288"/>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000" b="1" i="0" dirty="0">
                  <a:latin typeface="Times New Roman" pitchFamily="18" charset="0"/>
                </a:rPr>
                <a:t>负责</a:t>
              </a:r>
            </a:p>
          </p:txBody>
        </p:sp>
        <p:grpSp>
          <p:nvGrpSpPr>
            <p:cNvPr id="15" name="Group 16"/>
            <p:cNvGrpSpPr>
              <a:grpSpLocks/>
            </p:cNvGrpSpPr>
            <p:nvPr/>
          </p:nvGrpSpPr>
          <p:grpSpPr bwMode="auto">
            <a:xfrm>
              <a:off x="672" y="1152"/>
              <a:ext cx="754" cy="2160"/>
              <a:chOff x="672" y="1152"/>
              <a:chExt cx="754" cy="2160"/>
            </a:xfrm>
          </p:grpSpPr>
          <p:sp>
            <p:nvSpPr>
              <p:cNvPr id="16" name="Rectangle 17"/>
              <p:cNvSpPr>
                <a:spLocks noChangeArrowheads="1"/>
              </p:cNvSpPr>
              <p:nvPr/>
            </p:nvSpPr>
            <p:spPr bwMode="auto">
              <a:xfrm>
                <a:off x="712" y="1152"/>
                <a:ext cx="714"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学院</a:t>
                </a:r>
              </a:p>
            </p:txBody>
          </p:sp>
          <p:sp>
            <p:nvSpPr>
              <p:cNvPr id="17" name="Rectangle 18"/>
              <p:cNvSpPr>
                <a:spLocks noChangeArrowheads="1"/>
              </p:cNvSpPr>
              <p:nvPr/>
            </p:nvSpPr>
            <p:spPr bwMode="auto">
              <a:xfrm>
                <a:off x="672" y="2976"/>
                <a:ext cx="714"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负责人</a:t>
                </a:r>
              </a:p>
            </p:txBody>
          </p:sp>
          <p:sp>
            <p:nvSpPr>
              <p:cNvPr id="18" name="Line 19"/>
              <p:cNvSpPr>
                <a:spLocks noChangeShapeType="1"/>
              </p:cNvSpPr>
              <p:nvPr/>
            </p:nvSpPr>
            <p:spPr bwMode="auto">
              <a:xfrm>
                <a:off x="1068" y="148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0"/>
              <p:cNvSpPr>
                <a:spLocks noChangeShapeType="1"/>
              </p:cNvSpPr>
              <p:nvPr/>
            </p:nvSpPr>
            <p:spPr bwMode="auto">
              <a:xfrm>
                <a:off x="1068" y="2352"/>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21"/>
              <p:cNvSpPr txBox="1">
                <a:spLocks noChangeArrowheads="1"/>
              </p:cNvSpPr>
              <p:nvPr/>
            </p:nvSpPr>
            <p:spPr bwMode="auto">
              <a:xfrm>
                <a:off x="1052" y="1620"/>
                <a:ext cx="288" cy="1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kumimoji="1" lang="en-US" altLang="zh-CN" sz="2400" b="1" i="0" dirty="0">
                    <a:latin typeface="Times New Roman" pitchFamily="18" charset="0"/>
                  </a:rPr>
                  <a:t>1</a:t>
                </a:r>
              </a:p>
              <a:p>
                <a:pPr eaLnBrk="1" hangingPunct="1">
                  <a:spcBef>
                    <a:spcPct val="50000"/>
                  </a:spcBef>
                </a:pPr>
                <a:endParaRPr kumimoji="1" lang="en-US" altLang="zh-CN" sz="2400" b="1" i="0" dirty="0">
                  <a:solidFill>
                    <a:srgbClr val="FF0000"/>
                  </a:solidFill>
                  <a:latin typeface="Times New Roman" pitchFamily="18" charset="0"/>
                </a:endParaRPr>
              </a:p>
              <a:p>
                <a:pPr eaLnBrk="1" hangingPunct="1">
                  <a:spcBef>
                    <a:spcPct val="50000"/>
                  </a:spcBef>
                </a:pPr>
                <a:r>
                  <a:rPr kumimoji="1" lang="en-US" altLang="zh-CN" sz="2400" b="1" i="0" dirty="0">
                    <a:latin typeface="Times New Roman" pitchFamily="18" charset="0"/>
                  </a:rPr>
                  <a:t>1</a:t>
                </a:r>
              </a:p>
            </p:txBody>
          </p:sp>
        </p:grpSp>
      </p:grpSp>
      <p:sp>
        <p:nvSpPr>
          <p:cNvPr id="21"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22" name="直接连接符 21"/>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72938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ssolv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linds(horizontal)">
                                      <p:cBhvr>
                                        <p:cTn id="27" dur="500"/>
                                        <p:tgtEl>
                                          <p:spTgt spid="6">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blinds(horizontal)">
                                      <p:cBhvr>
                                        <p:cTn id="30" dur="500"/>
                                        <p:tgtEl>
                                          <p:spTgt spid="6">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animEffect transition="in" filter="blinds(horizontal)">
                                      <p:cBhvr>
                                        <p:cTn id="35" dur="500"/>
                                        <p:tgtEl>
                                          <p:spTgt spid="6">
                                            <p:txEl>
                                              <p:pRg st="8" end="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6">
                                            <p:txEl>
                                              <p:pRg st="9" end="9"/>
                                            </p:txEl>
                                          </p:spTgt>
                                        </p:tgtEl>
                                        <p:attrNameLst>
                                          <p:attrName>style.visibility</p:attrName>
                                        </p:attrNameLst>
                                      </p:cBhvr>
                                      <p:to>
                                        <p:strVal val="visible"/>
                                      </p:to>
                                    </p:set>
                                    <p:animEffect transition="in" filter="blinds(horizontal)">
                                      <p:cBhvr>
                                        <p:cTn id="38" dur="500"/>
                                        <p:tgtEl>
                                          <p:spTgt spid="6">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501650" y="1066800"/>
            <a:ext cx="10720532" cy="533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5000"/>
              </a:lnSpc>
              <a:buFont typeface="Wingdings" panose="05000000000000000000" pitchFamily="2" charset="2"/>
              <a:buChar char="l"/>
            </a:pPr>
            <a:r>
              <a:rPr lang="zh-CN" altLang="en-US" sz="2400" b="1" dirty="0">
                <a:solidFill>
                  <a:srgbClr val="FF0000"/>
                </a:solidFill>
              </a:rPr>
              <a:t> 注意：</a:t>
            </a:r>
          </a:p>
          <a:p>
            <a:pPr marL="742950" lvl="1" indent="-285750" eaLnBrk="1" hangingPunct="1">
              <a:lnSpc>
                <a:spcPct val="105000"/>
              </a:lnSpc>
              <a:spcBef>
                <a:spcPct val="20000"/>
              </a:spcBef>
              <a:buClr>
                <a:schemeClr val="hlink"/>
              </a:buClr>
              <a:buFontTx/>
              <a:buChar char="–"/>
            </a:pPr>
            <a:r>
              <a:rPr kumimoji="1" lang="zh-CN" altLang="en-US" b="1" dirty="0">
                <a:solidFill>
                  <a:srgbClr val="000066"/>
                </a:solidFill>
                <a:latin typeface="Tahoma" panose="020B0604030504040204" pitchFamily="34" charset="0"/>
                <a:ea typeface="宋体" panose="02010600030101010101" pitchFamily="2" charset="-122"/>
              </a:rPr>
              <a:t>从理论上讲，</a:t>
            </a:r>
            <a:r>
              <a:rPr kumimoji="1" lang="en-US" altLang="zh-CN" b="1" dirty="0">
                <a:solidFill>
                  <a:srgbClr val="000066"/>
                </a:solidFill>
                <a:latin typeface="Tahoma" panose="020B0604030504040204" pitchFamily="34" charset="0"/>
                <a:ea typeface="宋体" panose="02010600030101010101" pitchFamily="2" charset="-122"/>
              </a:rPr>
              <a:t>1:1</a:t>
            </a:r>
            <a:r>
              <a:rPr kumimoji="1" lang="zh-CN" altLang="en-US" b="1" dirty="0">
                <a:solidFill>
                  <a:srgbClr val="000066"/>
                </a:solidFill>
                <a:latin typeface="Tahoma" panose="020B0604030504040204" pitchFamily="34" charset="0"/>
                <a:ea typeface="宋体" panose="02010600030101010101" pitchFamily="2" charset="-122"/>
              </a:rPr>
              <a:t>联系可以与任意一端对应的关系模式合并。</a:t>
            </a:r>
          </a:p>
          <a:p>
            <a:pPr marL="742950" lvl="1" indent="-285750" eaLnBrk="1" hangingPunct="1">
              <a:lnSpc>
                <a:spcPct val="105000"/>
              </a:lnSpc>
              <a:spcBef>
                <a:spcPct val="20000"/>
              </a:spcBef>
              <a:buClr>
                <a:schemeClr val="hlink"/>
              </a:buClr>
              <a:buFontTx/>
              <a:buChar char="–"/>
            </a:pPr>
            <a:r>
              <a:rPr kumimoji="1" lang="zh-CN" altLang="en-US" b="1" dirty="0">
                <a:solidFill>
                  <a:srgbClr val="000066"/>
                </a:solidFill>
                <a:latin typeface="Tahoma" panose="020B0604030504040204" pitchFamily="34" charset="0"/>
                <a:ea typeface="宋体" panose="02010600030101010101" pitchFamily="2" charset="-122"/>
              </a:rPr>
              <a:t>但在一些情况下，与不同的关系模式合并效率会大不一样。因此究竟应该与哪端的关系模式合并需要依应用的具体情况而定。</a:t>
            </a:r>
          </a:p>
          <a:p>
            <a:pPr marL="742950" lvl="1" indent="-285750" eaLnBrk="1" hangingPunct="1">
              <a:lnSpc>
                <a:spcPct val="105000"/>
              </a:lnSpc>
              <a:spcBef>
                <a:spcPct val="20000"/>
              </a:spcBef>
              <a:buClr>
                <a:schemeClr val="hlink"/>
              </a:buClr>
              <a:buFontTx/>
              <a:buChar char="–"/>
            </a:pPr>
            <a:r>
              <a:rPr kumimoji="1" lang="zh-CN" altLang="en-US" b="1" dirty="0">
                <a:solidFill>
                  <a:srgbClr val="000066"/>
                </a:solidFill>
                <a:latin typeface="Tahoma" panose="020B0604030504040204" pitchFamily="34" charset="0"/>
                <a:ea typeface="宋体" panose="02010600030101010101" pitchFamily="2" charset="-122"/>
              </a:rPr>
              <a:t>   原因：由于连接操作是最费时的操作，所以一般应以尽量减少连接操作为目标。</a:t>
            </a:r>
          </a:p>
          <a:p>
            <a:pPr eaLnBrk="1" hangingPunct="1">
              <a:lnSpc>
                <a:spcPct val="105000"/>
              </a:lnSpc>
              <a:spcBef>
                <a:spcPct val="30000"/>
              </a:spcBef>
              <a:buClr>
                <a:schemeClr val="hlink"/>
              </a:buClr>
              <a:buFontTx/>
              <a:buNone/>
            </a:pPr>
            <a:r>
              <a:rPr lang="zh-CN" altLang="en-US" sz="2400" b="1" dirty="0">
                <a:solidFill>
                  <a:srgbClr val="669900"/>
                </a:solidFill>
              </a:rPr>
              <a:t>  例如：如果经常要查询某个学院的负责人姓名，则将“负责”联系与“学院”关系合并更好些。 </a:t>
            </a:r>
          </a:p>
        </p:txBody>
      </p:sp>
      <p:sp>
        <p:nvSpPr>
          <p:cNvPr id="7" name="矩形 6"/>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8"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5"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9" name="直接连接符 8"/>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3521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checkerboard(across)">
                                      <p:cBhvr>
                                        <p:cTn id="10" dur="500"/>
                                        <p:tgtEl>
                                          <p:spTgt spid="6">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checkerboard(across)">
                                      <p:cBhvr>
                                        <p:cTn id="13" dur="500"/>
                                        <p:tgtEl>
                                          <p:spTgt spid="6">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checkerboard(across)">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checkerboard(across)">
                                      <p:cBhvr>
                                        <p:cTn id="2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457200" y="754433"/>
            <a:ext cx="1122218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0000"/>
              </a:spcBef>
              <a:buClr>
                <a:schemeClr val="accent1"/>
              </a:buClr>
            </a:pPr>
            <a:r>
              <a:rPr kumimoji="1" lang="en-US" altLang="zh-CN" sz="2400" b="1" i="0" dirty="0">
                <a:solidFill>
                  <a:srgbClr val="000066"/>
                </a:solidFill>
                <a:latin typeface="Tahoma" panose="020B0604030504040204" pitchFamily="34" charset="0"/>
              </a:rPr>
              <a:t>3. </a:t>
            </a:r>
            <a:r>
              <a:rPr kumimoji="1" lang="zh-CN" altLang="en-US" sz="2400" b="1" i="0" dirty="0">
                <a:solidFill>
                  <a:srgbClr val="000066"/>
                </a:solidFill>
                <a:latin typeface="Tahoma" panose="020B0604030504040204" pitchFamily="34" charset="0"/>
              </a:rPr>
              <a:t>一个</a:t>
            </a:r>
            <a:r>
              <a:rPr kumimoji="1" lang="en-US" altLang="zh-CN" sz="2400" b="1" i="0" dirty="0" err="1">
                <a:solidFill>
                  <a:srgbClr val="CC3300"/>
                </a:solidFill>
                <a:latin typeface="Tahoma" panose="020B0604030504040204" pitchFamily="34" charset="0"/>
              </a:rPr>
              <a:t>1:n</a:t>
            </a:r>
            <a:r>
              <a:rPr kumimoji="1" lang="zh-CN" altLang="en-US" sz="2400" b="1" i="0" dirty="0">
                <a:solidFill>
                  <a:srgbClr val="CC3300"/>
                </a:solidFill>
                <a:latin typeface="Tahoma" panose="020B0604030504040204" pitchFamily="34" charset="0"/>
              </a:rPr>
              <a:t>联系</a:t>
            </a:r>
            <a:r>
              <a:rPr kumimoji="1" lang="zh-CN" altLang="en-US" sz="2400" b="1" i="0" dirty="0">
                <a:solidFill>
                  <a:srgbClr val="000066"/>
                </a:solidFill>
                <a:latin typeface="Tahoma" panose="020B0604030504040204" pitchFamily="34" charset="0"/>
              </a:rPr>
              <a:t>可转换为一个独立的关系模式，也可以与</a:t>
            </a:r>
            <a:r>
              <a:rPr kumimoji="1" lang="en-US" altLang="zh-CN" sz="2400" b="1" i="0" dirty="0">
                <a:solidFill>
                  <a:srgbClr val="000066"/>
                </a:solidFill>
                <a:latin typeface="Tahoma" panose="020B0604030504040204" pitchFamily="34" charset="0"/>
              </a:rPr>
              <a:t>n</a:t>
            </a:r>
            <a:r>
              <a:rPr kumimoji="1" lang="zh-CN" altLang="en-US" sz="2400" b="1" i="0" dirty="0">
                <a:solidFill>
                  <a:srgbClr val="000066"/>
                </a:solidFill>
                <a:latin typeface="Tahoma" panose="020B0604030504040204" pitchFamily="34" charset="0"/>
              </a:rPr>
              <a:t>端对应的关系模式合并：</a:t>
            </a:r>
          </a:p>
        </p:txBody>
      </p:sp>
      <p:sp>
        <p:nvSpPr>
          <p:cNvPr id="7" name="Rectangle 4"/>
          <p:cNvSpPr>
            <a:spLocks noChangeArrowheads="1"/>
          </p:cNvSpPr>
          <p:nvPr/>
        </p:nvSpPr>
        <p:spPr bwMode="auto">
          <a:xfrm>
            <a:off x="524741" y="1261820"/>
            <a:ext cx="1083771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90000"/>
              </a:lnSpc>
              <a:spcBef>
                <a:spcPct val="20000"/>
              </a:spcBef>
              <a:buClr>
                <a:schemeClr val="accent1"/>
              </a:buClr>
            </a:pPr>
            <a:endParaRPr kumimoji="1" lang="en-US" altLang="zh-CN" sz="2400" b="1" i="0" dirty="0">
              <a:solidFill>
                <a:srgbClr val="000066"/>
              </a:solidFill>
              <a:latin typeface="Tahoma" panose="020B0604030504040204" pitchFamily="34" charset="0"/>
            </a:endParaRPr>
          </a:p>
          <a:p>
            <a:pPr marL="457200" indent="-457200" eaLnBrk="1" hangingPunct="1">
              <a:lnSpc>
                <a:spcPct val="90000"/>
              </a:lnSpc>
              <a:spcBef>
                <a:spcPct val="20000"/>
              </a:spcBef>
              <a:buClr>
                <a:srgbClr val="FF0000"/>
              </a:buClr>
              <a:buFont typeface="Wingdings" panose="05000000000000000000" pitchFamily="2" charset="2"/>
              <a:buChar char="l"/>
            </a:pPr>
            <a:r>
              <a:rPr kumimoji="1" lang="zh-CN" altLang="en-US" sz="2400" b="1" i="0" dirty="0">
                <a:solidFill>
                  <a:srgbClr val="000066"/>
                </a:solidFill>
                <a:latin typeface="Tahoma" panose="020B0604030504040204" pitchFamily="34" charset="0"/>
              </a:rPr>
              <a:t>转换为一个独立的关系模式：</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关系的属性</a:t>
            </a:r>
            <a:r>
              <a:rPr kumimoji="1" lang="zh-CN" altLang="en-US" sz="2400" b="1" i="0" dirty="0">
                <a:solidFill>
                  <a:srgbClr val="000066"/>
                </a:solidFill>
                <a:latin typeface="Tahoma" panose="020B0604030504040204" pitchFamily="34" charset="0"/>
              </a:rPr>
              <a:t>：与该联系相连的各实体的码以及联系本身的属性</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关系的码</a:t>
            </a:r>
            <a:r>
              <a:rPr kumimoji="1" lang="zh-CN" altLang="en-US" sz="2400" b="1" i="0" dirty="0">
                <a:solidFill>
                  <a:srgbClr val="000066"/>
                </a:solidFill>
                <a:latin typeface="Tahoma" panose="020B0604030504040204" pitchFamily="34" charset="0"/>
              </a:rPr>
              <a:t>：</a:t>
            </a:r>
            <a:r>
              <a:rPr kumimoji="1" lang="en-US" altLang="zh-CN" sz="2400" b="1" i="0" dirty="0">
                <a:solidFill>
                  <a:srgbClr val="000066"/>
                </a:solidFill>
                <a:latin typeface="Tahoma" panose="020B0604030504040204" pitchFamily="34" charset="0"/>
              </a:rPr>
              <a:t>n</a:t>
            </a:r>
            <a:r>
              <a:rPr kumimoji="1" lang="zh-CN" altLang="en-US" sz="2400" b="1" i="0" dirty="0">
                <a:solidFill>
                  <a:srgbClr val="000066"/>
                </a:solidFill>
                <a:latin typeface="Tahoma" panose="020B0604030504040204" pitchFamily="34" charset="0"/>
              </a:rPr>
              <a:t>端实体的码</a:t>
            </a:r>
          </a:p>
          <a:p>
            <a:pPr lvl="1" eaLnBrk="1" hangingPunct="1">
              <a:lnSpc>
                <a:spcPct val="90000"/>
              </a:lnSpc>
              <a:spcBef>
                <a:spcPct val="20000"/>
              </a:spcBef>
              <a:buClr>
                <a:schemeClr val="hlink"/>
              </a:buClr>
              <a:buFontTx/>
              <a:buChar char="–"/>
            </a:pPr>
            <a:endParaRPr kumimoji="1" lang="en-US" altLang="zh-CN" sz="2400" b="1" i="0" dirty="0">
              <a:solidFill>
                <a:srgbClr val="000066"/>
              </a:solidFill>
              <a:latin typeface="Tahoma" panose="020B0604030504040204" pitchFamily="34" charset="0"/>
            </a:endParaRPr>
          </a:p>
        </p:txBody>
      </p:sp>
      <p:sp>
        <p:nvSpPr>
          <p:cNvPr id="8" name="Rectangle 5"/>
          <p:cNvSpPr>
            <a:spLocks noChangeArrowheads="1"/>
          </p:cNvSpPr>
          <p:nvPr/>
        </p:nvSpPr>
        <p:spPr bwMode="auto">
          <a:xfrm>
            <a:off x="524741" y="3018295"/>
            <a:ext cx="11471564"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90000"/>
              </a:lnSpc>
              <a:spcBef>
                <a:spcPct val="20000"/>
              </a:spcBef>
              <a:buClr>
                <a:schemeClr val="accent1"/>
              </a:buClr>
            </a:pPr>
            <a:endParaRPr kumimoji="1" lang="en-US" altLang="zh-CN" sz="2400" b="1" i="0" dirty="0">
              <a:solidFill>
                <a:srgbClr val="000066"/>
              </a:solidFill>
              <a:latin typeface="Tahoma" panose="020B0604030504040204" pitchFamily="34" charset="0"/>
            </a:endParaRPr>
          </a:p>
          <a:p>
            <a:pPr marL="457200" indent="-457200" eaLnBrk="1" hangingPunct="1">
              <a:lnSpc>
                <a:spcPct val="90000"/>
              </a:lnSpc>
              <a:spcBef>
                <a:spcPct val="20000"/>
              </a:spcBef>
              <a:buClr>
                <a:srgbClr val="FF0000"/>
              </a:buClr>
              <a:buFont typeface="Wingdings" panose="05000000000000000000" pitchFamily="2" charset="2"/>
              <a:buChar char="l"/>
            </a:pPr>
            <a:r>
              <a:rPr kumimoji="1" lang="zh-CN" altLang="en-US" sz="2400" b="1" i="0" dirty="0">
                <a:solidFill>
                  <a:srgbClr val="000066"/>
                </a:solidFill>
                <a:latin typeface="Tahoma" panose="020B0604030504040204" pitchFamily="34" charset="0"/>
              </a:rPr>
              <a:t>与</a:t>
            </a:r>
            <a:r>
              <a:rPr kumimoji="1" lang="en-US" altLang="zh-CN" sz="2400" b="1" i="0" dirty="0">
                <a:solidFill>
                  <a:srgbClr val="000066"/>
                </a:solidFill>
                <a:latin typeface="Tahoma" panose="020B0604030504040204" pitchFamily="34" charset="0"/>
              </a:rPr>
              <a:t>n</a:t>
            </a:r>
            <a:r>
              <a:rPr kumimoji="1" lang="zh-CN" altLang="en-US" sz="2400" b="1" i="0" dirty="0">
                <a:solidFill>
                  <a:srgbClr val="000066"/>
                </a:solidFill>
                <a:latin typeface="Tahoma" panose="020B0604030504040204" pitchFamily="34" charset="0"/>
              </a:rPr>
              <a:t>端对应的关系模式合并：</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关系的属性</a:t>
            </a:r>
            <a:r>
              <a:rPr kumimoji="1" lang="zh-CN" altLang="en-US" sz="2400" b="1" i="0" dirty="0">
                <a:solidFill>
                  <a:srgbClr val="000066"/>
                </a:solidFill>
                <a:latin typeface="Tahoma" panose="020B0604030504040204" pitchFamily="34" charset="0"/>
              </a:rPr>
              <a:t>：在</a:t>
            </a:r>
            <a:r>
              <a:rPr kumimoji="1" lang="en-US" altLang="zh-CN" sz="2400" b="1" i="0" dirty="0">
                <a:solidFill>
                  <a:srgbClr val="000066"/>
                </a:solidFill>
                <a:latin typeface="Tahoma" panose="020B0604030504040204" pitchFamily="34" charset="0"/>
              </a:rPr>
              <a:t>n</a:t>
            </a:r>
            <a:r>
              <a:rPr kumimoji="1" lang="zh-CN" altLang="en-US" sz="2400" b="1" i="0" dirty="0">
                <a:solidFill>
                  <a:srgbClr val="000066"/>
                </a:solidFill>
                <a:latin typeface="Tahoma" panose="020B0604030504040204" pitchFamily="34" charset="0"/>
              </a:rPr>
              <a:t>端关系模式中加入</a:t>
            </a:r>
            <a:r>
              <a:rPr kumimoji="1" lang="en-US" altLang="zh-CN" sz="2400" b="1" i="0" dirty="0">
                <a:solidFill>
                  <a:srgbClr val="000066"/>
                </a:solidFill>
                <a:latin typeface="Tahoma" panose="020B0604030504040204" pitchFamily="34" charset="0"/>
              </a:rPr>
              <a:t>1</a:t>
            </a:r>
            <a:r>
              <a:rPr kumimoji="1" lang="zh-CN" altLang="en-US" sz="2400" b="1" i="0" dirty="0">
                <a:solidFill>
                  <a:srgbClr val="000066"/>
                </a:solidFill>
                <a:latin typeface="Tahoma" panose="020B0604030504040204" pitchFamily="34" charset="0"/>
              </a:rPr>
              <a:t>端关系的码和联系本身的属性</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关系的码</a:t>
            </a:r>
            <a:r>
              <a:rPr kumimoji="1" lang="zh-CN" altLang="en-US" sz="2400" b="1" i="0" dirty="0">
                <a:solidFill>
                  <a:srgbClr val="000066"/>
                </a:solidFill>
                <a:latin typeface="Tahoma" panose="020B0604030504040204" pitchFamily="34" charset="0"/>
              </a:rPr>
              <a:t>：不变</a:t>
            </a: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10"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11" name="直接连接符 10"/>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1305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404418" y="1039296"/>
            <a:ext cx="11304549" cy="4876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en-US" altLang="zh-CN" sz="2400" b="1" dirty="0">
                <a:solidFill>
                  <a:srgbClr val="FF0000"/>
                </a:solidFill>
              </a:rPr>
              <a:t>【</a:t>
            </a:r>
            <a:r>
              <a:rPr lang="zh-CN" altLang="en-US" sz="2400" b="1" dirty="0">
                <a:solidFill>
                  <a:srgbClr val="FF0000"/>
                </a:solidFill>
              </a:rPr>
              <a:t>例</a:t>
            </a:r>
            <a:r>
              <a:rPr lang="en-US" altLang="zh-CN" sz="2400" b="1" dirty="0">
                <a:solidFill>
                  <a:srgbClr val="FF0000"/>
                </a:solidFill>
              </a:rPr>
              <a:t>】</a:t>
            </a:r>
            <a:r>
              <a:rPr lang="zh-CN" altLang="en-US" sz="2400" b="1" dirty="0">
                <a:solidFill>
                  <a:srgbClr val="000066"/>
                </a:solidFill>
              </a:rPr>
              <a:t>“开设”联系为</a:t>
            </a:r>
            <a:r>
              <a:rPr lang="en-US" altLang="zh-CN" sz="2400" b="1" dirty="0">
                <a:solidFill>
                  <a:srgbClr val="000066"/>
                </a:solidFill>
              </a:rPr>
              <a:t>1:n</a:t>
            </a:r>
            <a:r>
              <a:rPr lang="zh-CN" altLang="en-US" sz="2400" b="1" dirty="0">
                <a:solidFill>
                  <a:srgbClr val="000066"/>
                </a:solidFill>
              </a:rPr>
              <a:t>（学院</a:t>
            </a:r>
            <a:r>
              <a:rPr lang="en-US" altLang="zh-CN" sz="2400" b="1" dirty="0">
                <a:solidFill>
                  <a:srgbClr val="000066"/>
                </a:solidFill>
              </a:rPr>
              <a:t>:</a:t>
            </a:r>
            <a:r>
              <a:rPr lang="zh-CN" altLang="en-US" sz="2400" b="1" dirty="0">
                <a:solidFill>
                  <a:srgbClr val="000066"/>
                </a:solidFill>
              </a:rPr>
              <a:t>专业）联系，可以有两种转换方法：</a:t>
            </a:r>
          </a:p>
          <a:p>
            <a:pPr eaLnBrk="1" hangingPunct="1">
              <a:buFontTx/>
              <a:buNone/>
            </a:pPr>
            <a:r>
              <a:rPr lang="zh-CN" altLang="en-US" sz="2400" b="1" dirty="0">
                <a:solidFill>
                  <a:srgbClr val="000066"/>
                </a:solidFill>
              </a:rPr>
              <a:t>（</a:t>
            </a:r>
            <a:r>
              <a:rPr lang="en-US" altLang="zh-CN" sz="2400" b="1" dirty="0">
                <a:solidFill>
                  <a:srgbClr val="000066"/>
                </a:solidFill>
              </a:rPr>
              <a:t>1</a:t>
            </a:r>
            <a:r>
              <a:rPr lang="zh-CN" altLang="en-US" sz="2400" b="1" dirty="0">
                <a:solidFill>
                  <a:srgbClr val="000066"/>
                </a:solidFill>
              </a:rPr>
              <a:t>）转换为一个独立的关系模式：</a:t>
            </a:r>
          </a:p>
          <a:p>
            <a:pPr eaLnBrk="1" hangingPunct="1">
              <a:buFontTx/>
              <a:buNone/>
            </a:pPr>
            <a:r>
              <a:rPr lang="zh-CN" altLang="en-US" sz="2400" b="1" dirty="0">
                <a:solidFill>
                  <a:srgbClr val="000066"/>
                </a:solidFill>
              </a:rPr>
              <a:t>     		开设（学院编号，</a:t>
            </a:r>
            <a:r>
              <a:rPr lang="zh-CN" altLang="en-US" sz="2400" b="1" u="sng" dirty="0">
                <a:solidFill>
                  <a:srgbClr val="000066"/>
                </a:solidFill>
              </a:rPr>
              <a:t>专业号</a:t>
            </a:r>
            <a:r>
              <a:rPr lang="zh-CN" altLang="en-US" sz="2400" b="1" dirty="0">
                <a:solidFill>
                  <a:srgbClr val="000066"/>
                </a:solidFill>
              </a:rPr>
              <a:t>）</a:t>
            </a:r>
          </a:p>
          <a:p>
            <a:pPr eaLnBrk="1" hangingPunct="1">
              <a:buFontTx/>
              <a:buNone/>
            </a:pPr>
            <a:endParaRPr lang="zh-CN" altLang="en-US" sz="2400" b="1" dirty="0">
              <a:solidFill>
                <a:srgbClr val="000066"/>
              </a:solidFill>
            </a:endParaRPr>
          </a:p>
          <a:p>
            <a:pPr eaLnBrk="1" hangingPunct="1">
              <a:buFontTx/>
              <a:buNone/>
            </a:pPr>
            <a:r>
              <a:rPr lang="zh-CN" altLang="en-US" sz="2400" b="1" dirty="0">
                <a:solidFill>
                  <a:srgbClr val="000066"/>
                </a:solidFill>
              </a:rPr>
              <a:t>（</a:t>
            </a:r>
            <a:r>
              <a:rPr lang="en-US" altLang="zh-CN" sz="2400" b="1" dirty="0">
                <a:solidFill>
                  <a:srgbClr val="000066"/>
                </a:solidFill>
              </a:rPr>
              <a:t>2</a:t>
            </a:r>
            <a:r>
              <a:rPr lang="zh-CN" altLang="en-US" sz="2400" b="1" dirty="0">
                <a:solidFill>
                  <a:srgbClr val="000066"/>
                </a:solidFill>
              </a:rPr>
              <a:t>）将其与专业关系模式合并：</a:t>
            </a:r>
          </a:p>
          <a:p>
            <a:pPr eaLnBrk="1" hangingPunct="1">
              <a:buFontTx/>
              <a:buNone/>
            </a:pPr>
            <a:r>
              <a:rPr lang="zh-CN" altLang="en-US" sz="2400" b="1" dirty="0">
                <a:solidFill>
                  <a:srgbClr val="000066"/>
                </a:solidFill>
              </a:rPr>
              <a:t>		专业（</a:t>
            </a:r>
            <a:r>
              <a:rPr lang="zh-CN" altLang="en-US" sz="2400" b="1" u="sng" dirty="0">
                <a:solidFill>
                  <a:srgbClr val="000066"/>
                </a:solidFill>
              </a:rPr>
              <a:t>专业号</a:t>
            </a:r>
            <a:r>
              <a:rPr lang="zh-CN" altLang="en-US" sz="2400" b="1" dirty="0">
                <a:solidFill>
                  <a:srgbClr val="000066"/>
                </a:solidFill>
              </a:rPr>
              <a:t>，专业名，</a:t>
            </a:r>
            <a:r>
              <a:rPr lang="zh-CN" altLang="en-US" sz="2400" b="1" dirty="0">
                <a:solidFill>
                  <a:srgbClr val="FF3300"/>
                </a:solidFill>
              </a:rPr>
              <a:t>学院编号</a:t>
            </a:r>
            <a:r>
              <a:rPr lang="zh-CN" altLang="en-US" sz="2400" b="1" dirty="0">
                <a:solidFill>
                  <a:srgbClr val="000066"/>
                </a:solidFill>
              </a:rPr>
              <a:t>）</a:t>
            </a:r>
          </a:p>
        </p:txBody>
      </p:sp>
      <p:sp>
        <p:nvSpPr>
          <p:cNvPr id="7" name="矩形 6"/>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8"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grpSp>
        <p:nvGrpSpPr>
          <p:cNvPr id="5" name="组合 4"/>
          <p:cNvGrpSpPr/>
          <p:nvPr/>
        </p:nvGrpSpPr>
        <p:grpSpPr>
          <a:xfrm>
            <a:off x="7648415" y="1685108"/>
            <a:ext cx="2053524" cy="3640183"/>
            <a:chOff x="9245293" y="1753098"/>
            <a:chExt cx="2053524" cy="3640183"/>
          </a:xfrm>
        </p:grpSpPr>
        <p:grpSp>
          <p:nvGrpSpPr>
            <p:cNvPr id="2" name="组合 1"/>
            <p:cNvGrpSpPr/>
            <p:nvPr/>
          </p:nvGrpSpPr>
          <p:grpSpPr>
            <a:xfrm>
              <a:off x="9245293" y="1753098"/>
              <a:ext cx="2053524" cy="3640183"/>
              <a:chOff x="9245293" y="1753098"/>
              <a:chExt cx="2053524" cy="3640183"/>
            </a:xfrm>
          </p:grpSpPr>
          <p:sp>
            <p:nvSpPr>
              <p:cNvPr id="13" name="AutoShape 3"/>
              <p:cNvSpPr>
                <a:spLocks noChangeArrowheads="1"/>
              </p:cNvSpPr>
              <p:nvPr/>
            </p:nvSpPr>
            <p:spPr bwMode="auto">
              <a:xfrm>
                <a:off x="10074367" y="4459832"/>
                <a:ext cx="598488" cy="300280"/>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专业</a:t>
                </a:r>
                <a:endParaRPr lang="zh-CN" altLang="en-US" sz="1400" dirty="0"/>
              </a:p>
            </p:txBody>
          </p:sp>
          <p:sp>
            <p:nvSpPr>
              <p:cNvPr id="14" name="AutoShape 6"/>
              <p:cNvSpPr>
                <a:spLocks noChangeArrowheads="1"/>
              </p:cNvSpPr>
              <p:nvPr/>
            </p:nvSpPr>
            <p:spPr bwMode="auto">
              <a:xfrm>
                <a:off x="9931492" y="3345920"/>
                <a:ext cx="849313" cy="41751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开设</a:t>
                </a:r>
                <a:endParaRPr lang="zh-CN" altLang="en-US" sz="1400"/>
              </a:p>
            </p:txBody>
          </p:sp>
          <p:sp>
            <p:nvSpPr>
              <p:cNvPr id="15" name="AutoShape 7"/>
              <p:cNvSpPr>
                <a:spLocks noChangeArrowheads="1"/>
              </p:cNvSpPr>
              <p:nvPr/>
            </p:nvSpPr>
            <p:spPr bwMode="auto">
              <a:xfrm>
                <a:off x="10297793" y="5034506"/>
                <a:ext cx="920750" cy="35877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专业名</a:t>
                </a:r>
                <a:endParaRPr lang="zh-CN" altLang="en-US" sz="1400" dirty="0"/>
              </a:p>
            </p:txBody>
          </p:sp>
          <p:sp>
            <p:nvSpPr>
              <p:cNvPr id="16" name="AutoShape 10"/>
              <p:cNvSpPr>
                <a:spLocks noChangeArrowheads="1"/>
              </p:cNvSpPr>
              <p:nvPr/>
            </p:nvSpPr>
            <p:spPr bwMode="auto">
              <a:xfrm>
                <a:off x="9315357" y="5034506"/>
                <a:ext cx="920750" cy="3573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dirty="0">
                    <a:latin typeface="Times New Roman" panose="02020603050405020304" pitchFamily="18" charset="0"/>
                  </a:rPr>
                  <a:t>专业号</a:t>
                </a:r>
                <a:endParaRPr lang="zh-CN" altLang="en-US" sz="1400" u="sng" dirty="0"/>
              </a:p>
            </p:txBody>
          </p:sp>
          <p:sp>
            <p:nvSpPr>
              <p:cNvPr id="17" name="Line 17"/>
              <p:cNvSpPr>
                <a:spLocks noChangeShapeType="1"/>
              </p:cNvSpPr>
              <p:nvPr/>
            </p:nvSpPr>
            <p:spPr bwMode="auto">
              <a:xfrm>
                <a:off x="10503785" y="4775830"/>
                <a:ext cx="226219" cy="25867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0"/>
              <p:cNvSpPr>
                <a:spLocks noChangeShapeType="1"/>
              </p:cNvSpPr>
              <p:nvPr/>
            </p:nvSpPr>
            <p:spPr bwMode="auto">
              <a:xfrm>
                <a:off x="10340045" y="2629929"/>
                <a:ext cx="10318" cy="7159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1"/>
              <p:cNvSpPr>
                <a:spLocks noChangeShapeType="1"/>
              </p:cNvSpPr>
              <p:nvPr/>
            </p:nvSpPr>
            <p:spPr bwMode="auto">
              <a:xfrm>
                <a:off x="10356148" y="3763433"/>
                <a:ext cx="7144" cy="6963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8"/>
              <p:cNvSpPr>
                <a:spLocks noChangeShapeType="1"/>
              </p:cNvSpPr>
              <p:nvPr/>
            </p:nvSpPr>
            <p:spPr bwMode="auto">
              <a:xfrm flipH="1">
                <a:off x="9775732" y="4775830"/>
                <a:ext cx="453687" cy="2586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AutoShape 38"/>
              <p:cNvSpPr>
                <a:spLocks noChangeArrowheads="1"/>
              </p:cNvSpPr>
              <p:nvPr/>
            </p:nvSpPr>
            <p:spPr bwMode="auto">
              <a:xfrm>
                <a:off x="10420103" y="1753098"/>
                <a:ext cx="878714" cy="342648"/>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学院名</a:t>
                </a:r>
                <a:endParaRPr lang="zh-CN" altLang="en-US" sz="1400" dirty="0"/>
              </a:p>
            </p:txBody>
          </p:sp>
          <p:sp>
            <p:nvSpPr>
              <p:cNvPr id="22" name="AutoShape 45"/>
              <p:cNvSpPr>
                <a:spLocks noChangeArrowheads="1"/>
              </p:cNvSpPr>
              <p:nvPr/>
            </p:nvSpPr>
            <p:spPr bwMode="auto">
              <a:xfrm>
                <a:off x="10071192" y="2318293"/>
                <a:ext cx="585788"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学院</a:t>
                </a:r>
                <a:endParaRPr lang="zh-CN" altLang="en-US" sz="1400" dirty="0"/>
              </a:p>
            </p:txBody>
          </p:sp>
          <p:sp>
            <p:nvSpPr>
              <p:cNvPr id="23" name="AutoShape 46"/>
              <p:cNvSpPr>
                <a:spLocks noChangeArrowheads="1"/>
              </p:cNvSpPr>
              <p:nvPr/>
            </p:nvSpPr>
            <p:spPr bwMode="auto">
              <a:xfrm>
                <a:off x="9245293" y="1776345"/>
                <a:ext cx="1112118" cy="322009"/>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学院编号</a:t>
                </a:r>
                <a:endParaRPr lang="zh-CN" altLang="en-US" sz="1400" dirty="0"/>
              </a:p>
            </p:txBody>
          </p:sp>
          <p:sp>
            <p:nvSpPr>
              <p:cNvPr id="25" name="Line 54"/>
              <p:cNvSpPr>
                <a:spLocks noChangeShapeType="1"/>
              </p:cNvSpPr>
              <p:nvPr/>
            </p:nvSpPr>
            <p:spPr bwMode="auto">
              <a:xfrm>
                <a:off x="10002930" y="2095746"/>
                <a:ext cx="290512" cy="2003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55"/>
              <p:cNvSpPr>
                <a:spLocks noChangeShapeType="1"/>
              </p:cNvSpPr>
              <p:nvPr/>
            </p:nvSpPr>
            <p:spPr bwMode="auto">
              <a:xfrm flipH="1">
                <a:off x="10587130" y="2113506"/>
                <a:ext cx="142875"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TextBox 2"/>
            <p:cNvSpPr txBox="1"/>
            <p:nvPr/>
          </p:nvSpPr>
          <p:spPr>
            <a:xfrm>
              <a:off x="10373611" y="2825192"/>
              <a:ext cx="309901" cy="1477328"/>
            </a:xfrm>
            <a:prstGeom prst="rect">
              <a:avLst/>
            </a:prstGeom>
            <a:noFill/>
          </p:spPr>
          <p:txBody>
            <a:bodyPr wrap="square" rtlCol="0">
              <a:spAutoFit/>
            </a:bodyPr>
            <a:lstStyle/>
            <a:p>
              <a:r>
                <a:rPr lang="en-US" altLang="zh-CN" dirty="0"/>
                <a:t>1</a:t>
              </a:r>
            </a:p>
            <a:p>
              <a:endParaRPr lang="en-US" altLang="zh-CN" dirty="0"/>
            </a:p>
            <a:p>
              <a:endParaRPr lang="en-US" altLang="zh-CN" dirty="0"/>
            </a:p>
            <a:p>
              <a:endParaRPr lang="en-US" altLang="zh-CN" dirty="0"/>
            </a:p>
            <a:p>
              <a:r>
                <a:rPr lang="en-US" altLang="zh-CN" dirty="0"/>
                <a:t>n</a:t>
              </a:r>
              <a:endParaRPr lang="zh-CN" altLang="en-US" dirty="0"/>
            </a:p>
          </p:txBody>
        </p:sp>
      </p:grpSp>
      <p:sp>
        <p:nvSpPr>
          <p:cNvPr id="24"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27" name="直接连接符 26"/>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182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blinds(horizontal)">
                                      <p:cBhvr>
                                        <p:cTn id="22" dur="500"/>
                                        <p:tgtEl>
                                          <p:spTgt spid="6">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Effect transition="in" filter="blinds(horizontal)">
                                      <p:cBhvr>
                                        <p:cTn id="25"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457200" y="838200"/>
            <a:ext cx="8686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spcBef>
                <a:spcPct val="20000"/>
              </a:spcBef>
              <a:buClr>
                <a:schemeClr val="accent1"/>
              </a:buClr>
            </a:pPr>
            <a:endParaRPr kumimoji="1" lang="en-US" altLang="zh-CN" sz="2400" b="1" i="0" dirty="0">
              <a:solidFill>
                <a:srgbClr val="000066"/>
              </a:solidFill>
              <a:latin typeface="Tahoma" panose="020B0604030504040204" pitchFamily="34" charset="0"/>
            </a:endParaRPr>
          </a:p>
          <a:p>
            <a:pPr eaLnBrk="1" hangingPunct="1">
              <a:spcBef>
                <a:spcPct val="20000"/>
              </a:spcBef>
              <a:buClr>
                <a:schemeClr val="accent1"/>
              </a:buClr>
            </a:pPr>
            <a:r>
              <a:rPr kumimoji="1" lang="en-US" altLang="zh-CN" sz="2400" b="1" i="0" dirty="0">
                <a:solidFill>
                  <a:srgbClr val="000066"/>
                </a:solidFill>
                <a:latin typeface="Tahoma" panose="020B0604030504040204" pitchFamily="34" charset="0"/>
              </a:rPr>
              <a:t>4. </a:t>
            </a:r>
            <a:r>
              <a:rPr kumimoji="1" lang="zh-CN" altLang="en-US" sz="2400" b="1" i="0" dirty="0">
                <a:solidFill>
                  <a:srgbClr val="000066"/>
                </a:solidFill>
                <a:latin typeface="Tahoma" panose="020B0604030504040204" pitchFamily="34" charset="0"/>
              </a:rPr>
              <a:t>一个</a:t>
            </a:r>
            <a:r>
              <a:rPr kumimoji="1" lang="en-US" altLang="zh-CN" sz="2400" b="1" i="0" dirty="0">
                <a:solidFill>
                  <a:srgbClr val="CC3300"/>
                </a:solidFill>
                <a:latin typeface="Tahoma" panose="020B0604030504040204" pitchFamily="34" charset="0"/>
              </a:rPr>
              <a:t>m:n</a:t>
            </a:r>
            <a:r>
              <a:rPr kumimoji="1" lang="zh-CN" altLang="en-US" sz="2400" b="1" i="0" dirty="0">
                <a:solidFill>
                  <a:srgbClr val="000066"/>
                </a:solidFill>
                <a:latin typeface="Tahoma" panose="020B0604030504040204" pitchFamily="34" charset="0"/>
              </a:rPr>
              <a:t>联系可转换为一个关系模式：</a:t>
            </a:r>
          </a:p>
        </p:txBody>
      </p:sp>
      <p:sp>
        <p:nvSpPr>
          <p:cNvPr id="7" name="Rectangle 4"/>
          <p:cNvSpPr>
            <a:spLocks noChangeArrowheads="1"/>
          </p:cNvSpPr>
          <p:nvPr/>
        </p:nvSpPr>
        <p:spPr bwMode="auto">
          <a:xfrm>
            <a:off x="457199" y="1752600"/>
            <a:ext cx="10796155" cy="1250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05000"/>
              </a:lnSpc>
              <a:spcBef>
                <a:spcPct val="20000"/>
              </a:spcBef>
              <a:buClr>
                <a:schemeClr val="hlink"/>
              </a:buClr>
              <a:buFontTx/>
              <a:buChar char="–"/>
            </a:pPr>
            <a:r>
              <a:rPr kumimoji="1" lang="zh-CN" altLang="en-US" sz="2400" b="1" i="0" dirty="0">
                <a:solidFill>
                  <a:srgbClr val="000066"/>
                </a:solidFill>
                <a:latin typeface="Tahoma" panose="020B0604030504040204" pitchFamily="34" charset="0"/>
              </a:rPr>
              <a:t>关系的属性：与该联系相连的各实体的码以及联系本身的属性</a:t>
            </a:r>
          </a:p>
          <a:p>
            <a:pPr lvl="1" eaLnBrk="1" hangingPunct="1">
              <a:lnSpc>
                <a:spcPct val="90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关系的码</a:t>
            </a:r>
            <a:r>
              <a:rPr kumimoji="1" lang="zh-CN" altLang="en-US" sz="2400" b="1" i="0" dirty="0">
                <a:solidFill>
                  <a:srgbClr val="000066"/>
                </a:solidFill>
                <a:latin typeface="Tahoma" panose="020B0604030504040204" pitchFamily="34" charset="0"/>
              </a:rPr>
              <a:t>：</a:t>
            </a:r>
            <a:r>
              <a:rPr kumimoji="1" lang="zh-CN" altLang="en-US" sz="2400" b="1" i="0" dirty="0">
                <a:solidFill>
                  <a:srgbClr val="1569F0"/>
                </a:solidFill>
                <a:latin typeface="Tahoma" panose="020B0604030504040204" pitchFamily="34" charset="0"/>
              </a:rPr>
              <a:t>各实体码的组合</a:t>
            </a:r>
          </a:p>
          <a:p>
            <a:pPr lvl="1" eaLnBrk="1" hangingPunct="1">
              <a:lnSpc>
                <a:spcPct val="90000"/>
              </a:lnSpc>
              <a:spcBef>
                <a:spcPct val="20000"/>
              </a:spcBef>
              <a:buClr>
                <a:schemeClr val="hlink"/>
              </a:buClr>
              <a:buFontTx/>
              <a:buChar char="–"/>
            </a:pPr>
            <a:endParaRPr kumimoji="1" lang="en-US" altLang="zh-CN" sz="2400" b="1" i="0" dirty="0">
              <a:solidFill>
                <a:srgbClr val="000066"/>
              </a:solidFill>
              <a:latin typeface="Tahoma" panose="020B0604030504040204" pitchFamily="34" charset="0"/>
            </a:endParaRPr>
          </a:p>
        </p:txBody>
      </p:sp>
      <p:sp>
        <p:nvSpPr>
          <p:cNvPr id="8" name="Rectangle 5"/>
          <p:cNvSpPr>
            <a:spLocks noChangeArrowheads="1"/>
          </p:cNvSpPr>
          <p:nvPr/>
        </p:nvSpPr>
        <p:spPr bwMode="auto">
          <a:xfrm>
            <a:off x="457200" y="2734666"/>
            <a:ext cx="10982469"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124000"/>
              </a:lnSpc>
              <a:spcBef>
                <a:spcPct val="20000"/>
              </a:spcBef>
              <a:buClr>
                <a:schemeClr val="accent1"/>
              </a:buClr>
            </a:pPr>
            <a:endParaRPr kumimoji="1" lang="en-US" altLang="zh-CN" sz="2400" b="1" i="0" dirty="0">
              <a:solidFill>
                <a:schemeClr val="accent2"/>
              </a:solidFill>
              <a:latin typeface="Tahoma" panose="020B0604030504040204" pitchFamily="34" charset="0"/>
            </a:endParaRPr>
          </a:p>
          <a:p>
            <a:pPr marL="0" indent="0" eaLnBrk="1" hangingPunct="1">
              <a:lnSpc>
                <a:spcPct val="124000"/>
              </a:lnSpc>
              <a:spcBef>
                <a:spcPct val="20000"/>
              </a:spcBef>
              <a:buClr>
                <a:srgbClr val="FFFF66"/>
              </a:buClr>
            </a:pPr>
            <a:r>
              <a:rPr kumimoji="1" lang="en-US" altLang="zh-CN" sz="2400" b="1" i="0" dirty="0">
                <a:solidFill>
                  <a:srgbClr val="FF0000"/>
                </a:solidFill>
                <a:latin typeface="Tahoma" panose="020B0604030504040204" pitchFamily="34" charset="0"/>
              </a:rPr>
              <a:t>【</a:t>
            </a:r>
            <a:r>
              <a:rPr kumimoji="1" lang="zh-CN" altLang="en-US" sz="2400" b="1" i="0" dirty="0">
                <a:solidFill>
                  <a:srgbClr val="FF0000"/>
                </a:solidFill>
                <a:latin typeface="Tahoma" panose="020B0604030504040204" pitchFamily="34" charset="0"/>
              </a:rPr>
              <a:t>例</a:t>
            </a:r>
            <a:r>
              <a:rPr kumimoji="1" lang="en-US" altLang="zh-CN" sz="2400" b="1" i="0" dirty="0">
                <a:solidFill>
                  <a:srgbClr val="FF0000"/>
                </a:solidFill>
                <a:latin typeface="Tahoma" panose="020B0604030504040204" pitchFamily="34" charset="0"/>
              </a:rPr>
              <a:t>】</a:t>
            </a:r>
            <a:r>
              <a:rPr kumimoji="1" lang="zh-CN" altLang="en-US" sz="2400" b="1" i="0" dirty="0">
                <a:solidFill>
                  <a:srgbClr val="000066"/>
                </a:solidFill>
                <a:latin typeface="Tahoma" panose="020B0604030504040204" pitchFamily="34" charset="0"/>
              </a:rPr>
              <a:t>“选修”联系是一个</a:t>
            </a:r>
            <a:r>
              <a:rPr kumimoji="1" lang="en-US" altLang="zh-CN" sz="2400" b="1" i="0" dirty="0" err="1">
                <a:solidFill>
                  <a:srgbClr val="000066"/>
                </a:solidFill>
                <a:latin typeface="Tahoma" panose="020B0604030504040204" pitchFamily="34" charset="0"/>
              </a:rPr>
              <a:t>m:n</a:t>
            </a:r>
            <a:r>
              <a:rPr kumimoji="1" lang="zh-CN" altLang="en-US" sz="2400" b="1" i="0" dirty="0">
                <a:solidFill>
                  <a:srgbClr val="000066"/>
                </a:solidFill>
                <a:latin typeface="Tahoma" panose="020B0604030504040204" pitchFamily="34" charset="0"/>
              </a:rPr>
              <a:t>联系，可以将它转换为如下关系模式，其中学号与课程号为关系的组合码：</a:t>
            </a:r>
          </a:p>
          <a:p>
            <a:pPr marL="0" indent="0" eaLnBrk="1" hangingPunct="1">
              <a:lnSpc>
                <a:spcPct val="124000"/>
              </a:lnSpc>
              <a:spcBef>
                <a:spcPct val="20000"/>
              </a:spcBef>
              <a:buClr>
                <a:srgbClr val="FFFF66"/>
              </a:buClr>
            </a:pPr>
            <a:r>
              <a:rPr kumimoji="1" lang="zh-CN" altLang="en-US" sz="2400" b="1" i="0" dirty="0">
                <a:solidFill>
                  <a:srgbClr val="000066"/>
                </a:solidFill>
                <a:latin typeface="Tahoma" panose="020B0604030504040204" pitchFamily="34" charset="0"/>
              </a:rPr>
              <a:t>　　选修（</a:t>
            </a:r>
            <a:r>
              <a:rPr kumimoji="1" lang="zh-CN" altLang="en-US" sz="2400" b="1" i="0" u="sng" dirty="0">
                <a:solidFill>
                  <a:srgbClr val="000066"/>
                </a:solidFill>
                <a:latin typeface="Tahoma" panose="020B0604030504040204" pitchFamily="34" charset="0"/>
              </a:rPr>
              <a:t>学号，课程号</a:t>
            </a:r>
            <a:r>
              <a:rPr kumimoji="1" lang="zh-CN" altLang="en-US" sz="2400" b="1" i="0" dirty="0">
                <a:solidFill>
                  <a:srgbClr val="000066"/>
                </a:solidFill>
                <a:latin typeface="Tahoma" panose="020B0604030504040204" pitchFamily="34" charset="0"/>
              </a:rPr>
              <a:t>，成绩）</a:t>
            </a:r>
          </a:p>
          <a:p>
            <a:pPr lvl="1" eaLnBrk="1" hangingPunct="1">
              <a:lnSpc>
                <a:spcPct val="124000"/>
              </a:lnSpc>
              <a:spcBef>
                <a:spcPct val="20000"/>
              </a:spcBef>
              <a:buClr>
                <a:schemeClr val="hlink"/>
              </a:buClr>
            </a:pPr>
            <a:endParaRPr kumimoji="1" lang="en-US" altLang="zh-CN" sz="2400" b="1" i="0" dirty="0">
              <a:solidFill>
                <a:schemeClr val="accent2"/>
              </a:solidFill>
              <a:latin typeface="Tahoma" panose="020B0604030504040204" pitchFamily="34" charset="0"/>
            </a:endParaRP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30" name="AutoShape 67"/>
          <p:cNvSpPr>
            <a:spLocks noChangeArrowheads="1"/>
          </p:cNvSpPr>
          <p:nvPr/>
        </p:nvSpPr>
        <p:spPr bwMode="auto">
          <a:xfrm>
            <a:off x="9049905" y="4940537"/>
            <a:ext cx="887412"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选修</a:t>
            </a:r>
            <a:endParaRPr lang="zh-CN" altLang="en-US" sz="1400"/>
          </a:p>
        </p:txBody>
      </p:sp>
      <p:grpSp>
        <p:nvGrpSpPr>
          <p:cNvPr id="3" name="组合 2"/>
          <p:cNvGrpSpPr/>
          <p:nvPr/>
        </p:nvGrpSpPr>
        <p:grpSpPr>
          <a:xfrm>
            <a:off x="6894079" y="4258666"/>
            <a:ext cx="4990737" cy="1738370"/>
            <a:chOff x="6894079" y="4258666"/>
            <a:chExt cx="4990737" cy="1738370"/>
          </a:xfrm>
        </p:grpSpPr>
        <p:sp>
          <p:nvSpPr>
            <p:cNvPr id="15" name="AutoShape 5"/>
            <p:cNvSpPr>
              <a:spLocks noChangeArrowheads="1"/>
            </p:cNvSpPr>
            <p:nvPr/>
          </p:nvSpPr>
          <p:spPr bwMode="auto">
            <a:xfrm>
              <a:off x="10553267" y="5051528"/>
              <a:ext cx="700087" cy="2873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学生</a:t>
              </a:r>
              <a:endParaRPr lang="zh-CN" altLang="en-US" sz="1400" dirty="0"/>
            </a:p>
          </p:txBody>
        </p:sp>
        <p:sp>
          <p:nvSpPr>
            <p:cNvPr id="16" name="AutoShape 13"/>
            <p:cNvSpPr>
              <a:spLocks noChangeArrowheads="1"/>
            </p:cNvSpPr>
            <p:nvPr/>
          </p:nvSpPr>
          <p:spPr bwMode="auto">
            <a:xfrm>
              <a:off x="10147482" y="4313944"/>
              <a:ext cx="757238" cy="37862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dirty="0">
                  <a:latin typeface="Times New Roman" panose="02020603050405020304" pitchFamily="18" charset="0"/>
                </a:rPr>
                <a:t>学号</a:t>
              </a:r>
              <a:endParaRPr lang="zh-CN" altLang="en-US" sz="1400" dirty="0"/>
            </a:p>
          </p:txBody>
        </p:sp>
        <p:sp>
          <p:nvSpPr>
            <p:cNvPr id="17" name="AutoShape 14"/>
            <p:cNvSpPr>
              <a:spLocks noChangeArrowheads="1"/>
            </p:cNvSpPr>
            <p:nvPr/>
          </p:nvSpPr>
          <p:spPr bwMode="auto">
            <a:xfrm>
              <a:off x="11046007" y="4313944"/>
              <a:ext cx="757238" cy="3923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姓名</a:t>
              </a:r>
              <a:endParaRPr lang="zh-CN" altLang="en-US" sz="1400"/>
            </a:p>
          </p:txBody>
        </p:sp>
        <p:sp>
          <p:nvSpPr>
            <p:cNvPr id="18" name="AutoShape 15"/>
            <p:cNvSpPr>
              <a:spLocks noChangeArrowheads="1"/>
            </p:cNvSpPr>
            <p:nvPr/>
          </p:nvSpPr>
          <p:spPr bwMode="auto">
            <a:xfrm>
              <a:off x="9937317" y="5616657"/>
              <a:ext cx="757237" cy="380379"/>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性别</a:t>
              </a:r>
              <a:endParaRPr lang="zh-CN" altLang="en-US" sz="1400"/>
            </a:p>
          </p:txBody>
        </p:sp>
        <p:sp>
          <p:nvSpPr>
            <p:cNvPr id="19" name="AutoShape 16"/>
            <p:cNvSpPr>
              <a:spLocks noChangeArrowheads="1"/>
            </p:cNvSpPr>
            <p:nvPr/>
          </p:nvSpPr>
          <p:spPr bwMode="auto">
            <a:xfrm>
              <a:off x="10816792" y="5637295"/>
              <a:ext cx="1068024" cy="3597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出生日期</a:t>
              </a:r>
              <a:endParaRPr lang="zh-CN" altLang="en-US" sz="1400" dirty="0"/>
            </a:p>
          </p:txBody>
        </p:sp>
        <p:sp>
          <p:nvSpPr>
            <p:cNvPr id="20" name="Line 26"/>
            <p:cNvSpPr>
              <a:spLocks noChangeShapeType="1"/>
            </p:cNvSpPr>
            <p:nvPr/>
          </p:nvSpPr>
          <p:spPr bwMode="auto">
            <a:xfrm flipH="1">
              <a:off x="11046007" y="4686214"/>
              <a:ext cx="325438" cy="368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7"/>
            <p:cNvSpPr>
              <a:spLocks noChangeShapeType="1"/>
            </p:cNvSpPr>
            <p:nvPr/>
          </p:nvSpPr>
          <p:spPr bwMode="auto">
            <a:xfrm>
              <a:off x="10666595" y="4671928"/>
              <a:ext cx="140672" cy="3530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9"/>
            <p:cNvSpPr>
              <a:spLocks noChangeShapeType="1"/>
            </p:cNvSpPr>
            <p:nvPr/>
          </p:nvSpPr>
          <p:spPr bwMode="auto">
            <a:xfrm>
              <a:off x="11027929" y="5367202"/>
              <a:ext cx="173038" cy="2700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0"/>
            <p:cNvSpPr>
              <a:spLocks noChangeShapeType="1"/>
            </p:cNvSpPr>
            <p:nvPr/>
          </p:nvSpPr>
          <p:spPr bwMode="auto">
            <a:xfrm flipH="1">
              <a:off x="10442141" y="5352914"/>
              <a:ext cx="412749" cy="284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AutoShape 32"/>
            <p:cNvSpPr>
              <a:spLocks noChangeArrowheads="1"/>
            </p:cNvSpPr>
            <p:nvPr/>
          </p:nvSpPr>
          <p:spPr bwMode="auto">
            <a:xfrm>
              <a:off x="7791017" y="5068449"/>
              <a:ext cx="588962"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课程</a:t>
              </a:r>
              <a:endParaRPr lang="zh-CN" altLang="en-US" sz="1400" dirty="0"/>
            </a:p>
          </p:txBody>
        </p:sp>
        <p:sp>
          <p:nvSpPr>
            <p:cNvPr id="26" name="AutoShape 34"/>
            <p:cNvSpPr>
              <a:spLocks noChangeArrowheads="1"/>
            </p:cNvSpPr>
            <p:nvPr/>
          </p:nvSpPr>
          <p:spPr bwMode="auto">
            <a:xfrm>
              <a:off x="6894079" y="4817216"/>
              <a:ext cx="881063" cy="34330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课程名</a:t>
              </a:r>
              <a:endParaRPr lang="zh-CN" altLang="en-US" sz="1400" dirty="0"/>
            </a:p>
          </p:txBody>
        </p:sp>
        <p:sp>
          <p:nvSpPr>
            <p:cNvPr id="27" name="AutoShape 37"/>
            <p:cNvSpPr>
              <a:spLocks noChangeArrowheads="1"/>
            </p:cNvSpPr>
            <p:nvPr/>
          </p:nvSpPr>
          <p:spPr bwMode="auto">
            <a:xfrm>
              <a:off x="7649729" y="4503254"/>
              <a:ext cx="874713" cy="29023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课程号</a:t>
              </a:r>
              <a:endParaRPr lang="zh-CN" altLang="en-US" sz="1400" dirty="0"/>
            </a:p>
          </p:txBody>
        </p:sp>
        <p:sp>
          <p:nvSpPr>
            <p:cNvPr id="28" name="Line 43"/>
            <p:cNvSpPr>
              <a:spLocks noChangeShapeType="1"/>
            </p:cNvSpPr>
            <p:nvPr/>
          </p:nvSpPr>
          <p:spPr bwMode="auto">
            <a:xfrm>
              <a:off x="7649729" y="5122424"/>
              <a:ext cx="142875"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29" name="Line 50"/>
            <p:cNvSpPr>
              <a:spLocks noChangeShapeType="1"/>
            </p:cNvSpPr>
            <p:nvPr/>
          </p:nvSpPr>
          <p:spPr bwMode="auto">
            <a:xfrm flipH="1">
              <a:off x="8087085" y="4790879"/>
              <a:ext cx="3968" cy="2672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AutoShape 68"/>
            <p:cNvSpPr>
              <a:spLocks noChangeArrowheads="1"/>
            </p:cNvSpPr>
            <p:nvPr/>
          </p:nvSpPr>
          <p:spPr bwMode="auto">
            <a:xfrm>
              <a:off x="9049905" y="4258666"/>
              <a:ext cx="742950"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成绩</a:t>
              </a:r>
              <a:endParaRPr lang="zh-CN" altLang="en-US" sz="1400"/>
            </a:p>
          </p:txBody>
        </p:sp>
        <p:sp>
          <p:nvSpPr>
            <p:cNvPr id="32" name="Line 71"/>
            <p:cNvSpPr>
              <a:spLocks noChangeShapeType="1"/>
            </p:cNvSpPr>
            <p:nvPr/>
          </p:nvSpPr>
          <p:spPr bwMode="auto">
            <a:xfrm>
              <a:off x="8390592" y="5218443"/>
              <a:ext cx="6515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71"/>
            <p:cNvSpPr>
              <a:spLocks noChangeShapeType="1"/>
            </p:cNvSpPr>
            <p:nvPr/>
          </p:nvSpPr>
          <p:spPr bwMode="auto">
            <a:xfrm flipV="1">
              <a:off x="9942866" y="5203695"/>
              <a:ext cx="601841" cy="54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50"/>
            <p:cNvSpPr>
              <a:spLocks noChangeShapeType="1"/>
            </p:cNvSpPr>
            <p:nvPr/>
          </p:nvSpPr>
          <p:spPr bwMode="auto">
            <a:xfrm>
              <a:off x="9476467" y="4663395"/>
              <a:ext cx="0" cy="277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TextBox 1"/>
            <p:cNvSpPr txBox="1"/>
            <p:nvPr/>
          </p:nvSpPr>
          <p:spPr>
            <a:xfrm>
              <a:off x="8524442" y="4825864"/>
              <a:ext cx="1915909" cy="369332"/>
            </a:xfrm>
            <a:prstGeom prst="rect">
              <a:avLst/>
            </a:prstGeom>
            <a:noFill/>
          </p:spPr>
          <p:txBody>
            <a:bodyPr wrap="none" rtlCol="0">
              <a:spAutoFit/>
            </a:bodyPr>
            <a:lstStyle/>
            <a:p>
              <a:r>
                <a:rPr lang="en-US" altLang="zh-CN" dirty="0"/>
                <a:t>m                      n</a:t>
              </a:r>
              <a:endParaRPr lang="zh-CN" altLang="en-US" dirty="0"/>
            </a:p>
          </p:txBody>
        </p:sp>
      </p:grpSp>
      <p:sp>
        <p:nvSpPr>
          <p:cNvPr id="35"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36" name="直接连接符 35"/>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9282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457199" y="838200"/>
            <a:ext cx="1056755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105000"/>
              </a:lnSpc>
              <a:spcBef>
                <a:spcPct val="20000"/>
              </a:spcBef>
              <a:buClr>
                <a:schemeClr val="accent1"/>
              </a:buClr>
            </a:pPr>
            <a:endParaRPr kumimoji="1" lang="en-US" altLang="zh-CN" sz="2400" b="1" i="0" dirty="0">
              <a:solidFill>
                <a:srgbClr val="000066"/>
              </a:solidFill>
              <a:latin typeface="Tahoma" panose="020B0604030504040204" pitchFamily="34" charset="0"/>
            </a:endParaRPr>
          </a:p>
          <a:p>
            <a:pPr eaLnBrk="1" hangingPunct="1">
              <a:lnSpc>
                <a:spcPct val="105000"/>
              </a:lnSpc>
              <a:spcBef>
                <a:spcPct val="20000"/>
              </a:spcBef>
              <a:buClr>
                <a:schemeClr val="accent1"/>
              </a:buClr>
            </a:pPr>
            <a:r>
              <a:rPr kumimoji="1" lang="en-US" altLang="zh-CN" sz="2400" b="1" i="0" dirty="0">
                <a:solidFill>
                  <a:srgbClr val="000066"/>
                </a:solidFill>
                <a:latin typeface="Tahoma" panose="020B0604030504040204" pitchFamily="34" charset="0"/>
              </a:rPr>
              <a:t>5. </a:t>
            </a:r>
            <a:r>
              <a:rPr kumimoji="1" lang="zh-CN" altLang="en-US" sz="2400" b="1" i="0" dirty="0">
                <a:solidFill>
                  <a:srgbClr val="000066"/>
                </a:solidFill>
                <a:latin typeface="Tahoma" panose="020B0604030504040204" pitchFamily="34" charset="0"/>
              </a:rPr>
              <a:t>三个或三个以上实体间的一个多元联系可转换为一个关系模式：</a:t>
            </a:r>
          </a:p>
        </p:txBody>
      </p:sp>
      <p:sp>
        <p:nvSpPr>
          <p:cNvPr id="7" name="Rectangle 4"/>
          <p:cNvSpPr>
            <a:spLocks noChangeArrowheads="1"/>
          </p:cNvSpPr>
          <p:nvPr/>
        </p:nvSpPr>
        <p:spPr bwMode="auto">
          <a:xfrm>
            <a:off x="304799" y="2057400"/>
            <a:ext cx="1141614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05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关系的属性</a:t>
            </a:r>
            <a:r>
              <a:rPr kumimoji="1" lang="zh-CN" altLang="en-US" sz="2400" b="1" i="0" dirty="0">
                <a:solidFill>
                  <a:srgbClr val="000066"/>
                </a:solidFill>
                <a:latin typeface="Tahoma" panose="020B0604030504040204" pitchFamily="34" charset="0"/>
              </a:rPr>
              <a:t>：与该多元联系相连的各实体的码以及联系本身的属性</a:t>
            </a:r>
          </a:p>
          <a:p>
            <a:pPr lvl="1" eaLnBrk="1" hangingPunct="1">
              <a:lnSpc>
                <a:spcPct val="105000"/>
              </a:lnSpc>
              <a:spcBef>
                <a:spcPct val="20000"/>
              </a:spcBef>
              <a:buClr>
                <a:schemeClr val="hlink"/>
              </a:buClr>
              <a:buFontTx/>
              <a:buChar char="–"/>
            </a:pPr>
            <a:r>
              <a:rPr kumimoji="1" lang="zh-CN" altLang="en-US" sz="2400" b="1" i="0" dirty="0">
                <a:solidFill>
                  <a:srgbClr val="CC3300"/>
                </a:solidFill>
                <a:latin typeface="Tahoma" panose="020B0604030504040204" pitchFamily="34" charset="0"/>
              </a:rPr>
              <a:t>关系的码</a:t>
            </a:r>
            <a:r>
              <a:rPr kumimoji="1" lang="zh-CN" altLang="en-US" sz="2400" b="1" i="0" dirty="0">
                <a:solidFill>
                  <a:srgbClr val="000066"/>
                </a:solidFill>
                <a:latin typeface="Tahoma" panose="020B0604030504040204" pitchFamily="34" charset="0"/>
              </a:rPr>
              <a:t>：各实体码的组合</a:t>
            </a:r>
          </a:p>
          <a:p>
            <a:pPr lvl="1" eaLnBrk="1" hangingPunct="1">
              <a:lnSpc>
                <a:spcPct val="105000"/>
              </a:lnSpc>
              <a:spcBef>
                <a:spcPct val="20000"/>
              </a:spcBef>
              <a:buClr>
                <a:schemeClr val="hlink"/>
              </a:buClr>
              <a:buFontTx/>
              <a:buChar char="–"/>
            </a:pPr>
            <a:endParaRPr kumimoji="1" lang="en-US" altLang="zh-CN" sz="2400" b="1" i="0" dirty="0">
              <a:solidFill>
                <a:srgbClr val="000066"/>
              </a:solidFill>
              <a:latin typeface="Tahoma" panose="020B0604030504040204" pitchFamily="34" charset="0"/>
            </a:endParaRPr>
          </a:p>
        </p:txBody>
      </p:sp>
      <p:grpSp>
        <p:nvGrpSpPr>
          <p:cNvPr id="8" name="Group 6"/>
          <p:cNvGrpSpPr>
            <a:grpSpLocks/>
          </p:cNvGrpSpPr>
          <p:nvPr/>
        </p:nvGrpSpPr>
        <p:grpSpPr bwMode="auto">
          <a:xfrm>
            <a:off x="1266468" y="3615633"/>
            <a:ext cx="3167062" cy="1844675"/>
            <a:chOff x="3780" y="11268"/>
            <a:chExt cx="3627" cy="1997"/>
          </a:xfrm>
        </p:grpSpPr>
        <p:sp>
          <p:nvSpPr>
            <p:cNvPr id="9" name="AutoShape 7"/>
            <p:cNvSpPr>
              <a:spLocks noChangeArrowheads="1"/>
            </p:cNvSpPr>
            <p:nvPr/>
          </p:nvSpPr>
          <p:spPr bwMode="auto">
            <a:xfrm>
              <a:off x="5040" y="11736"/>
              <a:ext cx="180" cy="330"/>
            </a:xfrm>
            <a:prstGeom prst="flowChartProcess">
              <a:avLst/>
            </a:prstGeom>
            <a:solidFill>
              <a:srgbClr val="FFFFFF"/>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i="0">
                  <a:latin typeface="Times New Roman" panose="02020603050405020304" pitchFamily="18" charset="0"/>
                </a:rPr>
                <a:t>m</a:t>
              </a:r>
              <a:endParaRPr lang="en-US" altLang="zh-CN" sz="1400"/>
            </a:p>
          </p:txBody>
        </p:sp>
        <p:sp>
          <p:nvSpPr>
            <p:cNvPr id="12" name="AutoShape 8"/>
            <p:cNvSpPr>
              <a:spLocks noChangeArrowheads="1"/>
            </p:cNvSpPr>
            <p:nvPr/>
          </p:nvSpPr>
          <p:spPr bwMode="auto">
            <a:xfrm>
              <a:off x="4140" y="12360"/>
              <a:ext cx="360" cy="330"/>
            </a:xfrm>
            <a:prstGeom prst="flowChartProcess">
              <a:avLst/>
            </a:prstGeom>
            <a:solidFill>
              <a:srgbClr val="FFFFFF"/>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i="0">
                  <a:latin typeface="Times New Roman" panose="02020603050405020304" pitchFamily="18" charset="0"/>
                </a:rPr>
                <a:t>n</a:t>
              </a:r>
              <a:endParaRPr lang="en-US" altLang="zh-CN" sz="1400"/>
            </a:p>
          </p:txBody>
        </p:sp>
        <p:sp>
          <p:nvSpPr>
            <p:cNvPr id="13" name="AutoShape 9"/>
            <p:cNvSpPr>
              <a:spLocks noChangeArrowheads="1"/>
            </p:cNvSpPr>
            <p:nvPr/>
          </p:nvSpPr>
          <p:spPr bwMode="auto">
            <a:xfrm>
              <a:off x="5940" y="12516"/>
              <a:ext cx="180" cy="330"/>
            </a:xfrm>
            <a:prstGeom prst="flowChartProcess">
              <a:avLst/>
            </a:prstGeom>
            <a:solidFill>
              <a:srgbClr val="FFFFFF"/>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i="0">
                  <a:latin typeface="Times New Roman" panose="02020603050405020304" pitchFamily="18" charset="0"/>
                </a:rPr>
                <a:t>P</a:t>
              </a:r>
              <a:endParaRPr lang="en-US" altLang="zh-CN" sz="1400"/>
            </a:p>
          </p:txBody>
        </p:sp>
        <p:grpSp>
          <p:nvGrpSpPr>
            <p:cNvPr id="14" name="Group 10"/>
            <p:cNvGrpSpPr>
              <a:grpSpLocks/>
            </p:cNvGrpSpPr>
            <p:nvPr/>
          </p:nvGrpSpPr>
          <p:grpSpPr bwMode="auto">
            <a:xfrm>
              <a:off x="3780" y="11268"/>
              <a:ext cx="3627" cy="1997"/>
              <a:chOff x="3780" y="11268"/>
              <a:chExt cx="3627" cy="1997"/>
            </a:xfrm>
          </p:grpSpPr>
          <p:sp>
            <p:nvSpPr>
              <p:cNvPr id="15" name="AutoShape 11"/>
              <p:cNvSpPr>
                <a:spLocks noChangeArrowheads="1"/>
              </p:cNvSpPr>
              <p:nvPr/>
            </p:nvSpPr>
            <p:spPr bwMode="auto">
              <a:xfrm>
                <a:off x="3780" y="12828"/>
                <a:ext cx="1007" cy="4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项  目</a:t>
                </a:r>
                <a:endParaRPr lang="zh-CN" altLang="en-US" sz="1400"/>
              </a:p>
            </p:txBody>
          </p:sp>
          <p:sp>
            <p:nvSpPr>
              <p:cNvPr id="16" name="AutoShape 12"/>
              <p:cNvSpPr>
                <a:spLocks noChangeArrowheads="1"/>
              </p:cNvSpPr>
              <p:nvPr/>
            </p:nvSpPr>
            <p:spPr bwMode="auto">
              <a:xfrm>
                <a:off x="6300" y="12828"/>
                <a:ext cx="925" cy="4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零  件</a:t>
                </a:r>
                <a:endParaRPr lang="zh-CN" altLang="en-US" sz="1400"/>
              </a:p>
            </p:txBody>
          </p:sp>
          <p:sp>
            <p:nvSpPr>
              <p:cNvPr id="17" name="AutoShape 13"/>
              <p:cNvSpPr>
                <a:spLocks noChangeArrowheads="1"/>
              </p:cNvSpPr>
              <p:nvPr/>
            </p:nvSpPr>
            <p:spPr bwMode="auto">
              <a:xfrm>
                <a:off x="4860" y="12048"/>
                <a:ext cx="1111" cy="582"/>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供应</a:t>
                </a:r>
                <a:endParaRPr lang="zh-CN" altLang="en-US" sz="1400"/>
              </a:p>
            </p:txBody>
          </p:sp>
          <p:sp>
            <p:nvSpPr>
              <p:cNvPr id="18" name="AutoShape 14"/>
              <p:cNvSpPr>
                <a:spLocks noChangeArrowheads="1"/>
              </p:cNvSpPr>
              <p:nvPr/>
            </p:nvSpPr>
            <p:spPr bwMode="auto">
              <a:xfrm>
                <a:off x="4860" y="11268"/>
                <a:ext cx="925" cy="4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供应商</a:t>
                </a:r>
                <a:endParaRPr lang="zh-CN" altLang="en-US" sz="1400"/>
              </a:p>
            </p:txBody>
          </p:sp>
          <p:sp>
            <p:nvSpPr>
              <p:cNvPr id="19" name="Line 15"/>
              <p:cNvSpPr>
                <a:spLocks noChangeShapeType="1"/>
              </p:cNvSpPr>
              <p:nvPr/>
            </p:nvSpPr>
            <p:spPr bwMode="auto">
              <a:xfrm flipH="1">
                <a:off x="4320" y="12360"/>
                <a:ext cx="54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6"/>
              <p:cNvSpPr>
                <a:spLocks noChangeShapeType="1"/>
              </p:cNvSpPr>
              <p:nvPr/>
            </p:nvSpPr>
            <p:spPr bwMode="auto">
              <a:xfrm>
                <a:off x="5940" y="12360"/>
                <a:ext cx="90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AutoShape 17"/>
              <p:cNvSpPr>
                <a:spLocks noChangeArrowheads="1"/>
              </p:cNvSpPr>
              <p:nvPr/>
            </p:nvSpPr>
            <p:spPr bwMode="auto">
              <a:xfrm>
                <a:off x="6480" y="11892"/>
                <a:ext cx="927" cy="4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数量</a:t>
                </a:r>
                <a:endParaRPr lang="zh-CN" altLang="en-US" sz="1400"/>
              </a:p>
            </p:txBody>
          </p:sp>
          <p:sp>
            <p:nvSpPr>
              <p:cNvPr id="22" name="Line 18"/>
              <p:cNvSpPr>
                <a:spLocks noChangeShapeType="1"/>
              </p:cNvSpPr>
              <p:nvPr/>
            </p:nvSpPr>
            <p:spPr bwMode="auto">
              <a:xfrm>
                <a:off x="5411" y="11756"/>
                <a:ext cx="0" cy="29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19"/>
              <p:cNvSpPr>
                <a:spLocks noChangeShapeType="1"/>
              </p:cNvSpPr>
              <p:nvPr/>
            </p:nvSpPr>
            <p:spPr bwMode="auto">
              <a:xfrm flipH="1">
                <a:off x="5940" y="12204"/>
                <a:ext cx="540"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5" name="Rectangle 20"/>
          <p:cNvSpPr>
            <a:spLocks noChangeArrowheads="1"/>
          </p:cNvSpPr>
          <p:nvPr/>
        </p:nvSpPr>
        <p:spPr bwMode="auto">
          <a:xfrm>
            <a:off x="5075224" y="4192036"/>
            <a:ext cx="6062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zh-CN" altLang="en-US" sz="2400" b="1" i="0" dirty="0"/>
              <a:t>供应（</a:t>
            </a:r>
            <a:r>
              <a:rPr lang="zh-CN" altLang="en-US" sz="2400" b="1" i="0" u="sng" dirty="0"/>
              <a:t>供应商号，项目号，零件号</a:t>
            </a:r>
            <a:r>
              <a:rPr lang="zh-CN" altLang="en-US" sz="2400" b="1" i="0" dirty="0"/>
              <a:t>，数量）</a:t>
            </a:r>
          </a:p>
        </p:txBody>
      </p:sp>
      <p:sp>
        <p:nvSpPr>
          <p:cNvPr id="26" name="矩形 25"/>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27"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24"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28" name="直接连接符 27"/>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4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457200" y="838200"/>
            <a:ext cx="8686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4" eaLnBrk="1" hangingPunct="1">
              <a:lnSpc>
                <a:spcPct val="105000"/>
              </a:lnSpc>
              <a:spcBef>
                <a:spcPct val="20000"/>
              </a:spcBef>
              <a:buClr>
                <a:schemeClr val="accent1"/>
              </a:buClr>
            </a:pPr>
            <a:endParaRPr kumimoji="1" lang="en-US" altLang="zh-CN" sz="2400" b="1" i="0" dirty="0">
              <a:solidFill>
                <a:srgbClr val="000066"/>
              </a:solidFill>
              <a:latin typeface="Tahoma" panose="020B0604030504040204" pitchFamily="34" charset="0"/>
            </a:endParaRPr>
          </a:p>
          <a:p>
            <a:pPr eaLnBrk="1" hangingPunct="1">
              <a:lnSpc>
                <a:spcPct val="105000"/>
              </a:lnSpc>
              <a:spcBef>
                <a:spcPct val="20000"/>
              </a:spcBef>
              <a:buClr>
                <a:schemeClr val="accent1"/>
              </a:buClr>
            </a:pPr>
            <a:r>
              <a:rPr kumimoji="1" lang="en-US" altLang="zh-CN" sz="2400" b="1" i="0" dirty="0">
                <a:solidFill>
                  <a:srgbClr val="000066"/>
                </a:solidFill>
                <a:latin typeface="Tahoma" panose="020B0604030504040204" pitchFamily="34" charset="0"/>
              </a:rPr>
              <a:t>6. </a:t>
            </a:r>
            <a:r>
              <a:rPr kumimoji="1" lang="zh-CN" altLang="en-US" sz="2400" b="1" i="0" dirty="0">
                <a:solidFill>
                  <a:srgbClr val="000066"/>
                </a:solidFill>
                <a:latin typeface="Tahoma" panose="020B0604030504040204" pitchFamily="34" charset="0"/>
              </a:rPr>
              <a:t>具有相同码的关系模式可合并 </a:t>
            </a:r>
          </a:p>
        </p:txBody>
      </p:sp>
      <p:sp>
        <p:nvSpPr>
          <p:cNvPr id="7" name="Rectangle 4"/>
          <p:cNvSpPr>
            <a:spLocks noChangeArrowheads="1"/>
          </p:cNvSpPr>
          <p:nvPr/>
        </p:nvSpPr>
        <p:spPr bwMode="auto">
          <a:xfrm>
            <a:off x="228599" y="1905000"/>
            <a:ext cx="11513127"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05000"/>
              </a:lnSpc>
              <a:spcBef>
                <a:spcPct val="20000"/>
              </a:spcBef>
              <a:buClr>
                <a:schemeClr val="hlink"/>
              </a:buClr>
              <a:buFontTx/>
              <a:buChar char="–"/>
            </a:pPr>
            <a:r>
              <a:rPr kumimoji="1" lang="zh-CN" altLang="en-US" sz="2400" b="1" i="0" dirty="0">
                <a:solidFill>
                  <a:srgbClr val="000066"/>
                </a:solidFill>
                <a:latin typeface="Tahoma" panose="020B0604030504040204" pitchFamily="34" charset="0"/>
              </a:rPr>
              <a:t>目的：减少系统中的关系个数</a:t>
            </a:r>
          </a:p>
          <a:p>
            <a:pPr lvl="1" eaLnBrk="1" hangingPunct="1">
              <a:lnSpc>
                <a:spcPct val="105000"/>
              </a:lnSpc>
              <a:spcBef>
                <a:spcPct val="20000"/>
              </a:spcBef>
              <a:buClr>
                <a:schemeClr val="hlink"/>
              </a:buClr>
              <a:buFontTx/>
              <a:buChar char="–"/>
            </a:pPr>
            <a:r>
              <a:rPr kumimoji="1" lang="zh-CN" altLang="en-US" sz="2400" b="1" i="0" dirty="0">
                <a:solidFill>
                  <a:srgbClr val="000066"/>
                </a:solidFill>
                <a:latin typeface="Tahoma" panose="020B0604030504040204" pitchFamily="34" charset="0"/>
              </a:rPr>
              <a:t>合并方法：将其中一个关系模式的全部属性加入到另一个关系模式中，然后去掉其中的同义属性（可能同名也可能不同名），并适当调整属性的次序。</a:t>
            </a:r>
          </a:p>
        </p:txBody>
      </p:sp>
      <p:sp>
        <p:nvSpPr>
          <p:cNvPr id="8" name="Rectangle 6"/>
          <p:cNvSpPr>
            <a:spLocks noChangeArrowheads="1"/>
          </p:cNvSpPr>
          <p:nvPr/>
        </p:nvSpPr>
        <p:spPr bwMode="auto">
          <a:xfrm>
            <a:off x="1045734" y="4060096"/>
            <a:ext cx="4176713"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1" i="0" dirty="0">
                <a:solidFill>
                  <a:srgbClr val="FF0000"/>
                </a:solidFill>
                <a:latin typeface="Tahoma" panose="020B0604030504040204" pitchFamily="34" charset="0"/>
              </a:rPr>
              <a:t>【</a:t>
            </a:r>
            <a:r>
              <a:rPr kumimoji="1" lang="zh-CN" altLang="en-US" sz="2400" b="1" i="0" dirty="0">
                <a:solidFill>
                  <a:srgbClr val="FF0000"/>
                </a:solidFill>
                <a:latin typeface="Tahoma" panose="020B0604030504040204" pitchFamily="34" charset="0"/>
              </a:rPr>
              <a:t>例</a:t>
            </a:r>
            <a:r>
              <a:rPr kumimoji="1" lang="en-US" altLang="zh-CN" sz="2400" b="1" i="0" dirty="0">
                <a:solidFill>
                  <a:srgbClr val="FF0000"/>
                </a:solidFill>
                <a:latin typeface="Tahoma" panose="020B0604030504040204" pitchFamily="34" charset="0"/>
              </a:rPr>
              <a:t>】</a:t>
            </a:r>
            <a:r>
              <a:rPr kumimoji="1" lang="zh-CN" altLang="en-US" sz="2400" b="1" i="0" dirty="0"/>
              <a:t>关系模式：</a:t>
            </a:r>
          </a:p>
          <a:p>
            <a:pPr eaLnBrk="1" hangingPunct="1">
              <a:lnSpc>
                <a:spcPct val="150000"/>
              </a:lnSpc>
            </a:pPr>
            <a:r>
              <a:rPr kumimoji="1" lang="zh-CN" altLang="en-US" sz="2400" b="1" i="0" dirty="0"/>
              <a:t>开设（系号，</a:t>
            </a:r>
            <a:r>
              <a:rPr kumimoji="1" lang="zh-CN" altLang="en-US" sz="2400" b="1" i="0" u="sng" dirty="0"/>
              <a:t>专业号</a:t>
            </a:r>
            <a:r>
              <a:rPr kumimoji="1" lang="zh-CN" altLang="en-US" sz="2400" b="1" i="0" dirty="0"/>
              <a:t>）</a:t>
            </a:r>
          </a:p>
          <a:p>
            <a:pPr eaLnBrk="1" hangingPunct="1">
              <a:lnSpc>
                <a:spcPct val="150000"/>
              </a:lnSpc>
            </a:pPr>
            <a:r>
              <a:rPr kumimoji="1" lang="zh-CN" altLang="en-US" sz="2400" b="1" i="0" dirty="0"/>
              <a:t>专业（</a:t>
            </a:r>
            <a:r>
              <a:rPr kumimoji="1" lang="zh-CN" altLang="en-US" sz="2400" b="1" i="0" u="sng" dirty="0"/>
              <a:t>专业号</a:t>
            </a:r>
            <a:r>
              <a:rPr kumimoji="1" lang="zh-CN" altLang="en-US" sz="2400" b="1" i="0" dirty="0"/>
              <a:t>，专业名）</a:t>
            </a:r>
            <a:r>
              <a:rPr kumimoji="1" lang="zh-CN" altLang="en-US" sz="2400" dirty="0"/>
              <a:t> </a:t>
            </a:r>
          </a:p>
        </p:txBody>
      </p:sp>
      <p:sp>
        <p:nvSpPr>
          <p:cNvPr id="9" name="Rectangle 7"/>
          <p:cNvSpPr>
            <a:spLocks noChangeArrowheads="1"/>
          </p:cNvSpPr>
          <p:nvPr/>
        </p:nvSpPr>
        <p:spPr bwMode="auto">
          <a:xfrm>
            <a:off x="5299867" y="4959669"/>
            <a:ext cx="45159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zh-CN" altLang="en-US" sz="2400" b="1" i="0" dirty="0">
                <a:solidFill>
                  <a:srgbClr val="FF3300"/>
                </a:solidFill>
              </a:rPr>
              <a:t>专业（</a:t>
            </a:r>
            <a:r>
              <a:rPr lang="zh-CN" altLang="en-US" sz="2400" b="1" i="0" u="sng" dirty="0">
                <a:solidFill>
                  <a:srgbClr val="FF3300"/>
                </a:solidFill>
              </a:rPr>
              <a:t>专业号</a:t>
            </a:r>
            <a:r>
              <a:rPr lang="zh-CN" altLang="en-US" sz="2400" b="1" i="0" dirty="0">
                <a:solidFill>
                  <a:srgbClr val="FF3300"/>
                </a:solidFill>
              </a:rPr>
              <a:t>，专业名，系号）</a:t>
            </a:r>
          </a:p>
        </p:txBody>
      </p:sp>
      <p:sp>
        <p:nvSpPr>
          <p:cNvPr id="14" name="右大括号 13"/>
          <p:cNvSpPr/>
          <p:nvPr/>
        </p:nvSpPr>
        <p:spPr>
          <a:xfrm>
            <a:off x="4544227" y="4936316"/>
            <a:ext cx="512746" cy="588829"/>
          </a:xfrm>
          <a:prstGeom prst="rightBrace">
            <a:avLst>
              <a:gd name="adj1" fmla="val 8333"/>
              <a:gd name="adj2" fmla="val 48684"/>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矩形 1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3"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15"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16" name="直接连接符 15"/>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344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1"/>
          <p:cNvSpPr>
            <a:spLocks noChangeArrowheads="1"/>
          </p:cNvSpPr>
          <p:nvPr/>
        </p:nvSpPr>
        <p:spPr bwMode="auto">
          <a:xfrm>
            <a:off x="245870" y="4833365"/>
            <a:ext cx="215563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0" dirty="0">
                <a:solidFill>
                  <a:srgbClr val="FF3300"/>
                </a:solidFill>
              </a:rPr>
              <a:t>7</a:t>
            </a:r>
            <a:r>
              <a:rPr lang="zh-CN" altLang="en-US" sz="2000" b="1" i="0" dirty="0">
                <a:solidFill>
                  <a:srgbClr val="FF3300"/>
                </a:solidFill>
              </a:rPr>
              <a:t>个实体</a:t>
            </a:r>
          </a:p>
          <a:p>
            <a:pPr eaLnBrk="1" hangingPunct="1"/>
            <a:r>
              <a:rPr lang="en-US" altLang="zh-CN" sz="2000" b="1" i="0" dirty="0">
                <a:solidFill>
                  <a:srgbClr val="FF3300"/>
                </a:solidFill>
              </a:rPr>
              <a:t>7</a:t>
            </a:r>
            <a:r>
              <a:rPr lang="zh-CN" altLang="en-US" sz="2000" b="1" i="0" dirty="0">
                <a:solidFill>
                  <a:srgbClr val="FF3300"/>
                </a:solidFill>
              </a:rPr>
              <a:t>个联系：</a:t>
            </a:r>
            <a:endParaRPr lang="en-US" altLang="zh-CN" sz="2000" b="1" i="0" dirty="0">
              <a:solidFill>
                <a:srgbClr val="FF3300"/>
              </a:solidFill>
            </a:endParaRPr>
          </a:p>
          <a:p>
            <a:pPr eaLnBrk="1" hangingPunct="1"/>
            <a:r>
              <a:rPr lang="en-US" altLang="zh-CN" sz="2000" b="1" i="0" dirty="0">
                <a:solidFill>
                  <a:srgbClr val="FF3300"/>
                </a:solidFill>
              </a:rPr>
              <a:t>1</a:t>
            </a:r>
            <a:r>
              <a:rPr lang="zh-CN" altLang="en-US" sz="2000" b="1" i="0" dirty="0">
                <a:solidFill>
                  <a:srgbClr val="FF3300"/>
                </a:solidFill>
              </a:rPr>
              <a:t>个</a:t>
            </a:r>
            <a:r>
              <a:rPr lang="en-US" altLang="zh-CN" sz="2000" b="1" i="0" dirty="0">
                <a:solidFill>
                  <a:srgbClr val="FF3300"/>
                </a:solidFill>
              </a:rPr>
              <a:t>1:1</a:t>
            </a:r>
            <a:r>
              <a:rPr lang="zh-CN" altLang="en-US" sz="2000" b="1" i="0" dirty="0">
                <a:solidFill>
                  <a:srgbClr val="FF3300"/>
                </a:solidFill>
              </a:rPr>
              <a:t>联系</a:t>
            </a:r>
            <a:endParaRPr lang="en-US" altLang="zh-CN" sz="2000" b="1" i="0" dirty="0">
              <a:solidFill>
                <a:srgbClr val="FF3300"/>
              </a:solidFill>
            </a:endParaRPr>
          </a:p>
          <a:p>
            <a:pPr eaLnBrk="1" hangingPunct="1"/>
            <a:r>
              <a:rPr lang="en-US" altLang="zh-CN" sz="2000" b="1" i="0" dirty="0">
                <a:solidFill>
                  <a:srgbClr val="FF3300"/>
                </a:solidFill>
              </a:rPr>
              <a:t>4</a:t>
            </a:r>
            <a:r>
              <a:rPr lang="zh-CN" altLang="en-US" sz="2000" b="1" i="0" dirty="0">
                <a:solidFill>
                  <a:srgbClr val="FF3300"/>
                </a:solidFill>
              </a:rPr>
              <a:t>个</a:t>
            </a:r>
            <a:r>
              <a:rPr lang="en-US" altLang="zh-CN" sz="2000" b="1" i="0" dirty="0">
                <a:solidFill>
                  <a:srgbClr val="FF3300"/>
                </a:solidFill>
              </a:rPr>
              <a:t>1:n</a:t>
            </a:r>
            <a:r>
              <a:rPr lang="zh-CN" altLang="en-US" sz="2000" b="1" i="0" dirty="0">
                <a:solidFill>
                  <a:srgbClr val="FF3300"/>
                </a:solidFill>
              </a:rPr>
              <a:t>联系</a:t>
            </a:r>
            <a:endParaRPr lang="en-US" altLang="zh-CN" sz="2000" b="1" i="0" dirty="0">
              <a:solidFill>
                <a:srgbClr val="FF3300"/>
              </a:solidFill>
            </a:endParaRPr>
          </a:p>
          <a:p>
            <a:pPr eaLnBrk="1" hangingPunct="1"/>
            <a:r>
              <a:rPr lang="en-US" altLang="zh-CN" sz="2000" b="1" i="0" dirty="0">
                <a:solidFill>
                  <a:srgbClr val="FF3300"/>
                </a:solidFill>
              </a:rPr>
              <a:t>2</a:t>
            </a:r>
            <a:r>
              <a:rPr lang="zh-CN" altLang="en-US" sz="2000" b="1" i="0" dirty="0">
                <a:solidFill>
                  <a:srgbClr val="FF3300"/>
                </a:solidFill>
              </a:rPr>
              <a:t>个</a:t>
            </a:r>
            <a:r>
              <a:rPr lang="en-US" altLang="zh-CN" sz="2000" b="1" i="0" dirty="0">
                <a:solidFill>
                  <a:srgbClr val="FF3300"/>
                </a:solidFill>
              </a:rPr>
              <a:t>m:n</a:t>
            </a:r>
            <a:r>
              <a:rPr lang="zh-CN" altLang="en-US" sz="2000" b="1" i="0" dirty="0">
                <a:solidFill>
                  <a:srgbClr val="FF3300"/>
                </a:solidFill>
              </a:rPr>
              <a:t>联系。</a:t>
            </a:r>
          </a:p>
        </p:txBody>
      </p:sp>
      <p:sp>
        <p:nvSpPr>
          <p:cNvPr id="82" name="Rectangle 66"/>
          <p:cNvSpPr>
            <a:spLocks noChangeArrowheads="1"/>
          </p:cNvSpPr>
          <p:nvPr/>
        </p:nvSpPr>
        <p:spPr bwMode="auto">
          <a:xfrm>
            <a:off x="1441218" y="1251433"/>
            <a:ext cx="6416675"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5715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en-US" altLang="zh-CN" i="0" dirty="0"/>
              <a:t>m                n               </a:t>
            </a:r>
            <a:r>
              <a:rPr lang="en-US" altLang="zh-CN" i="0" dirty="0" err="1"/>
              <a:t>n</a:t>
            </a:r>
            <a:r>
              <a:rPr lang="en-US" altLang="zh-CN" i="0" dirty="0"/>
              <a:t>                  1                 1</a:t>
            </a:r>
          </a:p>
          <a:p>
            <a:pPr eaLnBrk="1" hangingPunct="1"/>
            <a:endParaRPr lang="en-US" altLang="zh-CN" i="0" dirty="0"/>
          </a:p>
          <a:p>
            <a:pPr eaLnBrk="1" hangingPunct="1"/>
            <a:r>
              <a:rPr lang="en-US" altLang="zh-CN" i="0" dirty="0"/>
              <a:t>                                                              1                       1</a:t>
            </a:r>
          </a:p>
          <a:p>
            <a:pPr eaLnBrk="1" hangingPunct="1"/>
            <a:endParaRPr lang="en-US" altLang="zh-CN" i="0" dirty="0"/>
          </a:p>
          <a:p>
            <a:pPr eaLnBrk="1" hangingPunct="1"/>
            <a:r>
              <a:rPr lang="en-US" altLang="zh-CN" i="0" dirty="0"/>
              <a:t>m</a:t>
            </a:r>
          </a:p>
          <a:p>
            <a:pPr eaLnBrk="1" hangingPunct="1"/>
            <a:endParaRPr lang="en-US" altLang="zh-CN" i="0" dirty="0"/>
          </a:p>
          <a:p>
            <a:pPr eaLnBrk="1" hangingPunct="1"/>
            <a:endParaRPr lang="en-US" altLang="zh-CN" i="0" dirty="0"/>
          </a:p>
          <a:p>
            <a:pPr eaLnBrk="1" hangingPunct="1"/>
            <a:r>
              <a:rPr lang="en-US" altLang="zh-CN" i="0" dirty="0"/>
              <a:t>                                                               n</a:t>
            </a:r>
          </a:p>
          <a:p>
            <a:pPr eaLnBrk="1" hangingPunct="1"/>
            <a:endParaRPr lang="en-US" altLang="zh-CN" i="0" dirty="0"/>
          </a:p>
          <a:p>
            <a:pPr eaLnBrk="1" hangingPunct="1"/>
            <a:endParaRPr lang="en-US" altLang="zh-CN" i="0" dirty="0"/>
          </a:p>
          <a:p>
            <a:pPr eaLnBrk="1" hangingPunct="1"/>
            <a:r>
              <a:rPr lang="en-US" altLang="zh-CN" i="0" dirty="0"/>
              <a:t>                                                              1</a:t>
            </a:r>
          </a:p>
          <a:p>
            <a:pPr eaLnBrk="1" hangingPunct="1"/>
            <a:r>
              <a:rPr lang="en-US" altLang="zh-CN" i="0" dirty="0"/>
              <a:t>            n</a:t>
            </a:r>
          </a:p>
          <a:p>
            <a:pPr eaLnBrk="1" hangingPunct="1"/>
            <a:endParaRPr lang="en-US" altLang="zh-CN" i="0" dirty="0"/>
          </a:p>
          <a:p>
            <a:pPr eaLnBrk="1" hangingPunct="1"/>
            <a:endParaRPr lang="en-US" altLang="zh-CN" i="0" dirty="0"/>
          </a:p>
          <a:p>
            <a:pPr eaLnBrk="1" hangingPunct="1"/>
            <a:r>
              <a:rPr lang="en-US" altLang="zh-CN" i="0" dirty="0"/>
              <a:t>                                                             n</a:t>
            </a:r>
          </a:p>
          <a:p>
            <a:pPr eaLnBrk="1" hangingPunct="1"/>
            <a:r>
              <a:rPr lang="en-US" altLang="zh-CN" i="0" dirty="0"/>
              <a:t>                                       n               1</a:t>
            </a:r>
          </a:p>
          <a:p>
            <a:pPr eaLnBrk="1" hangingPunct="1"/>
            <a:endParaRPr lang="en-US" altLang="zh-CN" i="0" dirty="0"/>
          </a:p>
        </p:txBody>
      </p:sp>
      <p:grpSp>
        <p:nvGrpSpPr>
          <p:cNvPr id="83" name="组合 82"/>
          <p:cNvGrpSpPr/>
          <p:nvPr/>
        </p:nvGrpSpPr>
        <p:grpSpPr>
          <a:xfrm>
            <a:off x="62811" y="854807"/>
            <a:ext cx="8694725" cy="5610730"/>
            <a:chOff x="0" y="577805"/>
            <a:chExt cx="8694725" cy="5610730"/>
          </a:xfrm>
        </p:grpSpPr>
        <p:sp>
          <p:nvSpPr>
            <p:cNvPr id="84" name="AutoShape 3"/>
            <p:cNvSpPr>
              <a:spLocks noChangeArrowheads="1"/>
            </p:cNvSpPr>
            <p:nvPr/>
          </p:nvSpPr>
          <p:spPr bwMode="auto">
            <a:xfrm>
              <a:off x="5454650" y="3284539"/>
              <a:ext cx="598488" cy="300280"/>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专业</a:t>
              </a:r>
              <a:endParaRPr lang="zh-CN" altLang="en-US" sz="1400" dirty="0"/>
            </a:p>
          </p:txBody>
        </p:sp>
        <p:sp>
          <p:nvSpPr>
            <p:cNvPr id="85" name="AutoShape 4"/>
            <p:cNvSpPr>
              <a:spLocks noChangeArrowheads="1"/>
            </p:cNvSpPr>
            <p:nvPr/>
          </p:nvSpPr>
          <p:spPr bwMode="auto">
            <a:xfrm>
              <a:off x="5395159" y="5216496"/>
              <a:ext cx="733425" cy="3127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班级</a:t>
              </a:r>
              <a:endParaRPr lang="zh-CN" altLang="en-US" sz="1400" dirty="0"/>
            </a:p>
          </p:txBody>
        </p:sp>
        <p:sp>
          <p:nvSpPr>
            <p:cNvPr id="86" name="AutoShape 5"/>
            <p:cNvSpPr>
              <a:spLocks noChangeArrowheads="1"/>
            </p:cNvSpPr>
            <p:nvPr/>
          </p:nvSpPr>
          <p:spPr bwMode="auto">
            <a:xfrm>
              <a:off x="3132138" y="5243027"/>
              <a:ext cx="700087" cy="2873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学生</a:t>
              </a:r>
              <a:endParaRPr lang="zh-CN" altLang="en-US" sz="1400" dirty="0"/>
            </a:p>
          </p:txBody>
        </p:sp>
        <p:sp>
          <p:nvSpPr>
            <p:cNvPr id="87" name="AutoShape 6"/>
            <p:cNvSpPr>
              <a:spLocks noChangeArrowheads="1"/>
            </p:cNvSpPr>
            <p:nvPr/>
          </p:nvSpPr>
          <p:spPr bwMode="auto">
            <a:xfrm>
              <a:off x="5311775" y="2170627"/>
              <a:ext cx="849313" cy="41751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开设</a:t>
              </a:r>
              <a:endParaRPr lang="zh-CN" altLang="en-US" sz="1400"/>
            </a:p>
          </p:txBody>
        </p:sp>
        <p:sp>
          <p:nvSpPr>
            <p:cNvPr id="88" name="AutoShape 7"/>
            <p:cNvSpPr>
              <a:spLocks noChangeArrowheads="1"/>
            </p:cNvSpPr>
            <p:nvPr/>
          </p:nvSpPr>
          <p:spPr bwMode="auto">
            <a:xfrm>
              <a:off x="4159250" y="3500438"/>
              <a:ext cx="920750" cy="35877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专业名</a:t>
              </a:r>
              <a:endParaRPr lang="zh-CN" altLang="en-US" sz="1400"/>
            </a:p>
          </p:txBody>
        </p:sp>
        <p:sp>
          <p:nvSpPr>
            <p:cNvPr id="89" name="AutoShape 8"/>
            <p:cNvSpPr>
              <a:spLocks noChangeArrowheads="1"/>
            </p:cNvSpPr>
            <p:nvPr/>
          </p:nvSpPr>
          <p:spPr bwMode="auto">
            <a:xfrm>
              <a:off x="5356116" y="4161940"/>
              <a:ext cx="798513" cy="42874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拥有</a:t>
              </a:r>
              <a:endParaRPr lang="zh-CN" altLang="en-US" sz="1400" dirty="0"/>
            </a:p>
          </p:txBody>
        </p:sp>
        <p:sp>
          <p:nvSpPr>
            <p:cNvPr id="90" name="AutoShape 9"/>
            <p:cNvSpPr>
              <a:spLocks noChangeArrowheads="1"/>
            </p:cNvSpPr>
            <p:nvPr/>
          </p:nvSpPr>
          <p:spPr bwMode="auto">
            <a:xfrm>
              <a:off x="4140200" y="5114062"/>
              <a:ext cx="958850" cy="549275"/>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包含</a:t>
              </a:r>
              <a:endParaRPr lang="zh-CN" altLang="en-US" sz="1400"/>
            </a:p>
          </p:txBody>
        </p:sp>
        <p:sp>
          <p:nvSpPr>
            <p:cNvPr id="91" name="AutoShape 10"/>
            <p:cNvSpPr>
              <a:spLocks noChangeArrowheads="1"/>
            </p:cNvSpPr>
            <p:nvPr/>
          </p:nvSpPr>
          <p:spPr bwMode="auto">
            <a:xfrm>
              <a:off x="4129951" y="3032919"/>
              <a:ext cx="920750" cy="3573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专业号</a:t>
              </a:r>
              <a:endParaRPr lang="zh-CN" altLang="en-US" sz="1400" u="sng"/>
            </a:p>
          </p:txBody>
        </p:sp>
        <p:sp>
          <p:nvSpPr>
            <p:cNvPr id="92" name="AutoShape 11"/>
            <p:cNvSpPr>
              <a:spLocks noChangeArrowheads="1"/>
            </p:cNvSpPr>
            <p:nvPr/>
          </p:nvSpPr>
          <p:spPr bwMode="auto">
            <a:xfrm>
              <a:off x="6474659" y="5003880"/>
              <a:ext cx="1042987" cy="43180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dirty="0">
                  <a:latin typeface="Times New Roman" panose="02020603050405020304" pitchFamily="18" charset="0"/>
                </a:rPr>
                <a:t>班号</a:t>
              </a:r>
              <a:endParaRPr lang="zh-CN" altLang="en-US" sz="1400" dirty="0"/>
            </a:p>
          </p:txBody>
        </p:sp>
        <p:sp>
          <p:nvSpPr>
            <p:cNvPr id="93" name="AutoShape 12"/>
            <p:cNvSpPr>
              <a:spLocks noChangeArrowheads="1"/>
            </p:cNvSpPr>
            <p:nvPr/>
          </p:nvSpPr>
          <p:spPr bwMode="auto">
            <a:xfrm>
              <a:off x="6410970" y="5547559"/>
              <a:ext cx="893763" cy="39233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班级名</a:t>
              </a:r>
              <a:endParaRPr lang="zh-CN" altLang="en-US" sz="1400" dirty="0"/>
            </a:p>
          </p:txBody>
        </p:sp>
        <p:sp>
          <p:nvSpPr>
            <p:cNvPr id="94" name="AutoShape 13"/>
            <p:cNvSpPr>
              <a:spLocks noChangeArrowheads="1"/>
            </p:cNvSpPr>
            <p:nvPr/>
          </p:nvSpPr>
          <p:spPr bwMode="auto">
            <a:xfrm>
              <a:off x="2726353" y="4505443"/>
              <a:ext cx="757238" cy="37862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dirty="0">
                  <a:latin typeface="Times New Roman" panose="02020603050405020304" pitchFamily="18" charset="0"/>
                </a:rPr>
                <a:t>学号</a:t>
              </a:r>
              <a:endParaRPr lang="zh-CN" altLang="en-US" sz="1400" dirty="0"/>
            </a:p>
          </p:txBody>
        </p:sp>
        <p:sp>
          <p:nvSpPr>
            <p:cNvPr id="95" name="AutoShape 14"/>
            <p:cNvSpPr>
              <a:spLocks noChangeArrowheads="1"/>
            </p:cNvSpPr>
            <p:nvPr/>
          </p:nvSpPr>
          <p:spPr bwMode="auto">
            <a:xfrm>
              <a:off x="3624878" y="4505443"/>
              <a:ext cx="757238" cy="3923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姓名</a:t>
              </a:r>
              <a:endParaRPr lang="zh-CN" altLang="en-US" sz="1400"/>
            </a:p>
          </p:txBody>
        </p:sp>
        <p:sp>
          <p:nvSpPr>
            <p:cNvPr id="96" name="AutoShape 15"/>
            <p:cNvSpPr>
              <a:spLocks noChangeArrowheads="1"/>
            </p:cNvSpPr>
            <p:nvPr/>
          </p:nvSpPr>
          <p:spPr bwMode="auto">
            <a:xfrm>
              <a:off x="2516188" y="5808156"/>
              <a:ext cx="757237" cy="380379"/>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性别</a:t>
              </a:r>
              <a:endParaRPr lang="zh-CN" altLang="en-US" sz="1400"/>
            </a:p>
          </p:txBody>
        </p:sp>
        <p:sp>
          <p:nvSpPr>
            <p:cNvPr id="97" name="AutoShape 16"/>
            <p:cNvSpPr>
              <a:spLocks noChangeArrowheads="1"/>
            </p:cNvSpPr>
            <p:nvPr/>
          </p:nvSpPr>
          <p:spPr bwMode="auto">
            <a:xfrm>
              <a:off x="3395663" y="5828794"/>
              <a:ext cx="1068024" cy="3597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出生日期</a:t>
              </a:r>
              <a:endParaRPr lang="zh-CN" altLang="en-US" sz="1400" dirty="0"/>
            </a:p>
          </p:txBody>
        </p:sp>
        <p:sp>
          <p:nvSpPr>
            <p:cNvPr id="98" name="Line 17"/>
            <p:cNvSpPr>
              <a:spLocks noChangeShapeType="1"/>
            </p:cNvSpPr>
            <p:nvPr/>
          </p:nvSpPr>
          <p:spPr bwMode="auto">
            <a:xfrm flipH="1">
              <a:off x="5076825" y="3500438"/>
              <a:ext cx="355600" cy="144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18"/>
            <p:cNvSpPr>
              <a:spLocks noChangeShapeType="1"/>
            </p:cNvSpPr>
            <p:nvPr/>
          </p:nvSpPr>
          <p:spPr bwMode="auto">
            <a:xfrm>
              <a:off x="6115884" y="5516563"/>
              <a:ext cx="287337" cy="2159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9"/>
            <p:cNvSpPr>
              <a:spLocks noChangeShapeType="1"/>
            </p:cNvSpPr>
            <p:nvPr/>
          </p:nvSpPr>
          <p:spPr bwMode="auto">
            <a:xfrm flipH="1">
              <a:off x="5750193" y="4590683"/>
              <a:ext cx="11678" cy="625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Line 20"/>
            <p:cNvSpPr>
              <a:spLocks noChangeShapeType="1"/>
            </p:cNvSpPr>
            <p:nvPr/>
          </p:nvSpPr>
          <p:spPr bwMode="auto">
            <a:xfrm>
              <a:off x="5720328" y="1454636"/>
              <a:ext cx="10318" cy="7159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Line 21"/>
            <p:cNvSpPr>
              <a:spLocks noChangeShapeType="1"/>
            </p:cNvSpPr>
            <p:nvPr/>
          </p:nvSpPr>
          <p:spPr bwMode="auto">
            <a:xfrm>
              <a:off x="5736431" y="2588140"/>
              <a:ext cx="7144" cy="6963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22"/>
            <p:cNvSpPr>
              <a:spLocks noChangeShapeType="1"/>
            </p:cNvSpPr>
            <p:nvPr/>
          </p:nvSpPr>
          <p:spPr bwMode="auto">
            <a:xfrm flipV="1">
              <a:off x="5734843" y="3584818"/>
              <a:ext cx="0" cy="57712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23"/>
            <p:cNvSpPr>
              <a:spLocks noChangeShapeType="1"/>
            </p:cNvSpPr>
            <p:nvPr/>
          </p:nvSpPr>
          <p:spPr bwMode="auto">
            <a:xfrm>
              <a:off x="3851275" y="5373688"/>
              <a:ext cx="3190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24"/>
            <p:cNvSpPr>
              <a:spLocks noChangeShapeType="1"/>
            </p:cNvSpPr>
            <p:nvPr/>
          </p:nvSpPr>
          <p:spPr bwMode="auto">
            <a:xfrm flipH="1">
              <a:off x="5076825" y="537368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25"/>
            <p:cNvSpPr>
              <a:spLocks noChangeShapeType="1"/>
            </p:cNvSpPr>
            <p:nvPr/>
          </p:nvSpPr>
          <p:spPr bwMode="auto">
            <a:xfrm>
              <a:off x="6115884" y="5229225"/>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26"/>
            <p:cNvSpPr>
              <a:spLocks noChangeShapeType="1"/>
            </p:cNvSpPr>
            <p:nvPr/>
          </p:nvSpPr>
          <p:spPr bwMode="auto">
            <a:xfrm flipH="1">
              <a:off x="3624878" y="4877713"/>
              <a:ext cx="325438" cy="368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27"/>
            <p:cNvSpPr>
              <a:spLocks noChangeShapeType="1"/>
            </p:cNvSpPr>
            <p:nvPr/>
          </p:nvSpPr>
          <p:spPr bwMode="auto">
            <a:xfrm>
              <a:off x="3245466" y="4863427"/>
              <a:ext cx="140672" cy="3530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28"/>
            <p:cNvSpPr>
              <a:spLocks noChangeShapeType="1"/>
            </p:cNvSpPr>
            <p:nvPr/>
          </p:nvSpPr>
          <p:spPr bwMode="auto">
            <a:xfrm>
              <a:off x="5011739" y="3211588"/>
              <a:ext cx="423862" cy="1321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29"/>
            <p:cNvSpPr>
              <a:spLocks noChangeShapeType="1"/>
            </p:cNvSpPr>
            <p:nvPr/>
          </p:nvSpPr>
          <p:spPr bwMode="auto">
            <a:xfrm>
              <a:off x="3606800" y="5558701"/>
              <a:ext cx="173038" cy="2700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 name="Line 30"/>
            <p:cNvSpPr>
              <a:spLocks noChangeShapeType="1"/>
            </p:cNvSpPr>
            <p:nvPr/>
          </p:nvSpPr>
          <p:spPr bwMode="auto">
            <a:xfrm flipH="1">
              <a:off x="3021012" y="5544413"/>
              <a:ext cx="412749" cy="284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 name="Line 31"/>
            <p:cNvSpPr>
              <a:spLocks noChangeShapeType="1"/>
            </p:cNvSpPr>
            <p:nvPr/>
          </p:nvSpPr>
          <p:spPr bwMode="auto">
            <a:xfrm flipH="1" flipV="1">
              <a:off x="3402605" y="1454636"/>
              <a:ext cx="293687"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13" name="AutoShape 32"/>
            <p:cNvSpPr>
              <a:spLocks noChangeArrowheads="1"/>
            </p:cNvSpPr>
            <p:nvPr/>
          </p:nvSpPr>
          <p:spPr bwMode="auto">
            <a:xfrm>
              <a:off x="896938" y="1143000"/>
              <a:ext cx="588962"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课程</a:t>
              </a:r>
              <a:endParaRPr lang="zh-CN" altLang="en-US" sz="1400" dirty="0"/>
            </a:p>
          </p:txBody>
        </p:sp>
        <p:sp>
          <p:nvSpPr>
            <p:cNvPr id="114" name="AutoShape 33"/>
            <p:cNvSpPr>
              <a:spLocks noChangeArrowheads="1"/>
            </p:cNvSpPr>
            <p:nvPr/>
          </p:nvSpPr>
          <p:spPr bwMode="auto">
            <a:xfrm>
              <a:off x="2959100" y="1128713"/>
              <a:ext cx="588963" cy="324748"/>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教师</a:t>
              </a:r>
              <a:endParaRPr lang="zh-CN" altLang="en-US" sz="1400"/>
            </a:p>
          </p:txBody>
        </p:sp>
        <p:sp>
          <p:nvSpPr>
            <p:cNvPr id="115" name="AutoShape 34"/>
            <p:cNvSpPr>
              <a:spLocks noChangeArrowheads="1"/>
            </p:cNvSpPr>
            <p:nvPr/>
          </p:nvSpPr>
          <p:spPr bwMode="auto">
            <a:xfrm>
              <a:off x="0" y="891767"/>
              <a:ext cx="881063" cy="34330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课程名</a:t>
              </a:r>
              <a:endParaRPr lang="zh-CN" altLang="en-US" sz="1400"/>
            </a:p>
          </p:txBody>
        </p:sp>
        <p:sp>
          <p:nvSpPr>
            <p:cNvPr id="116" name="AutoShape 35"/>
            <p:cNvSpPr>
              <a:spLocks noChangeArrowheads="1"/>
            </p:cNvSpPr>
            <p:nvPr/>
          </p:nvSpPr>
          <p:spPr bwMode="auto">
            <a:xfrm>
              <a:off x="4130675" y="1073150"/>
              <a:ext cx="88106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属于</a:t>
              </a:r>
              <a:endParaRPr lang="zh-CN" altLang="en-US" sz="1400"/>
            </a:p>
          </p:txBody>
        </p:sp>
        <p:sp>
          <p:nvSpPr>
            <p:cNvPr id="117" name="AutoShape 36"/>
            <p:cNvSpPr>
              <a:spLocks noChangeArrowheads="1"/>
            </p:cNvSpPr>
            <p:nvPr/>
          </p:nvSpPr>
          <p:spPr bwMode="auto">
            <a:xfrm>
              <a:off x="1778000" y="109061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讲授</a:t>
              </a:r>
              <a:endParaRPr lang="zh-CN" altLang="en-US" sz="1400"/>
            </a:p>
          </p:txBody>
        </p:sp>
        <p:sp>
          <p:nvSpPr>
            <p:cNvPr id="118" name="AutoShape 37"/>
            <p:cNvSpPr>
              <a:spLocks noChangeArrowheads="1"/>
            </p:cNvSpPr>
            <p:nvPr/>
          </p:nvSpPr>
          <p:spPr bwMode="auto">
            <a:xfrm>
              <a:off x="755650" y="577805"/>
              <a:ext cx="874713" cy="29023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课程号</a:t>
              </a:r>
              <a:endParaRPr lang="zh-CN" altLang="en-US" sz="1400"/>
            </a:p>
          </p:txBody>
        </p:sp>
        <p:sp>
          <p:nvSpPr>
            <p:cNvPr id="119" name="AutoShape 38"/>
            <p:cNvSpPr>
              <a:spLocks noChangeArrowheads="1"/>
            </p:cNvSpPr>
            <p:nvPr/>
          </p:nvSpPr>
          <p:spPr bwMode="auto">
            <a:xfrm>
              <a:off x="5800387" y="577805"/>
              <a:ext cx="676128" cy="342648"/>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系名</a:t>
              </a:r>
              <a:endParaRPr lang="zh-CN" altLang="en-US" sz="1400"/>
            </a:p>
          </p:txBody>
        </p:sp>
        <p:sp>
          <p:nvSpPr>
            <p:cNvPr id="120" name="AutoShape 39"/>
            <p:cNvSpPr>
              <a:spLocks noChangeArrowheads="1"/>
            </p:cNvSpPr>
            <p:nvPr/>
          </p:nvSpPr>
          <p:spPr bwMode="auto">
            <a:xfrm>
              <a:off x="2569271" y="577806"/>
              <a:ext cx="700680" cy="31834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工号</a:t>
              </a:r>
              <a:endParaRPr lang="zh-CN" altLang="en-US" sz="1400" dirty="0"/>
            </a:p>
          </p:txBody>
        </p:sp>
        <p:sp>
          <p:nvSpPr>
            <p:cNvPr id="121" name="AutoShape 40"/>
            <p:cNvSpPr>
              <a:spLocks noChangeArrowheads="1"/>
            </p:cNvSpPr>
            <p:nvPr/>
          </p:nvSpPr>
          <p:spPr bwMode="auto">
            <a:xfrm>
              <a:off x="3321884" y="577807"/>
              <a:ext cx="638787" cy="3139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姓名</a:t>
              </a:r>
              <a:endParaRPr lang="zh-CN" altLang="en-US" sz="1400" dirty="0"/>
            </a:p>
          </p:txBody>
        </p:sp>
        <p:sp>
          <p:nvSpPr>
            <p:cNvPr id="122" name="AutoShape 41"/>
            <p:cNvSpPr>
              <a:spLocks noChangeArrowheads="1"/>
            </p:cNvSpPr>
            <p:nvPr/>
          </p:nvSpPr>
          <p:spPr bwMode="auto">
            <a:xfrm>
              <a:off x="2561230" y="1999149"/>
              <a:ext cx="735012"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123" name="AutoShape 42"/>
            <p:cNvSpPr>
              <a:spLocks noChangeArrowheads="1"/>
            </p:cNvSpPr>
            <p:nvPr/>
          </p:nvSpPr>
          <p:spPr bwMode="auto">
            <a:xfrm>
              <a:off x="3349625" y="1999149"/>
              <a:ext cx="73501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职称</a:t>
              </a:r>
              <a:endParaRPr lang="zh-CN" altLang="en-US" sz="1400"/>
            </a:p>
          </p:txBody>
        </p:sp>
        <p:sp>
          <p:nvSpPr>
            <p:cNvPr id="124" name="Line 43"/>
            <p:cNvSpPr>
              <a:spLocks noChangeShapeType="1"/>
            </p:cNvSpPr>
            <p:nvPr/>
          </p:nvSpPr>
          <p:spPr bwMode="auto">
            <a:xfrm>
              <a:off x="755650" y="1196975"/>
              <a:ext cx="142875"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25" name="Line 44"/>
            <p:cNvSpPr>
              <a:spLocks noChangeShapeType="1"/>
            </p:cNvSpPr>
            <p:nvPr/>
          </p:nvSpPr>
          <p:spPr bwMode="auto">
            <a:xfrm flipH="1">
              <a:off x="2964455" y="1454636"/>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26" name="AutoShape 45"/>
            <p:cNvSpPr>
              <a:spLocks noChangeArrowheads="1"/>
            </p:cNvSpPr>
            <p:nvPr/>
          </p:nvSpPr>
          <p:spPr bwMode="auto">
            <a:xfrm>
              <a:off x="5451475" y="1143000"/>
              <a:ext cx="585788"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系</a:t>
              </a:r>
              <a:endParaRPr lang="zh-CN" altLang="en-US" sz="1400" dirty="0"/>
            </a:p>
          </p:txBody>
        </p:sp>
        <p:sp>
          <p:nvSpPr>
            <p:cNvPr id="127" name="AutoShape 46"/>
            <p:cNvSpPr>
              <a:spLocks noChangeArrowheads="1"/>
            </p:cNvSpPr>
            <p:nvPr/>
          </p:nvSpPr>
          <p:spPr bwMode="auto">
            <a:xfrm>
              <a:off x="5012999" y="601052"/>
              <a:ext cx="724694" cy="322009"/>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系号</a:t>
              </a:r>
              <a:endParaRPr lang="zh-CN" altLang="en-US" sz="1400" dirty="0"/>
            </a:p>
          </p:txBody>
        </p:sp>
        <p:sp>
          <p:nvSpPr>
            <p:cNvPr id="128" name="Line 47"/>
            <p:cNvSpPr>
              <a:spLocks noChangeShapeType="1"/>
            </p:cNvSpPr>
            <p:nvPr/>
          </p:nvSpPr>
          <p:spPr bwMode="auto">
            <a:xfrm flipH="1">
              <a:off x="5000625" y="1358900"/>
              <a:ext cx="431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29" name="Line 48"/>
            <p:cNvSpPr>
              <a:spLocks noChangeShapeType="1"/>
            </p:cNvSpPr>
            <p:nvPr/>
          </p:nvSpPr>
          <p:spPr bwMode="auto">
            <a:xfrm>
              <a:off x="1485900"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49"/>
            <p:cNvSpPr>
              <a:spLocks noChangeShapeType="1"/>
            </p:cNvSpPr>
            <p:nvPr/>
          </p:nvSpPr>
          <p:spPr bwMode="auto">
            <a:xfrm>
              <a:off x="2657475"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Line 50"/>
            <p:cNvSpPr>
              <a:spLocks noChangeShapeType="1"/>
            </p:cNvSpPr>
            <p:nvPr/>
          </p:nvSpPr>
          <p:spPr bwMode="auto">
            <a:xfrm flipH="1">
              <a:off x="1189038" y="868035"/>
              <a:ext cx="3968" cy="2672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 name="Line 51"/>
            <p:cNvSpPr>
              <a:spLocks noChangeShapeType="1"/>
            </p:cNvSpPr>
            <p:nvPr/>
          </p:nvSpPr>
          <p:spPr bwMode="auto">
            <a:xfrm>
              <a:off x="2912269" y="891768"/>
              <a:ext cx="159544" cy="251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 name="Line 52"/>
            <p:cNvSpPr>
              <a:spLocks noChangeShapeType="1"/>
            </p:cNvSpPr>
            <p:nvPr/>
          </p:nvSpPr>
          <p:spPr bwMode="auto">
            <a:xfrm flipH="1">
              <a:off x="3365500" y="891768"/>
              <a:ext cx="241300" cy="2512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Line 53"/>
            <p:cNvSpPr>
              <a:spLocks noChangeShapeType="1"/>
            </p:cNvSpPr>
            <p:nvPr/>
          </p:nvSpPr>
          <p:spPr bwMode="auto">
            <a:xfrm>
              <a:off x="3548063" y="1338263"/>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54"/>
            <p:cNvSpPr>
              <a:spLocks noChangeShapeType="1"/>
            </p:cNvSpPr>
            <p:nvPr/>
          </p:nvSpPr>
          <p:spPr bwMode="auto">
            <a:xfrm>
              <a:off x="5383213" y="920453"/>
              <a:ext cx="290512" cy="2003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55"/>
            <p:cNvSpPr>
              <a:spLocks noChangeShapeType="1"/>
            </p:cNvSpPr>
            <p:nvPr/>
          </p:nvSpPr>
          <p:spPr bwMode="auto">
            <a:xfrm flipH="1">
              <a:off x="5967413" y="938213"/>
              <a:ext cx="142875"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 name="AutoShape 56"/>
            <p:cNvSpPr>
              <a:spLocks noChangeArrowheads="1"/>
            </p:cNvSpPr>
            <p:nvPr/>
          </p:nvSpPr>
          <p:spPr bwMode="auto">
            <a:xfrm>
              <a:off x="6584950" y="107156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负责</a:t>
              </a:r>
              <a:endParaRPr lang="zh-CN" altLang="en-US" sz="1400"/>
            </a:p>
          </p:txBody>
        </p:sp>
        <p:sp>
          <p:nvSpPr>
            <p:cNvPr id="138" name="Line 57"/>
            <p:cNvSpPr>
              <a:spLocks noChangeShapeType="1"/>
            </p:cNvSpPr>
            <p:nvPr/>
          </p:nvSpPr>
          <p:spPr bwMode="auto">
            <a:xfrm>
              <a:off x="6002338" y="1336675"/>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 name="Line 58"/>
            <p:cNvSpPr>
              <a:spLocks noChangeShapeType="1"/>
            </p:cNvSpPr>
            <p:nvPr/>
          </p:nvSpPr>
          <p:spPr bwMode="auto">
            <a:xfrm flipH="1">
              <a:off x="7016748" y="1604963"/>
              <a:ext cx="4365" cy="4032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40" name="Line 59"/>
            <p:cNvSpPr>
              <a:spLocks noChangeShapeType="1"/>
            </p:cNvSpPr>
            <p:nvPr/>
          </p:nvSpPr>
          <p:spPr bwMode="auto">
            <a:xfrm flipH="1" flipV="1">
              <a:off x="7227888" y="2419350"/>
              <a:ext cx="293687"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41" name="AutoShape 60"/>
            <p:cNvSpPr>
              <a:spLocks noChangeArrowheads="1"/>
            </p:cNvSpPr>
            <p:nvPr/>
          </p:nvSpPr>
          <p:spPr bwMode="auto">
            <a:xfrm>
              <a:off x="6800850" y="2008188"/>
              <a:ext cx="720725" cy="398462"/>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负责人</a:t>
              </a:r>
              <a:endParaRPr lang="zh-CN" altLang="en-US" sz="1400"/>
            </a:p>
          </p:txBody>
        </p:sp>
        <p:sp>
          <p:nvSpPr>
            <p:cNvPr id="142" name="AutoShape 61"/>
            <p:cNvSpPr>
              <a:spLocks noChangeArrowheads="1"/>
            </p:cNvSpPr>
            <p:nvPr/>
          </p:nvSpPr>
          <p:spPr bwMode="auto">
            <a:xfrm>
              <a:off x="6386513" y="2963863"/>
              <a:ext cx="735012"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143" name="AutoShape 62"/>
            <p:cNvSpPr>
              <a:spLocks noChangeArrowheads="1"/>
            </p:cNvSpPr>
            <p:nvPr/>
          </p:nvSpPr>
          <p:spPr bwMode="auto">
            <a:xfrm>
              <a:off x="7191375" y="2963863"/>
              <a:ext cx="73501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144" name="Line 63"/>
            <p:cNvSpPr>
              <a:spLocks noChangeShapeType="1"/>
            </p:cNvSpPr>
            <p:nvPr/>
          </p:nvSpPr>
          <p:spPr bwMode="auto">
            <a:xfrm flipH="1">
              <a:off x="6789738" y="2419350"/>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45" name="AutoShape 64"/>
            <p:cNvSpPr>
              <a:spLocks noChangeArrowheads="1"/>
            </p:cNvSpPr>
            <p:nvPr/>
          </p:nvSpPr>
          <p:spPr bwMode="auto">
            <a:xfrm>
              <a:off x="7956550" y="2035632"/>
              <a:ext cx="738175" cy="332229"/>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工号</a:t>
              </a:r>
              <a:endParaRPr lang="zh-CN" altLang="en-US" sz="1400"/>
            </a:p>
          </p:txBody>
        </p:sp>
        <p:sp>
          <p:nvSpPr>
            <p:cNvPr id="146" name="Line 65"/>
            <p:cNvSpPr>
              <a:spLocks noChangeShapeType="1"/>
            </p:cNvSpPr>
            <p:nvPr/>
          </p:nvSpPr>
          <p:spPr bwMode="auto">
            <a:xfrm flipV="1">
              <a:off x="7524750" y="2205038"/>
              <a:ext cx="436563" cy="238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 name="AutoShape 67"/>
            <p:cNvSpPr>
              <a:spLocks noChangeArrowheads="1"/>
            </p:cNvSpPr>
            <p:nvPr/>
          </p:nvSpPr>
          <p:spPr bwMode="auto">
            <a:xfrm>
              <a:off x="1331913" y="2997200"/>
              <a:ext cx="887412"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选修</a:t>
              </a:r>
              <a:endParaRPr lang="zh-CN" altLang="en-US" sz="1400"/>
            </a:p>
          </p:txBody>
        </p:sp>
        <p:sp>
          <p:nvSpPr>
            <p:cNvPr id="149" name="AutoShape 68"/>
            <p:cNvSpPr>
              <a:spLocks noChangeArrowheads="1"/>
            </p:cNvSpPr>
            <p:nvPr/>
          </p:nvSpPr>
          <p:spPr bwMode="auto">
            <a:xfrm>
              <a:off x="323850" y="3068638"/>
              <a:ext cx="742950"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成绩</a:t>
              </a:r>
              <a:endParaRPr lang="zh-CN" altLang="en-US" sz="1400"/>
            </a:p>
          </p:txBody>
        </p:sp>
        <p:sp>
          <p:nvSpPr>
            <p:cNvPr id="150" name="Line 69"/>
            <p:cNvSpPr>
              <a:spLocks noChangeShapeType="1"/>
            </p:cNvSpPr>
            <p:nvPr/>
          </p:nvSpPr>
          <p:spPr bwMode="auto">
            <a:xfrm>
              <a:off x="1203325" y="1453461"/>
              <a:ext cx="560388" cy="15437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51" name="Line 70"/>
            <p:cNvSpPr>
              <a:spLocks noChangeShapeType="1"/>
            </p:cNvSpPr>
            <p:nvPr/>
          </p:nvSpPr>
          <p:spPr bwMode="auto">
            <a:xfrm flipH="1" flipV="1">
              <a:off x="1763713" y="3500438"/>
              <a:ext cx="1368425" cy="19446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 name="Line 71"/>
            <p:cNvSpPr>
              <a:spLocks noChangeShapeType="1"/>
            </p:cNvSpPr>
            <p:nvPr/>
          </p:nvSpPr>
          <p:spPr bwMode="auto">
            <a:xfrm>
              <a:off x="1042988" y="328453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3" name="Rectangle 3"/>
          <p:cNvSpPr txBox="1">
            <a:spLocks noChangeArrowheads="1"/>
          </p:cNvSpPr>
          <p:nvPr/>
        </p:nvSpPr>
        <p:spPr bwMode="auto">
          <a:xfrm>
            <a:off x="8024124" y="744644"/>
            <a:ext cx="4167876" cy="5156872"/>
          </a:xfrm>
          <a:prstGeom prst="rect">
            <a:avLst/>
          </a:prstGeom>
          <a:solidFill>
            <a:schemeClr val="accent5">
              <a:lumMod val="20000"/>
              <a:lumOff val="80000"/>
            </a:schemeClr>
          </a:solidFill>
          <a:ln>
            <a:solidFill>
              <a:schemeClr val="accent2"/>
            </a:solidFill>
          </a:ln>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spcBef>
                <a:spcPts val="0"/>
              </a:spcBef>
              <a:buNone/>
            </a:pPr>
            <a:r>
              <a:rPr lang="zh-CN" altLang="en-US" sz="1800" b="1" dirty="0"/>
              <a:t>按照上述原则，教务管理系统中的实体和联系可以转换为下列关系模型：</a:t>
            </a:r>
          </a:p>
          <a:p>
            <a:pPr eaLnBrk="1" hangingPunct="1">
              <a:lnSpc>
                <a:spcPct val="100000"/>
              </a:lnSpc>
              <a:spcBef>
                <a:spcPts val="0"/>
              </a:spcBef>
              <a:buFontTx/>
              <a:buNone/>
            </a:pPr>
            <a:endParaRPr lang="en-US" altLang="zh-CN" sz="1800" b="1" dirty="0">
              <a:solidFill>
                <a:srgbClr val="CC3300"/>
              </a:solidFill>
            </a:endParaRPr>
          </a:p>
          <a:p>
            <a:pPr eaLnBrk="1" hangingPunct="1">
              <a:lnSpc>
                <a:spcPct val="100000"/>
              </a:lnSpc>
              <a:spcBef>
                <a:spcPts val="0"/>
              </a:spcBef>
              <a:buFontTx/>
              <a:buNone/>
            </a:pPr>
            <a:r>
              <a:rPr lang="zh-CN" altLang="en-US" sz="1600" b="1" dirty="0">
                <a:solidFill>
                  <a:srgbClr val="CC3300"/>
                </a:solidFill>
              </a:rPr>
              <a:t>系</a:t>
            </a:r>
            <a:r>
              <a:rPr lang="zh-CN" altLang="en-US" sz="1600" b="1" dirty="0">
                <a:solidFill>
                  <a:schemeClr val="tx2"/>
                </a:solidFill>
              </a:rPr>
              <a:t>（</a:t>
            </a:r>
            <a:r>
              <a:rPr lang="zh-CN" altLang="en-US" sz="1600" b="1" u="sng" dirty="0">
                <a:solidFill>
                  <a:schemeClr val="tx2"/>
                </a:solidFill>
              </a:rPr>
              <a:t>系号</a:t>
            </a:r>
            <a:r>
              <a:rPr lang="zh-CN" altLang="en-US" sz="1600" b="1" dirty="0">
                <a:solidFill>
                  <a:schemeClr val="tx2"/>
                </a:solidFill>
              </a:rPr>
              <a:t>，系名）</a:t>
            </a:r>
          </a:p>
          <a:p>
            <a:pPr eaLnBrk="1" hangingPunct="1">
              <a:lnSpc>
                <a:spcPct val="100000"/>
              </a:lnSpc>
              <a:spcBef>
                <a:spcPts val="0"/>
              </a:spcBef>
              <a:buFontTx/>
              <a:buNone/>
            </a:pPr>
            <a:r>
              <a:rPr lang="zh-CN" altLang="en-US" sz="1600" b="1" dirty="0">
                <a:solidFill>
                  <a:srgbClr val="CC3300"/>
                </a:solidFill>
              </a:rPr>
              <a:t>专业</a:t>
            </a:r>
            <a:r>
              <a:rPr lang="zh-CN" altLang="en-US" sz="1600" b="1" dirty="0">
                <a:solidFill>
                  <a:schemeClr val="tx2"/>
                </a:solidFill>
              </a:rPr>
              <a:t>（</a:t>
            </a:r>
            <a:r>
              <a:rPr lang="zh-CN" altLang="en-US" sz="1600" b="1" u="sng" dirty="0">
                <a:solidFill>
                  <a:schemeClr val="tx2"/>
                </a:solidFill>
              </a:rPr>
              <a:t>专业号</a:t>
            </a:r>
            <a:r>
              <a:rPr lang="zh-CN" altLang="en-US" sz="1600" b="1" dirty="0">
                <a:solidFill>
                  <a:schemeClr val="tx2"/>
                </a:solidFill>
              </a:rPr>
              <a:t>，专业名，</a:t>
            </a:r>
            <a:r>
              <a:rPr lang="zh-CN" altLang="en-US" sz="1600" b="1" i="1" dirty="0">
                <a:solidFill>
                  <a:srgbClr val="FF0000"/>
                </a:solidFill>
              </a:rPr>
              <a:t>系号</a:t>
            </a:r>
            <a:r>
              <a:rPr lang="zh-CN" altLang="en-US" sz="1600" b="1" dirty="0">
                <a:solidFill>
                  <a:schemeClr val="tx2"/>
                </a:solidFill>
              </a:rPr>
              <a:t>）</a:t>
            </a:r>
          </a:p>
          <a:p>
            <a:pPr eaLnBrk="1" hangingPunct="1">
              <a:lnSpc>
                <a:spcPct val="100000"/>
              </a:lnSpc>
              <a:spcBef>
                <a:spcPts val="0"/>
              </a:spcBef>
              <a:buFontTx/>
              <a:buNone/>
            </a:pPr>
            <a:r>
              <a:rPr lang="zh-CN" altLang="en-US" sz="1600" b="1" dirty="0">
                <a:solidFill>
                  <a:srgbClr val="000066"/>
                </a:solidFill>
              </a:rPr>
              <a:t>　    </a:t>
            </a:r>
            <a:r>
              <a:rPr lang="en-US" altLang="zh-CN" sz="1600" b="1" dirty="0">
                <a:solidFill>
                  <a:srgbClr val="669900"/>
                </a:solidFill>
              </a:rPr>
              <a:t>[</a:t>
            </a:r>
            <a:r>
              <a:rPr lang="zh-CN" altLang="en-US" sz="1600" b="1" dirty="0">
                <a:solidFill>
                  <a:srgbClr val="669900"/>
                </a:solidFill>
              </a:rPr>
              <a:t>系</a:t>
            </a:r>
            <a:r>
              <a:rPr lang="en-US" altLang="zh-CN" sz="1600" b="1" dirty="0">
                <a:solidFill>
                  <a:srgbClr val="669900"/>
                </a:solidFill>
              </a:rPr>
              <a:t>:</a:t>
            </a:r>
            <a:r>
              <a:rPr lang="zh-CN" altLang="en-US" sz="1600" b="1" dirty="0">
                <a:solidFill>
                  <a:srgbClr val="669900"/>
                </a:solidFill>
              </a:rPr>
              <a:t>专业的</a:t>
            </a:r>
            <a:r>
              <a:rPr lang="en-US" altLang="zh-CN" sz="1600" b="1" dirty="0" err="1">
                <a:solidFill>
                  <a:srgbClr val="669900"/>
                </a:solidFill>
              </a:rPr>
              <a:t>1:n</a:t>
            </a:r>
            <a:r>
              <a:rPr lang="en-US" altLang="zh-CN" sz="1600" b="1" dirty="0">
                <a:solidFill>
                  <a:srgbClr val="669900"/>
                </a:solidFill>
              </a:rPr>
              <a:t>(</a:t>
            </a:r>
            <a:r>
              <a:rPr lang="zh-CN" altLang="en-US" sz="1600" b="1" dirty="0">
                <a:solidFill>
                  <a:srgbClr val="669900"/>
                </a:solidFill>
              </a:rPr>
              <a:t>开设</a:t>
            </a:r>
            <a:r>
              <a:rPr lang="en-US" altLang="zh-CN" sz="1600" b="1" dirty="0">
                <a:solidFill>
                  <a:srgbClr val="669900"/>
                </a:solidFill>
              </a:rPr>
              <a:t>)]</a:t>
            </a:r>
            <a:endParaRPr lang="en-US" altLang="zh-CN" sz="1600" b="1" dirty="0">
              <a:solidFill>
                <a:srgbClr val="000066"/>
              </a:solidFill>
            </a:endParaRPr>
          </a:p>
          <a:p>
            <a:pPr eaLnBrk="1" hangingPunct="1">
              <a:lnSpc>
                <a:spcPct val="100000"/>
              </a:lnSpc>
              <a:spcBef>
                <a:spcPts val="0"/>
              </a:spcBef>
              <a:buFontTx/>
              <a:buNone/>
            </a:pPr>
            <a:r>
              <a:rPr lang="zh-CN" altLang="en-US" sz="1600" b="1" dirty="0">
                <a:solidFill>
                  <a:srgbClr val="CC3300"/>
                </a:solidFill>
              </a:rPr>
              <a:t>班级</a:t>
            </a:r>
            <a:r>
              <a:rPr lang="zh-CN" altLang="en-US" sz="1600" b="1" dirty="0">
                <a:solidFill>
                  <a:schemeClr val="tx2"/>
                </a:solidFill>
              </a:rPr>
              <a:t>（</a:t>
            </a:r>
            <a:r>
              <a:rPr lang="zh-CN" altLang="en-US" sz="1600" b="1" u="sng" dirty="0">
                <a:solidFill>
                  <a:schemeClr val="tx2"/>
                </a:solidFill>
              </a:rPr>
              <a:t>班级号</a:t>
            </a:r>
            <a:r>
              <a:rPr lang="zh-CN" altLang="en-US" sz="1600" b="1" dirty="0">
                <a:solidFill>
                  <a:schemeClr val="tx2"/>
                </a:solidFill>
              </a:rPr>
              <a:t>，班级名，</a:t>
            </a:r>
            <a:r>
              <a:rPr lang="zh-CN" altLang="en-US" sz="1600" b="1" i="1" dirty="0">
                <a:solidFill>
                  <a:srgbClr val="FF0000"/>
                </a:solidFill>
              </a:rPr>
              <a:t>专业号</a:t>
            </a:r>
            <a:r>
              <a:rPr lang="zh-CN" altLang="en-US" sz="1600" b="1" dirty="0">
                <a:solidFill>
                  <a:schemeClr val="tx2"/>
                </a:solidFill>
              </a:rPr>
              <a:t>）</a:t>
            </a:r>
          </a:p>
          <a:p>
            <a:pPr eaLnBrk="1" hangingPunct="1">
              <a:lnSpc>
                <a:spcPct val="100000"/>
              </a:lnSpc>
              <a:spcBef>
                <a:spcPts val="0"/>
              </a:spcBef>
              <a:buFontTx/>
              <a:buNone/>
            </a:pPr>
            <a:r>
              <a:rPr lang="zh-CN" altLang="en-US" sz="1600" b="1" dirty="0">
                <a:solidFill>
                  <a:srgbClr val="000066"/>
                </a:solidFill>
              </a:rPr>
              <a:t>　    </a:t>
            </a:r>
            <a:r>
              <a:rPr lang="en-US" altLang="zh-CN" sz="1600" b="1" dirty="0">
                <a:solidFill>
                  <a:srgbClr val="669900"/>
                </a:solidFill>
              </a:rPr>
              <a:t>[</a:t>
            </a:r>
            <a:r>
              <a:rPr lang="zh-CN" altLang="en-US" sz="1600" b="1" dirty="0">
                <a:solidFill>
                  <a:srgbClr val="669900"/>
                </a:solidFill>
              </a:rPr>
              <a:t>专业</a:t>
            </a:r>
            <a:r>
              <a:rPr lang="en-US" altLang="zh-CN" sz="1600" b="1" dirty="0">
                <a:solidFill>
                  <a:srgbClr val="669900"/>
                </a:solidFill>
              </a:rPr>
              <a:t>:</a:t>
            </a:r>
            <a:r>
              <a:rPr lang="zh-CN" altLang="en-US" sz="1600" b="1" dirty="0">
                <a:solidFill>
                  <a:srgbClr val="669900"/>
                </a:solidFill>
              </a:rPr>
              <a:t>班级的</a:t>
            </a:r>
            <a:r>
              <a:rPr lang="en-US" altLang="zh-CN" sz="1600" b="1" dirty="0" err="1">
                <a:solidFill>
                  <a:srgbClr val="669900"/>
                </a:solidFill>
              </a:rPr>
              <a:t>1:n</a:t>
            </a:r>
            <a:r>
              <a:rPr lang="en-US" altLang="zh-CN" sz="1600" b="1" dirty="0">
                <a:solidFill>
                  <a:srgbClr val="669900"/>
                </a:solidFill>
              </a:rPr>
              <a:t>(</a:t>
            </a:r>
            <a:r>
              <a:rPr lang="zh-CN" altLang="en-US" sz="1600" b="1" dirty="0">
                <a:solidFill>
                  <a:srgbClr val="669900"/>
                </a:solidFill>
              </a:rPr>
              <a:t>拥有</a:t>
            </a:r>
            <a:r>
              <a:rPr lang="en-US" altLang="zh-CN" sz="1600" b="1" dirty="0">
                <a:solidFill>
                  <a:srgbClr val="669900"/>
                </a:solidFill>
              </a:rPr>
              <a:t>)]</a:t>
            </a:r>
          </a:p>
          <a:p>
            <a:pPr eaLnBrk="1" hangingPunct="1">
              <a:lnSpc>
                <a:spcPct val="100000"/>
              </a:lnSpc>
              <a:spcBef>
                <a:spcPts val="0"/>
              </a:spcBef>
              <a:buFontTx/>
              <a:buNone/>
            </a:pPr>
            <a:r>
              <a:rPr lang="zh-CN" altLang="en-US" sz="1600" b="1" dirty="0">
                <a:solidFill>
                  <a:srgbClr val="FF3300"/>
                </a:solidFill>
              </a:rPr>
              <a:t>学生</a:t>
            </a:r>
            <a:r>
              <a:rPr lang="zh-CN" altLang="en-US" sz="1600" b="1" dirty="0"/>
              <a:t>（</a:t>
            </a:r>
            <a:r>
              <a:rPr lang="zh-CN" altLang="en-US" sz="1600" b="1" u="sng" dirty="0"/>
              <a:t>学号</a:t>
            </a:r>
            <a:r>
              <a:rPr lang="zh-CN" altLang="en-US" sz="1600" b="1" dirty="0"/>
              <a:t>，姓名，性别，出生日期，</a:t>
            </a:r>
            <a:r>
              <a:rPr lang="zh-CN" altLang="en-US" sz="1600" b="1" i="1" dirty="0">
                <a:solidFill>
                  <a:srgbClr val="FF0000"/>
                </a:solidFill>
              </a:rPr>
              <a:t>班号</a:t>
            </a:r>
            <a:r>
              <a:rPr lang="zh-CN" altLang="en-US" sz="1600" b="1" dirty="0"/>
              <a:t>）</a:t>
            </a:r>
          </a:p>
          <a:p>
            <a:pPr eaLnBrk="1" hangingPunct="1">
              <a:lnSpc>
                <a:spcPct val="100000"/>
              </a:lnSpc>
              <a:spcBef>
                <a:spcPts val="0"/>
              </a:spcBef>
              <a:buFontTx/>
              <a:buNone/>
            </a:pPr>
            <a:r>
              <a:rPr lang="zh-CN" altLang="en-US" sz="1600" b="1" dirty="0">
                <a:solidFill>
                  <a:srgbClr val="000066"/>
                </a:solidFill>
              </a:rPr>
              <a:t>　    </a:t>
            </a:r>
            <a:r>
              <a:rPr lang="en-US" altLang="zh-CN" sz="1600" b="1" dirty="0">
                <a:solidFill>
                  <a:srgbClr val="669900"/>
                </a:solidFill>
              </a:rPr>
              <a:t>[</a:t>
            </a:r>
            <a:r>
              <a:rPr lang="zh-CN" altLang="en-US" sz="1600" b="1" dirty="0">
                <a:solidFill>
                  <a:srgbClr val="669900"/>
                </a:solidFill>
              </a:rPr>
              <a:t>班级</a:t>
            </a:r>
            <a:r>
              <a:rPr lang="en-US" altLang="zh-CN" sz="1600" b="1" dirty="0">
                <a:solidFill>
                  <a:srgbClr val="669900"/>
                </a:solidFill>
              </a:rPr>
              <a:t>:</a:t>
            </a:r>
            <a:r>
              <a:rPr lang="zh-CN" altLang="en-US" sz="1600" b="1" dirty="0">
                <a:solidFill>
                  <a:srgbClr val="669900"/>
                </a:solidFill>
              </a:rPr>
              <a:t>学生的</a:t>
            </a:r>
            <a:r>
              <a:rPr lang="en-US" altLang="zh-CN" sz="1600" b="1" dirty="0" err="1">
                <a:solidFill>
                  <a:srgbClr val="669900"/>
                </a:solidFill>
              </a:rPr>
              <a:t>1:n</a:t>
            </a:r>
            <a:r>
              <a:rPr lang="en-US" altLang="zh-CN" sz="1600" b="1" dirty="0">
                <a:solidFill>
                  <a:srgbClr val="669900"/>
                </a:solidFill>
              </a:rPr>
              <a:t>(</a:t>
            </a:r>
            <a:r>
              <a:rPr lang="zh-CN" altLang="en-US" sz="1600" b="1" dirty="0">
                <a:solidFill>
                  <a:srgbClr val="669900"/>
                </a:solidFill>
              </a:rPr>
              <a:t>包含</a:t>
            </a:r>
            <a:r>
              <a:rPr lang="en-US" altLang="zh-CN" sz="1600" b="1" dirty="0">
                <a:solidFill>
                  <a:srgbClr val="669900"/>
                </a:solidFill>
              </a:rPr>
              <a:t>)]</a:t>
            </a:r>
            <a:endParaRPr lang="en-US" altLang="zh-CN" sz="1600" b="1" dirty="0"/>
          </a:p>
          <a:p>
            <a:pPr eaLnBrk="1" hangingPunct="1">
              <a:lnSpc>
                <a:spcPct val="100000"/>
              </a:lnSpc>
              <a:spcBef>
                <a:spcPts val="0"/>
              </a:spcBef>
              <a:buFontTx/>
              <a:buNone/>
            </a:pPr>
            <a:r>
              <a:rPr lang="zh-CN" altLang="en-US" sz="1600" b="1" dirty="0">
                <a:solidFill>
                  <a:srgbClr val="FF3300"/>
                </a:solidFill>
              </a:rPr>
              <a:t>课程</a:t>
            </a:r>
            <a:r>
              <a:rPr lang="zh-CN" altLang="en-US" sz="1600" b="1" dirty="0"/>
              <a:t>（</a:t>
            </a:r>
            <a:r>
              <a:rPr lang="zh-CN" altLang="en-US" sz="1600" b="1" u="sng" dirty="0"/>
              <a:t>课程号</a:t>
            </a:r>
            <a:r>
              <a:rPr lang="zh-CN" altLang="en-US" sz="1600" b="1" dirty="0"/>
              <a:t>，课程名）</a:t>
            </a:r>
          </a:p>
          <a:p>
            <a:pPr eaLnBrk="1" hangingPunct="1">
              <a:lnSpc>
                <a:spcPct val="100000"/>
              </a:lnSpc>
              <a:spcBef>
                <a:spcPts val="0"/>
              </a:spcBef>
              <a:buFontTx/>
              <a:buNone/>
            </a:pPr>
            <a:r>
              <a:rPr lang="zh-CN" altLang="en-US" sz="1600" b="1" dirty="0"/>
              <a:t> </a:t>
            </a:r>
            <a:r>
              <a:rPr lang="zh-CN" altLang="en-US" sz="1600" b="1" dirty="0">
                <a:solidFill>
                  <a:srgbClr val="FF3300"/>
                </a:solidFill>
              </a:rPr>
              <a:t>教师</a:t>
            </a:r>
            <a:r>
              <a:rPr lang="zh-CN" altLang="en-US" sz="1600" b="1" dirty="0"/>
              <a:t>（工</a:t>
            </a:r>
            <a:r>
              <a:rPr lang="zh-CN" altLang="en-US" sz="1600" b="1" u="sng" dirty="0"/>
              <a:t>号</a:t>
            </a:r>
            <a:r>
              <a:rPr lang="zh-CN" altLang="en-US" sz="1600" b="1" dirty="0"/>
              <a:t>，姓名，性别，职称，</a:t>
            </a:r>
            <a:r>
              <a:rPr lang="zh-CN" altLang="en-US" sz="1600" b="1" i="1" dirty="0">
                <a:solidFill>
                  <a:srgbClr val="FF0000"/>
                </a:solidFill>
              </a:rPr>
              <a:t>系号</a:t>
            </a:r>
            <a:r>
              <a:rPr lang="zh-CN" altLang="en-US" sz="1600" b="1" dirty="0"/>
              <a:t>）</a:t>
            </a:r>
          </a:p>
          <a:p>
            <a:pPr eaLnBrk="1" hangingPunct="1">
              <a:lnSpc>
                <a:spcPct val="100000"/>
              </a:lnSpc>
              <a:spcBef>
                <a:spcPts val="0"/>
              </a:spcBef>
              <a:buFontTx/>
              <a:buNone/>
            </a:pPr>
            <a:r>
              <a:rPr lang="zh-CN" altLang="en-US" sz="1600" b="1" dirty="0">
                <a:solidFill>
                  <a:srgbClr val="000066"/>
                </a:solidFill>
              </a:rPr>
              <a:t>　    </a:t>
            </a:r>
            <a:r>
              <a:rPr lang="en-US" altLang="zh-CN" sz="1600" b="1" dirty="0">
                <a:solidFill>
                  <a:srgbClr val="669900"/>
                </a:solidFill>
              </a:rPr>
              <a:t>[</a:t>
            </a:r>
            <a:r>
              <a:rPr lang="zh-CN" altLang="en-US" sz="1600" b="1" dirty="0">
                <a:solidFill>
                  <a:srgbClr val="669900"/>
                </a:solidFill>
              </a:rPr>
              <a:t>系</a:t>
            </a:r>
            <a:r>
              <a:rPr lang="en-US" altLang="zh-CN" sz="1600" b="1" dirty="0">
                <a:solidFill>
                  <a:srgbClr val="669900"/>
                </a:solidFill>
              </a:rPr>
              <a:t>:</a:t>
            </a:r>
            <a:r>
              <a:rPr lang="zh-CN" altLang="en-US" sz="1600" b="1" dirty="0">
                <a:solidFill>
                  <a:srgbClr val="669900"/>
                </a:solidFill>
              </a:rPr>
              <a:t>教师的</a:t>
            </a:r>
            <a:r>
              <a:rPr lang="en-US" altLang="zh-CN" sz="1600" b="1" dirty="0" err="1">
                <a:solidFill>
                  <a:srgbClr val="669900"/>
                </a:solidFill>
              </a:rPr>
              <a:t>1:n</a:t>
            </a:r>
            <a:r>
              <a:rPr lang="en-US" altLang="zh-CN" sz="1600" b="1" dirty="0">
                <a:solidFill>
                  <a:srgbClr val="669900"/>
                </a:solidFill>
              </a:rPr>
              <a:t>(</a:t>
            </a:r>
            <a:r>
              <a:rPr lang="zh-CN" altLang="en-US" sz="1600" b="1" dirty="0">
                <a:solidFill>
                  <a:srgbClr val="669900"/>
                </a:solidFill>
              </a:rPr>
              <a:t>属于</a:t>
            </a:r>
            <a:r>
              <a:rPr lang="en-US" altLang="zh-CN" sz="1600" b="1" dirty="0">
                <a:solidFill>
                  <a:srgbClr val="669900"/>
                </a:solidFill>
              </a:rPr>
              <a:t>)]</a:t>
            </a:r>
            <a:endParaRPr lang="en-US" altLang="zh-CN" sz="1600" b="1" dirty="0"/>
          </a:p>
          <a:p>
            <a:pPr eaLnBrk="1" hangingPunct="1">
              <a:lnSpc>
                <a:spcPct val="100000"/>
              </a:lnSpc>
              <a:spcBef>
                <a:spcPts val="0"/>
              </a:spcBef>
              <a:buFontTx/>
              <a:buNone/>
            </a:pPr>
            <a:r>
              <a:rPr lang="zh-CN" altLang="en-US" sz="1600" b="1" dirty="0">
                <a:solidFill>
                  <a:srgbClr val="FF3300"/>
                </a:solidFill>
              </a:rPr>
              <a:t>选修</a:t>
            </a:r>
            <a:r>
              <a:rPr lang="zh-CN" altLang="en-US" sz="1600" b="1" dirty="0"/>
              <a:t>（</a:t>
            </a:r>
            <a:r>
              <a:rPr lang="zh-CN" altLang="en-US" sz="1600" b="1" u="sng" dirty="0"/>
              <a:t>学号，课号</a:t>
            </a:r>
            <a:r>
              <a:rPr lang="zh-CN" altLang="en-US" sz="1600" b="1" dirty="0"/>
              <a:t>，成绩）</a:t>
            </a:r>
          </a:p>
          <a:p>
            <a:pPr eaLnBrk="1" hangingPunct="1">
              <a:lnSpc>
                <a:spcPct val="100000"/>
              </a:lnSpc>
              <a:spcBef>
                <a:spcPts val="0"/>
              </a:spcBef>
              <a:buFontTx/>
              <a:buNone/>
            </a:pPr>
            <a:r>
              <a:rPr lang="zh-CN" altLang="en-US" sz="1600" b="1" dirty="0">
                <a:solidFill>
                  <a:srgbClr val="000066"/>
                </a:solidFill>
              </a:rPr>
              <a:t>　    </a:t>
            </a:r>
            <a:r>
              <a:rPr lang="en-US" altLang="zh-CN" sz="1600" b="1" dirty="0">
                <a:solidFill>
                  <a:srgbClr val="669900"/>
                </a:solidFill>
              </a:rPr>
              <a:t>[</a:t>
            </a:r>
            <a:r>
              <a:rPr lang="zh-CN" altLang="en-US" sz="1600" b="1" dirty="0">
                <a:solidFill>
                  <a:srgbClr val="669900"/>
                </a:solidFill>
              </a:rPr>
              <a:t>学生</a:t>
            </a:r>
            <a:r>
              <a:rPr lang="en-US" altLang="zh-CN" sz="1600" b="1" dirty="0">
                <a:solidFill>
                  <a:srgbClr val="669900"/>
                </a:solidFill>
              </a:rPr>
              <a:t>:</a:t>
            </a:r>
            <a:r>
              <a:rPr lang="zh-CN" altLang="en-US" sz="1600" b="1" dirty="0">
                <a:solidFill>
                  <a:srgbClr val="669900"/>
                </a:solidFill>
              </a:rPr>
              <a:t>课程的</a:t>
            </a:r>
            <a:r>
              <a:rPr lang="en-US" altLang="zh-CN" sz="1600" b="1" dirty="0" err="1">
                <a:solidFill>
                  <a:srgbClr val="669900"/>
                </a:solidFill>
              </a:rPr>
              <a:t>m:n</a:t>
            </a:r>
            <a:r>
              <a:rPr lang="en-US" altLang="zh-CN" sz="1600" b="1" dirty="0">
                <a:solidFill>
                  <a:srgbClr val="669900"/>
                </a:solidFill>
              </a:rPr>
              <a:t>(</a:t>
            </a:r>
            <a:r>
              <a:rPr lang="zh-CN" altLang="en-US" sz="1600" b="1" dirty="0">
                <a:solidFill>
                  <a:srgbClr val="669900"/>
                </a:solidFill>
              </a:rPr>
              <a:t>选修</a:t>
            </a:r>
            <a:r>
              <a:rPr lang="en-US" altLang="zh-CN" sz="1600" b="1" dirty="0">
                <a:solidFill>
                  <a:srgbClr val="669900"/>
                </a:solidFill>
              </a:rPr>
              <a:t>)]</a:t>
            </a:r>
            <a:endParaRPr lang="en-US" altLang="zh-CN" sz="1600" b="1" dirty="0"/>
          </a:p>
          <a:p>
            <a:pPr eaLnBrk="1" hangingPunct="1">
              <a:lnSpc>
                <a:spcPct val="100000"/>
              </a:lnSpc>
              <a:spcBef>
                <a:spcPts val="0"/>
              </a:spcBef>
              <a:buFontTx/>
              <a:buNone/>
            </a:pPr>
            <a:r>
              <a:rPr lang="zh-CN" altLang="en-US" sz="1600" b="1" dirty="0">
                <a:solidFill>
                  <a:srgbClr val="FF3300"/>
                </a:solidFill>
              </a:rPr>
              <a:t>讲授</a:t>
            </a:r>
            <a:r>
              <a:rPr lang="zh-CN" altLang="en-US" sz="1600" b="1" dirty="0"/>
              <a:t>（工</a:t>
            </a:r>
            <a:r>
              <a:rPr lang="zh-CN" altLang="en-US" sz="1600" b="1" u="sng" dirty="0"/>
              <a:t>号，课程号</a:t>
            </a:r>
            <a:r>
              <a:rPr lang="zh-CN" altLang="en-US" sz="1600" b="1" dirty="0"/>
              <a:t>）</a:t>
            </a:r>
            <a:endParaRPr lang="zh-CN" altLang="en-US" sz="1600" b="1" dirty="0">
              <a:solidFill>
                <a:srgbClr val="000066"/>
              </a:solidFill>
            </a:endParaRPr>
          </a:p>
          <a:p>
            <a:pPr eaLnBrk="1" hangingPunct="1">
              <a:lnSpc>
                <a:spcPct val="100000"/>
              </a:lnSpc>
              <a:spcBef>
                <a:spcPts val="0"/>
              </a:spcBef>
              <a:buFontTx/>
              <a:buNone/>
            </a:pPr>
            <a:r>
              <a:rPr lang="zh-CN" altLang="en-US" sz="1600" b="1" dirty="0">
                <a:solidFill>
                  <a:srgbClr val="000066"/>
                </a:solidFill>
              </a:rPr>
              <a:t>　　 </a:t>
            </a:r>
            <a:r>
              <a:rPr lang="en-US" altLang="zh-CN" sz="1600" b="1" dirty="0">
                <a:solidFill>
                  <a:srgbClr val="669900"/>
                </a:solidFill>
              </a:rPr>
              <a:t>[</a:t>
            </a:r>
            <a:r>
              <a:rPr lang="zh-CN" altLang="en-US" sz="1600" b="1" dirty="0">
                <a:solidFill>
                  <a:srgbClr val="669900"/>
                </a:solidFill>
              </a:rPr>
              <a:t>教师</a:t>
            </a:r>
            <a:r>
              <a:rPr lang="en-US" altLang="zh-CN" sz="1600" b="1" dirty="0">
                <a:solidFill>
                  <a:srgbClr val="669900"/>
                </a:solidFill>
              </a:rPr>
              <a:t>:</a:t>
            </a:r>
            <a:r>
              <a:rPr lang="zh-CN" altLang="en-US" sz="1600" b="1" dirty="0">
                <a:solidFill>
                  <a:srgbClr val="669900"/>
                </a:solidFill>
              </a:rPr>
              <a:t>课程的</a:t>
            </a:r>
            <a:r>
              <a:rPr lang="en-US" altLang="zh-CN" sz="1600" b="1" dirty="0" err="1">
                <a:solidFill>
                  <a:srgbClr val="669900"/>
                </a:solidFill>
              </a:rPr>
              <a:t>m:n</a:t>
            </a:r>
            <a:r>
              <a:rPr lang="en-US" altLang="zh-CN" sz="1600" b="1" dirty="0">
                <a:solidFill>
                  <a:srgbClr val="669900"/>
                </a:solidFill>
              </a:rPr>
              <a:t>(</a:t>
            </a:r>
            <a:r>
              <a:rPr lang="zh-CN" altLang="en-US" sz="1600" b="1" dirty="0">
                <a:solidFill>
                  <a:srgbClr val="669900"/>
                </a:solidFill>
              </a:rPr>
              <a:t>讲授</a:t>
            </a:r>
            <a:r>
              <a:rPr lang="en-US" altLang="zh-CN" sz="1600" b="1" dirty="0">
                <a:solidFill>
                  <a:srgbClr val="669900"/>
                </a:solidFill>
              </a:rPr>
              <a:t>)]</a:t>
            </a:r>
          </a:p>
          <a:p>
            <a:pPr eaLnBrk="1" hangingPunct="1">
              <a:lnSpc>
                <a:spcPct val="100000"/>
              </a:lnSpc>
              <a:spcBef>
                <a:spcPts val="0"/>
              </a:spcBef>
              <a:buFontTx/>
              <a:buNone/>
            </a:pPr>
            <a:r>
              <a:rPr lang="zh-CN" altLang="en-US" sz="1600" b="1" dirty="0">
                <a:solidFill>
                  <a:srgbClr val="FF3300"/>
                </a:solidFill>
              </a:rPr>
              <a:t>负责人</a:t>
            </a:r>
            <a:r>
              <a:rPr lang="zh-CN" altLang="en-US" sz="1600" b="1" dirty="0"/>
              <a:t>（</a:t>
            </a:r>
            <a:r>
              <a:rPr lang="zh-CN" altLang="en-US" sz="1600" b="1" u="sng" dirty="0"/>
              <a:t>工号</a:t>
            </a:r>
            <a:r>
              <a:rPr lang="zh-CN" altLang="en-US" sz="1600" b="1" dirty="0"/>
              <a:t>，姓名，性别，</a:t>
            </a:r>
            <a:r>
              <a:rPr lang="zh-CN" altLang="en-US" sz="1600" b="1" i="1" dirty="0">
                <a:solidFill>
                  <a:srgbClr val="FF0000"/>
                </a:solidFill>
              </a:rPr>
              <a:t>系号</a:t>
            </a:r>
            <a:r>
              <a:rPr lang="zh-CN" altLang="en-US" sz="1600" b="1" dirty="0"/>
              <a:t>）</a:t>
            </a:r>
          </a:p>
          <a:p>
            <a:pPr eaLnBrk="1" hangingPunct="1">
              <a:lnSpc>
                <a:spcPct val="100000"/>
              </a:lnSpc>
              <a:spcBef>
                <a:spcPts val="0"/>
              </a:spcBef>
              <a:buFontTx/>
              <a:buNone/>
            </a:pPr>
            <a:r>
              <a:rPr lang="zh-CN" altLang="en-US" sz="1600" b="1" dirty="0">
                <a:solidFill>
                  <a:srgbClr val="000066"/>
                </a:solidFill>
              </a:rPr>
              <a:t>　    </a:t>
            </a:r>
            <a:r>
              <a:rPr lang="en-US" altLang="zh-CN" sz="1600" b="1" dirty="0">
                <a:solidFill>
                  <a:srgbClr val="669900"/>
                </a:solidFill>
              </a:rPr>
              <a:t>[</a:t>
            </a:r>
            <a:r>
              <a:rPr lang="zh-CN" altLang="en-US" sz="1600" b="1" dirty="0">
                <a:solidFill>
                  <a:srgbClr val="669900"/>
                </a:solidFill>
              </a:rPr>
              <a:t>系</a:t>
            </a:r>
            <a:r>
              <a:rPr lang="en-US" altLang="zh-CN" sz="1600" b="1" dirty="0">
                <a:solidFill>
                  <a:srgbClr val="669900"/>
                </a:solidFill>
              </a:rPr>
              <a:t>:</a:t>
            </a:r>
            <a:r>
              <a:rPr lang="zh-CN" altLang="en-US" sz="1600" b="1" dirty="0">
                <a:solidFill>
                  <a:srgbClr val="669900"/>
                </a:solidFill>
              </a:rPr>
              <a:t>负责人的</a:t>
            </a:r>
            <a:r>
              <a:rPr lang="en-US" altLang="zh-CN" sz="1600" b="1" dirty="0">
                <a:solidFill>
                  <a:srgbClr val="669900"/>
                </a:solidFill>
              </a:rPr>
              <a:t>1:1(</a:t>
            </a:r>
            <a:r>
              <a:rPr lang="zh-CN" altLang="en-US" sz="1600" b="1" dirty="0">
                <a:solidFill>
                  <a:srgbClr val="669900"/>
                </a:solidFill>
              </a:rPr>
              <a:t>负责</a:t>
            </a:r>
            <a:r>
              <a:rPr lang="en-US" altLang="zh-CN" sz="1600" b="1" dirty="0">
                <a:solidFill>
                  <a:srgbClr val="669900"/>
                </a:solidFill>
              </a:rPr>
              <a:t>)]</a:t>
            </a:r>
            <a:endParaRPr lang="en-US" altLang="zh-CN" sz="1600" b="1" dirty="0">
              <a:solidFill>
                <a:srgbClr val="000066"/>
              </a:solidFill>
            </a:endParaRPr>
          </a:p>
        </p:txBody>
      </p:sp>
      <p:sp>
        <p:nvSpPr>
          <p:cNvPr id="76" name="矩形 75"/>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77"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81"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8.4.1 E-R</a:t>
            </a:r>
            <a:r>
              <a:rPr lang="zh-CN" altLang="en-US" sz="2800" b="1" dirty="0">
                <a:solidFill>
                  <a:schemeClr val="bg1"/>
                </a:solidFill>
                <a:latin typeface="微软雅黑" panose="020B0503020204020204" pitchFamily="34" charset="-122"/>
                <a:ea typeface="微软雅黑" panose="020B0503020204020204" pitchFamily="34" charset="-122"/>
              </a:rPr>
              <a:t>图转化为关系数据模型</a:t>
            </a:r>
          </a:p>
        </p:txBody>
      </p:sp>
      <p:cxnSp>
        <p:nvCxnSpPr>
          <p:cNvPr id="147" name="直接连接符 146"/>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367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blinds(horizontal)">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
                                            <p:txEl>
                                              <p:pRg st="2" end="2"/>
                                            </p:txEl>
                                          </p:spTgt>
                                        </p:tgtEl>
                                        <p:attrNameLst>
                                          <p:attrName>style.visibility</p:attrName>
                                        </p:attrNameLst>
                                      </p:cBhvr>
                                      <p:to>
                                        <p:strVal val="visible"/>
                                      </p:to>
                                    </p:set>
                                    <p:animEffect transition="in" filter="blinds(horizontal)">
                                      <p:cBhvr>
                                        <p:cTn id="12" dur="500"/>
                                        <p:tgtEl>
                                          <p:spTgt spid="15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
                                            <p:txEl>
                                              <p:pRg st="0" end="0"/>
                                            </p:txEl>
                                          </p:spTgt>
                                        </p:tgtEl>
                                        <p:attrNameLst>
                                          <p:attrName>style.visibility</p:attrName>
                                        </p:attrNameLst>
                                      </p:cBhvr>
                                      <p:to>
                                        <p:strVal val="visible"/>
                                      </p:to>
                                    </p:set>
                                    <p:animEffect transition="in" filter="blinds(horizontal)">
                                      <p:cBhvr>
                                        <p:cTn id="17" dur="500"/>
                                        <p:tgtEl>
                                          <p:spTgt spid="15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3">
                                            <p:txEl>
                                              <p:pRg st="3" end="3"/>
                                            </p:txEl>
                                          </p:spTgt>
                                        </p:tgtEl>
                                        <p:attrNameLst>
                                          <p:attrName>style.visibility</p:attrName>
                                        </p:attrNameLst>
                                      </p:cBhvr>
                                      <p:to>
                                        <p:strVal val="visible"/>
                                      </p:to>
                                    </p:set>
                                    <p:animEffect transition="in" filter="blinds(horizontal)">
                                      <p:cBhvr>
                                        <p:cTn id="22" dur="500"/>
                                        <p:tgtEl>
                                          <p:spTgt spid="15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3">
                                            <p:txEl>
                                              <p:pRg st="4" end="4"/>
                                            </p:txEl>
                                          </p:spTgt>
                                        </p:tgtEl>
                                        <p:attrNameLst>
                                          <p:attrName>style.visibility</p:attrName>
                                        </p:attrNameLst>
                                      </p:cBhvr>
                                      <p:to>
                                        <p:strVal val="visible"/>
                                      </p:to>
                                    </p:set>
                                    <p:animEffect transition="in" filter="blinds(horizontal)">
                                      <p:cBhvr>
                                        <p:cTn id="27" dur="500"/>
                                        <p:tgtEl>
                                          <p:spTgt spid="15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3">
                                            <p:txEl>
                                              <p:pRg st="5" end="5"/>
                                            </p:txEl>
                                          </p:spTgt>
                                        </p:tgtEl>
                                        <p:attrNameLst>
                                          <p:attrName>style.visibility</p:attrName>
                                        </p:attrNameLst>
                                      </p:cBhvr>
                                      <p:to>
                                        <p:strVal val="visible"/>
                                      </p:to>
                                    </p:set>
                                    <p:animEffect transition="in" filter="blinds(horizontal)">
                                      <p:cBhvr>
                                        <p:cTn id="32" dur="500"/>
                                        <p:tgtEl>
                                          <p:spTgt spid="15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53">
                                            <p:txEl>
                                              <p:pRg st="6" end="6"/>
                                            </p:txEl>
                                          </p:spTgt>
                                        </p:tgtEl>
                                        <p:attrNameLst>
                                          <p:attrName>style.visibility</p:attrName>
                                        </p:attrNameLst>
                                      </p:cBhvr>
                                      <p:to>
                                        <p:strVal val="visible"/>
                                      </p:to>
                                    </p:set>
                                    <p:animEffect transition="in" filter="blinds(horizontal)">
                                      <p:cBhvr>
                                        <p:cTn id="37" dur="500"/>
                                        <p:tgtEl>
                                          <p:spTgt spid="15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53">
                                            <p:txEl>
                                              <p:pRg st="7" end="7"/>
                                            </p:txEl>
                                          </p:spTgt>
                                        </p:tgtEl>
                                        <p:attrNameLst>
                                          <p:attrName>style.visibility</p:attrName>
                                        </p:attrNameLst>
                                      </p:cBhvr>
                                      <p:to>
                                        <p:strVal val="visible"/>
                                      </p:to>
                                    </p:set>
                                    <p:animEffect transition="in" filter="blinds(horizontal)">
                                      <p:cBhvr>
                                        <p:cTn id="42" dur="500"/>
                                        <p:tgtEl>
                                          <p:spTgt spid="15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53">
                                            <p:txEl>
                                              <p:pRg st="8" end="8"/>
                                            </p:txEl>
                                          </p:spTgt>
                                        </p:tgtEl>
                                        <p:attrNameLst>
                                          <p:attrName>style.visibility</p:attrName>
                                        </p:attrNameLst>
                                      </p:cBhvr>
                                      <p:to>
                                        <p:strVal val="visible"/>
                                      </p:to>
                                    </p:set>
                                    <p:animEffect transition="in" filter="blinds(horizontal)">
                                      <p:cBhvr>
                                        <p:cTn id="47" dur="500"/>
                                        <p:tgtEl>
                                          <p:spTgt spid="15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53">
                                            <p:txEl>
                                              <p:pRg st="9" end="9"/>
                                            </p:txEl>
                                          </p:spTgt>
                                        </p:tgtEl>
                                        <p:attrNameLst>
                                          <p:attrName>style.visibility</p:attrName>
                                        </p:attrNameLst>
                                      </p:cBhvr>
                                      <p:to>
                                        <p:strVal val="visible"/>
                                      </p:to>
                                    </p:set>
                                    <p:animEffect transition="in" filter="blinds(horizontal)">
                                      <p:cBhvr>
                                        <p:cTn id="52" dur="500"/>
                                        <p:tgtEl>
                                          <p:spTgt spid="15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53">
                                            <p:txEl>
                                              <p:pRg st="10" end="10"/>
                                            </p:txEl>
                                          </p:spTgt>
                                        </p:tgtEl>
                                        <p:attrNameLst>
                                          <p:attrName>style.visibility</p:attrName>
                                        </p:attrNameLst>
                                      </p:cBhvr>
                                      <p:to>
                                        <p:strVal val="visible"/>
                                      </p:to>
                                    </p:set>
                                    <p:animEffect transition="in" filter="blinds(horizontal)">
                                      <p:cBhvr>
                                        <p:cTn id="57" dur="500"/>
                                        <p:tgtEl>
                                          <p:spTgt spid="15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53">
                                            <p:txEl>
                                              <p:pRg st="11" end="11"/>
                                            </p:txEl>
                                          </p:spTgt>
                                        </p:tgtEl>
                                        <p:attrNameLst>
                                          <p:attrName>style.visibility</p:attrName>
                                        </p:attrNameLst>
                                      </p:cBhvr>
                                      <p:to>
                                        <p:strVal val="visible"/>
                                      </p:to>
                                    </p:set>
                                    <p:animEffect transition="in" filter="blinds(horizontal)">
                                      <p:cBhvr>
                                        <p:cTn id="62" dur="500"/>
                                        <p:tgtEl>
                                          <p:spTgt spid="15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53">
                                            <p:txEl>
                                              <p:pRg st="12" end="12"/>
                                            </p:txEl>
                                          </p:spTgt>
                                        </p:tgtEl>
                                        <p:attrNameLst>
                                          <p:attrName>style.visibility</p:attrName>
                                        </p:attrNameLst>
                                      </p:cBhvr>
                                      <p:to>
                                        <p:strVal val="visible"/>
                                      </p:to>
                                    </p:set>
                                    <p:animEffect transition="in" filter="blinds(horizontal)">
                                      <p:cBhvr>
                                        <p:cTn id="67" dur="500"/>
                                        <p:tgtEl>
                                          <p:spTgt spid="15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53">
                                            <p:txEl>
                                              <p:pRg st="13" end="13"/>
                                            </p:txEl>
                                          </p:spTgt>
                                        </p:tgtEl>
                                        <p:attrNameLst>
                                          <p:attrName>style.visibility</p:attrName>
                                        </p:attrNameLst>
                                      </p:cBhvr>
                                      <p:to>
                                        <p:strVal val="visible"/>
                                      </p:to>
                                    </p:set>
                                    <p:animEffect transition="in" filter="blinds(horizontal)">
                                      <p:cBhvr>
                                        <p:cTn id="72" dur="500"/>
                                        <p:tgtEl>
                                          <p:spTgt spid="15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53">
                                            <p:txEl>
                                              <p:pRg st="14" end="14"/>
                                            </p:txEl>
                                          </p:spTgt>
                                        </p:tgtEl>
                                        <p:attrNameLst>
                                          <p:attrName>style.visibility</p:attrName>
                                        </p:attrNameLst>
                                      </p:cBhvr>
                                      <p:to>
                                        <p:strVal val="visible"/>
                                      </p:to>
                                    </p:set>
                                    <p:animEffect transition="in" filter="blinds(horizontal)">
                                      <p:cBhvr>
                                        <p:cTn id="77" dur="500"/>
                                        <p:tgtEl>
                                          <p:spTgt spid="15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53">
                                            <p:txEl>
                                              <p:pRg st="15" end="15"/>
                                            </p:txEl>
                                          </p:spTgt>
                                        </p:tgtEl>
                                        <p:attrNameLst>
                                          <p:attrName>style.visibility</p:attrName>
                                        </p:attrNameLst>
                                      </p:cBhvr>
                                      <p:to>
                                        <p:strVal val="visible"/>
                                      </p:to>
                                    </p:set>
                                    <p:animEffect transition="in" filter="blinds(horizontal)">
                                      <p:cBhvr>
                                        <p:cTn id="82" dur="500"/>
                                        <p:tgtEl>
                                          <p:spTgt spid="15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53">
                                            <p:txEl>
                                              <p:pRg st="16" end="16"/>
                                            </p:txEl>
                                          </p:spTgt>
                                        </p:tgtEl>
                                        <p:attrNameLst>
                                          <p:attrName>style.visibility</p:attrName>
                                        </p:attrNameLst>
                                      </p:cBhvr>
                                      <p:to>
                                        <p:strVal val="visible"/>
                                      </p:to>
                                    </p:set>
                                    <p:animEffect transition="in" filter="blinds(horizontal)">
                                      <p:cBhvr>
                                        <p:cTn id="87" dur="500"/>
                                        <p:tgtEl>
                                          <p:spTgt spid="15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153">
                                            <p:txEl>
                                              <p:pRg st="17" end="17"/>
                                            </p:txEl>
                                          </p:spTgt>
                                        </p:tgtEl>
                                        <p:attrNameLst>
                                          <p:attrName>style.visibility</p:attrName>
                                        </p:attrNameLst>
                                      </p:cBhvr>
                                      <p:to>
                                        <p:strVal val="visible"/>
                                      </p:to>
                                    </p:set>
                                    <p:animEffect transition="in" filter="blinds(horizontal)">
                                      <p:cBhvr>
                                        <p:cTn id="92" dur="500"/>
                                        <p:tgtEl>
                                          <p:spTgt spid="15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245870" y="1773238"/>
            <a:ext cx="11509593" cy="4572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eaLnBrk="1" hangingPunct="1">
              <a:lnSpc>
                <a:spcPct val="150000"/>
              </a:lnSpc>
              <a:spcBef>
                <a:spcPct val="20000"/>
              </a:spcBef>
              <a:buClr>
                <a:schemeClr val="hlink"/>
              </a:buClr>
              <a:buFontTx/>
              <a:buChar char="–"/>
            </a:pPr>
            <a:r>
              <a:rPr kumimoji="1" lang="zh-CN" altLang="en-US" b="1" dirty="0">
                <a:solidFill>
                  <a:srgbClr val="000066"/>
                </a:solidFill>
                <a:latin typeface="Tahoma" panose="020B0604030504040204" pitchFamily="34" charset="0"/>
                <a:ea typeface="宋体" panose="02010600030101010101" pitchFamily="2" charset="-122"/>
              </a:rPr>
              <a:t>数据库逻辑设计的结果不是唯一的。</a:t>
            </a:r>
          </a:p>
          <a:p>
            <a:pPr marL="742950" lvl="1" indent="-285750" eaLnBrk="1" hangingPunct="1">
              <a:lnSpc>
                <a:spcPct val="150000"/>
              </a:lnSpc>
              <a:spcBef>
                <a:spcPct val="20000"/>
              </a:spcBef>
              <a:buClr>
                <a:schemeClr val="hlink"/>
              </a:buClr>
              <a:buFontTx/>
              <a:buChar char="–"/>
            </a:pPr>
            <a:r>
              <a:rPr kumimoji="1" lang="zh-CN" altLang="en-US" b="1" dirty="0">
                <a:solidFill>
                  <a:srgbClr val="000066"/>
                </a:solidFill>
                <a:latin typeface="Tahoma" panose="020B0604030504040204" pitchFamily="34" charset="0"/>
                <a:ea typeface="宋体" panose="02010600030101010101" pitchFamily="2" charset="-122"/>
              </a:rPr>
              <a:t>得到初步数据模型后，还应该适当地修改、调整数据模型的结构，以进一步提高数据库应用系统的性能，这就是数据模型的优化。</a:t>
            </a:r>
          </a:p>
          <a:p>
            <a:pPr marL="742950" lvl="1" indent="-285750" eaLnBrk="1" hangingPunct="1">
              <a:lnSpc>
                <a:spcPct val="150000"/>
              </a:lnSpc>
              <a:spcBef>
                <a:spcPct val="20000"/>
              </a:spcBef>
              <a:buClr>
                <a:schemeClr val="hlink"/>
              </a:buClr>
              <a:buFontTx/>
              <a:buChar char="–"/>
            </a:pPr>
            <a:r>
              <a:rPr kumimoji="1" lang="zh-CN" altLang="en-US" b="1" dirty="0">
                <a:solidFill>
                  <a:srgbClr val="000066"/>
                </a:solidFill>
                <a:latin typeface="Tahoma" panose="020B0604030504040204" pitchFamily="34" charset="0"/>
                <a:ea typeface="宋体" panose="02010600030101010101" pitchFamily="2" charset="-122"/>
              </a:rPr>
              <a:t>关系数据模型的优化通常以规范化理论为指导。</a:t>
            </a:r>
          </a:p>
        </p:txBody>
      </p:sp>
      <p:sp>
        <p:nvSpPr>
          <p:cNvPr id="7" name="Rectangle 4"/>
          <p:cNvSpPr>
            <a:spLocks noChangeArrowheads="1"/>
          </p:cNvSpPr>
          <p:nvPr/>
        </p:nvSpPr>
        <p:spPr bwMode="auto">
          <a:xfrm>
            <a:off x="772393" y="10668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05000"/>
              </a:lnSpc>
              <a:buClr>
                <a:srgbClr val="FF0000"/>
              </a:buClr>
              <a:buFont typeface="Wingdings" panose="05000000000000000000" pitchFamily="2" charset="2"/>
              <a:buChar char="Ø"/>
            </a:pPr>
            <a:r>
              <a:rPr lang="zh-CN" altLang="en-US" sz="2800" b="1" i="0" dirty="0">
                <a:solidFill>
                  <a:srgbClr val="CC3300"/>
                </a:solidFill>
              </a:rPr>
              <a:t>为什么要进行关系模式优化</a:t>
            </a: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8"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10" name="直接连接符 9"/>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676853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533400" y="786419"/>
            <a:ext cx="81534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1" hangingPunct="1">
              <a:lnSpc>
                <a:spcPct val="105000"/>
              </a:lnSpc>
              <a:spcBef>
                <a:spcPct val="0"/>
              </a:spcBef>
              <a:buClr>
                <a:srgbClr val="FF0000"/>
              </a:buClr>
              <a:buFont typeface="Wingdings" panose="05000000000000000000" pitchFamily="2" charset="2"/>
              <a:buChar char="Ø"/>
            </a:pPr>
            <a:r>
              <a:rPr lang="zh-CN" altLang="en-US" b="1" dirty="0">
                <a:solidFill>
                  <a:srgbClr val="CC3300"/>
                </a:solidFill>
                <a:latin typeface="Arial" panose="020B0604020202020204" pitchFamily="34" charset="0"/>
                <a:ea typeface="宋体" panose="02010600030101010101" pitchFamily="2" charset="-122"/>
              </a:rPr>
              <a:t>关系模式优化的步骤</a:t>
            </a:r>
          </a:p>
        </p:txBody>
      </p:sp>
      <p:sp>
        <p:nvSpPr>
          <p:cNvPr id="7" name="Rectangle 4"/>
          <p:cNvSpPr>
            <a:spLocks noChangeArrowheads="1"/>
          </p:cNvSpPr>
          <p:nvPr/>
        </p:nvSpPr>
        <p:spPr bwMode="auto">
          <a:xfrm>
            <a:off x="533400" y="1453923"/>
            <a:ext cx="1066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eaLnBrk="1" hangingPunct="1">
              <a:lnSpc>
                <a:spcPct val="150000"/>
              </a:lnSpc>
              <a:spcBef>
                <a:spcPct val="20000"/>
              </a:spcBef>
              <a:buClr>
                <a:schemeClr val="accent1"/>
              </a:buClr>
            </a:pPr>
            <a:r>
              <a:rPr kumimoji="1" lang="en-US" altLang="zh-CN" sz="2400" b="1" i="0" dirty="0">
                <a:solidFill>
                  <a:srgbClr val="000066"/>
                </a:solidFill>
                <a:latin typeface="楷体_GB2312" pitchFamily="49" charset="-122"/>
                <a:ea typeface="楷体_GB2312" pitchFamily="49" charset="-122"/>
              </a:rPr>
              <a:t>⒈ </a:t>
            </a:r>
            <a:r>
              <a:rPr kumimoji="1" lang="zh-CN" altLang="en-US" sz="2400" b="1" i="0" dirty="0">
                <a:solidFill>
                  <a:srgbClr val="CC3300"/>
                </a:solidFill>
                <a:latin typeface="楷体_GB2312" pitchFamily="49" charset="-122"/>
                <a:ea typeface="楷体_GB2312" pitchFamily="49" charset="-122"/>
              </a:rPr>
              <a:t>确定数据依赖：</a:t>
            </a:r>
            <a:r>
              <a:rPr kumimoji="1" lang="zh-CN" altLang="en-US" sz="2400" b="1" i="0" dirty="0">
                <a:solidFill>
                  <a:srgbClr val="000066"/>
                </a:solidFill>
                <a:latin typeface="楷体_GB2312" pitchFamily="49" charset="-122"/>
                <a:ea typeface="楷体_GB2312" pitchFamily="49" charset="-122"/>
              </a:rPr>
              <a:t>按需求分析阶段所得到的语义，分别写出每个关系模式内部各属性之间的数据依赖以及不同关系模式属性之间的数据依赖。</a:t>
            </a:r>
          </a:p>
        </p:txBody>
      </p:sp>
      <p:sp>
        <p:nvSpPr>
          <p:cNvPr id="8" name="Rectangle 6"/>
          <p:cNvSpPr>
            <a:spLocks noChangeArrowheads="1"/>
          </p:cNvSpPr>
          <p:nvPr/>
        </p:nvSpPr>
        <p:spPr bwMode="auto">
          <a:xfrm>
            <a:off x="533400" y="2603334"/>
            <a:ext cx="10293927" cy="545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10000"/>
              </a:spcBef>
            </a:pPr>
            <a:r>
              <a:rPr lang="en-US" altLang="zh-CN" sz="2400" b="1" i="0" dirty="0">
                <a:solidFill>
                  <a:srgbClr val="000066"/>
                </a:solidFill>
                <a:latin typeface="楷体_GB2312" pitchFamily="49" charset="-122"/>
                <a:ea typeface="楷体_GB2312" pitchFamily="49" charset="-122"/>
              </a:rPr>
              <a:t>⒉ </a:t>
            </a:r>
            <a:r>
              <a:rPr lang="zh-CN" altLang="en-US" sz="2400" b="1" i="0" dirty="0">
                <a:solidFill>
                  <a:srgbClr val="000066"/>
                </a:solidFill>
                <a:latin typeface="楷体_GB2312" pitchFamily="49" charset="-122"/>
                <a:ea typeface="楷体_GB2312" pitchFamily="49" charset="-122"/>
              </a:rPr>
              <a:t>对于各个关系模式之间的数据依赖</a:t>
            </a:r>
            <a:r>
              <a:rPr kumimoji="1" lang="zh-CN" altLang="en-US" sz="2400" b="1" i="0" dirty="0">
                <a:solidFill>
                  <a:srgbClr val="CC3300"/>
                </a:solidFill>
                <a:latin typeface="楷体_GB2312" pitchFamily="49" charset="-122"/>
                <a:ea typeface="楷体_GB2312" pitchFamily="49" charset="-122"/>
              </a:rPr>
              <a:t>进行极小化处理</a:t>
            </a:r>
            <a:r>
              <a:rPr lang="zh-CN" altLang="en-US" sz="2400" b="1" i="0" dirty="0">
                <a:solidFill>
                  <a:srgbClr val="000066"/>
                </a:solidFill>
                <a:latin typeface="楷体_GB2312" pitchFamily="49" charset="-122"/>
                <a:ea typeface="楷体_GB2312" pitchFamily="49" charset="-122"/>
              </a:rPr>
              <a:t>，消除冗余的联系。</a:t>
            </a:r>
          </a:p>
        </p:txBody>
      </p:sp>
      <p:sp>
        <p:nvSpPr>
          <p:cNvPr id="9" name="Rectangle 7"/>
          <p:cNvSpPr>
            <a:spLocks noChangeArrowheads="1"/>
          </p:cNvSpPr>
          <p:nvPr/>
        </p:nvSpPr>
        <p:spPr bwMode="auto">
          <a:xfrm>
            <a:off x="590911" y="3248480"/>
            <a:ext cx="10552978" cy="1607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eaLnBrk="1" hangingPunct="1">
              <a:lnSpc>
                <a:spcPct val="150000"/>
              </a:lnSpc>
              <a:spcBef>
                <a:spcPct val="20000"/>
              </a:spcBef>
              <a:buClr>
                <a:schemeClr val="accent1"/>
              </a:buClr>
            </a:pPr>
            <a:r>
              <a:rPr kumimoji="1" lang="en-US" altLang="zh-CN" sz="2400" b="1" i="0" dirty="0">
                <a:solidFill>
                  <a:srgbClr val="000066"/>
                </a:solidFill>
                <a:latin typeface="楷体_GB2312" pitchFamily="49" charset="-122"/>
                <a:ea typeface="楷体_GB2312" pitchFamily="49" charset="-122"/>
              </a:rPr>
              <a:t>⒊ </a:t>
            </a:r>
            <a:r>
              <a:rPr kumimoji="1" lang="zh-CN" altLang="en-US" sz="2400" b="1" i="0" dirty="0">
                <a:solidFill>
                  <a:srgbClr val="000066"/>
                </a:solidFill>
                <a:latin typeface="楷体_GB2312" pitchFamily="49" charset="-122"/>
                <a:ea typeface="楷体_GB2312" pitchFamily="49" charset="-122"/>
              </a:rPr>
              <a:t>按照数据依赖的理论对关系模式逐一进行分析，考查是否存在部分函数依赖、传递函数依赖、多值依赖等，确定各关系模式分别</a:t>
            </a:r>
            <a:r>
              <a:rPr kumimoji="1" lang="zh-CN" altLang="en-US" sz="2400" b="1" i="0" dirty="0">
                <a:solidFill>
                  <a:srgbClr val="CC3300"/>
                </a:solidFill>
                <a:latin typeface="楷体_GB2312" pitchFamily="49" charset="-122"/>
                <a:ea typeface="楷体_GB2312" pitchFamily="49" charset="-122"/>
              </a:rPr>
              <a:t>属于第几范式</a:t>
            </a:r>
            <a:r>
              <a:rPr kumimoji="1" lang="zh-CN" altLang="en-US" sz="2400" b="1" i="0" dirty="0">
                <a:solidFill>
                  <a:srgbClr val="000066"/>
                </a:solidFill>
                <a:latin typeface="楷体_GB2312" pitchFamily="49" charset="-122"/>
                <a:ea typeface="楷体_GB2312" pitchFamily="49" charset="-122"/>
              </a:rPr>
              <a:t>。</a:t>
            </a:r>
          </a:p>
        </p:txBody>
      </p:sp>
      <p:sp>
        <p:nvSpPr>
          <p:cNvPr id="13" name="矩形 1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4"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10"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11" name="直接连接符 10"/>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542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p:bldP spid="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468312" y="771847"/>
            <a:ext cx="10705966" cy="366841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110000"/>
              </a:lnSpc>
              <a:buFontTx/>
              <a:buNone/>
            </a:pPr>
            <a:r>
              <a:rPr lang="en-US" altLang="zh-CN" sz="2400" b="1" dirty="0">
                <a:solidFill>
                  <a:srgbClr val="FF0000"/>
                </a:solidFill>
              </a:rPr>
              <a:t>【</a:t>
            </a:r>
            <a:r>
              <a:rPr lang="zh-CN" altLang="en-US" sz="2400" b="1" dirty="0">
                <a:solidFill>
                  <a:srgbClr val="FF0000"/>
                </a:solidFill>
              </a:rPr>
              <a:t>例</a:t>
            </a:r>
            <a:r>
              <a:rPr lang="en-US" altLang="zh-CN" sz="2400" b="1" dirty="0">
                <a:solidFill>
                  <a:srgbClr val="FF0000"/>
                </a:solidFill>
              </a:rPr>
              <a:t>】 </a:t>
            </a:r>
            <a:r>
              <a:rPr lang="zh-CN" altLang="en-US" sz="2400" b="1" dirty="0">
                <a:solidFill>
                  <a:srgbClr val="000066"/>
                </a:solidFill>
              </a:rPr>
              <a:t>在关系模式</a:t>
            </a:r>
          </a:p>
          <a:p>
            <a:pPr marL="609600" indent="-609600" eaLnBrk="1" hangingPunct="1">
              <a:lnSpc>
                <a:spcPct val="110000"/>
              </a:lnSpc>
              <a:spcBef>
                <a:spcPct val="20000"/>
              </a:spcBef>
              <a:buFontTx/>
              <a:buNone/>
            </a:pPr>
            <a:r>
              <a:rPr kumimoji="1" lang="zh-CN" altLang="en-US" sz="2400" b="1" dirty="0">
                <a:solidFill>
                  <a:schemeClr val="accent2"/>
                </a:solidFill>
                <a:latin typeface="Tahoma" panose="020B0604030504040204" pitchFamily="34" charset="0"/>
              </a:rPr>
              <a:t> </a:t>
            </a:r>
            <a:r>
              <a:rPr lang="zh-CN" altLang="en-US" sz="2400" b="1" dirty="0">
                <a:latin typeface="Arial" panose="020B0604020202020204" pitchFamily="34" charset="0"/>
                <a:ea typeface="宋体" panose="02010600030101010101" pitchFamily="2" charset="-122"/>
              </a:rPr>
              <a:t>工资（工号，姓名，基本工资，岗位补贴，应发工资，五险一金，实发工资）</a:t>
            </a:r>
            <a:endParaRPr lang="en-US" altLang="zh-CN" sz="2400" b="1" dirty="0">
              <a:latin typeface="Arial" panose="020B0604020202020204" pitchFamily="34" charset="0"/>
              <a:ea typeface="宋体" panose="02010600030101010101" pitchFamily="2" charset="-122"/>
            </a:endParaRPr>
          </a:p>
          <a:p>
            <a:pPr marL="609600" indent="-609600" eaLnBrk="1" hangingPunct="1">
              <a:lnSpc>
                <a:spcPct val="110000"/>
              </a:lnSpc>
              <a:buFontTx/>
              <a:buNone/>
            </a:pPr>
            <a:r>
              <a:rPr lang="en-US" altLang="zh-CN" sz="2400" b="1" dirty="0">
                <a:solidFill>
                  <a:srgbClr val="000066"/>
                </a:solidFill>
              </a:rPr>
              <a:t> </a:t>
            </a:r>
            <a:r>
              <a:rPr lang="zh-CN" altLang="en-US" sz="2400" b="1" dirty="0">
                <a:solidFill>
                  <a:srgbClr val="000066"/>
                </a:solidFill>
              </a:rPr>
              <a:t>中存在下列函数依赖：</a:t>
            </a:r>
            <a:endParaRPr lang="en-US" altLang="zh-CN" sz="2400" b="1" dirty="0">
              <a:solidFill>
                <a:srgbClr val="000066"/>
              </a:solidFill>
            </a:endParaRPr>
          </a:p>
          <a:p>
            <a:pPr marL="609600" indent="-609600" eaLnBrk="1" hangingPunct="1">
              <a:lnSpc>
                <a:spcPct val="110000"/>
              </a:lnSpc>
              <a:buNone/>
            </a:pPr>
            <a:r>
              <a:rPr lang="zh-CN" altLang="en-US" sz="2400" b="1" dirty="0">
                <a:solidFill>
                  <a:srgbClr val="FF0000"/>
                </a:solidFill>
                <a:latin typeface="Arial" panose="020B0604020202020204" pitchFamily="34" charset="0"/>
                <a:ea typeface="宋体" panose="02010600030101010101" pitchFamily="2" charset="-122"/>
              </a:rPr>
              <a:t>工号→姓名，基本工资，岗位工资</a:t>
            </a:r>
            <a:endParaRPr lang="en-US" altLang="zh-CN" sz="2400" b="1" dirty="0">
              <a:solidFill>
                <a:srgbClr val="FF0000"/>
              </a:solidFill>
              <a:latin typeface="Arial" panose="020B0604020202020204" pitchFamily="34" charset="0"/>
              <a:ea typeface="宋体" panose="02010600030101010101" pitchFamily="2" charset="-122"/>
            </a:endParaRPr>
          </a:p>
          <a:p>
            <a:pPr marL="609600" indent="-609600" eaLnBrk="1" hangingPunct="1">
              <a:lnSpc>
                <a:spcPct val="110000"/>
              </a:lnSpc>
              <a:buFontTx/>
              <a:buNone/>
            </a:pP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基本工资，岗位工资</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应发工资，</a:t>
            </a:r>
            <a:r>
              <a:rPr lang="en-US" altLang="zh-CN" sz="2400" b="1" dirty="0">
                <a:solidFill>
                  <a:srgbClr val="FF0000"/>
                </a:solidFill>
                <a:latin typeface="Arial" panose="020B0604020202020204" pitchFamily="34" charset="0"/>
                <a:ea typeface="宋体" panose="02010600030101010101" pitchFamily="2" charset="-122"/>
              </a:rPr>
              <a:t> </a:t>
            </a:r>
          </a:p>
          <a:p>
            <a:pPr marL="609600" indent="-609600" eaLnBrk="1" hangingPunct="1">
              <a:lnSpc>
                <a:spcPct val="110000"/>
              </a:lnSpc>
              <a:buFontTx/>
              <a:buNone/>
            </a:pPr>
            <a:r>
              <a:rPr lang="zh-CN" altLang="en-US" sz="2400" b="1" dirty="0">
                <a:solidFill>
                  <a:srgbClr val="FF0000"/>
                </a:solidFill>
                <a:latin typeface="Arial" panose="020B0604020202020204" pitchFamily="34" charset="0"/>
                <a:ea typeface="宋体" panose="02010600030101010101" pitchFamily="2" charset="-122"/>
              </a:rPr>
              <a:t>应发工资</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五险一金</a:t>
            </a:r>
            <a:endParaRPr lang="en-US" altLang="zh-CN" sz="2400" b="1" dirty="0">
              <a:solidFill>
                <a:srgbClr val="FF0000"/>
              </a:solidFill>
              <a:latin typeface="Arial" panose="020B0604020202020204" pitchFamily="34" charset="0"/>
              <a:ea typeface="宋体" panose="02010600030101010101" pitchFamily="2" charset="-122"/>
            </a:endParaRPr>
          </a:p>
          <a:p>
            <a:pPr marL="609600" indent="-609600" eaLnBrk="1" hangingPunct="1">
              <a:lnSpc>
                <a:spcPct val="110000"/>
              </a:lnSpc>
              <a:buFontTx/>
              <a:buNone/>
            </a:pPr>
            <a:r>
              <a:rPr lang="zh-CN" altLang="en-US" sz="2400" b="1" dirty="0">
                <a:solidFill>
                  <a:srgbClr val="FF0000"/>
                </a:solidFill>
                <a:latin typeface="Arial" panose="020B0604020202020204" pitchFamily="34" charset="0"/>
                <a:ea typeface="宋体" panose="02010600030101010101" pitchFamily="2" charset="-122"/>
              </a:rPr>
              <a:t>应发工资，五险一金</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实发工资</a:t>
            </a:r>
          </a:p>
        </p:txBody>
      </p:sp>
      <p:sp>
        <p:nvSpPr>
          <p:cNvPr id="7" name="Rectangle 4"/>
          <p:cNvSpPr>
            <a:spLocks noChangeArrowheads="1"/>
          </p:cNvSpPr>
          <p:nvPr/>
        </p:nvSpPr>
        <p:spPr bwMode="auto">
          <a:xfrm>
            <a:off x="-3244" y="4734618"/>
            <a:ext cx="1164907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209800" indent="-381000" eaLnBrk="0" hangingPunct="0">
              <a:defRPr i="1">
                <a:solidFill>
                  <a:schemeClr val="tx1"/>
                </a:solidFill>
                <a:latin typeface="Arial" panose="020B0604020202020204" pitchFamily="34" charset="0"/>
                <a:ea typeface="宋体" panose="02010600030101010101" pitchFamily="2" charset="-122"/>
              </a:defRPr>
            </a:lvl5pPr>
            <a:lvl6pPr marL="26670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31242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5814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40386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ts val="1000"/>
              </a:spcBef>
            </a:pPr>
            <a:r>
              <a:rPr lang="en-US" altLang="zh-CN" sz="2400" b="1" i="0" dirty="0">
                <a:solidFill>
                  <a:srgbClr val="000066"/>
                </a:solidFill>
              </a:rPr>
              <a:t>      </a:t>
            </a:r>
            <a:r>
              <a:rPr lang="zh-CN" altLang="en-US" sz="2400" b="1" i="0" dirty="0">
                <a:solidFill>
                  <a:srgbClr val="000066"/>
                </a:solidFill>
              </a:rPr>
              <a:t>显然有：</a:t>
            </a:r>
            <a:r>
              <a:rPr lang="zh-CN" altLang="en-US" sz="2400" b="1" i="0" dirty="0">
                <a:solidFill>
                  <a:srgbClr val="FF0000"/>
                </a:solidFill>
              </a:rPr>
              <a:t>工号→应发工资，五险一金，实发工资</a:t>
            </a:r>
          </a:p>
          <a:p>
            <a:pPr eaLnBrk="1" hangingPunct="1">
              <a:lnSpc>
                <a:spcPct val="110000"/>
              </a:lnSpc>
              <a:spcBef>
                <a:spcPct val="20000"/>
              </a:spcBef>
            </a:pPr>
            <a:r>
              <a:rPr lang="en-US" altLang="zh-CN" sz="2400" b="1" i="0" dirty="0">
                <a:solidFill>
                  <a:srgbClr val="000066"/>
                </a:solidFill>
              </a:rPr>
              <a:t>      </a:t>
            </a:r>
            <a:r>
              <a:rPr lang="zh-CN" altLang="en-US" sz="2400" b="1" i="0" dirty="0">
                <a:solidFill>
                  <a:srgbClr val="000066"/>
                </a:solidFill>
              </a:rPr>
              <a:t>因此该关系模式中存在传递函数依赖，是</a:t>
            </a:r>
            <a:r>
              <a:rPr lang="en-US" altLang="zh-CN" sz="2400" b="1" i="0" dirty="0">
                <a:solidFill>
                  <a:srgbClr val="CC3300"/>
                </a:solidFill>
              </a:rPr>
              <a:t>2NF</a:t>
            </a:r>
            <a:r>
              <a:rPr lang="zh-CN" altLang="en-US" sz="2400" b="1" i="0" dirty="0">
                <a:solidFill>
                  <a:srgbClr val="000066"/>
                </a:solidFill>
              </a:rPr>
              <a:t>关系。</a:t>
            </a:r>
          </a:p>
          <a:p>
            <a:pPr lvl="4" eaLnBrk="1" hangingPunct="1">
              <a:lnSpc>
                <a:spcPct val="110000"/>
              </a:lnSpc>
              <a:spcBef>
                <a:spcPct val="20000"/>
              </a:spcBef>
            </a:pPr>
            <a:endParaRPr lang="en-US" altLang="zh-CN" sz="2400" b="1" i="0" dirty="0">
              <a:solidFill>
                <a:srgbClr val="000066"/>
              </a:solidFill>
            </a:endParaRP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10"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11" name="直接连接符 10"/>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75739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691746" y="879796"/>
            <a:ext cx="10699508" cy="5621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990600" indent="-53340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10000"/>
              </a:lnSpc>
              <a:spcBef>
                <a:spcPct val="5000"/>
              </a:spcBef>
            </a:pPr>
            <a:r>
              <a:rPr lang="zh-CN" altLang="en-US" sz="2400" b="1" i="0" dirty="0">
                <a:solidFill>
                  <a:srgbClr val="CC3300"/>
                </a:solidFill>
              </a:rPr>
              <a:t>注意：并不是规范化程度越高的关系就越优。</a:t>
            </a:r>
            <a:endParaRPr lang="en-US" altLang="zh-CN" sz="2400" b="1" i="0" dirty="0">
              <a:solidFill>
                <a:srgbClr val="CC3300"/>
              </a:solidFill>
            </a:endParaRPr>
          </a:p>
          <a:p>
            <a:pPr marL="742950" lvl="1" indent="-285750" eaLnBrk="1" hangingPunct="1">
              <a:lnSpc>
                <a:spcPct val="150000"/>
              </a:lnSpc>
              <a:spcBef>
                <a:spcPct val="20000"/>
              </a:spcBef>
              <a:buClr>
                <a:schemeClr val="hlink"/>
              </a:buClr>
              <a:buFontTx/>
              <a:buChar char="–"/>
            </a:pPr>
            <a:r>
              <a:rPr kumimoji="1" lang="zh-CN" altLang="en-US" sz="2400" b="1" i="0" dirty="0">
                <a:solidFill>
                  <a:srgbClr val="000066"/>
                </a:solidFill>
                <a:latin typeface="楷体_GB2312" pitchFamily="49" charset="-122"/>
                <a:ea typeface="楷体_GB2312" pitchFamily="49" charset="-122"/>
              </a:rPr>
              <a:t>当一个应用的查询中经常涉及到两个或多个关系模式的属性时，系统必须经常地进行联接运算，而联系运算的代价是相当高的，可以说关系模型低效的主要原因就是做联接运算引起的，因此在这种情况下，第二范式甚至第一范式也许是最好的。</a:t>
            </a:r>
            <a:endParaRPr kumimoji="1" lang="en-US" altLang="zh-CN" sz="2400" b="1" i="0" dirty="0">
              <a:solidFill>
                <a:srgbClr val="000066"/>
              </a:solidFill>
              <a:latin typeface="楷体_GB2312" pitchFamily="49" charset="-122"/>
              <a:ea typeface="楷体_GB2312" pitchFamily="49" charset="-122"/>
            </a:endParaRPr>
          </a:p>
          <a:p>
            <a:pPr marL="742950" lvl="1" indent="-285750" eaLnBrk="1" hangingPunct="1">
              <a:lnSpc>
                <a:spcPct val="150000"/>
              </a:lnSpc>
              <a:spcBef>
                <a:spcPct val="20000"/>
              </a:spcBef>
              <a:buClr>
                <a:schemeClr val="hlink"/>
              </a:buClr>
              <a:buFontTx/>
              <a:buChar char="–"/>
            </a:pPr>
            <a:r>
              <a:rPr kumimoji="1" lang="zh-CN" altLang="en-US" sz="2400" b="1" i="0" dirty="0">
                <a:solidFill>
                  <a:srgbClr val="000066"/>
                </a:solidFill>
                <a:latin typeface="楷体_GB2312" pitchFamily="49" charset="-122"/>
                <a:ea typeface="楷体_GB2312" pitchFamily="49" charset="-122"/>
              </a:rPr>
              <a:t>非</a:t>
            </a:r>
            <a:r>
              <a:rPr kumimoji="1" lang="en-US" altLang="zh-CN" sz="2400" b="1" i="0" dirty="0">
                <a:solidFill>
                  <a:srgbClr val="000066"/>
                </a:solidFill>
                <a:latin typeface="楷体_GB2312" pitchFamily="49" charset="-122"/>
                <a:ea typeface="楷体_GB2312" pitchFamily="49" charset="-122"/>
              </a:rPr>
              <a:t>BCNF</a:t>
            </a:r>
            <a:r>
              <a:rPr kumimoji="1" lang="zh-CN" altLang="en-US" sz="2400" b="1" i="0" dirty="0">
                <a:solidFill>
                  <a:srgbClr val="000066"/>
                </a:solidFill>
                <a:latin typeface="楷体_GB2312" pitchFamily="49" charset="-122"/>
                <a:ea typeface="楷体_GB2312" pitchFamily="49" charset="-122"/>
              </a:rPr>
              <a:t>的关系模式虽然从理论上分析会存在不同程度的更新异常，但如果在实际应用中对此关系模式只是查询，并不执行或很少执行更新操作，则就不会产生实际影响。</a:t>
            </a:r>
          </a:p>
          <a:p>
            <a:pPr marL="742950" lvl="1" indent="-285750" eaLnBrk="1" hangingPunct="1">
              <a:lnSpc>
                <a:spcPct val="150000"/>
              </a:lnSpc>
              <a:spcBef>
                <a:spcPct val="20000"/>
              </a:spcBef>
              <a:buClr>
                <a:schemeClr val="hlink"/>
              </a:buClr>
              <a:buFontTx/>
              <a:buChar char="–"/>
            </a:pPr>
            <a:r>
              <a:rPr kumimoji="1" lang="zh-CN" altLang="en-US" sz="2400" b="1" i="0" dirty="0">
                <a:solidFill>
                  <a:srgbClr val="000066"/>
                </a:solidFill>
                <a:latin typeface="楷体_GB2312" pitchFamily="49" charset="-122"/>
                <a:ea typeface="楷体_GB2312" pitchFamily="49" charset="-122"/>
              </a:rPr>
              <a:t>对于一个具体应用来说，到底规范化进行到什么程度，需要权衡响应时间和潜在问题两者的利弊才能决定。</a:t>
            </a:r>
          </a:p>
          <a:p>
            <a:pPr lvl="1" eaLnBrk="1" hangingPunct="1">
              <a:lnSpc>
                <a:spcPct val="110000"/>
              </a:lnSpc>
              <a:spcBef>
                <a:spcPct val="5000"/>
              </a:spcBef>
            </a:pPr>
            <a:endParaRPr lang="zh-CN" altLang="en-US" sz="2400" b="1" i="0" dirty="0">
              <a:solidFill>
                <a:srgbClr val="CC3300"/>
              </a:solidFill>
            </a:endParaRPr>
          </a:p>
        </p:txBody>
      </p:sp>
      <p:sp>
        <p:nvSpPr>
          <p:cNvPr id="3" name="矩形 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5"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6" name="直接连接符 5"/>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93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468312" y="771847"/>
            <a:ext cx="10705966" cy="366841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110000"/>
              </a:lnSpc>
              <a:buFontTx/>
              <a:buNone/>
            </a:pPr>
            <a:r>
              <a:rPr lang="en-US" altLang="zh-CN" sz="2400" b="1" dirty="0">
                <a:solidFill>
                  <a:srgbClr val="FF0000"/>
                </a:solidFill>
              </a:rPr>
              <a:t>【</a:t>
            </a:r>
            <a:r>
              <a:rPr lang="zh-CN" altLang="en-US" sz="2400" b="1" dirty="0">
                <a:solidFill>
                  <a:srgbClr val="FF0000"/>
                </a:solidFill>
              </a:rPr>
              <a:t>例</a:t>
            </a:r>
            <a:r>
              <a:rPr lang="en-US" altLang="zh-CN" sz="2400" b="1" dirty="0">
                <a:solidFill>
                  <a:srgbClr val="FF0000"/>
                </a:solidFill>
              </a:rPr>
              <a:t>】 </a:t>
            </a:r>
            <a:r>
              <a:rPr lang="zh-CN" altLang="en-US" sz="2400" b="1" dirty="0">
                <a:solidFill>
                  <a:srgbClr val="000066"/>
                </a:solidFill>
              </a:rPr>
              <a:t>在关系模式</a:t>
            </a:r>
          </a:p>
          <a:p>
            <a:pPr marL="609600" indent="-609600" eaLnBrk="1" hangingPunct="1">
              <a:lnSpc>
                <a:spcPct val="110000"/>
              </a:lnSpc>
              <a:spcBef>
                <a:spcPct val="20000"/>
              </a:spcBef>
              <a:buFontTx/>
              <a:buNone/>
            </a:pPr>
            <a:r>
              <a:rPr kumimoji="1" lang="zh-CN" altLang="en-US" sz="2400" b="1" dirty="0">
                <a:solidFill>
                  <a:schemeClr val="accent2"/>
                </a:solidFill>
                <a:latin typeface="Tahoma" panose="020B0604030504040204" pitchFamily="34" charset="0"/>
              </a:rPr>
              <a:t> </a:t>
            </a:r>
            <a:r>
              <a:rPr lang="zh-CN" altLang="en-US" sz="2400" b="1" dirty="0">
                <a:latin typeface="Arial" panose="020B0604020202020204" pitchFamily="34" charset="0"/>
                <a:ea typeface="宋体" panose="02010600030101010101" pitchFamily="2" charset="-122"/>
              </a:rPr>
              <a:t>工资（工号，姓名，基本工资，岗位补贴，应发工资，五险一金，实发工资）</a:t>
            </a:r>
            <a:endParaRPr lang="en-US" altLang="zh-CN" sz="2400" b="1" dirty="0">
              <a:latin typeface="Arial" panose="020B0604020202020204" pitchFamily="34" charset="0"/>
              <a:ea typeface="宋体" panose="02010600030101010101" pitchFamily="2" charset="-122"/>
            </a:endParaRPr>
          </a:p>
          <a:p>
            <a:pPr marL="609600" indent="-609600" eaLnBrk="1" hangingPunct="1">
              <a:lnSpc>
                <a:spcPct val="110000"/>
              </a:lnSpc>
              <a:buFontTx/>
              <a:buNone/>
            </a:pPr>
            <a:r>
              <a:rPr lang="en-US" altLang="zh-CN" sz="2400" b="1" dirty="0">
                <a:solidFill>
                  <a:srgbClr val="000066"/>
                </a:solidFill>
              </a:rPr>
              <a:t> </a:t>
            </a:r>
            <a:r>
              <a:rPr lang="zh-CN" altLang="en-US" sz="2400" b="1" dirty="0">
                <a:solidFill>
                  <a:srgbClr val="000066"/>
                </a:solidFill>
              </a:rPr>
              <a:t>中存在下列函数依赖：</a:t>
            </a:r>
            <a:endParaRPr lang="en-US" altLang="zh-CN" sz="2400" b="1" dirty="0">
              <a:solidFill>
                <a:srgbClr val="000066"/>
              </a:solidFill>
            </a:endParaRPr>
          </a:p>
          <a:p>
            <a:pPr marL="609600" indent="-609600" eaLnBrk="1" hangingPunct="1">
              <a:lnSpc>
                <a:spcPct val="110000"/>
              </a:lnSpc>
              <a:buNone/>
            </a:pPr>
            <a:r>
              <a:rPr lang="zh-CN" altLang="en-US" sz="2400" b="1" dirty="0">
                <a:solidFill>
                  <a:srgbClr val="FF0000"/>
                </a:solidFill>
                <a:latin typeface="Arial" panose="020B0604020202020204" pitchFamily="34" charset="0"/>
                <a:ea typeface="宋体" panose="02010600030101010101" pitchFamily="2" charset="-122"/>
              </a:rPr>
              <a:t>工号→姓名，基本工资，岗位工资</a:t>
            </a:r>
            <a:endParaRPr lang="en-US" altLang="zh-CN" sz="2400" b="1" dirty="0">
              <a:solidFill>
                <a:srgbClr val="FF0000"/>
              </a:solidFill>
              <a:latin typeface="Arial" panose="020B0604020202020204" pitchFamily="34" charset="0"/>
              <a:ea typeface="宋体" panose="02010600030101010101" pitchFamily="2" charset="-122"/>
            </a:endParaRPr>
          </a:p>
          <a:p>
            <a:pPr marL="609600" indent="-609600" eaLnBrk="1" hangingPunct="1">
              <a:lnSpc>
                <a:spcPct val="110000"/>
              </a:lnSpc>
              <a:buFontTx/>
              <a:buNone/>
            </a:pP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基本工资，岗位工资</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应发工资，</a:t>
            </a:r>
            <a:r>
              <a:rPr lang="en-US" altLang="zh-CN" sz="2400" b="1" dirty="0">
                <a:solidFill>
                  <a:srgbClr val="FF0000"/>
                </a:solidFill>
                <a:latin typeface="Arial" panose="020B0604020202020204" pitchFamily="34" charset="0"/>
                <a:ea typeface="宋体" panose="02010600030101010101" pitchFamily="2" charset="-122"/>
              </a:rPr>
              <a:t> </a:t>
            </a:r>
          </a:p>
          <a:p>
            <a:pPr marL="609600" indent="-609600" eaLnBrk="1" hangingPunct="1">
              <a:lnSpc>
                <a:spcPct val="110000"/>
              </a:lnSpc>
              <a:buFontTx/>
              <a:buNone/>
            </a:pPr>
            <a:r>
              <a:rPr lang="zh-CN" altLang="en-US" sz="2400" b="1" dirty="0">
                <a:solidFill>
                  <a:srgbClr val="FF0000"/>
                </a:solidFill>
                <a:latin typeface="Arial" panose="020B0604020202020204" pitchFamily="34" charset="0"/>
                <a:ea typeface="宋体" panose="02010600030101010101" pitchFamily="2" charset="-122"/>
              </a:rPr>
              <a:t>应发工资</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五险一金</a:t>
            </a:r>
            <a:endParaRPr lang="en-US" altLang="zh-CN" sz="2400" b="1" dirty="0">
              <a:solidFill>
                <a:srgbClr val="FF0000"/>
              </a:solidFill>
              <a:latin typeface="Arial" panose="020B0604020202020204" pitchFamily="34" charset="0"/>
              <a:ea typeface="宋体" panose="02010600030101010101" pitchFamily="2" charset="-122"/>
            </a:endParaRPr>
          </a:p>
          <a:p>
            <a:pPr marL="609600" indent="-609600" eaLnBrk="1" hangingPunct="1">
              <a:lnSpc>
                <a:spcPct val="110000"/>
              </a:lnSpc>
              <a:buFontTx/>
              <a:buNone/>
            </a:pPr>
            <a:r>
              <a:rPr lang="zh-CN" altLang="en-US" sz="2400" b="1" dirty="0">
                <a:solidFill>
                  <a:srgbClr val="FF0000"/>
                </a:solidFill>
                <a:latin typeface="Arial" panose="020B0604020202020204" pitchFamily="34" charset="0"/>
                <a:ea typeface="宋体" panose="02010600030101010101" pitchFamily="2" charset="-122"/>
              </a:rPr>
              <a:t>应发工资，五险一金</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实发工资</a:t>
            </a:r>
          </a:p>
        </p:txBody>
      </p:sp>
      <p:sp>
        <p:nvSpPr>
          <p:cNvPr id="7" name="Rectangle 4"/>
          <p:cNvSpPr>
            <a:spLocks noChangeArrowheads="1"/>
          </p:cNvSpPr>
          <p:nvPr/>
        </p:nvSpPr>
        <p:spPr bwMode="auto">
          <a:xfrm>
            <a:off x="-3244" y="4734618"/>
            <a:ext cx="1164907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209800" indent="-381000" eaLnBrk="0" hangingPunct="0">
              <a:defRPr i="1">
                <a:solidFill>
                  <a:schemeClr val="tx1"/>
                </a:solidFill>
                <a:latin typeface="Arial" panose="020B0604020202020204" pitchFamily="34" charset="0"/>
                <a:ea typeface="宋体" panose="02010600030101010101" pitchFamily="2" charset="-122"/>
              </a:defRPr>
            </a:lvl5pPr>
            <a:lvl6pPr marL="26670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31242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5814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4038600" indent="-3810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ts val="1000"/>
              </a:spcBef>
            </a:pPr>
            <a:r>
              <a:rPr lang="en-US" altLang="zh-CN" sz="2400" b="1" i="0" dirty="0">
                <a:solidFill>
                  <a:srgbClr val="000066"/>
                </a:solidFill>
              </a:rPr>
              <a:t>      </a:t>
            </a:r>
            <a:r>
              <a:rPr lang="zh-CN" altLang="en-US" sz="2400" b="1" i="0" dirty="0">
                <a:solidFill>
                  <a:srgbClr val="000066"/>
                </a:solidFill>
              </a:rPr>
              <a:t>显然有：</a:t>
            </a:r>
            <a:r>
              <a:rPr lang="zh-CN" altLang="en-US" sz="2400" b="1" i="0" dirty="0">
                <a:solidFill>
                  <a:srgbClr val="FF0000"/>
                </a:solidFill>
              </a:rPr>
              <a:t>工号→应发工资，五险一金，实发工资</a:t>
            </a:r>
          </a:p>
          <a:p>
            <a:pPr eaLnBrk="1" hangingPunct="1">
              <a:lnSpc>
                <a:spcPct val="110000"/>
              </a:lnSpc>
              <a:spcBef>
                <a:spcPct val="20000"/>
              </a:spcBef>
            </a:pPr>
            <a:r>
              <a:rPr lang="en-US" altLang="zh-CN" sz="2400" b="1" i="0" dirty="0">
                <a:solidFill>
                  <a:srgbClr val="000066"/>
                </a:solidFill>
              </a:rPr>
              <a:t>      </a:t>
            </a:r>
            <a:r>
              <a:rPr lang="zh-CN" altLang="en-US" sz="2400" b="1" i="0" dirty="0">
                <a:solidFill>
                  <a:srgbClr val="000066"/>
                </a:solidFill>
              </a:rPr>
              <a:t>因此该关系模式中存在传递函数依赖，是</a:t>
            </a:r>
            <a:r>
              <a:rPr lang="en-US" altLang="zh-CN" sz="2400" b="1" i="0" dirty="0">
                <a:solidFill>
                  <a:srgbClr val="CC3300"/>
                </a:solidFill>
              </a:rPr>
              <a:t>2NF</a:t>
            </a:r>
            <a:r>
              <a:rPr lang="zh-CN" altLang="en-US" sz="2400" b="1" i="0" dirty="0">
                <a:solidFill>
                  <a:srgbClr val="000066"/>
                </a:solidFill>
              </a:rPr>
              <a:t>关系。</a:t>
            </a:r>
          </a:p>
          <a:p>
            <a:pPr lvl="4" eaLnBrk="1" hangingPunct="1">
              <a:lnSpc>
                <a:spcPct val="110000"/>
              </a:lnSpc>
              <a:spcBef>
                <a:spcPct val="20000"/>
              </a:spcBef>
            </a:pPr>
            <a:endParaRPr lang="en-US" altLang="zh-CN" sz="2400" b="1" i="0" dirty="0">
              <a:solidFill>
                <a:srgbClr val="000066"/>
              </a:solidFill>
            </a:endParaRPr>
          </a:p>
        </p:txBody>
      </p:sp>
      <p:sp>
        <p:nvSpPr>
          <p:cNvPr id="8" name="Rectangle 5"/>
          <p:cNvSpPr>
            <a:spLocks noChangeArrowheads="1"/>
          </p:cNvSpPr>
          <p:nvPr/>
        </p:nvSpPr>
        <p:spPr bwMode="auto">
          <a:xfrm>
            <a:off x="5284922" y="1895852"/>
            <a:ext cx="6827003" cy="2462213"/>
          </a:xfrm>
          <a:prstGeom prst="rect">
            <a:avLst/>
          </a:prstGeom>
          <a:solidFill>
            <a:schemeClr val="accent5">
              <a:lumMod val="20000"/>
              <a:lumOff val="80000"/>
            </a:schemeClr>
          </a:solidFill>
          <a:ln>
            <a:solidFill>
              <a:schemeClr val="accent2"/>
            </a:solidFill>
          </a:ln>
        </p:spPr>
        <p:txBody>
          <a:bodyPr wrap="squar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ct val="20000"/>
              </a:spcBef>
              <a:buClr>
                <a:schemeClr val="accent1"/>
              </a:buClr>
              <a:buFont typeface="Wingdings" panose="05000000000000000000" pitchFamily="2" charset="2"/>
              <a:buChar char="u"/>
            </a:pPr>
            <a:r>
              <a:rPr kumimoji="1" lang="zh-CN" altLang="en-US" sz="2000" b="1" i="0" dirty="0">
                <a:solidFill>
                  <a:srgbClr val="000066"/>
                </a:solidFill>
                <a:latin typeface="Tahoma" panose="020B0604030504040204" pitchFamily="34" charset="0"/>
              </a:rPr>
              <a:t>虽然</a:t>
            </a:r>
            <a:r>
              <a:rPr lang="zh-CN" altLang="en-US" sz="2000" b="1" i="0" dirty="0">
                <a:solidFill>
                  <a:srgbClr val="FF3300"/>
                </a:solidFill>
              </a:rPr>
              <a:t>应发工资，五险一金，实发工资</a:t>
            </a:r>
            <a:r>
              <a:rPr kumimoji="1" lang="zh-CN" altLang="en-US" sz="2000" b="1" i="0" dirty="0">
                <a:solidFill>
                  <a:srgbClr val="000066"/>
                </a:solidFill>
                <a:latin typeface="Tahoma" panose="020B0604030504040204" pitchFamily="34" charset="0"/>
              </a:rPr>
              <a:t>可以由其他属性推算出来，但如果应用中需要经常查询职工的这些工资项，为提高效率，仍然可保留该冗余数据，对关系模式不再做进一步分解。</a:t>
            </a:r>
            <a:endParaRPr kumimoji="1" lang="en-US" altLang="zh-CN" sz="2000" b="1" i="0" dirty="0">
              <a:solidFill>
                <a:srgbClr val="000066"/>
              </a:solidFill>
              <a:latin typeface="Tahoma" panose="020B0604030504040204" pitchFamily="34" charset="0"/>
            </a:endParaRPr>
          </a:p>
          <a:p>
            <a:pPr marL="342900" lvl="1" indent="-342900" eaLnBrk="1" hangingPunct="1">
              <a:lnSpc>
                <a:spcPct val="150000"/>
              </a:lnSpc>
              <a:spcBef>
                <a:spcPct val="20000"/>
              </a:spcBef>
              <a:buClr>
                <a:schemeClr val="accent1"/>
              </a:buClr>
              <a:buFont typeface="Wingdings" panose="05000000000000000000" pitchFamily="2" charset="2"/>
              <a:buChar char="u"/>
            </a:pPr>
            <a:r>
              <a:rPr kumimoji="1" lang="zh-CN" altLang="en-US" sz="2000" b="1" i="0" dirty="0">
                <a:solidFill>
                  <a:srgbClr val="000066"/>
                </a:solidFill>
                <a:latin typeface="Tahoma" panose="020B0604030504040204" pitchFamily="34" charset="0"/>
              </a:rPr>
              <a:t>一种更好的方法是把冗余数据定义在视图中。</a:t>
            </a: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10"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11" name="直接连接符 10"/>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008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446808" y="2285002"/>
            <a:ext cx="11139055" cy="205452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110000"/>
              </a:lnSpc>
              <a:buFontTx/>
              <a:buNone/>
            </a:pPr>
            <a:r>
              <a:rPr kumimoji="1" lang="en-US" altLang="zh-CN" sz="2400" b="1" dirty="0">
                <a:solidFill>
                  <a:srgbClr val="000066"/>
                </a:solidFill>
                <a:latin typeface="楷体_GB2312" pitchFamily="49" charset="-122"/>
                <a:ea typeface="楷体_GB2312" pitchFamily="49" charset="-122"/>
              </a:rPr>
              <a:t>⒌  </a:t>
            </a:r>
            <a:r>
              <a:rPr kumimoji="1" lang="zh-CN" altLang="en-US" sz="2400" b="1" dirty="0">
                <a:solidFill>
                  <a:srgbClr val="000066"/>
                </a:solidFill>
                <a:latin typeface="楷体_GB2312" pitchFamily="49" charset="-122"/>
                <a:ea typeface="楷体_GB2312" pitchFamily="49" charset="-122"/>
              </a:rPr>
              <a:t>对关系模式进行必要的分解，以提高数据操作的效率和存储空间的利用率。</a:t>
            </a:r>
          </a:p>
          <a:p>
            <a:pPr marL="742950" lvl="1" indent="-285750" eaLnBrk="1" hangingPunct="1">
              <a:lnSpc>
                <a:spcPct val="105000"/>
              </a:lnSpc>
              <a:spcBef>
                <a:spcPct val="20000"/>
              </a:spcBef>
              <a:buClr>
                <a:schemeClr val="hlink"/>
              </a:buClr>
              <a:buFontTx/>
              <a:buChar char="–"/>
            </a:pPr>
            <a:r>
              <a:rPr kumimoji="1" lang="zh-CN" altLang="en-US" b="1" dirty="0">
                <a:solidFill>
                  <a:srgbClr val="FF0000"/>
                </a:solidFill>
                <a:latin typeface="楷体_GB2312" pitchFamily="49" charset="-122"/>
                <a:ea typeface="楷体_GB2312" pitchFamily="49" charset="-122"/>
                <a:hlinkClick r:id="rId3" action="ppaction://hlinksldjump"/>
              </a:rPr>
              <a:t>水平分解：</a:t>
            </a:r>
            <a:r>
              <a:rPr kumimoji="1" lang="zh-CN" altLang="en-US" b="1" dirty="0">
                <a:solidFill>
                  <a:srgbClr val="000066"/>
                </a:solidFill>
                <a:latin typeface="楷体_GB2312" pitchFamily="49" charset="-122"/>
                <a:ea typeface="楷体_GB2312" pitchFamily="49" charset="-122"/>
              </a:rPr>
              <a:t>把</a:t>
            </a:r>
            <a:r>
              <a:rPr kumimoji="1" lang="en-US" altLang="zh-CN" b="1" dirty="0">
                <a:solidFill>
                  <a:srgbClr val="000066"/>
                </a:solidFill>
                <a:latin typeface="楷体_GB2312" pitchFamily="49" charset="-122"/>
                <a:ea typeface="楷体_GB2312" pitchFamily="49" charset="-122"/>
              </a:rPr>
              <a:t>(</a:t>
            </a:r>
            <a:r>
              <a:rPr kumimoji="1" lang="zh-CN" altLang="en-US" b="1" dirty="0">
                <a:solidFill>
                  <a:srgbClr val="000066"/>
                </a:solidFill>
                <a:latin typeface="楷体_GB2312" pitchFamily="49" charset="-122"/>
                <a:ea typeface="楷体_GB2312" pitchFamily="49" charset="-122"/>
              </a:rPr>
              <a:t>基本</a:t>
            </a:r>
            <a:r>
              <a:rPr kumimoji="1" lang="en-US" altLang="zh-CN" b="1" dirty="0">
                <a:solidFill>
                  <a:srgbClr val="000066"/>
                </a:solidFill>
                <a:latin typeface="楷体_GB2312" pitchFamily="49" charset="-122"/>
                <a:ea typeface="楷体_GB2312" pitchFamily="49" charset="-122"/>
              </a:rPr>
              <a:t>)</a:t>
            </a:r>
            <a:r>
              <a:rPr kumimoji="1" lang="zh-CN" altLang="en-US" b="1" dirty="0">
                <a:solidFill>
                  <a:srgbClr val="000066"/>
                </a:solidFill>
                <a:latin typeface="楷体_GB2312" pitchFamily="49" charset="-122"/>
                <a:ea typeface="楷体_GB2312" pitchFamily="49" charset="-122"/>
              </a:rPr>
              <a:t>关系的元组分为若干子集合，定义每个子集合为一个子关系，以提高系统的效率。</a:t>
            </a:r>
          </a:p>
          <a:p>
            <a:pPr marL="742950" lvl="1" indent="-285750" eaLnBrk="1" hangingPunct="1">
              <a:lnSpc>
                <a:spcPct val="105000"/>
              </a:lnSpc>
              <a:spcBef>
                <a:spcPct val="20000"/>
              </a:spcBef>
              <a:buClr>
                <a:schemeClr val="hlink"/>
              </a:buClr>
              <a:buFontTx/>
              <a:buChar char="–"/>
            </a:pPr>
            <a:r>
              <a:rPr kumimoji="1" lang="zh-CN" altLang="en-US" b="1" dirty="0">
                <a:solidFill>
                  <a:srgbClr val="000066"/>
                </a:solidFill>
                <a:latin typeface="楷体_GB2312" pitchFamily="49" charset="-122"/>
                <a:ea typeface="楷体_GB2312" pitchFamily="49" charset="-122"/>
                <a:hlinkClick r:id="rId4" action="ppaction://hlinksldjump"/>
              </a:rPr>
              <a:t>垂直分解：</a:t>
            </a:r>
            <a:r>
              <a:rPr kumimoji="1" lang="zh-CN" altLang="en-US" b="1" dirty="0">
                <a:solidFill>
                  <a:srgbClr val="000066"/>
                </a:solidFill>
                <a:latin typeface="楷体_GB2312" pitchFamily="49" charset="-122"/>
                <a:ea typeface="楷体_GB2312" pitchFamily="49" charset="-122"/>
              </a:rPr>
              <a:t>把关系模式</a:t>
            </a:r>
            <a:r>
              <a:rPr kumimoji="1" lang="en-US" altLang="zh-CN" b="1" dirty="0">
                <a:solidFill>
                  <a:srgbClr val="000066"/>
                </a:solidFill>
                <a:latin typeface="楷体_GB2312" pitchFamily="49" charset="-122"/>
                <a:ea typeface="楷体_GB2312" pitchFamily="49" charset="-122"/>
              </a:rPr>
              <a:t>R</a:t>
            </a:r>
            <a:r>
              <a:rPr kumimoji="1" lang="zh-CN" altLang="en-US" b="1" dirty="0">
                <a:solidFill>
                  <a:srgbClr val="000066"/>
                </a:solidFill>
                <a:latin typeface="楷体_GB2312" pitchFamily="49" charset="-122"/>
                <a:ea typeface="楷体_GB2312" pitchFamily="49" charset="-122"/>
              </a:rPr>
              <a:t>的属性分解为若干子集合，形成若干子关系模式。</a:t>
            </a:r>
          </a:p>
        </p:txBody>
      </p:sp>
      <p:sp>
        <p:nvSpPr>
          <p:cNvPr id="7" name="矩形 6"/>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8"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5" name="Rectangle 8"/>
          <p:cNvSpPr>
            <a:spLocks noChangeArrowheads="1"/>
          </p:cNvSpPr>
          <p:nvPr/>
        </p:nvSpPr>
        <p:spPr bwMode="auto">
          <a:xfrm>
            <a:off x="517899" y="1096321"/>
            <a:ext cx="10293927" cy="101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eaLnBrk="1" hangingPunct="1">
              <a:lnSpc>
                <a:spcPct val="125000"/>
              </a:lnSpc>
              <a:spcBef>
                <a:spcPts val="0"/>
              </a:spcBef>
              <a:buClr>
                <a:schemeClr val="accent1"/>
              </a:buClr>
            </a:pPr>
            <a:r>
              <a:rPr kumimoji="1" lang="en-US" altLang="zh-CN" sz="2400" b="1" i="0" dirty="0">
                <a:solidFill>
                  <a:srgbClr val="000066"/>
                </a:solidFill>
                <a:latin typeface="楷体_GB2312" pitchFamily="49" charset="-122"/>
                <a:ea typeface="楷体_GB2312" pitchFamily="49" charset="-122"/>
              </a:rPr>
              <a:t>⒋ </a:t>
            </a:r>
            <a:r>
              <a:rPr kumimoji="1" lang="zh-CN" altLang="en-US" sz="2400" b="1" i="0" dirty="0">
                <a:solidFill>
                  <a:srgbClr val="000066"/>
                </a:solidFill>
                <a:latin typeface="楷体_GB2312" pitchFamily="49" charset="-122"/>
                <a:ea typeface="楷体_GB2312" pitchFamily="49" charset="-122"/>
              </a:rPr>
              <a:t>按照需求分析阶段得到的各种应用对数据处理的要求，分析对于这样的应用环境这些模式是否合适，确定是否要对它们进行</a:t>
            </a:r>
            <a:r>
              <a:rPr kumimoji="1" lang="zh-CN" altLang="en-US" sz="2400" b="1" i="0" dirty="0">
                <a:solidFill>
                  <a:srgbClr val="CC3300"/>
                </a:solidFill>
                <a:latin typeface="楷体_GB2312" pitchFamily="49" charset="-122"/>
                <a:ea typeface="楷体_GB2312" pitchFamily="49" charset="-122"/>
              </a:rPr>
              <a:t>合并或分解</a:t>
            </a:r>
            <a:r>
              <a:rPr kumimoji="1" lang="zh-CN" altLang="en-US" sz="2400" b="1" i="0" dirty="0">
                <a:solidFill>
                  <a:srgbClr val="000066"/>
                </a:solidFill>
                <a:latin typeface="楷体_GB2312" pitchFamily="49" charset="-122"/>
                <a:ea typeface="楷体_GB2312" pitchFamily="49" charset="-122"/>
              </a:rPr>
              <a:t>。</a:t>
            </a:r>
          </a:p>
        </p:txBody>
      </p:sp>
      <p:sp>
        <p:nvSpPr>
          <p:cNvPr id="9"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10" name="直接连接符 9"/>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84356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755076" y="772395"/>
            <a:ext cx="77724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marL="342900" indent="-342900" eaLnBrk="1" hangingPunct="1">
              <a:buFont typeface="Wingdings" panose="05000000000000000000" pitchFamily="2" charset="2"/>
              <a:buChar char="l"/>
            </a:pPr>
            <a:r>
              <a:rPr lang="zh-CN" altLang="en-US" sz="2400" b="1" dirty="0">
                <a:solidFill>
                  <a:srgbClr val="000066"/>
                </a:solidFill>
              </a:rPr>
              <a:t>水平分解适用范围：</a:t>
            </a:r>
          </a:p>
        </p:txBody>
      </p:sp>
      <p:sp>
        <p:nvSpPr>
          <p:cNvPr id="7" name="Rectangle 3"/>
          <p:cNvSpPr txBox="1">
            <a:spLocks noChangeArrowheads="1"/>
          </p:cNvSpPr>
          <p:nvPr/>
        </p:nvSpPr>
        <p:spPr bwMode="auto">
          <a:xfrm>
            <a:off x="3125671" y="7064163"/>
            <a:ext cx="8153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5000"/>
              </a:lnSpc>
              <a:buFontTx/>
              <a:buNone/>
            </a:pPr>
            <a:r>
              <a:rPr lang="en-US" altLang="zh-CN" b="1" dirty="0">
                <a:solidFill>
                  <a:srgbClr val="000066"/>
                </a:solidFill>
                <a:latin typeface="宋体" panose="02010600030101010101" pitchFamily="2" charset="-122"/>
              </a:rPr>
              <a:t>  </a:t>
            </a:r>
            <a:endParaRPr lang="zh-CN" altLang="en-US" b="1" dirty="0">
              <a:solidFill>
                <a:srgbClr val="000066"/>
              </a:solidFill>
              <a:latin typeface="宋体" panose="02010600030101010101" pitchFamily="2" charset="-122"/>
            </a:endParaRPr>
          </a:p>
        </p:txBody>
      </p:sp>
      <p:sp>
        <p:nvSpPr>
          <p:cNvPr id="5" name="矩形 4"/>
          <p:cNvSpPr/>
          <p:nvPr/>
        </p:nvSpPr>
        <p:spPr>
          <a:xfrm>
            <a:off x="-54244" y="1242510"/>
            <a:ext cx="11894949" cy="5336846"/>
          </a:xfrm>
          <a:prstGeom prst="rect">
            <a:avLst/>
          </a:prstGeom>
        </p:spPr>
        <p:txBody>
          <a:bodyPr wrap="square">
            <a:spAutoFit/>
          </a:bodyPr>
          <a:lstStyle/>
          <a:p>
            <a:pPr marL="742950" lvl="1" indent="-285750">
              <a:lnSpc>
                <a:spcPct val="120000"/>
              </a:lnSpc>
              <a:spcBef>
                <a:spcPct val="20000"/>
              </a:spcBef>
              <a:buClr>
                <a:schemeClr val="hlink"/>
              </a:buClr>
              <a:buFontTx/>
              <a:buChar char="–"/>
            </a:pPr>
            <a:r>
              <a:rPr kumimoji="1" lang="zh-CN" altLang="en-US" sz="2400" b="1" dirty="0">
                <a:solidFill>
                  <a:srgbClr val="000066"/>
                </a:solidFill>
                <a:latin typeface="楷体_GB2312" pitchFamily="49" charset="-122"/>
                <a:ea typeface="楷体_GB2312" pitchFamily="49" charset="-122"/>
              </a:rPr>
              <a:t>满足“</a:t>
            </a:r>
            <a:r>
              <a:rPr kumimoji="1" lang="en-US" altLang="zh-CN" sz="2400" b="1" dirty="0">
                <a:solidFill>
                  <a:srgbClr val="000066"/>
                </a:solidFill>
                <a:latin typeface="楷体_GB2312" pitchFamily="49" charset="-122"/>
                <a:ea typeface="楷体_GB2312" pitchFamily="49" charset="-122"/>
              </a:rPr>
              <a:t>80/20</a:t>
            </a:r>
            <a:r>
              <a:rPr kumimoji="1" lang="zh-CN" altLang="en-US" sz="2400" b="1" dirty="0">
                <a:solidFill>
                  <a:srgbClr val="000066"/>
                </a:solidFill>
                <a:latin typeface="楷体_GB2312" pitchFamily="49" charset="-122"/>
                <a:ea typeface="楷体_GB2312" pitchFamily="49" charset="-122"/>
              </a:rPr>
              <a:t>原则”的应用：一个大关系中，经常被使用的数据只是关系的一部分，约</a:t>
            </a:r>
            <a:r>
              <a:rPr kumimoji="1" lang="en-US" altLang="zh-CN" sz="2400" b="1" dirty="0">
                <a:solidFill>
                  <a:srgbClr val="000066"/>
                </a:solidFill>
                <a:latin typeface="楷体_GB2312" pitchFamily="49" charset="-122"/>
                <a:ea typeface="楷体_GB2312" pitchFamily="49" charset="-122"/>
              </a:rPr>
              <a:t>20%</a:t>
            </a:r>
            <a:r>
              <a:rPr kumimoji="1" lang="zh-CN" altLang="en-US" sz="2400" b="1" dirty="0">
                <a:solidFill>
                  <a:srgbClr val="000066"/>
                </a:solidFill>
                <a:latin typeface="楷体_GB2312" pitchFamily="49" charset="-122"/>
                <a:ea typeface="楷体_GB2312" pitchFamily="49" charset="-122"/>
              </a:rPr>
              <a:t>，把经常使用的数据分解出来，形成一个子关系，可以减少查询的数据量。</a:t>
            </a:r>
            <a:endParaRPr kumimoji="1" lang="en-US" altLang="zh-CN" sz="2400" b="1" dirty="0">
              <a:solidFill>
                <a:srgbClr val="000066"/>
              </a:solidFill>
              <a:latin typeface="楷体_GB2312" pitchFamily="49" charset="-122"/>
              <a:ea typeface="楷体_GB2312" pitchFamily="49" charset="-122"/>
            </a:endParaRPr>
          </a:p>
          <a:p>
            <a:pPr lvl="1">
              <a:lnSpc>
                <a:spcPct val="120000"/>
              </a:lnSpc>
              <a:spcBef>
                <a:spcPct val="20000"/>
              </a:spcBef>
              <a:buClr>
                <a:schemeClr val="hlink"/>
              </a:buClr>
            </a:pP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例</a:t>
            </a:r>
            <a:r>
              <a:rPr lang="en-US" altLang="zh-CN" sz="2400" b="1" dirty="0">
                <a:solidFill>
                  <a:srgbClr val="FF0000"/>
                </a:solidFill>
                <a:latin typeface="宋体" panose="02010600030101010101" pitchFamily="2" charset="-122"/>
              </a:rPr>
              <a:t>】</a:t>
            </a:r>
            <a:r>
              <a:rPr kumimoji="1" lang="zh-CN" altLang="en-US" sz="2400" b="1" dirty="0">
                <a:solidFill>
                  <a:srgbClr val="000066"/>
                </a:solidFill>
                <a:latin typeface="楷体_GB2312" pitchFamily="49" charset="-122"/>
                <a:ea typeface="楷体_GB2312" pitchFamily="49" charset="-122"/>
              </a:rPr>
              <a:t>某网站注册用户：</a:t>
            </a:r>
            <a:r>
              <a:rPr lang="zh-CN" altLang="en-US" sz="2400" b="1" dirty="0">
                <a:solidFill>
                  <a:srgbClr val="FF0000"/>
                </a:solidFill>
                <a:latin typeface="宋体" panose="02010600030101010101" pitchFamily="2" charset="-122"/>
              </a:rPr>
              <a:t>用户</a:t>
            </a: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用户</a:t>
            </a:r>
            <a:r>
              <a:rPr lang="en-US" altLang="zh-CN" sz="2400" b="1" dirty="0">
                <a:solidFill>
                  <a:srgbClr val="FF0000"/>
                </a:solidFill>
                <a:latin typeface="宋体" panose="02010600030101010101" pitchFamily="2" charset="-122"/>
              </a:rPr>
              <a:t>ID</a:t>
            </a:r>
            <a:r>
              <a:rPr lang="zh-CN" altLang="en-US" sz="2400" b="1" dirty="0">
                <a:solidFill>
                  <a:srgbClr val="FF0000"/>
                </a:solidFill>
                <a:latin typeface="宋体" panose="02010600030101010101" pitchFamily="2" charset="-122"/>
              </a:rPr>
              <a:t>，用户名，</a:t>
            </a:r>
            <a:r>
              <a:rPr lang="en-US" altLang="zh-CN" sz="2400" b="1" dirty="0">
                <a:solidFill>
                  <a:srgbClr val="FF0000"/>
                </a:solidFill>
                <a:latin typeface="宋体" panose="02010600030101010101" pitchFamily="2" charset="-122"/>
              </a:rPr>
              <a:t>…)</a:t>
            </a:r>
          </a:p>
          <a:p>
            <a:pPr lvl="1">
              <a:lnSpc>
                <a:spcPct val="120000"/>
              </a:lnSpc>
              <a:spcBef>
                <a:spcPct val="20000"/>
              </a:spcBef>
              <a:buClr>
                <a:schemeClr val="hlink"/>
              </a:buClr>
            </a:pPr>
            <a:r>
              <a:rPr kumimoji="1" lang="en-US" altLang="zh-CN" sz="2400" b="1" dirty="0">
                <a:solidFill>
                  <a:srgbClr val="FF0000"/>
                </a:solidFill>
                <a:latin typeface="宋体" panose="02010600030101010101" pitchFamily="2" charset="-122"/>
                <a:ea typeface="楷体_GB2312" pitchFamily="49" charset="-122"/>
              </a:rPr>
              <a:t> </a:t>
            </a:r>
            <a:r>
              <a:rPr kumimoji="1" lang="zh-CN" altLang="en-US" sz="2400" b="1" dirty="0">
                <a:solidFill>
                  <a:srgbClr val="000066"/>
                </a:solidFill>
                <a:latin typeface="楷体_GB2312" pitchFamily="49" charset="-122"/>
                <a:ea typeface="楷体_GB2312" pitchFamily="49" charset="-122"/>
              </a:rPr>
              <a:t>用户情况：只有少部分是活跃用户，其他用户都很少登录甚至从不登录。</a:t>
            </a:r>
            <a:endParaRPr kumimoji="1" lang="en-US" altLang="zh-CN" sz="2400" b="1" dirty="0">
              <a:solidFill>
                <a:srgbClr val="000066"/>
              </a:solidFill>
              <a:latin typeface="楷体_GB2312" pitchFamily="49" charset="-122"/>
              <a:ea typeface="楷体_GB2312" pitchFamily="49" charset="-122"/>
            </a:endParaRPr>
          </a:p>
          <a:p>
            <a:pPr lvl="1">
              <a:lnSpc>
                <a:spcPct val="120000"/>
              </a:lnSpc>
              <a:spcBef>
                <a:spcPct val="20000"/>
              </a:spcBef>
              <a:buClr>
                <a:schemeClr val="hlink"/>
              </a:buClr>
            </a:pPr>
            <a:r>
              <a:rPr kumimoji="1" lang="en-US" altLang="zh-CN" sz="2400" b="1" dirty="0">
                <a:solidFill>
                  <a:srgbClr val="FF0000"/>
                </a:solidFill>
                <a:latin typeface="宋体" panose="02010600030101010101" pitchFamily="2" charset="-122"/>
                <a:ea typeface="楷体_GB2312" pitchFamily="49" charset="-122"/>
              </a:rPr>
              <a:t> </a:t>
            </a:r>
            <a:r>
              <a:rPr kumimoji="1" lang="zh-CN" altLang="en-US" sz="2400" b="1" dirty="0">
                <a:solidFill>
                  <a:srgbClr val="000066"/>
                </a:solidFill>
                <a:latin typeface="楷体_GB2312" pitchFamily="49" charset="-122"/>
                <a:ea typeface="楷体_GB2312" pitchFamily="49" charset="-122"/>
              </a:rPr>
              <a:t>水平分割：</a:t>
            </a:r>
            <a:r>
              <a:rPr lang="en-US" altLang="zh-CN" sz="2400" b="1" dirty="0">
                <a:solidFill>
                  <a:srgbClr val="FF0000"/>
                </a:solidFill>
                <a:latin typeface="宋体" panose="02010600030101010101" pitchFamily="2" charset="-122"/>
              </a:rPr>
              <a:t>1.</a:t>
            </a:r>
            <a:r>
              <a:rPr lang="zh-CN" altLang="en-US" sz="2400" b="1" dirty="0">
                <a:solidFill>
                  <a:srgbClr val="FF0000"/>
                </a:solidFill>
                <a:latin typeface="宋体" panose="02010600030101010101" pitchFamily="2" charset="-122"/>
              </a:rPr>
              <a:t>活跃用户（</a:t>
            </a: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  </a:t>
            </a:r>
            <a:r>
              <a:rPr lang="en-US" altLang="zh-CN" sz="2400" b="1" dirty="0">
                <a:solidFill>
                  <a:srgbClr val="FF0000"/>
                </a:solidFill>
                <a:latin typeface="宋体" panose="02010600030101010101" pitchFamily="2" charset="-122"/>
              </a:rPr>
              <a:t>2.</a:t>
            </a:r>
            <a:r>
              <a:rPr lang="zh-CN" altLang="en-US" sz="2400" b="1" dirty="0">
                <a:solidFill>
                  <a:srgbClr val="FF0000"/>
                </a:solidFill>
                <a:latin typeface="宋体" panose="02010600030101010101" pitchFamily="2" charset="-122"/>
              </a:rPr>
              <a:t>非活跃用户（</a:t>
            </a: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a:t>
            </a:r>
            <a:endParaRPr lang="en-US" altLang="zh-CN" sz="2400" b="1" dirty="0">
              <a:solidFill>
                <a:srgbClr val="FF0000"/>
              </a:solidFill>
              <a:latin typeface="宋体" panose="02010600030101010101" pitchFamily="2" charset="-122"/>
            </a:endParaRPr>
          </a:p>
          <a:p>
            <a:pPr marL="742950" lvl="1" indent="-285750">
              <a:lnSpc>
                <a:spcPct val="120000"/>
              </a:lnSpc>
              <a:spcBef>
                <a:spcPct val="20000"/>
              </a:spcBef>
              <a:buClr>
                <a:schemeClr val="hlink"/>
              </a:buClr>
              <a:buFontTx/>
              <a:buChar char="–"/>
            </a:pPr>
            <a:r>
              <a:rPr kumimoji="1" lang="zh-CN" altLang="en-US" sz="2400" b="1" dirty="0">
                <a:solidFill>
                  <a:srgbClr val="000066"/>
                </a:solidFill>
                <a:latin typeface="楷体_GB2312" pitchFamily="49" charset="-122"/>
                <a:ea typeface="楷体_GB2312" pitchFamily="49" charset="-122"/>
              </a:rPr>
              <a:t>并发事务经常存取不相交的数据：如果关系</a:t>
            </a:r>
            <a:r>
              <a:rPr kumimoji="1" lang="en-US" altLang="zh-CN" sz="2400" b="1" dirty="0">
                <a:solidFill>
                  <a:srgbClr val="000066"/>
                </a:solidFill>
                <a:latin typeface="楷体_GB2312" pitchFamily="49" charset="-122"/>
                <a:ea typeface="楷体_GB2312" pitchFamily="49" charset="-122"/>
              </a:rPr>
              <a:t>R</a:t>
            </a:r>
            <a:r>
              <a:rPr kumimoji="1" lang="zh-CN" altLang="en-US" sz="2400" b="1" dirty="0">
                <a:solidFill>
                  <a:srgbClr val="000066"/>
                </a:solidFill>
                <a:latin typeface="楷体_GB2312" pitchFamily="49" charset="-122"/>
                <a:ea typeface="楷体_GB2312" pitchFamily="49" charset="-122"/>
              </a:rPr>
              <a:t>上具有</a:t>
            </a:r>
            <a:r>
              <a:rPr kumimoji="1" lang="en-US" altLang="zh-CN" sz="2400" b="1" dirty="0">
                <a:solidFill>
                  <a:srgbClr val="000066"/>
                </a:solidFill>
                <a:latin typeface="楷体_GB2312" pitchFamily="49" charset="-122"/>
                <a:ea typeface="楷体_GB2312" pitchFamily="49" charset="-122"/>
              </a:rPr>
              <a:t>n</a:t>
            </a:r>
            <a:r>
              <a:rPr kumimoji="1" lang="zh-CN" altLang="en-US" sz="2400" b="1" dirty="0">
                <a:solidFill>
                  <a:srgbClr val="000066"/>
                </a:solidFill>
                <a:latin typeface="楷体_GB2312" pitchFamily="49" charset="-122"/>
                <a:ea typeface="楷体_GB2312" pitchFamily="49" charset="-122"/>
              </a:rPr>
              <a:t>个事务，而且多数事务存取的数据不相交，则</a:t>
            </a:r>
            <a:r>
              <a:rPr kumimoji="1" lang="en-US" altLang="zh-CN" sz="2400" b="1" dirty="0">
                <a:solidFill>
                  <a:srgbClr val="000066"/>
                </a:solidFill>
                <a:latin typeface="楷体_GB2312" pitchFamily="49" charset="-122"/>
                <a:ea typeface="楷体_GB2312" pitchFamily="49" charset="-122"/>
              </a:rPr>
              <a:t>R</a:t>
            </a:r>
            <a:r>
              <a:rPr kumimoji="1" lang="zh-CN" altLang="en-US" sz="2400" b="1" dirty="0">
                <a:solidFill>
                  <a:srgbClr val="000066"/>
                </a:solidFill>
                <a:latin typeface="楷体_GB2312" pitchFamily="49" charset="-122"/>
                <a:ea typeface="楷体_GB2312" pitchFamily="49" charset="-122"/>
              </a:rPr>
              <a:t>可分解为少于或等于</a:t>
            </a:r>
            <a:r>
              <a:rPr kumimoji="1" lang="en-US" altLang="zh-CN" sz="2400" b="1" dirty="0">
                <a:solidFill>
                  <a:srgbClr val="000066"/>
                </a:solidFill>
                <a:latin typeface="楷体_GB2312" pitchFamily="49" charset="-122"/>
                <a:ea typeface="楷体_GB2312" pitchFamily="49" charset="-122"/>
              </a:rPr>
              <a:t>n</a:t>
            </a:r>
            <a:r>
              <a:rPr kumimoji="1" lang="zh-CN" altLang="en-US" sz="2400" b="1" dirty="0">
                <a:solidFill>
                  <a:srgbClr val="000066"/>
                </a:solidFill>
                <a:latin typeface="楷体_GB2312" pitchFamily="49" charset="-122"/>
                <a:ea typeface="楷体_GB2312" pitchFamily="49" charset="-122"/>
              </a:rPr>
              <a:t>个子关系，使每个事务存取的数据对应一个关系。</a:t>
            </a:r>
            <a:endParaRPr lang="en-US" altLang="zh-CN" sz="2400" b="1" dirty="0">
              <a:solidFill>
                <a:srgbClr val="000066"/>
              </a:solidFill>
              <a:latin typeface="宋体" panose="02010600030101010101" pitchFamily="2" charset="-122"/>
            </a:endParaRPr>
          </a:p>
          <a:p>
            <a:pPr lvl="1">
              <a:lnSpc>
                <a:spcPct val="120000"/>
              </a:lnSpc>
              <a:spcBef>
                <a:spcPct val="20000"/>
              </a:spcBef>
              <a:buClr>
                <a:schemeClr val="hlink"/>
              </a:buClr>
            </a:pP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例</a:t>
            </a:r>
            <a:r>
              <a:rPr lang="en-US" altLang="zh-CN" sz="2400" b="1" dirty="0">
                <a:solidFill>
                  <a:srgbClr val="FF0000"/>
                </a:solidFill>
                <a:latin typeface="宋体" panose="02010600030101010101" pitchFamily="2" charset="-122"/>
              </a:rPr>
              <a:t>】</a:t>
            </a:r>
            <a:r>
              <a:rPr lang="zh-CN" altLang="en-US" sz="2400" b="1" dirty="0">
                <a:solidFill>
                  <a:srgbClr val="000066"/>
                </a:solidFill>
                <a:latin typeface="宋体" panose="02010600030101010101" pitchFamily="2" charset="-122"/>
              </a:rPr>
              <a:t>某大学学生信息表：</a:t>
            </a:r>
            <a:r>
              <a:rPr lang="zh-CN" altLang="en-US" sz="2400" b="1" dirty="0">
                <a:solidFill>
                  <a:srgbClr val="FF0000"/>
                </a:solidFill>
                <a:latin typeface="宋体" panose="02010600030101010101" pitchFamily="2" charset="-122"/>
              </a:rPr>
              <a:t>学生</a:t>
            </a: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学号，姓名，出生年月，</a:t>
            </a:r>
            <a:r>
              <a:rPr lang="en-US" altLang="zh-CN" sz="2400" b="1" dirty="0">
                <a:solidFill>
                  <a:srgbClr val="FF0000"/>
                </a:solidFill>
                <a:latin typeface="宋体" panose="02010600030101010101" pitchFamily="2" charset="-122"/>
              </a:rPr>
              <a:t>…)</a:t>
            </a:r>
          </a:p>
          <a:p>
            <a:pPr lvl="2" algn="just">
              <a:lnSpc>
                <a:spcPct val="120000"/>
              </a:lnSpc>
            </a:pPr>
            <a:r>
              <a:rPr lang="zh-CN" altLang="en-US" sz="2400" b="1" dirty="0">
                <a:solidFill>
                  <a:srgbClr val="000066"/>
                </a:solidFill>
                <a:latin typeface="宋体" panose="02010600030101010101" pitchFamily="2" charset="-122"/>
              </a:rPr>
              <a:t>事实情况：多数查询一次仅涉及其中一类学生。</a:t>
            </a:r>
            <a:endParaRPr lang="en-US" altLang="zh-CN" sz="2400" b="1" dirty="0">
              <a:solidFill>
                <a:srgbClr val="000066"/>
              </a:solidFill>
              <a:latin typeface="宋体" panose="02010600030101010101" pitchFamily="2" charset="-122"/>
            </a:endParaRPr>
          </a:p>
          <a:p>
            <a:pPr lvl="2">
              <a:lnSpc>
                <a:spcPct val="120000"/>
              </a:lnSpc>
            </a:pPr>
            <a:r>
              <a:rPr lang="zh-CN" altLang="en-US" sz="2400" b="1" dirty="0">
                <a:solidFill>
                  <a:srgbClr val="000066"/>
                </a:solidFill>
                <a:latin typeface="宋体" panose="02010600030101010101" pitchFamily="2" charset="-122"/>
              </a:rPr>
              <a:t>水平分割：</a:t>
            </a:r>
            <a:r>
              <a:rPr lang="en-US" altLang="zh-CN" sz="2400" b="1" dirty="0">
                <a:solidFill>
                  <a:srgbClr val="FF0000"/>
                </a:solidFill>
                <a:latin typeface="宋体" panose="02010600030101010101" pitchFamily="2" charset="-122"/>
              </a:rPr>
              <a:t>1.</a:t>
            </a:r>
            <a:r>
              <a:rPr lang="zh-CN" altLang="en-US" sz="2400" b="1" dirty="0">
                <a:solidFill>
                  <a:srgbClr val="FF0000"/>
                </a:solidFill>
                <a:latin typeface="宋体" panose="02010600030101010101" pitchFamily="2" charset="-122"/>
              </a:rPr>
              <a:t>本科生</a:t>
            </a:r>
            <a:r>
              <a:rPr lang="en-US" altLang="zh-CN" sz="2400" b="1" dirty="0">
                <a:solidFill>
                  <a:srgbClr val="FF0000"/>
                </a:solidFill>
                <a:latin typeface="宋体" panose="02010600030101010101" pitchFamily="2" charset="-122"/>
              </a:rPr>
              <a:t>(</a:t>
            </a:r>
            <a:r>
              <a:rPr lang="en-US" altLang="zh-CN" sz="2400" b="1" dirty="0">
                <a:solidFill>
                  <a:srgbClr val="FF0000"/>
                </a:solidFill>
              </a:rPr>
              <a:t>…</a:t>
            </a:r>
            <a:r>
              <a:rPr lang="en-US" altLang="zh-CN" sz="2400" b="1" dirty="0">
                <a:solidFill>
                  <a:srgbClr val="FF0000"/>
                </a:solidFill>
                <a:latin typeface="宋体" panose="02010600030101010101" pitchFamily="2" charset="-122"/>
              </a:rPr>
              <a:t>)    2.</a:t>
            </a:r>
            <a:r>
              <a:rPr lang="zh-CN" altLang="en-US" sz="2400" b="1" dirty="0">
                <a:solidFill>
                  <a:srgbClr val="FF0000"/>
                </a:solidFill>
                <a:latin typeface="宋体" panose="02010600030101010101" pitchFamily="2" charset="-122"/>
              </a:rPr>
              <a:t>硕士生</a:t>
            </a:r>
            <a:r>
              <a:rPr lang="en-US" altLang="zh-CN" sz="2400" b="1" dirty="0">
                <a:solidFill>
                  <a:srgbClr val="FF0000"/>
                </a:solidFill>
                <a:latin typeface="宋体" panose="02010600030101010101" pitchFamily="2" charset="-122"/>
              </a:rPr>
              <a:t>(</a:t>
            </a:r>
            <a:r>
              <a:rPr lang="en-US" altLang="zh-CN" sz="2400" b="1" dirty="0">
                <a:solidFill>
                  <a:srgbClr val="FF0000"/>
                </a:solidFill>
              </a:rPr>
              <a:t>…</a:t>
            </a:r>
            <a:r>
              <a:rPr lang="en-US" altLang="zh-CN" sz="2400" b="1" dirty="0">
                <a:solidFill>
                  <a:srgbClr val="FF0000"/>
                </a:solidFill>
                <a:latin typeface="宋体" panose="02010600030101010101" pitchFamily="2" charset="-122"/>
              </a:rPr>
              <a:t>)     3.</a:t>
            </a:r>
            <a:r>
              <a:rPr lang="zh-CN" altLang="en-US" sz="2400" b="1" dirty="0">
                <a:solidFill>
                  <a:srgbClr val="FF0000"/>
                </a:solidFill>
                <a:latin typeface="宋体" panose="02010600030101010101" pitchFamily="2" charset="-122"/>
              </a:rPr>
              <a:t>博士生</a:t>
            </a:r>
            <a:r>
              <a:rPr lang="en-US" altLang="zh-CN" sz="2400" b="1" dirty="0">
                <a:solidFill>
                  <a:srgbClr val="FF0000"/>
                </a:solidFill>
                <a:latin typeface="宋体" panose="02010600030101010101" pitchFamily="2" charset="-122"/>
              </a:rPr>
              <a:t>(</a:t>
            </a:r>
            <a:r>
              <a:rPr lang="en-US" altLang="zh-CN" sz="2400" b="1" dirty="0">
                <a:solidFill>
                  <a:srgbClr val="FF0000"/>
                </a:solidFill>
              </a:rPr>
              <a:t>…</a:t>
            </a:r>
            <a:r>
              <a:rPr lang="en-US" altLang="zh-CN" sz="2400" b="1" dirty="0">
                <a:solidFill>
                  <a:srgbClr val="FF0000"/>
                </a:solidFill>
                <a:latin typeface="宋体" panose="02010600030101010101" pitchFamily="2" charset="-122"/>
              </a:rPr>
              <a:t>)</a:t>
            </a:r>
            <a:endParaRPr lang="en-US" altLang="zh-CN" sz="2400" b="1" dirty="0">
              <a:solidFill>
                <a:srgbClr val="FF0000"/>
              </a:solidFill>
              <a:latin typeface="楷体_GB2312" pitchFamily="49" charset="-122"/>
              <a:ea typeface="楷体_GB2312" pitchFamily="49" charset="-122"/>
            </a:endParaRPr>
          </a:p>
        </p:txBody>
      </p:sp>
      <p:sp>
        <p:nvSpPr>
          <p:cNvPr id="9" name="矩形 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8"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10" name="直接连接符 9"/>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1648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down)">
                                      <p:cBhvr>
                                        <p:cTn id="15" dur="500"/>
                                        <p:tgtEl>
                                          <p:spTgt spid="5">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wipe(down)">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wipe(down)">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wipe(down)">
                                      <p:cBhvr>
                                        <p:cTn id="28" dur="500"/>
                                        <p:tgtEl>
                                          <p:spTgt spid="5">
                                            <p:txEl>
                                              <p:pRg st="5" end="5"/>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wipe(down)">
                                      <p:cBhvr>
                                        <p:cTn id="31" dur="500"/>
                                        <p:tgtEl>
                                          <p:spTgt spid="5">
                                            <p:txEl>
                                              <p:pRg st="6" end="6"/>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wipe(down)">
                                      <p:cBhvr>
                                        <p:cTn id="34"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381000" y="689267"/>
            <a:ext cx="77724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marL="342900" indent="-342900" eaLnBrk="1" hangingPunct="1">
              <a:buFont typeface="Wingdings" panose="05000000000000000000" pitchFamily="2" charset="2"/>
              <a:buChar char="l"/>
            </a:pPr>
            <a:r>
              <a:rPr lang="zh-CN" altLang="en-US" sz="2400" b="1" dirty="0">
                <a:solidFill>
                  <a:srgbClr val="000066"/>
                </a:solidFill>
              </a:rPr>
              <a:t>垂直分解</a:t>
            </a:r>
            <a:endParaRPr lang="en-US" altLang="zh-CN" sz="2400" b="1" dirty="0">
              <a:solidFill>
                <a:srgbClr val="000066"/>
              </a:solidFill>
            </a:endParaRPr>
          </a:p>
          <a:p>
            <a:pPr eaLnBrk="1" hangingPunct="1"/>
            <a:endParaRPr lang="zh-CN" altLang="en-US" sz="3600" b="1" dirty="0">
              <a:solidFill>
                <a:srgbClr val="000066"/>
              </a:solidFill>
            </a:endParaRPr>
          </a:p>
        </p:txBody>
      </p:sp>
      <p:sp>
        <p:nvSpPr>
          <p:cNvPr id="7" name="Rectangle 3"/>
          <p:cNvSpPr txBox="1">
            <a:spLocks noChangeArrowheads="1"/>
          </p:cNvSpPr>
          <p:nvPr/>
        </p:nvSpPr>
        <p:spPr bwMode="auto">
          <a:xfrm>
            <a:off x="432893" y="1222295"/>
            <a:ext cx="11388436" cy="555138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eaLnBrk="1" hangingPunct="1">
              <a:lnSpc>
                <a:spcPct val="150000"/>
              </a:lnSpc>
              <a:spcBef>
                <a:spcPct val="20000"/>
              </a:spcBef>
              <a:buClr>
                <a:schemeClr val="hlink"/>
              </a:buClr>
              <a:buFontTx/>
              <a:buChar char="–"/>
            </a:pPr>
            <a:r>
              <a:rPr kumimoji="1" lang="zh-CN" altLang="en-US" b="1" dirty="0">
                <a:solidFill>
                  <a:srgbClr val="000066"/>
                </a:solidFill>
                <a:latin typeface="楷体_GB2312" pitchFamily="49" charset="-122"/>
                <a:ea typeface="楷体_GB2312" pitchFamily="49" charset="-122"/>
              </a:rPr>
              <a:t>适用范围：取决于分解后</a:t>
            </a:r>
            <a:r>
              <a:rPr kumimoji="1" lang="en-US" altLang="zh-CN" b="1" dirty="0">
                <a:solidFill>
                  <a:srgbClr val="000066"/>
                </a:solidFill>
                <a:latin typeface="楷体_GB2312" pitchFamily="49" charset="-122"/>
                <a:ea typeface="楷体_GB2312" pitchFamily="49" charset="-122"/>
              </a:rPr>
              <a:t>R</a:t>
            </a:r>
            <a:r>
              <a:rPr kumimoji="1" lang="zh-CN" altLang="en-US" b="1" dirty="0">
                <a:solidFill>
                  <a:srgbClr val="000066"/>
                </a:solidFill>
                <a:latin typeface="楷体_GB2312" pitchFamily="49" charset="-122"/>
                <a:ea typeface="楷体_GB2312" pitchFamily="49" charset="-122"/>
              </a:rPr>
              <a:t>上的所有事务的总效率是否得到了提高。</a:t>
            </a:r>
            <a:endParaRPr kumimoji="1" lang="en-US" altLang="zh-CN" b="1" dirty="0">
              <a:solidFill>
                <a:srgbClr val="000066"/>
              </a:solidFill>
              <a:latin typeface="楷体_GB2312" pitchFamily="49" charset="-122"/>
              <a:ea typeface="楷体_GB2312" pitchFamily="49" charset="-122"/>
            </a:endParaRPr>
          </a:p>
          <a:p>
            <a:pPr marL="742950" lvl="1" indent="-285750" eaLnBrk="1" hangingPunct="1">
              <a:lnSpc>
                <a:spcPct val="150000"/>
              </a:lnSpc>
              <a:spcBef>
                <a:spcPct val="20000"/>
              </a:spcBef>
              <a:buClr>
                <a:schemeClr val="hlink"/>
              </a:buClr>
              <a:buFontTx/>
              <a:buChar char="–"/>
            </a:pPr>
            <a:r>
              <a:rPr kumimoji="1" lang="zh-CN" altLang="en-US" b="1" dirty="0">
                <a:solidFill>
                  <a:srgbClr val="000066"/>
                </a:solidFill>
                <a:latin typeface="楷体_GB2312" pitchFamily="49" charset="-122"/>
                <a:ea typeface="楷体_GB2312" pitchFamily="49" charset="-122"/>
              </a:rPr>
              <a:t>原则：垂直分解必须保持无损连接性和保持函数依赖。</a:t>
            </a:r>
            <a:endParaRPr kumimoji="1" lang="en-US" altLang="zh-CN" b="1" dirty="0">
              <a:solidFill>
                <a:srgbClr val="000066"/>
              </a:solidFill>
              <a:latin typeface="楷体_GB2312" pitchFamily="49" charset="-122"/>
              <a:ea typeface="楷体_GB2312" pitchFamily="49" charset="-122"/>
            </a:endParaRPr>
          </a:p>
          <a:p>
            <a:pPr marL="742950" lvl="1" indent="-285750" eaLnBrk="1" hangingPunct="1">
              <a:lnSpc>
                <a:spcPct val="150000"/>
              </a:lnSpc>
              <a:spcBef>
                <a:spcPct val="20000"/>
              </a:spcBef>
              <a:buClr>
                <a:schemeClr val="hlink"/>
              </a:buClr>
              <a:buFontTx/>
              <a:buChar char="–"/>
            </a:pPr>
            <a:r>
              <a:rPr kumimoji="1" lang="zh-CN" altLang="en-US" b="1" dirty="0">
                <a:solidFill>
                  <a:srgbClr val="000066"/>
                </a:solidFill>
                <a:latin typeface="楷体_GB2312" pitchFamily="49" charset="-122"/>
                <a:ea typeface="楷体_GB2312" pitchFamily="49" charset="-122"/>
              </a:rPr>
              <a:t>优点：减少数据传递量，提高查询速度。</a:t>
            </a:r>
            <a:endParaRPr lang="en-US" altLang="zh-CN" sz="2400" b="1" dirty="0">
              <a:solidFill>
                <a:srgbClr val="000066"/>
              </a:solidFill>
              <a:latin typeface="宋体" panose="02010600030101010101" pitchFamily="2" charset="-122"/>
            </a:endParaRPr>
          </a:p>
          <a:p>
            <a:pPr eaLnBrk="1" hangingPunct="1">
              <a:lnSpc>
                <a:spcPct val="150000"/>
              </a:lnSpc>
              <a:buClr>
                <a:schemeClr val="hlink"/>
              </a:buClr>
              <a:buFontTx/>
              <a:buNone/>
            </a:pPr>
            <a:r>
              <a:rPr lang="en-US" altLang="zh-CN" sz="2400" b="1" dirty="0">
                <a:solidFill>
                  <a:srgbClr val="000066"/>
                </a:solidFill>
                <a:latin typeface="宋体" panose="02010600030101010101" pitchFamily="2" charset="-122"/>
              </a:rPr>
              <a:t>【</a:t>
            </a:r>
            <a:r>
              <a:rPr lang="zh-CN" altLang="en-US" sz="2400" b="1" dirty="0">
                <a:solidFill>
                  <a:srgbClr val="000066"/>
                </a:solidFill>
                <a:latin typeface="宋体" panose="02010600030101010101" pitchFamily="2" charset="-122"/>
              </a:rPr>
              <a:t>例</a:t>
            </a:r>
            <a:r>
              <a:rPr lang="en-US" altLang="zh-CN" sz="2400" b="1" dirty="0">
                <a:solidFill>
                  <a:srgbClr val="000066"/>
                </a:solidFill>
                <a:latin typeface="宋体" panose="02010600030101010101" pitchFamily="2" charset="-122"/>
              </a:rPr>
              <a:t>】</a:t>
            </a:r>
            <a:r>
              <a:rPr lang="zh-CN" altLang="en-US" sz="2400" b="1" dirty="0">
                <a:solidFill>
                  <a:srgbClr val="000066"/>
                </a:solidFill>
                <a:latin typeface="宋体" panose="02010600030101010101" pitchFamily="2" charset="-122"/>
              </a:rPr>
              <a:t>学生情况的关系模式</a:t>
            </a:r>
            <a:br>
              <a:rPr lang="zh-CN" altLang="en-US" sz="2400" b="1" dirty="0">
                <a:solidFill>
                  <a:srgbClr val="000066"/>
                </a:solidFill>
                <a:latin typeface="宋体" panose="02010600030101010101" pitchFamily="2" charset="-122"/>
              </a:rPr>
            </a:br>
            <a:r>
              <a:rPr lang="zh-CN" altLang="en-US" sz="2400" b="1" dirty="0">
                <a:solidFill>
                  <a:srgbClr val="000066"/>
                </a:solidFill>
                <a:latin typeface="宋体" panose="02010600030101010101" pitchFamily="2" charset="-122"/>
              </a:rPr>
              <a:t> 学生</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学号</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姓名</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性别</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出生年月</a:t>
            </a:r>
            <a:r>
              <a:rPr lang="en-US" altLang="zh-CN" sz="2400" b="1" dirty="0">
                <a:solidFill>
                  <a:srgbClr val="669900"/>
                </a:solidFill>
                <a:latin typeface="宋体" panose="02010600030101010101" pitchFamily="2" charset="-122"/>
              </a:rPr>
              <a:t>, </a:t>
            </a:r>
            <a:r>
              <a:rPr lang="zh-CN" altLang="en-US" sz="2400" b="1" dirty="0">
                <a:solidFill>
                  <a:srgbClr val="669900"/>
                </a:solidFill>
                <a:latin typeface="宋体" panose="02010600030101010101" pitchFamily="2" charset="-122"/>
              </a:rPr>
              <a:t>专业班级，家庭住址</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联系方式，家庭联系人</a:t>
            </a:r>
            <a:r>
              <a:rPr lang="en-US" altLang="zh-CN" sz="2400" b="1" dirty="0">
                <a:solidFill>
                  <a:srgbClr val="669900"/>
                </a:solidFill>
                <a:latin typeface="宋体" panose="02010600030101010101" pitchFamily="2" charset="-122"/>
              </a:rPr>
              <a:t>)</a:t>
            </a:r>
            <a:br>
              <a:rPr lang="en-US" altLang="zh-CN" sz="2400" b="1" dirty="0">
                <a:solidFill>
                  <a:srgbClr val="669900"/>
                </a:solidFill>
                <a:latin typeface="宋体" panose="02010600030101010101" pitchFamily="2" charset="-122"/>
              </a:rPr>
            </a:br>
            <a:r>
              <a:rPr lang="zh-CN" altLang="en-US" sz="2400" b="1" dirty="0">
                <a:solidFill>
                  <a:srgbClr val="000066"/>
                </a:solidFill>
                <a:latin typeface="宋体" panose="02010600030101010101" pitchFamily="2" charset="-122"/>
              </a:rPr>
              <a:t>事实情况：经常查询前五项，较少使用后三项。</a:t>
            </a:r>
            <a:endParaRPr lang="en-US" altLang="zh-CN" sz="2400" b="1" dirty="0">
              <a:solidFill>
                <a:srgbClr val="000066"/>
              </a:solidFill>
              <a:latin typeface="宋体" panose="02010600030101010101" pitchFamily="2" charset="-122"/>
            </a:endParaRPr>
          </a:p>
          <a:p>
            <a:pPr eaLnBrk="1" hangingPunct="1">
              <a:lnSpc>
                <a:spcPct val="150000"/>
              </a:lnSpc>
              <a:buClr>
                <a:schemeClr val="hlink"/>
              </a:buClr>
              <a:buFontTx/>
              <a:buNone/>
            </a:pPr>
            <a:r>
              <a:rPr lang="zh-CN" altLang="en-US" sz="2400" b="1" dirty="0">
                <a:solidFill>
                  <a:srgbClr val="CC3300"/>
                </a:solidFill>
                <a:latin typeface="宋体" panose="02010600030101010101" pitchFamily="2" charset="-122"/>
              </a:rPr>
              <a:t>垂直模式分解</a:t>
            </a:r>
            <a:r>
              <a:rPr lang="en-US" altLang="zh-CN" sz="2400" b="1" dirty="0">
                <a:solidFill>
                  <a:srgbClr val="000066"/>
                </a:solidFill>
                <a:latin typeface="宋体" panose="02010600030101010101" pitchFamily="2" charset="-122"/>
              </a:rPr>
              <a:t>:</a:t>
            </a:r>
            <a:br>
              <a:rPr lang="en-US" altLang="zh-CN" sz="2400" b="1" dirty="0">
                <a:solidFill>
                  <a:srgbClr val="000066"/>
                </a:solidFill>
                <a:latin typeface="宋体" panose="02010600030101010101" pitchFamily="2" charset="-122"/>
              </a:rPr>
            </a:br>
            <a:r>
              <a:rPr lang="en-US" altLang="zh-CN" sz="2400" b="1" dirty="0">
                <a:solidFill>
                  <a:srgbClr val="669900"/>
                </a:solidFill>
                <a:latin typeface="宋体" panose="02010600030101010101" pitchFamily="2" charset="-122"/>
              </a:rPr>
              <a:t>1. Student1(</a:t>
            </a:r>
            <a:r>
              <a:rPr lang="zh-CN" altLang="en-US" sz="2400" b="1" u="sng" dirty="0">
                <a:solidFill>
                  <a:srgbClr val="669900"/>
                </a:solidFill>
                <a:latin typeface="宋体" panose="02010600030101010101" pitchFamily="2" charset="-122"/>
              </a:rPr>
              <a:t>学号</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姓名</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性别</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出生年月</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专业班级</a:t>
            </a:r>
            <a:r>
              <a:rPr lang="en-US" altLang="zh-CN" sz="2400" b="1" dirty="0">
                <a:solidFill>
                  <a:srgbClr val="669900"/>
                </a:solidFill>
                <a:latin typeface="宋体" panose="02010600030101010101" pitchFamily="2" charset="-122"/>
              </a:rPr>
              <a:t>)</a:t>
            </a:r>
            <a:br>
              <a:rPr lang="en-US" altLang="zh-CN" sz="2400" b="1" dirty="0">
                <a:solidFill>
                  <a:srgbClr val="669900"/>
                </a:solidFill>
                <a:latin typeface="宋体" panose="02010600030101010101" pitchFamily="2" charset="-122"/>
              </a:rPr>
            </a:br>
            <a:r>
              <a:rPr lang="en-US" altLang="zh-CN" sz="2400" b="1" dirty="0">
                <a:solidFill>
                  <a:srgbClr val="669900"/>
                </a:solidFill>
                <a:latin typeface="宋体" panose="02010600030101010101" pitchFamily="2" charset="-122"/>
              </a:rPr>
              <a:t>2. Student2(</a:t>
            </a:r>
            <a:r>
              <a:rPr lang="zh-CN" altLang="en-US" sz="2400" b="1" dirty="0">
                <a:solidFill>
                  <a:srgbClr val="669900"/>
                </a:solidFill>
                <a:latin typeface="宋体" panose="02010600030101010101" pitchFamily="2" charset="-122"/>
              </a:rPr>
              <a:t>学号</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家庭住址</a:t>
            </a:r>
            <a:r>
              <a:rPr lang="en-US" altLang="zh-CN" sz="2400" b="1" dirty="0">
                <a:solidFill>
                  <a:srgbClr val="669900"/>
                </a:solidFill>
                <a:latin typeface="宋体" panose="02010600030101010101" pitchFamily="2" charset="-122"/>
              </a:rPr>
              <a:t>,</a:t>
            </a:r>
            <a:r>
              <a:rPr lang="zh-CN" altLang="en-US" sz="2400" b="1" dirty="0">
                <a:solidFill>
                  <a:srgbClr val="669900"/>
                </a:solidFill>
                <a:latin typeface="宋体" panose="02010600030101010101" pitchFamily="2" charset="-122"/>
              </a:rPr>
              <a:t>联系方式，家庭联系人</a:t>
            </a:r>
            <a:r>
              <a:rPr lang="en-US" altLang="zh-CN" sz="2400" b="1" dirty="0">
                <a:solidFill>
                  <a:srgbClr val="669900"/>
                </a:solidFill>
                <a:latin typeface="宋体" panose="02010600030101010101" pitchFamily="2" charset="-122"/>
              </a:rPr>
              <a:t>)</a:t>
            </a:r>
          </a:p>
          <a:p>
            <a:pPr eaLnBrk="1" hangingPunct="1">
              <a:buClr>
                <a:schemeClr val="hlink"/>
              </a:buClr>
              <a:buFontTx/>
              <a:buNone/>
            </a:pPr>
            <a:endParaRPr lang="en-US" altLang="zh-CN" sz="2400" b="1" dirty="0">
              <a:solidFill>
                <a:srgbClr val="669900"/>
              </a:solidFill>
              <a:latin typeface="宋体" panose="02010600030101010101" pitchFamily="2" charset="-122"/>
            </a:endParaRPr>
          </a:p>
        </p:txBody>
      </p:sp>
      <p:sp>
        <p:nvSpPr>
          <p:cNvPr id="8" name="矩形 7"/>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9"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13"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8.4.2 </a:t>
            </a:r>
            <a:r>
              <a:rPr lang="zh-CN" altLang="en-US" sz="2800" b="1" dirty="0">
                <a:solidFill>
                  <a:schemeClr val="bg1"/>
                </a:solidFill>
                <a:latin typeface="微软雅黑" panose="020B0503020204020204" pitchFamily="34" charset="-122"/>
                <a:ea typeface="微软雅黑" panose="020B0503020204020204" pitchFamily="34" charset="-122"/>
              </a:rPr>
              <a:t>关系模式优化</a:t>
            </a:r>
          </a:p>
        </p:txBody>
      </p:sp>
      <p:cxnSp>
        <p:nvCxnSpPr>
          <p:cNvPr id="14" name="直接连接符 13"/>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六角星 1"/>
          <p:cNvSpPr/>
          <p:nvPr/>
        </p:nvSpPr>
        <p:spPr>
          <a:xfrm>
            <a:off x="7609668" y="3456122"/>
            <a:ext cx="3626603" cy="2913681"/>
          </a:xfrm>
          <a:prstGeom prst="star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kumimoji="1" lang="zh-CN" altLang="en-US" b="1" dirty="0">
                <a:solidFill>
                  <a:srgbClr val="000066"/>
                </a:solidFill>
                <a:latin typeface="楷体_GB2312" pitchFamily="49" charset="-122"/>
                <a:ea typeface="楷体_GB2312" pitchFamily="49" charset="-122"/>
              </a:rPr>
              <a:t>一个表中的字段同时存在经常查询和非经常查询的属性，均可采用垂直分割的方法</a:t>
            </a:r>
            <a:endParaRPr kumimoji="1" lang="en-US" altLang="zh-CN" b="1" dirty="0">
              <a:solidFill>
                <a:srgbClr val="000066"/>
              </a:solidFill>
              <a:latin typeface="楷体_GB2312" pitchFamily="49" charset="-122"/>
              <a:ea typeface="楷体_GB2312" pitchFamily="49" charset="-122"/>
            </a:endParaRPr>
          </a:p>
          <a:p>
            <a:pPr algn="ctr"/>
            <a:endParaRPr lang="zh-CN" altLang="en-US" dirty="0"/>
          </a:p>
        </p:txBody>
      </p:sp>
    </p:spTree>
    <p:extLst>
      <p:ext uri="{BB962C8B-B14F-4D97-AF65-F5344CB8AC3E}">
        <p14:creationId xmlns:p14="http://schemas.microsoft.com/office/powerpoint/2010/main" val="2790494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ox(i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ox(in)">
                                      <p:cBhvr>
                                        <p:cTn id="12" dur="500"/>
                                        <p:tgtEl>
                                          <p:spTgt spid="7">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ox(in)">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box(in)">
                                      <p:cBhvr>
                                        <p:cTn id="20" dur="500"/>
                                        <p:tgtEl>
                                          <p:spTgt spid="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box(in)">
                                      <p:cBhvr>
                                        <p:cTn id="25" dur="500"/>
                                        <p:tgtEl>
                                          <p:spTgt spid="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1000" fill="hold"/>
                                        <p:tgtEl>
                                          <p:spTgt spid="2"/>
                                        </p:tgtEl>
                                        <p:attrNameLst>
                                          <p:attrName>ppt_x</p:attrName>
                                        </p:attrNameLst>
                                      </p:cBhvr>
                                      <p:tavLst>
                                        <p:tav tm="0">
                                          <p:val>
                                            <p:strVal val="1+#ppt_w/2"/>
                                          </p:val>
                                        </p:tav>
                                        <p:tav tm="100000">
                                          <p:val>
                                            <p:strVal val="#ppt_x"/>
                                          </p:val>
                                        </p:tav>
                                      </p:tavLst>
                                    </p:anim>
                                    <p:anim calcmode="lin" valueType="num">
                                      <p:cBhvr additive="base">
                                        <p:cTn id="31"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446808" y="890155"/>
            <a:ext cx="11533382" cy="120986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eaLnBrk="1" hangingPunct="1">
              <a:lnSpc>
                <a:spcPct val="150000"/>
              </a:lnSpc>
              <a:spcBef>
                <a:spcPct val="0"/>
              </a:spcBef>
              <a:buFont typeface="Wingdings" panose="05000000000000000000" pitchFamily="2" charset="2"/>
              <a:buChar char="l"/>
            </a:pPr>
            <a:r>
              <a:rPr lang="zh-CN" altLang="en-US" sz="2400" b="1" dirty="0">
                <a:solidFill>
                  <a:srgbClr val="000066"/>
                </a:solidFill>
                <a:latin typeface="+mj-lt"/>
                <a:ea typeface="+mj-ea"/>
                <a:cs typeface="+mj-cs"/>
              </a:rPr>
              <a:t>定义数据库模式主要是从系统的时间效率、空间效率、易维护等角度出发。</a:t>
            </a:r>
          </a:p>
          <a:p>
            <a:pPr marL="342900" indent="-342900" eaLnBrk="1" hangingPunct="1">
              <a:lnSpc>
                <a:spcPct val="150000"/>
              </a:lnSpc>
              <a:spcBef>
                <a:spcPct val="0"/>
              </a:spcBef>
              <a:buFont typeface="Wingdings" panose="05000000000000000000" pitchFamily="2" charset="2"/>
              <a:buChar char="l"/>
            </a:pPr>
            <a:r>
              <a:rPr lang="zh-CN" altLang="en-US" sz="2400" b="1" dirty="0">
                <a:solidFill>
                  <a:srgbClr val="000066"/>
                </a:solidFill>
                <a:latin typeface="+mj-lt"/>
                <a:ea typeface="+mj-ea"/>
                <a:cs typeface="+mj-cs"/>
              </a:rPr>
              <a:t>定义用户外模式时应该更注重考虑用户的习惯与方便。包括三个方面：</a:t>
            </a:r>
            <a:endParaRPr lang="en-US" altLang="zh-CN" sz="2400" b="1" dirty="0">
              <a:solidFill>
                <a:srgbClr val="000066"/>
              </a:solidFill>
              <a:latin typeface="+mj-lt"/>
              <a:ea typeface="+mj-ea"/>
              <a:cs typeface="+mj-cs"/>
            </a:endParaRPr>
          </a:p>
        </p:txBody>
      </p:sp>
      <p:sp>
        <p:nvSpPr>
          <p:cNvPr id="3" name="矩形 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5" name="Rectangle 3"/>
          <p:cNvSpPr txBox="1">
            <a:spLocks noChangeArrowheads="1"/>
          </p:cNvSpPr>
          <p:nvPr/>
        </p:nvSpPr>
        <p:spPr>
          <a:xfrm>
            <a:off x="557764" y="2121383"/>
            <a:ext cx="11422426" cy="2086406"/>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eaLnBrk="1" hangingPunct="1">
              <a:lnSpc>
                <a:spcPct val="105000"/>
              </a:lnSpc>
              <a:spcBef>
                <a:spcPct val="20000"/>
              </a:spcBef>
              <a:buClr>
                <a:schemeClr val="hlink"/>
              </a:buClr>
              <a:buNone/>
            </a:pPr>
            <a:r>
              <a:rPr kumimoji="1" lang="en-US" altLang="zh-CN" b="1" dirty="0">
                <a:solidFill>
                  <a:srgbClr val="000066"/>
                </a:solidFill>
                <a:latin typeface="楷体_GB2312" pitchFamily="49" charset="-122"/>
                <a:ea typeface="楷体_GB2312" pitchFamily="49" charset="-122"/>
              </a:rPr>
              <a:t>(1)</a:t>
            </a:r>
            <a:r>
              <a:rPr kumimoji="1" lang="zh-CN" altLang="en-US" b="1" dirty="0">
                <a:solidFill>
                  <a:srgbClr val="000066"/>
                </a:solidFill>
                <a:latin typeface="楷体_GB2312" pitchFamily="49" charset="-122"/>
                <a:ea typeface="楷体_GB2312" pitchFamily="49" charset="-122"/>
              </a:rPr>
              <a:t>使用更符合用户习惯的别名</a:t>
            </a:r>
            <a:endParaRPr kumimoji="1" lang="en-US" altLang="zh-CN" b="1" dirty="0">
              <a:solidFill>
                <a:srgbClr val="000066"/>
              </a:solidFill>
              <a:latin typeface="楷体_GB2312" pitchFamily="49" charset="-122"/>
              <a:ea typeface="楷体_GB2312" pitchFamily="49" charset="-122"/>
            </a:endParaRPr>
          </a:p>
          <a:p>
            <a:pPr marL="0" indent="0">
              <a:lnSpc>
                <a:spcPct val="150000"/>
              </a:lnSpc>
              <a:spcBef>
                <a:spcPts val="0"/>
              </a:spcBef>
              <a:buNone/>
            </a:pPr>
            <a:r>
              <a:rPr lang="en-US" altLang="zh-CN" b="1" dirty="0">
                <a:solidFill>
                  <a:srgbClr val="FF0000"/>
                </a:solidFill>
                <a:latin typeface="+mj-lt"/>
                <a:ea typeface="+mj-ea"/>
                <a:cs typeface="+mj-cs"/>
              </a:rPr>
              <a:t>【</a:t>
            </a:r>
            <a:r>
              <a:rPr lang="zh-CN" altLang="en-US" b="1" dirty="0">
                <a:solidFill>
                  <a:srgbClr val="FF0000"/>
                </a:solidFill>
                <a:latin typeface="+mj-lt"/>
                <a:ea typeface="+mj-ea"/>
                <a:cs typeface="+mj-cs"/>
              </a:rPr>
              <a:t>例</a:t>
            </a:r>
            <a:r>
              <a:rPr lang="en-US" altLang="zh-CN" b="1" dirty="0">
                <a:solidFill>
                  <a:srgbClr val="FF0000"/>
                </a:solidFill>
                <a:latin typeface="+mj-lt"/>
                <a:ea typeface="+mj-ea"/>
                <a:cs typeface="+mj-cs"/>
              </a:rPr>
              <a:t>】</a:t>
            </a:r>
            <a:r>
              <a:rPr lang="zh-CN" altLang="en-US" sz="2400" b="1" dirty="0">
                <a:solidFill>
                  <a:srgbClr val="000066"/>
                </a:solidFill>
                <a:latin typeface="+mj-lt"/>
                <a:ea typeface="+mj-ea"/>
                <a:cs typeface="+mj-cs"/>
              </a:rPr>
              <a:t>负责学籍管理的用户习惯于称教师模式的工号为教师编号。因此可以定义视图，在视图中职工号重定义为教师编号。</a:t>
            </a:r>
            <a:endParaRPr lang="en-US" altLang="zh-CN" sz="2400" b="1" dirty="0">
              <a:solidFill>
                <a:srgbClr val="000066"/>
              </a:solidFill>
              <a:latin typeface="+mj-lt"/>
              <a:ea typeface="+mj-ea"/>
              <a:cs typeface="+mj-cs"/>
            </a:endParaRPr>
          </a:p>
          <a:p>
            <a:pPr marL="0" indent="0">
              <a:lnSpc>
                <a:spcPct val="150000"/>
              </a:lnSpc>
              <a:spcBef>
                <a:spcPts val="0"/>
              </a:spcBef>
              <a:buNone/>
            </a:pPr>
            <a:endParaRPr lang="zh-CN" altLang="en-US" sz="2400" b="1" dirty="0">
              <a:solidFill>
                <a:srgbClr val="000066"/>
              </a:solidFill>
              <a:latin typeface="+mj-lt"/>
              <a:ea typeface="+mj-ea"/>
              <a:cs typeface="+mj-cs"/>
            </a:endParaRPr>
          </a:p>
          <a:p>
            <a:pPr lvl="1">
              <a:spcBef>
                <a:spcPts val="0"/>
              </a:spcBef>
            </a:pPr>
            <a:endParaRPr lang="zh-CN" altLang="en-US" b="1" dirty="0"/>
          </a:p>
        </p:txBody>
      </p:sp>
      <p:sp>
        <p:nvSpPr>
          <p:cNvPr id="6"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8.4.3 </a:t>
            </a:r>
            <a:r>
              <a:rPr lang="zh-CN" altLang="en-US" sz="2800" b="1" dirty="0">
                <a:solidFill>
                  <a:schemeClr val="bg1"/>
                </a:solidFill>
                <a:latin typeface="微软雅黑" panose="020B0503020204020204" pitchFamily="34" charset="-122"/>
                <a:ea typeface="微软雅黑" panose="020B0503020204020204" pitchFamily="34" charset="-122"/>
              </a:rPr>
              <a:t>设计用户子模式</a:t>
            </a:r>
          </a:p>
        </p:txBody>
      </p:sp>
      <p:cxnSp>
        <p:nvCxnSpPr>
          <p:cNvPr id="7" name="直接连接符 6"/>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579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45870" y="913700"/>
            <a:ext cx="11780815" cy="275164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eaLnBrk="1" hangingPunct="1">
              <a:lnSpc>
                <a:spcPct val="105000"/>
              </a:lnSpc>
              <a:spcBef>
                <a:spcPct val="20000"/>
              </a:spcBef>
              <a:buClr>
                <a:schemeClr val="hlink"/>
              </a:buClr>
              <a:buNone/>
            </a:pPr>
            <a:r>
              <a:rPr kumimoji="1" lang="en-US" altLang="zh-CN" b="1" dirty="0">
                <a:solidFill>
                  <a:srgbClr val="000066"/>
                </a:solidFill>
                <a:latin typeface="楷体_GB2312" pitchFamily="49" charset="-122"/>
                <a:ea typeface="楷体_GB2312" pitchFamily="49" charset="-122"/>
              </a:rPr>
              <a:t>(2)</a:t>
            </a:r>
            <a:r>
              <a:rPr kumimoji="1" lang="zh-CN" altLang="en-US" b="1" dirty="0">
                <a:solidFill>
                  <a:srgbClr val="000066"/>
                </a:solidFill>
                <a:latin typeface="楷体_GB2312" pitchFamily="49" charset="-122"/>
                <a:ea typeface="楷体_GB2312" pitchFamily="49" charset="-122"/>
              </a:rPr>
              <a:t>针对不同级别的用户定义不同的外模式，以满足系统对安全性的要求。</a:t>
            </a:r>
            <a:endParaRPr kumimoji="1" lang="en-US" altLang="zh-CN" b="1" dirty="0">
              <a:solidFill>
                <a:srgbClr val="000066"/>
              </a:solidFill>
              <a:latin typeface="楷体_GB2312" pitchFamily="49" charset="-122"/>
              <a:ea typeface="楷体_GB2312" pitchFamily="49" charset="-122"/>
            </a:endParaRPr>
          </a:p>
          <a:p>
            <a:pPr marL="0" indent="0">
              <a:lnSpc>
                <a:spcPct val="150000"/>
              </a:lnSpc>
              <a:spcBef>
                <a:spcPts val="0"/>
              </a:spcBef>
              <a:buNone/>
            </a:pPr>
            <a:r>
              <a:rPr lang="en-US" altLang="zh-CN" sz="2400" b="1" dirty="0">
                <a:solidFill>
                  <a:srgbClr val="FF0000"/>
                </a:solidFill>
              </a:rPr>
              <a:t>【</a:t>
            </a:r>
            <a:r>
              <a:rPr lang="zh-CN" altLang="en-US" sz="2400" b="1" dirty="0">
                <a:solidFill>
                  <a:srgbClr val="FF0000"/>
                </a:solidFill>
              </a:rPr>
              <a:t>例</a:t>
            </a:r>
            <a:r>
              <a:rPr lang="en-US" altLang="zh-CN" sz="2400" b="1" dirty="0">
                <a:solidFill>
                  <a:srgbClr val="FF0000"/>
                </a:solidFill>
              </a:rPr>
              <a:t>】</a:t>
            </a:r>
            <a:r>
              <a:rPr lang="zh-CN" altLang="en-US" sz="2400" b="1" dirty="0">
                <a:solidFill>
                  <a:srgbClr val="000066"/>
                </a:solidFill>
              </a:rPr>
              <a:t>关系模式：</a:t>
            </a:r>
            <a:r>
              <a:rPr lang="zh-CN" altLang="en-US" sz="2400" b="1" dirty="0">
                <a:solidFill>
                  <a:srgbClr val="FF0000"/>
                </a:solidFill>
              </a:rPr>
              <a:t>学生</a:t>
            </a:r>
            <a:r>
              <a:rPr lang="en-US" altLang="zh-CN" sz="2400" b="1" dirty="0">
                <a:solidFill>
                  <a:srgbClr val="FF0000"/>
                </a:solidFill>
              </a:rPr>
              <a:t>(</a:t>
            </a:r>
            <a:r>
              <a:rPr lang="zh-CN" altLang="en-US" sz="2400" b="1" dirty="0">
                <a:solidFill>
                  <a:srgbClr val="FF0000"/>
                </a:solidFill>
              </a:rPr>
              <a:t>学号、姓名、性别、出生日期、班级、入学年份、家庭住址</a:t>
            </a:r>
            <a:r>
              <a:rPr lang="en-US" altLang="zh-CN" sz="2400" b="1" dirty="0">
                <a:solidFill>
                  <a:srgbClr val="FF0000"/>
                </a:solidFill>
              </a:rPr>
              <a:t>)</a:t>
            </a:r>
            <a:endParaRPr lang="zh-CN" altLang="en-US" sz="2400" b="1" dirty="0">
              <a:solidFill>
                <a:srgbClr val="FF0000"/>
              </a:solidFill>
            </a:endParaRPr>
          </a:p>
          <a:p>
            <a:pPr marL="0" lvl="1" indent="0">
              <a:lnSpc>
                <a:spcPct val="150000"/>
              </a:lnSpc>
              <a:spcBef>
                <a:spcPts val="0"/>
              </a:spcBef>
              <a:buNone/>
            </a:pPr>
            <a:r>
              <a:rPr lang="zh-CN" altLang="en-US" b="1" dirty="0">
                <a:solidFill>
                  <a:srgbClr val="000066"/>
                </a:solidFill>
              </a:rPr>
              <a:t>   </a:t>
            </a:r>
            <a:r>
              <a:rPr lang="zh-CN" altLang="en-US" b="1" dirty="0">
                <a:solidFill>
                  <a:srgbClr val="FF0000"/>
                </a:solidFill>
              </a:rPr>
              <a:t>教务管理系统</a:t>
            </a:r>
            <a:r>
              <a:rPr lang="zh-CN" altLang="en-US" b="1" dirty="0">
                <a:solidFill>
                  <a:srgbClr val="000066"/>
                </a:solidFill>
              </a:rPr>
              <a:t>只能查询学生的</a:t>
            </a:r>
            <a:r>
              <a:rPr lang="zh-CN" altLang="en-US" b="1" dirty="0">
                <a:solidFill>
                  <a:srgbClr val="FF0000"/>
                </a:solidFill>
              </a:rPr>
              <a:t>学号、姓名、性别、班级、入学年份</a:t>
            </a:r>
            <a:r>
              <a:rPr lang="zh-CN" altLang="en-US" b="1" dirty="0">
                <a:solidFill>
                  <a:srgbClr val="000066"/>
                </a:solidFill>
              </a:rPr>
              <a:t>；</a:t>
            </a:r>
          </a:p>
          <a:p>
            <a:pPr marL="0" lvl="1" indent="0">
              <a:lnSpc>
                <a:spcPct val="150000"/>
              </a:lnSpc>
              <a:spcBef>
                <a:spcPts val="0"/>
              </a:spcBef>
              <a:buNone/>
            </a:pPr>
            <a:r>
              <a:rPr lang="zh-CN" altLang="en-US" b="1" dirty="0">
                <a:solidFill>
                  <a:srgbClr val="000066"/>
                </a:solidFill>
              </a:rPr>
              <a:t>       定义外模式</a:t>
            </a:r>
            <a:r>
              <a:rPr lang="en-US" altLang="zh-CN" b="1" dirty="0">
                <a:solidFill>
                  <a:srgbClr val="000066"/>
                </a:solidFill>
              </a:rPr>
              <a:t>(</a:t>
            </a:r>
            <a:r>
              <a:rPr lang="zh-CN" altLang="en-US" b="1" dirty="0">
                <a:solidFill>
                  <a:srgbClr val="000066"/>
                </a:solidFill>
              </a:rPr>
              <a:t>视图</a:t>
            </a:r>
            <a:r>
              <a:rPr lang="en-US" altLang="zh-CN" b="1" dirty="0">
                <a:solidFill>
                  <a:srgbClr val="000066"/>
                </a:solidFill>
              </a:rPr>
              <a:t>)</a:t>
            </a:r>
            <a:r>
              <a:rPr lang="zh-CN" altLang="en-US" b="1" dirty="0">
                <a:solidFill>
                  <a:srgbClr val="000066"/>
                </a:solidFill>
              </a:rPr>
              <a:t>：</a:t>
            </a:r>
            <a:r>
              <a:rPr lang="zh-CN" altLang="en-US" b="1" dirty="0">
                <a:solidFill>
                  <a:srgbClr val="FF0000"/>
                </a:solidFill>
              </a:rPr>
              <a:t>学生</a:t>
            </a:r>
            <a:r>
              <a:rPr lang="en-US" altLang="zh-CN" b="1" dirty="0">
                <a:solidFill>
                  <a:srgbClr val="FF0000"/>
                </a:solidFill>
              </a:rPr>
              <a:t>_</a:t>
            </a:r>
            <a:r>
              <a:rPr lang="zh-CN" altLang="en-US" b="1" dirty="0">
                <a:solidFill>
                  <a:srgbClr val="FF0000"/>
                </a:solidFill>
              </a:rPr>
              <a:t>教务系统（学号、姓名、性别、班级、入学年份）</a:t>
            </a:r>
            <a:endParaRPr lang="en-US" altLang="zh-CN" b="1" dirty="0">
              <a:solidFill>
                <a:srgbClr val="FF0000"/>
              </a:solidFill>
            </a:endParaRPr>
          </a:p>
          <a:p>
            <a:pPr marL="0" lvl="1" indent="0">
              <a:lnSpc>
                <a:spcPct val="150000"/>
              </a:lnSpc>
              <a:spcBef>
                <a:spcPts val="0"/>
              </a:spcBef>
              <a:buNone/>
            </a:pPr>
            <a:r>
              <a:rPr kumimoji="1" lang="zh-CN" altLang="en-US" b="1" dirty="0">
                <a:solidFill>
                  <a:srgbClr val="000066"/>
                </a:solidFill>
                <a:latin typeface="楷体_GB2312" pitchFamily="49" charset="-122"/>
                <a:ea typeface="楷体_GB2312" pitchFamily="49" charset="-122"/>
              </a:rPr>
              <a:t>   </a:t>
            </a:r>
            <a:endParaRPr kumimoji="1" lang="en-US" altLang="zh-CN" b="1" dirty="0">
              <a:solidFill>
                <a:srgbClr val="000066"/>
              </a:solidFill>
              <a:latin typeface="楷体_GB2312" pitchFamily="49" charset="-122"/>
              <a:ea typeface="楷体_GB2312" pitchFamily="49" charset="-122"/>
            </a:endParaRPr>
          </a:p>
          <a:p>
            <a:pPr marL="457200" lvl="1" indent="0" eaLnBrk="1" hangingPunct="1">
              <a:lnSpc>
                <a:spcPct val="105000"/>
              </a:lnSpc>
              <a:spcBef>
                <a:spcPct val="20000"/>
              </a:spcBef>
              <a:buClr>
                <a:schemeClr val="hlink"/>
              </a:buClr>
              <a:buNone/>
            </a:pPr>
            <a:r>
              <a:rPr kumimoji="1" lang="en-US" altLang="zh-CN" b="1" dirty="0">
                <a:solidFill>
                  <a:srgbClr val="000066"/>
                </a:solidFill>
                <a:latin typeface="楷体_GB2312" pitchFamily="49" charset="-122"/>
                <a:ea typeface="楷体_GB2312" pitchFamily="49" charset="-122"/>
              </a:rPr>
              <a:t>(3)</a:t>
            </a:r>
            <a:r>
              <a:rPr kumimoji="1" lang="zh-CN" altLang="en-US" b="1" dirty="0">
                <a:solidFill>
                  <a:srgbClr val="000066"/>
                </a:solidFill>
                <a:latin typeface="楷体_GB2312" pitchFamily="49" charset="-122"/>
                <a:ea typeface="楷体_GB2312" pitchFamily="49" charset="-122"/>
              </a:rPr>
              <a:t>简化用户对系统的使用</a:t>
            </a:r>
          </a:p>
          <a:p>
            <a:pPr marL="457200" lvl="1" indent="0">
              <a:lnSpc>
                <a:spcPct val="130000"/>
              </a:lnSpc>
              <a:buNone/>
            </a:pPr>
            <a:r>
              <a:rPr lang="zh-CN" altLang="en-US" b="1" dirty="0"/>
              <a:t>        </a:t>
            </a:r>
            <a:r>
              <a:rPr kumimoji="1" lang="zh-CN" altLang="en-US" b="1" dirty="0">
                <a:solidFill>
                  <a:srgbClr val="000066"/>
                </a:solidFill>
                <a:latin typeface="楷体_GB2312" pitchFamily="49" charset="-122"/>
                <a:ea typeface="楷体_GB2312" pitchFamily="49" charset="-122"/>
              </a:rPr>
              <a:t>如果某些局部应用中经常要使用某些很复杂的查询，为了方便用户，可以将这些复杂查询定义为视图。</a:t>
            </a:r>
          </a:p>
        </p:txBody>
      </p:sp>
      <p:sp>
        <p:nvSpPr>
          <p:cNvPr id="3" name="矩形 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6977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逻辑设计阶段</a:t>
            </a:r>
          </a:p>
        </p:txBody>
      </p:sp>
      <p:sp>
        <p:nvSpPr>
          <p:cNvPr id="5" name="文本框 94"/>
          <p:cNvSpPr txBox="1">
            <a:spLocks noChangeArrowheads="1"/>
          </p:cNvSpPr>
          <p:nvPr/>
        </p:nvSpPr>
        <p:spPr bwMode="auto">
          <a:xfrm>
            <a:off x="5847348" y="66765"/>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8.4.3 </a:t>
            </a:r>
            <a:r>
              <a:rPr lang="zh-CN" altLang="en-US" sz="2800" b="1" dirty="0">
                <a:solidFill>
                  <a:schemeClr val="bg1"/>
                </a:solidFill>
                <a:latin typeface="微软雅黑" panose="020B0503020204020204" pitchFamily="34" charset="-122"/>
                <a:ea typeface="微软雅黑" panose="020B0503020204020204" pitchFamily="34" charset="-122"/>
              </a:rPr>
              <a:t>设计用户子模式</a:t>
            </a:r>
          </a:p>
        </p:txBody>
      </p:sp>
      <p:cxnSp>
        <p:nvCxnSpPr>
          <p:cNvPr id="6" name="直接连接符 5"/>
          <p:cNvCxnSpPr/>
          <p:nvPr/>
        </p:nvCxnSpPr>
        <p:spPr>
          <a:xfrm rot="5400000">
            <a:off x="5436371" y="350379"/>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六角星 6"/>
          <p:cNvSpPr/>
          <p:nvPr/>
        </p:nvSpPr>
        <p:spPr>
          <a:xfrm>
            <a:off x="7679410" y="175949"/>
            <a:ext cx="4021810" cy="3580108"/>
          </a:xfrm>
          <a:prstGeom prst="star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indent="0">
              <a:lnSpc>
                <a:spcPct val="150000"/>
              </a:lnSpc>
              <a:spcBef>
                <a:spcPts val="0"/>
              </a:spcBef>
              <a:buNone/>
            </a:pPr>
            <a:r>
              <a:rPr kumimoji="1" lang="zh-CN" altLang="en-US" b="1" dirty="0">
                <a:solidFill>
                  <a:srgbClr val="000066"/>
                </a:solidFill>
                <a:latin typeface="楷体_GB2312" pitchFamily="49" charset="-122"/>
                <a:ea typeface="楷体_GB2312" pitchFamily="49" charset="-122"/>
              </a:rPr>
              <a:t>这样就可以防止用户非法访问本来不允许他们查询的数据，保证了系统的安全性。</a:t>
            </a:r>
            <a:endParaRPr kumimoji="1" lang="en-US" altLang="zh-CN" b="1" dirty="0">
              <a:solidFill>
                <a:srgbClr val="000066"/>
              </a:solidFill>
              <a:latin typeface="楷体_GB2312" pitchFamily="49" charset="-122"/>
              <a:ea typeface="楷体_GB2312" pitchFamily="49" charset="-122"/>
            </a:endParaRPr>
          </a:p>
        </p:txBody>
      </p:sp>
    </p:spTree>
    <p:extLst>
      <p:ext uri="{BB962C8B-B14F-4D97-AF65-F5344CB8AC3E}">
        <p14:creationId xmlns:p14="http://schemas.microsoft.com/office/powerpoint/2010/main" val="164497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wipe(down)">
                                      <p:cBhvr>
                                        <p:cTn id="13" dur="1000"/>
                                        <p:tgtEl>
                                          <p:spTgt spid="2">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wipe(down)">
                                      <p:cBhvr>
                                        <p:cTn id="16" dur="10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71965" y="858982"/>
            <a:ext cx="10985119" cy="156650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600200">
              <a:lnSpc>
                <a:spcPct val="150000"/>
              </a:lnSpc>
              <a:spcAft>
                <a:spcPct val="35000"/>
              </a:spcAft>
            </a:pPr>
            <a:r>
              <a:rPr lang="zh-CN" altLang="en-US" sz="2000" dirty="0">
                <a:solidFill>
                  <a:schemeClr val="tx1"/>
                </a:solidFill>
                <a:latin typeface="微软雅黑" panose="020B0503020204020204" pitchFamily="34" charset="-122"/>
                <a:ea typeface="微软雅黑" panose="020B0503020204020204" pitchFamily="34" charset="-122"/>
              </a:rPr>
              <a:t>      本小节介绍数据库的逻辑设计，主要内容包括</a:t>
            </a:r>
            <a:r>
              <a:rPr lang="en-US" altLang="zh-CN" sz="2000" dirty="0">
                <a:solidFill>
                  <a:schemeClr val="tx1"/>
                </a:solidFill>
                <a:latin typeface="微软雅黑" panose="020B0503020204020204" pitchFamily="34" charset="-122"/>
                <a:ea typeface="微软雅黑" panose="020B0503020204020204" pitchFamily="34" charset="-122"/>
              </a:rPr>
              <a:t>E-R</a:t>
            </a:r>
            <a:r>
              <a:rPr lang="zh-CN" altLang="en-US" sz="2000" dirty="0">
                <a:solidFill>
                  <a:schemeClr val="tx1"/>
                </a:solidFill>
                <a:latin typeface="微软雅黑" panose="020B0503020204020204" pitchFamily="34" charset="-122"/>
                <a:ea typeface="微软雅黑" panose="020B0503020204020204" pitchFamily="34" charset="-122"/>
              </a:rPr>
              <a:t>图向关系模型的转换、关系模式的优化、设计外模式等内容。</a:t>
            </a:r>
            <a:endParaRPr lang="en-US" altLang="zh-CN" sz="2000" dirty="0">
              <a:solidFill>
                <a:schemeClr val="tx1"/>
              </a:solidFill>
              <a:latin typeface="微软雅黑" panose="020B0503020204020204" pitchFamily="34" charset="-122"/>
              <a:ea typeface="微软雅黑" panose="020B0503020204020204" pitchFamily="34" charset="-122"/>
            </a:endParaRPr>
          </a:p>
          <a:p>
            <a:pPr defTabSz="1600200">
              <a:lnSpc>
                <a:spcPct val="150000"/>
              </a:lnSpc>
              <a:spcAft>
                <a:spcPct val="35000"/>
              </a:spcAft>
            </a:pP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3576930" y="3584167"/>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extLst>
      <p:ext uri="{BB962C8B-B14F-4D97-AF65-F5344CB8AC3E}">
        <p14:creationId xmlns:p14="http://schemas.microsoft.com/office/powerpoint/2010/main" val="38467827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4652</TotalTime>
  <Words>3198</Words>
  <Application>Microsoft Macintosh PowerPoint</Application>
  <PresentationFormat>宽屏</PresentationFormat>
  <Paragraphs>402</Paragraphs>
  <Slides>28</Slides>
  <Notes>25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楷体_GB2312</vt:lpstr>
      <vt:lpstr>宋体</vt:lpstr>
      <vt:lpstr>微软雅黑</vt:lpstr>
      <vt:lpstr>Arial</vt:lpstr>
      <vt:lpstr>Calibri</vt:lpstr>
      <vt:lpstr>Calibri Light</vt:lpstr>
      <vt:lpstr>Tahoma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1480</cp:revision>
  <dcterms:created xsi:type="dcterms:W3CDTF">2014-07-02T10:42:00Z</dcterms:created>
  <dcterms:modified xsi:type="dcterms:W3CDTF">2025-09-26T01:19:25Z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2052-11.1.0.8894</vt:lpwstr>
  </property>
</Properties>
</file>