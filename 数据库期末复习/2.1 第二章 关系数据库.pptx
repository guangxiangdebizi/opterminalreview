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6" r:id="rId2"/>
    <p:sldId id="439" r:id="rId3"/>
    <p:sldId id="454" r:id="rId4"/>
    <p:sldId id="455" r:id="rId5"/>
    <p:sldId id="457" r:id="rId6"/>
    <p:sldId id="458" r:id="rId7"/>
    <p:sldId id="459" r:id="rId8"/>
    <p:sldId id="460" r:id="rId9"/>
    <p:sldId id="461" r:id="rId10"/>
    <p:sldId id="462" r:id="rId11"/>
    <p:sldId id="472" r:id="rId12"/>
    <p:sldId id="466" r:id="rId13"/>
    <p:sldId id="467" r:id="rId14"/>
    <p:sldId id="468" r:id="rId15"/>
    <p:sldId id="465" r:id="rId16"/>
    <p:sldId id="473" r:id="rId17"/>
    <p:sldId id="463" r:id="rId18"/>
    <p:sldId id="470" r:id="rId19"/>
    <p:sldId id="464" r:id="rId20"/>
    <p:sldId id="469" r:id="rId21"/>
    <p:sldId id="471" r:id="rId22"/>
    <p:sldId id="456" r:id="rId23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71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D0"/>
    <a:srgbClr val="002060"/>
    <a:srgbClr val="009900"/>
    <a:srgbClr val="FF0000"/>
    <a:srgbClr val="1569F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79688" autoAdjust="0"/>
  </p:normalViewPr>
  <p:slideViewPr>
    <p:cSldViewPr snapToGrid="0">
      <p:cViewPr varScale="1">
        <p:scale>
          <a:sx n="87" d="100"/>
          <a:sy n="87" d="100"/>
        </p:scale>
        <p:origin x="1592" y="184"/>
      </p:cViewPr>
      <p:guideLst>
        <p:guide orient="horz" pos="2205"/>
        <p:guide orient="horz" pos="2876"/>
        <p:guide orient="horz" pos="1298"/>
        <p:guide pos="3871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60"/>
        <p:guide pos="2880"/>
        <p:guide orient="horz" pos="2924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2025/9/18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17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4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034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93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99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31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586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961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5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89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55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190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67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492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730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347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69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9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871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41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732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4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997527"/>
            <a:ext cx="10985119" cy="508490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600200">
              <a:lnSpc>
                <a:spcPct val="125000"/>
              </a:lnSpc>
              <a:spcAft>
                <a:spcPct val="35000"/>
              </a:spcAft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关系理论建立在集合代数理论基础上，用数学方法来处理数据库中的数据。</a:t>
            </a:r>
          </a:p>
          <a:p>
            <a:pPr marL="342900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E.F.Codd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于二十世纪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年代初提出关系数据理论，他因此获得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图灵奖。</a:t>
            </a:r>
          </a:p>
          <a:p>
            <a:pPr marL="342900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E.F.Codd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在美国计算机学会会刊“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Communications of the ACM”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上发表论文“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Relational Model of Data for Shared Banks”,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ACM1983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年把该论文列为从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1958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年以来的四分之一世纪中具有里程碑意义的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篇研究论文之一。</a:t>
            </a:r>
          </a:p>
          <a:p>
            <a:pPr marL="342900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早期代表系统</a:t>
            </a:r>
          </a:p>
          <a:p>
            <a:pPr marL="800100" lvl="1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Ｒ：由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IBM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研制。</a:t>
            </a:r>
          </a:p>
          <a:p>
            <a:pPr marL="800100" lvl="1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INGRES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：由加州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Berkeley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分校研制。</a:t>
            </a:r>
          </a:p>
          <a:p>
            <a:pPr marL="342900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年代，关系模型数据库系统已成为商用主流数据库系统，广泛应用于各个领域。</a:t>
            </a:r>
          </a:p>
          <a:p>
            <a:pPr marL="342900" indent="-342900" defTabSz="1600200">
              <a:lnSpc>
                <a:spcPct val="125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目前主流的商业数据库系统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:Oracle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 SQL Server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IBM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第二章    关系数据库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algn="ctr"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2.1 </a:t>
            </a:r>
            <a:r>
              <a:rPr lang="zh-CN" altLang="en-US" sz="3200" b="1" dirty="0">
                <a:solidFill>
                  <a:srgbClr val="FF0000"/>
                </a:solidFill>
              </a:rPr>
              <a:t>关系数据模型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2.2 </a:t>
            </a:r>
            <a:r>
              <a:rPr lang="zh-CN" altLang="en-US" sz="3200" b="1" dirty="0"/>
              <a:t>关系的完整性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2.3 </a:t>
            </a:r>
            <a:r>
              <a:rPr lang="zh-CN" altLang="en-US" sz="3200" b="1" dirty="0"/>
              <a:t>关系代数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0247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8" name="Text Box 64"/>
          <p:cNvSpPr txBox="1">
            <a:spLocks noChangeArrowheads="1"/>
          </p:cNvSpPr>
          <p:nvPr/>
        </p:nvSpPr>
        <p:spPr bwMode="auto">
          <a:xfrm>
            <a:off x="766618" y="1050420"/>
            <a:ext cx="10584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zh-CN" altLang="en-US" sz="2400" b="1" dirty="0">
                <a:latin typeface="楷体_GB2312" pitchFamily="49" charset="-122"/>
              </a:rPr>
              <a:t>关系数据模型由</a:t>
            </a:r>
            <a:r>
              <a:rPr kumimoji="1"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关系数据结构</a:t>
            </a:r>
            <a:r>
              <a:rPr kumimoji="1" lang="zh-CN" altLang="en-US" sz="2400" b="1" dirty="0">
                <a:latin typeface="楷体_GB2312" pitchFamily="49" charset="-122"/>
              </a:rPr>
              <a:t>、</a:t>
            </a:r>
            <a:r>
              <a:rPr kumimoji="1"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关系操作集合</a:t>
            </a:r>
            <a:r>
              <a:rPr kumimoji="1" lang="zh-CN" altLang="en-US" sz="2400" b="1" dirty="0">
                <a:latin typeface="楷体_GB2312" pitchFamily="49" charset="-122"/>
              </a:rPr>
              <a:t>和</a:t>
            </a:r>
            <a:r>
              <a:rPr kumimoji="1"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关系完整性约束</a:t>
            </a:r>
            <a:r>
              <a:rPr kumimoji="1" lang="zh-CN" altLang="en-US" sz="2400" b="1" dirty="0">
                <a:latin typeface="楷体_GB2312" pitchFamily="49" charset="-122"/>
              </a:rPr>
              <a:t>三部分组成。</a:t>
            </a:r>
          </a:p>
        </p:txBody>
      </p:sp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905164" y="1747113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关系数据结构：</a:t>
            </a:r>
            <a:r>
              <a:rPr kumimoji="1"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二维表</a:t>
            </a:r>
          </a:p>
        </p:txBody>
      </p:sp>
      <p:sp>
        <p:nvSpPr>
          <p:cNvPr id="10" name="Rectangle 69"/>
          <p:cNvSpPr txBox="1">
            <a:spLocks noChangeArrowheads="1"/>
          </p:cNvSpPr>
          <p:nvPr/>
        </p:nvSpPr>
        <p:spPr bwMode="auto">
          <a:xfrm>
            <a:off x="880267" y="2502408"/>
            <a:ext cx="88392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域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(Domain):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一组具有相同数据类型的值的集合。</a:t>
            </a:r>
          </a:p>
        </p:txBody>
      </p:sp>
      <p:sp>
        <p:nvSpPr>
          <p:cNvPr id="11" name="Rectangle 71"/>
          <p:cNvSpPr>
            <a:spLocks noChangeArrowheads="1"/>
          </p:cNvSpPr>
          <p:nvPr/>
        </p:nvSpPr>
        <p:spPr bwMode="auto">
          <a:xfrm>
            <a:off x="1091480" y="3164040"/>
            <a:ext cx="667861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</a:rPr>
              <a:t>整数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_GB2312" pitchFamily="49" charset="-122"/>
              </a:rPr>
              <a:t> 实数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_GB2312" pitchFamily="49" charset="-122"/>
              </a:rPr>
              <a:t> 介于某个取值范围的整数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_GB2312" pitchFamily="49" charset="-122"/>
              </a:rPr>
              <a:t> 长度指定长度的字符串集合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_GB2312" pitchFamily="49" charset="-122"/>
              </a:rPr>
              <a:t> </a:t>
            </a:r>
            <a:r>
              <a:rPr lang="en-US" altLang="zh-CN" sz="2400" b="1" dirty="0">
                <a:latin typeface="楷体_GB2312" pitchFamily="49" charset="-122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</a:rPr>
              <a:t>‘</a:t>
            </a:r>
            <a:r>
              <a:rPr lang="zh-CN" altLang="en-US" sz="2400" b="1" dirty="0">
                <a:latin typeface="楷体_GB2312" pitchFamily="49" charset="-122"/>
              </a:rPr>
              <a:t>男</a:t>
            </a:r>
            <a:r>
              <a:rPr lang="zh-CN" altLang="en-US" sz="2400" b="1" dirty="0">
                <a:latin typeface="Times New Roman" panose="02020603050405020304" pitchFamily="18" charset="0"/>
              </a:rPr>
              <a:t>’</a:t>
            </a:r>
            <a:r>
              <a:rPr lang="zh-CN" altLang="en-US" sz="2400" b="1" dirty="0">
                <a:latin typeface="楷体_GB2312" pitchFamily="49" charset="-122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</a:rPr>
              <a:t>‘</a:t>
            </a:r>
            <a:r>
              <a:rPr lang="zh-CN" altLang="en-US" sz="2400" b="1" dirty="0">
                <a:latin typeface="楷体_GB2312" pitchFamily="49" charset="-122"/>
              </a:rPr>
              <a:t>女</a:t>
            </a:r>
            <a:r>
              <a:rPr lang="zh-CN" altLang="en-US" sz="2400" b="1" dirty="0">
                <a:latin typeface="Times New Roman" panose="02020603050405020304" pitchFamily="18" charset="0"/>
              </a:rPr>
              <a:t>’</a:t>
            </a:r>
            <a:r>
              <a:rPr lang="en-US" altLang="zh-CN" sz="2400" b="1" dirty="0">
                <a:latin typeface="楷体_GB2312" pitchFamily="49" charset="-122"/>
              </a:rPr>
              <a:t>}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楷体_GB2312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……………</a:t>
            </a:r>
            <a:r>
              <a:rPr lang="en-US" altLang="zh-CN" sz="2400" b="1" dirty="0">
                <a:latin typeface="楷体_GB2312" pitchFamily="49" charset="-122"/>
              </a:rPr>
              <a:t>..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7911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build="p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4213" y="4076700"/>
            <a:ext cx="10186987" cy="7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2"/>
                </a:solidFill>
              </a:rPr>
              <a:t>若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=1,2,</a:t>
            </a:r>
            <a:r>
              <a:rPr lang="en-US" altLang="zh-CN" sz="2400" b="1" dirty="0">
                <a:solidFill>
                  <a:schemeClr val="tx2"/>
                </a:solidFill>
              </a:rPr>
              <a:t>…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,n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）为有限集，基数（元组个数）为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则其笛卡儿积的基数为：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33399" y="1052513"/>
            <a:ext cx="9589655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3300"/>
                </a:solidFill>
                <a:ea typeface="宋体" panose="02010600030101010101" pitchFamily="2" charset="-122"/>
              </a:rPr>
              <a:t> (2)</a:t>
            </a:r>
            <a:r>
              <a:rPr kumimoji="1" lang="zh-CN" altLang="en-US" sz="2800" b="1" dirty="0">
                <a:solidFill>
                  <a:srgbClr val="FF3300"/>
                </a:solidFill>
                <a:ea typeface="宋体" panose="02010600030101010101" pitchFamily="2" charset="-122"/>
              </a:rPr>
              <a:t>笛卡儿积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(Cartesian Product)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chemeClr val="folHlink"/>
                </a:solidFill>
                <a:latin typeface="楷体_GB2312" pitchFamily="49" charset="-122"/>
              </a:rPr>
              <a:t>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给定一组域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，则其笛卡儿积为：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)∣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dirty="0" err="1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∈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,i</a:t>
            </a:r>
            <a:r>
              <a:rPr kumimoji="1"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=1,2,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,n}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761999" y="2895600"/>
            <a:ext cx="801254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其中：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每一元素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为一个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元组（元组）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元素中的每一个值</a:t>
            </a:r>
            <a:r>
              <a:rPr kumimoji="1"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为一个分量。</a:t>
            </a: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2987675" y="5013325"/>
          <a:ext cx="259238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公式" r:id="rId4" imgW="672808" imgH="342751" progId="Equation.3">
                  <p:embed/>
                </p:oleObj>
              </mc:Choice>
              <mc:Fallback>
                <p:oleObj name="公式" r:id="rId4" imgW="672808" imgH="342751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013325"/>
                        <a:ext cx="2592388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8689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41034" y="1142567"/>
            <a:ext cx="8250814" cy="559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0800" rIns="0" bIns="10800">
            <a:spAutoFit/>
          </a:bodyPr>
          <a:lstStyle>
            <a:lvl1pPr marL="284163" indent="-284163" eaLnBrk="0" hangingPunct="0"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  <a:tab pos="952500" algn="l"/>
                <a:tab pos="1336675" algn="l"/>
                <a:tab pos="1620838" algn="l"/>
                <a:tab pos="1905000" algn="l"/>
                <a:tab pos="2005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Times New Romen"/>
                <a:ea typeface="宋体" panose="02010600030101010101" pitchFamily="2" charset="-122"/>
              </a:rPr>
              <a:t>『</a:t>
            </a:r>
            <a:r>
              <a:rPr lang="zh-CN" altLang="en-US" sz="2400" b="1" dirty="0">
                <a:solidFill>
                  <a:srgbClr val="FF0000"/>
                </a:solidFill>
                <a:latin typeface="Times New Romen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Times New Romen"/>
                <a:ea typeface="宋体" panose="02010600030101010101" pitchFamily="2" charset="-122"/>
              </a:rPr>
              <a:t>』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有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个域</a:t>
            </a:r>
            <a:endParaRPr lang="en-US" altLang="zh-CN" sz="2400" b="1" dirty="0">
              <a:latin typeface="Times New Romen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 姓名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: </a:t>
            </a:r>
            <a:r>
              <a:rPr lang="en-US" altLang="zh-CN" sz="2400" b="1" dirty="0" err="1">
                <a:latin typeface="Times New Romen"/>
                <a:ea typeface="宋体" panose="02010600030101010101" pitchFamily="2" charset="-122"/>
              </a:rPr>
              <a:t>D</a:t>
            </a:r>
            <a:r>
              <a:rPr lang="en-US" altLang="zh-CN" sz="2400" b="1" baseline="-30000" dirty="0" err="1">
                <a:latin typeface="Times New Romen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={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张金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王银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李玉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}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，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       年龄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: </a:t>
            </a:r>
            <a:r>
              <a:rPr lang="en-US" altLang="zh-CN" sz="2400" b="1" dirty="0" err="1">
                <a:latin typeface="Times New Romen"/>
                <a:ea typeface="宋体" panose="02010600030101010101" pitchFamily="2" charset="-122"/>
              </a:rPr>
              <a:t>D</a:t>
            </a:r>
            <a:r>
              <a:rPr lang="en-US" altLang="zh-CN" sz="2400" b="1" baseline="-30000" dirty="0" err="1">
                <a:latin typeface="Times New Romen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={20,21,22}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则笛卡尔积   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latin typeface="Times New Romen"/>
                <a:ea typeface="宋体" panose="02010600030101010101" pitchFamily="2" charset="-122"/>
              </a:rPr>
              <a:t>D</a:t>
            </a:r>
            <a:r>
              <a:rPr lang="en-US" altLang="zh-CN" sz="2400" b="1" baseline="-30000" dirty="0" err="1">
                <a:latin typeface="Times New Romen"/>
                <a:ea typeface="宋体" panose="02010600030101010101" pitchFamily="2" charset="-122"/>
              </a:rPr>
              <a:t>1</a:t>
            </a:r>
            <a:r>
              <a:rPr lang="en-US" altLang="zh-CN" sz="2400" b="1" dirty="0" err="1">
                <a:latin typeface="Times New Romen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b="1" dirty="0" err="1">
                <a:latin typeface="Times New Romen"/>
                <a:ea typeface="宋体" panose="02010600030101010101" pitchFamily="2" charset="-122"/>
              </a:rPr>
              <a:t>D</a:t>
            </a:r>
            <a:r>
              <a:rPr lang="en-US" altLang="zh-CN" sz="2400" b="1" baseline="-30000" dirty="0" err="1">
                <a:latin typeface="Times New Romen"/>
                <a:ea typeface="宋体" panose="02010600030101010101" pitchFamily="2" charset="-122"/>
              </a:rPr>
              <a:t>2</a:t>
            </a:r>
            <a:r>
              <a:rPr lang="en-US" altLang="zh-CN" sz="2400" b="1" baseline="-30000" dirty="0">
                <a:latin typeface="Times New Romen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=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      {(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张金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,20),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张金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,21),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张金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,22), 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       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王银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,20),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王银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,21),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王银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,22),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       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李玉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,20),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李玉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,21), (</a:t>
            </a:r>
            <a:r>
              <a:rPr lang="zh-CN" altLang="en-US" sz="2400" b="1" dirty="0">
                <a:latin typeface="Times New Romen"/>
                <a:ea typeface="宋体" panose="02010600030101010101" pitchFamily="2" charset="-122"/>
              </a:rPr>
              <a:t>李玉</a:t>
            </a: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,22)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400" b="1" dirty="0">
                <a:latin typeface="Times New Romen"/>
                <a:ea typeface="宋体" panose="02010600030101010101" pitchFamily="2" charset="-122"/>
              </a:rPr>
              <a:t>      }</a:t>
            </a:r>
          </a:p>
        </p:txBody>
      </p:sp>
      <p:pic>
        <p:nvPicPr>
          <p:cNvPr id="7" name="Picture 4" descr="课件图＿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01"/>
          <a:stretch>
            <a:fillRect/>
          </a:stretch>
        </p:blipFill>
        <p:spPr bwMode="auto">
          <a:xfrm>
            <a:off x="8691848" y="2719742"/>
            <a:ext cx="1577619" cy="338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7109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16345" y="820294"/>
            <a:ext cx="10508674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FFFF66"/>
              </a:buClr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关系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(Relation)</a:t>
            </a:r>
          </a:p>
          <a:p>
            <a:pPr eaLnBrk="1" hangingPunct="1">
              <a:lnSpc>
                <a:spcPct val="150000"/>
              </a:lnSpc>
              <a:buClr>
                <a:srgbClr val="FFFF66"/>
              </a:buClr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－ </a:t>
            </a:r>
            <a:r>
              <a:rPr lang="en-US" altLang="zh-CN" b="1" dirty="0" err="1"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1</a:t>
            </a:r>
            <a:r>
              <a:rPr lang="en-US" altLang="zh-CN" sz="3600" b="1" dirty="0" err="1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b="1" dirty="0" err="1"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2</a:t>
            </a:r>
            <a:r>
              <a:rPr lang="en-US" altLang="zh-CN" sz="3600" b="1" dirty="0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b="1" dirty="0"/>
              <a:t>…</a:t>
            </a:r>
            <a:r>
              <a:rPr lang="en-US" altLang="zh-CN" sz="3600" b="1" dirty="0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b="1" dirty="0" err="1"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的子集叫做在域</a:t>
            </a:r>
            <a:r>
              <a:rPr lang="en-US" altLang="zh-CN" b="1" dirty="0" err="1">
                <a:solidFill>
                  <a:schemeClr val="tx2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dirty="0" err="1">
                <a:solidFill>
                  <a:schemeClr val="tx2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</a:rPr>
              <a:t>…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,</a:t>
            </a:r>
            <a:r>
              <a:rPr lang="en-US" altLang="zh-CN" b="1" dirty="0" err="1">
                <a:solidFill>
                  <a:schemeClr val="tx2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chemeClr val="tx2"/>
                </a:solidFill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上的关系，记：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R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 err="1">
                <a:solidFill>
                  <a:srgbClr val="FF33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rgbClr val="FF33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dirty="0" err="1">
                <a:solidFill>
                  <a:srgbClr val="FF33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rgbClr val="FF33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FF3300"/>
                </a:solidFill>
              </a:rPr>
              <a:t>…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b="1" dirty="0" err="1">
                <a:solidFill>
                  <a:srgbClr val="FF33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b="1" baseline="-25000" dirty="0" err="1">
                <a:solidFill>
                  <a:srgbClr val="FF33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1000" y="3525981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kumimoji="1" lang="en-US" altLang="zh-CN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n=1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：称为单元关系（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Unary relation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kumimoji="1" lang="en-US" altLang="zh-CN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n=2:  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称为二元关系（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Binary relation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endParaRPr kumimoji="1"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1895763" y="5135419"/>
            <a:ext cx="7086600" cy="853353"/>
            <a:chOff x="624" y="3294"/>
            <a:chExt cx="4320" cy="397"/>
          </a:xfrm>
        </p:grpSpPr>
        <p:pic>
          <p:nvPicPr>
            <p:cNvPr id="10" name="Picture 6" descr="klryanim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3408"/>
              <a:ext cx="432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251" y="3294"/>
              <a:ext cx="3161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8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关系是笛卡儿积的一个有限子集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671086"/>
              </p:ext>
            </p:extLst>
          </p:nvPr>
        </p:nvGraphicFramePr>
        <p:xfrm>
          <a:off x="9003839" y="2994660"/>
          <a:ext cx="182118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286">
                <a:tc>
                  <a:txBody>
                    <a:bodyPr/>
                    <a:lstStyle/>
                    <a:p>
                      <a:r>
                        <a:rPr lang="en-US" altLang="zh-CN" dirty="0"/>
                        <a:t>D1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张金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王银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李玉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627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750" y="1484313"/>
            <a:ext cx="830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66"/>
              </a:buClr>
            </a:pPr>
            <a:r>
              <a:rPr kumimoji="1" lang="en-US" altLang="zh-CN" sz="2800" b="1" dirty="0">
                <a:solidFill>
                  <a:srgbClr val="0000FF"/>
                </a:solidFill>
                <a:latin typeface="楷体_GB2312" pitchFamily="49" charset="-122"/>
              </a:rPr>
              <a:t>2 </a:t>
            </a:r>
            <a:r>
              <a:rPr kumimoji="1"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关系操作：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集合操作方式（一次一集合）</a:t>
            </a: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684213" y="2565400"/>
            <a:ext cx="7951787" cy="2286000"/>
            <a:chOff x="368" y="2208"/>
            <a:chExt cx="4753" cy="1440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68" y="2736"/>
              <a:ext cx="12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</a:rPr>
                <a:t>关系数据语言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000" y="2208"/>
              <a:ext cx="12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</a:rPr>
                <a:t>关系代数语言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967" y="2743"/>
              <a:ext cx="12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</a:rPr>
                <a:t>关系演算语言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929" y="3360"/>
              <a:ext cx="22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</a:rPr>
                <a:t>具有双重特点的语言：</a:t>
              </a:r>
              <a:r>
                <a:rPr kumimoji="1" lang="en-US" altLang="zh-CN" sz="2400" b="1" dirty="0">
                  <a:solidFill>
                    <a:schemeClr val="tx2"/>
                  </a:solidFill>
                  <a:latin typeface="楷体_GB2312" pitchFamily="49" charset="-122"/>
                </a:rPr>
                <a:t>SQL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546" y="2448"/>
              <a:ext cx="1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</a:rPr>
                <a:t>元组关系演算语言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589" y="2928"/>
              <a:ext cx="13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chemeClr val="tx2"/>
                  </a:solidFill>
                  <a:latin typeface="楷体_GB2312" pitchFamily="49" charset="-122"/>
                </a:rPr>
                <a:t>域关系演算语言</a:t>
              </a:r>
            </a:p>
          </p:txBody>
        </p:sp>
        <p:sp>
          <p:nvSpPr>
            <p:cNvPr id="16" name="AutoShape 13"/>
            <p:cNvSpPr>
              <a:spLocks/>
            </p:cNvSpPr>
            <p:nvPr/>
          </p:nvSpPr>
          <p:spPr bwMode="auto">
            <a:xfrm>
              <a:off x="1632" y="2304"/>
              <a:ext cx="144" cy="1200"/>
            </a:xfrm>
            <a:prstGeom prst="leftBrace">
              <a:avLst>
                <a:gd name="adj1" fmla="val 69444"/>
                <a:gd name="adj2" fmla="val 50000"/>
              </a:avLst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AutoShape 14"/>
            <p:cNvSpPr>
              <a:spLocks/>
            </p:cNvSpPr>
            <p:nvPr/>
          </p:nvSpPr>
          <p:spPr bwMode="auto">
            <a:xfrm>
              <a:off x="3360" y="2496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69497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316181" y="1143000"/>
            <a:ext cx="8305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关系完整性约束：</a:t>
            </a:r>
            <a:endParaRPr lang="zh-CN" altLang="en-US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Tx/>
              <a:buNone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实体完整性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  参照完整性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  用户定义的完整性</a:t>
            </a: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2106107" y="2355272"/>
            <a:ext cx="264823" cy="1229878"/>
          </a:xfrm>
          <a:prstGeom prst="leftBrace">
            <a:avLst>
              <a:gd name="adj1" fmla="val 52083"/>
              <a:gd name="adj2" fmla="val 52000"/>
            </a:avLst>
          </a:prstGeom>
          <a:noFill/>
          <a:ln w="222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5108719" y="2355272"/>
            <a:ext cx="1643062" cy="845127"/>
            <a:chOff x="2400" y="1824"/>
            <a:chExt cx="973" cy="672"/>
          </a:xfrm>
        </p:grpSpPr>
        <p:sp>
          <p:nvSpPr>
            <p:cNvPr id="9" name="AutoShape 6"/>
            <p:cNvSpPr>
              <a:spLocks/>
            </p:cNvSpPr>
            <p:nvPr/>
          </p:nvSpPr>
          <p:spPr bwMode="auto">
            <a:xfrm>
              <a:off x="2400" y="1824"/>
              <a:ext cx="192" cy="672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602" y="1971"/>
              <a:ext cx="771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800" b="1" i="1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不变性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1754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79388" y="1125538"/>
            <a:ext cx="11763230" cy="523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）关系（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Relation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关系就是二维表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二维表名就是关系名。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）属性（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Attribute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二维表中的列称为属性（字段）；每个属性有一个名称，称为属性名；二维表中对应某一列的值称为属性值。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）值域（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Domain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二维表中属性的取值范围称为值域，每一个属性都有一个取值范围，每一个属性对应一个值域，不同的属性可对应于同一值域。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）元组（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Tuple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二维表中的行称为元组（记录值）。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）分量（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Component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元组中的每一个属性值称为元组的一个分量，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元关系的每个元组有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个分量。 </a:t>
            </a:r>
          </a:p>
        </p:txBody>
      </p:sp>
    </p:spTree>
    <p:extLst>
      <p:ext uri="{BB962C8B-B14F-4D97-AF65-F5344CB8AC3E}">
        <p14:creationId xmlns:p14="http://schemas.microsoft.com/office/powerpoint/2010/main" val="173424103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E38DD-D074-4D0B-A898-33F2288C0FC4}" type="slidenum">
              <a:rPr lang="zh-CN" altLang="en-US" smtClean="0"/>
              <a:t>11</a:t>
            </a:fld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165754"/>
              </p:ext>
            </p:extLst>
          </p:nvPr>
        </p:nvGraphicFramePr>
        <p:xfrm>
          <a:off x="2693126" y="2072640"/>
          <a:ext cx="6706060" cy="2397303"/>
        </p:xfrm>
        <a:graphic>
          <a:graphicData uri="http://schemas.openxmlformats.org/drawingml/2006/table">
            <a:tbl>
              <a:tblPr/>
              <a:tblGrid>
                <a:gridCol w="186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3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4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6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关系数据模型概述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01537" y="1332411"/>
            <a:ext cx="12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学生表</a:t>
            </a:r>
          </a:p>
        </p:txBody>
      </p:sp>
      <p:sp>
        <p:nvSpPr>
          <p:cNvPr id="10" name="线形标注 1 9"/>
          <p:cNvSpPr/>
          <p:nvPr/>
        </p:nvSpPr>
        <p:spPr>
          <a:xfrm>
            <a:off x="306830" y="1432560"/>
            <a:ext cx="927610" cy="361516"/>
          </a:xfrm>
          <a:prstGeom prst="borderCallout1">
            <a:avLst>
              <a:gd name="adj1" fmla="val 54582"/>
              <a:gd name="adj2" fmla="val 101768"/>
              <a:gd name="adj3" fmla="val 42943"/>
              <a:gd name="adj4" fmla="val 2471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关系名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352550" y="3095842"/>
            <a:ext cx="927610" cy="361516"/>
          </a:xfrm>
          <a:prstGeom prst="borderCallout1">
            <a:avLst>
              <a:gd name="adj1" fmla="val 54582"/>
              <a:gd name="adj2" fmla="val 101768"/>
              <a:gd name="adj3" fmla="val 42943"/>
              <a:gd name="adj4" fmla="val 2003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关系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2772868" y="3992880"/>
            <a:ext cx="6256832" cy="441960"/>
            <a:chOff x="2772868" y="3992880"/>
            <a:chExt cx="6256832" cy="441960"/>
          </a:xfrm>
        </p:grpSpPr>
        <p:sp>
          <p:nvSpPr>
            <p:cNvPr id="13" name="椭圆 12"/>
            <p:cNvSpPr/>
            <p:nvPr/>
          </p:nvSpPr>
          <p:spPr>
            <a:xfrm>
              <a:off x="6096000" y="3992880"/>
              <a:ext cx="441960" cy="4419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4640580" y="3992880"/>
              <a:ext cx="1074420" cy="4419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7566660" y="3992880"/>
              <a:ext cx="1463040" cy="4419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2772868" y="3992880"/>
              <a:ext cx="1105712" cy="4419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左大括号 17"/>
          <p:cNvSpPr/>
          <p:nvPr/>
        </p:nvSpPr>
        <p:spPr>
          <a:xfrm>
            <a:off x="2293620" y="2118360"/>
            <a:ext cx="335280" cy="2316480"/>
          </a:xfrm>
          <a:prstGeom prst="leftBrace">
            <a:avLst>
              <a:gd name="adj1" fmla="val 8333"/>
              <a:gd name="adj2" fmla="val 49013"/>
            </a:avLst>
          </a:prstGeom>
          <a:ln w="25400">
            <a:solidFill>
              <a:srgbClr val="4CC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3810000" y="997131"/>
            <a:ext cx="4312920" cy="1010195"/>
            <a:chOff x="3810000" y="997131"/>
            <a:chExt cx="4312920" cy="1010195"/>
          </a:xfrm>
        </p:grpSpPr>
        <p:sp>
          <p:nvSpPr>
            <p:cNvPr id="37" name="矩形 36"/>
            <p:cNvSpPr/>
            <p:nvPr/>
          </p:nvSpPr>
          <p:spPr>
            <a:xfrm>
              <a:off x="5604510" y="997131"/>
              <a:ext cx="822960" cy="426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属性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 flipV="1">
              <a:off x="3810000" y="1423851"/>
              <a:ext cx="1794510" cy="55735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299867" y="1332412"/>
              <a:ext cx="788356" cy="648789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6240780" y="1432561"/>
              <a:ext cx="407670" cy="574765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6427470" y="1432560"/>
              <a:ext cx="1695450" cy="574766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74"/>
          <p:cNvGrpSpPr/>
          <p:nvPr/>
        </p:nvGrpSpPr>
        <p:grpSpPr>
          <a:xfrm>
            <a:off x="3646170" y="4526280"/>
            <a:ext cx="4530090" cy="1249680"/>
            <a:chOff x="3646170" y="4526280"/>
            <a:chExt cx="4530090" cy="124968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5372100" y="4526280"/>
              <a:ext cx="464820" cy="73152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240780" y="4526280"/>
              <a:ext cx="87630" cy="73152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648450" y="4526280"/>
              <a:ext cx="1527810" cy="83058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5694045" y="5356860"/>
              <a:ext cx="954405" cy="4191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分量</a:t>
              </a:r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3646170" y="4526280"/>
              <a:ext cx="2047875" cy="83058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/>
          <p:cNvGrpSpPr/>
          <p:nvPr/>
        </p:nvGrpSpPr>
        <p:grpSpPr>
          <a:xfrm>
            <a:off x="9399186" y="2880360"/>
            <a:ext cx="2350854" cy="1386840"/>
            <a:chOff x="9399186" y="2880360"/>
            <a:chExt cx="2350854" cy="1386840"/>
          </a:xfrm>
        </p:grpSpPr>
        <p:cxnSp>
          <p:nvCxnSpPr>
            <p:cNvPr id="26" name="直接连接符 25"/>
            <p:cNvCxnSpPr/>
            <p:nvPr/>
          </p:nvCxnSpPr>
          <p:spPr>
            <a:xfrm flipH="1" flipV="1">
              <a:off x="9399186" y="2880360"/>
              <a:ext cx="1619334" cy="45339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55" idx="1"/>
              <a:endCxn id="4" idx="3"/>
            </p:cNvCxnSpPr>
            <p:nvPr/>
          </p:nvCxnSpPr>
          <p:spPr>
            <a:xfrm flipH="1" flipV="1">
              <a:off x="9399186" y="3271291"/>
              <a:ext cx="1619334" cy="315715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462050" y="3832859"/>
              <a:ext cx="1625050" cy="434341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11018520" y="3341152"/>
              <a:ext cx="731520" cy="4917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元组</a:t>
              </a:r>
            </a:p>
          </p:txBody>
        </p:sp>
        <p:cxnSp>
          <p:nvCxnSpPr>
            <p:cNvPr id="56" name="直接连接符 55"/>
            <p:cNvCxnSpPr/>
            <p:nvPr/>
          </p:nvCxnSpPr>
          <p:spPr>
            <a:xfrm flipH="1">
              <a:off x="9462050" y="3679507"/>
              <a:ext cx="1556470" cy="153353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847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8313" y="908050"/>
            <a:ext cx="8218487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FFFF66"/>
              </a:buClr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(6) 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候选码：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能唯一标识一个元组的某一属性组。</a:t>
            </a:r>
            <a:endParaRPr lang="zh-CN" altLang="en-US" sz="2400" b="1" dirty="0">
              <a:solidFill>
                <a:srgbClr val="FFFF66"/>
              </a:solidFill>
              <a:ea typeface="楷体_GB2312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68313" y="2347278"/>
            <a:ext cx="845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66"/>
              </a:buClr>
            </a:pPr>
            <a:r>
              <a:rPr kumimoji="1" lang="en-US" altLang="zh-CN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(7) </a:t>
            </a:r>
            <a:r>
              <a:rPr kumimoji="1"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主码：</a:t>
            </a:r>
            <a:r>
              <a:rPr kumimoji="1"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候选码中的某一个。</a:t>
            </a:r>
            <a:endParaRPr kumimoji="1" lang="zh-CN" altLang="en-US" sz="2400" b="1" dirty="0">
              <a:solidFill>
                <a:srgbClr val="FFFF66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95288" y="2923540"/>
            <a:ext cx="1153763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66"/>
              </a:buClr>
            </a:pPr>
            <a:r>
              <a:rPr kumimoji="1" lang="en-US" altLang="zh-CN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(8) </a:t>
            </a:r>
            <a:r>
              <a:rPr kumimoji="1"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主属性：</a:t>
            </a:r>
            <a:r>
              <a:rPr kumimoji="1"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包含在任一候选码的属性，例如教师表中的工号和身份证号。</a:t>
            </a:r>
            <a:endParaRPr kumimoji="1" lang="zh-CN" altLang="en-US" sz="2400" b="1" dirty="0">
              <a:solidFill>
                <a:srgbClr val="FFFF66"/>
              </a:solidFill>
              <a:latin typeface="Tahoma" panose="020B060403050404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5288" y="3499803"/>
            <a:ext cx="1148429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66"/>
              </a:buClr>
            </a:pPr>
            <a:r>
              <a:rPr kumimoji="1" lang="en-US" altLang="zh-CN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(9) </a:t>
            </a:r>
            <a:r>
              <a:rPr kumimoji="1"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非主属性：</a:t>
            </a:r>
            <a:r>
              <a:rPr kumimoji="1"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不包含在任一候选码中的属性，例如教师表中的姓名、性别等。</a:t>
            </a:r>
            <a:endParaRPr kumimoji="1" lang="zh-CN" altLang="en-US" sz="2400" b="1" dirty="0">
              <a:solidFill>
                <a:srgbClr val="FFFF66"/>
              </a:solidFill>
              <a:latin typeface="Tahoma" panose="020B060403050404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95288" y="4003040"/>
            <a:ext cx="845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66"/>
              </a:buClr>
            </a:pPr>
            <a:r>
              <a:rPr kumimoji="1" lang="en-US" altLang="zh-CN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(10) </a:t>
            </a:r>
            <a:r>
              <a:rPr kumimoji="1"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全码：</a:t>
            </a:r>
            <a:r>
              <a:rPr kumimoji="1"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该关系模式中所有属性组均为候选码。</a:t>
            </a:r>
            <a:endParaRPr kumimoji="1" lang="zh-CN" altLang="en-US" sz="2400" b="1" dirty="0">
              <a:solidFill>
                <a:srgbClr val="FFFF66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95288" y="1367542"/>
            <a:ext cx="1015466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solidFill>
                  <a:srgbClr val="003300"/>
                </a:solidFill>
              </a:rPr>
              <a:t>如：</a:t>
            </a:r>
            <a:r>
              <a:rPr lang="zh-CN" altLang="en-US" sz="2000" b="1" dirty="0"/>
              <a:t>学生（</a:t>
            </a:r>
            <a:r>
              <a:rPr lang="zh-CN" altLang="en-US" sz="2000" b="1" u="sng" dirty="0">
                <a:solidFill>
                  <a:srgbClr val="FF0000"/>
                </a:solidFill>
              </a:rPr>
              <a:t>学号</a:t>
            </a:r>
            <a:r>
              <a:rPr lang="zh-CN" altLang="en-US" sz="2000" b="1" dirty="0"/>
              <a:t>，姓名，性别，所在系）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>
                <a:solidFill>
                  <a:srgbClr val="003300"/>
                </a:solidFill>
              </a:rPr>
              <a:t>       教师（</a:t>
            </a:r>
            <a:r>
              <a:rPr lang="zh-CN" altLang="en-US" sz="2000" b="1" u="sng" dirty="0">
                <a:solidFill>
                  <a:srgbClr val="FF3300"/>
                </a:solidFill>
              </a:rPr>
              <a:t>工号</a:t>
            </a:r>
            <a:r>
              <a:rPr lang="zh-CN" altLang="en-US" sz="2000" b="1" dirty="0">
                <a:solidFill>
                  <a:srgbClr val="003300"/>
                </a:solidFill>
              </a:rPr>
              <a:t>，姓名，性别，出生年月，</a:t>
            </a:r>
            <a:r>
              <a:rPr lang="zh-CN" altLang="en-US" sz="2000" b="1" dirty="0">
                <a:solidFill>
                  <a:srgbClr val="FF0066"/>
                </a:solidFill>
              </a:rPr>
              <a:t>身份证号</a:t>
            </a:r>
            <a:r>
              <a:rPr lang="zh-CN" altLang="en-US" sz="2000" b="1" dirty="0">
                <a:solidFill>
                  <a:srgbClr val="003300"/>
                </a:solidFill>
              </a:rPr>
              <a:t>，职称，所在系）</a:t>
            </a:r>
          </a:p>
        </p:txBody>
      </p:sp>
      <p:graphicFrame>
        <p:nvGraphicFramePr>
          <p:cNvPr id="14" name="Group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170840"/>
              </p:ext>
            </p:extLst>
          </p:nvPr>
        </p:nvGraphicFramePr>
        <p:xfrm>
          <a:off x="2325558" y="4462463"/>
          <a:ext cx="4038600" cy="2286000"/>
        </p:xfrm>
        <a:graphic>
          <a:graphicData uri="http://schemas.openxmlformats.org/drawingml/2006/table">
            <a:tbl>
              <a:tblPr/>
              <a:tblGrid>
                <a:gridCol w="200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课程号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工号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C201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0022102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C505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0051309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C505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0052201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3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C506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0052201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025640" y="4869180"/>
            <a:ext cx="1851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{c201,0022102}</a:t>
            </a:r>
          </a:p>
          <a:p>
            <a:r>
              <a:rPr lang="en-US" altLang="zh-CN" dirty="0"/>
              <a:t>{c505,0051309}</a:t>
            </a:r>
          </a:p>
          <a:p>
            <a:r>
              <a:rPr lang="en-US" altLang="zh-CN" dirty="0"/>
              <a:t>{c505,0052201}</a:t>
            </a:r>
          </a:p>
          <a:p>
            <a:r>
              <a:rPr lang="en-US" altLang="zh-CN" dirty="0"/>
              <a:t>{C506,0052201}</a:t>
            </a:r>
            <a:endParaRPr lang="zh-CN" altLang="en-US" dirty="0"/>
          </a:p>
        </p:txBody>
      </p:sp>
      <p:sp>
        <p:nvSpPr>
          <p:cNvPr id="5" name="线形标注 2 4"/>
          <p:cNvSpPr/>
          <p:nvPr/>
        </p:nvSpPr>
        <p:spPr>
          <a:xfrm>
            <a:off x="9288780" y="4594860"/>
            <a:ext cx="2217420" cy="815340"/>
          </a:xfrm>
          <a:prstGeom prst="borderCallout2">
            <a:avLst>
              <a:gd name="adj1" fmla="val 18750"/>
              <a:gd name="adj2" fmla="val -8333"/>
              <a:gd name="adj3" fmla="val -57886"/>
              <a:gd name="adj4" fmla="val -18729"/>
              <a:gd name="adj5" fmla="val 19042"/>
              <a:gd name="adj6" fmla="val -1322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/>
              <a:t>候选码：</a:t>
            </a:r>
            <a:endParaRPr lang="en-US" altLang="zh-CN" b="1" dirty="0"/>
          </a:p>
          <a:p>
            <a:r>
              <a:rPr lang="zh-CN" altLang="en-US" b="1" dirty="0"/>
              <a:t>（课程号，工号）</a:t>
            </a:r>
          </a:p>
        </p:txBody>
      </p:sp>
    </p:spTree>
    <p:extLst>
      <p:ext uri="{BB962C8B-B14F-4D97-AF65-F5344CB8AC3E}">
        <p14:creationId xmlns:p14="http://schemas.microsoft.com/office/powerpoint/2010/main" val="5496741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  <p:bldP spid="11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01649" y="1125538"/>
            <a:ext cx="10739005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(11)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外码（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Foreign key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    设</a:t>
            </a:r>
            <a:r>
              <a:rPr lang="en-US" altLang="zh-CN" sz="2400" b="1" dirty="0">
                <a:solidFill>
                  <a:srgbClr val="FF0066"/>
                </a:solidFill>
                <a:latin typeface="楷体_GB2312" pitchFamily="49" charset="-122"/>
              </a:rPr>
              <a:t>F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是</a:t>
            </a:r>
            <a:r>
              <a:rPr lang="zh-CN" altLang="en-US" sz="2400" b="1" dirty="0">
                <a:solidFill>
                  <a:srgbClr val="FF0066"/>
                </a:solidFill>
                <a:latin typeface="楷体_GB2312" pitchFamily="49" charset="-122"/>
              </a:rPr>
              <a:t>基本关系</a:t>
            </a:r>
            <a:r>
              <a:rPr lang="en-US" altLang="zh-CN" sz="2400" b="1" dirty="0">
                <a:solidFill>
                  <a:srgbClr val="FF0066"/>
                </a:solidFill>
                <a:latin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一个或一组属性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不是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主码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，但</a:t>
            </a:r>
            <a:r>
              <a:rPr lang="en-US" altLang="zh-CN" sz="2400" b="1" dirty="0">
                <a:solidFill>
                  <a:srgbClr val="FF0066"/>
                </a:solidFill>
                <a:latin typeface="楷体_GB2312" pitchFamily="49" charset="-122"/>
              </a:rPr>
              <a:t>F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是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基本关系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S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主码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，则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称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F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是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的外码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3300"/>
                </a:solidFill>
                <a:latin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：为参照关系；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3300"/>
                </a:solidFill>
                <a:latin typeface="楷体_GB2312" pitchFamily="49" charset="-122"/>
              </a:rPr>
              <a:t>S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：为被参照关系或目标关系。</a:t>
            </a:r>
          </a:p>
          <a:p>
            <a:pPr eaLnBrk="1" hangingPunct="1">
              <a:lnSpc>
                <a:spcPct val="150000"/>
              </a:lnSpc>
            </a:pPr>
            <a:endParaRPr lang="zh-CN" altLang="en-US" sz="24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「例」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学生（</a:t>
            </a:r>
            <a:r>
              <a:rPr lang="zh-CN" altLang="en-US" sz="2400" b="1" u="sng" dirty="0">
                <a:solidFill>
                  <a:srgbClr val="003300"/>
                </a:solidFill>
                <a:latin typeface="楷体_GB2312" pitchFamily="49" charset="-122"/>
              </a:rPr>
              <a:t>学号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，姓名，性别，出生年月，家庭地址，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</a:rPr>
              <a:t>系号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      系（</a:t>
            </a:r>
            <a:r>
              <a:rPr lang="zh-CN" altLang="en-US" sz="2400" b="1" u="sng" dirty="0">
                <a:solidFill>
                  <a:srgbClr val="FF0000"/>
                </a:solidFill>
                <a:latin typeface="楷体_GB2312" pitchFamily="49" charset="-122"/>
              </a:rPr>
              <a:t>系号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，系名）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b="1" dirty="0">
              <a:solidFill>
                <a:srgbClr val="003300"/>
              </a:solidFill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244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853517"/>
              </p:ext>
            </p:extLst>
          </p:nvPr>
        </p:nvGraphicFramePr>
        <p:xfrm>
          <a:off x="1625918" y="1033310"/>
          <a:ext cx="8072437" cy="3469127"/>
        </p:xfrm>
        <a:graphic>
          <a:graphicData uri="http://schemas.openxmlformats.org/drawingml/2006/table">
            <a:tbl>
              <a:tblPr/>
              <a:tblGrid>
                <a:gridCol w="173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3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家庭地址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系号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……….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d01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……..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d02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……..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d02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………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NULL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6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0657461"/>
              </p:ext>
            </p:extLst>
          </p:nvPr>
        </p:nvGraphicFramePr>
        <p:xfrm>
          <a:off x="3394393" y="4881413"/>
          <a:ext cx="3384550" cy="1828800"/>
        </p:xfrm>
        <a:graphic>
          <a:graphicData uri="http://schemas.openxmlformats.org/drawingml/2006/table">
            <a:tbl>
              <a:tblPr/>
              <a:tblGrid>
                <a:gridCol w="161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系号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系名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软件工程系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d02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计算机系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d03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信息安全系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69"/>
          <p:cNvSpPr>
            <a:spLocks noChangeArrowheads="1"/>
          </p:cNvSpPr>
          <p:nvPr/>
        </p:nvSpPr>
        <p:spPr bwMode="auto">
          <a:xfrm>
            <a:off x="6707505" y="4594076"/>
            <a:ext cx="3095625" cy="13684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0 w 21600"/>
              <a:gd name="T25" fmla="*/ 15429 h 21600"/>
              <a:gd name="T26" fmla="*/ 15429 w 21600"/>
              <a:gd name="T27" fmla="*/ 15429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8" y="6163"/>
                </a:lnTo>
                <a:lnTo>
                  <a:pt x="15429" y="6163"/>
                </a:lnTo>
                <a:lnTo>
                  <a:pt x="15429" y="15429"/>
                </a:lnTo>
                <a:lnTo>
                  <a:pt x="6163" y="15429"/>
                </a:lnTo>
                <a:lnTo>
                  <a:pt x="6163" y="9258"/>
                </a:lnTo>
                <a:lnTo>
                  <a:pt x="0" y="15429"/>
                </a:lnTo>
                <a:lnTo>
                  <a:pt x="6163" y="21600"/>
                </a:lnTo>
                <a:lnTo>
                  <a:pt x="6163" y="15429"/>
                </a:lnTo>
                <a:lnTo>
                  <a:pt x="15429" y="15429"/>
                </a:lnTo>
                <a:lnTo>
                  <a:pt x="15429" y="6163"/>
                </a:lnTo>
                <a:lnTo>
                  <a:pt x="21600" y="6163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AutoShape 70"/>
          <p:cNvSpPr>
            <a:spLocks noChangeArrowheads="1"/>
          </p:cNvSpPr>
          <p:nvPr/>
        </p:nvSpPr>
        <p:spPr bwMode="auto">
          <a:xfrm>
            <a:off x="2094548" y="4594076"/>
            <a:ext cx="1008062" cy="559902"/>
          </a:xfrm>
          <a:prstGeom prst="wedgeEllipseCallout">
            <a:avLst>
              <a:gd name="adj1" fmla="val 86316"/>
              <a:gd name="adj2" fmla="val 5279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b="1" dirty="0">
                <a:ea typeface="宋体" panose="02010600030101010101" pitchFamily="2" charset="-122"/>
              </a:rPr>
              <a:t>主码</a:t>
            </a:r>
          </a:p>
        </p:txBody>
      </p:sp>
      <p:sp>
        <p:nvSpPr>
          <p:cNvPr id="10" name="AutoShape 71"/>
          <p:cNvSpPr>
            <a:spLocks noChangeArrowheads="1"/>
          </p:cNvSpPr>
          <p:nvPr/>
        </p:nvSpPr>
        <p:spPr bwMode="auto">
          <a:xfrm>
            <a:off x="8732867" y="5962501"/>
            <a:ext cx="1403350" cy="647700"/>
          </a:xfrm>
          <a:prstGeom prst="wedgeEllipseCallout">
            <a:avLst>
              <a:gd name="adj1" fmla="val -10090"/>
              <a:gd name="adj2" fmla="val -25944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b="1" dirty="0">
                <a:ea typeface="宋体" panose="02010600030101010101" pitchFamily="2" charset="-122"/>
              </a:rPr>
              <a:t>外码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47900" y="5730240"/>
            <a:ext cx="854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540" y="2446020"/>
            <a:ext cx="89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学生</a:t>
            </a:r>
          </a:p>
        </p:txBody>
      </p:sp>
    </p:spTree>
    <p:extLst>
      <p:ext uri="{BB962C8B-B14F-4D97-AF65-F5344CB8AC3E}">
        <p14:creationId xmlns:p14="http://schemas.microsoft.com/office/powerpoint/2010/main" val="909134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 autoUpdateAnimBg="0"/>
      <p:bldP spid="1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866905"/>
              </p:ext>
            </p:extLst>
          </p:nvPr>
        </p:nvGraphicFramePr>
        <p:xfrm>
          <a:off x="1506969" y="1328301"/>
          <a:ext cx="8321674" cy="2379733"/>
        </p:xfrm>
        <a:graphic>
          <a:graphicData uri="http://schemas.openxmlformats.org/drawingml/2006/table">
            <a:tbl>
              <a:tblPr/>
              <a:tblGrid>
                <a:gridCol w="18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班长号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47"/>
          <p:cNvSpPr>
            <a:spLocks noChangeArrowheads="1"/>
          </p:cNvSpPr>
          <p:nvPr/>
        </p:nvSpPr>
        <p:spPr bwMode="auto">
          <a:xfrm>
            <a:off x="4327957" y="4009589"/>
            <a:ext cx="4284662" cy="2063551"/>
          </a:xfrm>
          <a:prstGeom prst="wedgeEllipseCallout">
            <a:avLst>
              <a:gd name="adj1" fmla="val 48094"/>
              <a:gd name="adj2" fmla="val -77474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3300"/>
                </a:solidFill>
                <a:ea typeface="宋体" panose="02010600030101010101" pitchFamily="2" charset="-122"/>
              </a:rPr>
              <a:t>注：不仅两个或两个以上关系间可以存在主码和外码的关系，同一关系内部属性间也可存在主码和外码的关系。</a:t>
            </a:r>
          </a:p>
        </p:txBody>
      </p:sp>
      <p:sp>
        <p:nvSpPr>
          <p:cNvPr id="9" name="下箭头 8"/>
          <p:cNvSpPr/>
          <p:nvPr/>
        </p:nvSpPr>
        <p:spPr>
          <a:xfrm>
            <a:off x="2684894" y="756801"/>
            <a:ext cx="46038" cy="5000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8757082" y="756801"/>
            <a:ext cx="46037" cy="50006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1" name="直接连接符 10"/>
          <p:cNvCxnSpPr>
            <a:stCxn id="9" idx="0"/>
            <a:endCxn id="10" idx="0"/>
          </p:cNvCxnSpPr>
          <p:nvPr/>
        </p:nvCxnSpPr>
        <p:spPr>
          <a:xfrm rot="5400000" flipH="1" flipV="1">
            <a:off x="5744007" y="-2278499"/>
            <a:ext cx="1588" cy="607218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098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697180" y="2669177"/>
            <a:ext cx="86106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系</a:t>
            </a:r>
            <a:r>
              <a:rPr kumimoji="1" lang="en-US" altLang="zh-CN" sz="2800" b="1" dirty="0">
                <a:solidFill>
                  <a:srgbClr val="002060"/>
                </a:solidFill>
                <a:latin typeface="楷体_GB2312" pitchFamily="49" charset="-122"/>
              </a:rPr>
              <a:t>DEPT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（</a:t>
            </a:r>
            <a:r>
              <a:rPr kumimoji="1" lang="zh-CN" altLang="en-US" sz="2800" b="1" u="sng" dirty="0">
                <a:solidFill>
                  <a:srgbClr val="002060"/>
                </a:solidFill>
                <a:latin typeface="楷体_GB2312" pitchFamily="49" charset="-122"/>
              </a:rPr>
              <a:t>系号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，系名，负责人）</a:t>
            </a:r>
          </a:p>
          <a:p>
            <a:endParaRPr kumimoji="1" lang="en-US" altLang="zh-CN" sz="2800" b="1" dirty="0">
              <a:solidFill>
                <a:srgbClr val="002060"/>
              </a:solidFill>
              <a:latin typeface="楷体_GB2312" pitchFamily="49" charset="-122"/>
            </a:endParaRPr>
          </a:p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学生</a:t>
            </a:r>
            <a:r>
              <a:rPr kumimoji="1" lang="en-US" altLang="zh-CN" sz="2800" b="1" dirty="0">
                <a:solidFill>
                  <a:srgbClr val="002060"/>
                </a:solidFill>
                <a:latin typeface="楷体_GB2312" pitchFamily="49" charset="-122"/>
              </a:rPr>
              <a:t>S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（</a:t>
            </a:r>
            <a:r>
              <a:rPr kumimoji="1" lang="zh-CN" altLang="en-US" sz="2800" b="1" u="sng" dirty="0">
                <a:solidFill>
                  <a:srgbClr val="002060"/>
                </a:solidFill>
                <a:latin typeface="楷体_GB2312" pitchFamily="49" charset="-122"/>
              </a:rPr>
              <a:t>学号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，姓名，性别，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</a:rPr>
              <a:t>系号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，出生年月）</a:t>
            </a:r>
          </a:p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    </a:t>
            </a:r>
          </a:p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课程</a:t>
            </a:r>
            <a:r>
              <a:rPr kumimoji="1" lang="en-US" altLang="zh-CN" sz="2800" b="1" dirty="0">
                <a:solidFill>
                  <a:srgbClr val="002060"/>
                </a:solidFill>
                <a:latin typeface="楷体_GB2312" pitchFamily="49" charset="-122"/>
              </a:rPr>
              <a:t>C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（</a:t>
            </a:r>
            <a:r>
              <a:rPr kumimoji="1" lang="zh-CN" altLang="en-US" sz="2800" b="1" u="sng" dirty="0">
                <a:solidFill>
                  <a:srgbClr val="002060"/>
                </a:solidFill>
                <a:latin typeface="楷体_GB2312" pitchFamily="49" charset="-122"/>
              </a:rPr>
              <a:t>课程号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，课程名，学分）</a:t>
            </a:r>
          </a:p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</a:t>
            </a:r>
          </a:p>
          <a:p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   选课</a:t>
            </a:r>
            <a:r>
              <a:rPr kumimoji="1" lang="en-US" altLang="zh-CN" sz="2800" b="1" dirty="0">
                <a:solidFill>
                  <a:srgbClr val="002060"/>
                </a:solidFill>
                <a:latin typeface="楷体_GB2312" pitchFamily="49" charset="-122"/>
              </a:rPr>
              <a:t>SC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（</a:t>
            </a:r>
            <a:r>
              <a:rPr kumimoji="1" lang="zh-CN" altLang="en-US" sz="2800" b="1" u="sng" dirty="0">
                <a:solidFill>
                  <a:srgbClr val="FF0000"/>
                </a:solidFill>
                <a:latin typeface="楷体_GB2312" pitchFamily="49" charset="-122"/>
              </a:rPr>
              <a:t>学号</a:t>
            </a:r>
            <a:r>
              <a:rPr kumimoji="1" lang="zh-CN" altLang="en-US" sz="2800" b="1" u="sng" dirty="0">
                <a:solidFill>
                  <a:srgbClr val="002060"/>
                </a:solidFill>
                <a:latin typeface="楷体_GB2312" pitchFamily="49" charset="-122"/>
              </a:rPr>
              <a:t>，</a:t>
            </a:r>
            <a:r>
              <a:rPr kumimoji="1" lang="zh-CN" altLang="en-US" sz="2800" b="1" u="sng" dirty="0">
                <a:solidFill>
                  <a:srgbClr val="FF0000"/>
                </a:solidFill>
                <a:latin typeface="楷体_GB2312" pitchFamily="49" charset="-122"/>
              </a:rPr>
              <a:t>课程号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，成绩）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H="1" flipV="1">
            <a:off x="4151453" y="3169920"/>
            <a:ext cx="2879725" cy="4419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4151454" y="4914900"/>
            <a:ext cx="1368425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151455" y="5777720"/>
            <a:ext cx="0" cy="414074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1319349" y="6191794"/>
            <a:ext cx="2832106" cy="32657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319349" y="3390900"/>
            <a:ext cx="0" cy="2833552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319348" y="3390900"/>
            <a:ext cx="2449285" cy="0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3750127" y="3390900"/>
            <a:ext cx="0" cy="220980"/>
          </a:xfrm>
          <a:prstGeom prst="straightConnector1">
            <a:avLst/>
          </a:prstGeom>
          <a:ln w="158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4765" y="1293223"/>
            <a:ext cx="5016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楷体_GB2312" pitchFamily="49" charset="-122"/>
              </a:rPr>
              <a:t>『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楷体_GB2312" pitchFamily="49" charset="-122"/>
              </a:rPr>
              <a:t>』</a:t>
            </a:r>
            <a:r>
              <a:rPr kumimoji="1" lang="zh-CN" altLang="en-US" sz="2800" b="1" dirty="0">
                <a:solidFill>
                  <a:srgbClr val="002060"/>
                </a:solidFill>
                <a:latin typeface="楷体_GB2312" pitchFamily="49" charset="-122"/>
              </a:rPr>
              <a:t>学生选课关系模型</a:t>
            </a:r>
          </a:p>
        </p:txBody>
      </p:sp>
      <p:sp>
        <p:nvSpPr>
          <p:cNvPr id="1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7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91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基本术语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79387" y="908050"/>
            <a:ext cx="11692573" cy="510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）关系模式（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Relation Schema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二维表的结构称为关系模式，相当于文件结构或记录结构。设关系名为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REL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，其属性为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A2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，则关系模式可以表示为：      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REL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A2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对每个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Ai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=1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）还包括该属性到值域的映象，即属性的取值范围。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例如：关系模式：</a:t>
            </a:r>
            <a:r>
              <a:rPr lang="zh-CN" altLang="en-US" sz="2400" b="1" dirty="0"/>
              <a:t>学生（</a:t>
            </a:r>
            <a:r>
              <a:rPr lang="zh-CN" altLang="en-US" sz="2400" b="1" u="sng" dirty="0"/>
              <a:t>学号</a:t>
            </a:r>
            <a:r>
              <a:rPr lang="zh-CN" altLang="en-US" sz="2400" b="1" dirty="0"/>
              <a:t>，姓名，性别，所在系）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003300"/>
                </a:solidFill>
              </a:rPr>
              <a:t>                                   教师（</a:t>
            </a:r>
            <a:r>
              <a:rPr lang="zh-CN" altLang="en-US" sz="2400" b="1" u="sng" dirty="0">
                <a:solidFill>
                  <a:srgbClr val="FF3300"/>
                </a:solidFill>
              </a:rPr>
              <a:t>工号</a:t>
            </a:r>
            <a:r>
              <a:rPr lang="zh-CN" altLang="en-US" sz="2400" b="1" dirty="0">
                <a:solidFill>
                  <a:srgbClr val="003300"/>
                </a:solidFill>
              </a:rPr>
              <a:t>，姓名，性别，出生年月，</a:t>
            </a:r>
            <a:r>
              <a:rPr lang="zh-CN" altLang="en-US" sz="2400" b="1" dirty="0">
                <a:solidFill>
                  <a:srgbClr val="FF0066"/>
                </a:solidFill>
              </a:rPr>
              <a:t>身份证号</a:t>
            </a:r>
            <a:r>
              <a:rPr lang="zh-CN" altLang="en-US" sz="2400" b="1" dirty="0">
                <a:solidFill>
                  <a:srgbClr val="003300"/>
                </a:solidFill>
              </a:rPr>
              <a:t>，职称，所在系）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13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）关系模型（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Relation Model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：关系模型是所有的关系模式、属性名和码的汇集，是模式描述的对象。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14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）关系数据库（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Relation Database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对应于一个关系模型的所有关系的集合。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9888" y="771366"/>
            <a:ext cx="7531132" cy="3416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/>
              <a:t>“学生选课”关系模型包含如下关系模式以及这些模式之间的相互关系：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/>
              <a:t>学生（</a:t>
            </a:r>
            <a:r>
              <a:rPr lang="zh-CN" altLang="en-US" sz="2400" b="1" u="sng" dirty="0"/>
              <a:t>学号</a:t>
            </a:r>
            <a:r>
              <a:rPr lang="zh-CN" altLang="en-US" sz="2400" b="1" dirty="0"/>
              <a:t>，姓名，性别，所在系）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系（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系号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，系名，系主任）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课号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，课名，学分）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选课（</a:t>
            </a:r>
            <a:r>
              <a:rPr lang="zh-CN" altLang="en-US" sz="2400" b="1" u="sng" dirty="0">
                <a:latin typeface="楷体_GB2312" pitchFamily="49" charset="-122"/>
                <a:ea typeface="楷体_GB2312" pitchFamily="49" charset="-122"/>
              </a:rPr>
              <a:t>学号，课号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，成绩）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160520" y="704532"/>
            <a:ext cx="7886700" cy="5509260"/>
            <a:chOff x="4160520" y="704532"/>
            <a:chExt cx="7886700" cy="5509260"/>
          </a:xfrm>
        </p:grpSpPr>
        <p:sp>
          <p:nvSpPr>
            <p:cNvPr id="5" name="云形标注 4"/>
            <p:cNvSpPr/>
            <p:nvPr/>
          </p:nvSpPr>
          <p:spPr>
            <a:xfrm>
              <a:off x="4160520" y="704532"/>
              <a:ext cx="7886700" cy="5509260"/>
            </a:xfrm>
            <a:prstGeom prst="cloudCallout">
              <a:avLst>
                <a:gd name="adj1" fmla="val -26564"/>
                <a:gd name="adj2" fmla="val 39092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dirty="0"/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                      关系实例（关系）和关系模式的区别：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b="1" dirty="0">
                  <a:solidFill>
                    <a:schemeClr val="tx1"/>
                  </a:solidFill>
                </a:rPr>
                <a:t>关系：包含实例，例如：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p"/>
              </a:pP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               </a:t>
              </a:r>
              <a:r>
                <a:rPr lang="zh-CN" altLang="en-US" b="1" dirty="0">
                  <a:solidFill>
                    <a:schemeClr val="tx1"/>
                  </a:solidFill>
                </a:rPr>
                <a:t>学生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endParaRPr lang="en-US" altLang="zh-CN" b="1" dirty="0">
                <a:solidFill>
                  <a:schemeClr val="tx1"/>
                </a:solidFill>
              </a:endParaRPr>
            </a:p>
            <a:p>
              <a:endParaRPr lang="en-US" altLang="zh-CN" b="1" dirty="0">
                <a:solidFill>
                  <a:schemeClr val="tx1"/>
                </a:solidFill>
              </a:endParaRPr>
            </a:p>
            <a:p>
              <a:endParaRPr lang="en-US" altLang="zh-CN" b="1" dirty="0">
                <a:solidFill>
                  <a:schemeClr val="tx1"/>
                </a:solidFill>
              </a:endParaRPr>
            </a:p>
            <a:p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         </a:t>
              </a:r>
              <a:r>
                <a:rPr lang="zh-CN" altLang="en-US" b="1" dirty="0">
                  <a:solidFill>
                    <a:schemeClr val="tx1"/>
                  </a:solidFill>
                </a:rPr>
                <a:t>因为实例随时都在变化中，因此关系也在不断变化中。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b="1" dirty="0">
                  <a:solidFill>
                    <a:schemeClr val="tx1"/>
                  </a:solidFill>
                </a:rPr>
                <a:t>关系模式：不包含具体记录，只有结构，例如：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学生（学号，姓名，性别，所在系）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相对于关系，关系模式是比较恒定的。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pPr algn="ctr"/>
              <a:endParaRPr lang="zh-CN" altLang="en-US" dirty="0"/>
            </a:p>
          </p:txBody>
        </p:sp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9260" y="2159953"/>
              <a:ext cx="3928427" cy="1510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85257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29009" y="1125538"/>
            <a:ext cx="9365099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关系中的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元组分量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具有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原子性</a:t>
            </a: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，即每一个分量都必须是不可分的数据项。</a:t>
            </a:r>
          </a:p>
        </p:txBody>
      </p:sp>
      <p:graphicFrame>
        <p:nvGraphicFramePr>
          <p:cNvPr id="7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245412"/>
              </p:ext>
            </p:extLst>
          </p:nvPr>
        </p:nvGraphicFramePr>
        <p:xfrm>
          <a:off x="1229010" y="2492375"/>
          <a:ext cx="8105776" cy="2749551"/>
        </p:xfrm>
        <a:graphic>
          <a:graphicData uri="http://schemas.openxmlformats.org/drawingml/2006/table">
            <a:tbl>
              <a:tblPr/>
              <a:tblGrid>
                <a:gridCol w="1500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6575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学号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姓名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联系方式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手机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固定电话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0022102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王雪莲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女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15812345678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68021234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35"/>
          <p:cNvSpPr>
            <a:spLocks noChangeArrowheads="1"/>
          </p:cNvSpPr>
          <p:nvPr/>
        </p:nvSpPr>
        <p:spPr bwMode="auto">
          <a:xfrm>
            <a:off x="6996543" y="5680508"/>
            <a:ext cx="2747821" cy="803419"/>
          </a:xfrm>
          <a:prstGeom prst="wedgeEllipseCallout">
            <a:avLst>
              <a:gd name="adj1" fmla="val -41365"/>
              <a:gd name="adj2" fmla="val -3889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ea typeface="宋体" panose="02010600030101010101" pitchFamily="2" charset="-122"/>
              </a:rPr>
              <a:t>不具有原子性</a:t>
            </a:r>
          </a:p>
        </p:txBody>
      </p:sp>
    </p:spTree>
    <p:extLst>
      <p:ext uri="{BB962C8B-B14F-4D97-AF65-F5344CB8AC3E}">
        <p14:creationId xmlns:p14="http://schemas.microsoft.com/office/powerpoint/2010/main" val="1792680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28591" y="778457"/>
            <a:ext cx="9641466" cy="244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3300"/>
                </a:solidFill>
                <a:latin typeface="楷体_GB2312" pitchFamily="49" charset="-122"/>
              </a:rPr>
              <a:t>2.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列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同质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的。</a:t>
            </a:r>
            <a:r>
              <a:rPr lang="zh-CN" altLang="en-US" sz="2800" dirty="0">
                <a:latin typeface="楷体_GB2312" pitchFamily="49" charset="-122"/>
              </a:rPr>
              <a:t> </a:t>
            </a:r>
            <a:endParaRPr lang="zh-CN" altLang="en-US" sz="28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3300"/>
                </a:solidFill>
                <a:latin typeface="楷体_GB2312" pitchFamily="49" charset="-122"/>
              </a:rPr>
              <a:t>3.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关系中行的顺序、列的顺序可以任意互换，不会改变关系的意义。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即行、列无序</a:t>
            </a:r>
            <a:r>
              <a:rPr lang="zh-CN" altLang="en-US" sz="32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" name="AutoShape 102"/>
          <p:cNvSpPr>
            <a:spLocks noChangeArrowheads="1"/>
          </p:cNvSpPr>
          <p:nvPr/>
        </p:nvSpPr>
        <p:spPr bwMode="auto">
          <a:xfrm>
            <a:off x="10077894" y="4493895"/>
            <a:ext cx="1296987" cy="792162"/>
          </a:xfrm>
          <a:prstGeom prst="wedgeEllipseCallout">
            <a:avLst>
              <a:gd name="adj1" fmla="val -142804"/>
              <a:gd name="adj2" fmla="val 943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不同质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59114"/>
              </p:ext>
            </p:extLst>
          </p:nvPr>
        </p:nvGraphicFramePr>
        <p:xfrm>
          <a:off x="908914" y="3261360"/>
          <a:ext cx="8321674" cy="2400953"/>
        </p:xfrm>
        <a:graphic>
          <a:graphicData uri="http://schemas.openxmlformats.org/drawingml/2006/table">
            <a:tbl>
              <a:tblPr/>
              <a:tblGrid>
                <a:gridCol w="18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班长号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254864" y="4267200"/>
            <a:ext cx="4553856" cy="1013460"/>
            <a:chOff x="4254864" y="1905000"/>
            <a:chExt cx="4553856" cy="1013460"/>
          </a:xfrm>
        </p:grpSpPr>
        <p:sp>
          <p:nvSpPr>
            <p:cNvPr id="2" name="椭圆 1"/>
            <p:cNvSpPr/>
            <p:nvPr/>
          </p:nvSpPr>
          <p:spPr>
            <a:xfrm>
              <a:off x="4254864" y="1905000"/>
              <a:ext cx="1315356" cy="4533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649324" y="1905000"/>
              <a:ext cx="1315356" cy="10134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7493364" y="2411730"/>
              <a:ext cx="1315356" cy="4533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53789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23850" y="1125538"/>
            <a:ext cx="82915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rgbClr val="003300"/>
                </a:solidFill>
                <a:latin typeface="楷体_GB2312" pitchFamily="49" charset="-122"/>
              </a:rPr>
              <a:t>4.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关系中的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任意两个元组不能相同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。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28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28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28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2800" b="1" dirty="0">
              <a:solidFill>
                <a:srgbClr val="0033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800" dirty="0">
              <a:latin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89953" y="2000250"/>
            <a:ext cx="8367712" cy="2584450"/>
            <a:chOff x="1589953" y="2000250"/>
            <a:chExt cx="8367712" cy="2584450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589953" y="2000250"/>
              <a:ext cx="8367712" cy="2584450"/>
              <a:chOff x="-3" y="-3"/>
              <a:chExt cx="2616" cy="1628"/>
            </a:xfrm>
          </p:grpSpPr>
          <p:grpSp>
            <p:nvGrpSpPr>
              <p:cNvPr id="8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2610" cy="1625"/>
                <a:chOff x="0" y="0"/>
                <a:chExt cx="2610" cy="1625"/>
              </a:xfrm>
            </p:grpSpPr>
            <p:grpSp>
              <p:nvGrpSpPr>
                <p:cNvPr id="10" name="Group 6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8" cy="327"/>
                  <a:chOff x="0" y="0"/>
                  <a:chExt cx="538" cy="327"/>
                </a:xfrm>
              </p:grpSpPr>
              <p:sp>
                <p:nvSpPr>
                  <p:cNvPr id="9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4"/>
                    <a:ext cx="452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ea typeface="黑体" panose="02010609060101010101" pitchFamily="49" charset="-122"/>
                      </a:rPr>
                      <a:t>学号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38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1" name="Group 9"/>
                <p:cNvGrpSpPr>
                  <a:grpSpLocks/>
                </p:cNvGrpSpPr>
                <p:nvPr/>
              </p:nvGrpSpPr>
              <p:grpSpPr bwMode="auto">
                <a:xfrm>
                  <a:off x="538" y="0"/>
                  <a:ext cx="490" cy="327"/>
                  <a:chOff x="538" y="0"/>
                  <a:chExt cx="490" cy="327"/>
                </a:xfrm>
              </p:grpSpPr>
              <p:sp>
                <p:nvSpPr>
                  <p:cNvPr id="92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581" y="4"/>
                    <a:ext cx="40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ea typeface="黑体" panose="02010609060101010101" pitchFamily="49" charset="-122"/>
                      </a:rPr>
                      <a:t>姓名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538" y="0"/>
                    <a:ext cx="490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4" name="Group 12"/>
                <p:cNvGrpSpPr>
                  <a:grpSpLocks/>
                </p:cNvGrpSpPr>
                <p:nvPr/>
              </p:nvGrpSpPr>
              <p:grpSpPr bwMode="auto">
                <a:xfrm>
                  <a:off x="1028" y="0"/>
                  <a:ext cx="394" cy="327"/>
                  <a:chOff x="1028" y="0"/>
                  <a:chExt cx="394" cy="327"/>
                </a:xfrm>
              </p:grpSpPr>
              <p:sp>
                <p:nvSpPr>
                  <p:cNvPr id="90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1072" y="4"/>
                    <a:ext cx="30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ea typeface="黑体" panose="02010609060101010101" pitchFamily="49" charset="-122"/>
                      </a:rPr>
                      <a:t>性别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0"/>
                    <a:ext cx="394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15" name="Rectangle 17"/>
                <p:cNvSpPr>
                  <a:spLocks noChangeArrowheads="1"/>
                </p:cNvSpPr>
                <p:nvPr/>
              </p:nvSpPr>
              <p:spPr bwMode="auto">
                <a:xfrm>
                  <a:off x="1422" y="0"/>
                  <a:ext cx="602" cy="32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" name="Rectangle 20"/>
                <p:cNvSpPr>
                  <a:spLocks noChangeArrowheads="1"/>
                </p:cNvSpPr>
                <p:nvPr/>
              </p:nvSpPr>
              <p:spPr bwMode="auto">
                <a:xfrm>
                  <a:off x="2024" y="0"/>
                  <a:ext cx="586" cy="32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7" name="Group 21"/>
                <p:cNvGrpSpPr>
                  <a:grpSpLocks/>
                </p:cNvGrpSpPr>
                <p:nvPr/>
              </p:nvGrpSpPr>
              <p:grpSpPr bwMode="auto">
                <a:xfrm>
                  <a:off x="0" y="323"/>
                  <a:ext cx="538" cy="323"/>
                  <a:chOff x="0" y="323"/>
                  <a:chExt cx="538" cy="323"/>
                </a:xfrm>
              </p:grpSpPr>
              <p:sp>
                <p:nvSpPr>
                  <p:cNvPr id="8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23"/>
                    <a:ext cx="452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en-US" altLang="zh-CN" sz="2400" b="1" dirty="0">
                        <a:ea typeface="宋体" panose="02010600030101010101" pitchFamily="2" charset="-122"/>
                      </a:rPr>
                      <a:t>0022102</a:t>
                    </a: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23"/>
                    <a:ext cx="538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8" name="Group 24"/>
                <p:cNvGrpSpPr>
                  <a:grpSpLocks/>
                </p:cNvGrpSpPr>
                <p:nvPr/>
              </p:nvGrpSpPr>
              <p:grpSpPr bwMode="auto">
                <a:xfrm>
                  <a:off x="538" y="323"/>
                  <a:ext cx="490" cy="323"/>
                  <a:chOff x="538" y="323"/>
                  <a:chExt cx="490" cy="323"/>
                </a:xfrm>
              </p:grpSpPr>
              <p:sp>
                <p:nvSpPr>
                  <p:cNvPr id="86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581" y="323"/>
                    <a:ext cx="40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王雪莲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7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538" y="323"/>
                    <a:ext cx="490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19" name="Group 27"/>
                <p:cNvGrpSpPr>
                  <a:grpSpLocks/>
                </p:cNvGrpSpPr>
                <p:nvPr/>
              </p:nvGrpSpPr>
              <p:grpSpPr bwMode="auto">
                <a:xfrm>
                  <a:off x="1028" y="323"/>
                  <a:ext cx="394" cy="323"/>
                  <a:chOff x="1028" y="323"/>
                  <a:chExt cx="394" cy="323"/>
                </a:xfrm>
              </p:grpSpPr>
              <p:sp>
                <p:nvSpPr>
                  <p:cNvPr id="8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323"/>
                    <a:ext cx="30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女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23"/>
                    <a:ext cx="394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20" name="Rectangle 32"/>
                <p:cNvSpPr>
                  <a:spLocks noChangeArrowheads="1"/>
                </p:cNvSpPr>
                <p:nvPr/>
              </p:nvSpPr>
              <p:spPr bwMode="auto">
                <a:xfrm>
                  <a:off x="1422" y="323"/>
                  <a:ext cx="602" cy="32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21" name="Group 33"/>
                <p:cNvGrpSpPr>
                  <a:grpSpLocks/>
                </p:cNvGrpSpPr>
                <p:nvPr/>
              </p:nvGrpSpPr>
              <p:grpSpPr bwMode="auto">
                <a:xfrm>
                  <a:off x="1426" y="323"/>
                  <a:ext cx="1184" cy="357"/>
                  <a:chOff x="1426" y="323"/>
                  <a:chExt cx="1184" cy="357"/>
                </a:xfrm>
              </p:grpSpPr>
              <p:sp>
                <p:nvSpPr>
                  <p:cNvPr id="8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426" y="357"/>
                    <a:ext cx="500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ea typeface="宋体" panose="02010600030101010101" pitchFamily="2" charset="-122"/>
                      </a:rPr>
                      <a:t>软件工程</a:t>
                    </a: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2024" y="323"/>
                    <a:ext cx="586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22" name="Group 36"/>
                <p:cNvGrpSpPr>
                  <a:grpSpLocks/>
                </p:cNvGrpSpPr>
                <p:nvPr/>
              </p:nvGrpSpPr>
              <p:grpSpPr bwMode="auto">
                <a:xfrm>
                  <a:off x="0" y="646"/>
                  <a:ext cx="538" cy="323"/>
                  <a:chOff x="0" y="646"/>
                  <a:chExt cx="538" cy="323"/>
                </a:xfrm>
              </p:grpSpPr>
              <p:sp>
                <p:nvSpPr>
                  <p:cNvPr id="78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646"/>
                    <a:ext cx="538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79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0" y="646"/>
                    <a:ext cx="538" cy="323"/>
                    <a:chOff x="0" y="646"/>
                    <a:chExt cx="538" cy="323"/>
                  </a:xfrm>
                </p:grpSpPr>
                <p:sp>
                  <p:nvSpPr>
                    <p:cNvPr id="80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646"/>
                      <a:ext cx="452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0051309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646"/>
                      <a:ext cx="538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23" name="Group 41"/>
                <p:cNvGrpSpPr>
                  <a:grpSpLocks/>
                </p:cNvGrpSpPr>
                <p:nvPr/>
              </p:nvGrpSpPr>
              <p:grpSpPr bwMode="auto">
                <a:xfrm>
                  <a:off x="538" y="646"/>
                  <a:ext cx="490" cy="323"/>
                  <a:chOff x="538" y="646"/>
                  <a:chExt cx="490" cy="323"/>
                </a:xfrm>
              </p:grpSpPr>
              <p:sp>
                <p:nvSpPr>
                  <p:cNvPr id="74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538" y="646"/>
                    <a:ext cx="490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75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538" y="646"/>
                    <a:ext cx="490" cy="323"/>
                    <a:chOff x="538" y="646"/>
                    <a:chExt cx="490" cy="323"/>
                  </a:xfrm>
                </p:grpSpPr>
                <p:sp>
                  <p:nvSpPr>
                    <p:cNvPr id="76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81" y="646"/>
                      <a:ext cx="404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白亚春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7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646"/>
                      <a:ext cx="490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25" name="Group 46"/>
                <p:cNvGrpSpPr>
                  <a:grpSpLocks/>
                </p:cNvGrpSpPr>
                <p:nvPr/>
              </p:nvGrpSpPr>
              <p:grpSpPr bwMode="auto">
                <a:xfrm>
                  <a:off x="1028" y="646"/>
                  <a:ext cx="394" cy="323"/>
                  <a:chOff x="1028" y="646"/>
                  <a:chExt cx="394" cy="323"/>
                </a:xfrm>
              </p:grpSpPr>
              <p:sp>
                <p:nvSpPr>
                  <p:cNvPr id="70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646"/>
                    <a:ext cx="394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71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1028" y="646"/>
                    <a:ext cx="394" cy="323"/>
                    <a:chOff x="1028" y="646"/>
                    <a:chExt cx="394" cy="323"/>
                  </a:xfrm>
                </p:grpSpPr>
                <p:sp>
                  <p:nvSpPr>
                    <p:cNvPr id="72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71" y="646"/>
                      <a:ext cx="308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男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chemeClr val="bg2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3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8" y="646"/>
                      <a:ext cx="394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26" name="Group 51"/>
                <p:cNvGrpSpPr>
                  <a:grpSpLocks/>
                </p:cNvGrpSpPr>
                <p:nvPr/>
              </p:nvGrpSpPr>
              <p:grpSpPr bwMode="auto">
                <a:xfrm>
                  <a:off x="1422" y="646"/>
                  <a:ext cx="602" cy="323"/>
                  <a:chOff x="1422" y="646"/>
                  <a:chExt cx="602" cy="323"/>
                </a:xfrm>
              </p:grpSpPr>
              <p:sp>
                <p:nvSpPr>
                  <p:cNvPr id="68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422" y="646"/>
                    <a:ext cx="602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69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1422" y="646"/>
                    <a:ext cx="602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27" name="Group 56"/>
                <p:cNvGrpSpPr>
                  <a:grpSpLocks/>
                </p:cNvGrpSpPr>
                <p:nvPr/>
              </p:nvGrpSpPr>
              <p:grpSpPr bwMode="auto">
                <a:xfrm>
                  <a:off x="1439" y="646"/>
                  <a:ext cx="1171" cy="330"/>
                  <a:chOff x="1439" y="646"/>
                  <a:chExt cx="1171" cy="330"/>
                </a:xfrm>
              </p:grpSpPr>
              <p:sp>
                <p:nvSpPr>
                  <p:cNvPr id="64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024" y="646"/>
                    <a:ext cx="586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65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1439" y="646"/>
                    <a:ext cx="1171" cy="330"/>
                    <a:chOff x="1439" y="646"/>
                    <a:chExt cx="1171" cy="330"/>
                  </a:xfrm>
                </p:grpSpPr>
                <p:sp>
                  <p:nvSpPr>
                    <p:cNvPr id="66" name="Rectangl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39" y="653"/>
                      <a:ext cx="500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计算机系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chemeClr val="bg2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7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24" y="646"/>
                      <a:ext cx="586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28" name="Group 61"/>
                <p:cNvGrpSpPr>
                  <a:grpSpLocks/>
                </p:cNvGrpSpPr>
                <p:nvPr/>
              </p:nvGrpSpPr>
              <p:grpSpPr bwMode="auto">
                <a:xfrm>
                  <a:off x="0" y="969"/>
                  <a:ext cx="538" cy="323"/>
                  <a:chOff x="0" y="969"/>
                  <a:chExt cx="538" cy="323"/>
                </a:xfrm>
              </p:grpSpPr>
              <p:sp>
                <p:nvSpPr>
                  <p:cNvPr id="6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969"/>
                    <a:ext cx="538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61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0" y="969"/>
                    <a:ext cx="538" cy="323"/>
                    <a:chOff x="0" y="969"/>
                    <a:chExt cx="538" cy="323"/>
                  </a:xfrm>
                </p:grpSpPr>
                <p:sp>
                  <p:nvSpPr>
                    <p:cNvPr id="62" name="Rectangl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969"/>
                      <a:ext cx="452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0051309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3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969"/>
                      <a:ext cx="538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29" name="Group 66"/>
                <p:cNvGrpSpPr>
                  <a:grpSpLocks/>
                </p:cNvGrpSpPr>
                <p:nvPr/>
              </p:nvGrpSpPr>
              <p:grpSpPr bwMode="auto">
                <a:xfrm>
                  <a:off x="538" y="969"/>
                  <a:ext cx="490" cy="323"/>
                  <a:chOff x="538" y="969"/>
                  <a:chExt cx="490" cy="323"/>
                </a:xfrm>
              </p:grpSpPr>
              <p:sp>
                <p:nvSpPr>
                  <p:cNvPr id="56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538" y="969"/>
                    <a:ext cx="490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57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538" y="969"/>
                    <a:ext cx="490" cy="323"/>
                    <a:chOff x="538" y="969"/>
                    <a:chExt cx="490" cy="323"/>
                  </a:xfrm>
                </p:grpSpPr>
                <p:sp>
                  <p:nvSpPr>
                    <p:cNvPr id="58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81" y="969"/>
                      <a:ext cx="404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白亚春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9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969"/>
                      <a:ext cx="490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30" name="Group 71"/>
                <p:cNvGrpSpPr>
                  <a:grpSpLocks/>
                </p:cNvGrpSpPr>
                <p:nvPr/>
              </p:nvGrpSpPr>
              <p:grpSpPr bwMode="auto">
                <a:xfrm>
                  <a:off x="1028" y="969"/>
                  <a:ext cx="394" cy="323"/>
                  <a:chOff x="1028" y="969"/>
                  <a:chExt cx="394" cy="323"/>
                </a:xfrm>
              </p:grpSpPr>
              <p:sp>
                <p:nvSpPr>
                  <p:cNvPr id="52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969"/>
                    <a:ext cx="394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53" name="Group 73"/>
                  <p:cNvGrpSpPr>
                    <a:grpSpLocks/>
                  </p:cNvGrpSpPr>
                  <p:nvPr/>
                </p:nvGrpSpPr>
                <p:grpSpPr bwMode="auto">
                  <a:xfrm>
                    <a:off x="1028" y="969"/>
                    <a:ext cx="394" cy="323"/>
                    <a:chOff x="1028" y="969"/>
                    <a:chExt cx="394" cy="323"/>
                  </a:xfrm>
                </p:grpSpPr>
                <p:sp>
                  <p:nvSpPr>
                    <p:cNvPr id="54" name="Rectangle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71" y="969"/>
                      <a:ext cx="308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男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5" name="Rectangl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8" y="969"/>
                      <a:ext cx="394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31" name="Group 76"/>
                <p:cNvGrpSpPr>
                  <a:grpSpLocks/>
                </p:cNvGrpSpPr>
                <p:nvPr/>
              </p:nvGrpSpPr>
              <p:grpSpPr bwMode="auto">
                <a:xfrm>
                  <a:off x="1422" y="969"/>
                  <a:ext cx="602" cy="323"/>
                  <a:chOff x="1422" y="969"/>
                  <a:chExt cx="602" cy="323"/>
                </a:xfrm>
              </p:grpSpPr>
              <p:sp>
                <p:nvSpPr>
                  <p:cNvPr id="50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422" y="969"/>
                    <a:ext cx="602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51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1422" y="969"/>
                    <a:ext cx="602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2" name="Group 81"/>
                <p:cNvGrpSpPr>
                  <a:grpSpLocks/>
                </p:cNvGrpSpPr>
                <p:nvPr/>
              </p:nvGrpSpPr>
              <p:grpSpPr bwMode="auto">
                <a:xfrm>
                  <a:off x="1439" y="969"/>
                  <a:ext cx="1171" cy="341"/>
                  <a:chOff x="1439" y="969"/>
                  <a:chExt cx="1171" cy="341"/>
                </a:xfrm>
              </p:grpSpPr>
              <p:sp>
                <p:nvSpPr>
                  <p:cNvPr id="46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2024" y="969"/>
                    <a:ext cx="586" cy="323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47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1439" y="969"/>
                    <a:ext cx="1171" cy="341"/>
                    <a:chOff x="1439" y="969"/>
                    <a:chExt cx="1171" cy="341"/>
                  </a:xfrm>
                </p:grpSpPr>
                <p:sp>
                  <p:nvSpPr>
                    <p:cNvPr id="48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39" y="987"/>
                      <a:ext cx="500" cy="323"/>
                    </a:xfrm>
                    <a:prstGeom prst="rect">
                      <a:avLst/>
                    </a:prstGeom>
                    <a:solidFill>
                      <a:srgbClr val="D9D9D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30000"/>
                        </a:spcBef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计算机系</a:t>
                      </a:r>
                    </a:p>
                    <a:p>
                      <a:pPr>
                        <a:spcBef>
                          <a:spcPct val="30000"/>
                        </a:spcBef>
                      </a:pPr>
                      <a:endParaRPr lang="en-US" altLang="zh-CN" sz="2400" b="1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49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24" y="969"/>
                      <a:ext cx="586" cy="323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</p:grpSp>
            <p:grpSp>
              <p:nvGrpSpPr>
                <p:cNvPr id="33" name="Group 86"/>
                <p:cNvGrpSpPr>
                  <a:grpSpLocks/>
                </p:cNvGrpSpPr>
                <p:nvPr/>
              </p:nvGrpSpPr>
              <p:grpSpPr bwMode="auto">
                <a:xfrm>
                  <a:off x="0" y="1292"/>
                  <a:ext cx="538" cy="323"/>
                  <a:chOff x="0" y="1292"/>
                  <a:chExt cx="538" cy="323"/>
                </a:xfrm>
              </p:grpSpPr>
              <p:sp>
                <p:nvSpPr>
                  <p:cNvPr id="44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92"/>
                    <a:ext cx="452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en-US" altLang="zh-CN" sz="2400" b="1" dirty="0">
                        <a:ea typeface="宋体" panose="02010600030101010101" pitchFamily="2" charset="-122"/>
                      </a:rPr>
                      <a:t>0052217</a:t>
                    </a: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292"/>
                    <a:ext cx="538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4" name="Group 89"/>
                <p:cNvGrpSpPr>
                  <a:grpSpLocks/>
                </p:cNvGrpSpPr>
                <p:nvPr/>
              </p:nvGrpSpPr>
              <p:grpSpPr bwMode="auto">
                <a:xfrm>
                  <a:off x="538" y="1292"/>
                  <a:ext cx="490" cy="323"/>
                  <a:chOff x="538" y="1292"/>
                  <a:chExt cx="490" cy="323"/>
                </a:xfrm>
              </p:grpSpPr>
              <p:sp>
                <p:nvSpPr>
                  <p:cNvPr id="42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81" y="1292"/>
                    <a:ext cx="40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袁更旭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3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538" y="1292"/>
                    <a:ext cx="490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35" name="Group 92"/>
                <p:cNvGrpSpPr>
                  <a:grpSpLocks/>
                </p:cNvGrpSpPr>
                <p:nvPr/>
              </p:nvGrpSpPr>
              <p:grpSpPr bwMode="auto">
                <a:xfrm>
                  <a:off x="1028" y="1292"/>
                  <a:ext cx="394" cy="323"/>
                  <a:chOff x="1028" y="1292"/>
                  <a:chExt cx="394" cy="323"/>
                </a:xfrm>
              </p:grpSpPr>
              <p:sp>
                <p:nvSpPr>
                  <p:cNvPr id="40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1292"/>
                    <a:ext cx="30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男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1292"/>
                    <a:ext cx="394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6" name="Rectangle 97"/>
                <p:cNvSpPr>
                  <a:spLocks noChangeArrowheads="1"/>
                </p:cNvSpPr>
                <p:nvPr/>
              </p:nvSpPr>
              <p:spPr bwMode="auto">
                <a:xfrm>
                  <a:off x="1422" y="1292"/>
                  <a:ext cx="602" cy="32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7" name="Group 98"/>
                <p:cNvGrpSpPr>
                  <a:grpSpLocks/>
                </p:cNvGrpSpPr>
                <p:nvPr/>
              </p:nvGrpSpPr>
              <p:grpSpPr bwMode="auto">
                <a:xfrm>
                  <a:off x="1471" y="1292"/>
                  <a:ext cx="1139" cy="333"/>
                  <a:chOff x="1471" y="1292"/>
                  <a:chExt cx="1139" cy="333"/>
                </a:xfrm>
              </p:grpSpPr>
              <p:sp>
                <p:nvSpPr>
                  <p:cNvPr id="38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1471" y="1302"/>
                    <a:ext cx="500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30000"/>
                      </a:spcBef>
                    </a:pPr>
                    <a:r>
                      <a:rPr lang="zh-CN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计算机系</a:t>
                    </a:r>
                    <a:endParaRPr lang="zh-CN" altLang="en-US" sz="2400" b="1" dirty="0">
                      <a:ea typeface="宋体" panose="02010600030101010101" pitchFamily="2" charset="-122"/>
                    </a:endParaRPr>
                  </a:p>
                  <a:p>
                    <a:pPr>
                      <a:spcBef>
                        <a:spcPct val="30000"/>
                      </a:spcBef>
                    </a:pPr>
                    <a:endParaRPr lang="en-US" altLang="zh-CN" sz="2400" b="1" dirty="0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024" y="1292"/>
                    <a:ext cx="586" cy="32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sp>
            <p:nvSpPr>
              <p:cNvPr id="9" name="Rectangle 101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616" cy="1621"/>
              </a:xfrm>
              <a:prstGeom prst="rect">
                <a:avLst/>
              </a:prstGeom>
              <a:noFill/>
              <a:ln w="11112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96" name="矩形 102"/>
            <p:cNvSpPr>
              <a:spLocks noChangeArrowheads="1"/>
            </p:cNvSpPr>
            <p:nvPr/>
          </p:nvSpPr>
          <p:spPr bwMode="auto">
            <a:xfrm>
              <a:off x="6202430" y="2030413"/>
              <a:ext cx="1232729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ea typeface="黑体" panose="02010609060101010101" pitchFamily="49" charset="-122"/>
                </a:rPr>
                <a:t>所在系</a:t>
              </a:r>
              <a:endPara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1886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50825" y="1196975"/>
            <a:ext cx="9403715" cy="460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５</a:t>
            </a:r>
            <a:r>
              <a:rPr lang="en-US" altLang="zh-CN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不同的列</a:t>
            </a: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可出自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同一个域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en-US" altLang="zh-CN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员工</a:t>
            </a:r>
            <a:r>
              <a:rPr lang="en-US" altLang="zh-CN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雇员工号、雇员姓名、出生日期、性别、家庭住址、工资、经理工号、部门号）</a:t>
            </a:r>
            <a:endParaRPr lang="en-US" altLang="zh-CN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注意：同一关系中，不同的属性要给予不同的属性名。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H="1" flipV="1">
            <a:off x="2586552" y="2828426"/>
            <a:ext cx="2159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H="1" flipV="1">
            <a:off x="1525163" y="3404687"/>
            <a:ext cx="983023" cy="6780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2327790" y="3832210"/>
            <a:ext cx="2089150" cy="649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400" dirty="0">
                <a:ea typeface="宋体" panose="02010600030101010101" pitchFamily="2" charset="-122"/>
              </a:rPr>
              <a:t>值域相同</a:t>
            </a:r>
          </a:p>
        </p:txBody>
      </p:sp>
    </p:spTree>
    <p:extLst>
      <p:ext uri="{BB962C8B-B14F-4D97-AF65-F5344CB8AC3E}">
        <p14:creationId xmlns:p14="http://schemas.microsoft.com/office/powerpoint/2010/main" val="2621274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关系数据模型；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关系中若干术语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  <p:extLst>
      <p:ext uri="{BB962C8B-B14F-4D97-AF65-F5344CB8AC3E}">
        <p14:creationId xmlns:p14="http://schemas.microsoft.com/office/powerpoint/2010/main" val="3846782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2024</Words>
  <Application>Microsoft Macintosh PowerPoint</Application>
  <PresentationFormat>宽屏</PresentationFormat>
  <Paragraphs>364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楷体_GB2312</vt:lpstr>
      <vt:lpstr>宋体</vt:lpstr>
      <vt:lpstr>微软雅黑</vt:lpstr>
      <vt:lpstr>Times New Romen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1291</cp:revision>
  <dcterms:created xsi:type="dcterms:W3CDTF">2014-07-02T10:42:00Z</dcterms:created>
  <dcterms:modified xsi:type="dcterms:W3CDTF">2025-09-18T07:36:14Z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2052-11.1.0.8894</vt:lpwstr>
  </property>
</Properties>
</file>