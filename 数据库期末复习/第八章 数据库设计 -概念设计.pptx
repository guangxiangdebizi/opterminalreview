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286" r:id="rId2"/>
    <p:sldId id="647" r:id="rId3"/>
    <p:sldId id="582" r:id="rId4"/>
    <p:sldId id="583" r:id="rId5"/>
    <p:sldId id="678" r:id="rId6"/>
    <p:sldId id="679" r:id="rId7"/>
    <p:sldId id="680" r:id="rId8"/>
    <p:sldId id="658" r:id="rId9"/>
    <p:sldId id="659" r:id="rId10"/>
    <p:sldId id="660" r:id="rId11"/>
    <p:sldId id="661" r:id="rId12"/>
    <p:sldId id="662" r:id="rId13"/>
    <p:sldId id="663" r:id="rId14"/>
    <p:sldId id="664" r:id="rId15"/>
    <p:sldId id="665" r:id="rId16"/>
    <p:sldId id="666" r:id="rId17"/>
    <p:sldId id="667" r:id="rId18"/>
    <p:sldId id="669" r:id="rId19"/>
    <p:sldId id="668" r:id="rId20"/>
    <p:sldId id="670" r:id="rId21"/>
    <p:sldId id="671" r:id="rId22"/>
    <p:sldId id="672" r:id="rId23"/>
    <p:sldId id="673" r:id="rId24"/>
    <p:sldId id="674" r:id="rId25"/>
    <p:sldId id="676" r:id="rId26"/>
    <p:sldId id="677" r:id="rId27"/>
    <p:sldId id="584" r:id="rId28"/>
    <p:sldId id="585" r:id="rId29"/>
    <p:sldId id="586" r:id="rId30"/>
    <p:sldId id="587" r:id="rId31"/>
    <p:sldId id="588" r:id="rId32"/>
    <p:sldId id="589" r:id="rId33"/>
    <p:sldId id="590" r:id="rId34"/>
    <p:sldId id="591" r:id="rId35"/>
    <p:sldId id="592" r:id="rId36"/>
    <p:sldId id="593" r:id="rId37"/>
    <p:sldId id="594" r:id="rId38"/>
    <p:sldId id="595" r:id="rId39"/>
    <p:sldId id="596" r:id="rId40"/>
    <p:sldId id="597" r:id="rId41"/>
    <p:sldId id="598" r:id="rId42"/>
    <p:sldId id="599" r:id="rId43"/>
    <p:sldId id="600" r:id="rId44"/>
    <p:sldId id="601" r:id="rId45"/>
    <p:sldId id="602" r:id="rId46"/>
    <p:sldId id="603" r:id="rId47"/>
    <p:sldId id="604" r:id="rId48"/>
    <p:sldId id="605" r:id="rId49"/>
    <p:sldId id="606" r:id="rId50"/>
    <p:sldId id="608" r:id="rId51"/>
    <p:sldId id="683" r:id="rId52"/>
    <p:sldId id="684" r:id="rId53"/>
    <p:sldId id="685" r:id="rId54"/>
    <p:sldId id="682" r:id="rId55"/>
  </p:sldIdLst>
  <p:sldSz cx="12192000" cy="6858000"/>
  <p:notesSz cx="7010400" cy="92964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p15:clr>
            <a:srgbClr val="A4A3A4"/>
          </p15:clr>
        </p15:guide>
        <p15:guide id="2" orient="horz" pos="2876">
          <p15:clr>
            <a:srgbClr val="A4A3A4"/>
          </p15:clr>
        </p15:guide>
        <p15:guide id="3" orient="horz" pos="1298">
          <p15:clr>
            <a:srgbClr val="A4A3A4"/>
          </p15:clr>
        </p15:guide>
        <p15:guide id="4" pos="3871">
          <p15:clr>
            <a:srgbClr val="A4A3A4"/>
          </p15:clr>
        </p15:guide>
        <p15:guide id="5" pos="1234">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guide id="3" orient="horz" pos="2924">
          <p15:clr>
            <a:srgbClr val="A4A3A4"/>
          </p15:clr>
        </p15:guide>
        <p15:guide id="4" pos="22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1569F0"/>
    <a:srgbClr val="FF0000"/>
    <a:srgbClr val="009900"/>
    <a:srgbClr val="F79646"/>
    <a:srgbClr val="009AD0"/>
    <a:srgbClr val="245D60"/>
    <a:srgbClr val="DD4633"/>
    <a:srgbClr val="CCCC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34" autoAdjust="0"/>
    <p:restoredTop sz="83851" autoAdjust="0"/>
  </p:normalViewPr>
  <p:slideViewPr>
    <p:cSldViewPr snapToGrid="0">
      <p:cViewPr varScale="1">
        <p:scale>
          <a:sx n="92" d="100"/>
          <a:sy n="92" d="100"/>
        </p:scale>
        <p:origin x="1376" y="184"/>
      </p:cViewPr>
      <p:guideLst>
        <p:guide orient="horz" pos="2205"/>
        <p:guide orient="horz" pos="2876"/>
        <p:guide orient="horz" pos="1298"/>
        <p:guide pos="3871"/>
        <p:guide pos="1234"/>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8" d="100"/>
          <a:sy n="58" d="100"/>
        </p:scale>
        <p:origin x="-2790" y="-78"/>
      </p:cViewPr>
      <p:guideLst>
        <p:guide orient="horz" pos="2160"/>
        <p:guide pos="2880"/>
        <p:guide orient="horz" pos="2924"/>
        <p:guide pos="22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037840" cy="464820"/>
          </a:xfrm>
          <a:prstGeom prst="rect">
            <a:avLst/>
          </a:prstGeom>
          <a:noFill/>
          <a:ln w="9525">
            <a:noFill/>
            <a:miter lim="800000"/>
          </a:ln>
          <a:effectLst/>
        </p:spPr>
        <p:txBody>
          <a:bodyPr vert="horz" wrap="square" lIns="93177" tIns="46589" rIns="93177" bIns="46589" numCol="1" anchor="t" anchorCtr="0" compatLnSpc="1"/>
          <a:lstStyle>
            <a:lvl1pPr>
              <a:defRPr sz="1200" smtClean="0">
                <a:latin typeface="Calibri" panose="020F0502020204030204" pitchFamily="34" charset="0"/>
              </a:defRPr>
            </a:lvl1pPr>
          </a:lstStyle>
          <a:p>
            <a:pPr>
              <a:defRPr/>
            </a:pPr>
            <a:endParaRPr lang="zh-CN" altLang="en-US"/>
          </a:p>
        </p:txBody>
      </p:sp>
      <p:sp>
        <p:nvSpPr>
          <p:cNvPr id="33795" name="Rectangle 3"/>
          <p:cNvSpPr>
            <a:spLocks noGrp="1" noChangeArrowheads="1"/>
          </p:cNvSpPr>
          <p:nvPr>
            <p:ph type="dt" sz="quarter" idx="1"/>
          </p:nvPr>
        </p:nvSpPr>
        <p:spPr bwMode="auto">
          <a:xfrm>
            <a:off x="3971344" y="0"/>
            <a:ext cx="3037840" cy="464820"/>
          </a:xfrm>
          <a:prstGeom prst="rect">
            <a:avLst/>
          </a:prstGeom>
          <a:noFill/>
          <a:ln w="9525">
            <a:noFill/>
            <a:miter lim="800000"/>
          </a:ln>
          <a:effectLst/>
        </p:spPr>
        <p:txBody>
          <a:bodyPr vert="horz" wrap="square" lIns="93177" tIns="46589" rIns="93177" bIns="46589" numCol="1" anchor="t" anchorCtr="0" compatLnSpc="1"/>
          <a:lstStyle>
            <a:lvl1pPr algn="r">
              <a:defRPr sz="1200" smtClean="0">
                <a:latin typeface="Calibri" panose="020F0502020204030204" pitchFamily="34" charset="0"/>
              </a:defRPr>
            </a:lvl1pPr>
          </a:lstStyle>
          <a:p>
            <a:pPr>
              <a:defRPr/>
            </a:pPr>
            <a:fld id="{3915CCEA-4D12-4250-ABBC-1F15DE901CBC}" type="datetimeFigureOut">
              <a:rPr lang="zh-CN" altLang="en-US"/>
              <a:t>2025/9/26</a:t>
            </a:fld>
            <a:endParaRPr lang="en-US" altLang="zh-CN"/>
          </a:p>
        </p:txBody>
      </p:sp>
      <p:sp>
        <p:nvSpPr>
          <p:cNvPr id="33796" name="Rectangle 4"/>
          <p:cNvSpPr>
            <a:spLocks noGrp="1" noChangeArrowheads="1"/>
          </p:cNvSpPr>
          <p:nvPr>
            <p:ph type="ftr" sz="quarter" idx="2"/>
          </p:nvPr>
        </p:nvSpPr>
        <p:spPr bwMode="auto">
          <a:xfrm>
            <a:off x="0" y="8829429"/>
            <a:ext cx="3037840" cy="464820"/>
          </a:xfrm>
          <a:prstGeom prst="rect">
            <a:avLst/>
          </a:prstGeom>
          <a:noFill/>
          <a:ln w="9525">
            <a:noFill/>
            <a:miter lim="800000"/>
          </a:ln>
          <a:effectLst/>
        </p:spPr>
        <p:txBody>
          <a:bodyPr vert="horz" wrap="square" lIns="93177" tIns="46589" rIns="93177" bIns="46589" numCol="1" anchor="b" anchorCtr="0" compatLnSpc="1"/>
          <a:lstStyle>
            <a:lvl1pPr>
              <a:defRPr sz="1200" smtClean="0">
                <a:latin typeface="Calibri" panose="020F0502020204030204" pitchFamily="34" charset="0"/>
              </a:defRPr>
            </a:lvl1pPr>
          </a:lstStyle>
          <a:p>
            <a:pPr>
              <a:defRPr/>
            </a:pPr>
            <a:endParaRPr lang="en-US" altLang="zh-CN"/>
          </a:p>
        </p:txBody>
      </p:sp>
      <p:sp>
        <p:nvSpPr>
          <p:cNvPr id="33797" name="Rectangle 5"/>
          <p:cNvSpPr>
            <a:spLocks noGrp="1" noChangeArrowheads="1"/>
          </p:cNvSpPr>
          <p:nvPr>
            <p:ph type="sldNum" sz="quarter" idx="3"/>
          </p:nvPr>
        </p:nvSpPr>
        <p:spPr bwMode="auto">
          <a:xfrm>
            <a:off x="3971344" y="8829429"/>
            <a:ext cx="3037840" cy="464820"/>
          </a:xfrm>
          <a:prstGeom prst="rect">
            <a:avLst/>
          </a:prstGeom>
          <a:noFill/>
          <a:ln w="9525">
            <a:noFill/>
            <a:miter lim="800000"/>
          </a:ln>
          <a:effectLst/>
        </p:spPr>
        <p:txBody>
          <a:bodyPr vert="horz" wrap="square" lIns="93177" tIns="46589" rIns="93177" bIns="46589" numCol="1" anchor="b" anchorCtr="0" compatLnSpc="1"/>
          <a:lstStyle>
            <a:lvl1pPr algn="r">
              <a:defRPr sz="1200" smtClean="0">
                <a:latin typeface="Calibri" panose="020F0502020204030204" pitchFamily="34" charset="0"/>
              </a:defRPr>
            </a:lvl1pPr>
          </a:lstStyle>
          <a:p>
            <a:pPr>
              <a:defRPr/>
            </a:pPr>
            <a:fld id="{C6A76C4A-4CA1-4C6A-946C-E26A5534DC95}" type="slidenum">
              <a:rPr lang="zh-CN" altLang="en-US"/>
              <a:t>‹#›</a:t>
            </a:fld>
            <a:endParaRPr lang="en-US" altLang="zh-CN"/>
          </a:p>
        </p:txBody>
      </p:sp>
    </p:spTree>
    <p:extLst>
      <p:ext uri="{BB962C8B-B14F-4D97-AF65-F5344CB8AC3E}">
        <p14:creationId xmlns:p14="http://schemas.microsoft.com/office/powerpoint/2010/main" val="151847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37840" cy="466972"/>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971344" y="1"/>
            <a:ext cx="3037840" cy="466972"/>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pPr>
              <a:defRPr/>
            </a:pPr>
            <a:fld id="{8FAF2163-2CD8-43A9-AAB8-953EE3B200FA}" type="datetimeFigureOut">
              <a:rPr lang="zh-CN" altLang="en-US"/>
              <a:t>2025/9/26</a:t>
            </a:fld>
            <a:endParaRPr lang="zh-CN" altLang="en-US"/>
          </a:p>
        </p:txBody>
      </p:sp>
      <p:sp>
        <p:nvSpPr>
          <p:cNvPr id="4" name="幻灯片图像占位符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5" name="备注占位符 4"/>
          <p:cNvSpPr>
            <a:spLocks noGrp="1"/>
          </p:cNvSpPr>
          <p:nvPr>
            <p:ph type="body" sz="quarter" idx="3"/>
          </p:nvPr>
        </p:nvSpPr>
        <p:spPr>
          <a:xfrm>
            <a:off x="701040" y="4473894"/>
            <a:ext cx="5608320" cy="3660456"/>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829429"/>
            <a:ext cx="3037840" cy="4669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971344" y="8829429"/>
            <a:ext cx="3037840" cy="466971"/>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pPr>
              <a:defRPr/>
            </a:pPr>
            <a:fld id="{1798234E-E7EE-4FBE-B288-F5A88D0BAADF}" type="slidenum">
              <a:rPr lang="zh-CN" altLang="en-US"/>
              <a:t>‹#›</a:t>
            </a:fld>
            <a:endParaRPr lang="zh-CN" altLang="en-US"/>
          </a:p>
        </p:txBody>
      </p:sp>
    </p:spTree>
    <p:extLst>
      <p:ext uri="{BB962C8B-B14F-4D97-AF65-F5344CB8AC3E}">
        <p14:creationId xmlns:p14="http://schemas.microsoft.com/office/powerpoint/2010/main" val="12164179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a:t>
            </a:fld>
            <a:endParaRPr lang="zh-CN" altLang="en-US"/>
          </a:p>
        </p:txBody>
      </p:sp>
    </p:spTree>
    <p:extLst>
      <p:ext uri="{BB962C8B-B14F-4D97-AF65-F5344CB8AC3E}">
        <p14:creationId xmlns:p14="http://schemas.microsoft.com/office/powerpoint/2010/main" val="57187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indent="0" eaLnBrk="1" hangingPunct="1">
              <a:lnSpc>
                <a:spcPct val="125000"/>
              </a:lnSpc>
              <a:buFont typeface="Wingdings" panose="05000000000000000000" pitchFamily="2" charset="2"/>
              <a:buNone/>
            </a:pPr>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a:t>
            </a:fld>
            <a:endParaRPr lang="zh-CN" altLang="en-US"/>
          </a:p>
        </p:txBody>
      </p:sp>
    </p:spTree>
    <p:extLst>
      <p:ext uri="{BB962C8B-B14F-4D97-AF65-F5344CB8AC3E}">
        <p14:creationId xmlns:p14="http://schemas.microsoft.com/office/powerpoint/2010/main" val="3930626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
                <a:schemeClr val="accent1"/>
              </a:buClr>
              <a:buSzTx/>
              <a:buFontTx/>
              <a:buNone/>
              <a:tabLst/>
              <a:defRPr/>
            </a:pPr>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a:t>
            </a:fld>
            <a:endParaRPr lang="zh-CN" altLang="en-US"/>
          </a:p>
        </p:txBody>
      </p:sp>
    </p:spTree>
    <p:extLst>
      <p:ext uri="{BB962C8B-B14F-4D97-AF65-F5344CB8AC3E}">
        <p14:creationId xmlns:p14="http://schemas.microsoft.com/office/powerpoint/2010/main" val="3442528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a:t>
            </a:fld>
            <a:endParaRPr lang="zh-CN" altLang="en-US"/>
          </a:p>
        </p:txBody>
      </p:sp>
    </p:spTree>
    <p:extLst>
      <p:ext uri="{BB962C8B-B14F-4D97-AF65-F5344CB8AC3E}">
        <p14:creationId xmlns:p14="http://schemas.microsoft.com/office/powerpoint/2010/main" val="2934123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1798234E-E7EE-4FBE-B288-F5A88D0BAADF}" type="slidenum">
              <a:rPr lang="zh-CN" altLang="en-US" smtClean="0"/>
              <a:t>6</a:t>
            </a:fld>
            <a:endParaRPr lang="zh-CN" altLang="en-US"/>
          </a:p>
        </p:txBody>
      </p:sp>
    </p:spTree>
    <p:extLst>
      <p:ext uri="{BB962C8B-B14F-4D97-AF65-F5344CB8AC3E}">
        <p14:creationId xmlns:p14="http://schemas.microsoft.com/office/powerpoint/2010/main" val="4187779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10</a:t>
            </a:fld>
            <a:endParaRPr lang="zh-CN" altLang="en-US"/>
          </a:p>
        </p:txBody>
      </p:sp>
    </p:spTree>
    <p:extLst>
      <p:ext uri="{BB962C8B-B14F-4D97-AF65-F5344CB8AC3E}">
        <p14:creationId xmlns:p14="http://schemas.microsoft.com/office/powerpoint/2010/main" val="2587930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11</a:t>
            </a:fld>
            <a:endParaRPr lang="zh-CN" altLang="en-US"/>
          </a:p>
        </p:txBody>
      </p:sp>
    </p:spTree>
    <p:extLst>
      <p:ext uri="{BB962C8B-B14F-4D97-AF65-F5344CB8AC3E}">
        <p14:creationId xmlns:p14="http://schemas.microsoft.com/office/powerpoint/2010/main" val="370903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1" dirty="0">
              <a:solidFill>
                <a:srgbClr val="0000FF"/>
              </a:solidFill>
              <a:latin typeface="楷体_GB2312" pitchFamily="49" charset="-122"/>
              <a:ea typeface="楷体_GB2312" pitchFamily="49" charset="-122"/>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12</a:t>
            </a:fld>
            <a:endParaRPr lang="zh-CN" altLang="en-US"/>
          </a:p>
        </p:txBody>
      </p:sp>
    </p:spTree>
    <p:extLst>
      <p:ext uri="{BB962C8B-B14F-4D97-AF65-F5344CB8AC3E}">
        <p14:creationId xmlns:p14="http://schemas.microsoft.com/office/powerpoint/2010/main" val="832768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13</a:t>
            </a:fld>
            <a:endParaRPr lang="zh-CN" altLang="en-US"/>
          </a:p>
        </p:txBody>
      </p:sp>
    </p:spTree>
    <p:extLst>
      <p:ext uri="{BB962C8B-B14F-4D97-AF65-F5344CB8AC3E}">
        <p14:creationId xmlns:p14="http://schemas.microsoft.com/office/powerpoint/2010/main" val="31014575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14</a:t>
            </a:fld>
            <a:endParaRPr lang="zh-CN" altLang="en-US"/>
          </a:p>
        </p:txBody>
      </p:sp>
    </p:spTree>
    <p:extLst>
      <p:ext uri="{BB962C8B-B14F-4D97-AF65-F5344CB8AC3E}">
        <p14:creationId xmlns:p14="http://schemas.microsoft.com/office/powerpoint/2010/main" val="35777764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15</a:t>
            </a:fld>
            <a:endParaRPr lang="zh-CN" altLang="en-US"/>
          </a:p>
        </p:txBody>
      </p:sp>
    </p:spTree>
    <p:extLst>
      <p:ext uri="{BB962C8B-B14F-4D97-AF65-F5344CB8AC3E}">
        <p14:creationId xmlns:p14="http://schemas.microsoft.com/office/powerpoint/2010/main" val="1402121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24</a:t>
            </a:fld>
            <a:endParaRPr lang="zh-CN" altLang="en-US"/>
          </a:p>
        </p:txBody>
      </p:sp>
    </p:spTree>
    <p:extLst>
      <p:ext uri="{BB962C8B-B14F-4D97-AF65-F5344CB8AC3E}">
        <p14:creationId xmlns:p14="http://schemas.microsoft.com/office/powerpoint/2010/main" val="2419756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27</a:t>
            </a:fld>
            <a:endParaRPr lang="zh-CN" altLang="en-US"/>
          </a:p>
        </p:txBody>
      </p:sp>
    </p:spTree>
    <p:extLst>
      <p:ext uri="{BB962C8B-B14F-4D97-AF65-F5344CB8AC3E}">
        <p14:creationId xmlns:p14="http://schemas.microsoft.com/office/powerpoint/2010/main" val="4136556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28</a:t>
            </a:fld>
            <a:endParaRPr lang="zh-CN" altLang="en-US"/>
          </a:p>
        </p:txBody>
      </p:sp>
    </p:spTree>
    <p:extLst>
      <p:ext uri="{BB962C8B-B14F-4D97-AF65-F5344CB8AC3E}">
        <p14:creationId xmlns:p14="http://schemas.microsoft.com/office/powerpoint/2010/main" val="1989505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29</a:t>
            </a:fld>
            <a:endParaRPr lang="zh-CN" altLang="en-US"/>
          </a:p>
        </p:txBody>
      </p:sp>
    </p:spTree>
    <p:extLst>
      <p:ext uri="{BB962C8B-B14F-4D97-AF65-F5344CB8AC3E}">
        <p14:creationId xmlns:p14="http://schemas.microsoft.com/office/powerpoint/2010/main" val="646254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30</a:t>
            </a:fld>
            <a:endParaRPr lang="zh-CN" altLang="en-US"/>
          </a:p>
        </p:txBody>
      </p:sp>
    </p:spTree>
    <p:extLst>
      <p:ext uri="{BB962C8B-B14F-4D97-AF65-F5344CB8AC3E}">
        <p14:creationId xmlns:p14="http://schemas.microsoft.com/office/powerpoint/2010/main" val="2585660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31</a:t>
            </a:fld>
            <a:endParaRPr lang="zh-CN" altLang="en-US"/>
          </a:p>
        </p:txBody>
      </p:sp>
    </p:spTree>
    <p:extLst>
      <p:ext uri="{BB962C8B-B14F-4D97-AF65-F5344CB8AC3E}">
        <p14:creationId xmlns:p14="http://schemas.microsoft.com/office/powerpoint/2010/main" val="731729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32</a:t>
            </a:fld>
            <a:endParaRPr lang="zh-CN" altLang="en-US"/>
          </a:p>
        </p:txBody>
      </p:sp>
    </p:spTree>
    <p:extLst>
      <p:ext uri="{BB962C8B-B14F-4D97-AF65-F5344CB8AC3E}">
        <p14:creationId xmlns:p14="http://schemas.microsoft.com/office/powerpoint/2010/main" val="1576624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33</a:t>
            </a:fld>
            <a:endParaRPr lang="zh-CN" altLang="en-US"/>
          </a:p>
        </p:txBody>
      </p:sp>
    </p:spTree>
    <p:extLst>
      <p:ext uri="{BB962C8B-B14F-4D97-AF65-F5344CB8AC3E}">
        <p14:creationId xmlns:p14="http://schemas.microsoft.com/office/powerpoint/2010/main" val="241163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34</a:t>
            </a:fld>
            <a:endParaRPr lang="zh-CN" altLang="en-US"/>
          </a:p>
        </p:txBody>
      </p:sp>
    </p:spTree>
    <p:extLst>
      <p:ext uri="{BB962C8B-B14F-4D97-AF65-F5344CB8AC3E}">
        <p14:creationId xmlns:p14="http://schemas.microsoft.com/office/powerpoint/2010/main" val="31508302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35</a:t>
            </a:fld>
            <a:endParaRPr lang="zh-CN" altLang="en-US"/>
          </a:p>
        </p:txBody>
      </p:sp>
    </p:spTree>
    <p:extLst>
      <p:ext uri="{BB962C8B-B14F-4D97-AF65-F5344CB8AC3E}">
        <p14:creationId xmlns:p14="http://schemas.microsoft.com/office/powerpoint/2010/main" val="3296763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36</a:t>
            </a:fld>
            <a:endParaRPr lang="zh-CN" altLang="en-US"/>
          </a:p>
        </p:txBody>
      </p:sp>
    </p:spTree>
    <p:extLst>
      <p:ext uri="{BB962C8B-B14F-4D97-AF65-F5344CB8AC3E}">
        <p14:creationId xmlns:p14="http://schemas.microsoft.com/office/powerpoint/2010/main" val="2508752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37</a:t>
            </a:fld>
            <a:endParaRPr lang="zh-CN" altLang="en-US"/>
          </a:p>
        </p:txBody>
      </p:sp>
    </p:spTree>
    <p:extLst>
      <p:ext uri="{BB962C8B-B14F-4D97-AF65-F5344CB8AC3E}">
        <p14:creationId xmlns:p14="http://schemas.microsoft.com/office/powerpoint/2010/main" val="41465973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38</a:t>
            </a:fld>
            <a:endParaRPr lang="zh-CN" altLang="en-US"/>
          </a:p>
        </p:txBody>
      </p:sp>
    </p:spTree>
    <p:extLst>
      <p:ext uri="{BB962C8B-B14F-4D97-AF65-F5344CB8AC3E}">
        <p14:creationId xmlns:p14="http://schemas.microsoft.com/office/powerpoint/2010/main" val="11573044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39</a:t>
            </a:fld>
            <a:endParaRPr lang="zh-CN" altLang="en-US"/>
          </a:p>
        </p:txBody>
      </p:sp>
    </p:spTree>
    <p:extLst>
      <p:ext uri="{BB962C8B-B14F-4D97-AF65-F5344CB8AC3E}">
        <p14:creationId xmlns:p14="http://schemas.microsoft.com/office/powerpoint/2010/main" val="42835006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40</a:t>
            </a:fld>
            <a:endParaRPr lang="zh-CN" altLang="en-US"/>
          </a:p>
        </p:txBody>
      </p:sp>
    </p:spTree>
    <p:extLst>
      <p:ext uri="{BB962C8B-B14F-4D97-AF65-F5344CB8AC3E}">
        <p14:creationId xmlns:p14="http://schemas.microsoft.com/office/powerpoint/2010/main" val="23614977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41</a:t>
            </a:fld>
            <a:endParaRPr lang="zh-CN" altLang="en-US"/>
          </a:p>
        </p:txBody>
      </p:sp>
    </p:spTree>
    <p:extLst>
      <p:ext uri="{BB962C8B-B14F-4D97-AF65-F5344CB8AC3E}">
        <p14:creationId xmlns:p14="http://schemas.microsoft.com/office/powerpoint/2010/main" val="41509517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42</a:t>
            </a:fld>
            <a:endParaRPr lang="zh-CN" altLang="en-US"/>
          </a:p>
        </p:txBody>
      </p:sp>
    </p:spTree>
    <p:extLst>
      <p:ext uri="{BB962C8B-B14F-4D97-AF65-F5344CB8AC3E}">
        <p14:creationId xmlns:p14="http://schemas.microsoft.com/office/powerpoint/2010/main" val="20621288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43</a:t>
            </a:fld>
            <a:endParaRPr lang="zh-CN" altLang="en-US"/>
          </a:p>
        </p:txBody>
      </p:sp>
    </p:spTree>
    <p:extLst>
      <p:ext uri="{BB962C8B-B14F-4D97-AF65-F5344CB8AC3E}">
        <p14:creationId xmlns:p14="http://schemas.microsoft.com/office/powerpoint/2010/main" val="26375258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44</a:t>
            </a:fld>
            <a:endParaRPr lang="zh-CN" altLang="en-US"/>
          </a:p>
        </p:txBody>
      </p:sp>
    </p:spTree>
    <p:extLst>
      <p:ext uri="{BB962C8B-B14F-4D97-AF65-F5344CB8AC3E}">
        <p14:creationId xmlns:p14="http://schemas.microsoft.com/office/powerpoint/2010/main" val="18404524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45</a:t>
            </a:fld>
            <a:endParaRPr lang="zh-CN" altLang="en-US"/>
          </a:p>
        </p:txBody>
      </p:sp>
    </p:spTree>
    <p:extLst>
      <p:ext uri="{BB962C8B-B14F-4D97-AF65-F5344CB8AC3E}">
        <p14:creationId xmlns:p14="http://schemas.microsoft.com/office/powerpoint/2010/main" val="34821239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46</a:t>
            </a:fld>
            <a:endParaRPr lang="zh-CN" altLang="en-US"/>
          </a:p>
        </p:txBody>
      </p:sp>
    </p:spTree>
    <p:extLst>
      <p:ext uri="{BB962C8B-B14F-4D97-AF65-F5344CB8AC3E}">
        <p14:creationId xmlns:p14="http://schemas.microsoft.com/office/powerpoint/2010/main" val="23326493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47</a:t>
            </a:fld>
            <a:endParaRPr lang="zh-CN" altLang="en-US"/>
          </a:p>
        </p:txBody>
      </p:sp>
    </p:spTree>
    <p:extLst>
      <p:ext uri="{BB962C8B-B14F-4D97-AF65-F5344CB8AC3E}">
        <p14:creationId xmlns:p14="http://schemas.microsoft.com/office/powerpoint/2010/main" val="24074462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48</a:t>
            </a:fld>
            <a:endParaRPr lang="zh-CN" altLang="en-US"/>
          </a:p>
        </p:txBody>
      </p:sp>
    </p:spTree>
    <p:extLst>
      <p:ext uri="{BB962C8B-B14F-4D97-AF65-F5344CB8AC3E}">
        <p14:creationId xmlns:p14="http://schemas.microsoft.com/office/powerpoint/2010/main" val="17182908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49</a:t>
            </a:fld>
            <a:endParaRPr lang="zh-CN" altLang="en-US"/>
          </a:p>
        </p:txBody>
      </p:sp>
    </p:spTree>
    <p:extLst>
      <p:ext uri="{BB962C8B-B14F-4D97-AF65-F5344CB8AC3E}">
        <p14:creationId xmlns:p14="http://schemas.microsoft.com/office/powerpoint/2010/main" val="38160097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50</a:t>
            </a:fld>
            <a:endParaRPr lang="zh-CN" altLang="en-US"/>
          </a:p>
        </p:txBody>
      </p:sp>
    </p:spTree>
    <p:extLst>
      <p:ext uri="{BB962C8B-B14F-4D97-AF65-F5344CB8AC3E}">
        <p14:creationId xmlns:p14="http://schemas.microsoft.com/office/powerpoint/2010/main" val="28695788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51</a:t>
            </a:fld>
            <a:endParaRPr lang="zh-CN" altLang="en-US"/>
          </a:p>
        </p:txBody>
      </p:sp>
    </p:spTree>
    <p:extLst>
      <p:ext uri="{BB962C8B-B14F-4D97-AF65-F5344CB8AC3E}">
        <p14:creationId xmlns:p14="http://schemas.microsoft.com/office/powerpoint/2010/main" val="35915386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52</a:t>
            </a:fld>
            <a:endParaRPr lang="zh-CN" altLang="en-US"/>
          </a:p>
        </p:txBody>
      </p:sp>
    </p:spTree>
    <p:extLst>
      <p:ext uri="{BB962C8B-B14F-4D97-AF65-F5344CB8AC3E}">
        <p14:creationId xmlns:p14="http://schemas.microsoft.com/office/powerpoint/2010/main" val="35915386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53</a:t>
            </a:fld>
            <a:endParaRPr lang="zh-CN" altLang="en-US"/>
          </a:p>
        </p:txBody>
      </p:sp>
    </p:spTree>
    <p:extLst>
      <p:ext uri="{BB962C8B-B14F-4D97-AF65-F5344CB8AC3E}">
        <p14:creationId xmlns:p14="http://schemas.microsoft.com/office/powerpoint/2010/main" val="35915386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54</a:t>
            </a:fld>
            <a:endParaRPr lang="zh-CN" altLang="en-US"/>
          </a:p>
        </p:txBody>
      </p:sp>
    </p:spTree>
    <p:extLst>
      <p:ext uri="{BB962C8B-B14F-4D97-AF65-F5344CB8AC3E}">
        <p14:creationId xmlns:p14="http://schemas.microsoft.com/office/powerpoint/2010/main" val="11044486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gi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4" name="图片 3" descr="logo.jpg"/>
          <p:cNvPicPr>
            <a:picLocks noChangeAspect="1"/>
          </p:cNvPicPr>
          <p:nvPr userDrawn="1"/>
        </p:nvPicPr>
        <p:blipFill>
          <a:blip r:embed="rId2" cstate="print"/>
          <a:stretch>
            <a:fillRect/>
          </a:stretch>
        </p:blipFill>
        <p:spPr>
          <a:xfrm>
            <a:off x="10165479" y="6370882"/>
            <a:ext cx="1968290" cy="366871"/>
          </a:xfrm>
          <a:prstGeom prst="rect">
            <a:avLst/>
          </a:prstGeom>
        </p:spPr>
      </p:pic>
      <p:grpSp>
        <p:nvGrpSpPr>
          <p:cNvPr id="15"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descr="https://gimg2.baidu.com/image_search/src=http%3A%2F%2Fscibit.com%2Fwp-content%2Fuploads%2Fsites%2F29%2F2016%2F12%2Fmysql.jpg&amp;refer=http%3A%2F%2Fscibit.com&amp;app=2002&amp;size=f9999,10000&amp;q=a80&amp;n=0&amp;g=0n&amp;fmt=jpeg?sec=1617097019&amp;t=50d79522f2407f4e27c19386f4a6644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5"/>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8715" y="6316356"/>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grpSp>
        <p:nvGrpSpPr>
          <p:cNvPr id="10"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15" descr="logo.jpg"/>
          <p:cNvPicPr>
            <a:picLocks noChangeAspect="1"/>
          </p:cNvPicPr>
          <p:nvPr userDrawn="1"/>
        </p:nvPicPr>
        <p:blipFill>
          <a:blip r:embed="rId2" cstate="print"/>
          <a:stretch>
            <a:fillRect/>
          </a:stretch>
        </p:blipFill>
        <p:spPr>
          <a:xfrm>
            <a:off x="10146161" y="6470879"/>
            <a:ext cx="1968290" cy="366871"/>
          </a:xfrm>
          <a:prstGeom prst="rect">
            <a:avLst/>
          </a:prstGeom>
        </p:spPr>
      </p:pic>
      <p:pic>
        <p:nvPicPr>
          <p:cNvPr id="9"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715" y="6319178"/>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图片 1" descr="logo.jpg"/>
          <p:cNvPicPr>
            <a:picLocks noChangeAspect="1"/>
          </p:cNvPicPr>
          <p:nvPr userDrawn="1"/>
        </p:nvPicPr>
        <p:blipFill>
          <a:blip r:embed="rId2" cstate="print"/>
          <a:stretch>
            <a:fillRect/>
          </a:stretch>
        </p:blipFill>
        <p:spPr>
          <a:xfrm>
            <a:off x="10217716" y="6491129"/>
            <a:ext cx="1968290" cy="366871"/>
          </a:xfrm>
          <a:prstGeom prst="rect">
            <a:avLst/>
          </a:prstGeom>
        </p:spPr>
      </p:pic>
      <p:pic>
        <p:nvPicPr>
          <p:cNvPr id="4" name="Picture 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TR">
    <p:bg>
      <p:bgPr>
        <a:solidFill>
          <a:schemeClr val="bg1">
            <a:lumMod val="95000"/>
          </a:schemeClr>
        </a:solidFill>
        <a:effectLst/>
      </p:bgPr>
    </p:bg>
    <p:spTree>
      <p:nvGrpSpPr>
        <p:cNvPr id="1" name=""/>
        <p:cNvGrpSpPr/>
        <p:nvPr/>
      </p:nvGrpSpPr>
      <p:grpSpPr>
        <a:xfrm>
          <a:off x="0" y="0"/>
          <a:ext cx="0" cy="0"/>
          <a:chOff x="0" y="0"/>
          <a:chExt cx="0" cy="0"/>
        </a:xfrm>
      </p:grpSpPr>
      <p:sp>
        <p:nvSpPr>
          <p:cNvPr id="11" name="矩形 7"/>
          <p:cNvSpPr>
            <a:spLocks noChangeArrowheads="1"/>
          </p:cNvSpPr>
          <p:nvPr userDrawn="1"/>
        </p:nvSpPr>
        <p:spPr bwMode="auto">
          <a:xfrm>
            <a:off x="5298013" y="6807215"/>
            <a:ext cx="4318041" cy="54000"/>
          </a:xfrm>
          <a:prstGeom prst="rect">
            <a:avLst/>
          </a:prstGeom>
          <a:solidFill>
            <a:srgbClr val="317FB7"/>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807215"/>
            <a:ext cx="3429017" cy="54000"/>
          </a:xfrm>
          <a:prstGeom prst="rect">
            <a:avLst/>
          </a:prstGeom>
          <a:solidFill>
            <a:srgbClr val="92D050"/>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3428982" y="6807215"/>
            <a:ext cx="1873285" cy="54000"/>
          </a:xfrm>
          <a:prstGeom prst="rect">
            <a:avLst/>
          </a:prstGeom>
          <a:solidFill>
            <a:srgbClr val="F49022"/>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9620274" y="6807215"/>
            <a:ext cx="2571725" cy="54000"/>
          </a:xfrm>
          <a:prstGeom prst="rect">
            <a:avLst/>
          </a:prstGeom>
          <a:solidFill>
            <a:srgbClr val="EE3636"/>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8" name="图片 7" descr="logo.jpg"/>
          <p:cNvPicPr>
            <a:picLocks noChangeAspect="1"/>
          </p:cNvPicPr>
          <p:nvPr userDrawn="1"/>
        </p:nvPicPr>
        <p:blipFill>
          <a:blip r:embed="rId2" cstate="print"/>
          <a:stretch>
            <a:fillRect/>
          </a:stretch>
        </p:blipFill>
        <p:spPr>
          <a:xfrm>
            <a:off x="10223709" y="6440344"/>
            <a:ext cx="1968290" cy="366871"/>
          </a:xfrm>
          <a:prstGeom prst="rect">
            <a:avLst/>
          </a:prstGeom>
        </p:spPr>
      </p:pic>
      <p:pic>
        <p:nvPicPr>
          <p:cNvPr id="9" name="Picture 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715" y="6297039"/>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大纲">
    <p:spTree>
      <p:nvGrpSpPr>
        <p:cNvPr id="1" name=""/>
        <p:cNvGrpSpPr/>
        <p:nvPr/>
      </p:nvGrpSpPr>
      <p:grpSpPr>
        <a:xfrm>
          <a:off x="0" y="0"/>
          <a:ext cx="0" cy="0"/>
          <a:chOff x="0" y="0"/>
          <a:chExt cx="0" cy="0"/>
        </a:xfrm>
      </p:grpSpPr>
      <p:pic>
        <p:nvPicPr>
          <p:cNvPr id="9" name="图片 8" descr="logo.jpg"/>
          <p:cNvPicPr>
            <a:picLocks noChangeAspect="1"/>
          </p:cNvPicPr>
          <p:nvPr userDrawn="1"/>
        </p:nvPicPr>
        <p:blipFill>
          <a:blip r:embed="rId2" cstate="print"/>
          <a:stretch>
            <a:fillRect/>
          </a:stretch>
        </p:blipFill>
        <p:spPr>
          <a:xfrm>
            <a:off x="10223710" y="6491129"/>
            <a:ext cx="1968290" cy="366871"/>
          </a:xfrm>
          <a:prstGeom prst="rect">
            <a:avLst/>
          </a:prstGeom>
        </p:spPr>
      </p:pic>
      <p:pic>
        <p:nvPicPr>
          <p:cNvPr id="4"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360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34585" y="617538"/>
            <a:ext cx="10390716"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1576917" y="2017713"/>
            <a:ext cx="10363200" cy="41148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a:xfrm>
            <a:off x="4396704" y="6280597"/>
            <a:ext cx="4927600" cy="457200"/>
          </a:xfrm>
          <a:prstGeom prst="rect">
            <a:avLst/>
          </a:prstGeom>
        </p:spPr>
        <p:txBody>
          <a:bodyPr/>
          <a:lstStyle>
            <a:lvl1pPr>
              <a:defRPr/>
            </a:lvl1pPr>
          </a:lstStyle>
          <a:p>
            <a:endParaRPr lang="en-US" altLang="zh-CN"/>
          </a:p>
        </p:txBody>
      </p:sp>
      <p:pic>
        <p:nvPicPr>
          <p:cNvPr id="6" name="图片 8"/>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0"/>
            <a:ext cx="1886757" cy="55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9700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7096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627143" y="1"/>
            <a:ext cx="564856" cy="62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descr="logo.jpg"/>
          <p:cNvPicPr>
            <a:picLocks noChangeAspect="1"/>
          </p:cNvPicPr>
          <p:nvPr/>
        </p:nvPicPr>
        <p:blipFill>
          <a:blip r:embed="rId10" cstate="print"/>
          <a:stretch>
            <a:fillRect/>
          </a:stretch>
        </p:blipFill>
        <p:spPr>
          <a:xfrm>
            <a:off x="10223709" y="6491129"/>
            <a:ext cx="1968290" cy="366871"/>
          </a:xfrm>
          <a:prstGeom prst="rect">
            <a:avLst/>
          </a:prstGeom>
        </p:spPr>
      </p:pic>
      <p:pic>
        <p:nvPicPr>
          <p:cNvPr id="4" name="Picture 5"/>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7" r:id="rId5"/>
    <p:sldLayoutId id="2147483658" r:id="rId6"/>
    <p:sldLayoutId id="2147483659" r:id="rId7"/>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448763" y="15"/>
            <a:ext cx="2726267" cy="1200329"/>
          </a:xfrm>
          <a:prstGeom prst="rect">
            <a:avLst/>
          </a:prstGeom>
          <a:solidFill>
            <a:schemeClr val="bg1"/>
          </a:solidFill>
        </p:spPr>
        <p:txBody>
          <a:bodyPr wrap="square" rtlCol="0">
            <a:spAutoFit/>
          </a:bodyPr>
          <a:lstStyle/>
          <a:p>
            <a:endParaRPr lang="en-US" altLang="zh-CN" dirty="0"/>
          </a:p>
          <a:p>
            <a:endParaRPr lang="en-US" altLang="zh-CN" dirty="0"/>
          </a:p>
          <a:p>
            <a:r>
              <a:rPr lang="en-US" altLang="zh-CN" dirty="0"/>
              <a:t>                                                    </a:t>
            </a:r>
          </a:p>
          <a:p>
            <a:endParaRPr lang="zh-CN" altLang="en-US" dirty="0"/>
          </a:p>
        </p:txBody>
      </p:sp>
      <p:pic>
        <p:nvPicPr>
          <p:cNvPr id="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33" y="15"/>
            <a:ext cx="5515227" cy="481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2444074" y="620454"/>
            <a:ext cx="8128000" cy="513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40000"/>
              </a:spcBef>
            </a:pPr>
            <a:r>
              <a:rPr lang="zh-CN" altLang="en-US" sz="4000" b="1" dirty="0">
                <a:solidFill>
                  <a:srgbClr val="003300"/>
                </a:solidFill>
              </a:rPr>
              <a:t>第八章    数据库设计</a:t>
            </a:r>
            <a:endParaRPr lang="en-US" altLang="zh-CN" sz="4000" b="1" dirty="0">
              <a:solidFill>
                <a:srgbClr val="003300"/>
              </a:solidFill>
            </a:endParaRPr>
          </a:p>
          <a:p>
            <a:pPr eaLnBrk="1" hangingPunct="1">
              <a:spcBef>
                <a:spcPct val="50000"/>
              </a:spcBef>
            </a:pPr>
            <a:r>
              <a:rPr lang="en-US" altLang="zh-CN" sz="3200" b="1" dirty="0"/>
              <a:t>	8.1 </a:t>
            </a:r>
            <a:r>
              <a:rPr lang="zh-CN" altLang="en-US" sz="3200" b="1" dirty="0"/>
              <a:t>数据库设计概述</a:t>
            </a:r>
            <a:endParaRPr lang="en-US" altLang="zh-CN" sz="3200" b="1" dirty="0"/>
          </a:p>
          <a:p>
            <a:pPr eaLnBrk="1" hangingPunct="1">
              <a:spcBef>
                <a:spcPct val="50000"/>
              </a:spcBef>
            </a:pPr>
            <a:r>
              <a:rPr lang="en-US" altLang="zh-CN" sz="3200" b="1" dirty="0"/>
              <a:t>	8.2 </a:t>
            </a:r>
            <a:r>
              <a:rPr lang="zh-CN" altLang="en-US" sz="3200" b="1" dirty="0"/>
              <a:t>需求分析</a:t>
            </a:r>
            <a:endParaRPr lang="en-US" altLang="zh-CN" sz="3200" b="1" dirty="0"/>
          </a:p>
          <a:p>
            <a:pPr eaLnBrk="1" hangingPunct="1">
              <a:spcBef>
                <a:spcPct val="50000"/>
              </a:spcBef>
            </a:pPr>
            <a:r>
              <a:rPr lang="en-US" altLang="zh-CN" sz="3200" b="1" dirty="0"/>
              <a:t>	</a:t>
            </a:r>
            <a:r>
              <a:rPr lang="en-US" altLang="zh-CN" sz="3200" b="1" dirty="0">
                <a:solidFill>
                  <a:srgbClr val="FF0000"/>
                </a:solidFill>
              </a:rPr>
              <a:t>8.3 </a:t>
            </a:r>
            <a:r>
              <a:rPr lang="zh-CN" altLang="en-US" sz="3200" b="1" dirty="0">
                <a:solidFill>
                  <a:srgbClr val="FF0000"/>
                </a:solidFill>
              </a:rPr>
              <a:t>概念设计</a:t>
            </a:r>
            <a:endParaRPr lang="en-US" altLang="zh-CN" sz="3200" b="1" dirty="0">
              <a:solidFill>
                <a:srgbClr val="FF0000"/>
              </a:solidFill>
            </a:endParaRPr>
          </a:p>
          <a:p>
            <a:pPr eaLnBrk="1" hangingPunct="1">
              <a:spcBef>
                <a:spcPct val="50000"/>
              </a:spcBef>
            </a:pPr>
            <a:r>
              <a:rPr lang="en-US" altLang="zh-CN" sz="3200" b="1" dirty="0"/>
              <a:t>        8.4 </a:t>
            </a:r>
            <a:r>
              <a:rPr lang="zh-CN" altLang="en-US" sz="3200" b="1" dirty="0"/>
              <a:t>逻辑设计</a:t>
            </a:r>
            <a:endParaRPr lang="en-US" altLang="zh-CN" sz="3200" b="1" dirty="0"/>
          </a:p>
          <a:p>
            <a:pPr eaLnBrk="1" hangingPunct="1">
              <a:spcBef>
                <a:spcPct val="50000"/>
              </a:spcBef>
            </a:pPr>
            <a:r>
              <a:rPr lang="en-US" altLang="zh-CN" sz="3200" b="1" dirty="0"/>
              <a:t>        8.5 </a:t>
            </a:r>
            <a:r>
              <a:rPr lang="zh-CN" altLang="en-US" sz="3200" b="1" dirty="0"/>
              <a:t>物理设计</a:t>
            </a:r>
            <a:endParaRPr lang="en-US" altLang="zh-CN" sz="3200" b="1" dirty="0"/>
          </a:p>
          <a:p>
            <a:pPr eaLnBrk="1" hangingPunct="1">
              <a:spcBef>
                <a:spcPct val="50000"/>
              </a:spcBef>
            </a:pPr>
            <a:r>
              <a:rPr lang="en-US" altLang="zh-CN" sz="3200" b="1" dirty="0"/>
              <a:t>        8.6 </a:t>
            </a:r>
            <a:r>
              <a:rPr lang="zh-CN" altLang="en-US" sz="3200" b="1" dirty="0"/>
              <a:t>数据库实施、运行与维护</a:t>
            </a:r>
            <a:endParaRPr lang="en-US" altLang="zh-CN" sz="3200" dirty="0"/>
          </a:p>
        </p:txBody>
      </p:sp>
    </p:spTree>
    <p:extLst>
      <p:ext uri="{BB962C8B-B14F-4D97-AF65-F5344CB8AC3E}">
        <p14:creationId xmlns:p14="http://schemas.microsoft.com/office/powerpoint/2010/main" val="2678349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570763"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338348" y="911453"/>
            <a:ext cx="10956570" cy="1600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buFontTx/>
              <a:buNone/>
            </a:pPr>
            <a:r>
              <a:rPr lang="en-US" altLang="zh-CN" sz="2400" b="1" dirty="0">
                <a:solidFill>
                  <a:srgbClr val="000066"/>
                </a:solidFill>
                <a:latin typeface="宋体" panose="02010600030101010101" pitchFamily="2" charset="-122"/>
              </a:rPr>
              <a:t>     </a:t>
            </a:r>
            <a:r>
              <a:rPr lang="zh-CN" altLang="en-US" sz="2400" b="1" dirty="0">
                <a:solidFill>
                  <a:srgbClr val="000066"/>
                </a:solidFill>
                <a:latin typeface="宋体" panose="02010600030101010101" pitchFamily="2" charset="-122"/>
              </a:rPr>
              <a:t>在进行数据库设计时，通常先将现实世界中的客观对象首先抽象为不依赖任何具体机器的信息结构，这种结构不是</a:t>
            </a:r>
            <a:r>
              <a:rPr lang="en-US" altLang="zh-CN" sz="2400" b="1" dirty="0">
                <a:solidFill>
                  <a:srgbClr val="000066"/>
                </a:solidFill>
                <a:latin typeface="宋体" panose="02010600030101010101" pitchFamily="2" charset="-122"/>
              </a:rPr>
              <a:t>DBMS</a:t>
            </a:r>
            <a:r>
              <a:rPr lang="zh-CN" altLang="en-US" sz="2400" b="1" dirty="0">
                <a:solidFill>
                  <a:srgbClr val="000066"/>
                </a:solidFill>
                <a:latin typeface="宋体" panose="02010600030101010101" pitchFamily="2" charset="-122"/>
              </a:rPr>
              <a:t>支持的数据模型，而是概念模型（</a:t>
            </a:r>
            <a:r>
              <a:rPr lang="zh-CN" altLang="en-US" sz="2400" b="1" dirty="0">
                <a:solidFill>
                  <a:srgbClr val="CC3300"/>
                </a:solidFill>
                <a:ea typeface="楷体_GB2312" pitchFamily="49" charset="-122"/>
              </a:rPr>
              <a:t>概念结构设计</a:t>
            </a:r>
            <a:r>
              <a:rPr lang="zh-CN" altLang="en-US" sz="2400" b="1" dirty="0">
                <a:solidFill>
                  <a:srgbClr val="000066"/>
                </a:solidFill>
                <a:ea typeface="楷体_GB2312" pitchFamily="49" charset="-122"/>
              </a:rPr>
              <a:t>）</a:t>
            </a:r>
            <a:r>
              <a:rPr lang="zh-CN" altLang="en-US" sz="2400" b="1" dirty="0">
                <a:solidFill>
                  <a:srgbClr val="000066"/>
                </a:solidFill>
                <a:latin typeface="宋体" panose="02010600030101010101" pitchFamily="2" charset="-122"/>
              </a:rPr>
              <a:t>。然后再把概念模型转换成具体机器上</a:t>
            </a:r>
            <a:r>
              <a:rPr lang="en-US" altLang="zh-CN" sz="2400" b="1" dirty="0">
                <a:solidFill>
                  <a:srgbClr val="000066"/>
                </a:solidFill>
                <a:latin typeface="宋体" panose="02010600030101010101" pitchFamily="2" charset="-122"/>
              </a:rPr>
              <a:t>DBMS</a:t>
            </a:r>
            <a:r>
              <a:rPr lang="zh-CN" altLang="en-US" sz="2400" b="1" dirty="0">
                <a:solidFill>
                  <a:srgbClr val="000066"/>
                </a:solidFill>
                <a:latin typeface="宋体" panose="02010600030101010101" pitchFamily="2" charset="-122"/>
              </a:rPr>
              <a:t>支持的数据模型。</a:t>
            </a:r>
          </a:p>
        </p:txBody>
      </p:sp>
      <p:grpSp>
        <p:nvGrpSpPr>
          <p:cNvPr id="8" name="Group 4"/>
          <p:cNvGrpSpPr>
            <a:grpSpLocks/>
          </p:cNvGrpSpPr>
          <p:nvPr/>
        </p:nvGrpSpPr>
        <p:grpSpPr bwMode="auto">
          <a:xfrm>
            <a:off x="3509532" y="2636838"/>
            <a:ext cx="5083175" cy="3463925"/>
            <a:chOff x="1791" y="2025"/>
            <a:chExt cx="3202" cy="2086"/>
          </a:xfrm>
        </p:grpSpPr>
        <p:sp>
          <p:nvSpPr>
            <p:cNvPr id="9" name="Oval 5"/>
            <p:cNvSpPr>
              <a:spLocks noChangeArrowheads="1"/>
            </p:cNvSpPr>
            <p:nvPr/>
          </p:nvSpPr>
          <p:spPr bwMode="auto">
            <a:xfrm>
              <a:off x="1927" y="2025"/>
              <a:ext cx="1543" cy="453"/>
            </a:xfrm>
            <a:prstGeom prst="ellipse">
              <a:avLst/>
            </a:prstGeom>
            <a:solidFill>
              <a:schemeClr val="accent1"/>
            </a:solidFill>
            <a:ln w="9525">
              <a:solidFill>
                <a:srgbClr val="000066"/>
              </a:solidFill>
              <a:miter lim="800000"/>
              <a:headEnd/>
              <a:tailEnd/>
            </a:ln>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i="0" dirty="0">
                  <a:solidFill>
                    <a:srgbClr val="000066"/>
                  </a:solidFill>
                  <a:latin typeface="Tahoma" panose="020B0604030504040204" pitchFamily="34" charset="0"/>
                </a:rPr>
                <a:t>客观事物</a:t>
              </a:r>
            </a:p>
            <a:p>
              <a:pPr algn="ctr" eaLnBrk="1" hangingPunct="1"/>
              <a:r>
                <a:rPr kumimoji="1" lang="zh-CN" altLang="en-US" sz="2400" b="1" i="0" dirty="0">
                  <a:solidFill>
                    <a:srgbClr val="000066"/>
                  </a:solidFill>
                  <a:latin typeface="Tahoma" panose="020B0604030504040204" pitchFamily="34" charset="0"/>
                </a:rPr>
                <a:t>（需求分析）</a:t>
              </a:r>
            </a:p>
          </p:txBody>
        </p:sp>
        <p:sp>
          <p:nvSpPr>
            <p:cNvPr id="12" name="Rectangle 6"/>
            <p:cNvSpPr>
              <a:spLocks noChangeArrowheads="1"/>
            </p:cNvSpPr>
            <p:nvPr/>
          </p:nvSpPr>
          <p:spPr bwMode="auto">
            <a:xfrm>
              <a:off x="1882" y="2931"/>
              <a:ext cx="1678" cy="363"/>
            </a:xfrm>
            <a:prstGeom prst="rect">
              <a:avLst/>
            </a:prstGeom>
            <a:solidFill>
              <a:schemeClr val="accent1"/>
            </a:solidFill>
            <a:ln w="9525">
              <a:solidFill>
                <a:srgbClr val="000066"/>
              </a:solidFill>
              <a:miter lim="800000"/>
              <a:headEnd/>
              <a:tailEnd/>
            </a:ln>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sz="2400" b="1" i="0">
                  <a:solidFill>
                    <a:srgbClr val="000066"/>
                  </a:solidFill>
                  <a:latin typeface="Tahoma" panose="020B0604030504040204" pitchFamily="34" charset="0"/>
                </a:rPr>
                <a:t>概念模型</a:t>
              </a:r>
            </a:p>
          </p:txBody>
        </p:sp>
        <p:sp>
          <p:nvSpPr>
            <p:cNvPr id="13" name="Rectangle 7"/>
            <p:cNvSpPr>
              <a:spLocks noChangeArrowheads="1"/>
            </p:cNvSpPr>
            <p:nvPr/>
          </p:nvSpPr>
          <p:spPr bwMode="auto">
            <a:xfrm>
              <a:off x="1791" y="3749"/>
              <a:ext cx="1905" cy="362"/>
            </a:xfrm>
            <a:prstGeom prst="rect">
              <a:avLst/>
            </a:prstGeom>
            <a:solidFill>
              <a:schemeClr val="accent1"/>
            </a:solidFill>
            <a:ln w="9525">
              <a:solidFill>
                <a:srgbClr val="000066"/>
              </a:solidFill>
              <a:miter lim="800000"/>
              <a:headEnd/>
              <a:tailEnd/>
            </a:ln>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b="1" i="0">
                  <a:solidFill>
                    <a:srgbClr val="000066"/>
                  </a:solidFill>
                  <a:latin typeface="Tahoma" panose="020B0604030504040204" pitchFamily="34" charset="0"/>
                </a:rPr>
                <a:t>DBMS</a:t>
              </a:r>
              <a:r>
                <a:rPr kumimoji="1" lang="zh-CN" altLang="en-US" sz="2400" b="1" i="0">
                  <a:solidFill>
                    <a:srgbClr val="000066"/>
                  </a:solidFill>
                  <a:latin typeface="Tahoma" panose="020B0604030504040204" pitchFamily="34" charset="0"/>
                </a:rPr>
                <a:t>支持的数据模型</a:t>
              </a:r>
            </a:p>
          </p:txBody>
        </p:sp>
        <p:sp>
          <p:nvSpPr>
            <p:cNvPr id="14" name="Text Box 8"/>
            <p:cNvSpPr txBox="1">
              <a:spLocks noChangeArrowheads="1"/>
            </p:cNvSpPr>
            <p:nvPr/>
          </p:nvSpPr>
          <p:spPr bwMode="auto">
            <a:xfrm>
              <a:off x="4047" y="2099"/>
              <a:ext cx="88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i="0">
                  <a:solidFill>
                    <a:srgbClr val="000066"/>
                  </a:solidFill>
                  <a:latin typeface="Tahoma" panose="020B0604030504040204" pitchFamily="34" charset="0"/>
                  <a:ea typeface="楷体_GB2312" pitchFamily="49" charset="-122"/>
                </a:rPr>
                <a:t>现实世界</a:t>
              </a:r>
            </a:p>
          </p:txBody>
        </p:sp>
        <p:sp>
          <p:nvSpPr>
            <p:cNvPr id="15" name="Text Box 9"/>
            <p:cNvSpPr txBox="1">
              <a:spLocks noChangeArrowheads="1"/>
            </p:cNvSpPr>
            <p:nvPr/>
          </p:nvSpPr>
          <p:spPr bwMode="auto">
            <a:xfrm>
              <a:off x="4037" y="2915"/>
              <a:ext cx="88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i="0">
                  <a:solidFill>
                    <a:srgbClr val="000066"/>
                  </a:solidFill>
                  <a:latin typeface="Tahoma" panose="020B0604030504040204" pitchFamily="34" charset="0"/>
                  <a:ea typeface="楷体_GB2312" pitchFamily="49" charset="-122"/>
                </a:rPr>
                <a:t>信息世界</a:t>
              </a:r>
            </a:p>
          </p:txBody>
        </p:sp>
        <p:sp>
          <p:nvSpPr>
            <p:cNvPr id="16" name="Text Box 10"/>
            <p:cNvSpPr txBox="1">
              <a:spLocks noChangeArrowheads="1"/>
            </p:cNvSpPr>
            <p:nvPr/>
          </p:nvSpPr>
          <p:spPr bwMode="auto">
            <a:xfrm>
              <a:off x="4105" y="3793"/>
              <a:ext cx="88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i="0">
                  <a:solidFill>
                    <a:srgbClr val="000066"/>
                  </a:solidFill>
                  <a:latin typeface="Tahoma" panose="020B0604030504040204" pitchFamily="34" charset="0"/>
                  <a:ea typeface="楷体_GB2312" pitchFamily="49" charset="-122"/>
                </a:rPr>
                <a:t>机器世界</a:t>
              </a:r>
            </a:p>
          </p:txBody>
        </p:sp>
        <p:sp>
          <p:nvSpPr>
            <p:cNvPr id="17" name="Line 11"/>
            <p:cNvSpPr>
              <a:spLocks noChangeShapeType="1"/>
            </p:cNvSpPr>
            <p:nvPr/>
          </p:nvSpPr>
          <p:spPr bwMode="auto">
            <a:xfrm>
              <a:off x="2699" y="2478"/>
              <a:ext cx="0" cy="453"/>
            </a:xfrm>
            <a:prstGeom prst="line">
              <a:avLst/>
            </a:prstGeom>
            <a:noFill/>
            <a:ln w="9525">
              <a:solidFill>
                <a:srgbClr val="0000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8" name="Line 12"/>
            <p:cNvSpPr>
              <a:spLocks noChangeShapeType="1"/>
            </p:cNvSpPr>
            <p:nvPr/>
          </p:nvSpPr>
          <p:spPr bwMode="auto">
            <a:xfrm>
              <a:off x="2699" y="3294"/>
              <a:ext cx="0" cy="454"/>
            </a:xfrm>
            <a:prstGeom prst="line">
              <a:avLst/>
            </a:prstGeom>
            <a:noFill/>
            <a:ln w="9525">
              <a:solidFill>
                <a:srgbClr val="000066"/>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 name="Text Box 13"/>
            <p:cNvSpPr txBox="1">
              <a:spLocks noChangeArrowheads="1"/>
            </p:cNvSpPr>
            <p:nvPr/>
          </p:nvSpPr>
          <p:spPr bwMode="auto">
            <a:xfrm>
              <a:off x="2731" y="2568"/>
              <a:ext cx="1081"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1" i="0">
                  <a:solidFill>
                    <a:srgbClr val="000066"/>
                  </a:solidFill>
                  <a:latin typeface="Tahoma" panose="020B0604030504040204" pitchFamily="34" charset="0"/>
                  <a:ea typeface="楷体_GB2312" pitchFamily="49" charset="-122"/>
                </a:rPr>
                <a:t>认识、抽象</a:t>
              </a:r>
            </a:p>
          </p:txBody>
        </p:sp>
      </p:grpSp>
      <p:sp>
        <p:nvSpPr>
          <p:cNvPr id="20" name="Text Box 14"/>
          <p:cNvSpPr txBox="1">
            <a:spLocks noChangeArrowheads="1"/>
          </p:cNvSpPr>
          <p:nvPr/>
        </p:nvSpPr>
        <p:spPr bwMode="auto">
          <a:xfrm>
            <a:off x="1423557" y="3657600"/>
            <a:ext cx="1905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i="0" dirty="0">
                <a:solidFill>
                  <a:srgbClr val="000066"/>
                </a:solidFill>
                <a:latin typeface="Tahoma" panose="020B0604030504040204" pitchFamily="34" charset="0"/>
                <a:ea typeface="楷体_GB2312" pitchFamily="49" charset="-122"/>
              </a:rPr>
              <a:t>   </a:t>
            </a:r>
            <a:r>
              <a:rPr kumimoji="1" lang="zh-CN" altLang="en-US" sz="2400" b="1" i="0" dirty="0">
                <a:solidFill>
                  <a:srgbClr val="CC3300"/>
                </a:solidFill>
                <a:latin typeface="Tahoma" panose="020B0604030504040204" pitchFamily="34" charset="0"/>
                <a:ea typeface="楷体_GB2312" pitchFamily="49" charset="-122"/>
              </a:rPr>
              <a:t>概念模型是一个过渡的中间层次</a:t>
            </a:r>
          </a:p>
        </p:txBody>
      </p:sp>
      <p:sp>
        <p:nvSpPr>
          <p:cNvPr id="21"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8.3.1 </a:t>
            </a:r>
            <a:r>
              <a:rPr lang="zh-CN" altLang="en-US" sz="2800" b="1" dirty="0">
                <a:solidFill>
                  <a:schemeClr val="bg1"/>
                </a:solidFill>
                <a:latin typeface="微软雅黑" panose="020B0503020204020204" pitchFamily="34" charset="-122"/>
                <a:ea typeface="微软雅黑" panose="020B0503020204020204" pitchFamily="34" charset="-122"/>
              </a:rPr>
              <a:t>概念设计的任务</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592707" y="3149120"/>
            <a:ext cx="3046520" cy="778802"/>
            <a:chOff x="8592707" y="3149120"/>
            <a:chExt cx="3046520" cy="778802"/>
          </a:xfrm>
        </p:grpSpPr>
        <p:sp>
          <p:nvSpPr>
            <p:cNvPr id="2" name="矩形 1"/>
            <p:cNvSpPr/>
            <p:nvPr/>
          </p:nvSpPr>
          <p:spPr>
            <a:xfrm>
              <a:off x="8592707" y="3149120"/>
              <a:ext cx="3046520" cy="7788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2060"/>
                  </a:solidFill>
                </a:rPr>
                <a:t>现实世界           </a:t>
              </a:r>
              <a:r>
                <a:rPr lang="zh-CN" altLang="en-US" b="1" dirty="0">
                  <a:solidFill>
                    <a:srgbClr val="002060"/>
                  </a:solidFill>
                  <a:sym typeface="Symbol"/>
                </a:rPr>
                <a:t>概念模型</a:t>
              </a:r>
              <a:endParaRPr lang="en-US" altLang="zh-CN" b="1" dirty="0">
                <a:solidFill>
                  <a:srgbClr val="002060"/>
                </a:solidFill>
                <a:sym typeface="Symbol"/>
              </a:endParaRPr>
            </a:p>
            <a:p>
              <a:pPr algn="ctr"/>
              <a:r>
                <a:rPr lang="zh-CN" altLang="en-US" b="1" dirty="0">
                  <a:solidFill>
                    <a:srgbClr val="002060"/>
                  </a:solidFill>
                  <a:sym typeface="Symbol"/>
                </a:rPr>
                <a:t>数据库设计人员完成</a:t>
              </a:r>
              <a:endParaRPr lang="zh-CN" altLang="en-US" b="1" dirty="0">
                <a:solidFill>
                  <a:srgbClr val="002060"/>
                </a:solidFill>
              </a:endParaRPr>
            </a:p>
          </p:txBody>
        </p:sp>
        <p:sp>
          <p:nvSpPr>
            <p:cNvPr id="3" name="右箭头 2"/>
            <p:cNvSpPr/>
            <p:nvPr/>
          </p:nvSpPr>
          <p:spPr>
            <a:xfrm>
              <a:off x="9912803" y="3336764"/>
              <a:ext cx="406327" cy="1046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8592707" y="4141304"/>
            <a:ext cx="3046520" cy="778802"/>
            <a:chOff x="8592707" y="4141304"/>
            <a:chExt cx="3046520" cy="778802"/>
          </a:xfrm>
        </p:grpSpPr>
        <p:sp>
          <p:nvSpPr>
            <p:cNvPr id="23" name="矩形 22"/>
            <p:cNvSpPr/>
            <p:nvPr/>
          </p:nvSpPr>
          <p:spPr>
            <a:xfrm>
              <a:off x="8592707" y="4141304"/>
              <a:ext cx="3046520" cy="7788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2060"/>
                  </a:solidFill>
                </a:rPr>
                <a:t>概念模型           逻辑</a:t>
              </a:r>
              <a:r>
                <a:rPr lang="zh-CN" altLang="en-US" b="1" dirty="0">
                  <a:solidFill>
                    <a:srgbClr val="002060"/>
                  </a:solidFill>
                  <a:sym typeface="Symbol"/>
                </a:rPr>
                <a:t>模型</a:t>
              </a:r>
              <a:endParaRPr lang="en-US" altLang="zh-CN" b="1" dirty="0">
                <a:solidFill>
                  <a:srgbClr val="002060"/>
                </a:solidFill>
                <a:sym typeface="Symbol"/>
              </a:endParaRPr>
            </a:p>
            <a:p>
              <a:pPr algn="ctr"/>
              <a:r>
                <a:rPr lang="zh-CN" altLang="en-US" b="1" dirty="0">
                  <a:solidFill>
                    <a:srgbClr val="002060"/>
                  </a:solidFill>
                  <a:sym typeface="Symbol"/>
                </a:rPr>
                <a:t>数据库设计人员完成</a:t>
              </a:r>
              <a:endParaRPr lang="zh-CN" altLang="en-US" b="1" dirty="0">
                <a:solidFill>
                  <a:srgbClr val="002060"/>
                </a:solidFill>
              </a:endParaRPr>
            </a:p>
          </p:txBody>
        </p:sp>
        <p:sp>
          <p:nvSpPr>
            <p:cNvPr id="25" name="右箭头 24"/>
            <p:cNvSpPr/>
            <p:nvPr/>
          </p:nvSpPr>
          <p:spPr>
            <a:xfrm>
              <a:off x="9912803" y="4338081"/>
              <a:ext cx="406327" cy="1046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p:nvGrpSpPr>
        <p:grpSpPr>
          <a:xfrm>
            <a:off x="8592707" y="5354022"/>
            <a:ext cx="3046520" cy="778802"/>
            <a:chOff x="8592707" y="5354022"/>
            <a:chExt cx="3046520" cy="778802"/>
          </a:xfrm>
        </p:grpSpPr>
        <p:sp>
          <p:nvSpPr>
            <p:cNvPr id="26" name="矩形 25"/>
            <p:cNvSpPr/>
            <p:nvPr/>
          </p:nvSpPr>
          <p:spPr>
            <a:xfrm>
              <a:off x="8592707" y="5354022"/>
              <a:ext cx="3046520" cy="7788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002060"/>
                  </a:solidFill>
                </a:rPr>
                <a:t>逻辑模型           物理</a:t>
              </a:r>
              <a:r>
                <a:rPr lang="zh-CN" altLang="en-US" b="1" dirty="0">
                  <a:solidFill>
                    <a:srgbClr val="002060"/>
                  </a:solidFill>
                  <a:sym typeface="Symbol"/>
                </a:rPr>
                <a:t>模型</a:t>
              </a:r>
              <a:endParaRPr lang="en-US" altLang="zh-CN" b="1" dirty="0">
                <a:solidFill>
                  <a:srgbClr val="002060"/>
                </a:solidFill>
                <a:sym typeface="Symbol"/>
              </a:endParaRPr>
            </a:p>
            <a:p>
              <a:pPr algn="ctr"/>
              <a:r>
                <a:rPr lang="en-US" altLang="zh-CN" b="1" dirty="0">
                  <a:solidFill>
                    <a:srgbClr val="002060"/>
                  </a:solidFill>
                  <a:sym typeface="Symbol"/>
                </a:rPr>
                <a:t>DBMS</a:t>
              </a:r>
              <a:r>
                <a:rPr lang="zh-CN" altLang="en-US" b="1" dirty="0">
                  <a:solidFill>
                    <a:srgbClr val="002060"/>
                  </a:solidFill>
                  <a:sym typeface="Symbol"/>
                </a:rPr>
                <a:t>完成</a:t>
              </a:r>
              <a:endParaRPr lang="zh-CN" altLang="en-US" b="1" dirty="0">
                <a:solidFill>
                  <a:srgbClr val="002060"/>
                </a:solidFill>
              </a:endParaRPr>
            </a:p>
          </p:txBody>
        </p:sp>
        <p:sp>
          <p:nvSpPr>
            <p:cNvPr id="27" name="右箭头 26"/>
            <p:cNvSpPr/>
            <p:nvPr/>
          </p:nvSpPr>
          <p:spPr>
            <a:xfrm>
              <a:off x="9925719" y="5554658"/>
              <a:ext cx="406327" cy="1046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63546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446808" y="1028699"/>
            <a:ext cx="10754591"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5000"/>
              </a:lnSpc>
              <a:buClr>
                <a:srgbClr val="FF0000"/>
              </a:buClr>
            </a:pPr>
            <a:r>
              <a:rPr lang="zh-CN" altLang="en-US" b="1" dirty="0">
                <a:solidFill>
                  <a:srgbClr val="000066"/>
                </a:solidFill>
              </a:rPr>
              <a:t>概念结构是各种数据模型的共同基础，它比数据模型更独立于机器、更抽象，从而更加稳定。</a:t>
            </a:r>
          </a:p>
          <a:p>
            <a:pPr eaLnBrk="1" hangingPunct="1">
              <a:lnSpc>
                <a:spcPct val="115000"/>
              </a:lnSpc>
              <a:buClr>
                <a:srgbClr val="FF0000"/>
              </a:buClr>
            </a:pPr>
            <a:r>
              <a:rPr lang="zh-CN" altLang="en-US" b="1" dirty="0">
                <a:solidFill>
                  <a:srgbClr val="000066"/>
                </a:solidFill>
              </a:rPr>
              <a:t>概念结构设计：将需求分析得到的用户需求抽象为信息结构即</a:t>
            </a:r>
            <a:r>
              <a:rPr lang="zh-CN" altLang="en-US" b="1" dirty="0">
                <a:solidFill>
                  <a:srgbClr val="CC3300"/>
                </a:solidFill>
              </a:rPr>
              <a:t>概念模型</a:t>
            </a:r>
            <a:r>
              <a:rPr lang="zh-CN" altLang="en-US" b="1" dirty="0">
                <a:solidFill>
                  <a:srgbClr val="000066"/>
                </a:solidFill>
              </a:rPr>
              <a:t>的过程。</a:t>
            </a:r>
          </a:p>
        </p:txBody>
      </p:sp>
      <p:sp>
        <p:nvSpPr>
          <p:cNvPr id="8" name="Rectangle 4"/>
          <p:cNvSpPr>
            <a:spLocks noChangeArrowheads="1"/>
          </p:cNvSpPr>
          <p:nvPr/>
        </p:nvSpPr>
        <p:spPr bwMode="auto">
          <a:xfrm>
            <a:off x="599209" y="3238499"/>
            <a:ext cx="8786813" cy="194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buClr>
                <a:srgbClr val="FF0000"/>
              </a:buClr>
              <a:buFontTx/>
              <a:buChar char="•"/>
            </a:pPr>
            <a:r>
              <a:rPr kumimoji="1" lang="zh-CN" altLang="en-US" sz="2800" b="1" i="0" dirty="0">
                <a:solidFill>
                  <a:srgbClr val="000066"/>
                </a:solidFill>
                <a:latin typeface="Tahoma" panose="020B0604030504040204" pitchFamily="34" charset="0"/>
              </a:rPr>
              <a:t>概念结构设计的特点：</a:t>
            </a:r>
          </a:p>
          <a:p>
            <a:pPr eaLnBrk="1" hangingPunct="1">
              <a:buClr>
                <a:schemeClr val="accent1"/>
              </a:buClr>
              <a:buFontTx/>
              <a:buChar char="–"/>
            </a:pPr>
            <a:r>
              <a:rPr lang="zh-CN" altLang="en-US" sz="2400" b="1" i="0" dirty="0">
                <a:solidFill>
                  <a:schemeClr val="tx2"/>
                </a:solidFill>
                <a:latin typeface="楷体_GB2312" pitchFamily="49" charset="-122"/>
                <a:ea typeface="楷体_GB2312" pitchFamily="49" charset="-122"/>
              </a:rPr>
              <a:t>能真实、充分地反映现实世界；</a:t>
            </a:r>
          </a:p>
          <a:p>
            <a:pPr eaLnBrk="1" hangingPunct="1">
              <a:buClr>
                <a:schemeClr val="accent1"/>
              </a:buClr>
              <a:buFontTx/>
              <a:buChar char="–"/>
            </a:pPr>
            <a:r>
              <a:rPr lang="zh-CN" altLang="en-US" sz="2400" b="1" i="0" dirty="0">
                <a:solidFill>
                  <a:schemeClr val="tx2"/>
                </a:solidFill>
                <a:latin typeface="楷体_GB2312" pitchFamily="49" charset="-122"/>
                <a:ea typeface="楷体_GB2312" pitchFamily="49" charset="-122"/>
              </a:rPr>
              <a:t>易于理解；</a:t>
            </a:r>
          </a:p>
          <a:p>
            <a:pPr eaLnBrk="1" hangingPunct="1">
              <a:buClr>
                <a:schemeClr val="accent1"/>
              </a:buClr>
              <a:buSzPct val="60000"/>
              <a:buFontTx/>
              <a:buChar char="–"/>
            </a:pPr>
            <a:r>
              <a:rPr lang="zh-CN" altLang="en-US" sz="2400" b="1" i="0" dirty="0">
                <a:solidFill>
                  <a:schemeClr val="tx2"/>
                </a:solidFill>
                <a:latin typeface="楷体_GB2312" pitchFamily="49" charset="-122"/>
                <a:ea typeface="楷体_GB2312" pitchFamily="49" charset="-122"/>
              </a:rPr>
              <a:t>易于更改；</a:t>
            </a:r>
          </a:p>
          <a:p>
            <a:pPr eaLnBrk="1" hangingPunct="1">
              <a:buClr>
                <a:schemeClr val="accent1"/>
              </a:buClr>
              <a:buSzPct val="60000"/>
              <a:buFontTx/>
              <a:buChar char="–"/>
            </a:pPr>
            <a:r>
              <a:rPr lang="zh-CN" altLang="en-US" sz="2400" b="1" i="0" dirty="0">
                <a:solidFill>
                  <a:schemeClr val="tx2"/>
                </a:solidFill>
                <a:latin typeface="楷体_GB2312" pitchFamily="49" charset="-122"/>
                <a:ea typeface="楷体_GB2312" pitchFamily="49" charset="-122"/>
              </a:rPr>
              <a:t>易于向关系模型等各种数据模型转换。</a:t>
            </a:r>
          </a:p>
        </p:txBody>
      </p:sp>
      <p:sp>
        <p:nvSpPr>
          <p:cNvPr id="9" name="Rectangle 5"/>
          <p:cNvSpPr>
            <a:spLocks noChangeArrowheads="1"/>
          </p:cNvSpPr>
          <p:nvPr/>
        </p:nvSpPr>
        <p:spPr bwMode="auto">
          <a:xfrm>
            <a:off x="599208" y="5179743"/>
            <a:ext cx="1128799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0000"/>
              </a:buClr>
              <a:buFontTx/>
              <a:buChar char="•"/>
            </a:pPr>
            <a:r>
              <a:rPr kumimoji="1" lang="zh-CN" altLang="en-US" sz="2800" b="1" i="0" dirty="0">
                <a:solidFill>
                  <a:srgbClr val="CC3300"/>
                </a:solidFill>
                <a:latin typeface="Tahoma" panose="020B0604030504040204" pitchFamily="34" charset="0"/>
              </a:rPr>
              <a:t>描述工具：实体（</a:t>
            </a:r>
            <a:r>
              <a:rPr kumimoji="1" lang="en-US" altLang="zh-CN" sz="2800" b="1" i="0" dirty="0">
                <a:solidFill>
                  <a:srgbClr val="CC3300"/>
                </a:solidFill>
                <a:latin typeface="Tahoma" panose="020B0604030504040204" pitchFamily="34" charset="0"/>
              </a:rPr>
              <a:t>Entity</a:t>
            </a:r>
            <a:r>
              <a:rPr kumimoji="1" lang="zh-CN" altLang="en-US" sz="2800" b="1" i="0" dirty="0">
                <a:solidFill>
                  <a:srgbClr val="CC3300"/>
                </a:solidFill>
                <a:latin typeface="Tahoma" panose="020B0604030504040204" pitchFamily="34" charset="0"/>
              </a:rPr>
              <a:t>）</a:t>
            </a:r>
            <a:r>
              <a:rPr kumimoji="1" lang="en-US" altLang="zh-CN" sz="2800" b="1" i="0" dirty="0">
                <a:solidFill>
                  <a:srgbClr val="CC3300"/>
                </a:solidFill>
                <a:latin typeface="Tahoma" panose="020B0604030504040204" pitchFamily="34" charset="0"/>
              </a:rPr>
              <a:t>-</a:t>
            </a:r>
            <a:r>
              <a:rPr kumimoji="1" lang="zh-CN" altLang="en-US" sz="2800" b="1" i="0" dirty="0">
                <a:solidFill>
                  <a:srgbClr val="CC3300"/>
                </a:solidFill>
                <a:latin typeface="Tahoma" panose="020B0604030504040204" pitchFamily="34" charset="0"/>
              </a:rPr>
              <a:t>联系</a:t>
            </a:r>
            <a:r>
              <a:rPr kumimoji="1" lang="en-US" altLang="zh-CN" sz="2800" b="1" i="0" dirty="0">
                <a:solidFill>
                  <a:srgbClr val="CC3300"/>
                </a:solidFill>
                <a:latin typeface="Tahoma" panose="020B0604030504040204" pitchFamily="34" charset="0"/>
              </a:rPr>
              <a:t>(Relation)</a:t>
            </a:r>
            <a:r>
              <a:rPr kumimoji="1" lang="zh-CN" altLang="en-US" sz="2800" b="1" i="0" dirty="0">
                <a:solidFill>
                  <a:srgbClr val="CC3300"/>
                </a:solidFill>
                <a:latin typeface="Tahoma" panose="020B0604030504040204" pitchFamily="34" charset="0"/>
              </a:rPr>
              <a:t>模型（</a:t>
            </a:r>
            <a:r>
              <a:rPr kumimoji="1" lang="en-US" altLang="zh-CN" sz="2800" b="1" i="0" dirty="0">
                <a:solidFill>
                  <a:srgbClr val="CC3300"/>
                </a:solidFill>
                <a:latin typeface="Tahoma" panose="020B0604030504040204" pitchFamily="34" charset="0"/>
              </a:rPr>
              <a:t>E-R</a:t>
            </a:r>
            <a:r>
              <a:rPr kumimoji="1" lang="zh-CN" altLang="en-US" sz="2800" b="1" i="0" dirty="0">
                <a:solidFill>
                  <a:srgbClr val="CC3300"/>
                </a:solidFill>
                <a:latin typeface="Tahoma" panose="020B0604030504040204" pitchFamily="34" charset="0"/>
              </a:rPr>
              <a:t>模型）</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8.3.1 </a:t>
            </a:r>
            <a:r>
              <a:rPr lang="zh-CN" altLang="en-US" sz="2800" b="1" dirty="0">
                <a:solidFill>
                  <a:schemeClr val="bg1"/>
                </a:solidFill>
                <a:latin typeface="微软雅黑" panose="020B0503020204020204" pitchFamily="34" charset="-122"/>
                <a:ea typeface="微软雅黑" panose="020B0503020204020204" pitchFamily="34" charset="-122"/>
              </a:rPr>
              <a:t>概念设计的任务</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34035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ox(i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9" name="Rectangle 3"/>
          <p:cNvSpPr>
            <a:spLocks noGrp="1" noChangeArrowheads="1"/>
          </p:cNvSpPr>
          <p:nvPr>
            <p:ph type="body" idx="1"/>
          </p:nvPr>
        </p:nvSpPr>
        <p:spPr bwMode="auto">
          <a:xfrm>
            <a:off x="347133" y="1586586"/>
            <a:ext cx="11567584" cy="46592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400" b="1" dirty="0">
                <a:solidFill>
                  <a:srgbClr val="FF3300"/>
                </a:solidFill>
                <a:latin typeface="楷体_GB2312" pitchFamily="49" charset="-122"/>
                <a:ea typeface="楷体_GB2312" pitchFamily="49" charset="-122"/>
              </a:rPr>
              <a:t>(1)</a:t>
            </a:r>
            <a:r>
              <a:rPr lang="zh-CN" altLang="en-US" sz="2400" b="1" dirty="0">
                <a:solidFill>
                  <a:srgbClr val="FF3300"/>
                </a:solidFill>
                <a:latin typeface="楷体_GB2312" pitchFamily="49" charset="-122"/>
                <a:ea typeface="楷体_GB2312" pitchFamily="49" charset="-122"/>
              </a:rPr>
              <a:t>实体：</a:t>
            </a:r>
            <a:r>
              <a:rPr lang="zh-CN" altLang="en-US" sz="2400" b="1" dirty="0">
                <a:latin typeface="楷体_GB2312" pitchFamily="49" charset="-122"/>
                <a:ea typeface="楷体_GB2312" pitchFamily="49" charset="-122"/>
              </a:rPr>
              <a:t>现实世界中客观存在并可相互区别的事物。</a:t>
            </a:r>
          </a:p>
          <a:p>
            <a:pPr eaLnBrk="1" hangingPunct="1">
              <a:buFontTx/>
              <a:buNone/>
            </a:pPr>
            <a:r>
              <a:rPr lang="en-US" altLang="zh-CN" sz="2400" b="1" dirty="0">
                <a:solidFill>
                  <a:srgbClr val="FF3300"/>
                </a:solidFill>
                <a:latin typeface="楷体_GB2312" pitchFamily="49" charset="-122"/>
                <a:ea typeface="楷体_GB2312" pitchFamily="49" charset="-122"/>
              </a:rPr>
              <a:t>(2)</a:t>
            </a:r>
            <a:r>
              <a:rPr lang="zh-CN" altLang="en-US" sz="2400" b="1" dirty="0">
                <a:solidFill>
                  <a:srgbClr val="FF3300"/>
                </a:solidFill>
                <a:latin typeface="楷体_GB2312" pitchFamily="49" charset="-122"/>
                <a:ea typeface="楷体_GB2312" pitchFamily="49" charset="-122"/>
              </a:rPr>
              <a:t>属性：</a:t>
            </a:r>
            <a:r>
              <a:rPr lang="zh-CN" altLang="en-US" sz="2400" b="1" dirty="0">
                <a:latin typeface="楷体_GB2312" pitchFamily="49" charset="-122"/>
                <a:ea typeface="楷体_GB2312" pitchFamily="49" charset="-122"/>
              </a:rPr>
              <a:t>实体所具有的某一特性称为属性。 </a:t>
            </a:r>
          </a:p>
          <a:p>
            <a:pPr eaLnBrk="1" hangingPunct="1">
              <a:buFontTx/>
              <a:buNone/>
            </a:pPr>
            <a:r>
              <a:rPr lang="en-US" altLang="zh-CN" sz="2400" b="1" dirty="0">
                <a:solidFill>
                  <a:srgbClr val="FF3300"/>
                </a:solidFill>
                <a:latin typeface="楷体_GB2312" pitchFamily="49" charset="-122"/>
                <a:ea typeface="楷体_GB2312" pitchFamily="49" charset="-122"/>
              </a:rPr>
              <a:t>(3)</a:t>
            </a:r>
            <a:r>
              <a:rPr lang="zh-CN" altLang="en-US" sz="2400" b="1" dirty="0">
                <a:solidFill>
                  <a:srgbClr val="FF3300"/>
                </a:solidFill>
                <a:latin typeface="楷体_GB2312" pitchFamily="49" charset="-122"/>
                <a:ea typeface="楷体_GB2312" pitchFamily="49" charset="-122"/>
              </a:rPr>
              <a:t>码（</a:t>
            </a:r>
            <a:r>
              <a:rPr lang="en-US" altLang="zh-CN" sz="2400" b="1" dirty="0">
                <a:solidFill>
                  <a:srgbClr val="FF3300"/>
                </a:solidFill>
                <a:latin typeface="楷体_GB2312" pitchFamily="49" charset="-122"/>
                <a:ea typeface="楷体_GB2312" pitchFamily="49" charset="-122"/>
              </a:rPr>
              <a:t>key</a:t>
            </a:r>
            <a:r>
              <a:rPr lang="zh-CN" altLang="en-US" sz="2400" b="1" dirty="0">
                <a:solidFill>
                  <a:srgbClr val="FF33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唯一表示实体的属性集称为码。</a:t>
            </a:r>
          </a:p>
          <a:p>
            <a:pPr eaLnBrk="1" hangingPunct="1">
              <a:buFontTx/>
              <a:buNone/>
            </a:pPr>
            <a:r>
              <a:rPr lang="en-US" altLang="zh-CN" sz="2400" b="1" dirty="0">
                <a:solidFill>
                  <a:srgbClr val="FF3300"/>
                </a:solidFill>
                <a:latin typeface="楷体_GB2312" pitchFamily="49" charset="-122"/>
                <a:ea typeface="楷体_GB2312" pitchFamily="49" charset="-122"/>
              </a:rPr>
              <a:t>(4)</a:t>
            </a:r>
            <a:r>
              <a:rPr lang="zh-CN" altLang="en-US" sz="2400" b="1" dirty="0">
                <a:solidFill>
                  <a:srgbClr val="FF3300"/>
                </a:solidFill>
                <a:latin typeface="楷体_GB2312" pitchFamily="49" charset="-122"/>
                <a:ea typeface="楷体_GB2312" pitchFamily="49" charset="-122"/>
              </a:rPr>
              <a:t>域（</a:t>
            </a:r>
            <a:r>
              <a:rPr lang="en-US" altLang="zh-CN" sz="2400" b="1" dirty="0">
                <a:solidFill>
                  <a:srgbClr val="FF3300"/>
                </a:solidFill>
                <a:latin typeface="楷体_GB2312" pitchFamily="49" charset="-122"/>
                <a:ea typeface="楷体_GB2312" pitchFamily="49" charset="-122"/>
              </a:rPr>
              <a:t>Domain</a:t>
            </a:r>
            <a:r>
              <a:rPr lang="zh-CN" altLang="en-US" sz="2400" b="1" dirty="0">
                <a:solidFill>
                  <a:srgbClr val="FF33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属性的取值范围。</a:t>
            </a:r>
          </a:p>
          <a:p>
            <a:pPr eaLnBrk="1" hangingPunct="1">
              <a:buFontTx/>
              <a:buNone/>
            </a:pPr>
            <a:r>
              <a:rPr lang="en-US" altLang="zh-CN" sz="2400" b="1" dirty="0">
                <a:solidFill>
                  <a:srgbClr val="FF3300"/>
                </a:solidFill>
                <a:latin typeface="楷体_GB2312" pitchFamily="49" charset="-122"/>
                <a:ea typeface="楷体_GB2312" pitchFamily="49" charset="-122"/>
              </a:rPr>
              <a:t>(5)</a:t>
            </a:r>
            <a:r>
              <a:rPr lang="zh-CN" altLang="en-US" sz="2400" b="1" dirty="0">
                <a:solidFill>
                  <a:srgbClr val="FF3300"/>
                </a:solidFill>
                <a:latin typeface="楷体_GB2312" pitchFamily="49" charset="-122"/>
                <a:ea typeface="楷体_GB2312" pitchFamily="49" charset="-122"/>
              </a:rPr>
              <a:t>实体集：</a:t>
            </a:r>
            <a:r>
              <a:rPr lang="zh-CN" altLang="en-US" sz="2400" b="1" dirty="0">
                <a:latin typeface="楷体_GB2312" pitchFamily="49" charset="-122"/>
                <a:ea typeface="楷体_GB2312" pitchFamily="49" charset="-122"/>
              </a:rPr>
              <a:t>具有相同特征或能用同样特征描述的实体集合。</a:t>
            </a:r>
          </a:p>
          <a:p>
            <a:pPr eaLnBrk="1" hangingPunct="1">
              <a:buFontTx/>
              <a:buNone/>
            </a:pPr>
            <a:r>
              <a:rPr lang="en-US" altLang="zh-CN" sz="2400" b="1" dirty="0">
                <a:solidFill>
                  <a:srgbClr val="FF3300"/>
                </a:solidFill>
                <a:latin typeface="楷体_GB2312" pitchFamily="49" charset="-122"/>
                <a:ea typeface="楷体_GB2312" pitchFamily="49" charset="-122"/>
              </a:rPr>
              <a:t>(6)</a:t>
            </a:r>
            <a:r>
              <a:rPr lang="zh-CN" altLang="en-US" sz="2400" b="1" dirty="0">
                <a:solidFill>
                  <a:srgbClr val="FF3300"/>
                </a:solidFill>
                <a:latin typeface="楷体_GB2312" pitchFamily="49" charset="-122"/>
                <a:ea typeface="楷体_GB2312" pitchFamily="49" charset="-122"/>
              </a:rPr>
              <a:t>实体型：</a:t>
            </a:r>
            <a:r>
              <a:rPr lang="zh-CN" altLang="en-US" sz="2400" b="1" dirty="0">
                <a:latin typeface="楷体_GB2312" pitchFamily="49" charset="-122"/>
                <a:ea typeface="楷体_GB2312" pitchFamily="49" charset="-122"/>
              </a:rPr>
              <a:t>具有相同属性的实体必然具有共同的特征和性质。用实体名及其属性名集合来抽象和刻画同类实体，称为实体型。</a:t>
            </a:r>
          </a:p>
          <a:p>
            <a:pPr eaLnBrk="1" hangingPunct="1">
              <a:buFontTx/>
              <a:buNone/>
            </a:pPr>
            <a:r>
              <a:rPr lang="zh-CN" altLang="en-US" sz="2400" b="1" dirty="0">
                <a:solidFill>
                  <a:srgbClr val="0000FF"/>
                </a:solidFill>
                <a:latin typeface="楷体_GB2312" pitchFamily="49" charset="-122"/>
                <a:ea typeface="楷体_GB2312" pitchFamily="49" charset="-122"/>
              </a:rPr>
              <a:t>例如：员工（员工编号、姓名、部门、性别、年龄、职称）就是一个实体型。</a:t>
            </a:r>
            <a:endParaRPr lang="zh-CN" altLang="en-US" sz="2400" b="1" dirty="0">
              <a:latin typeface="楷体_GB2312" pitchFamily="49" charset="-122"/>
              <a:ea typeface="楷体_GB2312" pitchFamily="49" charset="-122"/>
            </a:endParaRPr>
          </a:p>
        </p:txBody>
      </p:sp>
      <p:sp>
        <p:nvSpPr>
          <p:cNvPr id="5" name="矩形 4"/>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Rectangle 2"/>
          <p:cNvSpPr txBox="1">
            <a:spLocks noChangeArrowheads="1"/>
          </p:cNvSpPr>
          <p:nvPr/>
        </p:nvSpPr>
        <p:spPr bwMode="auto">
          <a:xfrm>
            <a:off x="476142" y="1009974"/>
            <a:ext cx="4452319"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marL="457200" indent="-457200" eaLnBrk="1" hangingPunct="1">
              <a:lnSpc>
                <a:spcPct val="105000"/>
              </a:lnSpc>
              <a:buFont typeface="Wingdings" panose="05000000000000000000" pitchFamily="2" charset="2"/>
              <a:buChar char="Ø"/>
            </a:pPr>
            <a:r>
              <a:rPr lang="zh-CN" altLang="en-US" sz="2800" b="1" dirty="0">
                <a:solidFill>
                  <a:srgbClr val="FF3300"/>
                </a:solidFill>
                <a:latin typeface="楷体_GB2312" pitchFamily="49" charset="-122"/>
                <a:ea typeface="楷体_GB2312" pitchFamily="49" charset="-122"/>
                <a:cs typeface="+mn-cs"/>
              </a:rPr>
              <a:t>基本概念</a:t>
            </a:r>
          </a:p>
        </p:txBody>
      </p:sp>
    </p:spTree>
    <p:extLst>
      <p:ext uri="{BB962C8B-B14F-4D97-AF65-F5344CB8AC3E}">
        <p14:creationId xmlns:p14="http://schemas.microsoft.com/office/powerpoint/2010/main" val="4059525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1539">
                                            <p:txEl>
                                              <p:pRg st="0" end="0"/>
                                            </p:txEl>
                                          </p:spTgt>
                                        </p:tgtEl>
                                        <p:attrNameLst>
                                          <p:attrName>style.visibility</p:attrName>
                                        </p:attrNameLst>
                                      </p:cBhvr>
                                      <p:to>
                                        <p:strVal val="visible"/>
                                      </p:to>
                                    </p:set>
                                    <p:animEffect transition="in" filter="blinds(horizontal)">
                                      <p:cBhvr>
                                        <p:cTn id="7" dur="500"/>
                                        <p:tgtEl>
                                          <p:spTgt spid="3215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1539">
                                            <p:txEl>
                                              <p:pRg st="1" end="1"/>
                                            </p:txEl>
                                          </p:spTgt>
                                        </p:tgtEl>
                                        <p:attrNameLst>
                                          <p:attrName>style.visibility</p:attrName>
                                        </p:attrNameLst>
                                      </p:cBhvr>
                                      <p:to>
                                        <p:strVal val="visible"/>
                                      </p:to>
                                    </p:set>
                                    <p:animEffect transition="in" filter="blinds(horizontal)">
                                      <p:cBhvr>
                                        <p:cTn id="12" dur="500"/>
                                        <p:tgtEl>
                                          <p:spTgt spid="3215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1539">
                                            <p:txEl>
                                              <p:pRg st="2" end="2"/>
                                            </p:txEl>
                                          </p:spTgt>
                                        </p:tgtEl>
                                        <p:attrNameLst>
                                          <p:attrName>style.visibility</p:attrName>
                                        </p:attrNameLst>
                                      </p:cBhvr>
                                      <p:to>
                                        <p:strVal val="visible"/>
                                      </p:to>
                                    </p:set>
                                    <p:animEffect transition="in" filter="blinds(horizontal)">
                                      <p:cBhvr>
                                        <p:cTn id="17" dur="500"/>
                                        <p:tgtEl>
                                          <p:spTgt spid="3215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1539">
                                            <p:txEl>
                                              <p:pRg st="3" end="3"/>
                                            </p:txEl>
                                          </p:spTgt>
                                        </p:tgtEl>
                                        <p:attrNameLst>
                                          <p:attrName>style.visibility</p:attrName>
                                        </p:attrNameLst>
                                      </p:cBhvr>
                                      <p:to>
                                        <p:strVal val="visible"/>
                                      </p:to>
                                    </p:set>
                                    <p:animEffect transition="in" filter="blinds(horizontal)">
                                      <p:cBhvr>
                                        <p:cTn id="22" dur="500"/>
                                        <p:tgtEl>
                                          <p:spTgt spid="3215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1539">
                                            <p:txEl>
                                              <p:pRg st="4" end="4"/>
                                            </p:txEl>
                                          </p:spTgt>
                                        </p:tgtEl>
                                        <p:attrNameLst>
                                          <p:attrName>style.visibility</p:attrName>
                                        </p:attrNameLst>
                                      </p:cBhvr>
                                      <p:to>
                                        <p:strVal val="visible"/>
                                      </p:to>
                                    </p:set>
                                    <p:animEffect transition="in" filter="blinds(horizontal)">
                                      <p:cBhvr>
                                        <p:cTn id="27" dur="500"/>
                                        <p:tgtEl>
                                          <p:spTgt spid="3215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1539">
                                            <p:txEl>
                                              <p:pRg st="5" end="5"/>
                                            </p:txEl>
                                          </p:spTgt>
                                        </p:tgtEl>
                                        <p:attrNameLst>
                                          <p:attrName>style.visibility</p:attrName>
                                        </p:attrNameLst>
                                      </p:cBhvr>
                                      <p:to>
                                        <p:strVal val="visible"/>
                                      </p:to>
                                    </p:set>
                                    <p:animEffect transition="in" filter="blinds(horizontal)">
                                      <p:cBhvr>
                                        <p:cTn id="32" dur="500"/>
                                        <p:tgtEl>
                                          <p:spTgt spid="3215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21539">
                                            <p:txEl>
                                              <p:pRg st="6" end="6"/>
                                            </p:txEl>
                                          </p:spTgt>
                                        </p:tgtEl>
                                        <p:attrNameLst>
                                          <p:attrName>style.visibility</p:attrName>
                                        </p:attrNameLst>
                                      </p:cBhvr>
                                      <p:to>
                                        <p:strVal val="visible"/>
                                      </p:to>
                                    </p:set>
                                    <p:animEffect transition="in" filter="blinds(horizontal)">
                                      <p:cBhvr>
                                        <p:cTn id="37" dur="500"/>
                                        <p:tgtEl>
                                          <p:spTgt spid="3215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3"/>
          <p:cNvGraphicFramePr>
            <a:graphicFrameLocks noChangeAspect="1"/>
          </p:cNvGraphicFramePr>
          <p:nvPr/>
        </p:nvGraphicFramePr>
        <p:xfrm>
          <a:off x="6019800" y="3321050"/>
          <a:ext cx="152400" cy="215900"/>
        </p:xfrm>
        <a:graphic>
          <a:graphicData uri="http://schemas.openxmlformats.org/presentationml/2006/ole">
            <mc:AlternateContent xmlns:mc="http://schemas.openxmlformats.org/markup-compatibility/2006">
              <mc:Choice xmlns:v="urn:schemas-microsoft-com:vml" Requires="v">
                <p:oleObj spid="_x0000_s1075" name="Equation" r:id="rId4" imgW="114151" imgH="215619" progId="Equation.3">
                  <p:embed/>
                </p:oleObj>
              </mc:Choice>
              <mc:Fallback>
                <p:oleObj name="Equation" r:id="rId4" imgW="114151" imgH="21561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3321050"/>
                        <a:ext cx="1524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1188" name="Rectangle 4"/>
          <p:cNvSpPr>
            <a:spLocks noGrp="1" noChangeArrowheads="1"/>
          </p:cNvSpPr>
          <p:nvPr>
            <p:ph type="body" idx="1"/>
          </p:nvPr>
        </p:nvSpPr>
        <p:spPr bwMode="auto">
          <a:xfrm>
            <a:off x="808566" y="1653152"/>
            <a:ext cx="10574867" cy="3128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buFontTx/>
              <a:buNone/>
            </a:pPr>
            <a:r>
              <a:rPr lang="en-US" altLang="zh-CN" b="1" dirty="0">
                <a:solidFill>
                  <a:srgbClr val="FF3300"/>
                </a:solidFill>
                <a:latin typeface="宋体" pitchFamily="2" charset="-122"/>
              </a:rPr>
              <a:t>(</a:t>
            </a:r>
            <a:r>
              <a:rPr lang="en-US" altLang="zh-CN" sz="2800" b="1" dirty="0">
                <a:solidFill>
                  <a:srgbClr val="FF3300"/>
                </a:solidFill>
                <a:latin typeface="宋体" pitchFamily="2" charset="-122"/>
              </a:rPr>
              <a:t>7</a:t>
            </a:r>
            <a:r>
              <a:rPr lang="en-US" altLang="zh-CN" b="1" dirty="0">
                <a:solidFill>
                  <a:srgbClr val="FF3300"/>
                </a:solidFill>
                <a:latin typeface="宋体" pitchFamily="2" charset="-122"/>
              </a:rPr>
              <a:t>)</a:t>
            </a:r>
            <a:r>
              <a:rPr lang="zh-CN" altLang="en-US" sz="2800" b="1" dirty="0">
                <a:solidFill>
                  <a:srgbClr val="FF3300"/>
                </a:solidFill>
                <a:latin typeface="宋体" pitchFamily="2" charset="-122"/>
              </a:rPr>
              <a:t>联系</a:t>
            </a:r>
            <a:r>
              <a:rPr lang="zh-CN" altLang="en-US" sz="2800" b="1" dirty="0">
                <a:solidFill>
                  <a:srgbClr val="FF3300"/>
                </a:solidFill>
              </a:rPr>
              <a:t>：</a:t>
            </a:r>
          </a:p>
          <a:p>
            <a:pPr lvl="1" eaLnBrk="1" hangingPunct="1"/>
            <a:r>
              <a:rPr lang="zh-CN" altLang="en-US" b="1" dirty="0">
                <a:solidFill>
                  <a:srgbClr val="FF3300"/>
                </a:solidFill>
                <a:ea typeface="楷体_GB2312" pitchFamily="49" charset="-122"/>
              </a:rPr>
              <a:t>实体内部的联系：</a:t>
            </a:r>
            <a:r>
              <a:rPr lang="zh-CN" altLang="en-US" b="1" dirty="0"/>
              <a:t>组成实体的各属性之间的联系</a:t>
            </a:r>
            <a:r>
              <a:rPr lang="zh-CN" altLang="en-US" b="1" dirty="0">
                <a:solidFill>
                  <a:schemeClr val="accent2"/>
                </a:solidFill>
              </a:rPr>
              <a:t>（如：学号－姓名）</a:t>
            </a:r>
            <a:r>
              <a:rPr lang="zh-CN" altLang="en-US" b="1" dirty="0"/>
              <a:t>。</a:t>
            </a:r>
          </a:p>
          <a:p>
            <a:pPr lvl="1" eaLnBrk="1" hangingPunct="1"/>
            <a:r>
              <a:rPr lang="zh-CN" altLang="en-US" b="1" dirty="0">
                <a:solidFill>
                  <a:srgbClr val="FF3300"/>
                </a:solidFill>
                <a:ea typeface="楷体_GB2312" pitchFamily="49" charset="-122"/>
              </a:rPr>
              <a:t>实体之间的联系</a:t>
            </a:r>
            <a:r>
              <a:rPr lang="zh-CN" altLang="en-US" b="1" dirty="0">
                <a:solidFill>
                  <a:srgbClr val="FF3300"/>
                </a:solidFill>
              </a:rPr>
              <a:t>：</a:t>
            </a:r>
            <a:r>
              <a:rPr lang="zh-CN" altLang="en-US" b="1" dirty="0"/>
              <a:t>不同实体集之间的联系。</a:t>
            </a:r>
          </a:p>
          <a:p>
            <a:pPr lvl="1" eaLnBrk="1" hangingPunct="1">
              <a:buFontTx/>
              <a:buNone/>
            </a:pPr>
            <a:r>
              <a:rPr lang="zh-CN" altLang="en-US" b="1" dirty="0"/>
              <a:t>    两个实体型之间的联系可分为三类：</a:t>
            </a:r>
          </a:p>
          <a:p>
            <a:pPr lvl="2" eaLnBrk="1" hangingPunct="1">
              <a:lnSpc>
                <a:spcPct val="105000"/>
              </a:lnSpc>
              <a:spcBef>
                <a:spcPct val="20000"/>
              </a:spcBef>
              <a:buFontTx/>
              <a:buChar char="–"/>
            </a:pPr>
            <a:r>
              <a:rPr lang="en-US" altLang="zh-CN" b="1" dirty="0">
                <a:solidFill>
                  <a:srgbClr val="FF0000"/>
                </a:solidFill>
                <a:latin typeface="Arial" panose="020B0604020202020204" pitchFamily="34" charset="0"/>
                <a:ea typeface="楷体_GB2312" pitchFamily="49" charset="-122"/>
              </a:rPr>
              <a:t>1</a:t>
            </a:r>
            <a:r>
              <a:rPr lang="zh-CN" altLang="en-US" b="1" dirty="0">
                <a:solidFill>
                  <a:srgbClr val="FF0000"/>
                </a:solidFill>
                <a:latin typeface="Arial" panose="020B0604020202020204" pitchFamily="34" charset="0"/>
                <a:ea typeface="楷体_GB2312" pitchFamily="49" charset="-122"/>
              </a:rPr>
              <a:t>对</a:t>
            </a:r>
            <a:r>
              <a:rPr lang="en-US" altLang="zh-CN" b="1" dirty="0">
                <a:solidFill>
                  <a:srgbClr val="FF0000"/>
                </a:solidFill>
                <a:latin typeface="Arial" panose="020B0604020202020204" pitchFamily="34" charset="0"/>
                <a:ea typeface="楷体_GB2312" pitchFamily="49" charset="-122"/>
              </a:rPr>
              <a:t>1</a:t>
            </a:r>
            <a:r>
              <a:rPr lang="zh-CN" altLang="en-US" b="1" dirty="0">
                <a:solidFill>
                  <a:srgbClr val="FF0000"/>
                </a:solidFill>
                <a:latin typeface="Arial" panose="020B0604020202020204" pitchFamily="34" charset="0"/>
                <a:ea typeface="楷体_GB2312" pitchFamily="49" charset="-122"/>
              </a:rPr>
              <a:t>联系</a:t>
            </a:r>
            <a:r>
              <a:rPr lang="en-US" altLang="zh-CN" b="1" dirty="0">
                <a:solidFill>
                  <a:srgbClr val="FF0000"/>
                </a:solidFill>
                <a:latin typeface="Arial" panose="020B0604020202020204" pitchFamily="34" charset="0"/>
                <a:ea typeface="楷体_GB2312" pitchFamily="49" charset="-122"/>
              </a:rPr>
              <a:t>(1:1)</a:t>
            </a:r>
          </a:p>
          <a:p>
            <a:pPr lvl="2" eaLnBrk="1" hangingPunct="1">
              <a:lnSpc>
                <a:spcPct val="105000"/>
              </a:lnSpc>
              <a:spcBef>
                <a:spcPct val="20000"/>
              </a:spcBef>
              <a:buFontTx/>
              <a:buChar char="–"/>
            </a:pPr>
            <a:r>
              <a:rPr lang="en-US" altLang="zh-CN" b="1" dirty="0">
                <a:solidFill>
                  <a:srgbClr val="FF0000"/>
                </a:solidFill>
                <a:latin typeface="Arial" panose="020B0604020202020204" pitchFamily="34" charset="0"/>
                <a:ea typeface="楷体_GB2312" pitchFamily="49" charset="-122"/>
              </a:rPr>
              <a:t>1</a:t>
            </a:r>
            <a:r>
              <a:rPr lang="zh-CN" altLang="en-US" b="1" dirty="0">
                <a:solidFill>
                  <a:srgbClr val="FF0000"/>
                </a:solidFill>
                <a:latin typeface="Arial" panose="020B0604020202020204" pitchFamily="34" charset="0"/>
                <a:ea typeface="楷体_GB2312" pitchFamily="49" charset="-122"/>
              </a:rPr>
              <a:t>对多联系</a:t>
            </a:r>
            <a:r>
              <a:rPr lang="en-US" altLang="zh-CN" b="1" dirty="0">
                <a:solidFill>
                  <a:srgbClr val="FF0000"/>
                </a:solidFill>
                <a:latin typeface="Arial" panose="020B0604020202020204" pitchFamily="34" charset="0"/>
                <a:ea typeface="楷体_GB2312" pitchFamily="49" charset="-122"/>
              </a:rPr>
              <a:t>(1:n)</a:t>
            </a:r>
          </a:p>
          <a:p>
            <a:pPr lvl="2" eaLnBrk="1" hangingPunct="1">
              <a:lnSpc>
                <a:spcPct val="105000"/>
              </a:lnSpc>
              <a:spcBef>
                <a:spcPct val="20000"/>
              </a:spcBef>
              <a:buFontTx/>
              <a:buChar char="–"/>
            </a:pPr>
            <a:r>
              <a:rPr lang="zh-CN" altLang="en-US" b="1" dirty="0">
                <a:solidFill>
                  <a:srgbClr val="FF0000"/>
                </a:solidFill>
                <a:latin typeface="Arial" panose="020B0604020202020204" pitchFamily="34" charset="0"/>
                <a:ea typeface="楷体_GB2312" pitchFamily="49" charset="-122"/>
              </a:rPr>
              <a:t>多对多联系</a:t>
            </a:r>
            <a:r>
              <a:rPr lang="en-US" altLang="zh-CN" b="1" dirty="0">
                <a:solidFill>
                  <a:srgbClr val="FF0000"/>
                </a:solidFill>
                <a:latin typeface="Arial" panose="020B0604020202020204" pitchFamily="34" charset="0"/>
                <a:ea typeface="楷体_GB2312" pitchFamily="49" charset="-122"/>
              </a:rPr>
              <a:t>(</a:t>
            </a:r>
            <a:r>
              <a:rPr lang="en-US" altLang="zh-CN" b="1" dirty="0" err="1">
                <a:solidFill>
                  <a:srgbClr val="FF0000"/>
                </a:solidFill>
                <a:latin typeface="Arial" panose="020B0604020202020204" pitchFamily="34" charset="0"/>
                <a:ea typeface="楷体_GB2312" pitchFamily="49" charset="-122"/>
              </a:rPr>
              <a:t>m:n</a:t>
            </a:r>
            <a:r>
              <a:rPr lang="en-US" altLang="zh-CN" b="1" dirty="0">
                <a:solidFill>
                  <a:srgbClr val="FF0000"/>
                </a:solidFill>
                <a:latin typeface="Arial" panose="020B0604020202020204" pitchFamily="34" charset="0"/>
                <a:ea typeface="楷体_GB2312" pitchFamily="49" charset="-122"/>
              </a:rPr>
              <a:t>)</a:t>
            </a:r>
          </a:p>
          <a:p>
            <a:pPr marL="0" indent="0" eaLnBrk="1" hangingPunct="1">
              <a:buNone/>
            </a:pPr>
            <a:endParaRPr lang="en-US" altLang="zh-CN" sz="2800" dirty="0"/>
          </a:p>
        </p:txBody>
      </p:sp>
      <p:sp>
        <p:nvSpPr>
          <p:cNvPr id="5" name="矩形 4"/>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2"/>
          <p:cNvSpPr txBox="1">
            <a:spLocks noChangeArrowheads="1"/>
          </p:cNvSpPr>
          <p:nvPr/>
        </p:nvSpPr>
        <p:spPr bwMode="auto">
          <a:xfrm>
            <a:off x="476142" y="1009974"/>
            <a:ext cx="4452319"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marL="457200" indent="-457200" eaLnBrk="1" hangingPunct="1">
              <a:lnSpc>
                <a:spcPct val="105000"/>
              </a:lnSpc>
              <a:buFont typeface="Wingdings" panose="05000000000000000000" pitchFamily="2" charset="2"/>
              <a:buChar char="Ø"/>
            </a:pPr>
            <a:r>
              <a:rPr lang="zh-CN" altLang="en-US" sz="2800" b="1" dirty="0">
                <a:solidFill>
                  <a:srgbClr val="FF3300"/>
                </a:solidFill>
                <a:latin typeface="楷体_GB2312" pitchFamily="49" charset="-122"/>
                <a:ea typeface="楷体_GB2312" pitchFamily="49" charset="-122"/>
                <a:cs typeface="+mn-cs"/>
              </a:rPr>
              <a:t>基本概念</a:t>
            </a:r>
          </a:p>
        </p:txBody>
      </p:sp>
    </p:spTree>
    <p:extLst>
      <p:ext uri="{BB962C8B-B14F-4D97-AF65-F5344CB8AC3E}">
        <p14:creationId xmlns:p14="http://schemas.microsoft.com/office/powerpoint/2010/main" val="26117056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1188">
                                            <p:txEl>
                                              <p:pRg st="1" end="1"/>
                                            </p:txEl>
                                          </p:spTgt>
                                        </p:tgtEl>
                                        <p:attrNameLst>
                                          <p:attrName>style.visibility</p:attrName>
                                        </p:attrNameLst>
                                      </p:cBhvr>
                                      <p:to>
                                        <p:strVal val="visible"/>
                                      </p:to>
                                    </p:set>
                                    <p:animEffect transition="in" filter="blinds(horizontal)">
                                      <p:cBhvr>
                                        <p:cTn id="7" dur="500"/>
                                        <p:tgtEl>
                                          <p:spTgt spid="221188">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21188">
                                            <p:txEl>
                                              <p:pRg st="2" end="2"/>
                                            </p:txEl>
                                          </p:spTgt>
                                        </p:tgtEl>
                                        <p:attrNameLst>
                                          <p:attrName>style.visibility</p:attrName>
                                        </p:attrNameLst>
                                      </p:cBhvr>
                                      <p:to>
                                        <p:strVal val="visible"/>
                                      </p:to>
                                    </p:set>
                                    <p:animEffect transition="in" filter="blinds(horizontal)">
                                      <p:cBhvr>
                                        <p:cTn id="12" dur="500"/>
                                        <p:tgtEl>
                                          <p:spTgt spid="221188">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21188">
                                            <p:txEl>
                                              <p:pRg st="3" end="3"/>
                                            </p:txEl>
                                          </p:spTgt>
                                        </p:tgtEl>
                                        <p:attrNameLst>
                                          <p:attrName>style.visibility</p:attrName>
                                        </p:attrNameLst>
                                      </p:cBhvr>
                                      <p:to>
                                        <p:strVal val="visible"/>
                                      </p:to>
                                    </p:set>
                                    <p:animEffect transition="in" filter="blinds(horizontal)">
                                      <p:cBhvr>
                                        <p:cTn id="15" dur="500"/>
                                        <p:tgtEl>
                                          <p:spTgt spid="221188">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21188">
                                            <p:txEl>
                                              <p:pRg st="4" end="4"/>
                                            </p:txEl>
                                          </p:spTgt>
                                        </p:tgtEl>
                                        <p:attrNameLst>
                                          <p:attrName>style.visibility</p:attrName>
                                        </p:attrNameLst>
                                      </p:cBhvr>
                                      <p:to>
                                        <p:strVal val="visible"/>
                                      </p:to>
                                    </p:set>
                                    <p:animEffect transition="in" filter="blinds(horizontal)">
                                      <p:cBhvr>
                                        <p:cTn id="18" dur="500"/>
                                        <p:tgtEl>
                                          <p:spTgt spid="221188">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21188">
                                            <p:txEl>
                                              <p:pRg st="5" end="5"/>
                                            </p:txEl>
                                          </p:spTgt>
                                        </p:tgtEl>
                                        <p:attrNameLst>
                                          <p:attrName>style.visibility</p:attrName>
                                        </p:attrNameLst>
                                      </p:cBhvr>
                                      <p:to>
                                        <p:strVal val="visible"/>
                                      </p:to>
                                    </p:set>
                                    <p:animEffect transition="in" filter="blinds(horizontal)">
                                      <p:cBhvr>
                                        <p:cTn id="21" dur="500"/>
                                        <p:tgtEl>
                                          <p:spTgt spid="221188">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221188">
                                            <p:txEl>
                                              <p:pRg st="6" end="6"/>
                                            </p:txEl>
                                          </p:spTgt>
                                        </p:tgtEl>
                                        <p:attrNameLst>
                                          <p:attrName>style.visibility</p:attrName>
                                        </p:attrNameLst>
                                      </p:cBhvr>
                                      <p:to>
                                        <p:strVal val="visible"/>
                                      </p:to>
                                    </p:set>
                                    <p:animEffect transition="in" filter="blinds(horizontal)">
                                      <p:cBhvr>
                                        <p:cTn id="24" dur="500"/>
                                        <p:tgtEl>
                                          <p:spTgt spid="22118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bwMode="auto">
          <a:xfrm>
            <a:off x="339725" y="1752601"/>
            <a:ext cx="5791200" cy="2057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buFont typeface="Wingdings" panose="05000000000000000000" pitchFamily="2" charset="2"/>
              <a:buChar char="n"/>
            </a:pPr>
            <a:r>
              <a:rPr lang="en-US" altLang="zh-CN" b="1" dirty="0">
                <a:solidFill>
                  <a:srgbClr val="FF3300"/>
                </a:solidFill>
              </a:rPr>
              <a:t>1</a:t>
            </a:r>
            <a:r>
              <a:rPr lang="zh-CN" altLang="en-US" b="1" dirty="0">
                <a:solidFill>
                  <a:srgbClr val="FF3300"/>
                </a:solidFill>
              </a:rPr>
              <a:t>对</a:t>
            </a:r>
            <a:r>
              <a:rPr lang="en-US" altLang="zh-CN" b="1" dirty="0">
                <a:solidFill>
                  <a:srgbClr val="FF3300"/>
                </a:solidFill>
              </a:rPr>
              <a:t>1</a:t>
            </a:r>
            <a:r>
              <a:rPr lang="zh-CN" altLang="en-US" b="1" dirty="0">
                <a:solidFill>
                  <a:srgbClr val="FF3300"/>
                </a:solidFill>
              </a:rPr>
              <a:t>联系：</a:t>
            </a:r>
          </a:p>
          <a:p>
            <a:pPr marL="457200" lvl="1" indent="0" eaLnBrk="1" hangingPunct="1">
              <a:buNone/>
            </a:pPr>
            <a:r>
              <a:rPr lang="zh-CN" altLang="en-US" b="1" dirty="0">
                <a:latin typeface="楷体_GB2312" pitchFamily="49" charset="-122"/>
                <a:ea typeface="楷体_GB2312" pitchFamily="49" charset="-122"/>
              </a:rPr>
              <a:t>若对于实体集</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中的每一个实体，实体集</a:t>
            </a:r>
            <a:r>
              <a:rPr lang="en-US" altLang="en-US"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中</a:t>
            </a:r>
            <a:r>
              <a:rPr lang="zh-CN" altLang="en-US" b="1" dirty="0">
                <a:solidFill>
                  <a:srgbClr val="FF3300"/>
                </a:solidFill>
                <a:latin typeface="楷体_GB2312" pitchFamily="49" charset="-122"/>
                <a:ea typeface="楷体_GB2312" pitchFamily="49" charset="-122"/>
              </a:rPr>
              <a:t>至多</a:t>
            </a:r>
            <a:r>
              <a:rPr lang="zh-CN" altLang="en-US" b="1" dirty="0">
                <a:latin typeface="楷体_GB2312" pitchFamily="49" charset="-122"/>
                <a:ea typeface="楷体_GB2312" pitchFamily="49" charset="-122"/>
              </a:rPr>
              <a:t>有一个实体与之联系，反之亦然，则称实体集</a:t>
            </a:r>
            <a:r>
              <a:rPr lang="en-US" altLang="en-US"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与实体集</a:t>
            </a:r>
            <a:r>
              <a:rPr lang="en-US" altLang="en-US"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具有一对一联系，记为</a:t>
            </a:r>
            <a:r>
              <a:rPr lang="en-US" altLang="zh-CN" b="1" dirty="0">
                <a:solidFill>
                  <a:srgbClr val="FF3300"/>
                </a:solidFill>
                <a:latin typeface="楷体_GB2312" pitchFamily="49" charset="-122"/>
                <a:ea typeface="楷体_GB2312" pitchFamily="49" charset="-122"/>
              </a:rPr>
              <a:t>1:1</a:t>
            </a:r>
            <a:r>
              <a:rPr lang="zh-CN" altLang="en-US" b="1" dirty="0">
                <a:latin typeface="楷体_GB2312" pitchFamily="49" charset="-122"/>
                <a:ea typeface="楷体_GB2312" pitchFamily="49" charset="-122"/>
              </a:rPr>
              <a:t>。</a:t>
            </a:r>
          </a:p>
          <a:p>
            <a:pPr lvl="1" eaLnBrk="1" hangingPunct="1"/>
            <a:endParaRPr lang="zh-CN" altLang="en-US" b="1" dirty="0">
              <a:latin typeface="楷体_GB2312" pitchFamily="49" charset="-122"/>
              <a:ea typeface="楷体_GB2312" pitchFamily="49" charset="-122"/>
            </a:endParaRPr>
          </a:p>
          <a:p>
            <a:pPr eaLnBrk="1" hangingPunct="1"/>
            <a:endParaRPr lang="en-US" altLang="zh-CN" b="1" dirty="0">
              <a:latin typeface="楷体_GB2312" pitchFamily="49" charset="-122"/>
              <a:ea typeface="楷体_GB2312" pitchFamily="49" charset="-122"/>
            </a:endParaRPr>
          </a:p>
        </p:txBody>
      </p:sp>
      <p:grpSp>
        <p:nvGrpSpPr>
          <p:cNvPr id="2" name="Group 4"/>
          <p:cNvGrpSpPr>
            <a:grpSpLocks/>
          </p:cNvGrpSpPr>
          <p:nvPr/>
        </p:nvGrpSpPr>
        <p:grpSpPr bwMode="auto">
          <a:xfrm>
            <a:off x="6807200" y="2133600"/>
            <a:ext cx="1727200" cy="2362200"/>
            <a:chOff x="384" y="384"/>
            <a:chExt cx="816" cy="1488"/>
          </a:xfrm>
        </p:grpSpPr>
        <p:sp>
          <p:nvSpPr>
            <p:cNvPr id="4109" name="AutoShape 5"/>
            <p:cNvSpPr>
              <a:spLocks noChangeArrowheads="1"/>
            </p:cNvSpPr>
            <p:nvPr/>
          </p:nvSpPr>
          <p:spPr bwMode="auto">
            <a:xfrm>
              <a:off x="384" y="384"/>
              <a:ext cx="816" cy="288"/>
            </a:xfrm>
            <a:prstGeom prst="flowChartProcess">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实体型</a:t>
              </a:r>
              <a:r>
                <a:rPr kumimoji="1" lang="en-US" altLang="zh-CN" sz="2400" b="1" i="0">
                  <a:latin typeface="Times New Roman" pitchFamily="18" charset="0"/>
                </a:rPr>
                <a:t>A</a:t>
              </a:r>
            </a:p>
          </p:txBody>
        </p:sp>
        <p:sp>
          <p:nvSpPr>
            <p:cNvPr id="4110" name="AutoShape 6"/>
            <p:cNvSpPr>
              <a:spLocks noChangeArrowheads="1"/>
            </p:cNvSpPr>
            <p:nvPr/>
          </p:nvSpPr>
          <p:spPr bwMode="auto">
            <a:xfrm>
              <a:off x="384" y="912"/>
              <a:ext cx="816" cy="384"/>
            </a:xfrm>
            <a:prstGeom prst="flowChartDecision">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联系名</a:t>
              </a:r>
            </a:p>
          </p:txBody>
        </p:sp>
        <p:sp>
          <p:nvSpPr>
            <p:cNvPr id="4111" name="AutoShape 7"/>
            <p:cNvSpPr>
              <a:spLocks noChangeArrowheads="1"/>
            </p:cNvSpPr>
            <p:nvPr/>
          </p:nvSpPr>
          <p:spPr bwMode="auto">
            <a:xfrm>
              <a:off x="384" y="1584"/>
              <a:ext cx="816" cy="288"/>
            </a:xfrm>
            <a:prstGeom prst="flowChartProcess">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实体型</a:t>
              </a:r>
              <a:r>
                <a:rPr kumimoji="1" lang="en-US" altLang="zh-CN" sz="2400" b="1" i="0">
                  <a:latin typeface="Times New Roman" pitchFamily="18" charset="0"/>
                </a:rPr>
                <a:t>B</a:t>
              </a:r>
            </a:p>
          </p:txBody>
        </p:sp>
        <p:cxnSp>
          <p:nvCxnSpPr>
            <p:cNvPr id="4112" name="AutoShape 8"/>
            <p:cNvCxnSpPr>
              <a:cxnSpLocks noChangeShapeType="1"/>
              <a:stCxn id="4109" idx="2"/>
              <a:endCxn id="4109" idx="2"/>
            </p:cNvCxnSpPr>
            <p:nvPr/>
          </p:nvCxnSpPr>
          <p:spPr bwMode="auto">
            <a:xfrm>
              <a:off x="792" y="672"/>
              <a:ext cx="0"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13" name="AutoShape 9"/>
            <p:cNvCxnSpPr>
              <a:cxnSpLocks noChangeShapeType="1"/>
              <a:stCxn id="4109" idx="2"/>
              <a:endCxn id="4110" idx="0"/>
            </p:cNvCxnSpPr>
            <p:nvPr/>
          </p:nvCxnSpPr>
          <p:spPr bwMode="auto">
            <a:xfrm>
              <a:off x="792" y="672"/>
              <a:ext cx="0" cy="2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14" name="AutoShape 10"/>
            <p:cNvCxnSpPr>
              <a:cxnSpLocks noChangeShapeType="1"/>
            </p:cNvCxnSpPr>
            <p:nvPr/>
          </p:nvCxnSpPr>
          <p:spPr bwMode="auto">
            <a:xfrm>
              <a:off x="768" y="1392"/>
              <a:ext cx="0" cy="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115" name="AutoShape 11"/>
            <p:cNvCxnSpPr>
              <a:cxnSpLocks noChangeShapeType="1"/>
              <a:stCxn id="4110" idx="2"/>
              <a:endCxn id="4111" idx="0"/>
            </p:cNvCxnSpPr>
            <p:nvPr/>
          </p:nvCxnSpPr>
          <p:spPr bwMode="auto">
            <a:xfrm>
              <a:off x="792" y="1296"/>
              <a:ext cx="0" cy="2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4116" name="Text Box 12"/>
            <p:cNvSpPr txBox="1">
              <a:spLocks noChangeArrowheads="1"/>
            </p:cNvSpPr>
            <p:nvPr/>
          </p:nvSpPr>
          <p:spPr bwMode="auto">
            <a:xfrm>
              <a:off x="662" y="650"/>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en-US" altLang="zh-CN" sz="2400" b="1" i="0">
                  <a:latin typeface="Times New Roman" pitchFamily="18" charset="0"/>
                </a:rPr>
                <a:t>1</a:t>
              </a:r>
            </a:p>
          </p:txBody>
        </p:sp>
        <p:sp>
          <p:nvSpPr>
            <p:cNvPr id="4117" name="Text Box 13"/>
            <p:cNvSpPr txBox="1">
              <a:spLocks noChangeArrowheads="1"/>
            </p:cNvSpPr>
            <p:nvPr/>
          </p:nvSpPr>
          <p:spPr bwMode="auto">
            <a:xfrm>
              <a:off x="662" y="1322"/>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en-US" altLang="zh-CN" sz="2400" b="1" i="0">
                  <a:latin typeface="Times New Roman" pitchFamily="18" charset="0"/>
                </a:rPr>
                <a:t>1</a:t>
              </a:r>
            </a:p>
          </p:txBody>
        </p:sp>
      </p:grpSp>
      <p:grpSp>
        <p:nvGrpSpPr>
          <p:cNvPr id="3" name="Group 14"/>
          <p:cNvGrpSpPr>
            <a:grpSpLocks/>
          </p:cNvGrpSpPr>
          <p:nvPr/>
        </p:nvGrpSpPr>
        <p:grpSpPr bwMode="auto">
          <a:xfrm>
            <a:off x="9042400" y="1752600"/>
            <a:ext cx="2135717" cy="2743200"/>
            <a:chOff x="672" y="1152"/>
            <a:chExt cx="1009" cy="2160"/>
          </a:xfrm>
        </p:grpSpPr>
        <p:sp>
          <p:nvSpPr>
            <p:cNvPr id="4102" name="AutoShape 15"/>
            <p:cNvSpPr>
              <a:spLocks noChangeArrowheads="1"/>
            </p:cNvSpPr>
            <p:nvPr/>
          </p:nvSpPr>
          <p:spPr bwMode="auto">
            <a:xfrm>
              <a:off x="768" y="2064"/>
              <a:ext cx="816" cy="288"/>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solidFill>
                    <a:srgbClr val="FF0000"/>
                  </a:solidFill>
                  <a:latin typeface="Times New Roman" pitchFamily="18" charset="0"/>
                </a:rPr>
                <a:t>负责</a:t>
              </a:r>
            </a:p>
          </p:txBody>
        </p:sp>
        <p:grpSp>
          <p:nvGrpSpPr>
            <p:cNvPr id="4103" name="Group 16"/>
            <p:cNvGrpSpPr>
              <a:grpSpLocks/>
            </p:cNvGrpSpPr>
            <p:nvPr/>
          </p:nvGrpSpPr>
          <p:grpSpPr bwMode="auto">
            <a:xfrm>
              <a:off x="672" y="1152"/>
              <a:ext cx="1009" cy="2160"/>
              <a:chOff x="672" y="1152"/>
              <a:chExt cx="1009" cy="2160"/>
            </a:xfrm>
          </p:grpSpPr>
          <p:sp>
            <p:nvSpPr>
              <p:cNvPr id="4104" name="Rectangle 17"/>
              <p:cNvSpPr>
                <a:spLocks noChangeArrowheads="1"/>
              </p:cNvSpPr>
              <p:nvPr/>
            </p:nvSpPr>
            <p:spPr bwMode="auto">
              <a:xfrm>
                <a:off x="672" y="1152"/>
                <a:ext cx="1009"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solidFill>
                      <a:srgbClr val="FF0000"/>
                    </a:solidFill>
                    <a:latin typeface="Times New Roman" pitchFamily="18" charset="0"/>
                  </a:rPr>
                  <a:t>部门</a:t>
                </a:r>
              </a:p>
            </p:txBody>
          </p:sp>
          <p:sp>
            <p:nvSpPr>
              <p:cNvPr id="4105" name="Rectangle 18"/>
              <p:cNvSpPr>
                <a:spLocks noChangeArrowheads="1"/>
              </p:cNvSpPr>
              <p:nvPr/>
            </p:nvSpPr>
            <p:spPr bwMode="auto">
              <a:xfrm>
                <a:off x="672" y="2976"/>
                <a:ext cx="1009"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solidFill>
                      <a:srgbClr val="FF0000"/>
                    </a:solidFill>
                    <a:latin typeface="Times New Roman" pitchFamily="18" charset="0"/>
                  </a:rPr>
                  <a:t>负责人</a:t>
                </a:r>
              </a:p>
            </p:txBody>
          </p:sp>
          <p:sp>
            <p:nvSpPr>
              <p:cNvPr id="4106" name="Line 19"/>
              <p:cNvSpPr>
                <a:spLocks noChangeShapeType="1"/>
              </p:cNvSpPr>
              <p:nvPr/>
            </p:nvSpPr>
            <p:spPr bwMode="auto">
              <a:xfrm>
                <a:off x="1152" y="148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7" name="Line 20"/>
              <p:cNvSpPr>
                <a:spLocks noChangeShapeType="1"/>
              </p:cNvSpPr>
              <p:nvPr/>
            </p:nvSpPr>
            <p:spPr bwMode="auto">
              <a:xfrm>
                <a:off x="1152" y="2352"/>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8" name="Text Box 21"/>
              <p:cNvSpPr txBox="1">
                <a:spLocks noChangeArrowheads="1"/>
              </p:cNvSpPr>
              <p:nvPr/>
            </p:nvSpPr>
            <p:spPr bwMode="auto">
              <a:xfrm>
                <a:off x="1200" y="1728"/>
                <a:ext cx="288" cy="1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kumimoji="1" lang="en-US" altLang="zh-CN" sz="2400" b="1" i="0" dirty="0">
                    <a:solidFill>
                      <a:srgbClr val="FF0000"/>
                    </a:solidFill>
                    <a:latin typeface="Times New Roman" pitchFamily="18" charset="0"/>
                  </a:rPr>
                  <a:t>1</a:t>
                </a:r>
              </a:p>
              <a:p>
                <a:pPr eaLnBrk="1" hangingPunct="1">
                  <a:spcBef>
                    <a:spcPct val="50000"/>
                  </a:spcBef>
                </a:pPr>
                <a:endParaRPr kumimoji="1" lang="en-US" altLang="zh-CN" sz="2400" b="1" i="0" dirty="0">
                  <a:solidFill>
                    <a:srgbClr val="FF0000"/>
                  </a:solidFill>
                  <a:latin typeface="Times New Roman" pitchFamily="18" charset="0"/>
                </a:endParaRPr>
              </a:p>
              <a:p>
                <a:pPr eaLnBrk="1" hangingPunct="1">
                  <a:spcBef>
                    <a:spcPct val="50000"/>
                  </a:spcBef>
                </a:pPr>
                <a:r>
                  <a:rPr kumimoji="1" lang="en-US" altLang="zh-CN" sz="2400" b="1" i="0" dirty="0">
                    <a:solidFill>
                      <a:srgbClr val="FF0000"/>
                    </a:solidFill>
                    <a:latin typeface="Times New Roman" pitchFamily="18" charset="0"/>
                  </a:rPr>
                  <a:t>1</a:t>
                </a:r>
              </a:p>
            </p:txBody>
          </p:sp>
        </p:grpSp>
      </p:grpSp>
      <p:sp>
        <p:nvSpPr>
          <p:cNvPr id="23" name="矩形 22"/>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2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25"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26" name="直接连接符 25"/>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Rectangle 2"/>
          <p:cNvSpPr txBox="1">
            <a:spLocks noChangeArrowheads="1"/>
          </p:cNvSpPr>
          <p:nvPr/>
        </p:nvSpPr>
        <p:spPr bwMode="auto">
          <a:xfrm>
            <a:off x="476142" y="1009974"/>
            <a:ext cx="4452319"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marL="457200" indent="-457200" eaLnBrk="1" hangingPunct="1">
              <a:lnSpc>
                <a:spcPct val="105000"/>
              </a:lnSpc>
              <a:buFont typeface="Wingdings" panose="05000000000000000000" pitchFamily="2" charset="2"/>
              <a:buChar char="Ø"/>
            </a:pPr>
            <a:r>
              <a:rPr lang="zh-CN" altLang="en-US" sz="2800" b="1" dirty="0">
                <a:solidFill>
                  <a:srgbClr val="FF3300"/>
                </a:solidFill>
                <a:latin typeface="楷体_GB2312" pitchFamily="49" charset="-122"/>
                <a:ea typeface="楷体_GB2312" pitchFamily="49" charset="-122"/>
                <a:cs typeface="+mn-cs"/>
              </a:rPr>
              <a:t>基本概念</a:t>
            </a:r>
          </a:p>
        </p:txBody>
      </p:sp>
      <p:sp>
        <p:nvSpPr>
          <p:cNvPr id="5" name="矩形 4"/>
          <p:cNvSpPr/>
          <p:nvPr/>
        </p:nvSpPr>
        <p:spPr>
          <a:xfrm>
            <a:off x="7222182" y="942881"/>
            <a:ext cx="3903633" cy="369332"/>
          </a:xfrm>
          <a:prstGeom prst="rect">
            <a:avLst/>
          </a:prstGeom>
        </p:spPr>
        <p:txBody>
          <a:bodyPr wrap="none">
            <a:spAutoFit/>
          </a:bodyPr>
          <a:lstStyle/>
          <a:p>
            <a:pPr lvl="1" eaLnBrk="1" hangingPunct="1"/>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例</a:t>
            </a:r>
            <a:r>
              <a:rPr lang="en-US" altLang="zh-CN" b="1" dirty="0">
                <a:solidFill>
                  <a:srgbClr val="FF00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部门</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负责人之间关系</a:t>
            </a:r>
          </a:p>
        </p:txBody>
      </p:sp>
    </p:spTree>
    <p:extLst>
      <p:ext uri="{BB962C8B-B14F-4D97-AF65-F5344CB8AC3E}">
        <p14:creationId xmlns:p14="http://schemas.microsoft.com/office/powerpoint/2010/main" val="12024676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bwMode="auto">
          <a:xfrm>
            <a:off x="416351" y="1735400"/>
            <a:ext cx="6255669" cy="272002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buFont typeface="Wingdings" panose="05000000000000000000" pitchFamily="2" charset="2"/>
              <a:buChar char="n"/>
            </a:pPr>
            <a:r>
              <a:rPr lang="en-US" altLang="zh-CN" b="1" dirty="0">
                <a:solidFill>
                  <a:srgbClr val="FF3300"/>
                </a:solidFill>
                <a:latin typeface="宋体" pitchFamily="2" charset="-122"/>
              </a:rPr>
              <a:t>1</a:t>
            </a:r>
            <a:r>
              <a:rPr lang="zh-CN" altLang="en-US" b="1" dirty="0">
                <a:solidFill>
                  <a:srgbClr val="FF3300"/>
                </a:solidFill>
                <a:latin typeface="宋体" pitchFamily="2" charset="-122"/>
              </a:rPr>
              <a:t>对多联系</a:t>
            </a:r>
            <a:r>
              <a:rPr lang="en-US" altLang="zh-CN" b="1" dirty="0">
                <a:solidFill>
                  <a:srgbClr val="FF3300"/>
                </a:solidFill>
                <a:latin typeface="宋体" pitchFamily="2" charset="-122"/>
              </a:rPr>
              <a:t> </a:t>
            </a:r>
          </a:p>
          <a:p>
            <a:pPr marL="457200" lvl="1" indent="0" eaLnBrk="1" hangingPunct="1">
              <a:spcBef>
                <a:spcPct val="0"/>
              </a:spcBef>
              <a:buClr>
                <a:schemeClr val="accent1"/>
              </a:buClr>
              <a:buNone/>
            </a:pPr>
            <a:r>
              <a:rPr lang="zh-CN" altLang="en-US" b="1" dirty="0">
                <a:solidFill>
                  <a:schemeClr val="tx2"/>
                </a:solidFill>
                <a:latin typeface="楷体_GB2312" pitchFamily="49" charset="-122"/>
                <a:ea typeface="楷体_GB2312" pitchFamily="49" charset="-122"/>
              </a:rPr>
              <a:t>若对于实体集</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中的每一个实体，实体集</a:t>
            </a:r>
            <a:r>
              <a:rPr lang="en-US" altLang="en-US" b="1" dirty="0">
                <a:solidFill>
                  <a:schemeClr val="tx2"/>
                </a:solidFill>
                <a:latin typeface="楷体_GB2312" pitchFamily="49" charset="-122"/>
                <a:ea typeface="楷体_GB2312" pitchFamily="49" charset="-122"/>
              </a:rPr>
              <a:t>B</a:t>
            </a:r>
            <a:r>
              <a:rPr lang="zh-CN" altLang="en-US" b="1" dirty="0">
                <a:solidFill>
                  <a:schemeClr val="tx2"/>
                </a:solidFill>
                <a:latin typeface="楷体_GB2312" pitchFamily="49" charset="-122"/>
                <a:ea typeface="楷体_GB2312" pitchFamily="49" charset="-122"/>
              </a:rPr>
              <a:t>中有</a:t>
            </a:r>
            <a:r>
              <a:rPr lang="en-US" altLang="zh-CN" b="1" dirty="0">
                <a:solidFill>
                  <a:schemeClr val="tx2"/>
                </a:solidFill>
                <a:latin typeface="楷体_GB2312" pitchFamily="49" charset="-122"/>
                <a:ea typeface="楷体_GB2312" pitchFamily="49" charset="-122"/>
              </a:rPr>
              <a:t>n</a:t>
            </a:r>
            <a:r>
              <a:rPr lang="zh-CN" altLang="en-US" b="1" dirty="0">
                <a:solidFill>
                  <a:schemeClr val="tx2"/>
                </a:solidFill>
                <a:latin typeface="楷体_GB2312" pitchFamily="49" charset="-122"/>
                <a:ea typeface="楷体_GB2312" pitchFamily="49" charset="-122"/>
              </a:rPr>
              <a:t>个实体</a:t>
            </a:r>
            <a:r>
              <a:rPr lang="en-US" altLang="zh-CN" b="1" dirty="0">
                <a:solidFill>
                  <a:schemeClr val="tx2"/>
                </a:solidFill>
                <a:latin typeface="楷体_GB2312" pitchFamily="49" charset="-122"/>
                <a:ea typeface="楷体_GB2312" pitchFamily="49" charset="-122"/>
              </a:rPr>
              <a:t>(n≥0)</a:t>
            </a:r>
            <a:r>
              <a:rPr lang="zh-CN" altLang="en-US" b="1" dirty="0">
                <a:solidFill>
                  <a:schemeClr val="tx2"/>
                </a:solidFill>
                <a:latin typeface="楷体_GB2312" pitchFamily="49" charset="-122"/>
                <a:ea typeface="楷体_GB2312" pitchFamily="49" charset="-122"/>
              </a:rPr>
              <a:t>与之联系，反之，对于实体集</a:t>
            </a:r>
            <a:r>
              <a:rPr lang="en-US" altLang="en-US" b="1" dirty="0">
                <a:solidFill>
                  <a:schemeClr val="tx2"/>
                </a:solidFill>
                <a:latin typeface="楷体_GB2312" pitchFamily="49" charset="-122"/>
                <a:ea typeface="楷体_GB2312" pitchFamily="49" charset="-122"/>
              </a:rPr>
              <a:t>B</a:t>
            </a:r>
            <a:r>
              <a:rPr lang="zh-CN" altLang="zh-CN" b="1" dirty="0">
                <a:solidFill>
                  <a:schemeClr val="tx2"/>
                </a:solidFill>
                <a:latin typeface="楷体_GB2312" pitchFamily="49" charset="-122"/>
                <a:ea typeface="楷体_GB2312" pitchFamily="49" charset="-122"/>
              </a:rPr>
              <a:t>中</a:t>
            </a:r>
            <a:r>
              <a:rPr lang="zh-CN" altLang="en-US" b="1" dirty="0">
                <a:solidFill>
                  <a:schemeClr val="tx2"/>
                </a:solidFill>
                <a:latin typeface="楷体_GB2312" pitchFamily="49" charset="-122"/>
                <a:ea typeface="楷体_GB2312" pitchFamily="49" charset="-122"/>
              </a:rPr>
              <a:t>的每一个实体，实体集</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中至多只有一个实体与之联系，则称实体集</a:t>
            </a:r>
            <a:r>
              <a:rPr lang="en-US" altLang="zh-CN" b="1" dirty="0">
                <a:solidFill>
                  <a:schemeClr val="tx2"/>
                </a:solidFill>
                <a:latin typeface="楷体_GB2312" pitchFamily="49" charset="-122"/>
                <a:ea typeface="楷体_GB2312" pitchFamily="49" charset="-122"/>
              </a:rPr>
              <a:t>A</a:t>
            </a:r>
            <a:r>
              <a:rPr lang="zh-CN" altLang="en-US" b="1" dirty="0">
                <a:solidFill>
                  <a:schemeClr val="tx2"/>
                </a:solidFill>
                <a:latin typeface="楷体_GB2312" pitchFamily="49" charset="-122"/>
                <a:ea typeface="楷体_GB2312" pitchFamily="49" charset="-122"/>
              </a:rPr>
              <a:t>与实体集</a:t>
            </a:r>
            <a:r>
              <a:rPr lang="en-US" altLang="zh-CN" b="1" dirty="0">
                <a:solidFill>
                  <a:schemeClr val="tx2"/>
                </a:solidFill>
                <a:latin typeface="楷体_GB2312" pitchFamily="49" charset="-122"/>
                <a:ea typeface="楷体_GB2312" pitchFamily="49" charset="-122"/>
              </a:rPr>
              <a:t>B</a:t>
            </a:r>
            <a:r>
              <a:rPr lang="zh-CN" altLang="en-US" b="1" dirty="0">
                <a:solidFill>
                  <a:schemeClr val="tx2"/>
                </a:solidFill>
                <a:latin typeface="楷体_GB2312" pitchFamily="49" charset="-122"/>
                <a:ea typeface="楷体_GB2312" pitchFamily="49" charset="-122"/>
              </a:rPr>
              <a:t>具有一对多联系，记为</a:t>
            </a:r>
            <a:r>
              <a:rPr lang="en-US" altLang="zh-CN" b="1" dirty="0">
                <a:solidFill>
                  <a:schemeClr val="tx2"/>
                </a:solidFill>
                <a:latin typeface="楷体_GB2312" pitchFamily="49" charset="-122"/>
                <a:ea typeface="楷体_GB2312" pitchFamily="49" charset="-122"/>
              </a:rPr>
              <a:t>1:n</a:t>
            </a:r>
            <a:r>
              <a:rPr lang="zh-CN" altLang="en-US" b="1" dirty="0">
                <a:solidFill>
                  <a:schemeClr val="tx2"/>
                </a:solidFill>
                <a:latin typeface="楷体_GB2312" pitchFamily="49" charset="-122"/>
                <a:ea typeface="楷体_GB2312" pitchFamily="49" charset="-122"/>
              </a:rPr>
              <a:t>。</a:t>
            </a:r>
          </a:p>
        </p:txBody>
      </p:sp>
      <p:grpSp>
        <p:nvGrpSpPr>
          <p:cNvPr id="2" name="Group 4"/>
          <p:cNvGrpSpPr>
            <a:grpSpLocks/>
          </p:cNvGrpSpPr>
          <p:nvPr/>
        </p:nvGrpSpPr>
        <p:grpSpPr bwMode="auto">
          <a:xfrm>
            <a:off x="7010400" y="2362200"/>
            <a:ext cx="1828800" cy="2362200"/>
            <a:chOff x="2208" y="384"/>
            <a:chExt cx="864" cy="1488"/>
          </a:xfrm>
        </p:grpSpPr>
        <p:sp>
          <p:nvSpPr>
            <p:cNvPr id="5133" name="AutoShape 5"/>
            <p:cNvSpPr>
              <a:spLocks noChangeArrowheads="1"/>
            </p:cNvSpPr>
            <p:nvPr/>
          </p:nvSpPr>
          <p:spPr bwMode="auto">
            <a:xfrm>
              <a:off x="2208" y="384"/>
              <a:ext cx="816" cy="288"/>
            </a:xfrm>
            <a:prstGeom prst="flowChartProcess">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实体型</a:t>
              </a:r>
              <a:r>
                <a:rPr kumimoji="1" lang="en-US" altLang="zh-CN" sz="2400" b="1" i="0">
                  <a:latin typeface="Times New Roman" pitchFamily="18" charset="0"/>
                </a:rPr>
                <a:t>A</a:t>
              </a:r>
            </a:p>
          </p:txBody>
        </p:sp>
        <p:sp>
          <p:nvSpPr>
            <p:cNvPr id="5134" name="AutoShape 6"/>
            <p:cNvSpPr>
              <a:spLocks noChangeArrowheads="1"/>
            </p:cNvSpPr>
            <p:nvPr/>
          </p:nvSpPr>
          <p:spPr bwMode="auto">
            <a:xfrm>
              <a:off x="2208" y="912"/>
              <a:ext cx="816" cy="384"/>
            </a:xfrm>
            <a:prstGeom prst="flowChartDecision">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联系名</a:t>
              </a:r>
            </a:p>
          </p:txBody>
        </p:sp>
        <p:sp>
          <p:nvSpPr>
            <p:cNvPr id="5135" name="AutoShape 7"/>
            <p:cNvSpPr>
              <a:spLocks noChangeArrowheads="1"/>
            </p:cNvSpPr>
            <p:nvPr/>
          </p:nvSpPr>
          <p:spPr bwMode="auto">
            <a:xfrm>
              <a:off x="2256" y="1584"/>
              <a:ext cx="816" cy="288"/>
            </a:xfrm>
            <a:prstGeom prst="flowChartProcess">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实体型</a:t>
              </a:r>
              <a:r>
                <a:rPr kumimoji="1" lang="en-US" altLang="zh-CN" sz="2400" b="1" i="0">
                  <a:latin typeface="Times New Roman" pitchFamily="18" charset="0"/>
                </a:rPr>
                <a:t>B</a:t>
              </a:r>
            </a:p>
          </p:txBody>
        </p:sp>
        <p:cxnSp>
          <p:nvCxnSpPr>
            <p:cNvPr id="5136" name="AutoShape 8"/>
            <p:cNvCxnSpPr>
              <a:cxnSpLocks noChangeShapeType="1"/>
            </p:cNvCxnSpPr>
            <p:nvPr/>
          </p:nvCxnSpPr>
          <p:spPr bwMode="auto">
            <a:xfrm>
              <a:off x="2640" y="672"/>
              <a:ext cx="0" cy="2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137" name="AutoShape 9"/>
            <p:cNvCxnSpPr>
              <a:cxnSpLocks noChangeShapeType="1"/>
            </p:cNvCxnSpPr>
            <p:nvPr/>
          </p:nvCxnSpPr>
          <p:spPr bwMode="auto">
            <a:xfrm>
              <a:off x="2640" y="1344"/>
              <a:ext cx="0" cy="2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138" name="Text Box 10"/>
            <p:cNvSpPr txBox="1">
              <a:spLocks noChangeArrowheads="1"/>
            </p:cNvSpPr>
            <p:nvPr/>
          </p:nvSpPr>
          <p:spPr bwMode="auto">
            <a:xfrm>
              <a:off x="2486" y="650"/>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en-US" altLang="zh-CN" sz="2400" b="1" i="0">
                  <a:latin typeface="Times New Roman" pitchFamily="18" charset="0"/>
                </a:rPr>
                <a:t>1</a:t>
              </a:r>
            </a:p>
          </p:txBody>
        </p:sp>
        <p:sp>
          <p:nvSpPr>
            <p:cNvPr id="5139" name="Text Box 11"/>
            <p:cNvSpPr txBox="1">
              <a:spLocks noChangeArrowheads="1"/>
            </p:cNvSpPr>
            <p:nvPr/>
          </p:nvSpPr>
          <p:spPr bwMode="auto">
            <a:xfrm>
              <a:off x="2486" y="1322"/>
              <a:ext cx="1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en-US" altLang="zh-CN" sz="2400" b="1" i="0">
                  <a:latin typeface="Times New Roman" pitchFamily="18" charset="0"/>
                </a:rPr>
                <a:t>n</a:t>
              </a:r>
            </a:p>
          </p:txBody>
        </p:sp>
      </p:grpSp>
      <p:grpSp>
        <p:nvGrpSpPr>
          <p:cNvPr id="3" name="Group 12"/>
          <p:cNvGrpSpPr>
            <a:grpSpLocks/>
          </p:cNvGrpSpPr>
          <p:nvPr/>
        </p:nvGrpSpPr>
        <p:grpSpPr bwMode="auto">
          <a:xfrm>
            <a:off x="9245600" y="1905000"/>
            <a:ext cx="2135717" cy="2819400"/>
            <a:chOff x="672" y="1152"/>
            <a:chExt cx="1009" cy="2160"/>
          </a:xfrm>
        </p:grpSpPr>
        <p:sp>
          <p:nvSpPr>
            <p:cNvPr id="5126" name="AutoShape 13"/>
            <p:cNvSpPr>
              <a:spLocks noChangeArrowheads="1"/>
            </p:cNvSpPr>
            <p:nvPr/>
          </p:nvSpPr>
          <p:spPr bwMode="auto">
            <a:xfrm>
              <a:off x="768" y="2064"/>
              <a:ext cx="816" cy="288"/>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solidFill>
                    <a:srgbClr val="FF0000"/>
                  </a:solidFill>
                  <a:latin typeface="Times New Roman" pitchFamily="18" charset="0"/>
                </a:rPr>
                <a:t>属于</a:t>
              </a:r>
            </a:p>
          </p:txBody>
        </p:sp>
        <p:grpSp>
          <p:nvGrpSpPr>
            <p:cNvPr id="5127" name="Group 14"/>
            <p:cNvGrpSpPr>
              <a:grpSpLocks/>
            </p:cNvGrpSpPr>
            <p:nvPr/>
          </p:nvGrpSpPr>
          <p:grpSpPr bwMode="auto">
            <a:xfrm>
              <a:off x="672" y="1152"/>
              <a:ext cx="1009" cy="2160"/>
              <a:chOff x="672" y="1152"/>
              <a:chExt cx="1009" cy="2160"/>
            </a:xfrm>
          </p:grpSpPr>
          <p:sp>
            <p:nvSpPr>
              <p:cNvPr id="5128" name="Rectangle 15"/>
              <p:cNvSpPr>
                <a:spLocks noChangeArrowheads="1"/>
              </p:cNvSpPr>
              <p:nvPr/>
            </p:nvSpPr>
            <p:spPr bwMode="auto">
              <a:xfrm>
                <a:off x="672" y="1152"/>
                <a:ext cx="1009"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solidFill>
                      <a:srgbClr val="FF0000"/>
                    </a:solidFill>
                    <a:latin typeface="Times New Roman" pitchFamily="18" charset="0"/>
                  </a:rPr>
                  <a:t>部门</a:t>
                </a:r>
              </a:p>
            </p:txBody>
          </p:sp>
          <p:sp>
            <p:nvSpPr>
              <p:cNvPr id="5129" name="Rectangle 16"/>
              <p:cNvSpPr>
                <a:spLocks noChangeArrowheads="1"/>
              </p:cNvSpPr>
              <p:nvPr/>
            </p:nvSpPr>
            <p:spPr bwMode="auto">
              <a:xfrm>
                <a:off x="672" y="2976"/>
                <a:ext cx="1009"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solidFill>
                      <a:srgbClr val="FF0000"/>
                    </a:solidFill>
                    <a:latin typeface="Times New Roman" pitchFamily="18" charset="0"/>
                  </a:rPr>
                  <a:t>员工</a:t>
                </a:r>
              </a:p>
            </p:txBody>
          </p:sp>
          <p:sp>
            <p:nvSpPr>
              <p:cNvPr id="5130" name="Line 17"/>
              <p:cNvSpPr>
                <a:spLocks noChangeShapeType="1"/>
              </p:cNvSpPr>
              <p:nvPr/>
            </p:nvSpPr>
            <p:spPr bwMode="auto">
              <a:xfrm>
                <a:off x="1152" y="148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1" name="Line 18"/>
              <p:cNvSpPr>
                <a:spLocks noChangeShapeType="1"/>
              </p:cNvSpPr>
              <p:nvPr/>
            </p:nvSpPr>
            <p:spPr bwMode="auto">
              <a:xfrm>
                <a:off x="1152" y="2352"/>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32" name="Text Box 19"/>
              <p:cNvSpPr txBox="1">
                <a:spLocks noChangeArrowheads="1"/>
              </p:cNvSpPr>
              <p:nvPr/>
            </p:nvSpPr>
            <p:spPr bwMode="auto">
              <a:xfrm>
                <a:off x="1200" y="1728"/>
                <a:ext cx="288"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kumimoji="1" lang="en-US" altLang="zh-CN" sz="2400" b="1" i="0">
                    <a:solidFill>
                      <a:srgbClr val="FF0000"/>
                    </a:solidFill>
                    <a:latin typeface="Times New Roman" pitchFamily="18" charset="0"/>
                  </a:rPr>
                  <a:t>1</a:t>
                </a:r>
              </a:p>
              <a:p>
                <a:pPr eaLnBrk="1" hangingPunct="1">
                  <a:spcBef>
                    <a:spcPct val="50000"/>
                  </a:spcBef>
                </a:pPr>
                <a:endParaRPr kumimoji="1" lang="en-US" altLang="zh-CN" sz="2400" b="1" i="0">
                  <a:solidFill>
                    <a:srgbClr val="FF0000"/>
                  </a:solidFill>
                  <a:latin typeface="Times New Roman" pitchFamily="18" charset="0"/>
                </a:endParaRPr>
              </a:p>
              <a:p>
                <a:pPr eaLnBrk="1" hangingPunct="1">
                  <a:spcBef>
                    <a:spcPct val="50000"/>
                  </a:spcBef>
                </a:pPr>
                <a:r>
                  <a:rPr kumimoji="1" lang="en-US" altLang="zh-CN" sz="2400" b="1" i="0">
                    <a:solidFill>
                      <a:srgbClr val="FF0000"/>
                    </a:solidFill>
                    <a:latin typeface="Times New Roman" pitchFamily="18" charset="0"/>
                  </a:rPr>
                  <a:t>N</a:t>
                </a:r>
              </a:p>
            </p:txBody>
          </p:sp>
        </p:grpSp>
      </p:grpSp>
      <p:sp>
        <p:nvSpPr>
          <p:cNvPr id="20" name="矩形 19"/>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21"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22"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6848528" y="1035825"/>
            <a:ext cx="4358886" cy="461665"/>
          </a:xfrm>
          <a:prstGeom prst="rect">
            <a:avLst/>
          </a:prstGeom>
        </p:spPr>
        <p:txBody>
          <a:bodyPr wrap="none">
            <a:spAutoFit/>
          </a:bodyPr>
          <a:lstStyle/>
          <a:p>
            <a:pPr lvl="1" eaLnBrk="1" hangingPunct="1"/>
            <a:r>
              <a:rPr lang="en-US" altLang="zh-CN" sz="2400" b="1" dirty="0">
                <a:solidFill>
                  <a:srgbClr val="FF000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例</a:t>
            </a:r>
            <a:r>
              <a:rPr lang="en-US" altLang="zh-CN" sz="2400" b="1" dirty="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部门</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员工之间关系</a:t>
            </a:r>
          </a:p>
        </p:txBody>
      </p:sp>
      <p:sp>
        <p:nvSpPr>
          <p:cNvPr id="26" name="Rectangle 2"/>
          <p:cNvSpPr txBox="1">
            <a:spLocks noChangeArrowheads="1"/>
          </p:cNvSpPr>
          <p:nvPr/>
        </p:nvSpPr>
        <p:spPr bwMode="auto">
          <a:xfrm>
            <a:off x="476142" y="1009974"/>
            <a:ext cx="4452319"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a:lstStyle>
          <a:p>
            <a:pPr marL="457200" indent="-457200" eaLnBrk="1" hangingPunct="1">
              <a:lnSpc>
                <a:spcPct val="105000"/>
              </a:lnSpc>
              <a:buFont typeface="Wingdings" panose="05000000000000000000" pitchFamily="2" charset="2"/>
              <a:buChar char="Ø"/>
            </a:pPr>
            <a:r>
              <a:rPr lang="zh-CN" altLang="en-US" sz="2800" b="1" dirty="0">
                <a:solidFill>
                  <a:srgbClr val="FF3300"/>
                </a:solidFill>
                <a:latin typeface="楷体_GB2312" pitchFamily="49" charset="-122"/>
                <a:ea typeface="楷体_GB2312" pitchFamily="49" charset="-122"/>
                <a:cs typeface="+mn-cs"/>
              </a:rPr>
              <a:t>基本概念</a:t>
            </a:r>
          </a:p>
        </p:txBody>
      </p:sp>
    </p:spTree>
    <p:extLst>
      <p:ext uri="{BB962C8B-B14F-4D97-AF65-F5344CB8AC3E}">
        <p14:creationId xmlns:p14="http://schemas.microsoft.com/office/powerpoint/2010/main" val="25171968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522637" y="1692275"/>
            <a:ext cx="6096000" cy="294946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90000"/>
              </a:lnSpc>
              <a:buFont typeface="Wingdings" panose="05000000000000000000" pitchFamily="2" charset="2"/>
              <a:buChar char="n"/>
            </a:pPr>
            <a:r>
              <a:rPr lang="zh-CN" altLang="en-US" b="1" dirty="0">
                <a:solidFill>
                  <a:srgbClr val="FF3300"/>
                </a:solidFill>
              </a:rPr>
              <a:t>多对多联系</a:t>
            </a:r>
            <a:r>
              <a:rPr lang="en-US" altLang="zh-CN" b="1" dirty="0">
                <a:solidFill>
                  <a:srgbClr val="FF3300"/>
                </a:solidFill>
              </a:rPr>
              <a:t>:</a:t>
            </a:r>
          </a:p>
          <a:p>
            <a:pPr marL="457200" lvl="1" indent="0" eaLnBrk="1" hangingPunct="1">
              <a:lnSpc>
                <a:spcPct val="90000"/>
              </a:lnSpc>
              <a:buNone/>
            </a:pPr>
            <a:r>
              <a:rPr lang="zh-CN" altLang="en-US" b="1" dirty="0">
                <a:latin typeface="楷体_GB2312" pitchFamily="49" charset="-122"/>
                <a:ea typeface="楷体_GB2312" pitchFamily="49" charset="-122"/>
              </a:rPr>
              <a:t>若对于实体集</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中的每一个实体，实体集</a:t>
            </a:r>
            <a:r>
              <a:rPr lang="en-US" altLang="en-US"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中有</a:t>
            </a:r>
            <a:r>
              <a:rPr lang="en-US" altLang="zh-CN" b="1" dirty="0">
                <a:solidFill>
                  <a:srgbClr val="FF3300"/>
                </a:solidFill>
                <a:latin typeface="楷体_GB2312" pitchFamily="49" charset="-122"/>
                <a:ea typeface="楷体_GB2312" pitchFamily="49" charset="-122"/>
              </a:rPr>
              <a:t>n</a:t>
            </a:r>
            <a:r>
              <a:rPr lang="zh-CN" altLang="en-US" b="1" dirty="0">
                <a:solidFill>
                  <a:srgbClr val="FF3300"/>
                </a:solidFill>
                <a:latin typeface="楷体_GB2312" pitchFamily="49" charset="-122"/>
                <a:ea typeface="楷体_GB2312" pitchFamily="49" charset="-122"/>
              </a:rPr>
              <a:t>个</a:t>
            </a:r>
            <a:r>
              <a:rPr lang="zh-CN" altLang="en-US" b="1" dirty="0">
                <a:latin typeface="楷体_GB2312" pitchFamily="49" charset="-122"/>
                <a:ea typeface="楷体_GB2312" pitchFamily="49" charset="-122"/>
              </a:rPr>
              <a:t>实体</a:t>
            </a:r>
            <a:r>
              <a:rPr lang="en-US" altLang="zh-CN" b="1" dirty="0">
                <a:latin typeface="楷体_GB2312" pitchFamily="49" charset="-122"/>
                <a:ea typeface="楷体_GB2312" pitchFamily="49" charset="-122"/>
              </a:rPr>
              <a:t>(n≥0)</a:t>
            </a:r>
            <a:r>
              <a:rPr lang="zh-CN" altLang="en-US" b="1" dirty="0">
                <a:latin typeface="楷体_GB2312" pitchFamily="49" charset="-122"/>
                <a:ea typeface="楷体_GB2312" pitchFamily="49" charset="-122"/>
              </a:rPr>
              <a:t>与之联系，反之，对于对于实体集</a:t>
            </a:r>
            <a:r>
              <a:rPr lang="en-US" altLang="en-US" b="1" dirty="0">
                <a:latin typeface="楷体_GB2312" pitchFamily="49" charset="-122"/>
                <a:ea typeface="楷体_GB2312" pitchFamily="49" charset="-122"/>
              </a:rPr>
              <a:t>B</a:t>
            </a:r>
            <a:r>
              <a:rPr lang="zh-CN" altLang="zh-CN" b="1" dirty="0">
                <a:latin typeface="楷体_GB2312" pitchFamily="49" charset="-122"/>
                <a:ea typeface="楷体_GB2312" pitchFamily="49" charset="-122"/>
              </a:rPr>
              <a:t>中</a:t>
            </a:r>
            <a:r>
              <a:rPr lang="zh-CN" altLang="en-US" b="1" dirty="0">
                <a:latin typeface="楷体_GB2312" pitchFamily="49" charset="-122"/>
                <a:ea typeface="楷体_GB2312" pitchFamily="49" charset="-122"/>
              </a:rPr>
              <a:t>的每一个实体，实体集</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中也有</a:t>
            </a:r>
            <a:r>
              <a:rPr lang="en-US" altLang="en-US" b="1" dirty="0">
                <a:solidFill>
                  <a:srgbClr val="FF3300"/>
                </a:solidFill>
                <a:latin typeface="楷体_GB2312" pitchFamily="49" charset="-122"/>
                <a:ea typeface="楷体_GB2312" pitchFamily="49" charset="-122"/>
              </a:rPr>
              <a:t>m</a:t>
            </a:r>
            <a:r>
              <a:rPr lang="zh-CN" altLang="en-US" b="1" dirty="0">
                <a:solidFill>
                  <a:srgbClr val="FF3300"/>
                </a:solidFill>
                <a:latin typeface="楷体_GB2312" pitchFamily="49" charset="-122"/>
                <a:ea typeface="楷体_GB2312" pitchFamily="49" charset="-122"/>
              </a:rPr>
              <a:t>个</a:t>
            </a:r>
            <a:r>
              <a:rPr lang="zh-CN" altLang="en-US" b="1" dirty="0">
                <a:latin typeface="楷体_GB2312" pitchFamily="49" charset="-122"/>
                <a:ea typeface="楷体_GB2312" pitchFamily="49" charset="-122"/>
              </a:rPr>
              <a:t>实体</a:t>
            </a:r>
            <a:r>
              <a:rPr lang="en-US" altLang="zh-CN" b="1" dirty="0">
                <a:latin typeface="楷体_GB2312" pitchFamily="49" charset="-122"/>
                <a:ea typeface="楷体_GB2312" pitchFamily="49" charset="-122"/>
              </a:rPr>
              <a:t>(m≥0)</a:t>
            </a:r>
            <a:r>
              <a:rPr lang="zh-CN" altLang="en-US" b="1" dirty="0">
                <a:latin typeface="楷体_GB2312" pitchFamily="49" charset="-122"/>
                <a:ea typeface="楷体_GB2312" pitchFamily="49" charset="-122"/>
              </a:rPr>
              <a:t>与之联系，则称实体集</a:t>
            </a:r>
            <a:r>
              <a:rPr lang="en-US" altLang="zh-CN" b="1" dirty="0">
                <a:latin typeface="楷体_GB2312" pitchFamily="49" charset="-122"/>
                <a:ea typeface="楷体_GB2312" pitchFamily="49" charset="-122"/>
              </a:rPr>
              <a:t>A</a:t>
            </a:r>
            <a:r>
              <a:rPr lang="zh-CN" altLang="en-US" b="1" dirty="0">
                <a:latin typeface="楷体_GB2312" pitchFamily="49" charset="-122"/>
                <a:ea typeface="楷体_GB2312" pitchFamily="49" charset="-122"/>
              </a:rPr>
              <a:t>与实体集</a:t>
            </a:r>
            <a:r>
              <a:rPr lang="en-US" altLang="zh-CN" b="1" dirty="0">
                <a:latin typeface="楷体_GB2312" pitchFamily="49" charset="-122"/>
                <a:ea typeface="楷体_GB2312" pitchFamily="49" charset="-122"/>
              </a:rPr>
              <a:t>B</a:t>
            </a:r>
            <a:r>
              <a:rPr lang="zh-CN" altLang="en-US" b="1" dirty="0">
                <a:latin typeface="楷体_GB2312" pitchFamily="49" charset="-122"/>
                <a:ea typeface="楷体_GB2312" pitchFamily="49" charset="-122"/>
              </a:rPr>
              <a:t>具有多对多联系，记为</a:t>
            </a:r>
            <a:r>
              <a:rPr lang="en-US" altLang="zh-CN" b="1" dirty="0">
                <a:solidFill>
                  <a:srgbClr val="FF3300"/>
                </a:solidFill>
                <a:latin typeface="楷体_GB2312" pitchFamily="49" charset="-122"/>
                <a:ea typeface="楷体_GB2312" pitchFamily="49" charset="-122"/>
              </a:rPr>
              <a:t>m:n</a:t>
            </a:r>
            <a:r>
              <a:rPr lang="zh-CN" altLang="en-US" b="1" dirty="0">
                <a:latin typeface="楷体_GB2312" pitchFamily="49" charset="-122"/>
                <a:ea typeface="楷体_GB2312" pitchFamily="49" charset="-122"/>
              </a:rPr>
              <a:t>。</a:t>
            </a:r>
          </a:p>
        </p:txBody>
      </p:sp>
      <p:grpSp>
        <p:nvGrpSpPr>
          <p:cNvPr id="2" name="Group 4"/>
          <p:cNvGrpSpPr>
            <a:grpSpLocks/>
          </p:cNvGrpSpPr>
          <p:nvPr/>
        </p:nvGrpSpPr>
        <p:grpSpPr bwMode="auto">
          <a:xfrm>
            <a:off x="6705602" y="2286001"/>
            <a:ext cx="1828800" cy="2473325"/>
            <a:chOff x="4080" y="314"/>
            <a:chExt cx="864" cy="1558"/>
          </a:xfrm>
        </p:grpSpPr>
        <p:sp>
          <p:nvSpPr>
            <p:cNvPr id="6156" name="AutoShape 5"/>
            <p:cNvSpPr>
              <a:spLocks noChangeArrowheads="1"/>
            </p:cNvSpPr>
            <p:nvPr/>
          </p:nvSpPr>
          <p:spPr bwMode="auto">
            <a:xfrm>
              <a:off x="4080" y="384"/>
              <a:ext cx="816" cy="288"/>
            </a:xfrm>
            <a:prstGeom prst="flowChartProcess">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endParaRPr kumimoji="1" lang="zh-CN" altLang="zh-CN" sz="2400" b="1" i="0">
                <a:latin typeface="Times New Roman" pitchFamily="18" charset="0"/>
              </a:endParaRPr>
            </a:p>
          </p:txBody>
        </p:sp>
        <p:sp>
          <p:nvSpPr>
            <p:cNvPr id="6157" name="AutoShape 6"/>
            <p:cNvSpPr>
              <a:spLocks noChangeArrowheads="1"/>
            </p:cNvSpPr>
            <p:nvPr/>
          </p:nvSpPr>
          <p:spPr bwMode="auto">
            <a:xfrm>
              <a:off x="4128" y="1584"/>
              <a:ext cx="816" cy="288"/>
            </a:xfrm>
            <a:prstGeom prst="flowChartProcess">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实体型</a:t>
              </a:r>
              <a:r>
                <a:rPr kumimoji="1" lang="en-US" altLang="zh-CN" sz="2400" b="1" i="0">
                  <a:latin typeface="Times New Roman" pitchFamily="18" charset="0"/>
                </a:rPr>
                <a:t>B</a:t>
              </a:r>
            </a:p>
          </p:txBody>
        </p:sp>
        <p:cxnSp>
          <p:nvCxnSpPr>
            <p:cNvPr id="6158" name="AutoShape 7"/>
            <p:cNvCxnSpPr>
              <a:cxnSpLocks noChangeShapeType="1"/>
            </p:cNvCxnSpPr>
            <p:nvPr/>
          </p:nvCxnSpPr>
          <p:spPr bwMode="auto">
            <a:xfrm>
              <a:off x="4464" y="720"/>
              <a:ext cx="1" cy="2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159" name="AutoShape 8"/>
            <p:cNvCxnSpPr>
              <a:cxnSpLocks noChangeShapeType="1"/>
            </p:cNvCxnSpPr>
            <p:nvPr/>
          </p:nvCxnSpPr>
          <p:spPr bwMode="auto">
            <a:xfrm>
              <a:off x="4512" y="1344"/>
              <a:ext cx="1" cy="24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160" name="Text Box 9"/>
            <p:cNvSpPr txBox="1">
              <a:spLocks noChangeArrowheads="1"/>
            </p:cNvSpPr>
            <p:nvPr/>
          </p:nvSpPr>
          <p:spPr bwMode="auto">
            <a:xfrm>
              <a:off x="4118" y="314"/>
              <a:ext cx="63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400" b="1" i="0">
                  <a:latin typeface="Times New Roman" pitchFamily="18" charset="0"/>
                </a:rPr>
                <a:t>实体型</a:t>
              </a:r>
              <a:r>
                <a:rPr kumimoji="1" lang="en-US" altLang="zh-CN" sz="2400" b="1" i="0">
                  <a:latin typeface="Times New Roman" pitchFamily="18" charset="0"/>
                </a:rPr>
                <a:t>A</a:t>
              </a:r>
            </a:p>
          </p:txBody>
        </p:sp>
        <p:sp>
          <p:nvSpPr>
            <p:cNvPr id="6161" name="AutoShape 10"/>
            <p:cNvSpPr>
              <a:spLocks noChangeArrowheads="1"/>
            </p:cNvSpPr>
            <p:nvPr/>
          </p:nvSpPr>
          <p:spPr bwMode="auto">
            <a:xfrm>
              <a:off x="4080" y="960"/>
              <a:ext cx="816" cy="384"/>
            </a:xfrm>
            <a:prstGeom prst="flowChartDecision">
              <a:avLst/>
            </a:prstGeom>
            <a:solidFill>
              <a:schemeClr val="accent1"/>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联系名</a:t>
              </a:r>
            </a:p>
          </p:txBody>
        </p:sp>
        <p:sp>
          <p:nvSpPr>
            <p:cNvPr id="6162" name="Text Box 11"/>
            <p:cNvSpPr txBox="1">
              <a:spLocks noChangeArrowheads="1"/>
            </p:cNvSpPr>
            <p:nvPr/>
          </p:nvSpPr>
          <p:spPr bwMode="auto">
            <a:xfrm>
              <a:off x="4214" y="746"/>
              <a:ext cx="2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en-US" altLang="zh-CN" sz="2400" b="1" i="0">
                  <a:latin typeface="Times New Roman" pitchFamily="18" charset="0"/>
                </a:rPr>
                <a:t>m</a:t>
              </a:r>
            </a:p>
          </p:txBody>
        </p:sp>
        <p:sp>
          <p:nvSpPr>
            <p:cNvPr id="6163" name="Text Box 12"/>
            <p:cNvSpPr txBox="1">
              <a:spLocks noChangeArrowheads="1"/>
            </p:cNvSpPr>
            <p:nvPr/>
          </p:nvSpPr>
          <p:spPr bwMode="auto">
            <a:xfrm>
              <a:off x="4262" y="1322"/>
              <a:ext cx="1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en-US" altLang="zh-CN" sz="2400" b="1" i="0">
                  <a:latin typeface="Times New Roman" pitchFamily="18" charset="0"/>
                </a:rPr>
                <a:t>n</a:t>
              </a:r>
            </a:p>
          </p:txBody>
        </p:sp>
      </p:grpSp>
      <p:grpSp>
        <p:nvGrpSpPr>
          <p:cNvPr id="3" name="Group 13"/>
          <p:cNvGrpSpPr>
            <a:grpSpLocks/>
          </p:cNvGrpSpPr>
          <p:nvPr/>
        </p:nvGrpSpPr>
        <p:grpSpPr bwMode="auto">
          <a:xfrm>
            <a:off x="8940800" y="2362200"/>
            <a:ext cx="2135717" cy="2438400"/>
            <a:chOff x="3888" y="1584"/>
            <a:chExt cx="1009" cy="1536"/>
          </a:xfrm>
        </p:grpSpPr>
        <p:sp>
          <p:nvSpPr>
            <p:cNvPr id="6150" name="Line 14"/>
            <p:cNvSpPr>
              <a:spLocks noChangeShapeType="1"/>
            </p:cNvSpPr>
            <p:nvPr/>
          </p:nvSpPr>
          <p:spPr bwMode="auto">
            <a:xfrm>
              <a:off x="4416" y="1920"/>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1" name="Line 15"/>
            <p:cNvSpPr>
              <a:spLocks noChangeShapeType="1"/>
            </p:cNvSpPr>
            <p:nvPr/>
          </p:nvSpPr>
          <p:spPr bwMode="auto">
            <a:xfrm>
              <a:off x="4416" y="2496"/>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52" name="AutoShape 16"/>
            <p:cNvSpPr>
              <a:spLocks noChangeArrowheads="1"/>
            </p:cNvSpPr>
            <p:nvPr/>
          </p:nvSpPr>
          <p:spPr bwMode="auto">
            <a:xfrm>
              <a:off x="3984" y="2208"/>
              <a:ext cx="816" cy="288"/>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solidFill>
                    <a:srgbClr val="FF0000"/>
                  </a:solidFill>
                  <a:latin typeface="Times New Roman" pitchFamily="18" charset="0"/>
                </a:rPr>
                <a:t>选课</a:t>
              </a:r>
            </a:p>
          </p:txBody>
        </p:sp>
        <p:sp>
          <p:nvSpPr>
            <p:cNvPr id="6153" name="Rectangle 17"/>
            <p:cNvSpPr>
              <a:spLocks noChangeArrowheads="1"/>
            </p:cNvSpPr>
            <p:nvPr/>
          </p:nvSpPr>
          <p:spPr bwMode="auto">
            <a:xfrm>
              <a:off x="3888" y="1584"/>
              <a:ext cx="1009"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solidFill>
                    <a:srgbClr val="FF0000"/>
                  </a:solidFill>
                  <a:latin typeface="Times New Roman" pitchFamily="18" charset="0"/>
                </a:rPr>
                <a:t>学生</a:t>
              </a:r>
            </a:p>
          </p:txBody>
        </p:sp>
        <p:sp>
          <p:nvSpPr>
            <p:cNvPr id="6154" name="Rectangle 18"/>
            <p:cNvSpPr>
              <a:spLocks noChangeArrowheads="1"/>
            </p:cNvSpPr>
            <p:nvPr/>
          </p:nvSpPr>
          <p:spPr bwMode="auto">
            <a:xfrm>
              <a:off x="3888" y="2784"/>
              <a:ext cx="1009" cy="3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solidFill>
                    <a:srgbClr val="FF0000"/>
                  </a:solidFill>
                  <a:latin typeface="Times New Roman" pitchFamily="18" charset="0"/>
                </a:rPr>
                <a:t>课程</a:t>
              </a:r>
            </a:p>
          </p:txBody>
        </p:sp>
        <p:sp>
          <p:nvSpPr>
            <p:cNvPr id="6155" name="Text Box 19"/>
            <p:cNvSpPr txBox="1">
              <a:spLocks noChangeArrowheads="1"/>
            </p:cNvSpPr>
            <p:nvPr/>
          </p:nvSpPr>
          <p:spPr bwMode="auto">
            <a:xfrm>
              <a:off x="4464" y="1920"/>
              <a:ext cx="336"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kumimoji="1" lang="en-US" altLang="zh-CN" sz="2000" b="1" i="0">
                  <a:solidFill>
                    <a:srgbClr val="FF0000"/>
                  </a:solidFill>
                  <a:latin typeface="Times New Roman" pitchFamily="18" charset="0"/>
                </a:rPr>
                <a:t>M</a:t>
              </a:r>
            </a:p>
            <a:p>
              <a:pPr eaLnBrk="1" hangingPunct="1">
                <a:spcBef>
                  <a:spcPct val="50000"/>
                </a:spcBef>
              </a:pPr>
              <a:endParaRPr kumimoji="1" lang="en-US" altLang="zh-CN" sz="2000" b="1" i="0">
                <a:solidFill>
                  <a:srgbClr val="FF0000"/>
                </a:solidFill>
                <a:latin typeface="Times New Roman" pitchFamily="18" charset="0"/>
              </a:endParaRPr>
            </a:p>
            <a:p>
              <a:pPr eaLnBrk="1" hangingPunct="1">
                <a:spcBef>
                  <a:spcPct val="50000"/>
                </a:spcBef>
              </a:pPr>
              <a:r>
                <a:rPr kumimoji="1" lang="en-US" altLang="zh-CN" sz="2000" b="1" i="0">
                  <a:solidFill>
                    <a:srgbClr val="FF0000"/>
                  </a:solidFill>
                  <a:latin typeface="Times New Roman" pitchFamily="18" charset="0"/>
                </a:rPr>
                <a:t>N</a:t>
              </a:r>
            </a:p>
          </p:txBody>
        </p:sp>
      </p:grpSp>
      <p:sp>
        <p:nvSpPr>
          <p:cNvPr id="20" name="矩形 19"/>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21"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22"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Rectangle 2"/>
          <p:cNvSpPr>
            <a:spLocks noGrp="1" noChangeArrowheads="1"/>
          </p:cNvSpPr>
          <p:nvPr>
            <p:ph type="title"/>
          </p:nvPr>
        </p:nvSpPr>
        <p:spPr bwMode="auto">
          <a:xfrm>
            <a:off x="476142" y="1009974"/>
            <a:ext cx="4452319"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eaLnBrk="1" hangingPunct="1">
              <a:lnSpc>
                <a:spcPct val="105000"/>
              </a:lnSpc>
              <a:buFont typeface="Wingdings" panose="05000000000000000000" pitchFamily="2" charset="2"/>
              <a:buChar char="Ø"/>
            </a:pPr>
            <a:r>
              <a:rPr lang="zh-CN" altLang="en-US" sz="2800" b="1" dirty="0">
                <a:solidFill>
                  <a:srgbClr val="FF3300"/>
                </a:solidFill>
                <a:latin typeface="楷体_GB2312" pitchFamily="49" charset="-122"/>
                <a:ea typeface="楷体_GB2312" pitchFamily="49" charset="-122"/>
                <a:cs typeface="+mn-cs"/>
              </a:rPr>
              <a:t>基本概念</a:t>
            </a:r>
          </a:p>
        </p:txBody>
      </p:sp>
      <p:sp>
        <p:nvSpPr>
          <p:cNvPr id="5" name="矩形 4"/>
          <p:cNvSpPr/>
          <p:nvPr/>
        </p:nvSpPr>
        <p:spPr>
          <a:xfrm>
            <a:off x="7497740" y="1390638"/>
            <a:ext cx="4358886" cy="424732"/>
          </a:xfrm>
          <a:prstGeom prst="rect">
            <a:avLst/>
          </a:prstGeom>
        </p:spPr>
        <p:txBody>
          <a:bodyPr wrap="none">
            <a:spAutoFit/>
          </a:bodyPr>
          <a:lstStyle/>
          <a:p>
            <a:pPr lvl="1" eaLnBrk="1" hangingPunct="1">
              <a:lnSpc>
                <a:spcPct val="90000"/>
              </a:lnSpc>
            </a:pP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例</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学生</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课程之间关系</a:t>
            </a:r>
          </a:p>
        </p:txBody>
      </p:sp>
    </p:spTree>
    <p:extLst>
      <p:ext uri="{BB962C8B-B14F-4D97-AF65-F5344CB8AC3E}">
        <p14:creationId xmlns:p14="http://schemas.microsoft.com/office/powerpoint/2010/main" val="30420801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bwMode="auto">
          <a:xfrm>
            <a:off x="484753" y="1570038"/>
            <a:ext cx="10871200" cy="106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buFontTx/>
              <a:buNone/>
            </a:pPr>
            <a:r>
              <a:rPr lang="en-US" altLang="zh-CN" b="1" dirty="0"/>
              <a:t>       </a:t>
            </a:r>
            <a:r>
              <a:rPr lang="zh-CN" altLang="en-US" sz="2800" b="1" dirty="0"/>
              <a:t>同一实体集内的各实体之间也存在着一对一、一对多和多对多的联系</a:t>
            </a:r>
            <a:r>
              <a:rPr lang="en-US" altLang="zh-CN" sz="2800" b="1" dirty="0"/>
              <a:t>.</a:t>
            </a:r>
          </a:p>
        </p:txBody>
      </p:sp>
      <p:grpSp>
        <p:nvGrpSpPr>
          <p:cNvPr id="7172" name="Group 4"/>
          <p:cNvGrpSpPr>
            <a:grpSpLocks/>
          </p:cNvGrpSpPr>
          <p:nvPr/>
        </p:nvGrpSpPr>
        <p:grpSpPr bwMode="auto">
          <a:xfrm>
            <a:off x="2023535" y="2636838"/>
            <a:ext cx="2269067" cy="1981200"/>
            <a:chOff x="2141" y="1776"/>
            <a:chExt cx="1072" cy="1248"/>
          </a:xfrm>
        </p:grpSpPr>
        <p:sp>
          <p:nvSpPr>
            <p:cNvPr id="7182" name="Rectangle 5"/>
            <p:cNvSpPr>
              <a:spLocks noChangeArrowheads="1"/>
            </p:cNvSpPr>
            <p:nvPr/>
          </p:nvSpPr>
          <p:spPr bwMode="auto">
            <a:xfrm>
              <a:off x="2163" y="1776"/>
              <a:ext cx="1007" cy="336"/>
            </a:xfrm>
            <a:prstGeom prst="rect">
              <a:avLst/>
            </a:prstGeom>
            <a:solidFill>
              <a:schemeClr val="accent1"/>
            </a:solid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员工</a:t>
              </a:r>
            </a:p>
          </p:txBody>
        </p:sp>
        <p:sp>
          <p:nvSpPr>
            <p:cNvPr id="7183" name="AutoShape 6"/>
            <p:cNvSpPr>
              <a:spLocks noChangeArrowheads="1"/>
            </p:cNvSpPr>
            <p:nvPr/>
          </p:nvSpPr>
          <p:spPr bwMode="auto">
            <a:xfrm>
              <a:off x="2211" y="2496"/>
              <a:ext cx="960" cy="528"/>
            </a:xfrm>
            <a:prstGeom prst="diamond">
              <a:avLst/>
            </a:prstGeom>
            <a:solidFill>
              <a:schemeClr val="accent1"/>
            </a:solid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领导</a:t>
              </a:r>
            </a:p>
          </p:txBody>
        </p:sp>
        <p:sp>
          <p:nvSpPr>
            <p:cNvPr id="7184" name="Line 7"/>
            <p:cNvSpPr>
              <a:spLocks noChangeShapeType="1"/>
            </p:cNvSpPr>
            <p:nvPr/>
          </p:nvSpPr>
          <p:spPr bwMode="auto">
            <a:xfrm>
              <a:off x="2403" y="2092"/>
              <a:ext cx="0" cy="5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5" name="Line 8"/>
            <p:cNvSpPr>
              <a:spLocks noChangeShapeType="1"/>
            </p:cNvSpPr>
            <p:nvPr/>
          </p:nvSpPr>
          <p:spPr bwMode="auto">
            <a:xfrm>
              <a:off x="3027" y="2112"/>
              <a:ext cx="0" cy="5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6" name="Text Box 9"/>
            <p:cNvSpPr txBox="1">
              <a:spLocks noChangeArrowheads="1"/>
            </p:cNvSpPr>
            <p:nvPr/>
          </p:nvSpPr>
          <p:spPr bwMode="auto">
            <a:xfrm>
              <a:off x="2141" y="2255"/>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i="0">
                  <a:latin typeface="Times New Roman" pitchFamily="18" charset="0"/>
                </a:rPr>
                <a:t>1</a:t>
              </a:r>
            </a:p>
          </p:txBody>
        </p:sp>
        <p:sp>
          <p:nvSpPr>
            <p:cNvPr id="7187" name="Text Box 10"/>
            <p:cNvSpPr txBox="1">
              <a:spLocks noChangeArrowheads="1"/>
            </p:cNvSpPr>
            <p:nvPr/>
          </p:nvSpPr>
          <p:spPr bwMode="auto">
            <a:xfrm>
              <a:off x="3053" y="2207"/>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i="0">
                  <a:latin typeface="Times New Roman" pitchFamily="18" charset="0"/>
                </a:rPr>
                <a:t>n</a:t>
              </a:r>
            </a:p>
          </p:txBody>
        </p:sp>
      </p:grpSp>
      <p:sp>
        <p:nvSpPr>
          <p:cNvPr id="7173" name="Text Box 11"/>
          <p:cNvSpPr txBox="1">
            <a:spLocks noChangeArrowheads="1"/>
          </p:cNvSpPr>
          <p:nvPr/>
        </p:nvSpPr>
        <p:spPr bwMode="auto">
          <a:xfrm>
            <a:off x="1200151" y="4724401"/>
            <a:ext cx="4483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000" b="1" i="0">
                <a:latin typeface="Times New Roman" pitchFamily="18" charset="0"/>
              </a:rPr>
              <a:t>同一实体集内一对多联系</a:t>
            </a:r>
          </a:p>
        </p:txBody>
      </p:sp>
      <p:grpSp>
        <p:nvGrpSpPr>
          <p:cNvPr id="7174" name="Group 12"/>
          <p:cNvGrpSpPr>
            <a:grpSpLocks/>
          </p:cNvGrpSpPr>
          <p:nvPr/>
        </p:nvGrpSpPr>
        <p:grpSpPr bwMode="auto">
          <a:xfrm>
            <a:off x="7399869" y="2636838"/>
            <a:ext cx="2269067" cy="1981200"/>
            <a:chOff x="2141" y="1776"/>
            <a:chExt cx="1072" cy="1248"/>
          </a:xfrm>
        </p:grpSpPr>
        <p:sp>
          <p:nvSpPr>
            <p:cNvPr id="7176" name="Rectangle 13"/>
            <p:cNvSpPr>
              <a:spLocks noChangeArrowheads="1"/>
            </p:cNvSpPr>
            <p:nvPr/>
          </p:nvSpPr>
          <p:spPr bwMode="auto">
            <a:xfrm>
              <a:off x="2163" y="1776"/>
              <a:ext cx="1007" cy="336"/>
            </a:xfrm>
            <a:prstGeom prst="rect">
              <a:avLst/>
            </a:prstGeom>
            <a:solidFill>
              <a:schemeClr val="accent1"/>
            </a:solid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员工</a:t>
              </a:r>
            </a:p>
          </p:txBody>
        </p:sp>
        <p:sp>
          <p:nvSpPr>
            <p:cNvPr id="7177" name="AutoShape 14"/>
            <p:cNvSpPr>
              <a:spLocks noChangeArrowheads="1"/>
            </p:cNvSpPr>
            <p:nvPr/>
          </p:nvSpPr>
          <p:spPr bwMode="auto">
            <a:xfrm>
              <a:off x="2211" y="2496"/>
              <a:ext cx="960" cy="528"/>
            </a:xfrm>
            <a:prstGeom prst="diamond">
              <a:avLst/>
            </a:prstGeom>
            <a:solidFill>
              <a:schemeClr val="accent1"/>
            </a:solid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配偶</a:t>
              </a:r>
            </a:p>
          </p:txBody>
        </p:sp>
        <p:sp>
          <p:nvSpPr>
            <p:cNvPr id="7178" name="Line 15"/>
            <p:cNvSpPr>
              <a:spLocks noChangeShapeType="1"/>
            </p:cNvSpPr>
            <p:nvPr/>
          </p:nvSpPr>
          <p:spPr bwMode="auto">
            <a:xfrm>
              <a:off x="2403" y="2102"/>
              <a:ext cx="0" cy="5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79" name="Line 16"/>
            <p:cNvSpPr>
              <a:spLocks noChangeShapeType="1"/>
            </p:cNvSpPr>
            <p:nvPr/>
          </p:nvSpPr>
          <p:spPr bwMode="auto">
            <a:xfrm>
              <a:off x="3027" y="2112"/>
              <a:ext cx="0" cy="5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0" name="Text Box 17"/>
            <p:cNvSpPr txBox="1">
              <a:spLocks noChangeArrowheads="1"/>
            </p:cNvSpPr>
            <p:nvPr/>
          </p:nvSpPr>
          <p:spPr bwMode="auto">
            <a:xfrm>
              <a:off x="2141" y="2255"/>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i="0">
                  <a:latin typeface="Times New Roman" pitchFamily="18" charset="0"/>
                </a:rPr>
                <a:t>1</a:t>
              </a:r>
            </a:p>
          </p:txBody>
        </p:sp>
        <p:sp>
          <p:nvSpPr>
            <p:cNvPr id="7181" name="Text Box 18"/>
            <p:cNvSpPr txBox="1">
              <a:spLocks noChangeArrowheads="1"/>
            </p:cNvSpPr>
            <p:nvPr/>
          </p:nvSpPr>
          <p:spPr bwMode="auto">
            <a:xfrm>
              <a:off x="3053" y="2207"/>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i="0">
                  <a:latin typeface="Times New Roman" pitchFamily="18" charset="0"/>
                </a:rPr>
                <a:t>1</a:t>
              </a:r>
            </a:p>
          </p:txBody>
        </p:sp>
      </p:grpSp>
      <p:sp>
        <p:nvSpPr>
          <p:cNvPr id="7175" name="Text Box 19"/>
          <p:cNvSpPr txBox="1">
            <a:spLocks noChangeArrowheads="1"/>
          </p:cNvSpPr>
          <p:nvPr/>
        </p:nvSpPr>
        <p:spPr bwMode="auto">
          <a:xfrm>
            <a:off x="6576485" y="4724401"/>
            <a:ext cx="4483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000" b="1" i="0">
                <a:latin typeface="Times New Roman" pitchFamily="18" charset="0"/>
              </a:rPr>
              <a:t>同一实体集内一对一联系</a:t>
            </a:r>
          </a:p>
        </p:txBody>
      </p:sp>
      <p:sp>
        <p:nvSpPr>
          <p:cNvPr id="20" name="矩形 19"/>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21"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22"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Rectangle 2"/>
          <p:cNvSpPr>
            <a:spLocks noGrp="1" noChangeArrowheads="1"/>
          </p:cNvSpPr>
          <p:nvPr>
            <p:ph type="title"/>
          </p:nvPr>
        </p:nvSpPr>
        <p:spPr bwMode="auto">
          <a:xfrm>
            <a:off x="476142" y="1009974"/>
            <a:ext cx="4452319"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eaLnBrk="1" hangingPunct="1">
              <a:lnSpc>
                <a:spcPct val="105000"/>
              </a:lnSpc>
              <a:buFont typeface="Wingdings" panose="05000000000000000000" pitchFamily="2" charset="2"/>
              <a:buChar char="Ø"/>
            </a:pPr>
            <a:r>
              <a:rPr lang="zh-CN" altLang="en-US" sz="2800" b="1" dirty="0">
                <a:solidFill>
                  <a:srgbClr val="FF3300"/>
                </a:solidFill>
                <a:latin typeface="楷体_GB2312" pitchFamily="49" charset="-122"/>
                <a:ea typeface="楷体_GB2312" pitchFamily="49" charset="-122"/>
                <a:cs typeface="+mn-cs"/>
              </a:rPr>
              <a:t>基本概念</a:t>
            </a:r>
          </a:p>
        </p:txBody>
      </p:sp>
    </p:spTree>
    <p:extLst>
      <p:ext uri="{BB962C8B-B14F-4D97-AF65-F5344CB8AC3E}">
        <p14:creationId xmlns:p14="http://schemas.microsoft.com/office/powerpoint/2010/main" val="95899805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bwMode="auto">
          <a:xfrm>
            <a:off x="532341" y="1628613"/>
            <a:ext cx="11127317"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90000"/>
              </a:lnSpc>
              <a:buFontTx/>
              <a:buNone/>
            </a:pPr>
            <a:r>
              <a:rPr lang="en-US" altLang="zh-CN" sz="2800" b="1" dirty="0"/>
              <a:t>         </a:t>
            </a:r>
            <a:r>
              <a:rPr lang="zh-CN" altLang="en-US" sz="2800" b="1" dirty="0"/>
              <a:t>一般地，两个以上实体型之间也存在着一对一、一对多和多对多的联系</a:t>
            </a:r>
            <a:r>
              <a:rPr lang="en-US" altLang="zh-CN" sz="2800" b="1" dirty="0"/>
              <a:t>.</a:t>
            </a:r>
          </a:p>
        </p:txBody>
      </p:sp>
      <p:grpSp>
        <p:nvGrpSpPr>
          <p:cNvPr id="2" name="Group 4"/>
          <p:cNvGrpSpPr>
            <a:grpSpLocks/>
          </p:cNvGrpSpPr>
          <p:nvPr/>
        </p:nvGrpSpPr>
        <p:grpSpPr bwMode="auto">
          <a:xfrm>
            <a:off x="3888317" y="2349501"/>
            <a:ext cx="4775200" cy="3444875"/>
            <a:chOff x="432" y="1440"/>
            <a:chExt cx="2256" cy="2170"/>
          </a:xfrm>
        </p:grpSpPr>
        <p:grpSp>
          <p:nvGrpSpPr>
            <p:cNvPr id="8197" name="Group 5"/>
            <p:cNvGrpSpPr>
              <a:grpSpLocks/>
            </p:cNvGrpSpPr>
            <p:nvPr/>
          </p:nvGrpSpPr>
          <p:grpSpPr bwMode="auto">
            <a:xfrm>
              <a:off x="528" y="1440"/>
              <a:ext cx="2064" cy="1728"/>
              <a:chOff x="1056" y="1680"/>
              <a:chExt cx="2064" cy="1728"/>
            </a:xfrm>
          </p:grpSpPr>
          <p:sp>
            <p:nvSpPr>
              <p:cNvPr id="8199" name="Rectangle 6"/>
              <p:cNvSpPr>
                <a:spLocks noChangeArrowheads="1"/>
              </p:cNvSpPr>
              <p:nvPr/>
            </p:nvSpPr>
            <p:spPr bwMode="auto">
              <a:xfrm>
                <a:off x="1680" y="1680"/>
                <a:ext cx="768" cy="336"/>
              </a:xfrm>
              <a:prstGeom prst="rect">
                <a:avLst/>
              </a:prstGeom>
              <a:solidFill>
                <a:schemeClr val="accent1"/>
              </a:solidFill>
              <a:ln w="12700" cap="sq">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学生</a:t>
                </a:r>
              </a:p>
            </p:txBody>
          </p:sp>
          <p:sp>
            <p:nvSpPr>
              <p:cNvPr id="8200" name="Rectangle 7"/>
              <p:cNvSpPr>
                <a:spLocks noChangeArrowheads="1"/>
              </p:cNvSpPr>
              <p:nvPr/>
            </p:nvSpPr>
            <p:spPr bwMode="auto">
              <a:xfrm>
                <a:off x="1056" y="3072"/>
                <a:ext cx="816" cy="336"/>
              </a:xfrm>
              <a:prstGeom prst="rect">
                <a:avLst/>
              </a:prstGeom>
              <a:solidFill>
                <a:schemeClr val="accent1"/>
              </a:solidFill>
              <a:ln w="12700" cap="sq">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教师</a:t>
                </a:r>
              </a:p>
            </p:txBody>
          </p:sp>
          <p:sp>
            <p:nvSpPr>
              <p:cNvPr id="8201" name="Rectangle 8"/>
              <p:cNvSpPr>
                <a:spLocks noChangeArrowheads="1"/>
              </p:cNvSpPr>
              <p:nvPr/>
            </p:nvSpPr>
            <p:spPr bwMode="auto">
              <a:xfrm>
                <a:off x="2400" y="3072"/>
                <a:ext cx="720" cy="336"/>
              </a:xfrm>
              <a:prstGeom prst="rect">
                <a:avLst/>
              </a:prstGeom>
              <a:solidFill>
                <a:schemeClr val="accent1"/>
              </a:solidFill>
              <a:ln w="12700" cap="sq">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课程</a:t>
                </a:r>
              </a:p>
            </p:txBody>
          </p:sp>
          <p:sp>
            <p:nvSpPr>
              <p:cNvPr id="8202" name="AutoShape 9"/>
              <p:cNvSpPr>
                <a:spLocks noChangeArrowheads="1"/>
              </p:cNvSpPr>
              <p:nvPr/>
            </p:nvSpPr>
            <p:spPr bwMode="auto">
              <a:xfrm>
                <a:off x="1536" y="2400"/>
                <a:ext cx="1056" cy="384"/>
              </a:xfrm>
              <a:prstGeom prst="diamond">
                <a:avLst/>
              </a:prstGeom>
              <a:solidFill>
                <a:schemeClr val="accent1"/>
              </a:solidFill>
              <a:ln w="12700" cap="sq">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选课</a:t>
                </a:r>
              </a:p>
            </p:txBody>
          </p:sp>
          <p:cxnSp>
            <p:nvCxnSpPr>
              <p:cNvPr id="8203" name="AutoShape 10"/>
              <p:cNvCxnSpPr>
                <a:cxnSpLocks noChangeShapeType="1"/>
                <a:stCxn id="8202" idx="1"/>
                <a:endCxn id="8200" idx="0"/>
              </p:cNvCxnSpPr>
              <p:nvPr/>
            </p:nvCxnSpPr>
            <p:spPr bwMode="auto">
              <a:xfrm flipH="1">
                <a:off x="1464" y="2592"/>
                <a:ext cx="72" cy="48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8204" name="AutoShape 11"/>
              <p:cNvCxnSpPr>
                <a:cxnSpLocks noChangeShapeType="1"/>
                <a:stCxn id="8202" idx="3"/>
                <a:endCxn id="8201" idx="0"/>
              </p:cNvCxnSpPr>
              <p:nvPr/>
            </p:nvCxnSpPr>
            <p:spPr bwMode="auto">
              <a:xfrm>
                <a:off x="2592" y="2592"/>
                <a:ext cx="168" cy="48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sp>
            <p:nvSpPr>
              <p:cNvPr id="8205" name="Text Box 12"/>
              <p:cNvSpPr txBox="1">
                <a:spLocks noChangeArrowheads="1"/>
              </p:cNvSpPr>
              <p:nvPr/>
            </p:nvSpPr>
            <p:spPr bwMode="auto">
              <a:xfrm>
                <a:off x="2050" y="2063"/>
                <a:ext cx="20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i="0">
                    <a:latin typeface="Times New Roman" pitchFamily="18" charset="0"/>
                  </a:rPr>
                  <a:t>m</a:t>
                </a:r>
              </a:p>
            </p:txBody>
          </p:sp>
          <p:sp>
            <p:nvSpPr>
              <p:cNvPr id="8206" name="Text Box 13"/>
              <p:cNvSpPr txBox="1">
                <a:spLocks noChangeArrowheads="1"/>
              </p:cNvSpPr>
              <p:nvPr/>
            </p:nvSpPr>
            <p:spPr bwMode="auto">
              <a:xfrm>
                <a:off x="1540" y="2735"/>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i="0">
                    <a:latin typeface="Times New Roman" pitchFamily="18" charset="0"/>
                  </a:rPr>
                  <a:t>n</a:t>
                </a:r>
              </a:p>
            </p:txBody>
          </p:sp>
          <p:sp>
            <p:nvSpPr>
              <p:cNvPr id="8207" name="Text Box 14"/>
              <p:cNvSpPr txBox="1">
                <a:spLocks noChangeArrowheads="1"/>
              </p:cNvSpPr>
              <p:nvPr/>
            </p:nvSpPr>
            <p:spPr bwMode="auto">
              <a:xfrm>
                <a:off x="2502" y="2735"/>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i="0">
                    <a:latin typeface="Times New Roman" pitchFamily="18" charset="0"/>
                  </a:rPr>
                  <a:t>n</a:t>
                </a:r>
              </a:p>
            </p:txBody>
          </p:sp>
          <p:cxnSp>
            <p:nvCxnSpPr>
              <p:cNvPr id="8208" name="AutoShape 15"/>
              <p:cNvCxnSpPr>
                <a:cxnSpLocks noChangeShapeType="1"/>
                <a:stCxn id="8199" idx="2"/>
                <a:endCxn id="8202" idx="0"/>
              </p:cNvCxnSpPr>
              <p:nvPr/>
            </p:nvCxnSpPr>
            <p:spPr bwMode="auto">
              <a:xfrm>
                <a:off x="2064" y="2016"/>
                <a:ext cx="0"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8198" name="Text Box 16"/>
            <p:cNvSpPr txBox="1">
              <a:spLocks noChangeArrowheads="1"/>
            </p:cNvSpPr>
            <p:nvPr/>
          </p:nvSpPr>
          <p:spPr bwMode="auto">
            <a:xfrm>
              <a:off x="432" y="3360"/>
              <a:ext cx="22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000" b="1" i="0">
                  <a:latin typeface="Times New Roman" pitchFamily="18" charset="0"/>
                </a:rPr>
                <a:t>三个实体型之间的多对多关系</a:t>
              </a:r>
            </a:p>
          </p:txBody>
        </p:sp>
      </p:grpSp>
      <p:sp>
        <p:nvSpPr>
          <p:cNvPr id="17" name="矩形 16"/>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8"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9"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9"/>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Rectangle 2"/>
          <p:cNvSpPr>
            <a:spLocks noGrp="1" noChangeArrowheads="1"/>
          </p:cNvSpPr>
          <p:nvPr>
            <p:ph type="title"/>
          </p:nvPr>
        </p:nvSpPr>
        <p:spPr bwMode="auto">
          <a:xfrm>
            <a:off x="476142" y="1009974"/>
            <a:ext cx="4452319"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eaLnBrk="1" hangingPunct="1">
              <a:lnSpc>
                <a:spcPct val="105000"/>
              </a:lnSpc>
              <a:buFont typeface="Wingdings" panose="05000000000000000000" pitchFamily="2" charset="2"/>
              <a:buChar char="Ø"/>
            </a:pPr>
            <a:r>
              <a:rPr lang="zh-CN" altLang="en-US" sz="2800" b="1" dirty="0">
                <a:solidFill>
                  <a:srgbClr val="FF3300"/>
                </a:solidFill>
                <a:latin typeface="楷体_GB2312" pitchFamily="49" charset="-122"/>
                <a:ea typeface="楷体_GB2312" pitchFamily="49" charset="-122"/>
                <a:cs typeface="+mn-cs"/>
              </a:rPr>
              <a:t>基本概念</a:t>
            </a:r>
          </a:p>
        </p:txBody>
      </p:sp>
    </p:spTree>
    <p:extLst>
      <p:ext uri="{BB962C8B-B14F-4D97-AF65-F5344CB8AC3E}">
        <p14:creationId xmlns:p14="http://schemas.microsoft.com/office/powerpoint/2010/main" val="31295732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body" idx="1"/>
          </p:nvPr>
        </p:nvSpPr>
        <p:spPr bwMode="auto">
          <a:xfrm>
            <a:off x="884659" y="1889421"/>
            <a:ext cx="10972800" cy="2488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80000"/>
              </a:lnSpc>
              <a:buFontTx/>
              <a:buNone/>
            </a:pPr>
            <a:r>
              <a:rPr lang="zh-CN" altLang="en-US" sz="2800" b="1" dirty="0">
                <a:solidFill>
                  <a:srgbClr val="FF3300"/>
                </a:solidFill>
                <a:latin typeface="楷体_GB2312" pitchFamily="49" charset="-122"/>
                <a:ea typeface="楷体_GB2312" pitchFamily="49" charset="-122"/>
              </a:rPr>
              <a:t>（</a:t>
            </a:r>
            <a:r>
              <a:rPr lang="en-US" altLang="zh-CN" sz="2800" b="1" dirty="0">
                <a:solidFill>
                  <a:srgbClr val="FF3300"/>
                </a:solidFill>
                <a:latin typeface="楷体_GB2312" pitchFamily="49" charset="-122"/>
                <a:ea typeface="楷体_GB2312" pitchFamily="49" charset="-122"/>
              </a:rPr>
              <a:t>8</a:t>
            </a:r>
            <a:r>
              <a:rPr lang="zh-CN" altLang="en-US" sz="2800" b="1" dirty="0">
                <a:solidFill>
                  <a:srgbClr val="FF3300"/>
                </a:solidFill>
                <a:latin typeface="楷体_GB2312" pitchFamily="49" charset="-122"/>
                <a:ea typeface="楷体_GB2312" pitchFamily="49" charset="-122"/>
              </a:rPr>
              <a:t>）弱实体集：</a:t>
            </a:r>
          </a:p>
          <a:p>
            <a:pPr eaLnBrk="1" hangingPunct="1">
              <a:lnSpc>
                <a:spcPct val="80000"/>
              </a:lnSpc>
              <a:buFontTx/>
              <a:buNone/>
            </a:pPr>
            <a:r>
              <a:rPr lang="zh-CN" altLang="en-US" sz="2800" b="1" dirty="0">
                <a:latin typeface="楷体_GB2312" pitchFamily="49" charset="-122"/>
                <a:ea typeface="楷体_GB2312" pitchFamily="49" charset="-122"/>
              </a:rPr>
              <a:t>    在描述实体的过程中，有些实体集的属性可能不足以形成主码，需要依赖其他实体集中的部分属性。这样的实体集叫做弱实体集，不需要依赖其他的实体的实体集称为强实体集。</a:t>
            </a:r>
          </a:p>
          <a:p>
            <a:pPr eaLnBrk="1" hangingPunct="1">
              <a:lnSpc>
                <a:spcPct val="80000"/>
              </a:lnSpc>
              <a:buFontTx/>
              <a:buNone/>
            </a:pPr>
            <a:r>
              <a:rPr lang="zh-CN" altLang="en-US" sz="2800" b="1" dirty="0">
                <a:latin typeface="楷体_GB2312" pitchFamily="49" charset="-122"/>
                <a:ea typeface="楷体_GB2312" pitchFamily="49" charset="-122"/>
              </a:rPr>
              <a:t>    </a:t>
            </a:r>
            <a:r>
              <a:rPr lang="zh-CN" altLang="en-US" sz="2400" b="1" dirty="0">
                <a:solidFill>
                  <a:srgbClr val="0000FF"/>
                </a:solidFill>
                <a:latin typeface="楷体_GB2312" pitchFamily="49" charset="-122"/>
                <a:ea typeface="楷体_GB2312" pitchFamily="49" charset="-122"/>
              </a:rPr>
              <a:t>例如一个单位的员工实体集</a:t>
            </a:r>
            <a:r>
              <a:rPr lang="en-US" altLang="zh-CN" sz="2400" b="1" dirty="0">
                <a:solidFill>
                  <a:srgbClr val="0000FF"/>
                </a:solidFill>
                <a:latin typeface="楷体_GB2312" pitchFamily="49" charset="-122"/>
                <a:ea typeface="楷体_GB2312" pitchFamily="49" charset="-122"/>
              </a:rPr>
              <a:t>Employee</a:t>
            </a:r>
            <a:r>
              <a:rPr lang="zh-CN" altLang="en-US" sz="2400" b="1" dirty="0">
                <a:solidFill>
                  <a:srgbClr val="0000FF"/>
                </a:solidFill>
                <a:latin typeface="楷体_GB2312" pitchFamily="49" charset="-122"/>
                <a:ea typeface="楷体_GB2312" pitchFamily="49" charset="-122"/>
              </a:rPr>
              <a:t>与工作履历实体集</a:t>
            </a:r>
            <a:r>
              <a:rPr lang="en-US" altLang="zh-CN" sz="2400" b="1" dirty="0">
                <a:solidFill>
                  <a:srgbClr val="0000FF"/>
                </a:solidFill>
                <a:latin typeface="楷体_GB2312" pitchFamily="49" charset="-122"/>
                <a:ea typeface="楷体_GB2312" pitchFamily="49" charset="-122"/>
              </a:rPr>
              <a:t>Career</a:t>
            </a:r>
            <a:r>
              <a:rPr lang="zh-CN" altLang="en-US" sz="2400" b="1" dirty="0">
                <a:solidFill>
                  <a:srgbClr val="0000FF"/>
                </a:solidFill>
                <a:latin typeface="楷体_GB2312" pitchFamily="49" charset="-122"/>
                <a:ea typeface="楷体_GB2312" pitchFamily="49" charset="-122"/>
              </a:rPr>
              <a:t>，则工作履历实体集</a:t>
            </a:r>
            <a:r>
              <a:rPr lang="en-US" altLang="zh-CN" sz="2400" b="1" dirty="0">
                <a:solidFill>
                  <a:srgbClr val="0000FF"/>
                </a:solidFill>
                <a:latin typeface="楷体_GB2312" pitchFamily="49" charset="-122"/>
                <a:ea typeface="楷体_GB2312" pitchFamily="49" charset="-122"/>
              </a:rPr>
              <a:t>Career</a:t>
            </a:r>
            <a:r>
              <a:rPr lang="zh-CN" altLang="en-US" sz="2400" b="1" dirty="0">
                <a:solidFill>
                  <a:srgbClr val="0000FF"/>
                </a:solidFill>
                <a:latin typeface="楷体_GB2312" pitchFamily="49" charset="-122"/>
                <a:ea typeface="楷体_GB2312" pitchFamily="49" charset="-122"/>
              </a:rPr>
              <a:t>是以职工存在为前提的，即工作履历实体集</a:t>
            </a:r>
            <a:r>
              <a:rPr lang="en-US" altLang="zh-CN" sz="2400" b="1" dirty="0">
                <a:solidFill>
                  <a:srgbClr val="0000FF"/>
                </a:solidFill>
                <a:latin typeface="楷体_GB2312" pitchFamily="49" charset="-122"/>
                <a:ea typeface="楷体_GB2312" pitchFamily="49" charset="-122"/>
              </a:rPr>
              <a:t>Career</a:t>
            </a:r>
            <a:r>
              <a:rPr lang="zh-CN" altLang="en-US" sz="2400" b="1" dirty="0">
                <a:solidFill>
                  <a:srgbClr val="0000FF"/>
                </a:solidFill>
                <a:latin typeface="楷体_GB2312" pitchFamily="49" charset="-122"/>
                <a:ea typeface="楷体_GB2312" pitchFamily="49" charset="-122"/>
              </a:rPr>
              <a:t>是弱实体集。  </a:t>
            </a:r>
          </a:p>
        </p:txBody>
      </p:sp>
      <p:sp>
        <p:nvSpPr>
          <p:cNvPr id="5" name="矩形 4"/>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2"/>
          <p:cNvSpPr>
            <a:spLocks noGrp="1" noChangeArrowheads="1"/>
          </p:cNvSpPr>
          <p:nvPr>
            <p:ph type="title"/>
          </p:nvPr>
        </p:nvSpPr>
        <p:spPr bwMode="auto">
          <a:xfrm>
            <a:off x="476142" y="1009974"/>
            <a:ext cx="4452319"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eaLnBrk="1" hangingPunct="1">
              <a:lnSpc>
                <a:spcPct val="105000"/>
              </a:lnSpc>
              <a:buFont typeface="Wingdings" panose="05000000000000000000" pitchFamily="2" charset="2"/>
              <a:buChar char="Ø"/>
            </a:pPr>
            <a:r>
              <a:rPr lang="zh-CN" altLang="en-US" sz="2800" b="1" dirty="0">
                <a:solidFill>
                  <a:srgbClr val="FF3300"/>
                </a:solidFill>
                <a:latin typeface="楷体_GB2312" pitchFamily="49" charset="-122"/>
                <a:ea typeface="楷体_GB2312" pitchFamily="49" charset="-122"/>
                <a:cs typeface="+mn-cs"/>
              </a:rPr>
              <a:t>基本概念</a:t>
            </a:r>
          </a:p>
        </p:txBody>
      </p:sp>
      <p:sp>
        <p:nvSpPr>
          <p:cNvPr id="17" name="Rectangle 17"/>
          <p:cNvSpPr>
            <a:spLocks noChangeArrowheads="1"/>
          </p:cNvSpPr>
          <p:nvPr/>
        </p:nvSpPr>
        <p:spPr bwMode="auto">
          <a:xfrm>
            <a:off x="2765207" y="5057613"/>
            <a:ext cx="84638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员工</a:t>
            </a:r>
          </a:p>
        </p:txBody>
      </p:sp>
      <p:sp>
        <p:nvSpPr>
          <p:cNvPr id="18" name="Rectangle 17"/>
          <p:cNvSpPr>
            <a:spLocks noChangeArrowheads="1"/>
          </p:cNvSpPr>
          <p:nvPr/>
        </p:nvSpPr>
        <p:spPr bwMode="auto">
          <a:xfrm>
            <a:off x="6776681" y="5057613"/>
            <a:ext cx="1390922" cy="533400"/>
          </a:xfrm>
          <a:prstGeom prst="rect">
            <a:avLst/>
          </a:prstGeom>
          <a:noFill/>
          <a:ln w="12700">
            <a:solidFill>
              <a:schemeClr val="tx1"/>
            </a:solidFill>
            <a:prstDash val="sys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工作履历</a:t>
            </a:r>
          </a:p>
        </p:txBody>
      </p:sp>
      <p:sp>
        <p:nvSpPr>
          <p:cNvPr id="2" name="流程图: 决策 1"/>
          <p:cNvSpPr/>
          <p:nvPr/>
        </p:nvSpPr>
        <p:spPr>
          <a:xfrm>
            <a:off x="4533254" y="5057613"/>
            <a:ext cx="1332854" cy="526943"/>
          </a:xfrm>
          <a:prstGeom prst="flowChartDecision">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有</a:t>
            </a:r>
          </a:p>
        </p:txBody>
      </p:sp>
      <p:cxnSp>
        <p:nvCxnSpPr>
          <p:cNvPr id="4" name="直接连接符 3"/>
          <p:cNvCxnSpPr>
            <a:stCxn id="17" idx="3"/>
            <a:endCxn id="2" idx="1"/>
          </p:cNvCxnSpPr>
          <p:nvPr/>
        </p:nvCxnSpPr>
        <p:spPr>
          <a:xfrm flipV="1">
            <a:off x="3611587" y="5321085"/>
            <a:ext cx="921667" cy="3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5866108" y="5317857"/>
            <a:ext cx="921667" cy="3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804834" y="4990454"/>
            <a:ext cx="2843939" cy="369332"/>
          </a:xfrm>
          <a:prstGeom prst="rect">
            <a:avLst/>
          </a:prstGeom>
          <a:noFill/>
        </p:spPr>
        <p:txBody>
          <a:bodyPr wrap="square" rtlCol="0">
            <a:spAutoFit/>
          </a:bodyPr>
          <a:lstStyle/>
          <a:p>
            <a:r>
              <a:rPr lang="en-US" altLang="zh-CN" dirty="0"/>
              <a:t>1                                  m</a:t>
            </a:r>
            <a:endParaRPr lang="zh-CN" altLang="en-US" dirty="0"/>
          </a:p>
        </p:txBody>
      </p:sp>
    </p:spTree>
    <p:extLst>
      <p:ext uri="{BB962C8B-B14F-4D97-AF65-F5344CB8AC3E}">
        <p14:creationId xmlns:p14="http://schemas.microsoft.com/office/powerpoint/2010/main" val="16032060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4610">
                                            <p:txEl>
                                              <p:pRg st="2" end="2"/>
                                            </p:txEl>
                                          </p:spTgt>
                                        </p:tgtEl>
                                        <p:attrNameLst>
                                          <p:attrName>style.visibility</p:attrName>
                                        </p:attrNameLst>
                                      </p:cBhvr>
                                      <p:to>
                                        <p:strVal val="visible"/>
                                      </p:to>
                                    </p:set>
                                    <p:animEffect transition="in" filter="blinds(horizontal)">
                                      <p:cBhvr>
                                        <p:cTn id="7" dur="500"/>
                                        <p:tgtEl>
                                          <p:spTgt spid="3246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569993" y="1056468"/>
            <a:ext cx="2909376"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eaLnBrk="1" hangingPunct="1">
              <a:lnSpc>
                <a:spcPct val="105000"/>
              </a:lnSpc>
              <a:buFont typeface="Wingdings" panose="05000000000000000000" pitchFamily="2" charset="2"/>
              <a:buChar char="Ø"/>
            </a:pPr>
            <a:r>
              <a:rPr lang="en-US" altLang="zh-CN" sz="2800" b="1" dirty="0">
                <a:solidFill>
                  <a:srgbClr val="FF3300"/>
                </a:solidFill>
                <a:latin typeface="楷体_GB2312" pitchFamily="49" charset="-122"/>
                <a:ea typeface="楷体_GB2312" pitchFamily="49" charset="-122"/>
                <a:cs typeface="+mn-cs"/>
              </a:rPr>
              <a:t>E-R</a:t>
            </a:r>
            <a:r>
              <a:rPr lang="zh-CN" altLang="en-US" sz="2800" b="1" dirty="0">
                <a:solidFill>
                  <a:srgbClr val="FF3300"/>
                </a:solidFill>
                <a:latin typeface="楷体_GB2312" pitchFamily="49" charset="-122"/>
                <a:ea typeface="楷体_GB2312" pitchFamily="49" charset="-122"/>
                <a:cs typeface="+mn-cs"/>
              </a:rPr>
              <a:t>图设计</a:t>
            </a:r>
          </a:p>
        </p:txBody>
      </p:sp>
      <p:sp>
        <p:nvSpPr>
          <p:cNvPr id="227331" name="Rectangle 3"/>
          <p:cNvSpPr>
            <a:spLocks noGrp="1" noChangeArrowheads="1"/>
          </p:cNvSpPr>
          <p:nvPr>
            <p:ph type="body" idx="1"/>
          </p:nvPr>
        </p:nvSpPr>
        <p:spPr bwMode="auto">
          <a:xfrm>
            <a:off x="572434" y="1595694"/>
            <a:ext cx="7021772" cy="1202510"/>
          </a:xfrm>
          <a:noFill/>
          <a:ln w="9525">
            <a:noFill/>
            <a:round/>
            <a:headEnd/>
            <a:tailEnd/>
          </a:ln>
          <a:effectLst/>
        </p:spPr>
        <p:txBody>
          <a:bodyPr wrap="none" lIns="90000" tIns="46800" rIns="90000" bIns="46800" anchor="ctr">
            <a:spAutoFit/>
          </a:bodyPr>
          <a:lstStyle/>
          <a:p>
            <a:pPr marL="457200" lvl="1">
              <a:lnSpc>
                <a:spcPct val="150000"/>
              </a:lnSpc>
              <a:spcBef>
                <a:spcPct val="0"/>
              </a:spcBef>
            </a:pPr>
            <a:r>
              <a:rPr lang="zh-CN" altLang="en-US" dirty="0">
                <a:latin typeface="Arial" panose="020B0604020202020204" pitchFamily="34" charset="0"/>
                <a:ea typeface="宋体" panose="02010600030101010101" pitchFamily="2" charset="-122"/>
              </a:rPr>
              <a:t>用</a:t>
            </a:r>
            <a:r>
              <a:rPr lang="en-US" altLang="zh-CN" dirty="0">
                <a:latin typeface="Arial" panose="020B0604020202020204" pitchFamily="34" charset="0"/>
                <a:ea typeface="宋体" panose="02010600030101010101" pitchFamily="2" charset="-122"/>
              </a:rPr>
              <a:t>E-R</a:t>
            </a:r>
            <a:r>
              <a:rPr lang="zh-CN" altLang="en-US" dirty="0">
                <a:latin typeface="Arial" panose="020B0604020202020204" pitchFamily="34" charset="0"/>
                <a:ea typeface="宋体" panose="02010600030101010101" pitchFamily="2" charset="-122"/>
              </a:rPr>
              <a:t>图来描述现实世界的概念模型。</a:t>
            </a:r>
          </a:p>
          <a:p>
            <a:pPr marL="457200" lvl="1">
              <a:lnSpc>
                <a:spcPct val="150000"/>
              </a:lnSpc>
              <a:spcBef>
                <a:spcPct val="0"/>
              </a:spcBef>
            </a:pPr>
            <a:r>
              <a:rPr lang="en-US" altLang="zh-CN" dirty="0">
                <a:latin typeface="Arial" panose="020B0604020202020204" pitchFamily="34" charset="0"/>
                <a:ea typeface="宋体" panose="02010600030101010101" pitchFamily="2" charset="-122"/>
              </a:rPr>
              <a:t>E-R</a:t>
            </a:r>
            <a:r>
              <a:rPr lang="zh-CN" altLang="en-US" dirty="0">
                <a:latin typeface="Arial" panose="020B0604020202020204" pitchFamily="34" charset="0"/>
                <a:ea typeface="宋体" panose="02010600030101010101" pitchFamily="2" charset="-122"/>
              </a:rPr>
              <a:t>图提供了表示实体集、属性和联系的方法。</a:t>
            </a:r>
          </a:p>
        </p:txBody>
      </p:sp>
      <p:grpSp>
        <p:nvGrpSpPr>
          <p:cNvPr id="2" name="Group 4"/>
          <p:cNvGrpSpPr>
            <a:grpSpLocks/>
          </p:cNvGrpSpPr>
          <p:nvPr/>
        </p:nvGrpSpPr>
        <p:grpSpPr bwMode="auto">
          <a:xfrm>
            <a:off x="1295401" y="2792020"/>
            <a:ext cx="4220381" cy="428625"/>
            <a:chOff x="486" y="2688"/>
            <a:chExt cx="2078" cy="270"/>
          </a:xfrm>
        </p:grpSpPr>
        <p:sp>
          <p:nvSpPr>
            <p:cNvPr id="227333" name="Rectangle 5"/>
            <p:cNvSpPr>
              <a:spLocks noChangeArrowheads="1"/>
            </p:cNvSpPr>
            <p:nvPr/>
          </p:nvSpPr>
          <p:spPr bwMode="auto">
            <a:xfrm>
              <a:off x="486" y="2705"/>
              <a:ext cx="471" cy="253"/>
            </a:xfrm>
            <a:prstGeom prst="rect">
              <a:avLst/>
            </a:prstGeom>
            <a:noFill/>
            <a:ln w="9525">
              <a:solidFill>
                <a:schemeClr val="tx1"/>
              </a:solidFill>
              <a:round/>
              <a:headEnd/>
              <a:tailEnd/>
            </a:ln>
            <a:effectLst/>
          </p:spPr>
          <p:txBody>
            <a:bodyPr wrap="none" lIns="90000" tIns="46800" rIns="90000" bIns="46800" anchor="ctr">
              <a:spAutoFit/>
            </a:bodyPr>
            <a:lstStyle/>
            <a:p>
              <a:pPr algn="ctr">
                <a:spcBef>
                  <a:spcPct val="30000"/>
                </a:spcBef>
              </a:pPr>
              <a:r>
                <a:rPr kumimoji="1" lang="zh-CN" altLang="en-US" sz="2000" b="1" dirty="0">
                  <a:latin typeface="Times New Roman" pitchFamily="18" charset="0"/>
                </a:rPr>
                <a:t>实体名</a:t>
              </a:r>
            </a:p>
          </p:txBody>
        </p:sp>
        <p:sp>
          <p:nvSpPr>
            <p:cNvPr id="10273" name="Text Box 6"/>
            <p:cNvSpPr txBox="1">
              <a:spLocks noChangeArrowheads="1"/>
            </p:cNvSpPr>
            <p:nvPr/>
          </p:nvSpPr>
          <p:spPr bwMode="auto">
            <a:xfrm>
              <a:off x="1584" y="2688"/>
              <a:ext cx="980" cy="252"/>
            </a:xfrm>
            <a:prstGeom prst="rect">
              <a:avLst/>
            </a:prstGeom>
            <a:noFill/>
            <a:ln w="9525">
              <a:noFill/>
              <a:round/>
              <a:headEnd/>
              <a:tailEnd/>
            </a:ln>
            <a:effectLst/>
          </p:spPr>
          <p:txBody>
            <a:bodyPr wrap="none" lIns="90000" tIns="46800" rIns="90000" bIns="46800" anchor="ctr">
              <a:spAutoFit/>
            </a:bodyPr>
            <a:lstStyle>
              <a:defPPr>
                <a:defRPr lang="zh-CN"/>
              </a:defPPr>
              <a:lvl1pPr algn="ctr">
                <a:spcBef>
                  <a:spcPct val="30000"/>
                </a:spcBef>
                <a:defRPr kumimoji="1" sz="2000" b="1" i="0">
                  <a:solidFill>
                    <a:schemeClr val="bg1"/>
                  </a:solidFill>
                  <a:effectLst>
                    <a:outerShdw blurRad="38100" dist="38100" dir="2700000" algn="tl">
                      <a:srgbClr val="000000"/>
                    </a:outerShdw>
                  </a:effectLst>
                  <a:latin typeface="Times New Roman" pitchFamily="18" charset="0"/>
                </a:defRPr>
              </a:lvl1pPr>
            </a:lstStyle>
            <a:p>
              <a:pPr algn="l">
                <a:spcBef>
                  <a:spcPct val="0"/>
                </a:spcBef>
              </a:pPr>
              <a:r>
                <a:rPr lang="zh-CN" altLang="en-US" dirty="0">
                  <a:solidFill>
                    <a:schemeClr val="tx1"/>
                  </a:solidFill>
                  <a:effectLst/>
                </a:rPr>
                <a:t>矩形框表示实体</a:t>
              </a:r>
            </a:p>
          </p:txBody>
        </p:sp>
      </p:grpSp>
      <p:sp>
        <p:nvSpPr>
          <p:cNvPr id="227336" name="Oval 8"/>
          <p:cNvSpPr>
            <a:spLocks noChangeArrowheads="1"/>
          </p:cNvSpPr>
          <p:nvPr/>
        </p:nvSpPr>
        <p:spPr bwMode="auto">
          <a:xfrm>
            <a:off x="1221692" y="3901552"/>
            <a:ext cx="1360803" cy="565150"/>
          </a:xfrm>
          <a:prstGeom prst="ellipse">
            <a:avLst/>
          </a:prstGeom>
          <a:noFill/>
          <a:ln w="9525">
            <a:solidFill>
              <a:schemeClr val="tx1"/>
            </a:solidFill>
            <a:round/>
            <a:headEnd/>
            <a:tailEnd/>
          </a:ln>
          <a:effectLst/>
        </p:spPr>
        <p:txBody>
          <a:bodyPr wrap="none" lIns="90000" tIns="46800" rIns="90000" bIns="46800" anchor="ctr">
            <a:spAutoFit/>
          </a:bodyPr>
          <a:lstStyle/>
          <a:p>
            <a:pPr algn="ctr">
              <a:spcBef>
                <a:spcPct val="30000"/>
              </a:spcBef>
              <a:defRPr/>
            </a:pPr>
            <a:r>
              <a:rPr kumimoji="1" lang="zh-CN" altLang="en-US" sz="2000" b="1" i="0" dirty="0">
                <a:latin typeface="Times New Roman" pitchFamily="18" charset="0"/>
              </a:rPr>
              <a:t>属性名</a:t>
            </a:r>
          </a:p>
        </p:txBody>
      </p:sp>
      <p:sp>
        <p:nvSpPr>
          <p:cNvPr id="10271" name="Text Box 9"/>
          <p:cNvSpPr txBox="1">
            <a:spLocks noChangeArrowheads="1"/>
          </p:cNvSpPr>
          <p:nvPr/>
        </p:nvSpPr>
        <p:spPr bwMode="auto">
          <a:xfrm>
            <a:off x="2981177" y="3894161"/>
            <a:ext cx="44273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000" b="1" i="0" dirty="0">
                <a:latin typeface="Times New Roman" pitchFamily="18" charset="0"/>
              </a:rPr>
              <a:t>椭圆形表示属性，键值属性加下划线 </a:t>
            </a:r>
          </a:p>
        </p:txBody>
      </p:sp>
      <p:sp>
        <p:nvSpPr>
          <p:cNvPr id="10266" name="Text Box 11"/>
          <p:cNvSpPr txBox="1">
            <a:spLocks noChangeArrowheads="1"/>
          </p:cNvSpPr>
          <p:nvPr/>
        </p:nvSpPr>
        <p:spPr bwMode="auto">
          <a:xfrm>
            <a:off x="2981177" y="4884207"/>
            <a:ext cx="263109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000" b="1" i="0" dirty="0">
                <a:latin typeface="Times New Roman" pitchFamily="18" charset="0"/>
              </a:rPr>
              <a:t>菱形表示联系</a:t>
            </a:r>
          </a:p>
        </p:txBody>
      </p:sp>
      <p:grpSp>
        <p:nvGrpSpPr>
          <p:cNvPr id="10267" name="Group 12"/>
          <p:cNvGrpSpPr>
            <a:grpSpLocks/>
          </p:cNvGrpSpPr>
          <p:nvPr/>
        </p:nvGrpSpPr>
        <p:grpSpPr bwMode="auto">
          <a:xfrm>
            <a:off x="1289595" y="4827859"/>
            <a:ext cx="1354122" cy="601662"/>
            <a:chOff x="5093" y="2516"/>
            <a:chExt cx="667" cy="503"/>
          </a:xfrm>
        </p:grpSpPr>
        <p:sp>
          <p:nvSpPr>
            <p:cNvPr id="227341" name="AutoShape 13"/>
            <p:cNvSpPr>
              <a:spLocks noChangeArrowheads="1"/>
            </p:cNvSpPr>
            <p:nvPr/>
          </p:nvSpPr>
          <p:spPr bwMode="auto">
            <a:xfrm>
              <a:off x="5093" y="2516"/>
              <a:ext cx="667" cy="503"/>
            </a:xfrm>
            <a:prstGeom prst="flowChartDecision">
              <a:avLst/>
            </a:prstGeom>
            <a:noFill/>
            <a:ln w="9525">
              <a:solidFill>
                <a:schemeClr val="tx1"/>
              </a:solidFill>
              <a:miter lim="800000"/>
              <a:headEnd/>
              <a:tailEnd/>
            </a:ln>
            <a:effectLst/>
          </p:spPr>
          <p:txBody>
            <a:bodyPr lIns="90000" tIns="46800" rIns="90000" bIns="46800" anchor="ctr">
              <a:spAutoFit/>
            </a:bodyPr>
            <a:lstStyle/>
            <a:p>
              <a:pPr algn="ctr">
                <a:spcBef>
                  <a:spcPct val="30000"/>
                </a:spcBef>
                <a:defRPr/>
              </a:pPr>
              <a:endParaRPr kumimoji="1" lang="zh-CN" altLang="zh-CN" sz="2000" b="1" i="0">
                <a:solidFill>
                  <a:schemeClr val="bg1"/>
                </a:solidFill>
                <a:effectLst>
                  <a:outerShdw blurRad="38100" dist="38100" dir="2700000" algn="tl">
                    <a:srgbClr val="000000"/>
                  </a:outerShdw>
                </a:effectLst>
                <a:latin typeface="Times New Roman" pitchFamily="18" charset="0"/>
              </a:endParaRPr>
            </a:p>
          </p:txBody>
        </p:sp>
        <p:sp>
          <p:nvSpPr>
            <p:cNvPr id="227342" name="Rectangle 14"/>
            <p:cNvSpPr>
              <a:spLocks noChangeArrowheads="1"/>
            </p:cNvSpPr>
            <p:nvPr/>
          </p:nvSpPr>
          <p:spPr bwMode="auto">
            <a:xfrm>
              <a:off x="5161" y="2640"/>
              <a:ext cx="472" cy="252"/>
            </a:xfrm>
            <a:prstGeom prst="rect">
              <a:avLst/>
            </a:prstGeom>
            <a:noFill/>
            <a:ln w="9525">
              <a:noFill/>
              <a:round/>
              <a:headEnd/>
              <a:tailEnd/>
            </a:ln>
            <a:effectLst/>
          </p:spPr>
          <p:txBody>
            <a:bodyPr wrap="none" lIns="90000" tIns="46800" rIns="90000" bIns="46800" anchor="ctr">
              <a:spAutoFit/>
            </a:bodyPr>
            <a:lstStyle/>
            <a:p>
              <a:pPr algn="ctr">
                <a:spcBef>
                  <a:spcPct val="30000"/>
                </a:spcBef>
              </a:pPr>
              <a:r>
                <a:rPr kumimoji="1" lang="zh-CN" altLang="en-US" sz="2000" b="1" dirty="0">
                  <a:latin typeface="Times New Roman" pitchFamily="18" charset="0"/>
                </a:rPr>
                <a:t>联系名</a:t>
              </a:r>
            </a:p>
          </p:txBody>
        </p:sp>
      </p:grpSp>
      <p:sp>
        <p:nvSpPr>
          <p:cNvPr id="10264" name="Line 16"/>
          <p:cNvSpPr>
            <a:spLocks noChangeShapeType="1"/>
          </p:cNvSpPr>
          <p:nvPr/>
        </p:nvSpPr>
        <p:spPr bwMode="auto">
          <a:xfrm flipH="1">
            <a:off x="1241471" y="5804908"/>
            <a:ext cx="146198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265" name="Text Box 17"/>
          <p:cNvSpPr txBox="1">
            <a:spLocks noChangeArrowheads="1"/>
          </p:cNvSpPr>
          <p:nvPr/>
        </p:nvSpPr>
        <p:spPr bwMode="auto">
          <a:xfrm>
            <a:off x="2981177" y="5450896"/>
            <a:ext cx="59406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lnSpc>
                <a:spcPct val="90000"/>
              </a:lnSpc>
              <a:spcBef>
                <a:spcPct val="20000"/>
              </a:spcBef>
            </a:pPr>
            <a:r>
              <a:rPr kumimoji="1" lang="zh-CN" altLang="en-US" sz="2000" b="1" i="0" dirty="0">
                <a:latin typeface="Times New Roman" pitchFamily="18" charset="0"/>
              </a:rPr>
              <a:t>连接实体型与联系类型，也可用于表示实体与属性的联系并注明种类</a:t>
            </a:r>
            <a:r>
              <a:rPr kumimoji="1" lang="zh-CN" altLang="en-US" sz="2000" b="1" i="0" dirty="0">
                <a:solidFill>
                  <a:schemeClr val="bg1"/>
                </a:solidFill>
                <a:latin typeface="Times New Roman" pitchFamily="18" charset="0"/>
              </a:rPr>
              <a:t>。</a:t>
            </a:r>
          </a:p>
        </p:txBody>
      </p:sp>
      <p:grpSp>
        <p:nvGrpSpPr>
          <p:cNvPr id="7" name="Group 18"/>
          <p:cNvGrpSpPr>
            <a:grpSpLocks/>
          </p:cNvGrpSpPr>
          <p:nvPr/>
        </p:nvGrpSpPr>
        <p:grpSpPr bwMode="auto">
          <a:xfrm>
            <a:off x="7489673" y="2482106"/>
            <a:ext cx="4070351" cy="3762383"/>
            <a:chOff x="3408" y="2036"/>
            <a:chExt cx="1872" cy="2370"/>
          </a:xfrm>
        </p:grpSpPr>
        <p:sp>
          <p:nvSpPr>
            <p:cNvPr id="227347" name="Text Box 19"/>
            <p:cNvSpPr txBox="1">
              <a:spLocks noChangeArrowheads="1"/>
            </p:cNvSpPr>
            <p:nvPr/>
          </p:nvSpPr>
          <p:spPr bwMode="auto">
            <a:xfrm>
              <a:off x="4848" y="3264"/>
              <a:ext cx="149" cy="253"/>
            </a:xfrm>
            <a:prstGeom prst="rect">
              <a:avLst/>
            </a:prstGeom>
            <a:noFill/>
            <a:ln>
              <a:noFill/>
            </a:ln>
            <a:effectLst/>
          </p:spPr>
          <p:txBody>
            <a:bodyPr wrap="none" lIns="90000" tIns="46800" rIns="90000" bIns="46800">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spcBef>
                  <a:spcPct val="30000"/>
                </a:spcBef>
                <a:defRPr/>
              </a:pPr>
              <a:r>
                <a:rPr kumimoji="1" lang="en-US" altLang="zh-CN" sz="2000" b="1" i="0" dirty="0">
                  <a:latin typeface="Times New Roman" pitchFamily="18" charset="0"/>
                </a:rPr>
                <a:t>n</a:t>
              </a:r>
            </a:p>
          </p:txBody>
        </p:sp>
        <p:sp>
          <p:nvSpPr>
            <p:cNvPr id="227348" name="Rectangle 20"/>
            <p:cNvSpPr>
              <a:spLocks noChangeArrowheads="1"/>
            </p:cNvSpPr>
            <p:nvPr/>
          </p:nvSpPr>
          <p:spPr bwMode="auto">
            <a:xfrm>
              <a:off x="4464" y="3529"/>
              <a:ext cx="675" cy="256"/>
            </a:xfrm>
            <a:prstGeom prst="rect">
              <a:avLst/>
            </a:prstGeom>
            <a:noFill/>
            <a:ln w="9525">
              <a:solidFill>
                <a:schemeClr val="tx1"/>
              </a:solidFill>
              <a:miter lim="800000"/>
              <a:headEnd/>
              <a:tailEnd/>
            </a:ln>
            <a:effectLst/>
          </p:spPr>
          <p:txBody>
            <a:bodyPr lIns="90000" tIns="46800" rIns="90000" bIns="46800" anchor="ctr">
              <a:spAutoFit/>
            </a:bodyPr>
            <a:lstStyle/>
            <a:p>
              <a:pPr algn="ctr">
                <a:spcBef>
                  <a:spcPct val="30000"/>
                </a:spcBef>
                <a:defRPr/>
              </a:pPr>
              <a:r>
                <a:rPr kumimoji="1" lang="zh-CN" altLang="en-US" sz="2000" b="1" dirty="0">
                  <a:latin typeface="Times New Roman" pitchFamily="18" charset="0"/>
                </a:rPr>
                <a:t>课 程</a:t>
              </a:r>
            </a:p>
          </p:txBody>
        </p:sp>
        <p:sp>
          <p:nvSpPr>
            <p:cNvPr id="227349" name="Oval 21"/>
            <p:cNvSpPr>
              <a:spLocks noChangeArrowheads="1"/>
            </p:cNvSpPr>
            <p:nvPr/>
          </p:nvSpPr>
          <p:spPr bwMode="auto">
            <a:xfrm>
              <a:off x="3408" y="2835"/>
              <a:ext cx="632" cy="356"/>
            </a:xfrm>
            <a:prstGeom prst="ellipse">
              <a:avLst/>
            </a:prstGeom>
            <a:noFill/>
            <a:ln w="9525">
              <a:solidFill>
                <a:schemeClr val="tx1"/>
              </a:solidFill>
              <a:round/>
              <a:headEnd/>
              <a:tailEnd/>
            </a:ln>
            <a:effectLst/>
          </p:spPr>
          <p:txBody>
            <a:bodyPr lIns="90000" tIns="46800" rIns="90000" bIns="46800" anchor="ctr">
              <a:spAutoFit/>
            </a:bodyPr>
            <a:lstStyle/>
            <a:p>
              <a:pPr algn="ctr">
                <a:spcBef>
                  <a:spcPct val="30000"/>
                </a:spcBef>
                <a:defRPr/>
              </a:pPr>
              <a:r>
                <a:rPr kumimoji="1" lang="zh-CN" altLang="en-US" sz="2000" b="1" dirty="0">
                  <a:latin typeface="Times New Roman" pitchFamily="18" charset="0"/>
                </a:rPr>
                <a:t>成 绩</a:t>
              </a:r>
            </a:p>
          </p:txBody>
        </p:sp>
        <p:sp>
          <p:nvSpPr>
            <p:cNvPr id="227350" name="AutoShape 22"/>
            <p:cNvSpPr>
              <a:spLocks noChangeArrowheads="1"/>
            </p:cNvSpPr>
            <p:nvPr/>
          </p:nvSpPr>
          <p:spPr bwMode="auto">
            <a:xfrm>
              <a:off x="4323" y="2756"/>
              <a:ext cx="957" cy="503"/>
            </a:xfrm>
            <a:prstGeom prst="flowChartDecision">
              <a:avLst/>
            </a:prstGeom>
            <a:noFill/>
            <a:ln w="9525">
              <a:solidFill>
                <a:schemeClr val="tx1"/>
              </a:solidFill>
              <a:miter lim="800000"/>
              <a:headEnd/>
              <a:tailEnd/>
            </a:ln>
            <a:effectLst/>
          </p:spPr>
          <p:txBody>
            <a:bodyPr lIns="90000" tIns="46800" rIns="90000" bIns="46800" anchor="ctr">
              <a:spAutoFit/>
            </a:bodyPr>
            <a:lstStyle/>
            <a:p>
              <a:pPr algn="ctr">
                <a:spcBef>
                  <a:spcPct val="30000"/>
                </a:spcBef>
                <a:defRPr/>
              </a:pPr>
              <a:r>
                <a:rPr kumimoji="1" lang="zh-CN" altLang="en-US" sz="2000" b="1" dirty="0">
                  <a:latin typeface="Times New Roman" pitchFamily="18" charset="0"/>
                </a:rPr>
                <a:t>选  修</a:t>
              </a:r>
              <a:r>
                <a:rPr kumimoji="1" lang="zh-CN" altLang="en-US" sz="2000" b="1" i="0" dirty="0">
                  <a:solidFill>
                    <a:schemeClr val="bg1"/>
                  </a:solidFill>
                  <a:effectLst>
                    <a:outerShdw blurRad="38100" dist="38100" dir="2700000" algn="tl">
                      <a:srgbClr val="000000"/>
                    </a:outerShdw>
                  </a:effectLst>
                  <a:latin typeface="Times New Roman" pitchFamily="18" charset="0"/>
                </a:rPr>
                <a:t>       </a:t>
              </a:r>
            </a:p>
          </p:txBody>
        </p:sp>
        <p:sp>
          <p:nvSpPr>
            <p:cNvPr id="10254" name="Line 23"/>
            <p:cNvSpPr>
              <a:spLocks noChangeShapeType="1"/>
            </p:cNvSpPr>
            <p:nvPr/>
          </p:nvSpPr>
          <p:spPr bwMode="auto">
            <a:xfrm>
              <a:off x="4800" y="2483"/>
              <a:ext cx="0" cy="2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255" name="Line 24"/>
            <p:cNvSpPr>
              <a:spLocks noChangeShapeType="1"/>
            </p:cNvSpPr>
            <p:nvPr/>
          </p:nvSpPr>
          <p:spPr bwMode="auto">
            <a:xfrm>
              <a:off x="4800" y="3250"/>
              <a:ext cx="0" cy="2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256" name="Line 25"/>
            <p:cNvSpPr>
              <a:spLocks noChangeShapeType="1"/>
            </p:cNvSpPr>
            <p:nvPr/>
          </p:nvSpPr>
          <p:spPr bwMode="auto">
            <a:xfrm flipH="1">
              <a:off x="4032" y="3012"/>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227354" name="Text Box 26"/>
            <p:cNvSpPr txBox="1">
              <a:spLocks noChangeArrowheads="1"/>
            </p:cNvSpPr>
            <p:nvPr/>
          </p:nvSpPr>
          <p:spPr bwMode="auto">
            <a:xfrm>
              <a:off x="4848" y="2592"/>
              <a:ext cx="182" cy="253"/>
            </a:xfrm>
            <a:prstGeom prst="rect">
              <a:avLst/>
            </a:prstGeom>
            <a:noFill/>
            <a:ln>
              <a:noFill/>
            </a:ln>
            <a:effectLst/>
          </p:spPr>
          <p:txBody>
            <a:bodyPr wrap="none" lIns="90000" tIns="46800" rIns="90000" bIns="46800">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spcBef>
                  <a:spcPct val="30000"/>
                </a:spcBef>
                <a:defRPr/>
              </a:pPr>
              <a:r>
                <a:rPr kumimoji="1" lang="en-US" altLang="zh-CN" sz="2000" b="1" i="0" dirty="0">
                  <a:latin typeface="Times New Roman" pitchFamily="18" charset="0"/>
                </a:rPr>
                <a:t>m</a:t>
              </a:r>
            </a:p>
          </p:txBody>
        </p:sp>
        <p:sp>
          <p:nvSpPr>
            <p:cNvPr id="227355" name="Oval 27"/>
            <p:cNvSpPr>
              <a:spLocks noChangeArrowheads="1"/>
            </p:cNvSpPr>
            <p:nvPr/>
          </p:nvSpPr>
          <p:spPr bwMode="auto">
            <a:xfrm>
              <a:off x="3772" y="2172"/>
              <a:ext cx="451" cy="356"/>
            </a:xfrm>
            <a:prstGeom prst="ellipse">
              <a:avLst/>
            </a:prstGeom>
            <a:noFill/>
            <a:ln w="9525">
              <a:solidFill>
                <a:schemeClr val="tx1"/>
              </a:solidFill>
              <a:round/>
              <a:headEnd/>
              <a:tailEnd/>
            </a:ln>
            <a:effectLst/>
          </p:spPr>
          <p:txBody>
            <a:bodyPr wrap="none" lIns="90000" tIns="46800" rIns="90000" bIns="46800" anchor="ctr">
              <a:spAutoFit/>
            </a:bodyPr>
            <a:lstStyle/>
            <a:p>
              <a:pPr algn="ctr">
                <a:spcBef>
                  <a:spcPct val="30000"/>
                </a:spcBef>
                <a:defRPr/>
              </a:pPr>
              <a:r>
                <a:rPr kumimoji="1" lang="zh-CN" altLang="en-US" sz="2000" b="1" u="sng" dirty="0">
                  <a:latin typeface="Times New Roman" pitchFamily="18" charset="0"/>
                </a:rPr>
                <a:t>学号</a:t>
              </a:r>
            </a:p>
          </p:txBody>
        </p:sp>
        <p:sp>
          <p:nvSpPr>
            <p:cNvPr id="227356" name="Oval 28"/>
            <p:cNvSpPr>
              <a:spLocks noChangeArrowheads="1"/>
            </p:cNvSpPr>
            <p:nvPr/>
          </p:nvSpPr>
          <p:spPr bwMode="auto">
            <a:xfrm>
              <a:off x="4487" y="4050"/>
              <a:ext cx="452" cy="356"/>
            </a:xfrm>
            <a:prstGeom prst="ellipse">
              <a:avLst/>
            </a:prstGeom>
            <a:noFill/>
            <a:ln w="9525">
              <a:solidFill>
                <a:schemeClr val="tx1"/>
              </a:solidFill>
              <a:round/>
              <a:headEnd/>
              <a:tailEnd/>
            </a:ln>
            <a:effectLst/>
          </p:spPr>
          <p:txBody>
            <a:bodyPr wrap="square" lIns="90000" tIns="46800" rIns="90000" bIns="46800" anchor="ctr">
              <a:spAutoFit/>
            </a:bodyPr>
            <a:lstStyle/>
            <a:p>
              <a:pPr algn="ctr">
                <a:spcBef>
                  <a:spcPct val="30000"/>
                </a:spcBef>
                <a:defRPr/>
              </a:pPr>
              <a:r>
                <a:rPr kumimoji="1" lang="zh-CN" altLang="en-US" sz="2000" b="1" u="sng" dirty="0">
                  <a:latin typeface="Times New Roman" pitchFamily="18" charset="0"/>
                </a:rPr>
                <a:t>课号</a:t>
              </a:r>
            </a:p>
          </p:txBody>
        </p:sp>
        <p:sp>
          <p:nvSpPr>
            <p:cNvPr id="10260" name="Line 29"/>
            <p:cNvSpPr>
              <a:spLocks noChangeShapeType="1"/>
            </p:cNvSpPr>
            <p:nvPr/>
          </p:nvSpPr>
          <p:spPr bwMode="auto">
            <a:xfrm flipH="1" flipV="1">
              <a:off x="4224" y="2352"/>
              <a:ext cx="2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10261" name="Line 30"/>
            <p:cNvSpPr>
              <a:spLocks noChangeShapeType="1"/>
            </p:cNvSpPr>
            <p:nvPr/>
          </p:nvSpPr>
          <p:spPr bwMode="auto">
            <a:xfrm flipH="1" flipV="1">
              <a:off x="4147" y="2036"/>
              <a:ext cx="317" cy="1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227359" name="Rectangle 31"/>
            <p:cNvSpPr>
              <a:spLocks noChangeArrowheads="1"/>
            </p:cNvSpPr>
            <p:nvPr/>
          </p:nvSpPr>
          <p:spPr bwMode="auto">
            <a:xfrm>
              <a:off x="4461" y="2231"/>
              <a:ext cx="675" cy="256"/>
            </a:xfrm>
            <a:prstGeom prst="rect">
              <a:avLst/>
            </a:prstGeom>
            <a:noFill/>
            <a:ln w="9525">
              <a:solidFill>
                <a:schemeClr val="tx1"/>
              </a:solidFill>
              <a:miter lim="800000"/>
              <a:headEnd/>
              <a:tailEnd/>
            </a:ln>
            <a:effectLst/>
          </p:spPr>
          <p:txBody>
            <a:bodyPr lIns="90000" tIns="46800" rIns="90000" bIns="46800" anchor="ctr">
              <a:spAutoFit/>
            </a:bodyPr>
            <a:lstStyle/>
            <a:p>
              <a:pPr algn="ctr">
                <a:spcBef>
                  <a:spcPct val="30000"/>
                </a:spcBef>
                <a:defRPr/>
              </a:pPr>
              <a:r>
                <a:rPr kumimoji="1" lang="zh-CN" altLang="en-US" sz="2000" b="1" dirty="0">
                  <a:latin typeface="Times New Roman" pitchFamily="18" charset="0"/>
                </a:rPr>
                <a:t>学 生</a:t>
              </a:r>
            </a:p>
          </p:txBody>
        </p:sp>
      </p:grpSp>
      <p:sp>
        <p:nvSpPr>
          <p:cNvPr id="227361" name="Rectangle 33"/>
          <p:cNvSpPr>
            <a:spLocks noChangeArrowheads="1"/>
          </p:cNvSpPr>
          <p:nvPr/>
        </p:nvSpPr>
        <p:spPr bwMode="auto">
          <a:xfrm>
            <a:off x="1017845" y="6244489"/>
            <a:ext cx="76690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lnSpc>
                <a:spcPct val="80000"/>
              </a:lnSpc>
              <a:spcBef>
                <a:spcPct val="20000"/>
              </a:spcBef>
            </a:pPr>
            <a:r>
              <a:rPr lang="zh-CN" altLang="en-US" sz="2000" b="1" i="0" dirty="0">
                <a:solidFill>
                  <a:srgbClr val="1569F0"/>
                </a:solidFill>
              </a:rPr>
              <a:t>注：用虚边矩形和虚边菱形分别表示弱实体和弱实体之间的联系。</a:t>
            </a:r>
          </a:p>
        </p:txBody>
      </p:sp>
      <p:sp>
        <p:nvSpPr>
          <p:cNvPr id="34" name="矩形 3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36"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7" name="直接连接符 36"/>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Oval 28"/>
          <p:cNvSpPr>
            <a:spLocks noChangeArrowheads="1"/>
          </p:cNvSpPr>
          <p:nvPr/>
        </p:nvSpPr>
        <p:spPr bwMode="auto">
          <a:xfrm>
            <a:off x="9533546" y="1916409"/>
            <a:ext cx="982798" cy="565697"/>
          </a:xfrm>
          <a:prstGeom prst="ellipse">
            <a:avLst/>
          </a:prstGeom>
          <a:noFill/>
          <a:ln w="9525">
            <a:solidFill>
              <a:schemeClr val="tx1"/>
            </a:solidFill>
            <a:round/>
            <a:headEnd/>
            <a:tailEnd/>
          </a:ln>
          <a:effectLst/>
        </p:spPr>
        <p:txBody>
          <a:bodyPr wrap="square" lIns="90000" tIns="46800" rIns="90000" bIns="46800" anchor="ctr">
            <a:spAutoFit/>
          </a:bodyPr>
          <a:lstStyle/>
          <a:p>
            <a:pPr algn="ctr">
              <a:spcBef>
                <a:spcPct val="30000"/>
              </a:spcBef>
              <a:defRPr/>
            </a:pPr>
            <a:r>
              <a:rPr kumimoji="1" lang="zh-CN" altLang="en-US" sz="2000" b="1" dirty="0">
                <a:latin typeface="Times New Roman" pitchFamily="18" charset="0"/>
              </a:rPr>
              <a:t>性别</a:t>
            </a:r>
          </a:p>
        </p:txBody>
      </p:sp>
      <p:sp>
        <p:nvSpPr>
          <p:cNvPr id="39" name="Line 30"/>
          <p:cNvSpPr>
            <a:spLocks noChangeShapeType="1"/>
          </p:cNvSpPr>
          <p:nvPr/>
        </p:nvSpPr>
        <p:spPr bwMode="auto">
          <a:xfrm flipH="1" flipV="1">
            <a:off x="10088886" y="2482105"/>
            <a:ext cx="531826" cy="30956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40" name="Oval 28"/>
          <p:cNvSpPr>
            <a:spLocks noChangeArrowheads="1"/>
          </p:cNvSpPr>
          <p:nvPr/>
        </p:nvSpPr>
        <p:spPr bwMode="auto">
          <a:xfrm>
            <a:off x="8240273" y="1986656"/>
            <a:ext cx="982798" cy="565151"/>
          </a:xfrm>
          <a:prstGeom prst="ellipse">
            <a:avLst/>
          </a:prstGeom>
          <a:noFill/>
          <a:ln w="9525">
            <a:solidFill>
              <a:schemeClr val="tx1"/>
            </a:solidFill>
            <a:round/>
            <a:headEnd/>
            <a:tailEnd/>
          </a:ln>
          <a:effectLst/>
        </p:spPr>
        <p:txBody>
          <a:bodyPr wrap="square" lIns="90000" tIns="46800" rIns="90000" bIns="46800" anchor="ctr">
            <a:spAutoFit/>
          </a:bodyPr>
          <a:lstStyle/>
          <a:p>
            <a:pPr algn="ctr">
              <a:spcBef>
                <a:spcPct val="30000"/>
              </a:spcBef>
              <a:defRPr/>
            </a:pPr>
            <a:r>
              <a:rPr kumimoji="1" lang="zh-CN" altLang="en-US" sz="2000" b="1" dirty="0">
                <a:latin typeface="Times New Roman" pitchFamily="18" charset="0"/>
              </a:rPr>
              <a:t>姓名</a:t>
            </a:r>
          </a:p>
        </p:txBody>
      </p:sp>
      <p:sp>
        <p:nvSpPr>
          <p:cNvPr id="41" name="Oval 28"/>
          <p:cNvSpPr>
            <a:spLocks noChangeArrowheads="1"/>
          </p:cNvSpPr>
          <p:nvPr/>
        </p:nvSpPr>
        <p:spPr bwMode="auto">
          <a:xfrm>
            <a:off x="10991135" y="5681180"/>
            <a:ext cx="982798" cy="565697"/>
          </a:xfrm>
          <a:prstGeom prst="ellipse">
            <a:avLst/>
          </a:prstGeom>
          <a:noFill/>
          <a:ln w="9525">
            <a:solidFill>
              <a:schemeClr val="tx1"/>
            </a:solidFill>
            <a:round/>
            <a:headEnd/>
            <a:tailEnd/>
          </a:ln>
          <a:effectLst/>
        </p:spPr>
        <p:txBody>
          <a:bodyPr wrap="square" lIns="90000" tIns="46800" rIns="90000" bIns="46800" anchor="ctr">
            <a:spAutoFit/>
          </a:bodyPr>
          <a:lstStyle/>
          <a:p>
            <a:pPr algn="ctr">
              <a:spcBef>
                <a:spcPct val="30000"/>
              </a:spcBef>
              <a:defRPr/>
            </a:pPr>
            <a:r>
              <a:rPr kumimoji="1" lang="zh-CN" altLang="en-US" sz="2000" b="1" dirty="0">
                <a:latin typeface="Times New Roman" pitchFamily="18" charset="0"/>
              </a:rPr>
              <a:t>课名</a:t>
            </a:r>
          </a:p>
        </p:txBody>
      </p:sp>
      <p:sp>
        <p:nvSpPr>
          <p:cNvPr id="42" name="Line 30"/>
          <p:cNvSpPr>
            <a:spLocks noChangeShapeType="1"/>
          </p:cNvSpPr>
          <p:nvPr/>
        </p:nvSpPr>
        <p:spPr bwMode="auto">
          <a:xfrm flipV="1">
            <a:off x="10327177" y="5258651"/>
            <a:ext cx="67404" cy="4028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43" name="Line 30"/>
          <p:cNvSpPr>
            <a:spLocks noChangeShapeType="1"/>
          </p:cNvSpPr>
          <p:nvPr/>
        </p:nvSpPr>
        <p:spPr bwMode="auto">
          <a:xfrm flipH="1" flipV="1">
            <a:off x="10782700" y="5258649"/>
            <a:ext cx="686046" cy="4028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49" name="Oval 8"/>
          <p:cNvSpPr>
            <a:spLocks noChangeArrowheads="1"/>
          </p:cNvSpPr>
          <p:nvPr/>
        </p:nvSpPr>
        <p:spPr bwMode="auto">
          <a:xfrm>
            <a:off x="10949902" y="1916136"/>
            <a:ext cx="981416" cy="565697"/>
          </a:xfrm>
          <a:prstGeom prst="ellipse">
            <a:avLst/>
          </a:prstGeom>
          <a:noFill/>
          <a:ln w="9525">
            <a:solidFill>
              <a:schemeClr val="tx1"/>
            </a:solidFill>
            <a:round/>
            <a:headEnd/>
            <a:tailEnd/>
          </a:ln>
          <a:effectLst/>
        </p:spPr>
        <p:txBody>
          <a:bodyPr wrap="none" lIns="90000" tIns="46800" rIns="90000" bIns="46800" anchor="ctr">
            <a:spAutoFit/>
          </a:bodyPr>
          <a:lstStyle/>
          <a:p>
            <a:pPr algn="ctr">
              <a:spcBef>
                <a:spcPct val="30000"/>
              </a:spcBef>
              <a:defRPr/>
            </a:pPr>
            <a:r>
              <a:rPr kumimoji="1" lang="zh-CN" altLang="en-US" sz="2000" b="1" dirty="0">
                <a:latin typeface="Times New Roman" pitchFamily="18" charset="0"/>
              </a:rPr>
              <a:t>专业</a:t>
            </a:r>
            <a:endParaRPr kumimoji="1" lang="zh-CN" altLang="en-US" sz="2000" b="1" i="0" dirty="0">
              <a:latin typeface="Times New Roman" pitchFamily="18" charset="0"/>
            </a:endParaRPr>
          </a:p>
        </p:txBody>
      </p:sp>
      <p:sp>
        <p:nvSpPr>
          <p:cNvPr id="51" name="Line 30"/>
          <p:cNvSpPr>
            <a:spLocks noChangeShapeType="1"/>
          </p:cNvSpPr>
          <p:nvPr/>
        </p:nvSpPr>
        <p:spPr bwMode="auto">
          <a:xfrm flipV="1">
            <a:off x="11189776" y="2481558"/>
            <a:ext cx="250836" cy="3101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
        <p:nvSpPr>
          <p:cNvPr id="52" name="Oval 28"/>
          <p:cNvSpPr>
            <a:spLocks noChangeArrowheads="1"/>
          </p:cNvSpPr>
          <p:nvPr/>
        </p:nvSpPr>
        <p:spPr bwMode="auto">
          <a:xfrm>
            <a:off x="11189776" y="4149749"/>
            <a:ext cx="982798" cy="565697"/>
          </a:xfrm>
          <a:prstGeom prst="ellipse">
            <a:avLst/>
          </a:prstGeom>
          <a:noFill/>
          <a:ln w="9525">
            <a:solidFill>
              <a:schemeClr val="tx1"/>
            </a:solidFill>
            <a:round/>
            <a:headEnd/>
            <a:tailEnd/>
          </a:ln>
          <a:effectLst/>
        </p:spPr>
        <p:txBody>
          <a:bodyPr wrap="square" lIns="90000" tIns="46800" rIns="90000" bIns="46800" anchor="ctr">
            <a:spAutoFit/>
          </a:bodyPr>
          <a:lstStyle/>
          <a:p>
            <a:pPr algn="ctr">
              <a:spcBef>
                <a:spcPct val="30000"/>
              </a:spcBef>
              <a:defRPr/>
            </a:pPr>
            <a:r>
              <a:rPr kumimoji="1" lang="zh-CN" altLang="en-US" sz="2000" b="1" dirty="0">
                <a:latin typeface="Times New Roman" pitchFamily="18" charset="0"/>
              </a:rPr>
              <a:t>学分</a:t>
            </a:r>
          </a:p>
        </p:txBody>
      </p:sp>
      <p:sp>
        <p:nvSpPr>
          <p:cNvPr id="53" name="Line 30"/>
          <p:cNvSpPr>
            <a:spLocks noChangeShapeType="1"/>
          </p:cNvSpPr>
          <p:nvPr/>
        </p:nvSpPr>
        <p:spPr bwMode="auto">
          <a:xfrm flipV="1">
            <a:off x="11241893" y="4715445"/>
            <a:ext cx="439281" cy="1200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90000" tIns="46800" rIns="90000" bIns="46800" anchor="ctr">
            <a:spAutoFit/>
          </a:bodyPr>
          <a:lstStyle/>
          <a:p>
            <a:endParaRPr lang="zh-CN" altLang="en-US"/>
          </a:p>
        </p:txBody>
      </p:sp>
    </p:spTree>
    <p:extLst>
      <p:ext uri="{BB962C8B-B14F-4D97-AF65-F5344CB8AC3E}">
        <p14:creationId xmlns:p14="http://schemas.microsoft.com/office/powerpoint/2010/main" val="6451879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animEffect transition="in" filter="blinds(horizontal)">
                                      <p:cBhvr>
                                        <p:cTn id="7" dur="500"/>
                                        <p:tgtEl>
                                          <p:spTgt spid="227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7331">
                                            <p:txEl>
                                              <p:pRg st="1" end="1"/>
                                            </p:txEl>
                                          </p:spTgt>
                                        </p:tgtEl>
                                        <p:attrNameLst>
                                          <p:attrName>style.visibility</p:attrName>
                                        </p:attrNameLst>
                                      </p:cBhvr>
                                      <p:to>
                                        <p:strVal val="visible"/>
                                      </p:to>
                                    </p:set>
                                    <p:animEffect transition="in" filter="blinds(horizontal)">
                                      <p:cBhvr>
                                        <p:cTn id="12" dur="500"/>
                                        <p:tgtEl>
                                          <p:spTgt spid="22733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slide(fromBottom)">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Right)">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27361"/>
                                        </p:tgtEl>
                                        <p:attrNameLst>
                                          <p:attrName>style.visibility</p:attrName>
                                        </p:attrNameLst>
                                      </p:cBhvr>
                                      <p:to>
                                        <p:strVal val="visible"/>
                                      </p:to>
                                    </p:set>
                                    <p:animEffect transition="in" filter="blinds(horizontal)">
                                      <p:cBhvr>
                                        <p:cTn id="27" dur="500"/>
                                        <p:tgtEl>
                                          <p:spTgt spid="227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bldLvl="2" autoUpdateAnimBg="0"/>
      <p:bldP spid="22736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6" name="Rectangle 4"/>
          <p:cNvSpPr>
            <a:spLocks noChangeArrowheads="1"/>
          </p:cNvSpPr>
          <p:nvPr/>
        </p:nvSpPr>
        <p:spPr bwMode="auto">
          <a:xfrm>
            <a:off x="719666" y="1761587"/>
            <a:ext cx="11040533" cy="351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buClr>
                <a:schemeClr val="hlink"/>
              </a:buClr>
              <a:buSzPct val="120000"/>
              <a:buFontTx/>
              <a:buChar char="•"/>
            </a:pPr>
            <a:r>
              <a:rPr kumimoji="1" lang="en-US" altLang="zh-CN" sz="2800" b="1" i="0" dirty="0">
                <a:solidFill>
                  <a:schemeClr val="bg1"/>
                </a:solidFill>
                <a:latin typeface="楷体_GB2312" pitchFamily="49" charset="-122"/>
                <a:ea typeface="楷体_GB2312" pitchFamily="49" charset="-122"/>
              </a:rPr>
              <a:t>  </a:t>
            </a:r>
            <a:r>
              <a:rPr kumimoji="1" lang="zh-CN" altLang="en-US" sz="2800" b="1" i="0" dirty="0">
                <a:solidFill>
                  <a:srgbClr val="FF3300"/>
                </a:solidFill>
                <a:latin typeface="楷体_GB2312" pitchFamily="49" charset="-122"/>
                <a:ea typeface="楷体_GB2312" pitchFamily="49" charset="-122"/>
              </a:rPr>
              <a:t>确定实体类型</a:t>
            </a:r>
            <a:r>
              <a:rPr kumimoji="1" lang="zh-CN" altLang="en-US" sz="2800" b="1" i="0" dirty="0">
                <a:latin typeface="楷体_GB2312" pitchFamily="49" charset="-122"/>
                <a:ea typeface="楷体_GB2312" pitchFamily="49" charset="-122"/>
              </a:rPr>
              <a:t>：几个实体类型及相应的实体名</a:t>
            </a:r>
          </a:p>
          <a:p>
            <a:pPr eaLnBrk="1" hangingPunct="1">
              <a:spcBef>
                <a:spcPct val="50000"/>
              </a:spcBef>
              <a:buClr>
                <a:schemeClr val="hlink"/>
              </a:buClr>
              <a:buSzPct val="120000"/>
              <a:buFontTx/>
              <a:buChar char="•"/>
            </a:pPr>
            <a:r>
              <a:rPr kumimoji="1" lang="zh-CN" altLang="en-US" sz="2800" b="1" i="0" dirty="0">
                <a:latin typeface="楷体_GB2312" pitchFamily="49" charset="-122"/>
                <a:ea typeface="楷体_GB2312" pitchFamily="49" charset="-122"/>
              </a:rPr>
              <a:t>  </a:t>
            </a:r>
            <a:r>
              <a:rPr kumimoji="1" lang="zh-CN" altLang="en-US" sz="2800" b="1" i="0" dirty="0">
                <a:solidFill>
                  <a:srgbClr val="FF3300"/>
                </a:solidFill>
                <a:latin typeface="楷体_GB2312" pitchFamily="49" charset="-122"/>
                <a:ea typeface="楷体_GB2312" pitchFamily="49" charset="-122"/>
              </a:rPr>
              <a:t>确定联系类型</a:t>
            </a:r>
            <a:r>
              <a:rPr kumimoji="1" lang="zh-CN" altLang="en-US" sz="2800" b="1" i="0" dirty="0">
                <a:latin typeface="楷体_GB2312" pitchFamily="49" charset="-122"/>
                <a:ea typeface="楷体_GB2312" pitchFamily="49" charset="-122"/>
              </a:rPr>
              <a:t>：各实体类型之间是否有联系，是何种联系类型及相应的联系名</a:t>
            </a:r>
            <a:r>
              <a:rPr kumimoji="1" lang="en-US" altLang="zh-CN" sz="2800" b="1" i="0" dirty="0">
                <a:latin typeface="楷体_GB2312" pitchFamily="49" charset="-122"/>
                <a:ea typeface="楷体_GB2312" pitchFamily="49" charset="-122"/>
              </a:rPr>
              <a:t>.</a:t>
            </a:r>
          </a:p>
          <a:p>
            <a:pPr eaLnBrk="1" hangingPunct="1">
              <a:spcBef>
                <a:spcPct val="50000"/>
              </a:spcBef>
              <a:buClr>
                <a:schemeClr val="hlink"/>
              </a:buClr>
              <a:buSzPct val="120000"/>
              <a:buFontTx/>
              <a:buChar char="•"/>
            </a:pPr>
            <a:r>
              <a:rPr kumimoji="1" lang="en-US" altLang="zh-CN" sz="2800" b="1" i="0" dirty="0">
                <a:latin typeface="楷体_GB2312" pitchFamily="49" charset="-122"/>
                <a:ea typeface="楷体_GB2312" pitchFamily="49" charset="-122"/>
              </a:rPr>
              <a:t>  </a:t>
            </a:r>
            <a:r>
              <a:rPr kumimoji="1" lang="zh-CN" altLang="en-US" sz="2800" b="1" i="0" dirty="0">
                <a:latin typeface="楷体_GB2312" pitchFamily="49" charset="-122"/>
                <a:ea typeface="楷体_GB2312" pitchFamily="49" charset="-122"/>
              </a:rPr>
              <a:t>连接实体类型和联系类型，组合成</a:t>
            </a:r>
            <a:r>
              <a:rPr kumimoji="1" lang="en-US" altLang="zh-CN" sz="2800" b="1" i="0" dirty="0">
                <a:latin typeface="楷体_GB2312" pitchFamily="49" charset="-122"/>
                <a:ea typeface="楷体_GB2312" pitchFamily="49" charset="-122"/>
              </a:rPr>
              <a:t>E-R</a:t>
            </a:r>
            <a:r>
              <a:rPr kumimoji="1" lang="zh-CN" altLang="en-US" sz="2800" b="1" i="0" dirty="0">
                <a:latin typeface="楷体_GB2312" pitchFamily="49" charset="-122"/>
                <a:ea typeface="楷体_GB2312" pitchFamily="49" charset="-122"/>
              </a:rPr>
              <a:t>图</a:t>
            </a:r>
          </a:p>
          <a:p>
            <a:pPr eaLnBrk="1" hangingPunct="1">
              <a:spcBef>
                <a:spcPct val="50000"/>
              </a:spcBef>
              <a:buClr>
                <a:schemeClr val="hlink"/>
              </a:buClr>
              <a:buSzPct val="120000"/>
              <a:buFontTx/>
              <a:buChar char="•"/>
            </a:pPr>
            <a:r>
              <a:rPr kumimoji="1" lang="zh-CN" altLang="en-US" sz="2800" b="1" i="0" dirty="0">
                <a:latin typeface="楷体_GB2312" pitchFamily="49" charset="-122"/>
                <a:ea typeface="楷体_GB2312" pitchFamily="49" charset="-122"/>
              </a:rPr>
              <a:t>  确定实体类型和联系类型的属性</a:t>
            </a:r>
          </a:p>
          <a:p>
            <a:pPr eaLnBrk="1" hangingPunct="1">
              <a:spcBef>
                <a:spcPct val="50000"/>
              </a:spcBef>
              <a:buClr>
                <a:schemeClr val="hlink"/>
              </a:buClr>
              <a:buSzPct val="120000"/>
              <a:buFontTx/>
              <a:buChar char="•"/>
            </a:pPr>
            <a:r>
              <a:rPr kumimoji="1" lang="zh-CN" altLang="en-US" sz="2800" b="1" i="0" dirty="0">
                <a:latin typeface="楷体_GB2312" pitchFamily="49" charset="-122"/>
                <a:ea typeface="楷体_GB2312" pitchFamily="49" charset="-122"/>
              </a:rPr>
              <a:t>  确定实体类型的码</a:t>
            </a:r>
            <a:r>
              <a:rPr kumimoji="1" lang="zh-CN" altLang="en-US" sz="2800" b="1" i="0" dirty="0">
                <a:solidFill>
                  <a:schemeClr val="bg1"/>
                </a:solidFill>
                <a:latin typeface="楷体_GB2312" pitchFamily="49" charset="-122"/>
                <a:ea typeface="楷体_GB2312" pitchFamily="49" charset="-122"/>
              </a:rPr>
              <a:t> </a:t>
            </a:r>
          </a:p>
        </p:txBody>
      </p:sp>
      <p:sp>
        <p:nvSpPr>
          <p:cNvPr id="5" name="矩形 4"/>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Rectangle 2"/>
          <p:cNvSpPr>
            <a:spLocks noGrp="1" noChangeArrowheads="1"/>
          </p:cNvSpPr>
          <p:nvPr>
            <p:ph type="title"/>
          </p:nvPr>
        </p:nvSpPr>
        <p:spPr bwMode="auto">
          <a:xfrm>
            <a:off x="569993" y="1056468"/>
            <a:ext cx="2909376"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eaLnBrk="1" hangingPunct="1">
              <a:lnSpc>
                <a:spcPct val="105000"/>
              </a:lnSpc>
              <a:buFont typeface="Wingdings" panose="05000000000000000000" pitchFamily="2" charset="2"/>
              <a:buChar char="Ø"/>
            </a:pPr>
            <a:r>
              <a:rPr lang="en-US" altLang="zh-CN" sz="2800" b="1" dirty="0">
                <a:solidFill>
                  <a:srgbClr val="FF3300"/>
                </a:solidFill>
                <a:latin typeface="楷体_GB2312" pitchFamily="49" charset="-122"/>
                <a:ea typeface="楷体_GB2312" pitchFamily="49" charset="-122"/>
                <a:cs typeface="+mn-cs"/>
              </a:rPr>
              <a:t>E-R</a:t>
            </a:r>
            <a:r>
              <a:rPr lang="zh-CN" altLang="en-US" sz="2800" b="1" dirty="0">
                <a:solidFill>
                  <a:srgbClr val="FF3300"/>
                </a:solidFill>
                <a:latin typeface="楷体_GB2312" pitchFamily="49" charset="-122"/>
                <a:ea typeface="楷体_GB2312" pitchFamily="49" charset="-122"/>
                <a:cs typeface="+mn-cs"/>
              </a:rPr>
              <a:t>图设计</a:t>
            </a:r>
          </a:p>
        </p:txBody>
      </p:sp>
    </p:spTree>
    <p:extLst>
      <p:ext uri="{BB962C8B-B14F-4D97-AF65-F5344CB8AC3E}">
        <p14:creationId xmlns:p14="http://schemas.microsoft.com/office/powerpoint/2010/main" val="32921979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28356"/>
                                        </p:tgtEl>
                                        <p:attrNameLst>
                                          <p:attrName>style.visibility</p:attrName>
                                        </p:attrNameLst>
                                      </p:cBhvr>
                                      <p:to>
                                        <p:strVal val="visible"/>
                                      </p:to>
                                    </p:set>
                                    <p:animEffect transition="in" filter="slide(fromBottom)">
                                      <p:cBhvr>
                                        <p:cTn id="7" dur="500"/>
                                        <p:tgtEl>
                                          <p:spTgt spid="228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bwMode="auto">
          <a:xfrm>
            <a:off x="211667" y="820740"/>
            <a:ext cx="3810143" cy="7064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2800" b="1" dirty="0">
                <a:solidFill>
                  <a:srgbClr val="FF0000"/>
                </a:solidFill>
              </a:rPr>
              <a:t>【</a:t>
            </a:r>
            <a:r>
              <a:rPr lang="zh-CN" altLang="en-US" sz="2800" b="1" dirty="0">
                <a:solidFill>
                  <a:srgbClr val="FF0000"/>
                </a:solidFill>
              </a:rPr>
              <a:t>例</a:t>
            </a:r>
            <a:r>
              <a:rPr lang="en-US" altLang="zh-CN" sz="2800" b="1" dirty="0">
                <a:solidFill>
                  <a:srgbClr val="FF0000"/>
                </a:solidFill>
              </a:rPr>
              <a:t>】</a:t>
            </a:r>
            <a:r>
              <a:rPr lang="zh-CN" altLang="en-US" sz="2800" b="1" dirty="0">
                <a:solidFill>
                  <a:schemeClr val="tx1"/>
                </a:solidFill>
              </a:rPr>
              <a:t>学生选修课程</a:t>
            </a:r>
            <a:br>
              <a:rPr lang="zh-CN" altLang="en-US" sz="2800" dirty="0">
                <a:solidFill>
                  <a:schemeClr val="tx1"/>
                </a:solidFill>
              </a:rPr>
            </a:br>
            <a:endParaRPr lang="zh-CN" altLang="en-US" sz="2800" dirty="0">
              <a:solidFill>
                <a:schemeClr val="tx1"/>
              </a:solidFill>
            </a:endParaRPr>
          </a:p>
        </p:txBody>
      </p:sp>
      <p:sp>
        <p:nvSpPr>
          <p:cNvPr id="229379" name="Text Box 3"/>
          <p:cNvSpPr txBox="1">
            <a:spLocks noChangeArrowheads="1"/>
          </p:cNvSpPr>
          <p:nvPr/>
        </p:nvSpPr>
        <p:spPr bwMode="auto">
          <a:xfrm>
            <a:off x="2802043" y="3958679"/>
            <a:ext cx="1313180" cy="769441"/>
          </a:xfrm>
          <a:prstGeom prst="rect">
            <a:avLst/>
          </a:prstGeom>
          <a:noFill/>
          <a:ln w="12700" cap="sq">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a:spcBef>
                <a:spcPct val="50000"/>
              </a:spcBef>
            </a:pPr>
            <a:r>
              <a:rPr kumimoji="1" lang="zh-CN" altLang="en-US" sz="4400" b="1" i="0">
                <a:latin typeface="华文新魏" pitchFamily="2" charset="-122"/>
                <a:ea typeface="华文新魏" pitchFamily="2" charset="-122"/>
              </a:rPr>
              <a:t>学生</a:t>
            </a:r>
            <a:endParaRPr kumimoji="1" lang="zh-CN" altLang="en-US" sz="4400" i="0">
              <a:latin typeface="华文新魏" pitchFamily="2" charset="-122"/>
              <a:ea typeface="华文新魏" pitchFamily="2" charset="-122"/>
            </a:endParaRPr>
          </a:p>
        </p:txBody>
      </p:sp>
      <p:sp>
        <p:nvSpPr>
          <p:cNvPr id="229380" name="Text Box 4"/>
          <p:cNvSpPr txBox="1">
            <a:spLocks noChangeArrowheads="1"/>
          </p:cNvSpPr>
          <p:nvPr/>
        </p:nvSpPr>
        <p:spPr bwMode="auto">
          <a:xfrm>
            <a:off x="9194377" y="3987254"/>
            <a:ext cx="1313180" cy="769441"/>
          </a:xfrm>
          <a:prstGeom prst="rect">
            <a:avLst/>
          </a:prstGeom>
          <a:noFill/>
          <a:ln w="12700" cap="sq">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a:spcBef>
                <a:spcPct val="50000"/>
              </a:spcBef>
            </a:pPr>
            <a:r>
              <a:rPr kumimoji="1" lang="zh-CN" altLang="en-US" sz="4400" b="1" i="0">
                <a:latin typeface="华文新魏" pitchFamily="2" charset="-122"/>
                <a:ea typeface="华文新魏" pitchFamily="2" charset="-122"/>
              </a:rPr>
              <a:t>课程</a:t>
            </a:r>
            <a:endParaRPr kumimoji="1" lang="zh-CN" altLang="en-US" sz="4400" i="0">
              <a:latin typeface="华文新魏" pitchFamily="2" charset="-122"/>
              <a:ea typeface="华文新魏" pitchFamily="2" charset="-122"/>
            </a:endParaRPr>
          </a:p>
        </p:txBody>
      </p:sp>
      <p:sp>
        <p:nvSpPr>
          <p:cNvPr id="229381" name="AutoShape 5"/>
          <p:cNvSpPr>
            <a:spLocks noChangeArrowheads="1"/>
          </p:cNvSpPr>
          <p:nvPr/>
        </p:nvSpPr>
        <p:spPr bwMode="auto">
          <a:xfrm>
            <a:off x="5471584" y="3644900"/>
            <a:ext cx="2032000" cy="1377950"/>
          </a:xfrm>
          <a:prstGeom prst="diamond">
            <a:avLst/>
          </a:prstGeom>
          <a:noFill/>
          <a:ln w="12700" cap="sq">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4400" b="1" i="0">
                <a:latin typeface="华文新魏" pitchFamily="2" charset="-122"/>
                <a:ea typeface="华文新魏" pitchFamily="2" charset="-122"/>
              </a:rPr>
              <a:t>选修</a:t>
            </a:r>
          </a:p>
        </p:txBody>
      </p:sp>
      <p:sp>
        <p:nvSpPr>
          <p:cNvPr id="229382" name="Line 6"/>
          <p:cNvSpPr>
            <a:spLocks noChangeShapeType="1"/>
          </p:cNvSpPr>
          <p:nvPr/>
        </p:nvSpPr>
        <p:spPr bwMode="auto">
          <a:xfrm flipH="1">
            <a:off x="4353984" y="4343400"/>
            <a:ext cx="1117600" cy="0"/>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7"/>
          <p:cNvGrpSpPr>
            <a:grpSpLocks/>
          </p:cNvGrpSpPr>
          <p:nvPr/>
        </p:nvGrpSpPr>
        <p:grpSpPr bwMode="auto">
          <a:xfrm>
            <a:off x="975784" y="2493964"/>
            <a:ext cx="4929717" cy="1436688"/>
            <a:chOff x="456" y="1932"/>
            <a:chExt cx="2329" cy="905"/>
          </a:xfrm>
        </p:grpSpPr>
        <p:sp>
          <p:nvSpPr>
            <p:cNvPr id="12315" name="Oval 8"/>
            <p:cNvSpPr>
              <a:spLocks noChangeArrowheads="1"/>
            </p:cNvSpPr>
            <p:nvPr/>
          </p:nvSpPr>
          <p:spPr bwMode="auto">
            <a:xfrm>
              <a:off x="456" y="1932"/>
              <a:ext cx="409" cy="327"/>
            </a:xfrm>
            <a:prstGeom prst="ellipse">
              <a:avLst/>
            </a:prstGeom>
            <a:noFill/>
            <a:ln w="127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华文新魏" pitchFamily="2" charset="-122"/>
                  <a:ea typeface="华文新魏" pitchFamily="2" charset="-122"/>
                </a:rPr>
                <a:t>姓名</a:t>
              </a:r>
            </a:p>
          </p:txBody>
        </p:sp>
        <p:sp>
          <p:nvSpPr>
            <p:cNvPr id="12316" name="Oval 9"/>
            <p:cNvSpPr>
              <a:spLocks noChangeArrowheads="1"/>
            </p:cNvSpPr>
            <p:nvPr/>
          </p:nvSpPr>
          <p:spPr bwMode="auto">
            <a:xfrm>
              <a:off x="1416" y="1932"/>
              <a:ext cx="409" cy="327"/>
            </a:xfrm>
            <a:prstGeom prst="ellipse">
              <a:avLst/>
            </a:prstGeom>
            <a:noFill/>
            <a:ln w="127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华文新魏" pitchFamily="2" charset="-122"/>
                  <a:ea typeface="华文新魏" pitchFamily="2" charset="-122"/>
                </a:rPr>
                <a:t>学号</a:t>
              </a:r>
            </a:p>
          </p:txBody>
        </p:sp>
        <p:sp>
          <p:nvSpPr>
            <p:cNvPr id="12317" name="Oval 10"/>
            <p:cNvSpPr>
              <a:spLocks noChangeArrowheads="1"/>
            </p:cNvSpPr>
            <p:nvPr/>
          </p:nvSpPr>
          <p:spPr bwMode="auto">
            <a:xfrm>
              <a:off x="2376" y="1932"/>
              <a:ext cx="409" cy="327"/>
            </a:xfrm>
            <a:prstGeom prst="ellipse">
              <a:avLst/>
            </a:prstGeom>
            <a:noFill/>
            <a:ln w="127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华文新魏" pitchFamily="2" charset="-122"/>
                  <a:ea typeface="华文新魏" pitchFamily="2" charset="-122"/>
                </a:rPr>
                <a:t>系别</a:t>
              </a:r>
            </a:p>
          </p:txBody>
        </p:sp>
        <p:sp>
          <p:nvSpPr>
            <p:cNvPr id="12318" name="Line 11"/>
            <p:cNvSpPr>
              <a:spLocks noChangeShapeType="1"/>
            </p:cNvSpPr>
            <p:nvPr/>
          </p:nvSpPr>
          <p:spPr bwMode="auto">
            <a:xfrm>
              <a:off x="1620" y="2261"/>
              <a:ext cx="0" cy="576"/>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9" name="Line 12"/>
            <p:cNvSpPr>
              <a:spLocks noChangeShapeType="1"/>
            </p:cNvSpPr>
            <p:nvPr/>
          </p:nvSpPr>
          <p:spPr bwMode="auto">
            <a:xfrm flipH="1" flipV="1">
              <a:off x="660" y="2261"/>
              <a:ext cx="720" cy="576"/>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20" name="Line 13"/>
            <p:cNvSpPr>
              <a:spLocks noChangeShapeType="1"/>
            </p:cNvSpPr>
            <p:nvPr/>
          </p:nvSpPr>
          <p:spPr bwMode="auto">
            <a:xfrm flipV="1">
              <a:off x="1860" y="2261"/>
              <a:ext cx="768" cy="576"/>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29390" name="Line 14"/>
          <p:cNvSpPr>
            <a:spLocks noChangeShapeType="1"/>
          </p:cNvSpPr>
          <p:nvPr/>
        </p:nvSpPr>
        <p:spPr bwMode="auto">
          <a:xfrm flipH="1" flipV="1">
            <a:off x="7503584" y="4343400"/>
            <a:ext cx="1454149" cy="6350"/>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1" name="Oval 15"/>
          <p:cNvSpPr>
            <a:spLocks noChangeArrowheads="1"/>
          </p:cNvSpPr>
          <p:nvPr/>
        </p:nvSpPr>
        <p:spPr bwMode="auto">
          <a:xfrm>
            <a:off x="6054792" y="5590263"/>
            <a:ext cx="865584" cy="519351"/>
          </a:xfrm>
          <a:prstGeom prst="ellipse">
            <a:avLst/>
          </a:prstGeom>
          <a:noFill/>
          <a:ln w="127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华文新魏" pitchFamily="2" charset="-122"/>
                <a:ea typeface="华文新魏" pitchFamily="2" charset="-122"/>
              </a:rPr>
              <a:t>成绩</a:t>
            </a:r>
          </a:p>
        </p:txBody>
      </p:sp>
      <p:sp>
        <p:nvSpPr>
          <p:cNvPr id="229392" name="Line 16"/>
          <p:cNvSpPr>
            <a:spLocks noChangeShapeType="1"/>
          </p:cNvSpPr>
          <p:nvPr/>
        </p:nvSpPr>
        <p:spPr bwMode="auto">
          <a:xfrm>
            <a:off x="6487584" y="5022850"/>
            <a:ext cx="0" cy="533400"/>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9393" name="AutoShape 17"/>
          <p:cNvSpPr>
            <a:spLocks noChangeArrowheads="1"/>
          </p:cNvSpPr>
          <p:nvPr/>
        </p:nvSpPr>
        <p:spPr bwMode="auto">
          <a:xfrm>
            <a:off x="315384" y="3838378"/>
            <a:ext cx="1727200" cy="851297"/>
          </a:xfrm>
          <a:prstGeom prst="wedgeRoundRectCallout">
            <a:avLst>
              <a:gd name="adj1" fmla="val 79287"/>
              <a:gd name="adj2" fmla="val 26806"/>
              <a:gd name="adj3" fmla="val 16667"/>
            </a:avLst>
          </a:prstGeom>
          <a:noFill/>
          <a:ln w="12700">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spcBef>
                <a:spcPct val="50000"/>
              </a:spcBef>
            </a:pPr>
            <a:r>
              <a:rPr kumimoji="1" lang="zh-CN" altLang="en-US" sz="2000" b="1" i="0">
                <a:latin typeface="楷体_GB2312" pitchFamily="49" charset="-122"/>
                <a:ea typeface="楷体_GB2312" pitchFamily="49" charset="-122"/>
              </a:rPr>
              <a:t>用矩形表</a:t>
            </a:r>
          </a:p>
          <a:p>
            <a:pPr algn="ctr" eaLnBrk="1" hangingPunct="1">
              <a:spcBef>
                <a:spcPct val="50000"/>
              </a:spcBef>
            </a:pPr>
            <a:r>
              <a:rPr kumimoji="1" lang="zh-CN" altLang="en-US" sz="2000" b="1" i="0">
                <a:latin typeface="楷体_GB2312" pitchFamily="49" charset="-122"/>
                <a:ea typeface="楷体_GB2312" pitchFamily="49" charset="-122"/>
              </a:rPr>
              <a:t>示实体</a:t>
            </a:r>
          </a:p>
        </p:txBody>
      </p:sp>
      <p:sp>
        <p:nvSpPr>
          <p:cNvPr id="229394" name="AutoShape 18"/>
          <p:cNvSpPr>
            <a:spLocks noChangeArrowheads="1"/>
          </p:cNvSpPr>
          <p:nvPr/>
        </p:nvSpPr>
        <p:spPr bwMode="auto">
          <a:xfrm>
            <a:off x="2139949" y="1643396"/>
            <a:ext cx="2637367" cy="340519"/>
          </a:xfrm>
          <a:prstGeom prst="wedgeRoundRectCallout">
            <a:avLst>
              <a:gd name="adj1" fmla="val -268"/>
              <a:gd name="adj2" fmla="val 196298"/>
              <a:gd name="adj3" fmla="val 16667"/>
            </a:avLst>
          </a:prstGeom>
          <a:noFill/>
          <a:ln w="12700">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000" b="1" i="0">
                <a:latin typeface="楷体_GB2312" pitchFamily="49" charset="-122"/>
                <a:ea typeface="楷体_GB2312" pitchFamily="49" charset="-122"/>
              </a:rPr>
              <a:t>用椭圆表示实体的属性</a:t>
            </a:r>
          </a:p>
        </p:txBody>
      </p:sp>
      <p:sp>
        <p:nvSpPr>
          <p:cNvPr id="229395" name="AutoShape 19"/>
          <p:cNvSpPr>
            <a:spLocks noChangeArrowheads="1"/>
          </p:cNvSpPr>
          <p:nvPr/>
        </p:nvSpPr>
        <p:spPr bwMode="auto">
          <a:xfrm>
            <a:off x="8849784" y="1016399"/>
            <a:ext cx="2032000" cy="1021556"/>
          </a:xfrm>
          <a:prstGeom prst="wedgeRoundRectCallout">
            <a:avLst>
              <a:gd name="adj1" fmla="val -54167"/>
              <a:gd name="adj2" fmla="val 212542"/>
              <a:gd name="adj3" fmla="val 16667"/>
            </a:avLst>
          </a:prstGeom>
          <a:noFill/>
          <a:ln w="12700">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000" b="1" i="0">
                <a:latin typeface="楷体_GB2312" pitchFamily="49" charset="-122"/>
                <a:ea typeface="楷体_GB2312" pitchFamily="49" charset="-122"/>
              </a:rPr>
              <a:t>用无向边把实体与其属性连接起来</a:t>
            </a:r>
          </a:p>
        </p:txBody>
      </p:sp>
      <p:sp>
        <p:nvSpPr>
          <p:cNvPr id="229396" name="AutoShape 20"/>
          <p:cNvSpPr>
            <a:spLocks noChangeArrowheads="1"/>
          </p:cNvSpPr>
          <p:nvPr/>
        </p:nvSpPr>
        <p:spPr bwMode="auto">
          <a:xfrm>
            <a:off x="2347384" y="5290344"/>
            <a:ext cx="2743200" cy="681038"/>
          </a:xfrm>
          <a:prstGeom prst="wedgeRoundRectCallout">
            <a:avLst>
              <a:gd name="adj1" fmla="val 79782"/>
              <a:gd name="adj2" fmla="val -149764"/>
              <a:gd name="adj3" fmla="val 16667"/>
            </a:avLst>
          </a:prstGeom>
          <a:noFill/>
          <a:ln w="12700">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spcBef>
                <a:spcPct val="50000"/>
              </a:spcBef>
            </a:pPr>
            <a:r>
              <a:rPr kumimoji="1" lang="zh-CN" altLang="en-US" sz="2000" b="1" i="0">
                <a:latin typeface="楷体_GB2312" pitchFamily="49" charset="-122"/>
                <a:ea typeface="楷体_GB2312" pitchFamily="49" charset="-122"/>
              </a:rPr>
              <a:t>用菱形表示实体间的联系</a:t>
            </a:r>
          </a:p>
        </p:txBody>
      </p:sp>
      <p:sp>
        <p:nvSpPr>
          <p:cNvPr id="229397" name="AutoShape 21"/>
          <p:cNvSpPr>
            <a:spLocks noChangeArrowheads="1"/>
          </p:cNvSpPr>
          <p:nvPr/>
        </p:nvSpPr>
        <p:spPr bwMode="auto">
          <a:xfrm>
            <a:off x="8036984" y="5050631"/>
            <a:ext cx="3147483" cy="681038"/>
          </a:xfrm>
          <a:prstGeom prst="wedgeRoundRectCallout">
            <a:avLst>
              <a:gd name="adj1" fmla="val -58741"/>
              <a:gd name="adj2" fmla="val -153773"/>
              <a:gd name="adj3" fmla="val 16667"/>
            </a:avLst>
          </a:prstGeom>
          <a:noFill/>
          <a:ln w="12700">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nchorCtr="1">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000" b="1" i="0">
                <a:latin typeface="楷体_GB2312" pitchFamily="49" charset="-122"/>
                <a:ea typeface="楷体_GB2312" pitchFamily="49" charset="-122"/>
              </a:rPr>
              <a:t>实体与联系用线段连接并注明类型</a:t>
            </a:r>
          </a:p>
        </p:txBody>
      </p:sp>
      <p:sp>
        <p:nvSpPr>
          <p:cNvPr id="229398" name="Rectangle 22"/>
          <p:cNvSpPr>
            <a:spLocks noChangeArrowheads="1"/>
          </p:cNvSpPr>
          <p:nvPr/>
        </p:nvSpPr>
        <p:spPr bwMode="auto">
          <a:xfrm>
            <a:off x="4760384" y="3962400"/>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3600" i="0">
                <a:latin typeface="华文新魏" pitchFamily="2" charset="-122"/>
                <a:ea typeface="华文新魏" pitchFamily="2" charset="-122"/>
              </a:rPr>
              <a:t>m</a:t>
            </a:r>
          </a:p>
        </p:txBody>
      </p:sp>
      <p:sp>
        <p:nvSpPr>
          <p:cNvPr id="229399" name="Rectangle 23"/>
          <p:cNvSpPr>
            <a:spLocks noChangeArrowheads="1"/>
          </p:cNvSpPr>
          <p:nvPr/>
        </p:nvSpPr>
        <p:spPr bwMode="auto">
          <a:xfrm>
            <a:off x="7808384" y="3962400"/>
            <a:ext cx="406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3600" i="0">
                <a:latin typeface="华文新魏" pitchFamily="2" charset="-122"/>
                <a:ea typeface="华文新魏" pitchFamily="2" charset="-122"/>
              </a:rPr>
              <a:t>n</a:t>
            </a:r>
          </a:p>
        </p:txBody>
      </p:sp>
      <p:grpSp>
        <p:nvGrpSpPr>
          <p:cNvPr id="3" name="Group 24"/>
          <p:cNvGrpSpPr>
            <a:grpSpLocks/>
          </p:cNvGrpSpPr>
          <p:nvPr/>
        </p:nvGrpSpPr>
        <p:grpSpPr bwMode="auto">
          <a:xfrm>
            <a:off x="7073901" y="2601914"/>
            <a:ext cx="4967816" cy="1366838"/>
            <a:chOff x="3337" y="2000"/>
            <a:chExt cx="2347" cy="861"/>
          </a:xfrm>
        </p:grpSpPr>
        <p:sp>
          <p:nvSpPr>
            <p:cNvPr id="12309" name="Oval 25"/>
            <p:cNvSpPr>
              <a:spLocks noChangeArrowheads="1"/>
            </p:cNvSpPr>
            <p:nvPr/>
          </p:nvSpPr>
          <p:spPr bwMode="auto">
            <a:xfrm>
              <a:off x="3337" y="2000"/>
              <a:ext cx="613" cy="327"/>
            </a:xfrm>
            <a:prstGeom prst="ellipse">
              <a:avLst/>
            </a:prstGeom>
            <a:noFill/>
            <a:ln w="127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华文新魏" pitchFamily="2" charset="-122"/>
                  <a:ea typeface="华文新魏" pitchFamily="2" charset="-122"/>
                </a:rPr>
                <a:t>课程号</a:t>
              </a:r>
            </a:p>
          </p:txBody>
        </p:sp>
        <p:sp>
          <p:nvSpPr>
            <p:cNvPr id="12310" name="Oval 26"/>
            <p:cNvSpPr>
              <a:spLocks noChangeArrowheads="1"/>
            </p:cNvSpPr>
            <p:nvPr/>
          </p:nvSpPr>
          <p:spPr bwMode="auto">
            <a:xfrm>
              <a:off x="4297" y="2000"/>
              <a:ext cx="613" cy="327"/>
            </a:xfrm>
            <a:prstGeom prst="ellipse">
              <a:avLst/>
            </a:prstGeom>
            <a:noFill/>
            <a:ln w="127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华文新魏" pitchFamily="2" charset="-122"/>
                  <a:ea typeface="华文新魏" pitchFamily="2" charset="-122"/>
                </a:rPr>
                <a:t>课程名</a:t>
              </a:r>
            </a:p>
          </p:txBody>
        </p:sp>
        <p:sp>
          <p:nvSpPr>
            <p:cNvPr id="12311" name="Oval 27"/>
            <p:cNvSpPr>
              <a:spLocks noChangeArrowheads="1"/>
            </p:cNvSpPr>
            <p:nvPr/>
          </p:nvSpPr>
          <p:spPr bwMode="auto">
            <a:xfrm>
              <a:off x="5275" y="2000"/>
              <a:ext cx="409" cy="327"/>
            </a:xfrm>
            <a:prstGeom prst="ellipse">
              <a:avLst/>
            </a:prstGeom>
            <a:noFill/>
            <a:ln w="12700" cap="sq">
              <a:solidFill>
                <a:schemeClr val="hlink"/>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a:spcBef>
                  <a:spcPct val="50000"/>
                </a:spcBef>
              </a:pPr>
              <a:r>
                <a:rPr kumimoji="1" lang="zh-CN" altLang="en-US" sz="2400" b="1" i="0">
                  <a:latin typeface="华文新魏" pitchFamily="2" charset="-122"/>
                  <a:ea typeface="华文新魏" pitchFamily="2" charset="-122"/>
                </a:rPr>
                <a:t>学分</a:t>
              </a:r>
              <a:endParaRPr kumimoji="1" lang="zh-CN" altLang="en-US" sz="2400" i="0">
                <a:latin typeface="华文新魏" pitchFamily="2" charset="-122"/>
                <a:ea typeface="华文新魏" pitchFamily="2" charset="-122"/>
              </a:endParaRPr>
            </a:p>
          </p:txBody>
        </p:sp>
        <p:sp>
          <p:nvSpPr>
            <p:cNvPr id="12312" name="Line 28"/>
            <p:cNvSpPr>
              <a:spLocks noChangeShapeType="1"/>
            </p:cNvSpPr>
            <p:nvPr/>
          </p:nvSpPr>
          <p:spPr bwMode="auto">
            <a:xfrm flipH="1" flipV="1">
              <a:off x="3692" y="2329"/>
              <a:ext cx="679" cy="532"/>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3" name="Line 29"/>
            <p:cNvSpPr>
              <a:spLocks noChangeShapeType="1"/>
            </p:cNvSpPr>
            <p:nvPr/>
          </p:nvSpPr>
          <p:spPr bwMode="auto">
            <a:xfrm flipV="1">
              <a:off x="4851" y="2333"/>
              <a:ext cx="624" cy="528"/>
            </a:xfrm>
            <a:prstGeom prst="line">
              <a:avLst/>
            </a:prstGeom>
            <a:noFill/>
            <a:ln w="12700" cap="sq">
              <a:solidFill>
                <a:schemeClr va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4" name="Line 30"/>
            <p:cNvSpPr>
              <a:spLocks noChangeShapeType="1"/>
            </p:cNvSpPr>
            <p:nvPr/>
          </p:nvSpPr>
          <p:spPr bwMode="auto">
            <a:xfrm>
              <a:off x="4611" y="2333"/>
              <a:ext cx="0" cy="528"/>
            </a:xfrm>
            <a:prstGeom prst="line">
              <a:avLst/>
            </a:prstGeom>
            <a:noFill/>
            <a:ln w="127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9407" name="Line 31"/>
          <p:cNvSpPr>
            <a:spLocks noChangeShapeType="1"/>
          </p:cNvSpPr>
          <p:nvPr/>
        </p:nvSpPr>
        <p:spPr bwMode="auto">
          <a:xfrm>
            <a:off x="7122584" y="3008313"/>
            <a:ext cx="1219200"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9408" name="Line 32"/>
          <p:cNvSpPr>
            <a:spLocks noChangeShapeType="1"/>
          </p:cNvSpPr>
          <p:nvPr/>
        </p:nvSpPr>
        <p:spPr bwMode="auto">
          <a:xfrm>
            <a:off x="3058584" y="2932113"/>
            <a:ext cx="711200" cy="0"/>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矩形 32"/>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35"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6" name="直接连接符 35"/>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697695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29379"/>
                                        </p:tgtEl>
                                        <p:attrNameLst>
                                          <p:attrName>style.visibility</p:attrName>
                                        </p:attrNameLst>
                                      </p:cBhvr>
                                      <p:to>
                                        <p:strVal val="visible"/>
                                      </p:to>
                                    </p:set>
                                    <p:animEffect transition="in" filter="slide(fromBottom)">
                                      <p:cBhvr>
                                        <p:cTn id="7" dur="500"/>
                                        <p:tgtEl>
                                          <p:spTgt spid="229379"/>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229380"/>
                                        </p:tgtEl>
                                        <p:attrNameLst>
                                          <p:attrName>style.visibility</p:attrName>
                                        </p:attrNameLst>
                                      </p:cBhvr>
                                      <p:to>
                                        <p:strVal val="visible"/>
                                      </p:to>
                                    </p:set>
                                    <p:animEffect transition="in" filter="slide(fromBottom)">
                                      <p:cBhvr>
                                        <p:cTn id="10" dur="500"/>
                                        <p:tgtEl>
                                          <p:spTgt spid="22938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229381"/>
                                        </p:tgtEl>
                                        <p:attrNameLst>
                                          <p:attrName>style.visibility</p:attrName>
                                        </p:attrNameLst>
                                      </p:cBhvr>
                                      <p:to>
                                        <p:strVal val="visible"/>
                                      </p:to>
                                    </p:set>
                                    <p:animEffect transition="in" filter="slide(fromBottom)">
                                      <p:cBhvr>
                                        <p:cTn id="15" dur="500"/>
                                        <p:tgtEl>
                                          <p:spTgt spid="22938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229382"/>
                                        </p:tgtEl>
                                        <p:attrNameLst>
                                          <p:attrName>style.visibility</p:attrName>
                                        </p:attrNameLst>
                                      </p:cBhvr>
                                      <p:to>
                                        <p:strVal val="visible"/>
                                      </p:to>
                                    </p:set>
                                    <p:animEffect transition="in" filter="slide(fromBottom)">
                                      <p:cBhvr>
                                        <p:cTn id="20" dur="500"/>
                                        <p:tgtEl>
                                          <p:spTgt spid="229382"/>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229398"/>
                                        </p:tgtEl>
                                        <p:attrNameLst>
                                          <p:attrName>style.visibility</p:attrName>
                                        </p:attrNameLst>
                                      </p:cBhvr>
                                      <p:to>
                                        <p:strVal val="visible"/>
                                      </p:to>
                                    </p:set>
                                    <p:animEffect transition="in" filter="slide(fromBottom)">
                                      <p:cBhvr>
                                        <p:cTn id="23" dur="500"/>
                                        <p:tgtEl>
                                          <p:spTgt spid="229398"/>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229399"/>
                                        </p:tgtEl>
                                        <p:attrNameLst>
                                          <p:attrName>style.visibility</p:attrName>
                                        </p:attrNameLst>
                                      </p:cBhvr>
                                      <p:to>
                                        <p:strVal val="visible"/>
                                      </p:to>
                                    </p:set>
                                    <p:animEffect transition="in" filter="slide(fromBottom)">
                                      <p:cBhvr>
                                        <p:cTn id="26" dur="500"/>
                                        <p:tgtEl>
                                          <p:spTgt spid="229399"/>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229390"/>
                                        </p:tgtEl>
                                        <p:attrNameLst>
                                          <p:attrName>style.visibility</p:attrName>
                                        </p:attrNameLst>
                                      </p:cBhvr>
                                      <p:to>
                                        <p:strVal val="visible"/>
                                      </p:to>
                                    </p:set>
                                    <p:animEffect transition="in" filter="slide(fromBottom)">
                                      <p:cBhvr>
                                        <p:cTn id="29" dur="500"/>
                                        <p:tgtEl>
                                          <p:spTgt spid="22939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slide(fromBottom)">
                                      <p:cBhvr>
                                        <p:cTn id="34" dur="500"/>
                                        <p:tgtEl>
                                          <p:spTgt spid="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slide(fromBottom)">
                                      <p:cBhvr>
                                        <p:cTn id="39" dur="500"/>
                                        <p:tgtEl>
                                          <p:spTgt spid="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229392"/>
                                        </p:tgtEl>
                                        <p:attrNameLst>
                                          <p:attrName>style.visibility</p:attrName>
                                        </p:attrNameLst>
                                      </p:cBhvr>
                                      <p:to>
                                        <p:strVal val="visible"/>
                                      </p:to>
                                    </p:set>
                                    <p:animEffect transition="in" filter="slide(fromBottom)">
                                      <p:cBhvr>
                                        <p:cTn id="44" dur="500"/>
                                        <p:tgtEl>
                                          <p:spTgt spid="229392"/>
                                        </p:tgtEl>
                                      </p:cBhvr>
                                    </p:animEffect>
                                  </p:childTnLst>
                                </p:cTn>
                              </p:par>
                              <p:par>
                                <p:cTn id="45" presetID="12" presetClass="entr" presetSubtype="4" fill="hold" grpId="0" nodeType="withEffect">
                                  <p:stCondLst>
                                    <p:cond delay="0"/>
                                  </p:stCondLst>
                                  <p:childTnLst>
                                    <p:set>
                                      <p:cBhvr>
                                        <p:cTn id="46" dur="1" fill="hold">
                                          <p:stCondLst>
                                            <p:cond delay="0"/>
                                          </p:stCondLst>
                                        </p:cTn>
                                        <p:tgtEl>
                                          <p:spTgt spid="229391"/>
                                        </p:tgtEl>
                                        <p:attrNameLst>
                                          <p:attrName>style.visibility</p:attrName>
                                        </p:attrNameLst>
                                      </p:cBhvr>
                                      <p:to>
                                        <p:strVal val="visible"/>
                                      </p:to>
                                    </p:set>
                                    <p:animEffect transition="in" filter="slide(fromBottom)">
                                      <p:cBhvr>
                                        <p:cTn id="47" dur="500"/>
                                        <p:tgtEl>
                                          <p:spTgt spid="22939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229393"/>
                                        </p:tgtEl>
                                        <p:attrNameLst>
                                          <p:attrName>style.visibility</p:attrName>
                                        </p:attrNameLst>
                                      </p:cBhvr>
                                      <p:to>
                                        <p:strVal val="visible"/>
                                      </p:to>
                                    </p:set>
                                    <p:animEffect transition="in" filter="slide(fromBottom)">
                                      <p:cBhvr>
                                        <p:cTn id="52" dur="500"/>
                                        <p:tgtEl>
                                          <p:spTgt spid="22939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4" fill="hold" grpId="0" nodeType="clickEffect">
                                  <p:stCondLst>
                                    <p:cond delay="0"/>
                                  </p:stCondLst>
                                  <p:childTnLst>
                                    <p:set>
                                      <p:cBhvr>
                                        <p:cTn id="56" dur="1" fill="hold">
                                          <p:stCondLst>
                                            <p:cond delay="0"/>
                                          </p:stCondLst>
                                        </p:cTn>
                                        <p:tgtEl>
                                          <p:spTgt spid="229394"/>
                                        </p:tgtEl>
                                        <p:attrNameLst>
                                          <p:attrName>style.visibility</p:attrName>
                                        </p:attrNameLst>
                                      </p:cBhvr>
                                      <p:to>
                                        <p:strVal val="visible"/>
                                      </p:to>
                                    </p:set>
                                    <p:animEffect transition="in" filter="slide(fromBottom)">
                                      <p:cBhvr>
                                        <p:cTn id="57" dur="500"/>
                                        <p:tgtEl>
                                          <p:spTgt spid="22939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2" presetClass="entr" presetSubtype="4" fill="hold" grpId="0" nodeType="clickEffect">
                                  <p:stCondLst>
                                    <p:cond delay="0"/>
                                  </p:stCondLst>
                                  <p:childTnLst>
                                    <p:set>
                                      <p:cBhvr>
                                        <p:cTn id="61" dur="1" fill="hold">
                                          <p:stCondLst>
                                            <p:cond delay="0"/>
                                          </p:stCondLst>
                                        </p:cTn>
                                        <p:tgtEl>
                                          <p:spTgt spid="229395"/>
                                        </p:tgtEl>
                                        <p:attrNameLst>
                                          <p:attrName>style.visibility</p:attrName>
                                        </p:attrNameLst>
                                      </p:cBhvr>
                                      <p:to>
                                        <p:strVal val="visible"/>
                                      </p:to>
                                    </p:set>
                                    <p:animEffect transition="in" filter="slide(fromBottom)">
                                      <p:cBhvr>
                                        <p:cTn id="62" dur="500"/>
                                        <p:tgtEl>
                                          <p:spTgt spid="22939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4" fill="hold" grpId="0" nodeType="clickEffect">
                                  <p:stCondLst>
                                    <p:cond delay="0"/>
                                  </p:stCondLst>
                                  <p:childTnLst>
                                    <p:set>
                                      <p:cBhvr>
                                        <p:cTn id="66" dur="1" fill="hold">
                                          <p:stCondLst>
                                            <p:cond delay="0"/>
                                          </p:stCondLst>
                                        </p:cTn>
                                        <p:tgtEl>
                                          <p:spTgt spid="229397"/>
                                        </p:tgtEl>
                                        <p:attrNameLst>
                                          <p:attrName>style.visibility</p:attrName>
                                        </p:attrNameLst>
                                      </p:cBhvr>
                                      <p:to>
                                        <p:strVal val="visible"/>
                                      </p:to>
                                    </p:set>
                                    <p:animEffect transition="in" filter="slide(fromBottom)">
                                      <p:cBhvr>
                                        <p:cTn id="67" dur="500"/>
                                        <p:tgtEl>
                                          <p:spTgt spid="22939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2" presetClass="entr" presetSubtype="4" fill="hold" grpId="0" nodeType="clickEffect">
                                  <p:stCondLst>
                                    <p:cond delay="0"/>
                                  </p:stCondLst>
                                  <p:childTnLst>
                                    <p:set>
                                      <p:cBhvr>
                                        <p:cTn id="71" dur="1" fill="hold">
                                          <p:stCondLst>
                                            <p:cond delay="0"/>
                                          </p:stCondLst>
                                        </p:cTn>
                                        <p:tgtEl>
                                          <p:spTgt spid="229396"/>
                                        </p:tgtEl>
                                        <p:attrNameLst>
                                          <p:attrName>style.visibility</p:attrName>
                                        </p:attrNameLst>
                                      </p:cBhvr>
                                      <p:to>
                                        <p:strVal val="visible"/>
                                      </p:to>
                                    </p:set>
                                    <p:animEffect transition="in" filter="slide(fromBottom)">
                                      <p:cBhvr>
                                        <p:cTn id="72" dur="500"/>
                                        <p:tgtEl>
                                          <p:spTgt spid="22939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29408"/>
                                        </p:tgtEl>
                                        <p:attrNameLst>
                                          <p:attrName>style.visibility</p:attrName>
                                        </p:attrNameLst>
                                      </p:cBhvr>
                                      <p:to>
                                        <p:strVal val="visible"/>
                                      </p:to>
                                    </p:set>
                                    <p:animEffect transition="in" filter="blinds(horizontal)">
                                      <p:cBhvr>
                                        <p:cTn id="77" dur="500"/>
                                        <p:tgtEl>
                                          <p:spTgt spid="22940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29407"/>
                                        </p:tgtEl>
                                        <p:attrNameLst>
                                          <p:attrName>style.visibility</p:attrName>
                                        </p:attrNameLst>
                                      </p:cBhvr>
                                      <p:to>
                                        <p:strVal val="visible"/>
                                      </p:to>
                                    </p:set>
                                    <p:animEffect transition="in" filter="blinds(horizontal)">
                                      <p:cBhvr>
                                        <p:cTn id="82" dur="500"/>
                                        <p:tgtEl>
                                          <p:spTgt spid="229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animBg="1"/>
      <p:bldP spid="229380" grpId="0" animBg="1"/>
      <p:bldP spid="229381" grpId="0" animBg="1"/>
      <p:bldP spid="229382" grpId="0" animBg="1"/>
      <p:bldP spid="229390" grpId="0" animBg="1"/>
      <p:bldP spid="229391" grpId="0" animBg="1"/>
      <p:bldP spid="229392" grpId="0" animBg="1"/>
      <p:bldP spid="229393" grpId="0" animBg="1"/>
      <p:bldP spid="229394" grpId="0" animBg="1"/>
      <p:bldP spid="229395" grpId="0" animBg="1"/>
      <p:bldP spid="229396" grpId="0" animBg="1"/>
      <p:bldP spid="229397" grpId="0" animBg="1"/>
      <p:bldP spid="229398" grpId="0"/>
      <p:bldP spid="229399" grpId="0"/>
      <p:bldP spid="229407" grpId="0" animBg="1"/>
      <p:bldP spid="229408"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0403" name="Rectangle 3"/>
          <p:cNvSpPr>
            <a:spLocks noGrp="1" noChangeArrowheads="1"/>
          </p:cNvSpPr>
          <p:nvPr>
            <p:ph type="body" idx="1"/>
          </p:nvPr>
        </p:nvSpPr>
        <p:spPr bwMode="auto">
          <a:xfrm>
            <a:off x="707828" y="1034511"/>
            <a:ext cx="10574867" cy="472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90000"/>
              </a:lnSpc>
              <a:buFontTx/>
              <a:buNone/>
            </a:pPr>
            <a:r>
              <a:rPr lang="en-US" altLang="zh-CN" sz="2400" b="1" dirty="0">
                <a:solidFill>
                  <a:srgbClr val="FF0000"/>
                </a:solidFill>
              </a:rPr>
              <a:t>【</a:t>
            </a:r>
            <a:r>
              <a:rPr lang="zh-CN" altLang="en-US" sz="2400" b="1" dirty="0">
                <a:solidFill>
                  <a:srgbClr val="FF0000"/>
                </a:solidFill>
              </a:rPr>
              <a:t>例</a:t>
            </a:r>
            <a:r>
              <a:rPr lang="en-US" altLang="zh-CN" sz="2400" b="1" dirty="0">
                <a:solidFill>
                  <a:srgbClr val="FF0000"/>
                </a:solidFill>
              </a:rPr>
              <a:t>】</a:t>
            </a:r>
            <a:r>
              <a:rPr lang="zh-CN" altLang="en-US" sz="2400" b="1" dirty="0"/>
              <a:t>为仓库管理设计一个</a:t>
            </a:r>
            <a:r>
              <a:rPr lang="en-US" altLang="zh-CN" sz="2400" b="1" dirty="0"/>
              <a:t>E-R</a:t>
            </a:r>
            <a:r>
              <a:rPr lang="zh-CN" altLang="en-US" sz="2400" b="1" dirty="0"/>
              <a:t>模型，该仓库主要管理零件的入库、出库和采购等事项；仓库根据需要向外面厂家（供应商）订购零件，而许多工程项目需要仓库供应零件；一个仓库有多个保管员。</a:t>
            </a:r>
            <a:endParaRPr lang="zh-CN" altLang="zh-CN" sz="2800" dirty="0"/>
          </a:p>
          <a:p>
            <a:pPr eaLnBrk="1" hangingPunct="1">
              <a:lnSpc>
                <a:spcPct val="90000"/>
              </a:lnSpc>
              <a:buFontTx/>
              <a:buNone/>
            </a:pPr>
            <a:endParaRPr lang="zh-CN" altLang="en-US" sz="2400" b="1" dirty="0"/>
          </a:p>
          <a:p>
            <a:pPr eaLnBrk="1" hangingPunct="1">
              <a:lnSpc>
                <a:spcPct val="90000"/>
              </a:lnSpc>
              <a:buFontTx/>
              <a:buNone/>
            </a:pPr>
            <a:r>
              <a:rPr lang="zh-CN" altLang="en-US" sz="2400" b="1" dirty="0"/>
              <a:t>实体有：</a:t>
            </a:r>
            <a:endParaRPr lang="zh-CN" altLang="en-US" sz="2800" dirty="0"/>
          </a:p>
          <a:p>
            <a:pPr eaLnBrk="1" hangingPunct="1">
              <a:lnSpc>
                <a:spcPct val="90000"/>
              </a:lnSpc>
            </a:pPr>
            <a:r>
              <a:rPr lang="zh-CN" altLang="en-US" sz="2400" b="1" dirty="0">
                <a:solidFill>
                  <a:srgbClr val="FF3300"/>
                </a:solidFill>
              </a:rPr>
              <a:t>仓库：</a:t>
            </a:r>
            <a:r>
              <a:rPr lang="zh-CN" altLang="en-US" sz="2400" b="1" dirty="0"/>
              <a:t>属性有仓库号、仓库面积、电话号码。</a:t>
            </a:r>
          </a:p>
          <a:p>
            <a:pPr eaLnBrk="1" hangingPunct="1">
              <a:lnSpc>
                <a:spcPct val="90000"/>
              </a:lnSpc>
            </a:pPr>
            <a:r>
              <a:rPr lang="zh-CN" altLang="en-US" sz="2400" b="1" dirty="0">
                <a:solidFill>
                  <a:srgbClr val="FF3300"/>
                </a:solidFill>
              </a:rPr>
              <a:t>零件：</a:t>
            </a:r>
            <a:r>
              <a:rPr lang="zh-CN" altLang="en-US" sz="2400" b="1" dirty="0"/>
              <a:t>属性有零件号、名称、规格、单价、描述。</a:t>
            </a:r>
          </a:p>
          <a:p>
            <a:pPr eaLnBrk="1" hangingPunct="1">
              <a:lnSpc>
                <a:spcPct val="90000"/>
              </a:lnSpc>
            </a:pPr>
            <a:r>
              <a:rPr lang="zh-CN" altLang="en-US" sz="2400" b="1" dirty="0">
                <a:solidFill>
                  <a:srgbClr val="FF3300"/>
                </a:solidFill>
              </a:rPr>
              <a:t>供应商：</a:t>
            </a:r>
            <a:r>
              <a:rPr lang="zh-CN" altLang="en-US" sz="2400" b="1" dirty="0"/>
              <a:t>属性有供应商编号、姓名、地址、电话号码、帐号。</a:t>
            </a:r>
          </a:p>
          <a:p>
            <a:pPr eaLnBrk="1" hangingPunct="1">
              <a:lnSpc>
                <a:spcPct val="90000"/>
              </a:lnSpc>
            </a:pPr>
            <a:r>
              <a:rPr lang="zh-CN" altLang="en-US" sz="2400" b="1" dirty="0">
                <a:solidFill>
                  <a:srgbClr val="FF3300"/>
                </a:solidFill>
              </a:rPr>
              <a:t>项目：</a:t>
            </a:r>
            <a:r>
              <a:rPr lang="zh-CN" altLang="en-US" sz="2400" b="1" dirty="0"/>
              <a:t>属性有项目号、预算、开工日期。</a:t>
            </a:r>
          </a:p>
          <a:p>
            <a:pPr eaLnBrk="1" hangingPunct="1">
              <a:lnSpc>
                <a:spcPct val="90000"/>
              </a:lnSpc>
            </a:pPr>
            <a:r>
              <a:rPr lang="zh-CN" altLang="en-US" sz="2400" b="1" dirty="0">
                <a:solidFill>
                  <a:srgbClr val="FF3300"/>
                </a:solidFill>
              </a:rPr>
              <a:t>职工：</a:t>
            </a:r>
            <a:r>
              <a:rPr lang="zh-CN" altLang="en-US" sz="2400" b="1" dirty="0"/>
              <a:t>属性有职工号、姓名、年龄、职称。</a:t>
            </a:r>
          </a:p>
        </p:txBody>
      </p:sp>
      <p:sp>
        <p:nvSpPr>
          <p:cNvPr id="4" name="矩形 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6"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98916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0403">
                                            <p:txEl>
                                              <p:pRg st="0" end="0"/>
                                            </p:txEl>
                                          </p:spTgt>
                                        </p:tgtEl>
                                        <p:attrNameLst>
                                          <p:attrName>style.visibility</p:attrName>
                                        </p:attrNameLst>
                                      </p:cBhvr>
                                      <p:to>
                                        <p:strVal val="visible"/>
                                      </p:to>
                                    </p:set>
                                    <p:animEffect transition="in" filter="blinds(horizontal)">
                                      <p:cBhvr>
                                        <p:cTn id="7" dur="500"/>
                                        <p:tgtEl>
                                          <p:spTgt spid="2304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0403">
                                            <p:txEl>
                                              <p:pRg st="2" end="2"/>
                                            </p:txEl>
                                          </p:spTgt>
                                        </p:tgtEl>
                                        <p:attrNameLst>
                                          <p:attrName>style.visibility</p:attrName>
                                        </p:attrNameLst>
                                      </p:cBhvr>
                                      <p:to>
                                        <p:strVal val="visible"/>
                                      </p:to>
                                    </p:set>
                                    <p:animEffect transition="in" filter="blinds(horizontal)">
                                      <p:cBhvr>
                                        <p:cTn id="12" dur="500"/>
                                        <p:tgtEl>
                                          <p:spTgt spid="2304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0403">
                                            <p:txEl>
                                              <p:pRg st="3" end="3"/>
                                            </p:txEl>
                                          </p:spTgt>
                                        </p:tgtEl>
                                        <p:attrNameLst>
                                          <p:attrName>style.visibility</p:attrName>
                                        </p:attrNameLst>
                                      </p:cBhvr>
                                      <p:to>
                                        <p:strVal val="visible"/>
                                      </p:to>
                                    </p:set>
                                    <p:animEffect transition="in" filter="blinds(horizontal)">
                                      <p:cBhvr>
                                        <p:cTn id="17" dur="500"/>
                                        <p:tgtEl>
                                          <p:spTgt spid="23040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0403">
                                            <p:txEl>
                                              <p:pRg st="4" end="4"/>
                                            </p:txEl>
                                          </p:spTgt>
                                        </p:tgtEl>
                                        <p:attrNameLst>
                                          <p:attrName>style.visibility</p:attrName>
                                        </p:attrNameLst>
                                      </p:cBhvr>
                                      <p:to>
                                        <p:strVal val="visible"/>
                                      </p:to>
                                    </p:set>
                                    <p:animEffect transition="in" filter="blinds(horizontal)">
                                      <p:cBhvr>
                                        <p:cTn id="22" dur="500"/>
                                        <p:tgtEl>
                                          <p:spTgt spid="23040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0403">
                                            <p:txEl>
                                              <p:pRg st="5" end="5"/>
                                            </p:txEl>
                                          </p:spTgt>
                                        </p:tgtEl>
                                        <p:attrNameLst>
                                          <p:attrName>style.visibility</p:attrName>
                                        </p:attrNameLst>
                                      </p:cBhvr>
                                      <p:to>
                                        <p:strVal val="visible"/>
                                      </p:to>
                                    </p:set>
                                    <p:animEffect transition="in" filter="blinds(horizontal)">
                                      <p:cBhvr>
                                        <p:cTn id="27" dur="500"/>
                                        <p:tgtEl>
                                          <p:spTgt spid="230403">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30403">
                                            <p:txEl>
                                              <p:pRg st="6" end="6"/>
                                            </p:txEl>
                                          </p:spTgt>
                                        </p:tgtEl>
                                        <p:attrNameLst>
                                          <p:attrName>style.visibility</p:attrName>
                                        </p:attrNameLst>
                                      </p:cBhvr>
                                      <p:to>
                                        <p:strVal val="visible"/>
                                      </p:to>
                                    </p:set>
                                    <p:animEffect transition="in" filter="blinds(horizontal)">
                                      <p:cBhvr>
                                        <p:cTn id="32" dur="500"/>
                                        <p:tgtEl>
                                          <p:spTgt spid="230403">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30403">
                                            <p:txEl>
                                              <p:pRg st="7" end="7"/>
                                            </p:txEl>
                                          </p:spTgt>
                                        </p:tgtEl>
                                        <p:attrNameLst>
                                          <p:attrName>style.visibility</p:attrName>
                                        </p:attrNameLst>
                                      </p:cBhvr>
                                      <p:to>
                                        <p:strVal val="visible"/>
                                      </p:to>
                                    </p:set>
                                    <p:animEffect transition="in" filter="blinds(horizontal)">
                                      <p:cBhvr>
                                        <p:cTn id="37" dur="500"/>
                                        <p:tgtEl>
                                          <p:spTgt spid="23040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1427" name="Rectangle 3"/>
          <p:cNvSpPr>
            <a:spLocks noGrp="1" noChangeArrowheads="1"/>
          </p:cNvSpPr>
          <p:nvPr>
            <p:ph type="body" idx="1"/>
          </p:nvPr>
        </p:nvSpPr>
        <p:spPr bwMode="auto">
          <a:xfrm>
            <a:off x="711200" y="1066800"/>
            <a:ext cx="10574867" cy="152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eaLnBrk="1" hangingPunct="1">
              <a:lnSpc>
                <a:spcPct val="90000"/>
              </a:lnSpc>
              <a:buFontTx/>
              <a:buNone/>
            </a:pPr>
            <a:r>
              <a:rPr lang="zh-CN" altLang="en-US" sz="2400" b="1" dirty="0">
                <a:ea typeface="楷体_GB2312" pitchFamily="49" charset="-122"/>
              </a:rPr>
              <a:t>实体之间的联系如下：</a:t>
            </a:r>
          </a:p>
          <a:p>
            <a:pPr eaLnBrk="1" hangingPunct="1">
              <a:lnSpc>
                <a:spcPct val="90000"/>
              </a:lnSpc>
            </a:pPr>
            <a:r>
              <a:rPr lang="zh-CN" altLang="en-US" sz="2400" b="1" dirty="0">
                <a:ea typeface="楷体_GB2312" pitchFamily="49" charset="-122"/>
              </a:rPr>
              <a:t>一个仓库可以存放多种零件，一种零件可以存放在多个仓库中，某种零件在某个仓库中的数量用库存量描述。</a:t>
            </a:r>
          </a:p>
        </p:txBody>
      </p:sp>
      <p:sp>
        <p:nvSpPr>
          <p:cNvPr id="231428" name="Rectangle 4"/>
          <p:cNvSpPr>
            <a:spLocks noChangeArrowheads="1"/>
          </p:cNvSpPr>
          <p:nvPr/>
        </p:nvSpPr>
        <p:spPr bwMode="auto">
          <a:xfrm>
            <a:off x="5080000" y="2362201"/>
            <a:ext cx="5588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400" b="1" i="0" dirty="0">
                <a:solidFill>
                  <a:srgbClr val="FF3300"/>
                </a:solidFill>
                <a:latin typeface="Tahoma" pitchFamily="34" charset="0"/>
                <a:ea typeface="楷体_GB2312" pitchFamily="49" charset="-122"/>
              </a:rPr>
              <a:t>仓库</a:t>
            </a:r>
            <a:r>
              <a:rPr kumimoji="1" lang="en-US" altLang="zh-CN" sz="2400" b="1" i="0" dirty="0">
                <a:solidFill>
                  <a:srgbClr val="FF3300"/>
                </a:solidFill>
                <a:latin typeface="Tahoma" pitchFamily="34" charset="0"/>
                <a:ea typeface="楷体_GB2312" pitchFamily="49" charset="-122"/>
              </a:rPr>
              <a:t>:</a:t>
            </a:r>
            <a:r>
              <a:rPr kumimoji="1" lang="zh-CN" altLang="en-US" sz="2400" b="1" i="0" dirty="0">
                <a:solidFill>
                  <a:srgbClr val="FF3300"/>
                </a:solidFill>
                <a:latin typeface="Tahoma" pitchFamily="34" charset="0"/>
                <a:ea typeface="楷体_GB2312" pitchFamily="49" charset="-122"/>
              </a:rPr>
              <a:t>零件－ </a:t>
            </a:r>
            <a:r>
              <a:rPr kumimoji="1" lang="en-US" altLang="zh-CN" sz="2400" b="1" i="0" dirty="0">
                <a:solidFill>
                  <a:srgbClr val="FF3300"/>
                </a:solidFill>
                <a:latin typeface="Tahoma" pitchFamily="34" charset="0"/>
                <a:ea typeface="楷体_GB2312" pitchFamily="49" charset="-122"/>
              </a:rPr>
              <a:t>m : n</a:t>
            </a:r>
          </a:p>
        </p:txBody>
      </p:sp>
      <p:sp>
        <p:nvSpPr>
          <p:cNvPr id="231429" name="Rectangle 5"/>
          <p:cNvSpPr>
            <a:spLocks noChangeArrowheads="1"/>
          </p:cNvSpPr>
          <p:nvPr/>
        </p:nvSpPr>
        <p:spPr bwMode="auto">
          <a:xfrm>
            <a:off x="5080000" y="3195934"/>
            <a:ext cx="508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400" b="1" i="0" dirty="0">
                <a:solidFill>
                  <a:srgbClr val="FF3300"/>
                </a:solidFill>
                <a:latin typeface="Tahoma" pitchFamily="34" charset="0"/>
                <a:ea typeface="楷体_GB2312" pitchFamily="49" charset="-122"/>
              </a:rPr>
              <a:t>仓库</a:t>
            </a:r>
            <a:r>
              <a:rPr kumimoji="1" lang="en-US" altLang="zh-CN" sz="2400" b="1" i="0" dirty="0">
                <a:solidFill>
                  <a:srgbClr val="FF3300"/>
                </a:solidFill>
                <a:latin typeface="Tahoma" pitchFamily="34" charset="0"/>
                <a:ea typeface="楷体_GB2312" pitchFamily="49" charset="-122"/>
              </a:rPr>
              <a:t>:</a:t>
            </a:r>
            <a:r>
              <a:rPr kumimoji="1" lang="zh-CN" altLang="en-US" sz="2400" b="1" i="0" dirty="0">
                <a:solidFill>
                  <a:srgbClr val="FF3300"/>
                </a:solidFill>
                <a:latin typeface="Tahoma" pitchFamily="34" charset="0"/>
                <a:ea typeface="楷体_GB2312" pitchFamily="49" charset="-122"/>
              </a:rPr>
              <a:t>职工－</a:t>
            </a:r>
            <a:r>
              <a:rPr kumimoji="1" lang="en-US" altLang="zh-CN" sz="2400" b="1" i="0" dirty="0">
                <a:solidFill>
                  <a:srgbClr val="FF3300"/>
                </a:solidFill>
                <a:latin typeface="Tahoma" pitchFamily="34" charset="0"/>
                <a:ea typeface="楷体_GB2312" pitchFamily="49" charset="-122"/>
              </a:rPr>
              <a:t>1:n</a:t>
            </a:r>
          </a:p>
        </p:txBody>
      </p:sp>
      <p:sp>
        <p:nvSpPr>
          <p:cNvPr id="231430" name="Rectangle 6"/>
          <p:cNvSpPr>
            <a:spLocks noChangeArrowheads="1"/>
          </p:cNvSpPr>
          <p:nvPr/>
        </p:nvSpPr>
        <p:spPr bwMode="auto">
          <a:xfrm>
            <a:off x="5080000" y="4038601"/>
            <a:ext cx="619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r>
              <a:rPr kumimoji="1" lang="zh-CN" altLang="en-US" sz="2400" b="1" i="0" dirty="0">
                <a:solidFill>
                  <a:srgbClr val="FF3300"/>
                </a:solidFill>
                <a:latin typeface="Tahoma" pitchFamily="34" charset="0"/>
                <a:ea typeface="楷体_GB2312" pitchFamily="49" charset="-122"/>
              </a:rPr>
              <a:t>职工实体集之间－</a:t>
            </a:r>
            <a:r>
              <a:rPr kumimoji="1" lang="en-US" altLang="zh-CN" sz="2400" b="1" i="0" dirty="0">
                <a:solidFill>
                  <a:srgbClr val="FF3300"/>
                </a:solidFill>
                <a:latin typeface="Tahoma" pitchFamily="34" charset="0"/>
                <a:ea typeface="楷体_GB2312" pitchFamily="49" charset="-122"/>
              </a:rPr>
              <a:t>1:n</a:t>
            </a:r>
          </a:p>
        </p:txBody>
      </p:sp>
      <p:sp>
        <p:nvSpPr>
          <p:cNvPr id="231431" name="Rectangle 7"/>
          <p:cNvSpPr>
            <a:spLocks noChangeArrowheads="1"/>
          </p:cNvSpPr>
          <p:nvPr/>
        </p:nvSpPr>
        <p:spPr bwMode="auto">
          <a:xfrm>
            <a:off x="5202265" y="5448300"/>
            <a:ext cx="4152099"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wrap="none">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lnSpc>
                <a:spcPct val="90000"/>
              </a:lnSpc>
              <a:spcBef>
                <a:spcPct val="20000"/>
              </a:spcBef>
              <a:buClr>
                <a:schemeClr val="accent1"/>
              </a:buClr>
            </a:pPr>
            <a:r>
              <a:rPr kumimoji="1" lang="zh-CN" altLang="en-US" sz="2400" b="1" i="0" dirty="0">
                <a:solidFill>
                  <a:srgbClr val="FF3300"/>
                </a:solidFill>
                <a:latin typeface="Tahoma" pitchFamily="34" charset="0"/>
                <a:ea typeface="楷体_GB2312" pitchFamily="49" charset="-122"/>
              </a:rPr>
              <a:t>供应商</a:t>
            </a:r>
            <a:r>
              <a:rPr kumimoji="1" lang="en-US" altLang="zh-CN" sz="2400" b="1" i="0" dirty="0">
                <a:solidFill>
                  <a:srgbClr val="FF3300"/>
                </a:solidFill>
                <a:latin typeface="Tahoma" pitchFamily="34" charset="0"/>
                <a:ea typeface="楷体_GB2312" pitchFamily="49" charset="-122"/>
              </a:rPr>
              <a:t>:</a:t>
            </a:r>
            <a:r>
              <a:rPr kumimoji="1" lang="zh-CN" altLang="en-US" sz="2400" b="1" i="0" dirty="0">
                <a:solidFill>
                  <a:srgbClr val="FF3300"/>
                </a:solidFill>
                <a:latin typeface="Tahoma" pitchFamily="34" charset="0"/>
                <a:ea typeface="楷体_GB2312" pitchFamily="49" charset="-122"/>
              </a:rPr>
              <a:t>项目</a:t>
            </a:r>
            <a:r>
              <a:rPr kumimoji="1" lang="en-US" altLang="zh-CN" sz="2400" b="1" i="0" dirty="0">
                <a:solidFill>
                  <a:srgbClr val="FF3300"/>
                </a:solidFill>
                <a:latin typeface="Tahoma" pitchFamily="34" charset="0"/>
                <a:ea typeface="楷体_GB2312" pitchFamily="49" charset="-122"/>
              </a:rPr>
              <a:t>:</a:t>
            </a:r>
            <a:r>
              <a:rPr kumimoji="1" lang="zh-CN" altLang="en-US" sz="2400" b="1" i="0" dirty="0">
                <a:solidFill>
                  <a:srgbClr val="FF3300"/>
                </a:solidFill>
                <a:latin typeface="Tahoma" pitchFamily="34" charset="0"/>
                <a:ea typeface="楷体_GB2312" pitchFamily="49" charset="-122"/>
              </a:rPr>
              <a:t>零件－ </a:t>
            </a:r>
            <a:r>
              <a:rPr kumimoji="1" lang="en-US" altLang="zh-CN" sz="2400" b="1" i="0" dirty="0">
                <a:solidFill>
                  <a:srgbClr val="FF3300"/>
                </a:solidFill>
                <a:latin typeface="Tahoma" pitchFamily="34" charset="0"/>
                <a:ea typeface="楷体_GB2312" pitchFamily="49" charset="-122"/>
              </a:rPr>
              <a:t>m : n :p</a:t>
            </a:r>
          </a:p>
        </p:txBody>
      </p:sp>
      <p:sp>
        <p:nvSpPr>
          <p:cNvPr id="231432" name="Rectangle 8"/>
          <p:cNvSpPr>
            <a:spLocks noChangeArrowheads="1"/>
          </p:cNvSpPr>
          <p:nvPr/>
        </p:nvSpPr>
        <p:spPr bwMode="auto">
          <a:xfrm>
            <a:off x="711200" y="2743200"/>
            <a:ext cx="1057486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lnSpc>
                <a:spcPct val="90000"/>
              </a:lnSpc>
              <a:spcBef>
                <a:spcPct val="20000"/>
              </a:spcBef>
              <a:buClr>
                <a:schemeClr val="accent1"/>
              </a:buClr>
              <a:buFontTx/>
              <a:buChar char="•"/>
            </a:pPr>
            <a:r>
              <a:rPr kumimoji="1" lang="zh-CN" altLang="en-US" sz="2400" b="1" i="0" dirty="0">
                <a:latin typeface="Tahoma" pitchFamily="34" charset="0"/>
                <a:ea typeface="楷体_GB2312" pitchFamily="49" charset="-122"/>
              </a:rPr>
              <a:t>一个仓库有多个职工当仓库保管员，一个职工只能在一个仓库工作。</a:t>
            </a:r>
            <a:endParaRPr kumimoji="1" lang="zh-CN" altLang="en-US" sz="2400" b="1" i="0" dirty="0">
              <a:solidFill>
                <a:srgbClr val="FFFF66"/>
              </a:solidFill>
              <a:latin typeface="Tahoma" pitchFamily="34" charset="0"/>
              <a:ea typeface="楷体_GB2312" pitchFamily="49" charset="-122"/>
            </a:endParaRPr>
          </a:p>
        </p:txBody>
      </p:sp>
      <p:sp>
        <p:nvSpPr>
          <p:cNvPr id="231433" name="Rectangle 9"/>
          <p:cNvSpPr>
            <a:spLocks noChangeArrowheads="1"/>
          </p:cNvSpPr>
          <p:nvPr/>
        </p:nvSpPr>
        <p:spPr bwMode="auto">
          <a:xfrm>
            <a:off x="812800" y="3657600"/>
            <a:ext cx="1057486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lnSpc>
                <a:spcPct val="90000"/>
              </a:lnSpc>
              <a:spcBef>
                <a:spcPct val="20000"/>
              </a:spcBef>
              <a:buClr>
                <a:schemeClr val="accent1"/>
              </a:buClr>
              <a:buFontTx/>
              <a:buChar char="•"/>
            </a:pPr>
            <a:r>
              <a:rPr kumimoji="1" lang="zh-CN" altLang="en-US" sz="2800" b="1" i="0">
                <a:latin typeface="Tahoma" pitchFamily="34" charset="0"/>
                <a:ea typeface="楷体_GB2312" pitchFamily="49" charset="-122"/>
              </a:rPr>
              <a:t>职工之间具有领导被领导的关系，即仓库主任领导若干保管员。</a:t>
            </a:r>
          </a:p>
        </p:txBody>
      </p:sp>
      <p:sp>
        <p:nvSpPr>
          <p:cNvPr id="231434" name="Rectangle 10"/>
          <p:cNvSpPr>
            <a:spLocks noChangeArrowheads="1"/>
          </p:cNvSpPr>
          <p:nvPr/>
        </p:nvSpPr>
        <p:spPr bwMode="auto">
          <a:xfrm>
            <a:off x="609600" y="4572000"/>
            <a:ext cx="10574867"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lnSpc>
                <a:spcPct val="90000"/>
              </a:lnSpc>
              <a:spcBef>
                <a:spcPct val="20000"/>
              </a:spcBef>
              <a:buClr>
                <a:schemeClr val="accent1"/>
              </a:buClr>
              <a:buFontTx/>
              <a:buChar char="•"/>
            </a:pPr>
            <a:r>
              <a:rPr kumimoji="1" lang="zh-CN" altLang="en-US" sz="2400" b="1" i="0" dirty="0">
                <a:latin typeface="Tahoma" pitchFamily="34" charset="0"/>
                <a:ea typeface="楷体_GB2312" pitchFamily="49" charset="-122"/>
              </a:rPr>
              <a:t>一个供应商可以供给若干项目多种零件，每个项目可以使用不同供应商供应的零件，每种零件可由不同供应商供给。</a:t>
            </a:r>
            <a:endParaRPr kumimoji="1" lang="zh-CN" altLang="en-US" sz="2400" b="1" i="0" dirty="0">
              <a:solidFill>
                <a:srgbClr val="FFFF66"/>
              </a:solidFill>
              <a:latin typeface="Tahoma" pitchFamily="34" charset="0"/>
              <a:ea typeface="楷体_GB2312" pitchFamily="49" charset="-122"/>
            </a:endParaRPr>
          </a:p>
        </p:txBody>
      </p:sp>
      <p:sp>
        <p:nvSpPr>
          <p:cNvPr id="11" name="矩形 10"/>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2"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3"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94707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Effect transition="in" filter="blinds(horizontal)">
                                      <p:cBhvr>
                                        <p:cTn id="7" dur="500"/>
                                        <p:tgtEl>
                                          <p:spTgt spid="231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1427">
                                            <p:txEl>
                                              <p:pRg st="1" end="1"/>
                                            </p:txEl>
                                          </p:spTgt>
                                        </p:tgtEl>
                                        <p:attrNameLst>
                                          <p:attrName>style.visibility</p:attrName>
                                        </p:attrNameLst>
                                      </p:cBhvr>
                                      <p:to>
                                        <p:strVal val="visible"/>
                                      </p:to>
                                    </p:set>
                                    <p:animEffect transition="in" filter="blinds(horizontal)">
                                      <p:cBhvr>
                                        <p:cTn id="12" dur="500"/>
                                        <p:tgtEl>
                                          <p:spTgt spid="2314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231428"/>
                                        </p:tgtEl>
                                        <p:attrNameLst>
                                          <p:attrName>style.visibility</p:attrName>
                                        </p:attrNameLst>
                                      </p:cBhvr>
                                      <p:to>
                                        <p:strVal val="visible"/>
                                      </p:to>
                                    </p:set>
                                    <p:anim calcmode="lin" valueType="num">
                                      <p:cBhvr additive="base">
                                        <p:cTn id="17" dur="500" fill="hold"/>
                                        <p:tgtEl>
                                          <p:spTgt spid="231428"/>
                                        </p:tgtEl>
                                        <p:attrNameLst>
                                          <p:attrName>ppt_x</p:attrName>
                                        </p:attrNameLst>
                                      </p:cBhvr>
                                      <p:tavLst>
                                        <p:tav tm="0">
                                          <p:val>
                                            <p:strVal val="1+#ppt_w/2"/>
                                          </p:val>
                                        </p:tav>
                                        <p:tav tm="100000">
                                          <p:val>
                                            <p:strVal val="#ppt_x"/>
                                          </p:val>
                                        </p:tav>
                                      </p:tavLst>
                                    </p:anim>
                                    <p:anim calcmode="lin" valueType="num">
                                      <p:cBhvr additive="base">
                                        <p:cTn id="18" dur="500" fill="hold"/>
                                        <p:tgtEl>
                                          <p:spTgt spid="231428"/>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31432"/>
                                        </p:tgtEl>
                                        <p:attrNameLst>
                                          <p:attrName>style.visibility</p:attrName>
                                        </p:attrNameLst>
                                      </p:cBhvr>
                                      <p:to>
                                        <p:strVal val="visible"/>
                                      </p:to>
                                    </p:set>
                                    <p:animEffect transition="in" filter="blinds(horizontal)">
                                      <p:cBhvr>
                                        <p:cTn id="23" dur="500"/>
                                        <p:tgtEl>
                                          <p:spTgt spid="23143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231429"/>
                                        </p:tgtEl>
                                        <p:attrNameLst>
                                          <p:attrName>style.visibility</p:attrName>
                                        </p:attrNameLst>
                                      </p:cBhvr>
                                      <p:to>
                                        <p:strVal val="visible"/>
                                      </p:to>
                                    </p:set>
                                    <p:anim calcmode="lin" valueType="num">
                                      <p:cBhvr additive="base">
                                        <p:cTn id="28" dur="500" fill="hold"/>
                                        <p:tgtEl>
                                          <p:spTgt spid="231429"/>
                                        </p:tgtEl>
                                        <p:attrNameLst>
                                          <p:attrName>ppt_x</p:attrName>
                                        </p:attrNameLst>
                                      </p:cBhvr>
                                      <p:tavLst>
                                        <p:tav tm="0">
                                          <p:val>
                                            <p:strVal val="1+#ppt_w/2"/>
                                          </p:val>
                                        </p:tav>
                                        <p:tav tm="100000">
                                          <p:val>
                                            <p:strVal val="#ppt_x"/>
                                          </p:val>
                                        </p:tav>
                                      </p:tavLst>
                                    </p:anim>
                                    <p:anim calcmode="lin" valueType="num">
                                      <p:cBhvr additive="base">
                                        <p:cTn id="29" dur="500" fill="hold"/>
                                        <p:tgtEl>
                                          <p:spTgt spid="231429"/>
                                        </p:tgtEl>
                                        <p:attrNameLst>
                                          <p:attrName>ppt_y</p:attrName>
                                        </p:attrNameLst>
                                      </p:cBhvr>
                                      <p:tavLst>
                                        <p:tav tm="0">
                                          <p:val>
                                            <p:strVal val="#ppt_y"/>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31433"/>
                                        </p:tgtEl>
                                        <p:attrNameLst>
                                          <p:attrName>style.visibility</p:attrName>
                                        </p:attrNameLst>
                                      </p:cBhvr>
                                      <p:to>
                                        <p:strVal val="visible"/>
                                      </p:to>
                                    </p:set>
                                    <p:animEffect transition="in" filter="blinds(horizontal)">
                                      <p:cBhvr>
                                        <p:cTn id="34" dur="500"/>
                                        <p:tgtEl>
                                          <p:spTgt spid="23143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231430"/>
                                        </p:tgtEl>
                                        <p:attrNameLst>
                                          <p:attrName>style.visibility</p:attrName>
                                        </p:attrNameLst>
                                      </p:cBhvr>
                                      <p:to>
                                        <p:strVal val="visible"/>
                                      </p:to>
                                    </p:set>
                                    <p:anim calcmode="lin" valueType="num">
                                      <p:cBhvr additive="base">
                                        <p:cTn id="39" dur="500" fill="hold"/>
                                        <p:tgtEl>
                                          <p:spTgt spid="231430"/>
                                        </p:tgtEl>
                                        <p:attrNameLst>
                                          <p:attrName>ppt_x</p:attrName>
                                        </p:attrNameLst>
                                      </p:cBhvr>
                                      <p:tavLst>
                                        <p:tav tm="0">
                                          <p:val>
                                            <p:strVal val="1+#ppt_w/2"/>
                                          </p:val>
                                        </p:tav>
                                        <p:tav tm="100000">
                                          <p:val>
                                            <p:strVal val="#ppt_x"/>
                                          </p:val>
                                        </p:tav>
                                      </p:tavLst>
                                    </p:anim>
                                    <p:anim calcmode="lin" valueType="num">
                                      <p:cBhvr additive="base">
                                        <p:cTn id="40" dur="500" fill="hold"/>
                                        <p:tgtEl>
                                          <p:spTgt spid="231430"/>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31434"/>
                                        </p:tgtEl>
                                        <p:attrNameLst>
                                          <p:attrName>style.visibility</p:attrName>
                                        </p:attrNameLst>
                                      </p:cBhvr>
                                      <p:to>
                                        <p:strVal val="visible"/>
                                      </p:to>
                                    </p:set>
                                    <p:animEffect transition="in" filter="blinds(horizontal)">
                                      <p:cBhvr>
                                        <p:cTn id="45" dur="500"/>
                                        <p:tgtEl>
                                          <p:spTgt spid="23143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2" fill="hold" grpId="0" nodeType="clickEffect">
                                  <p:stCondLst>
                                    <p:cond delay="0"/>
                                  </p:stCondLst>
                                  <p:childTnLst>
                                    <p:set>
                                      <p:cBhvr>
                                        <p:cTn id="49" dur="1" fill="hold">
                                          <p:stCondLst>
                                            <p:cond delay="0"/>
                                          </p:stCondLst>
                                        </p:cTn>
                                        <p:tgtEl>
                                          <p:spTgt spid="231431"/>
                                        </p:tgtEl>
                                        <p:attrNameLst>
                                          <p:attrName>style.visibility</p:attrName>
                                        </p:attrNameLst>
                                      </p:cBhvr>
                                      <p:to>
                                        <p:strVal val="visible"/>
                                      </p:to>
                                    </p:set>
                                    <p:anim calcmode="lin" valueType="num">
                                      <p:cBhvr additive="base">
                                        <p:cTn id="50" dur="500" fill="hold"/>
                                        <p:tgtEl>
                                          <p:spTgt spid="231431"/>
                                        </p:tgtEl>
                                        <p:attrNameLst>
                                          <p:attrName>ppt_x</p:attrName>
                                        </p:attrNameLst>
                                      </p:cBhvr>
                                      <p:tavLst>
                                        <p:tav tm="0">
                                          <p:val>
                                            <p:strVal val="1+#ppt_w/2"/>
                                          </p:val>
                                        </p:tav>
                                        <p:tav tm="100000">
                                          <p:val>
                                            <p:strVal val="#ppt_x"/>
                                          </p:val>
                                        </p:tav>
                                      </p:tavLst>
                                    </p:anim>
                                    <p:anim calcmode="lin" valueType="num">
                                      <p:cBhvr additive="base">
                                        <p:cTn id="51" dur="500" fill="hold"/>
                                        <p:tgtEl>
                                          <p:spTgt spid="2314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7" grpId="0" build="p" autoUpdateAnimBg="0"/>
      <p:bldP spid="231428" grpId="0" autoUpdateAnimBg="0"/>
      <p:bldP spid="231429" grpId="0" autoUpdateAnimBg="0"/>
      <p:bldP spid="231430" grpId="0" autoUpdateAnimBg="0"/>
      <p:bldP spid="231431" grpId="0" autoUpdateAnimBg="0"/>
      <p:bldP spid="231432" grpId="0" autoUpdateAnimBg="0"/>
      <p:bldP spid="231433" grpId="0" autoUpdateAnimBg="0"/>
      <p:bldP spid="231434"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7" name="Group 3"/>
          <p:cNvGrpSpPr>
            <a:grpSpLocks/>
          </p:cNvGrpSpPr>
          <p:nvPr/>
        </p:nvGrpSpPr>
        <p:grpSpPr bwMode="auto">
          <a:xfrm>
            <a:off x="711200" y="1446213"/>
            <a:ext cx="10464800" cy="3354388"/>
            <a:chOff x="624" y="1103"/>
            <a:chExt cx="4944" cy="2113"/>
          </a:xfrm>
        </p:grpSpPr>
        <p:sp>
          <p:nvSpPr>
            <p:cNvPr id="16389" name="Rectangle 4"/>
            <p:cNvSpPr>
              <a:spLocks noChangeArrowheads="1"/>
            </p:cNvSpPr>
            <p:nvPr/>
          </p:nvSpPr>
          <p:spPr bwMode="auto">
            <a:xfrm>
              <a:off x="1200" y="1152"/>
              <a:ext cx="768" cy="336"/>
            </a:xfrm>
            <a:prstGeom prst="rect">
              <a:avLst/>
            </a:prstGeom>
            <a:noFill/>
            <a:ln w="12700" cap="sq">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供应商</a:t>
              </a:r>
            </a:p>
          </p:txBody>
        </p:sp>
        <p:sp>
          <p:nvSpPr>
            <p:cNvPr id="16390" name="Rectangle 5"/>
            <p:cNvSpPr>
              <a:spLocks noChangeArrowheads="1"/>
            </p:cNvSpPr>
            <p:nvPr/>
          </p:nvSpPr>
          <p:spPr bwMode="auto">
            <a:xfrm>
              <a:off x="624" y="2880"/>
              <a:ext cx="720" cy="336"/>
            </a:xfrm>
            <a:prstGeom prst="rect">
              <a:avLst/>
            </a:prstGeom>
            <a:noFill/>
            <a:ln w="12700" cap="sq">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项目</a:t>
              </a:r>
            </a:p>
          </p:txBody>
        </p:sp>
        <p:sp>
          <p:nvSpPr>
            <p:cNvPr id="16391" name="Rectangle 6"/>
            <p:cNvSpPr>
              <a:spLocks noChangeArrowheads="1"/>
            </p:cNvSpPr>
            <p:nvPr/>
          </p:nvSpPr>
          <p:spPr bwMode="auto">
            <a:xfrm>
              <a:off x="2736" y="2880"/>
              <a:ext cx="672" cy="336"/>
            </a:xfrm>
            <a:prstGeom prst="rect">
              <a:avLst/>
            </a:prstGeom>
            <a:noFill/>
            <a:ln w="12700" cap="sq">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零件</a:t>
              </a:r>
            </a:p>
          </p:txBody>
        </p:sp>
        <p:sp>
          <p:nvSpPr>
            <p:cNvPr id="16392" name="AutoShape 7"/>
            <p:cNvSpPr>
              <a:spLocks noChangeArrowheads="1"/>
            </p:cNvSpPr>
            <p:nvPr/>
          </p:nvSpPr>
          <p:spPr bwMode="auto">
            <a:xfrm>
              <a:off x="1056" y="1872"/>
              <a:ext cx="1056" cy="384"/>
            </a:xfrm>
            <a:prstGeom prst="diamond">
              <a:avLst/>
            </a:prstGeom>
            <a:noFill/>
            <a:ln w="12700" cap="sq">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供应</a:t>
              </a:r>
            </a:p>
          </p:txBody>
        </p:sp>
        <p:sp>
          <p:nvSpPr>
            <p:cNvPr id="16393" name="AutoShape 8"/>
            <p:cNvSpPr>
              <a:spLocks noChangeArrowheads="1"/>
            </p:cNvSpPr>
            <p:nvPr/>
          </p:nvSpPr>
          <p:spPr bwMode="auto">
            <a:xfrm>
              <a:off x="1152" y="2448"/>
              <a:ext cx="864" cy="288"/>
            </a:xfrm>
            <a:prstGeom prst="roundRect">
              <a:avLst>
                <a:gd name="adj" fmla="val 40106"/>
              </a:avLst>
            </a:prstGeom>
            <a:noFill/>
            <a:ln w="12700">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供应量</a:t>
              </a:r>
            </a:p>
          </p:txBody>
        </p:sp>
        <p:sp>
          <p:nvSpPr>
            <p:cNvPr id="16394" name="AutoShape 9"/>
            <p:cNvSpPr>
              <a:spLocks noChangeArrowheads="1"/>
            </p:cNvSpPr>
            <p:nvPr/>
          </p:nvSpPr>
          <p:spPr bwMode="auto">
            <a:xfrm>
              <a:off x="2496" y="1872"/>
              <a:ext cx="960" cy="432"/>
            </a:xfrm>
            <a:prstGeom prst="diamond">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库存</a:t>
              </a:r>
            </a:p>
          </p:txBody>
        </p:sp>
        <p:sp>
          <p:nvSpPr>
            <p:cNvPr id="16395" name="Rectangle 10"/>
            <p:cNvSpPr>
              <a:spLocks noChangeArrowheads="1"/>
            </p:cNvSpPr>
            <p:nvPr/>
          </p:nvSpPr>
          <p:spPr bwMode="auto">
            <a:xfrm>
              <a:off x="2640" y="1152"/>
              <a:ext cx="720" cy="336"/>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仓库</a:t>
              </a:r>
            </a:p>
          </p:txBody>
        </p:sp>
        <p:sp>
          <p:nvSpPr>
            <p:cNvPr id="16396" name="AutoShape 11"/>
            <p:cNvSpPr>
              <a:spLocks noChangeArrowheads="1"/>
            </p:cNvSpPr>
            <p:nvPr/>
          </p:nvSpPr>
          <p:spPr bwMode="auto">
            <a:xfrm>
              <a:off x="3648" y="1920"/>
              <a:ext cx="816" cy="336"/>
            </a:xfrm>
            <a:prstGeom prst="roundRect">
              <a:avLst>
                <a:gd name="adj" fmla="val 50000"/>
              </a:avLst>
            </a:prstGeom>
            <a:noFill/>
            <a:ln w="12700">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库存量</a:t>
              </a:r>
            </a:p>
          </p:txBody>
        </p:sp>
        <p:sp>
          <p:nvSpPr>
            <p:cNvPr id="16397" name="Rectangle 12"/>
            <p:cNvSpPr>
              <a:spLocks noChangeArrowheads="1"/>
            </p:cNvSpPr>
            <p:nvPr/>
          </p:nvSpPr>
          <p:spPr bwMode="auto">
            <a:xfrm>
              <a:off x="4656" y="1152"/>
              <a:ext cx="912" cy="336"/>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职工</a:t>
              </a:r>
            </a:p>
          </p:txBody>
        </p:sp>
        <p:sp>
          <p:nvSpPr>
            <p:cNvPr id="16398" name="AutoShape 13"/>
            <p:cNvSpPr>
              <a:spLocks noChangeArrowheads="1"/>
            </p:cNvSpPr>
            <p:nvPr/>
          </p:nvSpPr>
          <p:spPr bwMode="auto">
            <a:xfrm>
              <a:off x="4800" y="2016"/>
              <a:ext cx="720" cy="480"/>
            </a:xfrm>
            <a:prstGeom prst="diamond">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领导</a:t>
              </a:r>
            </a:p>
          </p:txBody>
        </p:sp>
        <p:sp>
          <p:nvSpPr>
            <p:cNvPr id="16399" name="AutoShape 14"/>
            <p:cNvSpPr>
              <a:spLocks noChangeArrowheads="1"/>
            </p:cNvSpPr>
            <p:nvPr/>
          </p:nvSpPr>
          <p:spPr bwMode="auto">
            <a:xfrm>
              <a:off x="3600" y="1104"/>
              <a:ext cx="720" cy="480"/>
            </a:xfrm>
            <a:prstGeom prst="diamond">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a:latin typeface="Times New Roman" pitchFamily="18" charset="0"/>
                </a:rPr>
                <a:t>工作</a:t>
              </a:r>
            </a:p>
          </p:txBody>
        </p:sp>
        <p:grpSp>
          <p:nvGrpSpPr>
            <p:cNvPr id="16400" name="Group 15"/>
            <p:cNvGrpSpPr>
              <a:grpSpLocks/>
            </p:cNvGrpSpPr>
            <p:nvPr/>
          </p:nvGrpSpPr>
          <p:grpSpPr bwMode="auto">
            <a:xfrm>
              <a:off x="866" y="1103"/>
              <a:ext cx="4690" cy="1777"/>
              <a:chOff x="866" y="1103"/>
              <a:chExt cx="4690" cy="1777"/>
            </a:xfrm>
          </p:grpSpPr>
          <p:cxnSp>
            <p:nvCxnSpPr>
              <p:cNvPr id="16401" name="AutoShape 16"/>
              <p:cNvCxnSpPr>
                <a:cxnSpLocks noChangeShapeType="1"/>
                <a:stCxn id="16389" idx="2"/>
                <a:endCxn id="16392" idx="0"/>
              </p:cNvCxnSpPr>
              <p:nvPr/>
            </p:nvCxnSpPr>
            <p:spPr bwMode="auto">
              <a:xfrm>
                <a:off x="1584" y="1488"/>
                <a:ext cx="0"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6402" name="AutoShape 17"/>
              <p:cNvCxnSpPr>
                <a:cxnSpLocks noChangeShapeType="1"/>
                <a:stCxn id="16392" idx="1"/>
                <a:endCxn id="16390" idx="0"/>
              </p:cNvCxnSpPr>
              <p:nvPr/>
            </p:nvCxnSpPr>
            <p:spPr bwMode="auto">
              <a:xfrm flipH="1">
                <a:off x="984" y="2064"/>
                <a:ext cx="72" cy="81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6403" name="Text Box 18"/>
              <p:cNvSpPr txBox="1">
                <a:spLocks noChangeArrowheads="1"/>
              </p:cNvSpPr>
              <p:nvPr/>
            </p:nvSpPr>
            <p:spPr bwMode="auto">
              <a:xfrm>
                <a:off x="866" y="2303"/>
                <a:ext cx="1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n</a:t>
                </a:r>
              </a:p>
            </p:txBody>
          </p:sp>
          <p:grpSp>
            <p:nvGrpSpPr>
              <p:cNvPr id="16404" name="Group 19"/>
              <p:cNvGrpSpPr>
                <a:grpSpLocks/>
              </p:cNvGrpSpPr>
              <p:nvPr/>
            </p:nvGrpSpPr>
            <p:grpSpPr bwMode="auto">
              <a:xfrm>
                <a:off x="1584" y="1103"/>
                <a:ext cx="3972" cy="1777"/>
                <a:chOff x="1584" y="1103"/>
                <a:chExt cx="3972" cy="1777"/>
              </a:xfrm>
            </p:grpSpPr>
            <p:cxnSp>
              <p:nvCxnSpPr>
                <p:cNvPr id="16405" name="AutoShape 20"/>
                <p:cNvCxnSpPr>
                  <a:cxnSpLocks noChangeShapeType="1"/>
                  <a:stCxn id="16392" idx="2"/>
                  <a:endCxn id="16393" idx="0"/>
                </p:cNvCxnSpPr>
                <p:nvPr/>
              </p:nvCxnSpPr>
              <p:spPr bwMode="auto">
                <a:xfrm>
                  <a:off x="1584" y="2256"/>
                  <a:ext cx="0" cy="1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6406" name="Line 21"/>
                <p:cNvSpPr>
                  <a:spLocks noChangeShapeType="1"/>
                </p:cNvSpPr>
                <p:nvPr/>
              </p:nvSpPr>
              <p:spPr bwMode="auto">
                <a:xfrm>
                  <a:off x="2112" y="2064"/>
                  <a:ext cx="720" cy="8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7" name="Line 22"/>
                <p:cNvSpPr>
                  <a:spLocks noChangeShapeType="1"/>
                </p:cNvSpPr>
                <p:nvPr/>
              </p:nvSpPr>
              <p:spPr bwMode="auto">
                <a:xfrm flipV="1">
                  <a:off x="2976" y="1488"/>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8" name="Line 23"/>
                <p:cNvSpPr>
                  <a:spLocks noChangeShapeType="1"/>
                </p:cNvSpPr>
                <p:nvPr/>
              </p:nvSpPr>
              <p:spPr bwMode="auto">
                <a:xfrm>
                  <a:off x="2976" y="2304"/>
                  <a:ext cx="0" cy="57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cxnSp>
              <p:nvCxnSpPr>
                <p:cNvPr id="16409" name="AutoShape 24"/>
                <p:cNvCxnSpPr>
                  <a:cxnSpLocks noChangeShapeType="1"/>
                  <a:stCxn id="16394" idx="3"/>
                  <a:endCxn id="16396" idx="1"/>
                </p:cNvCxnSpPr>
                <p:nvPr/>
              </p:nvCxnSpPr>
              <p:spPr bwMode="auto">
                <a:xfrm>
                  <a:off x="3456" y="2088"/>
                  <a:ext cx="192"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16410" name="Line 25"/>
                <p:cNvSpPr>
                  <a:spLocks noChangeShapeType="1"/>
                </p:cNvSpPr>
                <p:nvPr/>
              </p:nvSpPr>
              <p:spPr bwMode="auto">
                <a:xfrm flipH="1">
                  <a:off x="3360" y="1344"/>
                  <a:ext cx="2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1" name="Line 26"/>
                <p:cNvSpPr>
                  <a:spLocks noChangeShapeType="1"/>
                </p:cNvSpPr>
                <p:nvPr/>
              </p:nvSpPr>
              <p:spPr bwMode="auto">
                <a:xfrm>
                  <a:off x="4320" y="1344"/>
                  <a:ext cx="3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2" name="Line 27"/>
                <p:cNvSpPr>
                  <a:spLocks noChangeShapeType="1"/>
                </p:cNvSpPr>
                <p:nvPr/>
              </p:nvSpPr>
              <p:spPr bwMode="auto">
                <a:xfrm>
                  <a:off x="4896" y="1488"/>
                  <a:ext cx="0" cy="7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3" name="Line 28"/>
                <p:cNvSpPr>
                  <a:spLocks noChangeShapeType="1"/>
                </p:cNvSpPr>
                <p:nvPr/>
              </p:nvSpPr>
              <p:spPr bwMode="auto">
                <a:xfrm>
                  <a:off x="5376" y="1488"/>
                  <a:ext cx="0" cy="6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4" name="Text Box 29"/>
                <p:cNvSpPr txBox="1">
                  <a:spLocks noChangeArrowheads="1"/>
                </p:cNvSpPr>
                <p:nvPr/>
              </p:nvSpPr>
              <p:spPr bwMode="auto">
                <a:xfrm>
                  <a:off x="1613" y="1535"/>
                  <a:ext cx="2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m</a:t>
                  </a:r>
                </a:p>
              </p:txBody>
            </p:sp>
            <p:sp>
              <p:nvSpPr>
                <p:cNvPr id="16415" name="Text Box 30"/>
                <p:cNvSpPr txBox="1">
                  <a:spLocks noChangeArrowheads="1"/>
                </p:cNvSpPr>
                <p:nvPr/>
              </p:nvSpPr>
              <p:spPr bwMode="auto">
                <a:xfrm>
                  <a:off x="2498" y="2255"/>
                  <a:ext cx="1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p</a:t>
                  </a:r>
                </a:p>
              </p:txBody>
            </p:sp>
            <p:sp>
              <p:nvSpPr>
                <p:cNvPr id="16416" name="Text Box 31"/>
                <p:cNvSpPr txBox="1">
                  <a:spLocks noChangeArrowheads="1"/>
                </p:cNvSpPr>
                <p:nvPr/>
              </p:nvSpPr>
              <p:spPr bwMode="auto">
                <a:xfrm>
                  <a:off x="3005" y="1583"/>
                  <a:ext cx="20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m</a:t>
                  </a:r>
                </a:p>
              </p:txBody>
            </p:sp>
            <p:sp>
              <p:nvSpPr>
                <p:cNvPr id="16417" name="Text Box 32"/>
                <p:cNvSpPr txBox="1">
                  <a:spLocks noChangeArrowheads="1"/>
                </p:cNvSpPr>
                <p:nvPr/>
              </p:nvSpPr>
              <p:spPr bwMode="auto">
                <a:xfrm>
                  <a:off x="2998" y="2447"/>
                  <a:ext cx="1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n</a:t>
                  </a:r>
                </a:p>
              </p:txBody>
            </p:sp>
            <p:sp>
              <p:nvSpPr>
                <p:cNvPr id="16418" name="Text Box 33"/>
                <p:cNvSpPr txBox="1">
                  <a:spLocks noChangeArrowheads="1"/>
                </p:cNvSpPr>
                <p:nvPr/>
              </p:nvSpPr>
              <p:spPr bwMode="auto">
                <a:xfrm>
                  <a:off x="3424" y="1103"/>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1</a:t>
                  </a:r>
                </a:p>
              </p:txBody>
            </p:sp>
            <p:sp>
              <p:nvSpPr>
                <p:cNvPr id="16419" name="Text Box 34"/>
                <p:cNvSpPr txBox="1">
                  <a:spLocks noChangeArrowheads="1"/>
                </p:cNvSpPr>
                <p:nvPr/>
              </p:nvSpPr>
              <p:spPr bwMode="auto">
                <a:xfrm>
                  <a:off x="4370" y="1103"/>
                  <a:ext cx="1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n</a:t>
                  </a:r>
                </a:p>
              </p:txBody>
            </p:sp>
            <p:sp>
              <p:nvSpPr>
                <p:cNvPr id="16420" name="Text Box 35"/>
                <p:cNvSpPr txBox="1">
                  <a:spLocks noChangeArrowheads="1"/>
                </p:cNvSpPr>
                <p:nvPr/>
              </p:nvSpPr>
              <p:spPr bwMode="auto">
                <a:xfrm>
                  <a:off x="4730" y="1679"/>
                  <a:ext cx="16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1</a:t>
                  </a:r>
                </a:p>
              </p:txBody>
            </p:sp>
            <p:sp>
              <p:nvSpPr>
                <p:cNvPr id="16421" name="Text Box 36"/>
                <p:cNvSpPr txBox="1">
                  <a:spLocks noChangeArrowheads="1"/>
                </p:cNvSpPr>
                <p:nvPr/>
              </p:nvSpPr>
              <p:spPr bwMode="auto">
                <a:xfrm>
                  <a:off x="5388" y="1679"/>
                  <a:ext cx="1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en-US" altLang="zh-CN" sz="2400" b="1" i="0">
                      <a:latin typeface="Times New Roman" pitchFamily="18" charset="0"/>
                    </a:rPr>
                    <a:t>n</a:t>
                  </a:r>
                </a:p>
              </p:txBody>
            </p:sp>
          </p:grpSp>
        </p:grpSp>
      </p:grpSp>
      <p:sp>
        <p:nvSpPr>
          <p:cNvPr id="16388" name="Text Box 37"/>
          <p:cNvSpPr txBox="1">
            <a:spLocks noChangeArrowheads="1"/>
          </p:cNvSpPr>
          <p:nvPr/>
        </p:nvSpPr>
        <p:spPr bwMode="auto">
          <a:xfrm>
            <a:off x="4479144" y="5179368"/>
            <a:ext cx="22621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ea typeface="楷体_GB2312" pitchFamily="49" charset="-122"/>
              </a:rPr>
              <a:t>仓库管理</a:t>
            </a:r>
            <a:r>
              <a:rPr kumimoji="1" lang="en-US" altLang="zh-CN" sz="2400" b="1" i="0" dirty="0">
                <a:latin typeface="Times New Roman" pitchFamily="18" charset="0"/>
                <a:ea typeface="楷体_GB2312" pitchFamily="49" charset="-122"/>
              </a:rPr>
              <a:t>E-R</a:t>
            </a:r>
            <a:r>
              <a:rPr kumimoji="1" lang="zh-CN" altLang="en-US" sz="2400" b="1" i="0" dirty="0">
                <a:latin typeface="Times New Roman" pitchFamily="18" charset="0"/>
                <a:ea typeface="楷体_GB2312" pitchFamily="49" charset="-122"/>
              </a:rPr>
              <a:t>图</a:t>
            </a:r>
          </a:p>
        </p:txBody>
      </p:sp>
      <p:sp>
        <p:nvSpPr>
          <p:cNvPr id="38" name="矩形 37"/>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9"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40"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92980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3"/>
          <p:cNvSpPr txBox="1">
            <a:spLocks noGrp="1" noChangeArrowheads="1"/>
          </p:cNvSpPr>
          <p:nvPr>
            <p:ph type="body" idx="1"/>
          </p:nvPr>
        </p:nvSpPr>
        <p:spPr bwMode="auto">
          <a:xfrm>
            <a:off x="609600" y="934243"/>
            <a:ext cx="10972800" cy="51419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buNone/>
            </a:pPr>
            <a:r>
              <a:rPr lang="zh-CN" altLang="en-US" sz="2400" b="1" dirty="0"/>
              <a:t>       如果某个部门的概念模型中涉及的实体和实体属性较多，可以把实体及其属性在另一个图上画出。</a:t>
            </a:r>
          </a:p>
          <a:p>
            <a:pPr algn="ctr" eaLnBrk="1" hangingPunct="1">
              <a:spcBef>
                <a:spcPct val="0"/>
              </a:spcBef>
              <a:buFontTx/>
              <a:buNone/>
            </a:pPr>
            <a:endParaRPr lang="zh-CN" altLang="en-US" sz="28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zh-CN" altLang="en-US" sz="2000" b="1" dirty="0"/>
          </a:p>
          <a:p>
            <a:pPr algn="ctr" eaLnBrk="1" hangingPunct="1">
              <a:spcBef>
                <a:spcPct val="0"/>
              </a:spcBef>
              <a:buFontTx/>
              <a:buNone/>
            </a:pPr>
            <a:endParaRPr lang="en-US" altLang="zh-CN" sz="2400" b="1" dirty="0"/>
          </a:p>
          <a:p>
            <a:pPr algn="ctr" eaLnBrk="1" hangingPunct="1">
              <a:spcBef>
                <a:spcPct val="0"/>
              </a:spcBef>
              <a:buFontTx/>
              <a:buNone/>
            </a:pPr>
            <a:endParaRPr lang="en-US" altLang="zh-CN" sz="2400" b="1" dirty="0"/>
          </a:p>
          <a:p>
            <a:pPr algn="ctr" eaLnBrk="1" hangingPunct="1">
              <a:spcBef>
                <a:spcPct val="0"/>
              </a:spcBef>
              <a:buFontTx/>
              <a:buNone/>
            </a:pPr>
            <a:endParaRPr lang="en-US" altLang="zh-CN" sz="2400" b="1" dirty="0"/>
          </a:p>
          <a:p>
            <a:pPr algn="ctr" eaLnBrk="1" hangingPunct="1">
              <a:spcBef>
                <a:spcPct val="0"/>
              </a:spcBef>
              <a:buFontTx/>
              <a:buNone/>
            </a:pPr>
            <a:r>
              <a:rPr lang="zh-CN" altLang="en-US" sz="2400" b="1" dirty="0"/>
              <a:t>仓库管理实体及其属性图</a:t>
            </a:r>
          </a:p>
        </p:txBody>
      </p:sp>
      <p:sp>
        <p:nvSpPr>
          <p:cNvPr id="12" name="矩形 11"/>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13"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4"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379708" y="1728067"/>
            <a:ext cx="4897894" cy="1557580"/>
            <a:chOff x="3285641" y="2743200"/>
            <a:chExt cx="4897894" cy="1557580"/>
          </a:xfrm>
        </p:grpSpPr>
        <p:grpSp>
          <p:nvGrpSpPr>
            <p:cNvPr id="15364" name="Group 4"/>
            <p:cNvGrpSpPr>
              <a:grpSpLocks/>
            </p:cNvGrpSpPr>
            <p:nvPr/>
          </p:nvGrpSpPr>
          <p:grpSpPr bwMode="auto">
            <a:xfrm>
              <a:off x="3914469" y="2743200"/>
              <a:ext cx="3420927" cy="1066800"/>
              <a:chOff x="2152" y="2112"/>
              <a:chExt cx="1467" cy="672"/>
            </a:xfrm>
          </p:grpSpPr>
          <p:sp>
            <p:nvSpPr>
              <p:cNvPr id="15365" name="Rectangle 5"/>
              <p:cNvSpPr>
                <a:spLocks noChangeArrowheads="1"/>
              </p:cNvSpPr>
              <p:nvPr/>
            </p:nvSpPr>
            <p:spPr bwMode="auto">
              <a:xfrm>
                <a:off x="2592" y="2112"/>
                <a:ext cx="437" cy="288"/>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仓库</a:t>
                </a:r>
              </a:p>
            </p:txBody>
          </p:sp>
          <p:cxnSp>
            <p:nvCxnSpPr>
              <p:cNvPr id="15369" name="AutoShape 9"/>
              <p:cNvCxnSpPr>
                <a:cxnSpLocks noChangeShapeType="1"/>
                <a:stCxn id="15365" idx="2"/>
              </p:cNvCxnSpPr>
              <p:nvPr/>
            </p:nvCxnSpPr>
            <p:spPr bwMode="auto">
              <a:xfrm flipH="1">
                <a:off x="2152" y="2400"/>
                <a:ext cx="659"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70" name="AutoShape 10"/>
              <p:cNvCxnSpPr>
                <a:cxnSpLocks noChangeShapeType="1"/>
                <a:stCxn id="15365" idx="2"/>
              </p:cNvCxnSpPr>
              <p:nvPr/>
            </p:nvCxnSpPr>
            <p:spPr bwMode="auto">
              <a:xfrm>
                <a:off x="2811" y="2400"/>
                <a:ext cx="21"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5371" name="AutoShape 11"/>
              <p:cNvCxnSpPr>
                <a:cxnSpLocks noChangeShapeType="1"/>
                <a:stCxn id="15365" idx="2"/>
              </p:cNvCxnSpPr>
              <p:nvPr/>
            </p:nvCxnSpPr>
            <p:spPr bwMode="auto">
              <a:xfrm>
                <a:off x="2811" y="2400"/>
                <a:ext cx="808"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3" name="椭圆 2"/>
            <p:cNvSpPr/>
            <p:nvPr/>
          </p:nvSpPr>
          <p:spPr>
            <a:xfrm>
              <a:off x="3285641" y="3819041"/>
              <a:ext cx="1255362"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仓库号</a:t>
              </a:r>
            </a:p>
          </p:txBody>
        </p:sp>
        <p:sp>
          <p:nvSpPr>
            <p:cNvPr id="18" name="椭圆 17"/>
            <p:cNvSpPr/>
            <p:nvPr/>
          </p:nvSpPr>
          <p:spPr>
            <a:xfrm>
              <a:off x="4672739" y="3819041"/>
              <a:ext cx="1697064"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仓库面积</a:t>
              </a:r>
            </a:p>
          </p:txBody>
        </p:sp>
        <p:sp>
          <p:nvSpPr>
            <p:cNvPr id="19" name="椭圆 18"/>
            <p:cNvSpPr/>
            <p:nvPr/>
          </p:nvSpPr>
          <p:spPr>
            <a:xfrm>
              <a:off x="6486471" y="3819041"/>
              <a:ext cx="1697064"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电话号码</a:t>
              </a:r>
            </a:p>
          </p:txBody>
        </p:sp>
      </p:grpSp>
      <p:grpSp>
        <p:nvGrpSpPr>
          <p:cNvPr id="24" name="组合 23"/>
          <p:cNvGrpSpPr/>
          <p:nvPr/>
        </p:nvGrpSpPr>
        <p:grpSpPr>
          <a:xfrm>
            <a:off x="5453378" y="1711277"/>
            <a:ext cx="5997287" cy="1574370"/>
            <a:chOff x="5453378" y="2036735"/>
            <a:chExt cx="5997287" cy="1574370"/>
          </a:xfrm>
        </p:grpSpPr>
        <p:grpSp>
          <p:nvGrpSpPr>
            <p:cNvPr id="26" name="组合 25"/>
            <p:cNvGrpSpPr/>
            <p:nvPr/>
          </p:nvGrpSpPr>
          <p:grpSpPr>
            <a:xfrm>
              <a:off x="5453378" y="2036735"/>
              <a:ext cx="4897894" cy="1574370"/>
              <a:chOff x="3285641" y="2743200"/>
              <a:chExt cx="4897894" cy="1574370"/>
            </a:xfrm>
          </p:grpSpPr>
          <p:grpSp>
            <p:nvGrpSpPr>
              <p:cNvPr id="27" name="Group 4"/>
              <p:cNvGrpSpPr>
                <a:grpSpLocks/>
              </p:cNvGrpSpPr>
              <p:nvPr/>
            </p:nvGrpSpPr>
            <p:grpSpPr bwMode="auto">
              <a:xfrm>
                <a:off x="3914469" y="2743200"/>
                <a:ext cx="3420927" cy="1092200"/>
                <a:chOff x="2152" y="2112"/>
                <a:chExt cx="1467" cy="688"/>
              </a:xfrm>
            </p:grpSpPr>
            <p:sp>
              <p:nvSpPr>
                <p:cNvPr id="31" name="Rectangle 5"/>
                <p:cNvSpPr>
                  <a:spLocks noChangeArrowheads="1"/>
                </p:cNvSpPr>
                <p:nvPr/>
              </p:nvSpPr>
              <p:spPr bwMode="auto">
                <a:xfrm>
                  <a:off x="2592" y="2112"/>
                  <a:ext cx="437" cy="288"/>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供应商</a:t>
                  </a:r>
                </a:p>
              </p:txBody>
            </p:sp>
            <p:cxnSp>
              <p:nvCxnSpPr>
                <p:cNvPr id="32" name="AutoShape 9"/>
                <p:cNvCxnSpPr>
                  <a:cxnSpLocks noChangeShapeType="1"/>
                  <a:stCxn id="31" idx="2"/>
                </p:cNvCxnSpPr>
                <p:nvPr/>
              </p:nvCxnSpPr>
              <p:spPr bwMode="auto">
                <a:xfrm flipH="1">
                  <a:off x="2152" y="2400"/>
                  <a:ext cx="659"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3" name="AutoShape 10"/>
                <p:cNvCxnSpPr>
                  <a:cxnSpLocks noChangeShapeType="1"/>
                  <a:stCxn id="31" idx="2"/>
                  <a:endCxn id="29" idx="0"/>
                </p:cNvCxnSpPr>
                <p:nvPr/>
              </p:nvCxnSpPr>
              <p:spPr bwMode="auto">
                <a:xfrm flipH="1">
                  <a:off x="2546" y="2400"/>
                  <a:ext cx="265" cy="4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4" name="AutoShape 11"/>
                <p:cNvCxnSpPr>
                  <a:cxnSpLocks noChangeShapeType="1"/>
                  <a:stCxn id="31" idx="2"/>
                </p:cNvCxnSpPr>
                <p:nvPr/>
              </p:nvCxnSpPr>
              <p:spPr bwMode="auto">
                <a:xfrm>
                  <a:off x="2811" y="2400"/>
                  <a:ext cx="808"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28" name="椭圆 27"/>
              <p:cNvSpPr/>
              <p:nvPr/>
            </p:nvSpPr>
            <p:spPr>
              <a:xfrm>
                <a:off x="3285641" y="3802896"/>
                <a:ext cx="96292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编号</a:t>
                </a:r>
              </a:p>
            </p:txBody>
          </p:sp>
          <p:sp>
            <p:nvSpPr>
              <p:cNvPr id="29" name="椭圆 28"/>
              <p:cNvSpPr/>
              <p:nvPr/>
            </p:nvSpPr>
            <p:spPr>
              <a:xfrm>
                <a:off x="4347275" y="3835831"/>
                <a:ext cx="97067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姓名</a:t>
                </a:r>
              </a:p>
            </p:txBody>
          </p:sp>
          <p:sp>
            <p:nvSpPr>
              <p:cNvPr id="30" name="椭圆 29"/>
              <p:cNvSpPr/>
              <p:nvPr/>
            </p:nvSpPr>
            <p:spPr>
              <a:xfrm>
                <a:off x="6486471" y="3819041"/>
                <a:ext cx="1697064"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电话号码</a:t>
                </a:r>
              </a:p>
            </p:txBody>
          </p:sp>
        </p:grpSp>
        <p:sp>
          <p:nvSpPr>
            <p:cNvPr id="35" name="椭圆 34"/>
            <p:cNvSpPr/>
            <p:nvPr/>
          </p:nvSpPr>
          <p:spPr>
            <a:xfrm>
              <a:off x="7590367" y="3129366"/>
              <a:ext cx="97067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地址</a:t>
              </a:r>
            </a:p>
          </p:txBody>
        </p:sp>
        <p:sp>
          <p:nvSpPr>
            <p:cNvPr id="36" name="椭圆 35"/>
            <p:cNvSpPr/>
            <p:nvPr/>
          </p:nvSpPr>
          <p:spPr>
            <a:xfrm>
              <a:off x="10479995" y="3118387"/>
              <a:ext cx="97067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账号</a:t>
              </a:r>
            </a:p>
          </p:txBody>
        </p:sp>
        <p:cxnSp>
          <p:nvCxnSpPr>
            <p:cNvPr id="37" name="AutoShape 10"/>
            <p:cNvCxnSpPr>
              <a:cxnSpLocks noChangeShapeType="1"/>
              <a:endCxn id="35" idx="0"/>
            </p:cNvCxnSpPr>
            <p:nvPr/>
          </p:nvCxnSpPr>
          <p:spPr bwMode="auto">
            <a:xfrm>
              <a:off x="7626870" y="2519766"/>
              <a:ext cx="448832" cy="6096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8" name="AutoShape 10"/>
            <p:cNvCxnSpPr>
              <a:cxnSpLocks noChangeShapeType="1"/>
            </p:cNvCxnSpPr>
            <p:nvPr/>
          </p:nvCxnSpPr>
          <p:spPr bwMode="auto">
            <a:xfrm>
              <a:off x="7707742" y="2482309"/>
              <a:ext cx="3125573" cy="62122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44" name="组合 43"/>
          <p:cNvGrpSpPr/>
          <p:nvPr/>
        </p:nvGrpSpPr>
        <p:grpSpPr>
          <a:xfrm>
            <a:off x="130105" y="3580759"/>
            <a:ext cx="5426037" cy="1574370"/>
            <a:chOff x="5253926" y="2036735"/>
            <a:chExt cx="5426037" cy="1574370"/>
          </a:xfrm>
        </p:grpSpPr>
        <p:grpSp>
          <p:nvGrpSpPr>
            <p:cNvPr id="45" name="组合 44"/>
            <p:cNvGrpSpPr/>
            <p:nvPr/>
          </p:nvGrpSpPr>
          <p:grpSpPr>
            <a:xfrm>
              <a:off x="5253926" y="2036735"/>
              <a:ext cx="4370522" cy="1574370"/>
              <a:chOff x="3086189" y="2743200"/>
              <a:chExt cx="4370522" cy="1574370"/>
            </a:xfrm>
          </p:grpSpPr>
          <p:grpSp>
            <p:nvGrpSpPr>
              <p:cNvPr id="50" name="Group 4"/>
              <p:cNvGrpSpPr>
                <a:grpSpLocks/>
              </p:cNvGrpSpPr>
              <p:nvPr/>
            </p:nvGrpSpPr>
            <p:grpSpPr bwMode="auto">
              <a:xfrm>
                <a:off x="3914469" y="2743200"/>
                <a:ext cx="3071139" cy="1092200"/>
                <a:chOff x="2152" y="2112"/>
                <a:chExt cx="1317" cy="688"/>
              </a:xfrm>
            </p:grpSpPr>
            <p:sp>
              <p:nvSpPr>
                <p:cNvPr id="54" name="Rectangle 5"/>
                <p:cNvSpPr>
                  <a:spLocks noChangeArrowheads="1"/>
                </p:cNvSpPr>
                <p:nvPr/>
              </p:nvSpPr>
              <p:spPr bwMode="auto">
                <a:xfrm>
                  <a:off x="2592" y="2112"/>
                  <a:ext cx="437" cy="288"/>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零件</a:t>
                  </a:r>
                </a:p>
              </p:txBody>
            </p:sp>
            <p:cxnSp>
              <p:nvCxnSpPr>
                <p:cNvPr id="55" name="AutoShape 9"/>
                <p:cNvCxnSpPr>
                  <a:cxnSpLocks noChangeShapeType="1"/>
                  <a:stCxn id="54" idx="2"/>
                </p:cNvCxnSpPr>
                <p:nvPr/>
              </p:nvCxnSpPr>
              <p:spPr bwMode="auto">
                <a:xfrm flipH="1">
                  <a:off x="2152" y="2400"/>
                  <a:ext cx="659"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6" name="AutoShape 10"/>
                <p:cNvCxnSpPr>
                  <a:cxnSpLocks noChangeShapeType="1"/>
                  <a:stCxn id="54" idx="2"/>
                  <a:endCxn id="52" idx="0"/>
                </p:cNvCxnSpPr>
                <p:nvPr/>
              </p:nvCxnSpPr>
              <p:spPr bwMode="auto">
                <a:xfrm flipH="1">
                  <a:off x="2546" y="2400"/>
                  <a:ext cx="265" cy="4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7" name="AutoShape 11"/>
                <p:cNvCxnSpPr>
                  <a:cxnSpLocks noChangeShapeType="1"/>
                  <a:stCxn id="54" idx="2"/>
                  <a:endCxn id="53" idx="0"/>
                </p:cNvCxnSpPr>
                <p:nvPr/>
              </p:nvCxnSpPr>
              <p:spPr bwMode="auto">
                <a:xfrm>
                  <a:off x="2811" y="2400"/>
                  <a:ext cx="658" cy="4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51" name="椭圆 50"/>
              <p:cNvSpPr/>
              <p:nvPr/>
            </p:nvSpPr>
            <p:spPr>
              <a:xfrm>
                <a:off x="3086189" y="3802896"/>
                <a:ext cx="1261085"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零件号</a:t>
                </a:r>
              </a:p>
            </p:txBody>
          </p:sp>
          <p:sp>
            <p:nvSpPr>
              <p:cNvPr id="52" name="椭圆 51"/>
              <p:cNvSpPr/>
              <p:nvPr/>
            </p:nvSpPr>
            <p:spPr>
              <a:xfrm>
                <a:off x="4347275" y="3835831"/>
                <a:ext cx="97067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名称</a:t>
                </a:r>
              </a:p>
            </p:txBody>
          </p:sp>
          <p:sp>
            <p:nvSpPr>
              <p:cNvPr id="53" name="椭圆 52"/>
              <p:cNvSpPr/>
              <p:nvPr/>
            </p:nvSpPr>
            <p:spPr>
              <a:xfrm>
                <a:off x="6510148" y="3835400"/>
                <a:ext cx="946563"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单价</a:t>
                </a:r>
              </a:p>
            </p:txBody>
          </p:sp>
        </p:grpSp>
        <p:sp>
          <p:nvSpPr>
            <p:cNvPr id="46" name="椭圆 45"/>
            <p:cNvSpPr/>
            <p:nvPr/>
          </p:nvSpPr>
          <p:spPr>
            <a:xfrm>
              <a:off x="7590367" y="3129366"/>
              <a:ext cx="97067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规格</a:t>
              </a:r>
            </a:p>
          </p:txBody>
        </p:sp>
        <p:sp>
          <p:nvSpPr>
            <p:cNvPr id="47" name="椭圆 46"/>
            <p:cNvSpPr/>
            <p:nvPr/>
          </p:nvSpPr>
          <p:spPr>
            <a:xfrm>
              <a:off x="9709293" y="3129366"/>
              <a:ext cx="97067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描述</a:t>
              </a:r>
            </a:p>
          </p:txBody>
        </p:sp>
        <p:cxnSp>
          <p:nvCxnSpPr>
            <p:cNvPr id="48" name="AutoShape 10"/>
            <p:cNvCxnSpPr>
              <a:cxnSpLocks noChangeShapeType="1"/>
              <a:endCxn id="46" idx="0"/>
            </p:cNvCxnSpPr>
            <p:nvPr/>
          </p:nvCxnSpPr>
          <p:spPr bwMode="auto">
            <a:xfrm>
              <a:off x="7626870" y="2519766"/>
              <a:ext cx="448832" cy="60960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49" name="AutoShape 10"/>
            <p:cNvCxnSpPr>
              <a:cxnSpLocks noChangeShapeType="1"/>
              <a:endCxn id="47" idx="0"/>
            </p:cNvCxnSpPr>
            <p:nvPr/>
          </p:nvCxnSpPr>
          <p:spPr bwMode="auto">
            <a:xfrm>
              <a:off x="7707742" y="2482309"/>
              <a:ext cx="2486886" cy="647057"/>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61" name="组合 60"/>
          <p:cNvGrpSpPr/>
          <p:nvPr/>
        </p:nvGrpSpPr>
        <p:grpSpPr>
          <a:xfrm>
            <a:off x="5762785" y="3563969"/>
            <a:ext cx="4897894" cy="1557580"/>
            <a:chOff x="3285641" y="2743200"/>
            <a:chExt cx="4897894" cy="1557580"/>
          </a:xfrm>
        </p:grpSpPr>
        <p:grpSp>
          <p:nvGrpSpPr>
            <p:cNvPr id="62" name="Group 4"/>
            <p:cNvGrpSpPr>
              <a:grpSpLocks/>
            </p:cNvGrpSpPr>
            <p:nvPr/>
          </p:nvGrpSpPr>
          <p:grpSpPr bwMode="auto">
            <a:xfrm>
              <a:off x="3914469" y="2743200"/>
              <a:ext cx="3420927" cy="1066800"/>
              <a:chOff x="2152" y="2112"/>
              <a:chExt cx="1467" cy="672"/>
            </a:xfrm>
          </p:grpSpPr>
          <p:sp>
            <p:nvSpPr>
              <p:cNvPr id="66" name="Rectangle 5"/>
              <p:cNvSpPr>
                <a:spLocks noChangeArrowheads="1"/>
              </p:cNvSpPr>
              <p:nvPr/>
            </p:nvSpPr>
            <p:spPr bwMode="auto">
              <a:xfrm>
                <a:off x="2592" y="2112"/>
                <a:ext cx="437" cy="288"/>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sz="2400" b="1" i="0" dirty="0">
                    <a:latin typeface="Times New Roman" pitchFamily="18" charset="0"/>
                  </a:rPr>
                  <a:t>项目</a:t>
                </a:r>
              </a:p>
            </p:txBody>
          </p:sp>
          <p:cxnSp>
            <p:nvCxnSpPr>
              <p:cNvPr id="67" name="AutoShape 9"/>
              <p:cNvCxnSpPr>
                <a:cxnSpLocks noChangeShapeType="1"/>
                <a:stCxn id="66" idx="2"/>
              </p:cNvCxnSpPr>
              <p:nvPr/>
            </p:nvCxnSpPr>
            <p:spPr bwMode="auto">
              <a:xfrm flipH="1">
                <a:off x="2152" y="2400"/>
                <a:ext cx="659"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8" name="AutoShape 10"/>
              <p:cNvCxnSpPr>
                <a:cxnSpLocks noChangeShapeType="1"/>
                <a:stCxn id="66" idx="2"/>
              </p:cNvCxnSpPr>
              <p:nvPr/>
            </p:nvCxnSpPr>
            <p:spPr bwMode="auto">
              <a:xfrm>
                <a:off x="2811" y="2400"/>
                <a:ext cx="21"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9" name="AutoShape 11"/>
              <p:cNvCxnSpPr>
                <a:cxnSpLocks noChangeShapeType="1"/>
                <a:stCxn id="66" idx="2"/>
              </p:cNvCxnSpPr>
              <p:nvPr/>
            </p:nvCxnSpPr>
            <p:spPr bwMode="auto">
              <a:xfrm>
                <a:off x="2811" y="2400"/>
                <a:ext cx="808" cy="384"/>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63" name="椭圆 62"/>
            <p:cNvSpPr/>
            <p:nvPr/>
          </p:nvSpPr>
          <p:spPr>
            <a:xfrm>
              <a:off x="3285641" y="3819041"/>
              <a:ext cx="1255362"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项目号</a:t>
              </a:r>
            </a:p>
          </p:txBody>
        </p:sp>
        <p:sp>
          <p:nvSpPr>
            <p:cNvPr id="64" name="椭圆 63"/>
            <p:cNvSpPr/>
            <p:nvPr/>
          </p:nvSpPr>
          <p:spPr>
            <a:xfrm>
              <a:off x="4672739" y="3819041"/>
              <a:ext cx="1697064"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预算</a:t>
              </a:r>
            </a:p>
          </p:txBody>
        </p:sp>
        <p:sp>
          <p:nvSpPr>
            <p:cNvPr id="65" name="椭圆 64"/>
            <p:cNvSpPr/>
            <p:nvPr/>
          </p:nvSpPr>
          <p:spPr>
            <a:xfrm>
              <a:off x="6486471" y="3819041"/>
              <a:ext cx="1697064"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开工日期</a:t>
              </a:r>
            </a:p>
          </p:txBody>
        </p:sp>
      </p:grpSp>
    </p:spTree>
    <p:extLst>
      <p:ext uri="{BB962C8B-B14F-4D97-AF65-F5344CB8AC3E}">
        <p14:creationId xmlns:p14="http://schemas.microsoft.com/office/powerpoint/2010/main" val="172029029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bwMode="auto">
          <a:xfrm>
            <a:off x="542549" y="938482"/>
            <a:ext cx="10972800"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lnSpc>
                <a:spcPct val="150000"/>
              </a:lnSpc>
              <a:buNone/>
            </a:pPr>
            <a:r>
              <a:rPr lang="en-US" altLang="zh-CN" sz="2400" b="1" dirty="0">
                <a:solidFill>
                  <a:srgbClr val="FF0000"/>
                </a:solidFill>
              </a:rPr>
              <a:t>【</a:t>
            </a:r>
            <a:r>
              <a:rPr lang="zh-CN" altLang="en-US" sz="2400" b="1" dirty="0">
                <a:solidFill>
                  <a:srgbClr val="FF0000"/>
                </a:solidFill>
              </a:rPr>
              <a:t>例</a:t>
            </a:r>
            <a:r>
              <a:rPr lang="en-US" altLang="zh-CN" sz="2400" b="1" dirty="0">
                <a:solidFill>
                  <a:srgbClr val="FF0000"/>
                </a:solidFill>
              </a:rPr>
              <a:t>】</a:t>
            </a:r>
            <a:r>
              <a:rPr lang="zh-CN" altLang="en-US" sz="2400" b="1" dirty="0"/>
              <a:t>某电力公司的配电物资存放在仓库中，假设一个仓库可以存放多种物资，一种配电物资只能存放在一个仓库中；一个配电抢修工程可能需要多种配电物资，一种配电物资可以应用到多个抢修工程中。仓库包含仓库编号、仓库名称、仓库负责人等属性，配电物资包含物资编号、物资名称、单价、规格、数量等属性，抢修工程包含工程编号、工程名称、工程开始日期、工程结束日期、工程状态（工程是否完工）等属性，某一抢修工程领取某配电物资时，必须标明领取数量、领取日期、领取部门。 </a:t>
            </a:r>
          </a:p>
        </p:txBody>
      </p:sp>
      <p:sp>
        <p:nvSpPr>
          <p:cNvPr id="4" name="矩形 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6"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6606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5"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6" name="直接连接符 5"/>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 idx="2"/>
            <a:endCxn id="7" idx="0"/>
          </p:cNvCxnSpPr>
          <p:nvPr/>
        </p:nvCxnSpPr>
        <p:spPr>
          <a:xfrm>
            <a:off x="3937160" y="2654968"/>
            <a:ext cx="0" cy="6336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3937160" y="3769894"/>
            <a:ext cx="0" cy="6336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444" name="组合 18443"/>
          <p:cNvGrpSpPr/>
          <p:nvPr/>
        </p:nvGrpSpPr>
        <p:grpSpPr>
          <a:xfrm>
            <a:off x="1141097" y="1171147"/>
            <a:ext cx="9988301" cy="4576450"/>
            <a:chOff x="1141097" y="1171147"/>
            <a:chExt cx="9988301" cy="4576450"/>
          </a:xfrm>
        </p:grpSpPr>
        <p:sp>
          <p:nvSpPr>
            <p:cNvPr id="2" name="矩形 1"/>
            <p:cNvSpPr/>
            <p:nvPr/>
          </p:nvSpPr>
          <p:spPr>
            <a:xfrm>
              <a:off x="3387718" y="2205789"/>
              <a:ext cx="1098884" cy="4491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配电物资</a:t>
              </a:r>
            </a:p>
          </p:txBody>
        </p:sp>
        <p:sp>
          <p:nvSpPr>
            <p:cNvPr id="8" name="矩形 7"/>
            <p:cNvSpPr/>
            <p:nvPr/>
          </p:nvSpPr>
          <p:spPr>
            <a:xfrm>
              <a:off x="3387718" y="4403558"/>
              <a:ext cx="1098884" cy="4491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抢修工程</a:t>
              </a:r>
            </a:p>
          </p:txBody>
        </p:sp>
        <p:sp>
          <p:nvSpPr>
            <p:cNvPr id="9" name="矩形 8"/>
            <p:cNvSpPr/>
            <p:nvPr/>
          </p:nvSpPr>
          <p:spPr>
            <a:xfrm>
              <a:off x="7781622" y="2213810"/>
              <a:ext cx="1098884" cy="4491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仓库</a:t>
              </a:r>
            </a:p>
          </p:txBody>
        </p:sp>
        <p:sp>
          <p:nvSpPr>
            <p:cNvPr id="7" name="流程图: 决策 6"/>
            <p:cNvSpPr/>
            <p:nvPr/>
          </p:nvSpPr>
          <p:spPr>
            <a:xfrm>
              <a:off x="3239328" y="3288632"/>
              <a:ext cx="1395663" cy="489284"/>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领取</a:t>
              </a:r>
            </a:p>
          </p:txBody>
        </p:sp>
        <p:sp>
          <p:nvSpPr>
            <p:cNvPr id="11" name="流程图: 决策 10"/>
            <p:cNvSpPr/>
            <p:nvPr/>
          </p:nvSpPr>
          <p:spPr>
            <a:xfrm>
              <a:off x="5437096" y="2205789"/>
              <a:ext cx="1395663" cy="489284"/>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存放</a:t>
              </a:r>
            </a:p>
          </p:txBody>
        </p:sp>
        <p:sp>
          <p:nvSpPr>
            <p:cNvPr id="12" name="椭圆 11"/>
            <p:cNvSpPr/>
            <p:nvPr/>
          </p:nvSpPr>
          <p:spPr>
            <a:xfrm>
              <a:off x="1141097" y="2209561"/>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u="sng" dirty="0">
                  <a:solidFill>
                    <a:schemeClr val="tx1"/>
                  </a:solidFill>
                </a:rPr>
                <a:t>物资编号</a:t>
              </a:r>
            </a:p>
          </p:txBody>
        </p:sp>
        <p:sp>
          <p:nvSpPr>
            <p:cNvPr id="13" name="椭圆 12"/>
            <p:cNvSpPr/>
            <p:nvPr/>
          </p:nvSpPr>
          <p:spPr>
            <a:xfrm>
              <a:off x="5145555" y="3005925"/>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领取部门</a:t>
              </a:r>
            </a:p>
          </p:txBody>
        </p:sp>
        <p:sp>
          <p:nvSpPr>
            <p:cNvPr id="14" name="椭圆 13"/>
            <p:cNvSpPr/>
            <p:nvPr/>
          </p:nvSpPr>
          <p:spPr>
            <a:xfrm>
              <a:off x="3446646" y="1171147"/>
              <a:ext cx="926433"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单价</a:t>
              </a:r>
            </a:p>
          </p:txBody>
        </p:sp>
        <p:sp>
          <p:nvSpPr>
            <p:cNvPr id="15" name="椭圆 14"/>
            <p:cNvSpPr/>
            <p:nvPr/>
          </p:nvSpPr>
          <p:spPr>
            <a:xfrm>
              <a:off x="4641783" y="1171147"/>
              <a:ext cx="926433"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规格</a:t>
              </a:r>
            </a:p>
          </p:txBody>
        </p:sp>
        <p:sp>
          <p:nvSpPr>
            <p:cNvPr id="16" name="椭圆 15"/>
            <p:cNvSpPr/>
            <p:nvPr/>
          </p:nvSpPr>
          <p:spPr>
            <a:xfrm>
              <a:off x="5852419" y="1205437"/>
              <a:ext cx="926433"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数量</a:t>
              </a:r>
            </a:p>
          </p:txBody>
        </p:sp>
        <p:sp>
          <p:nvSpPr>
            <p:cNvPr id="17" name="椭圆 16"/>
            <p:cNvSpPr/>
            <p:nvPr/>
          </p:nvSpPr>
          <p:spPr>
            <a:xfrm>
              <a:off x="1159169" y="3273240"/>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领取日期</a:t>
              </a:r>
            </a:p>
          </p:txBody>
        </p:sp>
        <p:sp>
          <p:nvSpPr>
            <p:cNvPr id="18" name="椭圆 17"/>
            <p:cNvSpPr/>
            <p:nvPr/>
          </p:nvSpPr>
          <p:spPr>
            <a:xfrm>
              <a:off x="1141097" y="1211050"/>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物资名称</a:t>
              </a:r>
            </a:p>
          </p:txBody>
        </p:sp>
        <p:sp>
          <p:nvSpPr>
            <p:cNvPr id="19" name="椭圆 18"/>
            <p:cNvSpPr/>
            <p:nvPr/>
          </p:nvSpPr>
          <p:spPr>
            <a:xfrm>
              <a:off x="5170159" y="3547584"/>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领取数量</a:t>
              </a:r>
            </a:p>
          </p:txBody>
        </p:sp>
        <p:sp>
          <p:nvSpPr>
            <p:cNvPr id="21" name="椭圆 20"/>
            <p:cNvSpPr/>
            <p:nvPr/>
          </p:nvSpPr>
          <p:spPr>
            <a:xfrm>
              <a:off x="1180778" y="4353022"/>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u="sng" dirty="0">
                  <a:solidFill>
                    <a:schemeClr val="tx1"/>
                  </a:solidFill>
                </a:rPr>
                <a:t>工程编号</a:t>
              </a:r>
            </a:p>
          </p:txBody>
        </p:sp>
        <p:sp>
          <p:nvSpPr>
            <p:cNvPr id="22" name="椭圆 21"/>
            <p:cNvSpPr/>
            <p:nvPr/>
          </p:nvSpPr>
          <p:spPr>
            <a:xfrm>
              <a:off x="1227272" y="5265858"/>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工程名称</a:t>
              </a:r>
            </a:p>
          </p:txBody>
        </p:sp>
        <p:sp>
          <p:nvSpPr>
            <p:cNvPr id="23" name="椭圆 22"/>
            <p:cNvSpPr/>
            <p:nvPr/>
          </p:nvSpPr>
          <p:spPr>
            <a:xfrm>
              <a:off x="3093694" y="5254441"/>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开始日期</a:t>
              </a:r>
            </a:p>
          </p:txBody>
        </p:sp>
        <p:sp>
          <p:nvSpPr>
            <p:cNvPr id="24" name="椭圆 23"/>
            <p:cNvSpPr/>
            <p:nvPr/>
          </p:nvSpPr>
          <p:spPr>
            <a:xfrm>
              <a:off x="5220869" y="5223747"/>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结束日期</a:t>
              </a:r>
            </a:p>
          </p:txBody>
        </p:sp>
        <p:sp>
          <p:nvSpPr>
            <p:cNvPr id="25" name="椭圆 24"/>
            <p:cNvSpPr/>
            <p:nvPr/>
          </p:nvSpPr>
          <p:spPr>
            <a:xfrm>
              <a:off x="5093126" y="4387958"/>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工程状态</a:t>
              </a:r>
            </a:p>
          </p:txBody>
        </p:sp>
        <p:sp>
          <p:nvSpPr>
            <p:cNvPr id="26" name="椭圆 25"/>
            <p:cNvSpPr/>
            <p:nvPr/>
          </p:nvSpPr>
          <p:spPr>
            <a:xfrm>
              <a:off x="7491378" y="1183485"/>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u="sng" dirty="0">
                  <a:solidFill>
                    <a:schemeClr val="tx1"/>
                  </a:solidFill>
                </a:rPr>
                <a:t>仓库编号</a:t>
              </a:r>
            </a:p>
          </p:txBody>
        </p:sp>
        <p:sp>
          <p:nvSpPr>
            <p:cNvPr id="27" name="椭圆 26"/>
            <p:cNvSpPr/>
            <p:nvPr/>
          </p:nvSpPr>
          <p:spPr>
            <a:xfrm>
              <a:off x="9466798" y="2173229"/>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仓库名称</a:t>
              </a:r>
            </a:p>
          </p:txBody>
        </p:sp>
        <p:sp>
          <p:nvSpPr>
            <p:cNvPr id="28" name="椭圆 27"/>
            <p:cNvSpPr/>
            <p:nvPr/>
          </p:nvSpPr>
          <p:spPr>
            <a:xfrm>
              <a:off x="7491378" y="3156898"/>
              <a:ext cx="1662600"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负责人</a:t>
              </a:r>
            </a:p>
          </p:txBody>
        </p:sp>
        <p:cxnSp>
          <p:nvCxnSpPr>
            <p:cNvPr id="29" name="直接连接符 28"/>
            <p:cNvCxnSpPr>
              <a:stCxn id="2" idx="3"/>
              <a:endCxn id="11" idx="1"/>
            </p:cNvCxnSpPr>
            <p:nvPr/>
          </p:nvCxnSpPr>
          <p:spPr>
            <a:xfrm>
              <a:off x="4486602" y="2430379"/>
              <a:ext cx="950494" cy="200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6832567" y="2440405"/>
              <a:ext cx="950494" cy="200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endCxn id="2" idx="1"/>
            </p:cNvCxnSpPr>
            <p:nvPr/>
          </p:nvCxnSpPr>
          <p:spPr>
            <a:xfrm flipV="1">
              <a:off x="2821587" y="2430379"/>
              <a:ext cx="566131" cy="80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endCxn id="7" idx="1"/>
            </p:cNvCxnSpPr>
            <p:nvPr/>
          </p:nvCxnSpPr>
          <p:spPr>
            <a:xfrm flipV="1">
              <a:off x="2821769" y="3533274"/>
              <a:ext cx="417559" cy="80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2831375" y="4596203"/>
              <a:ext cx="566131" cy="80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8895837" y="2422358"/>
              <a:ext cx="566131" cy="802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2012078" y="1700809"/>
              <a:ext cx="1375640" cy="5130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23" idx="0"/>
            </p:cNvCxnSpPr>
            <p:nvPr/>
          </p:nvCxnSpPr>
          <p:spPr>
            <a:xfrm>
              <a:off x="3919668" y="4830952"/>
              <a:ext cx="5326" cy="4234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8331064" y="2654968"/>
              <a:ext cx="0" cy="5019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8322678" y="1652886"/>
              <a:ext cx="8386" cy="5529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4457735" y="4852737"/>
              <a:ext cx="1447119" cy="3710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2058572" y="4834761"/>
              <a:ext cx="1329146" cy="4196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stCxn id="8" idx="3"/>
            </p:cNvCxnSpPr>
            <p:nvPr/>
          </p:nvCxnSpPr>
          <p:spPr>
            <a:xfrm flipV="1">
              <a:off x="4486602" y="4627303"/>
              <a:ext cx="606524" cy="8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14" idx="4"/>
            </p:cNvCxnSpPr>
            <p:nvPr/>
          </p:nvCxnSpPr>
          <p:spPr>
            <a:xfrm flipH="1">
              <a:off x="3902177" y="1652886"/>
              <a:ext cx="7686" cy="5609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stCxn id="15" idx="4"/>
            </p:cNvCxnSpPr>
            <p:nvPr/>
          </p:nvCxnSpPr>
          <p:spPr>
            <a:xfrm flipH="1">
              <a:off x="4232807" y="1652886"/>
              <a:ext cx="872193" cy="55290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486602" y="1687176"/>
              <a:ext cx="1773503" cy="5223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7" idx="3"/>
            </p:cNvCxnSpPr>
            <p:nvPr/>
          </p:nvCxnSpPr>
          <p:spPr>
            <a:xfrm flipV="1">
              <a:off x="4634991" y="3215799"/>
              <a:ext cx="510564" cy="3174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4605648" y="3520358"/>
              <a:ext cx="564511" cy="2371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442" name="TextBox 18441"/>
            <p:cNvSpPr txBox="1"/>
            <p:nvPr/>
          </p:nvSpPr>
          <p:spPr>
            <a:xfrm>
              <a:off x="4048076" y="2787134"/>
              <a:ext cx="377026" cy="1477328"/>
            </a:xfrm>
            <a:prstGeom prst="rect">
              <a:avLst/>
            </a:prstGeom>
            <a:noFill/>
          </p:spPr>
          <p:txBody>
            <a:bodyPr wrap="none" rtlCol="0">
              <a:spAutoFit/>
            </a:bodyPr>
            <a:lstStyle/>
            <a:p>
              <a:r>
                <a:rPr lang="en-US" altLang="zh-CN" dirty="0"/>
                <a:t>m</a:t>
              </a:r>
            </a:p>
            <a:p>
              <a:endParaRPr lang="en-US" altLang="zh-CN" dirty="0"/>
            </a:p>
            <a:p>
              <a:endParaRPr lang="en-US" altLang="zh-CN" dirty="0"/>
            </a:p>
            <a:p>
              <a:endParaRPr lang="en-US" altLang="zh-CN" dirty="0"/>
            </a:p>
            <a:p>
              <a:r>
                <a:rPr lang="en-US" altLang="zh-CN" dirty="0"/>
                <a:t>n</a:t>
              </a:r>
              <a:endParaRPr lang="zh-CN" altLang="en-US" dirty="0"/>
            </a:p>
          </p:txBody>
        </p:sp>
        <p:sp>
          <p:nvSpPr>
            <p:cNvPr id="18443" name="TextBox 18442"/>
            <p:cNvSpPr txBox="1"/>
            <p:nvPr/>
          </p:nvSpPr>
          <p:spPr>
            <a:xfrm>
              <a:off x="4851144" y="2091125"/>
              <a:ext cx="2621230" cy="369332"/>
            </a:xfrm>
            <a:prstGeom prst="rect">
              <a:avLst/>
            </a:prstGeom>
            <a:noFill/>
          </p:spPr>
          <p:txBody>
            <a:bodyPr wrap="none" rtlCol="0">
              <a:spAutoFit/>
            </a:bodyPr>
            <a:lstStyle/>
            <a:p>
              <a:r>
                <a:rPr lang="en-US" altLang="zh-CN" dirty="0"/>
                <a:t>m                                 1</a:t>
              </a:r>
              <a:endParaRPr lang="zh-CN" altLang="en-US" dirty="0"/>
            </a:p>
          </p:txBody>
        </p:sp>
      </p:grpSp>
    </p:spTree>
    <p:extLst>
      <p:ext uri="{BB962C8B-B14F-4D97-AF65-F5344CB8AC3E}">
        <p14:creationId xmlns:p14="http://schemas.microsoft.com/office/powerpoint/2010/main" val="627686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body" idx="1"/>
          </p:nvPr>
        </p:nvSpPr>
        <p:spPr bwMode="auto">
          <a:xfrm>
            <a:off x="644525" y="802497"/>
            <a:ext cx="10972800" cy="57610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buFontTx/>
              <a:buNone/>
            </a:pPr>
            <a:r>
              <a:rPr lang="en-US" altLang="zh-CN" sz="2400" b="1" dirty="0">
                <a:solidFill>
                  <a:srgbClr val="FF3300"/>
                </a:solidFill>
                <a:latin typeface="楷体_GB2312" pitchFamily="49" charset="-122"/>
                <a:ea typeface="楷体_GB2312" pitchFamily="49" charset="-122"/>
              </a:rPr>
              <a:t>【</a:t>
            </a:r>
            <a:r>
              <a:rPr lang="zh-CN" altLang="en-US" sz="2400" b="1" dirty="0">
                <a:solidFill>
                  <a:srgbClr val="FF3300"/>
                </a:solidFill>
                <a:latin typeface="楷体_GB2312" pitchFamily="49" charset="-122"/>
                <a:ea typeface="楷体_GB2312" pitchFamily="49" charset="-122"/>
              </a:rPr>
              <a:t>例</a:t>
            </a:r>
            <a:r>
              <a:rPr lang="en-US" altLang="zh-CN" sz="2400" b="1" dirty="0">
                <a:solidFill>
                  <a:srgbClr val="FF33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某工厂有若干车间及仓库，一个车间可以生产多种零件，每种零件只能在一个车间生产，一种零件可以组装在不同产品中，一种产品需要多种零件，每种零件和产品都只能存放在一个仓库中；车间有工人，工人有家属。</a:t>
            </a:r>
          </a:p>
          <a:p>
            <a:pPr eaLnBrk="1" hangingPunct="1">
              <a:lnSpc>
                <a:spcPct val="150000"/>
              </a:lnSpc>
              <a:buFontTx/>
              <a:buNone/>
            </a:pPr>
            <a:r>
              <a:rPr lang="zh-CN" altLang="en-US" sz="2400" b="1" dirty="0">
                <a:latin typeface="楷体_GB2312" pitchFamily="49" charset="-122"/>
                <a:ea typeface="楷体_GB2312" pitchFamily="49" charset="-122"/>
              </a:rPr>
              <a:t>各实体的属性为：</a:t>
            </a:r>
          </a:p>
          <a:p>
            <a:pPr eaLnBrk="1" hangingPunct="1">
              <a:lnSpc>
                <a:spcPct val="100000"/>
              </a:lnSpc>
              <a:buFontTx/>
              <a:buNone/>
            </a:pPr>
            <a:r>
              <a:rPr lang="zh-CN" altLang="en-US" sz="2400" b="1" dirty="0">
                <a:solidFill>
                  <a:srgbClr val="FF3300"/>
                </a:solidFill>
                <a:latin typeface="楷体_GB2312" pitchFamily="49" charset="-122"/>
                <a:ea typeface="楷体_GB2312" pitchFamily="49" charset="-122"/>
              </a:rPr>
              <a:t>车间：</a:t>
            </a:r>
            <a:r>
              <a:rPr lang="zh-CN" altLang="en-US" sz="2400" b="1" dirty="0">
                <a:latin typeface="楷体_GB2312" pitchFamily="49" charset="-122"/>
                <a:ea typeface="楷体_GB2312" pitchFamily="49" charset="-122"/>
              </a:rPr>
              <a:t>车间名、负责人、电话；</a:t>
            </a:r>
          </a:p>
          <a:p>
            <a:pPr eaLnBrk="1" hangingPunct="1">
              <a:lnSpc>
                <a:spcPct val="100000"/>
              </a:lnSpc>
              <a:buFontTx/>
              <a:buNone/>
            </a:pPr>
            <a:r>
              <a:rPr lang="zh-CN" altLang="en-US" sz="2400" b="1" dirty="0">
                <a:solidFill>
                  <a:srgbClr val="FF3300"/>
                </a:solidFill>
                <a:latin typeface="楷体_GB2312" pitchFamily="49" charset="-122"/>
                <a:ea typeface="楷体_GB2312" pitchFamily="49" charset="-122"/>
              </a:rPr>
              <a:t>工人：</a:t>
            </a:r>
            <a:r>
              <a:rPr lang="zh-CN" altLang="en-US" sz="2400" b="1" dirty="0">
                <a:latin typeface="楷体_GB2312" pitchFamily="49" charset="-122"/>
                <a:ea typeface="楷体_GB2312" pitchFamily="49" charset="-122"/>
              </a:rPr>
              <a:t>工号、姓名、出生年月、性别、工种；　</a:t>
            </a:r>
          </a:p>
          <a:p>
            <a:pPr eaLnBrk="1" hangingPunct="1">
              <a:lnSpc>
                <a:spcPct val="100000"/>
              </a:lnSpc>
              <a:buFontTx/>
              <a:buNone/>
            </a:pPr>
            <a:r>
              <a:rPr lang="zh-CN" altLang="en-US" sz="2400" b="1" dirty="0">
                <a:solidFill>
                  <a:srgbClr val="FF3300"/>
                </a:solidFill>
                <a:latin typeface="楷体_GB2312" pitchFamily="49" charset="-122"/>
                <a:ea typeface="楷体_GB2312" pitchFamily="49" charset="-122"/>
              </a:rPr>
              <a:t>工厂：</a:t>
            </a:r>
            <a:r>
              <a:rPr lang="zh-CN" altLang="en-US" sz="2400" b="1" dirty="0">
                <a:latin typeface="楷体_GB2312" pitchFamily="49" charset="-122"/>
                <a:ea typeface="楷体_GB2312" pitchFamily="49" charset="-122"/>
              </a:rPr>
              <a:t>工厂名、法人代表、地址；</a:t>
            </a:r>
          </a:p>
          <a:p>
            <a:pPr eaLnBrk="1" hangingPunct="1">
              <a:lnSpc>
                <a:spcPct val="100000"/>
              </a:lnSpc>
              <a:buFontTx/>
              <a:buNone/>
            </a:pPr>
            <a:r>
              <a:rPr lang="zh-CN" altLang="en-US" sz="2400" b="1" dirty="0">
                <a:solidFill>
                  <a:srgbClr val="FF3300"/>
                </a:solidFill>
                <a:latin typeface="楷体_GB2312" pitchFamily="49" charset="-122"/>
                <a:ea typeface="楷体_GB2312" pitchFamily="49" charset="-122"/>
              </a:rPr>
              <a:t>产品：</a:t>
            </a:r>
            <a:r>
              <a:rPr lang="zh-CN" altLang="en-US" sz="2400" b="1" dirty="0">
                <a:latin typeface="楷体_GB2312" pitchFamily="49" charset="-122"/>
                <a:ea typeface="楷体_GB2312" pitchFamily="49" charset="-122"/>
              </a:rPr>
              <a:t>产品号、产品名；</a:t>
            </a:r>
          </a:p>
          <a:p>
            <a:pPr eaLnBrk="1" hangingPunct="1">
              <a:lnSpc>
                <a:spcPct val="100000"/>
              </a:lnSpc>
              <a:buFontTx/>
              <a:buNone/>
            </a:pPr>
            <a:r>
              <a:rPr lang="zh-CN" altLang="en-US" sz="2400" b="1" dirty="0">
                <a:solidFill>
                  <a:srgbClr val="FF3300"/>
                </a:solidFill>
                <a:latin typeface="楷体_GB2312" pitchFamily="49" charset="-122"/>
                <a:ea typeface="楷体_GB2312" pitchFamily="49" charset="-122"/>
              </a:rPr>
              <a:t>零件：</a:t>
            </a:r>
            <a:r>
              <a:rPr lang="zh-CN" altLang="en-US" sz="2400" b="1" dirty="0">
                <a:latin typeface="楷体_GB2312" pitchFamily="49" charset="-122"/>
                <a:ea typeface="楷体_GB2312" pitchFamily="49" charset="-122"/>
              </a:rPr>
              <a:t>零件号、零件名，规格；</a:t>
            </a:r>
          </a:p>
          <a:p>
            <a:pPr eaLnBrk="1" hangingPunct="1">
              <a:lnSpc>
                <a:spcPct val="100000"/>
              </a:lnSpc>
              <a:buFontTx/>
              <a:buNone/>
            </a:pPr>
            <a:r>
              <a:rPr lang="zh-CN" altLang="en-US" sz="2400" b="1" dirty="0">
                <a:solidFill>
                  <a:srgbClr val="FF3300"/>
                </a:solidFill>
                <a:latin typeface="楷体_GB2312" pitchFamily="49" charset="-122"/>
                <a:ea typeface="楷体_GB2312" pitchFamily="49" charset="-122"/>
              </a:rPr>
              <a:t>仓库：</a:t>
            </a:r>
            <a:r>
              <a:rPr lang="zh-CN" altLang="en-US" sz="2400" b="1" dirty="0">
                <a:latin typeface="楷体_GB2312" pitchFamily="49" charset="-122"/>
                <a:ea typeface="楷体_GB2312" pitchFamily="49" charset="-122"/>
              </a:rPr>
              <a:t>仓库名、负责人、电话；</a:t>
            </a:r>
          </a:p>
          <a:p>
            <a:pPr eaLnBrk="1" hangingPunct="1">
              <a:lnSpc>
                <a:spcPct val="100000"/>
              </a:lnSpc>
              <a:buFontTx/>
              <a:buNone/>
            </a:pPr>
            <a:r>
              <a:rPr lang="zh-CN" altLang="en-US" sz="2400" b="1" dirty="0">
                <a:solidFill>
                  <a:srgbClr val="FF3300"/>
                </a:solidFill>
                <a:latin typeface="楷体_GB2312" pitchFamily="49" charset="-122"/>
                <a:ea typeface="楷体_GB2312" pitchFamily="49" charset="-122"/>
              </a:rPr>
              <a:t>家属：</a:t>
            </a:r>
            <a:r>
              <a:rPr lang="zh-CN" altLang="en-US" sz="2400" b="1" dirty="0">
                <a:latin typeface="楷体_GB2312" pitchFamily="49" charset="-122"/>
                <a:ea typeface="楷体_GB2312" pitchFamily="49" charset="-122"/>
              </a:rPr>
              <a:t>姓名、亲属关系。</a:t>
            </a:r>
          </a:p>
        </p:txBody>
      </p:sp>
      <p:sp>
        <p:nvSpPr>
          <p:cNvPr id="4" name="矩形 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6"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1967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682">
                                            <p:txEl>
                                              <p:pRg st="1" end="1"/>
                                            </p:txEl>
                                          </p:spTgt>
                                        </p:tgtEl>
                                        <p:attrNameLst>
                                          <p:attrName>style.visibility</p:attrName>
                                        </p:attrNameLst>
                                      </p:cBhvr>
                                      <p:to>
                                        <p:strVal val="visible"/>
                                      </p:to>
                                    </p:set>
                                    <p:animEffect transition="in" filter="blinds(horizontal)">
                                      <p:cBhvr>
                                        <p:cTn id="7" dur="500"/>
                                        <p:tgtEl>
                                          <p:spTgt spid="327682">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27682">
                                            <p:txEl>
                                              <p:pRg st="2" end="2"/>
                                            </p:txEl>
                                          </p:spTgt>
                                        </p:tgtEl>
                                        <p:attrNameLst>
                                          <p:attrName>style.visibility</p:attrName>
                                        </p:attrNameLst>
                                      </p:cBhvr>
                                      <p:to>
                                        <p:strVal val="visible"/>
                                      </p:to>
                                    </p:set>
                                    <p:animEffect transition="in" filter="blinds(horizontal)">
                                      <p:cBhvr>
                                        <p:cTn id="10" dur="500"/>
                                        <p:tgtEl>
                                          <p:spTgt spid="327682">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27682">
                                            <p:txEl>
                                              <p:pRg st="3" end="3"/>
                                            </p:txEl>
                                          </p:spTgt>
                                        </p:tgtEl>
                                        <p:attrNameLst>
                                          <p:attrName>style.visibility</p:attrName>
                                        </p:attrNameLst>
                                      </p:cBhvr>
                                      <p:to>
                                        <p:strVal val="visible"/>
                                      </p:to>
                                    </p:set>
                                    <p:animEffect transition="in" filter="blinds(horizontal)">
                                      <p:cBhvr>
                                        <p:cTn id="13" dur="500"/>
                                        <p:tgtEl>
                                          <p:spTgt spid="327682">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27682">
                                            <p:txEl>
                                              <p:pRg st="4" end="4"/>
                                            </p:txEl>
                                          </p:spTgt>
                                        </p:tgtEl>
                                        <p:attrNameLst>
                                          <p:attrName>style.visibility</p:attrName>
                                        </p:attrNameLst>
                                      </p:cBhvr>
                                      <p:to>
                                        <p:strVal val="visible"/>
                                      </p:to>
                                    </p:set>
                                    <p:animEffect transition="in" filter="blinds(horizontal)">
                                      <p:cBhvr>
                                        <p:cTn id="16" dur="500"/>
                                        <p:tgtEl>
                                          <p:spTgt spid="327682">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27682">
                                            <p:txEl>
                                              <p:pRg st="5" end="5"/>
                                            </p:txEl>
                                          </p:spTgt>
                                        </p:tgtEl>
                                        <p:attrNameLst>
                                          <p:attrName>style.visibility</p:attrName>
                                        </p:attrNameLst>
                                      </p:cBhvr>
                                      <p:to>
                                        <p:strVal val="visible"/>
                                      </p:to>
                                    </p:set>
                                    <p:animEffect transition="in" filter="blinds(horizontal)">
                                      <p:cBhvr>
                                        <p:cTn id="19" dur="500"/>
                                        <p:tgtEl>
                                          <p:spTgt spid="327682">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27682">
                                            <p:txEl>
                                              <p:pRg st="6" end="6"/>
                                            </p:txEl>
                                          </p:spTgt>
                                        </p:tgtEl>
                                        <p:attrNameLst>
                                          <p:attrName>style.visibility</p:attrName>
                                        </p:attrNameLst>
                                      </p:cBhvr>
                                      <p:to>
                                        <p:strVal val="visible"/>
                                      </p:to>
                                    </p:set>
                                    <p:animEffect transition="in" filter="blinds(horizontal)">
                                      <p:cBhvr>
                                        <p:cTn id="22" dur="500"/>
                                        <p:tgtEl>
                                          <p:spTgt spid="327682">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27682">
                                            <p:txEl>
                                              <p:pRg st="7" end="7"/>
                                            </p:txEl>
                                          </p:spTgt>
                                        </p:tgtEl>
                                        <p:attrNameLst>
                                          <p:attrName>style.visibility</p:attrName>
                                        </p:attrNameLst>
                                      </p:cBhvr>
                                      <p:to>
                                        <p:strVal val="visible"/>
                                      </p:to>
                                    </p:set>
                                    <p:animEffect transition="in" filter="blinds(horizontal)">
                                      <p:cBhvr>
                                        <p:cTn id="25" dur="500"/>
                                        <p:tgtEl>
                                          <p:spTgt spid="327682">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27682">
                                            <p:txEl>
                                              <p:pRg st="8" end="8"/>
                                            </p:txEl>
                                          </p:spTgt>
                                        </p:tgtEl>
                                        <p:attrNameLst>
                                          <p:attrName>style.visibility</p:attrName>
                                        </p:attrNameLst>
                                      </p:cBhvr>
                                      <p:to>
                                        <p:strVal val="visible"/>
                                      </p:to>
                                    </p:set>
                                    <p:animEffect transition="in" filter="blinds(horizontal)">
                                      <p:cBhvr>
                                        <p:cTn id="28" dur="500"/>
                                        <p:tgtEl>
                                          <p:spTgt spid="32768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bwMode="auto">
          <a:xfrm>
            <a:off x="717629" y="740880"/>
            <a:ext cx="7457727" cy="4458801"/>
          </a:xfrm>
          <a:solidFill>
            <a:srgbClr val="FFFFFF"/>
          </a:solidFill>
          <a:ln>
            <a:solidFill>
              <a:srgbClr val="000000"/>
            </a:solidFill>
            <a:miter lim="800000"/>
            <a:headEnd/>
            <a:tailEnd/>
          </a:ln>
        </p:spPr>
        <p:txBody>
          <a:bodyPr vert="horz" wrap="square" lIns="91440" tIns="45720" rIns="91440" bIns="45720" numCol="1" anchor="t" anchorCtr="0" compatLnSpc="1">
            <a:prstTxWarp prst="textNoShape">
              <a:avLst/>
            </a:prstTxWarp>
          </a:bodyPr>
          <a:lstStyle/>
          <a:p>
            <a:pPr eaLnBrk="1" hangingPunct="1">
              <a:buFontTx/>
              <a:buNone/>
            </a:pPr>
            <a:endParaRPr lang="en-US" altLang="zh-CN" sz="1600" dirty="0"/>
          </a:p>
          <a:p>
            <a:pPr eaLnBrk="1" hangingPunct="1">
              <a:buFontTx/>
              <a:buNone/>
            </a:pPr>
            <a:r>
              <a:rPr lang="en-US" altLang="zh-CN" sz="1600" dirty="0"/>
              <a:t>                                1                             m                     1                             m</a:t>
            </a:r>
          </a:p>
          <a:p>
            <a:pPr eaLnBrk="1" hangingPunct="1">
              <a:buFontTx/>
              <a:buNone/>
            </a:pPr>
            <a:endParaRPr lang="en-US" altLang="zh-CN" sz="1600" dirty="0"/>
          </a:p>
          <a:p>
            <a:pPr eaLnBrk="1" hangingPunct="1">
              <a:buFontTx/>
              <a:buNone/>
            </a:pPr>
            <a:r>
              <a:rPr lang="en-US" altLang="zh-CN" sz="1600" dirty="0"/>
              <a:t>                1                                                       1                                                    1</a:t>
            </a:r>
          </a:p>
          <a:p>
            <a:pPr eaLnBrk="1" hangingPunct="1">
              <a:buFontTx/>
              <a:buNone/>
            </a:pPr>
            <a:endParaRPr lang="en-US" altLang="zh-CN" sz="1600" dirty="0"/>
          </a:p>
          <a:p>
            <a:pPr eaLnBrk="1" hangingPunct="1">
              <a:buFontTx/>
              <a:buNone/>
            </a:pPr>
            <a:r>
              <a:rPr lang="en-US" altLang="zh-CN" sz="1600" dirty="0"/>
              <a:t>                m                                                     </a:t>
            </a:r>
            <a:r>
              <a:rPr lang="en-US" altLang="zh-CN" sz="1600" dirty="0" err="1"/>
              <a:t>m</a:t>
            </a:r>
            <a:r>
              <a:rPr lang="en-US" altLang="zh-CN" sz="1600" dirty="0"/>
              <a:t>                                                 </a:t>
            </a:r>
          </a:p>
          <a:p>
            <a:pPr eaLnBrk="1" hangingPunct="1">
              <a:buFontTx/>
              <a:buNone/>
            </a:pPr>
            <a:r>
              <a:rPr lang="en-US" altLang="zh-CN" sz="1600" dirty="0"/>
              <a:t>                               1                              n</a:t>
            </a:r>
          </a:p>
          <a:p>
            <a:pPr eaLnBrk="1" hangingPunct="1">
              <a:buFontTx/>
              <a:buNone/>
            </a:pPr>
            <a:endParaRPr lang="en-US" altLang="zh-CN" sz="1600" dirty="0"/>
          </a:p>
          <a:p>
            <a:pPr eaLnBrk="1" hangingPunct="1">
              <a:buFontTx/>
              <a:buNone/>
            </a:pPr>
            <a:endParaRPr lang="en-US" altLang="zh-CN" sz="1600" dirty="0"/>
          </a:p>
          <a:p>
            <a:pPr eaLnBrk="1" hangingPunct="1">
              <a:buFontTx/>
              <a:buNone/>
            </a:pPr>
            <a:r>
              <a:rPr lang="en-US" altLang="zh-CN" sz="1600" dirty="0"/>
              <a:t>                  1                                                      m</a:t>
            </a:r>
          </a:p>
          <a:p>
            <a:pPr eaLnBrk="1" hangingPunct="1">
              <a:buFontTx/>
              <a:buNone/>
            </a:pPr>
            <a:r>
              <a:rPr lang="en-US" altLang="zh-CN" sz="1600"/>
              <a:t>                                       n                    </a:t>
            </a:r>
            <a:r>
              <a:rPr lang="en-US" altLang="zh-CN" sz="1600" dirty="0"/>
              <a:t>n</a:t>
            </a:r>
          </a:p>
          <a:p>
            <a:pPr eaLnBrk="1" hangingPunct="1">
              <a:buFontTx/>
              <a:buNone/>
            </a:pPr>
            <a:r>
              <a:rPr lang="en-US" altLang="zh-CN" sz="1600" dirty="0"/>
              <a:t>    </a:t>
            </a:r>
          </a:p>
          <a:p>
            <a:pPr eaLnBrk="1" hangingPunct="1">
              <a:buFontTx/>
              <a:buNone/>
            </a:pPr>
            <a:endParaRPr lang="zh-CN" altLang="zh-CN" dirty="0"/>
          </a:p>
        </p:txBody>
      </p:sp>
      <p:sp>
        <p:nvSpPr>
          <p:cNvPr id="5" name="矩形 4"/>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371601" y="1270862"/>
            <a:ext cx="790414" cy="302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工厂</a:t>
            </a:r>
          </a:p>
        </p:txBody>
      </p:sp>
      <p:sp>
        <p:nvSpPr>
          <p:cNvPr id="9" name="矩形 8"/>
          <p:cNvSpPr/>
          <p:nvPr/>
        </p:nvSpPr>
        <p:spPr>
          <a:xfrm>
            <a:off x="3966072" y="1270862"/>
            <a:ext cx="790414" cy="302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车间</a:t>
            </a:r>
          </a:p>
        </p:txBody>
      </p:sp>
      <p:sp>
        <p:nvSpPr>
          <p:cNvPr id="10" name="矩形 9"/>
          <p:cNvSpPr/>
          <p:nvPr/>
        </p:nvSpPr>
        <p:spPr>
          <a:xfrm>
            <a:off x="6485361" y="1270862"/>
            <a:ext cx="790414" cy="302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工人</a:t>
            </a:r>
          </a:p>
        </p:txBody>
      </p:sp>
      <p:sp>
        <p:nvSpPr>
          <p:cNvPr id="11" name="矩形 10"/>
          <p:cNvSpPr/>
          <p:nvPr/>
        </p:nvSpPr>
        <p:spPr>
          <a:xfrm>
            <a:off x="1375953" y="3075599"/>
            <a:ext cx="790414" cy="302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仓库</a:t>
            </a:r>
          </a:p>
        </p:txBody>
      </p:sp>
      <p:sp>
        <p:nvSpPr>
          <p:cNvPr id="12" name="矩形 11"/>
          <p:cNvSpPr/>
          <p:nvPr/>
        </p:nvSpPr>
        <p:spPr>
          <a:xfrm>
            <a:off x="3986466" y="3075599"/>
            <a:ext cx="790414" cy="302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零件</a:t>
            </a:r>
          </a:p>
        </p:txBody>
      </p:sp>
      <p:sp>
        <p:nvSpPr>
          <p:cNvPr id="13" name="矩形 12"/>
          <p:cNvSpPr/>
          <p:nvPr/>
        </p:nvSpPr>
        <p:spPr>
          <a:xfrm>
            <a:off x="2743200" y="4310841"/>
            <a:ext cx="790414" cy="3022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产品</a:t>
            </a:r>
          </a:p>
        </p:txBody>
      </p:sp>
      <p:sp>
        <p:nvSpPr>
          <p:cNvPr id="14" name="矩形 13"/>
          <p:cNvSpPr/>
          <p:nvPr/>
        </p:nvSpPr>
        <p:spPr>
          <a:xfrm>
            <a:off x="6501403" y="3071114"/>
            <a:ext cx="790414" cy="302216"/>
          </a:xfrm>
          <a:prstGeom prst="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家属</a:t>
            </a:r>
          </a:p>
        </p:txBody>
      </p:sp>
      <p:sp>
        <p:nvSpPr>
          <p:cNvPr id="3" name="流程图: 决策 2"/>
          <p:cNvSpPr/>
          <p:nvPr/>
        </p:nvSpPr>
        <p:spPr>
          <a:xfrm>
            <a:off x="1155715" y="2053388"/>
            <a:ext cx="1230889" cy="48928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从属</a:t>
            </a:r>
          </a:p>
        </p:txBody>
      </p:sp>
      <p:sp>
        <p:nvSpPr>
          <p:cNvPr id="16" name="流程图: 决策 15"/>
          <p:cNvSpPr/>
          <p:nvPr/>
        </p:nvSpPr>
        <p:spPr>
          <a:xfrm>
            <a:off x="2458794" y="1177327"/>
            <a:ext cx="1230889" cy="48928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从属</a:t>
            </a:r>
          </a:p>
        </p:txBody>
      </p:sp>
      <p:sp>
        <p:nvSpPr>
          <p:cNvPr id="17" name="流程图: 决策 16"/>
          <p:cNvSpPr/>
          <p:nvPr/>
        </p:nvSpPr>
        <p:spPr>
          <a:xfrm>
            <a:off x="1216215" y="4217306"/>
            <a:ext cx="1230889" cy="48928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存放</a:t>
            </a:r>
          </a:p>
        </p:txBody>
      </p:sp>
      <p:sp>
        <p:nvSpPr>
          <p:cNvPr id="18" name="流程图: 决策 17"/>
          <p:cNvSpPr/>
          <p:nvPr/>
        </p:nvSpPr>
        <p:spPr>
          <a:xfrm>
            <a:off x="3782270" y="4217306"/>
            <a:ext cx="1230889" cy="48928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组装</a:t>
            </a:r>
          </a:p>
        </p:txBody>
      </p:sp>
      <p:sp>
        <p:nvSpPr>
          <p:cNvPr id="19" name="流程图: 决策 18"/>
          <p:cNvSpPr/>
          <p:nvPr/>
        </p:nvSpPr>
        <p:spPr>
          <a:xfrm>
            <a:off x="3766227" y="2053388"/>
            <a:ext cx="1230889" cy="48928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生产</a:t>
            </a:r>
          </a:p>
        </p:txBody>
      </p:sp>
      <p:sp>
        <p:nvSpPr>
          <p:cNvPr id="20" name="流程图: 决策 19"/>
          <p:cNvSpPr/>
          <p:nvPr/>
        </p:nvSpPr>
        <p:spPr>
          <a:xfrm>
            <a:off x="5012886" y="1177327"/>
            <a:ext cx="1230889" cy="48928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隶属</a:t>
            </a:r>
          </a:p>
        </p:txBody>
      </p:sp>
      <p:sp>
        <p:nvSpPr>
          <p:cNvPr id="21" name="流程图: 决策 20"/>
          <p:cNvSpPr/>
          <p:nvPr/>
        </p:nvSpPr>
        <p:spPr>
          <a:xfrm>
            <a:off x="6265123" y="2057397"/>
            <a:ext cx="1230889" cy="489285"/>
          </a:xfrm>
          <a:prstGeom prst="flowChartDecision">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有</a:t>
            </a:r>
          </a:p>
        </p:txBody>
      </p:sp>
      <p:sp>
        <p:nvSpPr>
          <p:cNvPr id="22" name="流程图: 决策 21"/>
          <p:cNvSpPr/>
          <p:nvPr/>
        </p:nvSpPr>
        <p:spPr>
          <a:xfrm>
            <a:off x="2460658" y="2982064"/>
            <a:ext cx="1230889" cy="489285"/>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存放</a:t>
            </a:r>
          </a:p>
        </p:txBody>
      </p:sp>
      <p:cxnSp>
        <p:nvCxnSpPr>
          <p:cNvPr id="15" name="直接连接符 14"/>
          <p:cNvCxnSpPr/>
          <p:nvPr/>
        </p:nvCxnSpPr>
        <p:spPr>
          <a:xfrm>
            <a:off x="2174388" y="1421969"/>
            <a:ext cx="2807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689683" y="1421970"/>
            <a:ext cx="2807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760838" y="1421970"/>
            <a:ext cx="2807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6208976" y="1421969"/>
            <a:ext cx="2807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183092" y="3226706"/>
            <a:ext cx="2807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705729" y="3226706"/>
            <a:ext cx="2807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447104" y="4461949"/>
            <a:ext cx="2807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543157" y="4461949"/>
            <a:ext cx="28073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 idx="2"/>
          </p:cNvCxnSpPr>
          <p:nvPr/>
        </p:nvCxnSpPr>
        <p:spPr>
          <a:xfrm>
            <a:off x="1766808" y="1573078"/>
            <a:ext cx="4352" cy="4803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773336" y="2542673"/>
            <a:ext cx="4352" cy="533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806103" y="3377815"/>
            <a:ext cx="4352" cy="8394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397714" y="1585583"/>
            <a:ext cx="4352" cy="4803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402749" y="2554703"/>
            <a:ext cx="4352" cy="533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404925" y="3373330"/>
            <a:ext cx="4352" cy="8394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874724" y="1553974"/>
            <a:ext cx="4352" cy="4803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6880568" y="2546682"/>
            <a:ext cx="4352" cy="533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2836190" y="5563892"/>
            <a:ext cx="1920296" cy="369332"/>
          </a:xfrm>
          <a:prstGeom prst="rect">
            <a:avLst/>
          </a:prstGeom>
          <a:noFill/>
        </p:spPr>
        <p:txBody>
          <a:bodyPr wrap="square" rtlCol="0">
            <a:spAutoFit/>
          </a:bodyPr>
          <a:lstStyle/>
          <a:p>
            <a:r>
              <a:rPr lang="zh-CN" altLang="en-US" dirty="0"/>
              <a:t>实体</a:t>
            </a:r>
            <a:r>
              <a:rPr lang="en-US" altLang="zh-CN" dirty="0"/>
              <a:t>-</a:t>
            </a:r>
            <a:r>
              <a:rPr lang="zh-CN" altLang="en-US" dirty="0"/>
              <a:t>联系图</a:t>
            </a:r>
          </a:p>
        </p:txBody>
      </p:sp>
    </p:spTree>
    <p:extLst>
      <p:ext uri="{BB962C8B-B14F-4D97-AF65-F5344CB8AC3E}">
        <p14:creationId xmlns:p14="http://schemas.microsoft.com/office/powerpoint/2010/main" val="208600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6" name="文本框 94"/>
          <p:cNvSpPr txBox="1">
            <a:spLocks noChangeArrowheads="1"/>
          </p:cNvSpPr>
          <p:nvPr/>
        </p:nvSpPr>
        <p:spPr bwMode="auto">
          <a:xfrm>
            <a:off x="5556142" y="62344"/>
            <a:ext cx="6710387" cy="954107"/>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r>
              <a:rPr lang="en-US" altLang="zh-CN" sz="2800" b="1" dirty="0">
                <a:solidFill>
                  <a:schemeClr val="bg1"/>
                </a:solidFill>
                <a:latin typeface="微软雅黑" panose="020B0503020204020204" pitchFamily="34" charset="-122"/>
                <a:ea typeface="微软雅黑" panose="020B0503020204020204" pitchFamily="34" charset="-122"/>
              </a:rPr>
              <a:t>E-R</a:t>
            </a:r>
            <a:r>
              <a:rPr lang="zh-CN" altLang="en-US" sz="2800" b="1" dirty="0">
                <a:solidFill>
                  <a:schemeClr val="bg1"/>
                </a:solidFill>
                <a:latin typeface="微软雅黑" panose="020B0503020204020204" pitchFamily="34" charset="-122"/>
                <a:ea typeface="微软雅黑" panose="020B0503020204020204" pitchFamily="34" charset="-122"/>
              </a:rPr>
              <a:t>模型）</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5605753" y="1139713"/>
            <a:ext cx="3084163" cy="1150076"/>
            <a:chOff x="8074617" y="1254079"/>
            <a:chExt cx="3084163" cy="1150076"/>
          </a:xfrm>
        </p:grpSpPr>
        <p:grpSp>
          <p:nvGrpSpPr>
            <p:cNvPr id="9" name="组合 8"/>
            <p:cNvGrpSpPr/>
            <p:nvPr/>
          </p:nvGrpSpPr>
          <p:grpSpPr>
            <a:xfrm>
              <a:off x="8074617" y="1254079"/>
              <a:ext cx="3084163" cy="1150076"/>
              <a:chOff x="4066152" y="2836865"/>
              <a:chExt cx="3084163" cy="1150076"/>
            </a:xfrm>
          </p:grpSpPr>
          <p:grpSp>
            <p:nvGrpSpPr>
              <p:cNvPr id="13" name="Group 4"/>
              <p:cNvGrpSpPr>
                <a:grpSpLocks/>
              </p:cNvGrpSpPr>
              <p:nvPr/>
            </p:nvGrpSpPr>
            <p:grpSpPr bwMode="auto">
              <a:xfrm>
                <a:off x="4516104" y="2836865"/>
                <a:ext cx="2012447" cy="709613"/>
                <a:chOff x="2410" y="2171"/>
                <a:chExt cx="863" cy="447"/>
              </a:xfrm>
            </p:grpSpPr>
            <p:sp>
              <p:nvSpPr>
                <p:cNvPr id="17" name="Rectangle 5"/>
                <p:cNvSpPr>
                  <a:spLocks noChangeArrowheads="1"/>
                </p:cNvSpPr>
                <p:nvPr/>
              </p:nvSpPr>
              <p:spPr bwMode="auto">
                <a:xfrm>
                  <a:off x="2696" y="2171"/>
                  <a:ext cx="299" cy="229"/>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b="1" i="0" dirty="0">
                      <a:latin typeface="Times New Roman" pitchFamily="18" charset="0"/>
                    </a:rPr>
                    <a:t>仓库</a:t>
                  </a:r>
                </a:p>
              </p:txBody>
            </p:sp>
            <p:cxnSp>
              <p:nvCxnSpPr>
                <p:cNvPr id="18" name="AutoShape 9"/>
                <p:cNvCxnSpPr>
                  <a:cxnSpLocks noChangeShapeType="1"/>
                  <a:stCxn id="17" idx="2"/>
                </p:cNvCxnSpPr>
                <p:nvPr/>
              </p:nvCxnSpPr>
              <p:spPr bwMode="auto">
                <a:xfrm flipH="1">
                  <a:off x="2410" y="2400"/>
                  <a:ext cx="436" cy="1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9" name="AutoShape 10"/>
                <p:cNvCxnSpPr>
                  <a:cxnSpLocks noChangeShapeType="1"/>
                  <a:stCxn id="17" idx="2"/>
                  <a:endCxn id="15" idx="0"/>
                </p:cNvCxnSpPr>
                <p:nvPr/>
              </p:nvCxnSpPr>
              <p:spPr bwMode="auto">
                <a:xfrm>
                  <a:off x="2845" y="2400"/>
                  <a:ext cx="25" cy="20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20" name="AutoShape 11"/>
                <p:cNvCxnSpPr>
                  <a:cxnSpLocks noChangeShapeType="1"/>
                  <a:stCxn id="17" idx="2"/>
                </p:cNvCxnSpPr>
                <p:nvPr/>
              </p:nvCxnSpPr>
              <p:spPr bwMode="auto">
                <a:xfrm>
                  <a:off x="2845" y="2400"/>
                  <a:ext cx="428" cy="21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14" name="椭圆 13"/>
              <p:cNvSpPr/>
              <p:nvPr/>
            </p:nvSpPr>
            <p:spPr>
              <a:xfrm>
                <a:off x="4066152" y="3505202"/>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5" name="椭圆 14"/>
              <p:cNvSpPr/>
              <p:nvPr/>
            </p:nvSpPr>
            <p:spPr>
              <a:xfrm>
                <a:off x="5120037" y="3527418"/>
                <a:ext cx="938650" cy="4443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endParaRPr>
              </a:p>
            </p:txBody>
          </p:sp>
          <p:sp>
            <p:nvSpPr>
              <p:cNvPr id="16" name="椭圆 15"/>
              <p:cNvSpPr/>
              <p:nvPr/>
            </p:nvSpPr>
            <p:spPr>
              <a:xfrm>
                <a:off x="6137759" y="3546223"/>
                <a:ext cx="1012556" cy="3880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0" name="TextBox 9"/>
            <p:cNvSpPr txBox="1"/>
            <p:nvPr/>
          </p:nvSpPr>
          <p:spPr>
            <a:xfrm>
              <a:off x="9191498" y="1982136"/>
              <a:ext cx="875654" cy="369332"/>
            </a:xfrm>
            <a:prstGeom prst="rect">
              <a:avLst/>
            </a:prstGeom>
            <a:noFill/>
          </p:spPr>
          <p:txBody>
            <a:bodyPr wrap="square" rtlCol="0">
              <a:spAutoFit/>
            </a:bodyPr>
            <a:lstStyle/>
            <a:p>
              <a:r>
                <a:rPr lang="zh-CN" altLang="en-US" dirty="0"/>
                <a:t>负责人</a:t>
              </a:r>
            </a:p>
          </p:txBody>
        </p:sp>
        <p:sp>
          <p:nvSpPr>
            <p:cNvPr id="11" name="TextBox 10"/>
            <p:cNvSpPr txBox="1"/>
            <p:nvPr/>
          </p:nvSpPr>
          <p:spPr>
            <a:xfrm>
              <a:off x="8109488" y="1978619"/>
              <a:ext cx="875654" cy="369332"/>
            </a:xfrm>
            <a:prstGeom prst="rect">
              <a:avLst/>
            </a:prstGeom>
            <a:noFill/>
          </p:spPr>
          <p:txBody>
            <a:bodyPr wrap="square" rtlCol="0">
              <a:spAutoFit/>
            </a:bodyPr>
            <a:lstStyle/>
            <a:p>
              <a:r>
                <a:rPr lang="zh-CN" altLang="en-US" dirty="0"/>
                <a:t>仓库名</a:t>
              </a:r>
            </a:p>
          </p:txBody>
        </p:sp>
        <p:sp>
          <p:nvSpPr>
            <p:cNvPr id="12" name="TextBox 11"/>
            <p:cNvSpPr txBox="1"/>
            <p:nvPr/>
          </p:nvSpPr>
          <p:spPr>
            <a:xfrm>
              <a:off x="10292668" y="1958920"/>
              <a:ext cx="719668" cy="369332"/>
            </a:xfrm>
            <a:prstGeom prst="rect">
              <a:avLst/>
            </a:prstGeom>
            <a:noFill/>
          </p:spPr>
          <p:txBody>
            <a:bodyPr wrap="square" rtlCol="0">
              <a:spAutoFit/>
            </a:bodyPr>
            <a:lstStyle/>
            <a:p>
              <a:r>
                <a:rPr lang="zh-CN" altLang="en-US" dirty="0"/>
                <a:t>电话</a:t>
              </a:r>
            </a:p>
          </p:txBody>
        </p:sp>
      </p:grpSp>
      <p:grpSp>
        <p:nvGrpSpPr>
          <p:cNvPr id="34" name="组合 33"/>
          <p:cNvGrpSpPr/>
          <p:nvPr/>
        </p:nvGrpSpPr>
        <p:grpSpPr>
          <a:xfrm>
            <a:off x="7840382" y="4472671"/>
            <a:ext cx="3084163" cy="1150076"/>
            <a:chOff x="8074617" y="1254079"/>
            <a:chExt cx="3084163" cy="1150076"/>
          </a:xfrm>
        </p:grpSpPr>
        <p:grpSp>
          <p:nvGrpSpPr>
            <p:cNvPr id="35" name="组合 34"/>
            <p:cNvGrpSpPr/>
            <p:nvPr/>
          </p:nvGrpSpPr>
          <p:grpSpPr>
            <a:xfrm>
              <a:off x="8074617" y="1254079"/>
              <a:ext cx="3084163" cy="1150076"/>
              <a:chOff x="4066152" y="2836865"/>
              <a:chExt cx="3084163" cy="1150076"/>
            </a:xfrm>
          </p:grpSpPr>
          <p:grpSp>
            <p:nvGrpSpPr>
              <p:cNvPr id="39" name="Group 4"/>
              <p:cNvGrpSpPr>
                <a:grpSpLocks/>
              </p:cNvGrpSpPr>
              <p:nvPr/>
            </p:nvGrpSpPr>
            <p:grpSpPr bwMode="auto">
              <a:xfrm>
                <a:off x="4516104" y="2836865"/>
                <a:ext cx="2012447" cy="709613"/>
                <a:chOff x="2410" y="2171"/>
                <a:chExt cx="863" cy="447"/>
              </a:xfrm>
            </p:grpSpPr>
            <p:sp>
              <p:nvSpPr>
                <p:cNvPr id="43" name="Rectangle 5"/>
                <p:cNvSpPr>
                  <a:spLocks noChangeArrowheads="1"/>
                </p:cNvSpPr>
                <p:nvPr/>
              </p:nvSpPr>
              <p:spPr bwMode="auto">
                <a:xfrm>
                  <a:off x="2696" y="2171"/>
                  <a:ext cx="299" cy="229"/>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b="1" i="0" dirty="0">
                      <a:latin typeface="Times New Roman" pitchFamily="18" charset="0"/>
                    </a:rPr>
                    <a:t>家属</a:t>
                  </a:r>
                </a:p>
              </p:txBody>
            </p:sp>
            <p:cxnSp>
              <p:nvCxnSpPr>
                <p:cNvPr id="44" name="AutoShape 9"/>
                <p:cNvCxnSpPr>
                  <a:cxnSpLocks noChangeShapeType="1"/>
                  <a:stCxn id="43" idx="2"/>
                </p:cNvCxnSpPr>
                <p:nvPr/>
              </p:nvCxnSpPr>
              <p:spPr bwMode="auto">
                <a:xfrm flipH="1">
                  <a:off x="2410" y="2400"/>
                  <a:ext cx="436" cy="1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45" name="AutoShape 10"/>
                <p:cNvCxnSpPr>
                  <a:cxnSpLocks noChangeShapeType="1"/>
                  <a:stCxn id="43" idx="2"/>
                  <a:endCxn id="41" idx="0"/>
                </p:cNvCxnSpPr>
                <p:nvPr/>
              </p:nvCxnSpPr>
              <p:spPr bwMode="auto">
                <a:xfrm>
                  <a:off x="2845" y="2400"/>
                  <a:ext cx="25" cy="20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46" name="AutoShape 11"/>
                <p:cNvCxnSpPr>
                  <a:cxnSpLocks noChangeShapeType="1"/>
                  <a:stCxn id="43" idx="2"/>
                </p:cNvCxnSpPr>
                <p:nvPr/>
              </p:nvCxnSpPr>
              <p:spPr bwMode="auto">
                <a:xfrm>
                  <a:off x="2845" y="2400"/>
                  <a:ext cx="428" cy="21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40" name="椭圆 39"/>
              <p:cNvSpPr/>
              <p:nvPr/>
            </p:nvSpPr>
            <p:spPr>
              <a:xfrm>
                <a:off x="4066152" y="3505202"/>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1" name="椭圆 40"/>
              <p:cNvSpPr/>
              <p:nvPr/>
            </p:nvSpPr>
            <p:spPr>
              <a:xfrm>
                <a:off x="5120037" y="3527418"/>
                <a:ext cx="938650" cy="4443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endParaRPr>
              </a:p>
            </p:txBody>
          </p:sp>
          <p:sp>
            <p:nvSpPr>
              <p:cNvPr id="42" name="椭圆 41"/>
              <p:cNvSpPr/>
              <p:nvPr/>
            </p:nvSpPr>
            <p:spPr>
              <a:xfrm>
                <a:off x="6137759" y="3546223"/>
                <a:ext cx="1012556" cy="3880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36" name="TextBox 35"/>
            <p:cNvSpPr txBox="1"/>
            <p:nvPr/>
          </p:nvSpPr>
          <p:spPr>
            <a:xfrm>
              <a:off x="9191498" y="1982136"/>
              <a:ext cx="875654" cy="369332"/>
            </a:xfrm>
            <a:prstGeom prst="rect">
              <a:avLst/>
            </a:prstGeom>
            <a:noFill/>
          </p:spPr>
          <p:txBody>
            <a:bodyPr wrap="square" rtlCol="0">
              <a:spAutoFit/>
            </a:bodyPr>
            <a:lstStyle/>
            <a:p>
              <a:r>
                <a:rPr lang="zh-CN" altLang="en-US" dirty="0"/>
                <a:t>负责人</a:t>
              </a:r>
            </a:p>
          </p:txBody>
        </p:sp>
        <p:sp>
          <p:nvSpPr>
            <p:cNvPr id="37" name="TextBox 36"/>
            <p:cNvSpPr txBox="1"/>
            <p:nvPr/>
          </p:nvSpPr>
          <p:spPr>
            <a:xfrm>
              <a:off x="8109488" y="1978619"/>
              <a:ext cx="875654" cy="369332"/>
            </a:xfrm>
            <a:prstGeom prst="rect">
              <a:avLst/>
            </a:prstGeom>
            <a:noFill/>
          </p:spPr>
          <p:txBody>
            <a:bodyPr wrap="square" rtlCol="0">
              <a:spAutoFit/>
            </a:bodyPr>
            <a:lstStyle/>
            <a:p>
              <a:r>
                <a:rPr lang="zh-CN" altLang="en-US" dirty="0"/>
                <a:t>  姓名</a:t>
              </a:r>
            </a:p>
          </p:txBody>
        </p:sp>
        <p:sp>
          <p:nvSpPr>
            <p:cNvPr id="38" name="TextBox 37"/>
            <p:cNvSpPr txBox="1"/>
            <p:nvPr/>
          </p:nvSpPr>
          <p:spPr>
            <a:xfrm>
              <a:off x="10146224" y="1958920"/>
              <a:ext cx="1012556" cy="338554"/>
            </a:xfrm>
            <a:prstGeom prst="rect">
              <a:avLst/>
            </a:prstGeom>
            <a:noFill/>
          </p:spPr>
          <p:txBody>
            <a:bodyPr wrap="square" rtlCol="0">
              <a:spAutoFit/>
            </a:bodyPr>
            <a:lstStyle/>
            <a:p>
              <a:r>
                <a:rPr lang="zh-CN" altLang="en-US" sz="1600" dirty="0"/>
                <a:t>亲属关系</a:t>
              </a:r>
            </a:p>
          </p:txBody>
        </p:sp>
      </p:grpSp>
      <p:grpSp>
        <p:nvGrpSpPr>
          <p:cNvPr id="47" name="组合 46"/>
          <p:cNvGrpSpPr/>
          <p:nvPr/>
        </p:nvGrpSpPr>
        <p:grpSpPr>
          <a:xfrm>
            <a:off x="4427850" y="4495952"/>
            <a:ext cx="3084163" cy="1150076"/>
            <a:chOff x="8074617" y="1254079"/>
            <a:chExt cx="3084163" cy="1150076"/>
          </a:xfrm>
        </p:grpSpPr>
        <p:grpSp>
          <p:nvGrpSpPr>
            <p:cNvPr id="48" name="组合 47"/>
            <p:cNvGrpSpPr/>
            <p:nvPr/>
          </p:nvGrpSpPr>
          <p:grpSpPr>
            <a:xfrm>
              <a:off x="8074617" y="1254079"/>
              <a:ext cx="3084163" cy="1150076"/>
              <a:chOff x="4066152" y="2836865"/>
              <a:chExt cx="3084163" cy="1150076"/>
            </a:xfrm>
          </p:grpSpPr>
          <p:grpSp>
            <p:nvGrpSpPr>
              <p:cNvPr id="52" name="Group 4"/>
              <p:cNvGrpSpPr>
                <a:grpSpLocks/>
              </p:cNvGrpSpPr>
              <p:nvPr/>
            </p:nvGrpSpPr>
            <p:grpSpPr bwMode="auto">
              <a:xfrm>
                <a:off x="4516104" y="2836865"/>
                <a:ext cx="2012447" cy="709613"/>
                <a:chOff x="2410" y="2171"/>
                <a:chExt cx="863" cy="447"/>
              </a:xfrm>
            </p:grpSpPr>
            <p:sp>
              <p:nvSpPr>
                <p:cNvPr id="56" name="Rectangle 5"/>
                <p:cNvSpPr>
                  <a:spLocks noChangeArrowheads="1"/>
                </p:cNvSpPr>
                <p:nvPr/>
              </p:nvSpPr>
              <p:spPr bwMode="auto">
                <a:xfrm>
                  <a:off x="2696" y="2171"/>
                  <a:ext cx="299" cy="229"/>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b="1" i="0" dirty="0">
                      <a:latin typeface="Times New Roman" pitchFamily="18" charset="0"/>
                    </a:rPr>
                    <a:t>车间</a:t>
                  </a:r>
                </a:p>
              </p:txBody>
            </p:sp>
            <p:cxnSp>
              <p:nvCxnSpPr>
                <p:cNvPr id="57" name="AutoShape 9"/>
                <p:cNvCxnSpPr>
                  <a:cxnSpLocks noChangeShapeType="1"/>
                  <a:stCxn id="56" idx="2"/>
                </p:cNvCxnSpPr>
                <p:nvPr/>
              </p:nvCxnSpPr>
              <p:spPr bwMode="auto">
                <a:xfrm flipH="1">
                  <a:off x="2410" y="2400"/>
                  <a:ext cx="436" cy="1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8" name="AutoShape 10"/>
                <p:cNvCxnSpPr>
                  <a:cxnSpLocks noChangeShapeType="1"/>
                  <a:stCxn id="56" idx="2"/>
                  <a:endCxn id="54" idx="0"/>
                </p:cNvCxnSpPr>
                <p:nvPr/>
              </p:nvCxnSpPr>
              <p:spPr bwMode="auto">
                <a:xfrm>
                  <a:off x="2845" y="2400"/>
                  <a:ext cx="25" cy="20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59" name="AutoShape 11"/>
                <p:cNvCxnSpPr>
                  <a:cxnSpLocks noChangeShapeType="1"/>
                  <a:stCxn id="56" idx="2"/>
                </p:cNvCxnSpPr>
                <p:nvPr/>
              </p:nvCxnSpPr>
              <p:spPr bwMode="auto">
                <a:xfrm>
                  <a:off x="2845" y="2400"/>
                  <a:ext cx="428" cy="21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53" name="椭圆 52"/>
              <p:cNvSpPr/>
              <p:nvPr/>
            </p:nvSpPr>
            <p:spPr>
              <a:xfrm>
                <a:off x="4066152" y="3505202"/>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4" name="椭圆 53"/>
              <p:cNvSpPr/>
              <p:nvPr/>
            </p:nvSpPr>
            <p:spPr>
              <a:xfrm>
                <a:off x="5120037" y="3527418"/>
                <a:ext cx="938650" cy="4443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endParaRPr>
              </a:p>
            </p:txBody>
          </p:sp>
          <p:sp>
            <p:nvSpPr>
              <p:cNvPr id="55" name="椭圆 54"/>
              <p:cNvSpPr/>
              <p:nvPr/>
            </p:nvSpPr>
            <p:spPr>
              <a:xfrm>
                <a:off x="6137759" y="3546223"/>
                <a:ext cx="1012556" cy="3880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9" name="TextBox 48"/>
            <p:cNvSpPr txBox="1"/>
            <p:nvPr/>
          </p:nvSpPr>
          <p:spPr>
            <a:xfrm>
              <a:off x="9191498" y="1982136"/>
              <a:ext cx="875654" cy="369332"/>
            </a:xfrm>
            <a:prstGeom prst="rect">
              <a:avLst/>
            </a:prstGeom>
            <a:noFill/>
          </p:spPr>
          <p:txBody>
            <a:bodyPr wrap="square" rtlCol="0">
              <a:spAutoFit/>
            </a:bodyPr>
            <a:lstStyle/>
            <a:p>
              <a:r>
                <a:rPr lang="zh-CN" altLang="en-US" dirty="0"/>
                <a:t>负责人</a:t>
              </a:r>
            </a:p>
          </p:txBody>
        </p:sp>
        <p:sp>
          <p:nvSpPr>
            <p:cNvPr id="50" name="TextBox 49"/>
            <p:cNvSpPr txBox="1"/>
            <p:nvPr/>
          </p:nvSpPr>
          <p:spPr>
            <a:xfrm>
              <a:off x="8109488" y="1978619"/>
              <a:ext cx="875654" cy="369332"/>
            </a:xfrm>
            <a:prstGeom prst="rect">
              <a:avLst/>
            </a:prstGeom>
            <a:noFill/>
          </p:spPr>
          <p:txBody>
            <a:bodyPr wrap="square" rtlCol="0">
              <a:spAutoFit/>
            </a:bodyPr>
            <a:lstStyle/>
            <a:p>
              <a:r>
                <a:rPr lang="zh-CN" altLang="en-US" dirty="0"/>
                <a:t>车间名 </a:t>
              </a:r>
            </a:p>
          </p:txBody>
        </p:sp>
        <p:sp>
          <p:nvSpPr>
            <p:cNvPr id="51" name="TextBox 50"/>
            <p:cNvSpPr txBox="1"/>
            <p:nvPr/>
          </p:nvSpPr>
          <p:spPr>
            <a:xfrm>
              <a:off x="10292668" y="1958920"/>
              <a:ext cx="719668" cy="369332"/>
            </a:xfrm>
            <a:prstGeom prst="rect">
              <a:avLst/>
            </a:prstGeom>
            <a:noFill/>
          </p:spPr>
          <p:txBody>
            <a:bodyPr wrap="square" rtlCol="0">
              <a:spAutoFit/>
            </a:bodyPr>
            <a:lstStyle/>
            <a:p>
              <a:r>
                <a:rPr lang="zh-CN" altLang="en-US" dirty="0"/>
                <a:t>电话</a:t>
              </a:r>
            </a:p>
          </p:txBody>
        </p:sp>
      </p:grpSp>
      <p:grpSp>
        <p:nvGrpSpPr>
          <p:cNvPr id="60" name="组合 59"/>
          <p:cNvGrpSpPr/>
          <p:nvPr/>
        </p:nvGrpSpPr>
        <p:grpSpPr>
          <a:xfrm>
            <a:off x="1169332" y="1215616"/>
            <a:ext cx="3084163" cy="1150076"/>
            <a:chOff x="8074617" y="1254079"/>
            <a:chExt cx="3084163" cy="1150076"/>
          </a:xfrm>
        </p:grpSpPr>
        <p:grpSp>
          <p:nvGrpSpPr>
            <p:cNvPr id="61" name="组合 60"/>
            <p:cNvGrpSpPr/>
            <p:nvPr/>
          </p:nvGrpSpPr>
          <p:grpSpPr>
            <a:xfrm>
              <a:off x="8074617" y="1254079"/>
              <a:ext cx="3084163" cy="1150076"/>
              <a:chOff x="4066152" y="2836865"/>
              <a:chExt cx="3084163" cy="1150076"/>
            </a:xfrm>
          </p:grpSpPr>
          <p:grpSp>
            <p:nvGrpSpPr>
              <p:cNvPr id="65" name="Group 4"/>
              <p:cNvGrpSpPr>
                <a:grpSpLocks/>
              </p:cNvGrpSpPr>
              <p:nvPr/>
            </p:nvGrpSpPr>
            <p:grpSpPr bwMode="auto">
              <a:xfrm>
                <a:off x="4516104" y="2836865"/>
                <a:ext cx="2012447" cy="709613"/>
                <a:chOff x="2410" y="2171"/>
                <a:chExt cx="863" cy="447"/>
              </a:xfrm>
            </p:grpSpPr>
            <p:sp>
              <p:nvSpPr>
                <p:cNvPr id="69" name="Rectangle 5"/>
                <p:cNvSpPr>
                  <a:spLocks noChangeArrowheads="1"/>
                </p:cNvSpPr>
                <p:nvPr/>
              </p:nvSpPr>
              <p:spPr bwMode="auto">
                <a:xfrm>
                  <a:off x="2696" y="2171"/>
                  <a:ext cx="299" cy="229"/>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b="1" i="0" dirty="0">
                      <a:latin typeface="Times New Roman" pitchFamily="18" charset="0"/>
                    </a:rPr>
                    <a:t>工厂</a:t>
                  </a:r>
                </a:p>
              </p:txBody>
            </p:sp>
            <p:cxnSp>
              <p:nvCxnSpPr>
                <p:cNvPr id="70" name="AutoShape 9"/>
                <p:cNvCxnSpPr>
                  <a:cxnSpLocks noChangeShapeType="1"/>
                  <a:stCxn id="69" idx="2"/>
                </p:cNvCxnSpPr>
                <p:nvPr/>
              </p:nvCxnSpPr>
              <p:spPr bwMode="auto">
                <a:xfrm flipH="1">
                  <a:off x="2410" y="2400"/>
                  <a:ext cx="436" cy="1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1" name="AutoShape 10"/>
                <p:cNvCxnSpPr>
                  <a:cxnSpLocks noChangeShapeType="1"/>
                  <a:stCxn id="69" idx="2"/>
                  <a:endCxn id="67" idx="0"/>
                </p:cNvCxnSpPr>
                <p:nvPr/>
              </p:nvCxnSpPr>
              <p:spPr bwMode="auto">
                <a:xfrm>
                  <a:off x="2845" y="2400"/>
                  <a:ext cx="25" cy="20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72" name="AutoShape 11"/>
                <p:cNvCxnSpPr>
                  <a:cxnSpLocks noChangeShapeType="1"/>
                  <a:stCxn id="69" idx="2"/>
                </p:cNvCxnSpPr>
                <p:nvPr/>
              </p:nvCxnSpPr>
              <p:spPr bwMode="auto">
                <a:xfrm>
                  <a:off x="2845" y="2400"/>
                  <a:ext cx="428" cy="21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66" name="椭圆 65"/>
              <p:cNvSpPr/>
              <p:nvPr/>
            </p:nvSpPr>
            <p:spPr>
              <a:xfrm>
                <a:off x="4066152" y="3505202"/>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7" name="椭圆 66"/>
              <p:cNvSpPr/>
              <p:nvPr/>
            </p:nvSpPr>
            <p:spPr>
              <a:xfrm>
                <a:off x="5120037" y="3527418"/>
                <a:ext cx="938650" cy="4443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endParaRPr>
              </a:p>
            </p:txBody>
          </p:sp>
          <p:sp>
            <p:nvSpPr>
              <p:cNvPr id="68" name="椭圆 67"/>
              <p:cNvSpPr/>
              <p:nvPr/>
            </p:nvSpPr>
            <p:spPr>
              <a:xfrm>
                <a:off x="6137759" y="3546223"/>
                <a:ext cx="1012556" cy="3880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2" name="TextBox 61"/>
            <p:cNvSpPr txBox="1"/>
            <p:nvPr/>
          </p:nvSpPr>
          <p:spPr>
            <a:xfrm>
              <a:off x="9128502" y="1982136"/>
              <a:ext cx="1226770" cy="338554"/>
            </a:xfrm>
            <a:prstGeom prst="rect">
              <a:avLst/>
            </a:prstGeom>
            <a:noFill/>
          </p:spPr>
          <p:txBody>
            <a:bodyPr wrap="square" rtlCol="0">
              <a:spAutoFit/>
            </a:bodyPr>
            <a:lstStyle/>
            <a:p>
              <a:r>
                <a:rPr lang="zh-CN" altLang="en-US" sz="1600" dirty="0"/>
                <a:t>法人代表</a:t>
              </a:r>
            </a:p>
          </p:txBody>
        </p:sp>
        <p:sp>
          <p:nvSpPr>
            <p:cNvPr id="63" name="TextBox 62"/>
            <p:cNvSpPr txBox="1"/>
            <p:nvPr/>
          </p:nvSpPr>
          <p:spPr>
            <a:xfrm>
              <a:off x="8109488" y="1978619"/>
              <a:ext cx="875654" cy="369332"/>
            </a:xfrm>
            <a:prstGeom prst="rect">
              <a:avLst/>
            </a:prstGeom>
            <a:noFill/>
          </p:spPr>
          <p:txBody>
            <a:bodyPr wrap="square" rtlCol="0">
              <a:spAutoFit/>
            </a:bodyPr>
            <a:lstStyle/>
            <a:p>
              <a:r>
                <a:rPr lang="zh-CN" altLang="en-US" dirty="0"/>
                <a:t>  厂名</a:t>
              </a:r>
            </a:p>
          </p:txBody>
        </p:sp>
        <p:sp>
          <p:nvSpPr>
            <p:cNvPr id="64" name="TextBox 63"/>
            <p:cNvSpPr txBox="1"/>
            <p:nvPr/>
          </p:nvSpPr>
          <p:spPr>
            <a:xfrm>
              <a:off x="10292668" y="1958920"/>
              <a:ext cx="719668" cy="369332"/>
            </a:xfrm>
            <a:prstGeom prst="rect">
              <a:avLst/>
            </a:prstGeom>
            <a:noFill/>
          </p:spPr>
          <p:txBody>
            <a:bodyPr wrap="square" rtlCol="0">
              <a:spAutoFit/>
            </a:bodyPr>
            <a:lstStyle/>
            <a:p>
              <a:r>
                <a:rPr lang="zh-CN" altLang="en-US" dirty="0"/>
                <a:t> 地址</a:t>
              </a:r>
            </a:p>
          </p:txBody>
        </p:sp>
      </p:grpSp>
      <p:grpSp>
        <p:nvGrpSpPr>
          <p:cNvPr id="73" name="组合 72"/>
          <p:cNvGrpSpPr/>
          <p:nvPr/>
        </p:nvGrpSpPr>
        <p:grpSpPr>
          <a:xfrm>
            <a:off x="922181" y="2879630"/>
            <a:ext cx="3084163" cy="1150076"/>
            <a:chOff x="8074617" y="1254079"/>
            <a:chExt cx="3084163" cy="1150076"/>
          </a:xfrm>
        </p:grpSpPr>
        <p:grpSp>
          <p:nvGrpSpPr>
            <p:cNvPr id="74" name="组合 73"/>
            <p:cNvGrpSpPr/>
            <p:nvPr/>
          </p:nvGrpSpPr>
          <p:grpSpPr>
            <a:xfrm>
              <a:off x="8074617" y="1254079"/>
              <a:ext cx="3084163" cy="1150076"/>
              <a:chOff x="4066152" y="2836865"/>
              <a:chExt cx="3084163" cy="1150076"/>
            </a:xfrm>
          </p:grpSpPr>
          <p:grpSp>
            <p:nvGrpSpPr>
              <p:cNvPr id="78" name="Group 4"/>
              <p:cNvGrpSpPr>
                <a:grpSpLocks/>
              </p:cNvGrpSpPr>
              <p:nvPr/>
            </p:nvGrpSpPr>
            <p:grpSpPr bwMode="auto">
              <a:xfrm>
                <a:off x="4516104" y="2836865"/>
                <a:ext cx="2012447" cy="709613"/>
                <a:chOff x="2410" y="2171"/>
                <a:chExt cx="863" cy="447"/>
              </a:xfrm>
            </p:grpSpPr>
            <p:sp>
              <p:nvSpPr>
                <p:cNvPr id="82" name="Rectangle 5"/>
                <p:cNvSpPr>
                  <a:spLocks noChangeArrowheads="1"/>
                </p:cNvSpPr>
                <p:nvPr/>
              </p:nvSpPr>
              <p:spPr bwMode="auto">
                <a:xfrm>
                  <a:off x="2696" y="2171"/>
                  <a:ext cx="299" cy="229"/>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b="1" i="0" dirty="0">
                      <a:latin typeface="Times New Roman" pitchFamily="18" charset="0"/>
                    </a:rPr>
                    <a:t>产品</a:t>
                  </a:r>
                </a:p>
              </p:txBody>
            </p:sp>
            <p:cxnSp>
              <p:nvCxnSpPr>
                <p:cNvPr id="83" name="AutoShape 9"/>
                <p:cNvCxnSpPr>
                  <a:cxnSpLocks noChangeShapeType="1"/>
                  <a:stCxn id="82" idx="2"/>
                </p:cNvCxnSpPr>
                <p:nvPr/>
              </p:nvCxnSpPr>
              <p:spPr bwMode="auto">
                <a:xfrm flipH="1">
                  <a:off x="2410" y="2400"/>
                  <a:ext cx="436" cy="1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85" name="AutoShape 11"/>
                <p:cNvCxnSpPr>
                  <a:cxnSpLocks noChangeShapeType="1"/>
                  <a:stCxn id="82" idx="2"/>
                </p:cNvCxnSpPr>
                <p:nvPr/>
              </p:nvCxnSpPr>
              <p:spPr bwMode="auto">
                <a:xfrm>
                  <a:off x="2845" y="2400"/>
                  <a:ext cx="428" cy="21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79" name="椭圆 78"/>
              <p:cNvSpPr/>
              <p:nvPr/>
            </p:nvSpPr>
            <p:spPr>
              <a:xfrm>
                <a:off x="4066152" y="3505202"/>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1" name="椭圆 80"/>
              <p:cNvSpPr/>
              <p:nvPr/>
            </p:nvSpPr>
            <p:spPr>
              <a:xfrm>
                <a:off x="6137759" y="3546223"/>
                <a:ext cx="1012556" cy="3880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6" name="TextBox 75"/>
            <p:cNvSpPr txBox="1"/>
            <p:nvPr/>
          </p:nvSpPr>
          <p:spPr>
            <a:xfrm>
              <a:off x="8109488" y="1978619"/>
              <a:ext cx="875654" cy="369332"/>
            </a:xfrm>
            <a:prstGeom prst="rect">
              <a:avLst/>
            </a:prstGeom>
            <a:noFill/>
          </p:spPr>
          <p:txBody>
            <a:bodyPr wrap="square" rtlCol="0">
              <a:spAutoFit/>
            </a:bodyPr>
            <a:lstStyle/>
            <a:p>
              <a:r>
                <a:rPr lang="zh-CN" altLang="en-US" dirty="0"/>
                <a:t>产品号</a:t>
              </a:r>
            </a:p>
          </p:txBody>
        </p:sp>
        <p:sp>
          <p:nvSpPr>
            <p:cNvPr id="77" name="TextBox 76"/>
            <p:cNvSpPr txBox="1"/>
            <p:nvPr/>
          </p:nvSpPr>
          <p:spPr>
            <a:xfrm>
              <a:off x="10228850" y="1958920"/>
              <a:ext cx="929930" cy="369332"/>
            </a:xfrm>
            <a:prstGeom prst="rect">
              <a:avLst/>
            </a:prstGeom>
            <a:noFill/>
          </p:spPr>
          <p:txBody>
            <a:bodyPr wrap="square" rtlCol="0">
              <a:spAutoFit/>
            </a:bodyPr>
            <a:lstStyle/>
            <a:p>
              <a:r>
                <a:rPr lang="zh-CN" altLang="en-US" dirty="0"/>
                <a:t>产品名</a:t>
              </a:r>
            </a:p>
          </p:txBody>
        </p:sp>
      </p:grpSp>
      <p:grpSp>
        <p:nvGrpSpPr>
          <p:cNvPr id="86" name="组合 85"/>
          <p:cNvGrpSpPr/>
          <p:nvPr/>
        </p:nvGrpSpPr>
        <p:grpSpPr>
          <a:xfrm>
            <a:off x="941053" y="4511134"/>
            <a:ext cx="3084163" cy="1150076"/>
            <a:chOff x="8074617" y="1254079"/>
            <a:chExt cx="3084163" cy="1150076"/>
          </a:xfrm>
        </p:grpSpPr>
        <p:grpSp>
          <p:nvGrpSpPr>
            <p:cNvPr id="87" name="组合 86"/>
            <p:cNvGrpSpPr/>
            <p:nvPr/>
          </p:nvGrpSpPr>
          <p:grpSpPr>
            <a:xfrm>
              <a:off x="8074617" y="1254079"/>
              <a:ext cx="3084163" cy="1150076"/>
              <a:chOff x="4066152" y="2836865"/>
              <a:chExt cx="3084163" cy="1150076"/>
            </a:xfrm>
          </p:grpSpPr>
          <p:grpSp>
            <p:nvGrpSpPr>
              <p:cNvPr id="91" name="Group 4"/>
              <p:cNvGrpSpPr>
                <a:grpSpLocks/>
              </p:cNvGrpSpPr>
              <p:nvPr/>
            </p:nvGrpSpPr>
            <p:grpSpPr bwMode="auto">
              <a:xfrm>
                <a:off x="4516104" y="2836865"/>
                <a:ext cx="2012447" cy="709613"/>
                <a:chOff x="2410" y="2171"/>
                <a:chExt cx="863" cy="447"/>
              </a:xfrm>
            </p:grpSpPr>
            <p:sp>
              <p:nvSpPr>
                <p:cNvPr id="95" name="Rectangle 5"/>
                <p:cNvSpPr>
                  <a:spLocks noChangeArrowheads="1"/>
                </p:cNvSpPr>
                <p:nvPr/>
              </p:nvSpPr>
              <p:spPr bwMode="auto">
                <a:xfrm>
                  <a:off x="2696" y="2171"/>
                  <a:ext cx="299" cy="229"/>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b="1" i="0" dirty="0">
                      <a:latin typeface="Times New Roman" pitchFamily="18" charset="0"/>
                    </a:rPr>
                    <a:t>零件</a:t>
                  </a:r>
                </a:p>
              </p:txBody>
            </p:sp>
            <p:cxnSp>
              <p:nvCxnSpPr>
                <p:cNvPr id="96" name="AutoShape 9"/>
                <p:cNvCxnSpPr>
                  <a:cxnSpLocks noChangeShapeType="1"/>
                  <a:stCxn id="95" idx="2"/>
                </p:cNvCxnSpPr>
                <p:nvPr/>
              </p:nvCxnSpPr>
              <p:spPr bwMode="auto">
                <a:xfrm flipH="1">
                  <a:off x="2410" y="2400"/>
                  <a:ext cx="436" cy="1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7" name="AutoShape 10"/>
                <p:cNvCxnSpPr>
                  <a:cxnSpLocks noChangeShapeType="1"/>
                  <a:stCxn id="95" idx="2"/>
                  <a:endCxn id="93" idx="0"/>
                </p:cNvCxnSpPr>
                <p:nvPr/>
              </p:nvCxnSpPr>
              <p:spPr bwMode="auto">
                <a:xfrm>
                  <a:off x="2845" y="2400"/>
                  <a:ext cx="25" cy="20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98" name="AutoShape 11"/>
                <p:cNvCxnSpPr>
                  <a:cxnSpLocks noChangeShapeType="1"/>
                  <a:stCxn id="95" idx="2"/>
                </p:cNvCxnSpPr>
                <p:nvPr/>
              </p:nvCxnSpPr>
              <p:spPr bwMode="auto">
                <a:xfrm>
                  <a:off x="2845" y="2400"/>
                  <a:ext cx="428" cy="21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92" name="椭圆 91"/>
              <p:cNvSpPr/>
              <p:nvPr/>
            </p:nvSpPr>
            <p:spPr>
              <a:xfrm>
                <a:off x="4066152" y="3505202"/>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93" name="椭圆 92"/>
              <p:cNvSpPr/>
              <p:nvPr/>
            </p:nvSpPr>
            <p:spPr>
              <a:xfrm>
                <a:off x="5120037" y="3527418"/>
                <a:ext cx="938650" cy="4443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endParaRPr>
              </a:p>
            </p:txBody>
          </p:sp>
          <p:sp>
            <p:nvSpPr>
              <p:cNvPr id="94" name="椭圆 93"/>
              <p:cNvSpPr/>
              <p:nvPr/>
            </p:nvSpPr>
            <p:spPr>
              <a:xfrm>
                <a:off x="6137759" y="3546223"/>
                <a:ext cx="1012556" cy="3880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88" name="TextBox 87"/>
            <p:cNvSpPr txBox="1"/>
            <p:nvPr/>
          </p:nvSpPr>
          <p:spPr>
            <a:xfrm>
              <a:off x="9191498" y="1982136"/>
              <a:ext cx="875654" cy="369332"/>
            </a:xfrm>
            <a:prstGeom prst="rect">
              <a:avLst/>
            </a:prstGeom>
            <a:noFill/>
          </p:spPr>
          <p:txBody>
            <a:bodyPr wrap="square" rtlCol="0">
              <a:spAutoFit/>
            </a:bodyPr>
            <a:lstStyle/>
            <a:p>
              <a:r>
                <a:rPr lang="zh-CN" altLang="en-US" dirty="0"/>
                <a:t>零件名</a:t>
              </a:r>
            </a:p>
          </p:txBody>
        </p:sp>
        <p:sp>
          <p:nvSpPr>
            <p:cNvPr id="89" name="TextBox 88"/>
            <p:cNvSpPr txBox="1"/>
            <p:nvPr/>
          </p:nvSpPr>
          <p:spPr>
            <a:xfrm>
              <a:off x="8109488" y="1978619"/>
              <a:ext cx="875654" cy="369332"/>
            </a:xfrm>
            <a:prstGeom prst="rect">
              <a:avLst/>
            </a:prstGeom>
            <a:noFill/>
          </p:spPr>
          <p:txBody>
            <a:bodyPr wrap="square" rtlCol="0">
              <a:spAutoFit/>
            </a:bodyPr>
            <a:lstStyle/>
            <a:p>
              <a:r>
                <a:rPr lang="zh-CN" altLang="en-US" dirty="0"/>
                <a:t>零件号</a:t>
              </a:r>
            </a:p>
          </p:txBody>
        </p:sp>
        <p:sp>
          <p:nvSpPr>
            <p:cNvPr id="90" name="TextBox 89"/>
            <p:cNvSpPr txBox="1"/>
            <p:nvPr/>
          </p:nvSpPr>
          <p:spPr>
            <a:xfrm>
              <a:off x="10292668" y="1958920"/>
              <a:ext cx="719668" cy="369332"/>
            </a:xfrm>
            <a:prstGeom prst="rect">
              <a:avLst/>
            </a:prstGeom>
            <a:noFill/>
          </p:spPr>
          <p:txBody>
            <a:bodyPr wrap="square" rtlCol="0">
              <a:spAutoFit/>
            </a:bodyPr>
            <a:lstStyle/>
            <a:p>
              <a:r>
                <a:rPr lang="zh-CN" altLang="en-US" dirty="0"/>
                <a:t>规格</a:t>
              </a:r>
            </a:p>
          </p:txBody>
        </p:sp>
      </p:grpSp>
      <p:grpSp>
        <p:nvGrpSpPr>
          <p:cNvPr id="21506" name="组合 21505"/>
          <p:cNvGrpSpPr/>
          <p:nvPr/>
        </p:nvGrpSpPr>
        <p:grpSpPr>
          <a:xfrm>
            <a:off x="4695228" y="2697861"/>
            <a:ext cx="5137689" cy="1150076"/>
            <a:chOff x="7313440" y="2697861"/>
            <a:chExt cx="5137689" cy="1150076"/>
          </a:xfrm>
        </p:grpSpPr>
        <p:grpSp>
          <p:nvGrpSpPr>
            <p:cNvPr id="21" name="组合 20"/>
            <p:cNvGrpSpPr/>
            <p:nvPr/>
          </p:nvGrpSpPr>
          <p:grpSpPr>
            <a:xfrm>
              <a:off x="8346660" y="2697861"/>
              <a:ext cx="3084164" cy="1150076"/>
              <a:chOff x="8074617" y="1254079"/>
              <a:chExt cx="3084164" cy="1150076"/>
            </a:xfrm>
          </p:grpSpPr>
          <p:grpSp>
            <p:nvGrpSpPr>
              <p:cNvPr id="22" name="组合 21"/>
              <p:cNvGrpSpPr/>
              <p:nvPr/>
            </p:nvGrpSpPr>
            <p:grpSpPr>
              <a:xfrm>
                <a:off x="8074617" y="1254079"/>
                <a:ext cx="3084163" cy="1150076"/>
                <a:chOff x="4066152" y="2836865"/>
                <a:chExt cx="3084163" cy="1150076"/>
              </a:xfrm>
            </p:grpSpPr>
            <p:grpSp>
              <p:nvGrpSpPr>
                <p:cNvPr id="26" name="Group 4"/>
                <p:cNvGrpSpPr>
                  <a:grpSpLocks/>
                </p:cNvGrpSpPr>
                <p:nvPr/>
              </p:nvGrpSpPr>
              <p:grpSpPr bwMode="auto">
                <a:xfrm>
                  <a:off x="4516104" y="2836865"/>
                  <a:ext cx="2012447" cy="709613"/>
                  <a:chOff x="2410" y="2171"/>
                  <a:chExt cx="863" cy="447"/>
                </a:xfrm>
              </p:grpSpPr>
              <p:sp>
                <p:nvSpPr>
                  <p:cNvPr id="30" name="Rectangle 5"/>
                  <p:cNvSpPr>
                    <a:spLocks noChangeArrowheads="1"/>
                  </p:cNvSpPr>
                  <p:nvPr/>
                </p:nvSpPr>
                <p:spPr bwMode="auto">
                  <a:xfrm>
                    <a:off x="2696" y="2171"/>
                    <a:ext cx="299" cy="229"/>
                  </a:xfrm>
                  <a:prstGeom prst="rect">
                    <a:avLst/>
                  </a:prstGeom>
                  <a:noFill/>
                  <a:ln w="12700">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kumimoji="1" lang="zh-CN" altLang="en-US" b="1" i="0" dirty="0">
                        <a:latin typeface="Times New Roman" pitchFamily="18" charset="0"/>
                      </a:rPr>
                      <a:t>工人</a:t>
                    </a:r>
                  </a:p>
                </p:txBody>
              </p:sp>
              <p:cxnSp>
                <p:nvCxnSpPr>
                  <p:cNvPr id="31" name="AutoShape 9"/>
                  <p:cNvCxnSpPr>
                    <a:cxnSpLocks noChangeShapeType="1"/>
                    <a:stCxn id="30" idx="2"/>
                  </p:cNvCxnSpPr>
                  <p:nvPr/>
                </p:nvCxnSpPr>
                <p:spPr bwMode="auto">
                  <a:xfrm flipH="1">
                    <a:off x="2410" y="2400"/>
                    <a:ext cx="436" cy="192"/>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2" name="AutoShape 10"/>
                  <p:cNvCxnSpPr>
                    <a:cxnSpLocks noChangeShapeType="1"/>
                    <a:stCxn id="30" idx="2"/>
                    <a:endCxn id="28" idx="0"/>
                  </p:cNvCxnSpPr>
                  <p:nvPr/>
                </p:nvCxnSpPr>
                <p:spPr bwMode="auto">
                  <a:xfrm>
                    <a:off x="2845" y="2400"/>
                    <a:ext cx="25" cy="20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33" name="AutoShape 11"/>
                  <p:cNvCxnSpPr>
                    <a:cxnSpLocks noChangeShapeType="1"/>
                    <a:stCxn id="30" idx="2"/>
                  </p:cNvCxnSpPr>
                  <p:nvPr/>
                </p:nvCxnSpPr>
                <p:spPr bwMode="auto">
                  <a:xfrm>
                    <a:off x="2845" y="2400"/>
                    <a:ext cx="428" cy="21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27" name="椭圆 26"/>
                <p:cNvSpPr/>
                <p:nvPr/>
              </p:nvSpPr>
              <p:spPr>
                <a:xfrm>
                  <a:off x="4066152" y="3505202"/>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8" name="椭圆 27"/>
                <p:cNvSpPr/>
                <p:nvPr/>
              </p:nvSpPr>
              <p:spPr>
                <a:xfrm>
                  <a:off x="5120037" y="3527418"/>
                  <a:ext cx="938650" cy="44434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dirty="0">
                    <a:solidFill>
                      <a:schemeClr val="tx1"/>
                    </a:solidFill>
                  </a:endParaRPr>
                </a:p>
              </p:txBody>
            </p:sp>
            <p:sp>
              <p:nvSpPr>
                <p:cNvPr id="29" name="椭圆 28"/>
                <p:cNvSpPr/>
                <p:nvPr/>
              </p:nvSpPr>
              <p:spPr>
                <a:xfrm>
                  <a:off x="6137759" y="3546223"/>
                  <a:ext cx="1012556" cy="38803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3" name="TextBox 22"/>
              <p:cNvSpPr txBox="1"/>
              <p:nvPr/>
            </p:nvSpPr>
            <p:spPr>
              <a:xfrm>
                <a:off x="9191498" y="1982136"/>
                <a:ext cx="875654" cy="369332"/>
              </a:xfrm>
              <a:prstGeom prst="rect">
                <a:avLst/>
              </a:prstGeom>
              <a:noFill/>
            </p:spPr>
            <p:txBody>
              <a:bodyPr wrap="square" rtlCol="0">
                <a:spAutoFit/>
              </a:bodyPr>
              <a:lstStyle/>
              <a:p>
                <a:r>
                  <a:rPr lang="zh-CN" altLang="en-US" dirty="0"/>
                  <a:t>性别</a:t>
                </a:r>
              </a:p>
            </p:txBody>
          </p:sp>
          <p:sp>
            <p:nvSpPr>
              <p:cNvPr id="24" name="TextBox 23"/>
              <p:cNvSpPr txBox="1"/>
              <p:nvPr/>
            </p:nvSpPr>
            <p:spPr>
              <a:xfrm>
                <a:off x="8109488" y="1978619"/>
                <a:ext cx="875654" cy="369332"/>
              </a:xfrm>
              <a:prstGeom prst="rect">
                <a:avLst/>
              </a:prstGeom>
              <a:noFill/>
            </p:spPr>
            <p:txBody>
              <a:bodyPr wrap="square" rtlCol="0">
                <a:spAutoFit/>
              </a:bodyPr>
              <a:lstStyle/>
              <a:p>
                <a:r>
                  <a:rPr lang="zh-CN" altLang="en-US" dirty="0"/>
                  <a:t>  姓名</a:t>
                </a:r>
              </a:p>
            </p:txBody>
          </p:sp>
          <p:sp>
            <p:nvSpPr>
              <p:cNvPr id="25" name="TextBox 24"/>
              <p:cNvSpPr txBox="1"/>
              <p:nvPr/>
            </p:nvSpPr>
            <p:spPr>
              <a:xfrm>
                <a:off x="10146225" y="1982167"/>
                <a:ext cx="1012556" cy="338554"/>
              </a:xfrm>
              <a:prstGeom prst="rect">
                <a:avLst/>
              </a:prstGeom>
              <a:noFill/>
            </p:spPr>
            <p:txBody>
              <a:bodyPr wrap="square" rtlCol="0">
                <a:spAutoFit/>
              </a:bodyPr>
              <a:lstStyle/>
              <a:p>
                <a:r>
                  <a:rPr lang="zh-CN" altLang="en-US" sz="1600" dirty="0"/>
                  <a:t>出生年月</a:t>
                </a:r>
              </a:p>
            </p:txBody>
          </p:sp>
        </p:grpSp>
        <p:sp>
          <p:nvSpPr>
            <p:cNvPr id="112" name="椭圆 111"/>
            <p:cNvSpPr/>
            <p:nvPr/>
          </p:nvSpPr>
          <p:spPr>
            <a:xfrm>
              <a:off x="7313440" y="3301101"/>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3" name="TextBox 112"/>
            <p:cNvSpPr txBox="1"/>
            <p:nvPr/>
          </p:nvSpPr>
          <p:spPr>
            <a:xfrm>
              <a:off x="7348311" y="3357304"/>
              <a:ext cx="875654" cy="369332"/>
            </a:xfrm>
            <a:prstGeom prst="rect">
              <a:avLst/>
            </a:prstGeom>
            <a:noFill/>
          </p:spPr>
          <p:txBody>
            <a:bodyPr wrap="square" rtlCol="0">
              <a:spAutoFit/>
            </a:bodyPr>
            <a:lstStyle/>
            <a:p>
              <a:r>
                <a:rPr lang="zh-CN" altLang="en-US" dirty="0"/>
                <a:t> 工号</a:t>
              </a:r>
            </a:p>
          </p:txBody>
        </p:sp>
        <p:sp>
          <p:nvSpPr>
            <p:cNvPr id="114" name="椭圆 113"/>
            <p:cNvSpPr/>
            <p:nvPr/>
          </p:nvSpPr>
          <p:spPr>
            <a:xfrm>
              <a:off x="11505732" y="3363301"/>
              <a:ext cx="945397" cy="48173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15" name="TextBox 114"/>
            <p:cNvSpPr txBox="1"/>
            <p:nvPr/>
          </p:nvSpPr>
          <p:spPr>
            <a:xfrm>
              <a:off x="11540603" y="3419504"/>
              <a:ext cx="875654" cy="369332"/>
            </a:xfrm>
            <a:prstGeom prst="rect">
              <a:avLst/>
            </a:prstGeom>
            <a:noFill/>
          </p:spPr>
          <p:txBody>
            <a:bodyPr wrap="square" rtlCol="0">
              <a:spAutoFit/>
            </a:bodyPr>
            <a:lstStyle/>
            <a:p>
              <a:r>
                <a:rPr lang="zh-CN" altLang="en-US" dirty="0"/>
                <a:t>  工种</a:t>
              </a:r>
            </a:p>
          </p:txBody>
        </p:sp>
        <p:cxnSp>
          <p:nvCxnSpPr>
            <p:cNvPr id="116" name="AutoShape 9"/>
            <p:cNvCxnSpPr>
              <a:cxnSpLocks noChangeShapeType="1"/>
              <a:endCxn id="112" idx="0"/>
            </p:cNvCxnSpPr>
            <p:nvPr/>
          </p:nvCxnSpPr>
          <p:spPr bwMode="auto">
            <a:xfrm flipH="1">
              <a:off x="7786139" y="3050351"/>
              <a:ext cx="1693724" cy="25075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117" name="AutoShape 9"/>
            <p:cNvCxnSpPr>
              <a:cxnSpLocks noChangeShapeType="1"/>
            </p:cNvCxnSpPr>
            <p:nvPr/>
          </p:nvCxnSpPr>
          <p:spPr bwMode="auto">
            <a:xfrm flipH="1" flipV="1">
              <a:off x="10146225" y="3050521"/>
              <a:ext cx="1705884" cy="31567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2" name="TextBox 1"/>
          <p:cNvSpPr txBox="1"/>
          <p:nvPr/>
        </p:nvSpPr>
        <p:spPr>
          <a:xfrm>
            <a:off x="3878772" y="6152827"/>
            <a:ext cx="1726981" cy="369332"/>
          </a:xfrm>
          <a:prstGeom prst="rect">
            <a:avLst/>
          </a:prstGeom>
          <a:noFill/>
        </p:spPr>
        <p:txBody>
          <a:bodyPr wrap="square" rtlCol="0">
            <a:spAutoFit/>
          </a:bodyPr>
          <a:lstStyle/>
          <a:p>
            <a:r>
              <a:rPr lang="zh-CN" altLang="en-US" dirty="0"/>
              <a:t>实体</a:t>
            </a:r>
            <a:r>
              <a:rPr lang="en-US" altLang="zh-CN" dirty="0"/>
              <a:t>-</a:t>
            </a:r>
            <a:r>
              <a:rPr lang="zh-CN" altLang="en-US" dirty="0"/>
              <a:t>属性图</a:t>
            </a:r>
          </a:p>
        </p:txBody>
      </p:sp>
    </p:spTree>
    <p:extLst>
      <p:ext uri="{BB962C8B-B14F-4D97-AF65-F5344CB8AC3E}">
        <p14:creationId xmlns:p14="http://schemas.microsoft.com/office/powerpoint/2010/main" val="35133378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1" y="4495800"/>
            <a:ext cx="2927351"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spcBef>
                <a:spcPct val="20000"/>
              </a:spcBef>
            </a:pPr>
            <a:endParaRPr lang="zh-CN" altLang="zh-CN" sz="2400" i="0"/>
          </a:p>
        </p:txBody>
      </p:sp>
      <p:sp>
        <p:nvSpPr>
          <p:cNvPr id="23555" name="Text Box 3"/>
          <p:cNvSpPr txBox="1">
            <a:spLocks noChangeArrowheads="1"/>
          </p:cNvSpPr>
          <p:nvPr/>
        </p:nvSpPr>
        <p:spPr bwMode="auto">
          <a:xfrm>
            <a:off x="1" y="1"/>
            <a:ext cx="1185756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25000"/>
              </a:spcBef>
            </a:pPr>
            <a:endParaRPr kumimoji="1" lang="zh-CN" altLang="zh-CN" sz="2800" b="1" i="0">
              <a:solidFill>
                <a:schemeClr val="accent1"/>
              </a:solidFill>
            </a:endParaRPr>
          </a:p>
        </p:txBody>
      </p:sp>
      <p:sp>
        <p:nvSpPr>
          <p:cNvPr id="331780" name="Text Box 4"/>
          <p:cNvSpPr txBox="1">
            <a:spLocks noChangeArrowheads="1"/>
          </p:cNvSpPr>
          <p:nvPr/>
        </p:nvSpPr>
        <p:spPr bwMode="auto">
          <a:xfrm>
            <a:off x="334434" y="1268413"/>
            <a:ext cx="1113790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400" i="0" dirty="0">
                <a:solidFill>
                  <a:srgbClr val="FF0000"/>
                </a:solidFill>
                <a:latin typeface="楷体_GB2312" pitchFamily="49" charset="-122"/>
                <a:ea typeface="楷体_GB2312" pitchFamily="49" charset="-122"/>
              </a:rPr>
              <a:t>【</a:t>
            </a:r>
            <a:r>
              <a:rPr lang="zh-CN" altLang="en-US" sz="2400" i="0" dirty="0">
                <a:solidFill>
                  <a:srgbClr val="FF0000"/>
                </a:solidFill>
                <a:latin typeface="楷体_GB2312" pitchFamily="49" charset="-122"/>
                <a:ea typeface="楷体_GB2312" pitchFamily="49" charset="-122"/>
              </a:rPr>
              <a:t>例</a:t>
            </a:r>
            <a:r>
              <a:rPr lang="en-US" altLang="zh-CN" sz="2400" i="0" dirty="0">
                <a:solidFill>
                  <a:srgbClr val="FF0000"/>
                </a:solidFill>
                <a:latin typeface="楷体_GB2312" pitchFamily="49" charset="-122"/>
                <a:ea typeface="楷体_GB2312" pitchFamily="49" charset="-122"/>
              </a:rPr>
              <a:t>】</a:t>
            </a:r>
            <a:r>
              <a:rPr lang="zh-CN" altLang="en-US" sz="2400" b="1" i="0" dirty="0">
                <a:latin typeface="楷体_GB2312" pitchFamily="49" charset="-122"/>
                <a:ea typeface="楷体_GB2312" pitchFamily="49" charset="-122"/>
              </a:rPr>
              <a:t>某学校有若干名</a:t>
            </a:r>
            <a:r>
              <a:rPr lang="zh-CN" altLang="en-US" sz="2400" b="1" i="0" u="sng" dirty="0">
                <a:latin typeface="楷体_GB2312" pitchFamily="49" charset="-122"/>
                <a:ea typeface="楷体_GB2312" pitchFamily="49" charset="-122"/>
              </a:rPr>
              <a:t>教师</a:t>
            </a:r>
            <a:r>
              <a:rPr lang="zh-CN" altLang="en-US" sz="2400" b="1" i="0" dirty="0">
                <a:latin typeface="楷体_GB2312" pitchFamily="49" charset="-122"/>
                <a:ea typeface="楷体_GB2312" pitchFamily="49" charset="-122"/>
              </a:rPr>
              <a:t>和</a:t>
            </a:r>
            <a:r>
              <a:rPr lang="zh-CN" altLang="en-US" sz="2400" b="1" i="0" u="sng" dirty="0">
                <a:latin typeface="楷体_GB2312" pitchFamily="49" charset="-122"/>
                <a:ea typeface="楷体_GB2312" pitchFamily="49" charset="-122"/>
              </a:rPr>
              <a:t>学生</a:t>
            </a:r>
            <a:r>
              <a:rPr lang="zh-CN" altLang="en-US" sz="2400" b="1" i="0" dirty="0">
                <a:latin typeface="楷体_GB2312" pitchFamily="49" charset="-122"/>
                <a:ea typeface="楷体_GB2312" pitchFamily="49" charset="-122"/>
              </a:rPr>
              <a:t>，并且教师和学生不能跨</a:t>
            </a:r>
            <a:r>
              <a:rPr lang="zh-CN" altLang="en-US" sz="2400" b="1" i="0" u="sng" dirty="0">
                <a:latin typeface="楷体_GB2312" pitchFamily="49" charset="-122"/>
                <a:ea typeface="楷体_GB2312" pitchFamily="49" charset="-122"/>
              </a:rPr>
              <a:t>系</a:t>
            </a:r>
            <a:r>
              <a:rPr lang="zh-CN" altLang="en-US" sz="2400" b="1" i="0" dirty="0">
                <a:latin typeface="楷体_GB2312" pitchFamily="49" charset="-122"/>
                <a:ea typeface="楷体_GB2312" pitchFamily="49" charset="-122"/>
              </a:rPr>
              <a:t>；每个教师可以教授若干门</a:t>
            </a:r>
            <a:r>
              <a:rPr lang="zh-CN" altLang="en-US" sz="2400" b="1" i="0" u="sng" dirty="0">
                <a:latin typeface="楷体_GB2312" pitchFamily="49" charset="-122"/>
                <a:ea typeface="楷体_GB2312" pitchFamily="49" charset="-122"/>
              </a:rPr>
              <a:t>课程</a:t>
            </a:r>
            <a:r>
              <a:rPr lang="zh-CN" altLang="en-US" sz="2400" b="1" i="0" dirty="0">
                <a:latin typeface="楷体_GB2312" pitchFamily="49" charset="-122"/>
                <a:ea typeface="楷体_GB2312" pitchFamily="49" charset="-122"/>
              </a:rPr>
              <a:t>，每门课程只能由一个教师任课；每个学生可以同时选修多门课程。请设计某学校的教学管理的</a:t>
            </a:r>
            <a:r>
              <a:rPr lang="en-US" altLang="zh-CN" sz="2400" b="1" i="0" dirty="0">
                <a:latin typeface="楷体_GB2312" pitchFamily="49" charset="-122"/>
                <a:ea typeface="楷体_GB2312" pitchFamily="49" charset="-122"/>
              </a:rPr>
              <a:t>E-R</a:t>
            </a:r>
            <a:r>
              <a:rPr lang="zh-CN" altLang="en-US" sz="2400" b="1" i="0" dirty="0">
                <a:latin typeface="楷体_GB2312" pitchFamily="49" charset="-122"/>
                <a:ea typeface="楷体_GB2312" pitchFamily="49" charset="-122"/>
              </a:rPr>
              <a:t>模型。</a:t>
            </a:r>
          </a:p>
          <a:p>
            <a:pPr eaLnBrk="1" hangingPunct="1">
              <a:spcBef>
                <a:spcPct val="50000"/>
              </a:spcBef>
            </a:pPr>
            <a:r>
              <a:rPr lang="zh-CN" altLang="en-US" sz="2400" b="1" i="0" dirty="0">
                <a:latin typeface="楷体_GB2312" pitchFamily="49" charset="-122"/>
                <a:ea typeface="楷体_GB2312" pitchFamily="49" charset="-122"/>
              </a:rPr>
              <a:t>其中实体有：系、教师、学生、课程。</a:t>
            </a:r>
          </a:p>
          <a:p>
            <a:pPr eaLnBrk="1" hangingPunct="1">
              <a:spcBef>
                <a:spcPct val="50000"/>
              </a:spcBef>
            </a:pPr>
            <a:r>
              <a:rPr lang="zh-CN" altLang="en-US" sz="2400" b="1" i="0" dirty="0">
                <a:latin typeface="楷体_GB2312" pitchFamily="49" charset="-122"/>
                <a:ea typeface="楷体_GB2312" pitchFamily="49" charset="-122"/>
              </a:rPr>
              <a:t>系属性有：系编号、系名、系主任。</a:t>
            </a:r>
          </a:p>
          <a:p>
            <a:pPr eaLnBrk="1" hangingPunct="1">
              <a:spcBef>
                <a:spcPct val="50000"/>
              </a:spcBef>
            </a:pPr>
            <a:r>
              <a:rPr lang="zh-CN" altLang="en-US" sz="2400" b="1" i="0" dirty="0">
                <a:latin typeface="楷体_GB2312" pitchFamily="49" charset="-122"/>
                <a:ea typeface="楷体_GB2312" pitchFamily="49" charset="-122"/>
              </a:rPr>
              <a:t>教师属性有：教师编号、教师姓名、职称。</a:t>
            </a:r>
          </a:p>
          <a:p>
            <a:pPr eaLnBrk="1" hangingPunct="1">
              <a:spcBef>
                <a:spcPct val="50000"/>
              </a:spcBef>
            </a:pPr>
            <a:r>
              <a:rPr lang="zh-CN" altLang="en-US" sz="2400" b="1" i="0" dirty="0">
                <a:latin typeface="楷体_GB2312" pitchFamily="49" charset="-122"/>
                <a:ea typeface="楷体_GB2312" pitchFamily="49" charset="-122"/>
              </a:rPr>
              <a:t>学生属性有：学号、姓名、性别、班号。</a:t>
            </a:r>
          </a:p>
          <a:p>
            <a:pPr eaLnBrk="1" hangingPunct="1">
              <a:spcBef>
                <a:spcPct val="50000"/>
              </a:spcBef>
            </a:pPr>
            <a:r>
              <a:rPr lang="zh-CN" altLang="en-US" sz="2400" b="1" i="0" dirty="0">
                <a:latin typeface="楷体_GB2312" pitchFamily="49" charset="-122"/>
                <a:ea typeface="楷体_GB2312" pitchFamily="49" charset="-122"/>
              </a:rPr>
              <a:t>课程属性有：课程编号、课程名、学分。</a:t>
            </a:r>
          </a:p>
        </p:txBody>
      </p:sp>
      <p:sp>
        <p:nvSpPr>
          <p:cNvPr id="6" name="矩形 5"/>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7"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8"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0740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31780">
                                            <p:txEl>
                                              <p:pRg st="0" end="0"/>
                                            </p:txEl>
                                          </p:spTgt>
                                        </p:tgtEl>
                                        <p:attrNameLst>
                                          <p:attrName>style.visibility</p:attrName>
                                        </p:attrNameLst>
                                      </p:cBhvr>
                                      <p:to>
                                        <p:strVal val="visible"/>
                                      </p:to>
                                    </p:set>
                                    <p:animEffect transition="in" filter="box(in)">
                                      <p:cBhvr>
                                        <p:cTn id="7" dur="500"/>
                                        <p:tgtEl>
                                          <p:spTgt spid="33178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31780">
                                            <p:txEl>
                                              <p:pRg st="1" end="1"/>
                                            </p:txEl>
                                          </p:spTgt>
                                        </p:tgtEl>
                                        <p:attrNameLst>
                                          <p:attrName>style.visibility</p:attrName>
                                        </p:attrNameLst>
                                      </p:cBhvr>
                                      <p:to>
                                        <p:strVal val="visible"/>
                                      </p:to>
                                    </p:set>
                                    <p:animEffect transition="in" filter="box(in)">
                                      <p:cBhvr>
                                        <p:cTn id="12" dur="500"/>
                                        <p:tgtEl>
                                          <p:spTgt spid="33178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31780">
                                            <p:txEl>
                                              <p:pRg st="2" end="2"/>
                                            </p:txEl>
                                          </p:spTgt>
                                        </p:tgtEl>
                                        <p:attrNameLst>
                                          <p:attrName>style.visibility</p:attrName>
                                        </p:attrNameLst>
                                      </p:cBhvr>
                                      <p:to>
                                        <p:strVal val="visible"/>
                                      </p:to>
                                    </p:set>
                                    <p:animEffect transition="in" filter="box(in)">
                                      <p:cBhvr>
                                        <p:cTn id="17" dur="500"/>
                                        <p:tgtEl>
                                          <p:spTgt spid="33178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31780">
                                            <p:txEl>
                                              <p:pRg st="3" end="3"/>
                                            </p:txEl>
                                          </p:spTgt>
                                        </p:tgtEl>
                                        <p:attrNameLst>
                                          <p:attrName>style.visibility</p:attrName>
                                        </p:attrNameLst>
                                      </p:cBhvr>
                                      <p:to>
                                        <p:strVal val="visible"/>
                                      </p:to>
                                    </p:set>
                                    <p:animEffect transition="in" filter="box(in)">
                                      <p:cBhvr>
                                        <p:cTn id="22" dur="500"/>
                                        <p:tgtEl>
                                          <p:spTgt spid="33178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31780">
                                            <p:txEl>
                                              <p:pRg st="4" end="4"/>
                                            </p:txEl>
                                          </p:spTgt>
                                        </p:tgtEl>
                                        <p:attrNameLst>
                                          <p:attrName>style.visibility</p:attrName>
                                        </p:attrNameLst>
                                      </p:cBhvr>
                                      <p:to>
                                        <p:strVal val="visible"/>
                                      </p:to>
                                    </p:set>
                                    <p:animEffect transition="in" filter="box(in)">
                                      <p:cBhvr>
                                        <p:cTn id="27" dur="500"/>
                                        <p:tgtEl>
                                          <p:spTgt spid="33178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31780">
                                            <p:txEl>
                                              <p:pRg st="5" end="5"/>
                                            </p:txEl>
                                          </p:spTgt>
                                        </p:tgtEl>
                                        <p:attrNameLst>
                                          <p:attrName>style.visibility</p:attrName>
                                        </p:attrNameLst>
                                      </p:cBhvr>
                                      <p:to>
                                        <p:strVal val="visible"/>
                                      </p:to>
                                    </p:set>
                                    <p:animEffect transition="in" filter="box(in)">
                                      <p:cBhvr>
                                        <p:cTn id="32" dur="500"/>
                                        <p:tgtEl>
                                          <p:spTgt spid="33178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2802" name="Rectangle 2"/>
          <p:cNvSpPr>
            <a:spLocks noChangeArrowheads="1"/>
          </p:cNvSpPr>
          <p:nvPr/>
        </p:nvSpPr>
        <p:spPr bwMode="auto">
          <a:xfrm>
            <a:off x="1" y="4495800"/>
            <a:ext cx="2927351"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spcBef>
                <a:spcPct val="20000"/>
              </a:spcBef>
            </a:pPr>
            <a:endParaRPr lang="zh-CN" altLang="zh-CN" sz="2400" i="0"/>
          </a:p>
        </p:txBody>
      </p:sp>
      <p:sp>
        <p:nvSpPr>
          <p:cNvPr id="332803" name="Text Box 3"/>
          <p:cNvSpPr txBox="1">
            <a:spLocks noChangeArrowheads="1"/>
          </p:cNvSpPr>
          <p:nvPr/>
        </p:nvSpPr>
        <p:spPr bwMode="auto">
          <a:xfrm>
            <a:off x="1" y="1"/>
            <a:ext cx="1185756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25000"/>
              </a:spcBef>
            </a:pPr>
            <a:endParaRPr kumimoji="1" lang="zh-CN" altLang="zh-CN" sz="2800" b="1" i="0">
              <a:solidFill>
                <a:schemeClr val="accent1"/>
              </a:solidFill>
            </a:endParaRPr>
          </a:p>
        </p:txBody>
      </p:sp>
      <p:sp>
        <p:nvSpPr>
          <p:cNvPr id="332805" name="Rectangle 5"/>
          <p:cNvSpPr>
            <a:spLocks noChangeArrowheads="1"/>
          </p:cNvSpPr>
          <p:nvPr/>
        </p:nvSpPr>
        <p:spPr bwMode="auto">
          <a:xfrm>
            <a:off x="1295400" y="2708276"/>
            <a:ext cx="1439333" cy="576263"/>
          </a:xfrm>
          <a:prstGeom prst="rect">
            <a:avLst/>
          </a:prstGeom>
          <a:solidFill>
            <a:srgbClr val="FFFFCC"/>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系</a:t>
            </a:r>
          </a:p>
        </p:txBody>
      </p:sp>
      <p:sp>
        <p:nvSpPr>
          <p:cNvPr id="332806" name="Rectangle 6"/>
          <p:cNvSpPr>
            <a:spLocks noChangeArrowheads="1"/>
          </p:cNvSpPr>
          <p:nvPr/>
        </p:nvSpPr>
        <p:spPr bwMode="auto">
          <a:xfrm>
            <a:off x="5615517" y="2708276"/>
            <a:ext cx="1496483" cy="576263"/>
          </a:xfrm>
          <a:prstGeom prst="rect">
            <a:avLst/>
          </a:prstGeom>
          <a:solidFill>
            <a:srgbClr val="FFFFCC"/>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学生</a:t>
            </a:r>
          </a:p>
        </p:txBody>
      </p:sp>
      <p:sp>
        <p:nvSpPr>
          <p:cNvPr id="332807" name="Rectangle 7"/>
          <p:cNvSpPr>
            <a:spLocks noChangeArrowheads="1"/>
          </p:cNvSpPr>
          <p:nvPr/>
        </p:nvSpPr>
        <p:spPr bwMode="auto">
          <a:xfrm>
            <a:off x="10033000" y="2708276"/>
            <a:ext cx="1447800" cy="576263"/>
          </a:xfrm>
          <a:prstGeom prst="rect">
            <a:avLst/>
          </a:prstGeom>
          <a:solidFill>
            <a:srgbClr val="FFFFCC"/>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课程</a:t>
            </a:r>
          </a:p>
        </p:txBody>
      </p:sp>
      <p:sp>
        <p:nvSpPr>
          <p:cNvPr id="332808" name="Rectangle 8"/>
          <p:cNvSpPr>
            <a:spLocks noChangeArrowheads="1"/>
          </p:cNvSpPr>
          <p:nvPr/>
        </p:nvSpPr>
        <p:spPr bwMode="auto">
          <a:xfrm>
            <a:off x="1392768" y="4652963"/>
            <a:ext cx="1553633" cy="576262"/>
          </a:xfrm>
          <a:prstGeom prst="rect">
            <a:avLst/>
          </a:prstGeom>
          <a:solidFill>
            <a:srgbClr val="FFFFCC"/>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教师</a:t>
            </a:r>
          </a:p>
        </p:txBody>
      </p:sp>
      <p:sp>
        <p:nvSpPr>
          <p:cNvPr id="332809" name="Oval 9"/>
          <p:cNvSpPr>
            <a:spLocks noChangeArrowheads="1"/>
          </p:cNvSpPr>
          <p:nvPr/>
        </p:nvSpPr>
        <p:spPr bwMode="auto">
          <a:xfrm>
            <a:off x="0" y="1125538"/>
            <a:ext cx="1625600" cy="792162"/>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u="sng"/>
              <a:t>系编号</a:t>
            </a:r>
          </a:p>
        </p:txBody>
      </p:sp>
      <p:sp>
        <p:nvSpPr>
          <p:cNvPr id="332810" name="Oval 10"/>
          <p:cNvSpPr>
            <a:spLocks noChangeArrowheads="1"/>
          </p:cNvSpPr>
          <p:nvPr/>
        </p:nvSpPr>
        <p:spPr bwMode="auto">
          <a:xfrm>
            <a:off x="3503085" y="1125538"/>
            <a:ext cx="1678516" cy="792162"/>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系主任</a:t>
            </a:r>
          </a:p>
        </p:txBody>
      </p:sp>
      <p:sp>
        <p:nvSpPr>
          <p:cNvPr id="332811" name="Oval 11"/>
          <p:cNvSpPr>
            <a:spLocks noChangeArrowheads="1"/>
          </p:cNvSpPr>
          <p:nvPr/>
        </p:nvSpPr>
        <p:spPr bwMode="auto">
          <a:xfrm>
            <a:off x="1727201" y="1143001"/>
            <a:ext cx="1631951" cy="792163"/>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系名</a:t>
            </a:r>
          </a:p>
        </p:txBody>
      </p:sp>
      <p:sp>
        <p:nvSpPr>
          <p:cNvPr id="332812" name="Line 12"/>
          <p:cNvSpPr>
            <a:spLocks noChangeShapeType="1"/>
          </p:cNvSpPr>
          <p:nvPr/>
        </p:nvSpPr>
        <p:spPr bwMode="auto">
          <a:xfrm>
            <a:off x="1007534" y="1916113"/>
            <a:ext cx="575733" cy="792162"/>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13" name="Line 13"/>
          <p:cNvSpPr>
            <a:spLocks noChangeShapeType="1"/>
          </p:cNvSpPr>
          <p:nvPr/>
        </p:nvSpPr>
        <p:spPr bwMode="auto">
          <a:xfrm flipH="1">
            <a:off x="2159000" y="1916113"/>
            <a:ext cx="287867" cy="792162"/>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14" name="Line 14"/>
          <p:cNvSpPr>
            <a:spLocks noChangeShapeType="1"/>
          </p:cNvSpPr>
          <p:nvPr/>
        </p:nvSpPr>
        <p:spPr bwMode="auto">
          <a:xfrm flipH="1">
            <a:off x="2446867" y="1916113"/>
            <a:ext cx="1631951" cy="792162"/>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15" name="Oval 15"/>
          <p:cNvSpPr>
            <a:spLocks noChangeArrowheads="1"/>
          </p:cNvSpPr>
          <p:nvPr/>
        </p:nvSpPr>
        <p:spPr bwMode="auto">
          <a:xfrm>
            <a:off x="0" y="5805488"/>
            <a:ext cx="1625600" cy="792162"/>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u="sng"/>
              <a:t>教师编号</a:t>
            </a:r>
          </a:p>
        </p:txBody>
      </p:sp>
      <p:sp>
        <p:nvSpPr>
          <p:cNvPr id="332816" name="Oval 16"/>
          <p:cNvSpPr>
            <a:spLocks noChangeArrowheads="1"/>
          </p:cNvSpPr>
          <p:nvPr/>
        </p:nvSpPr>
        <p:spPr bwMode="auto">
          <a:xfrm>
            <a:off x="3503085" y="5805488"/>
            <a:ext cx="1678516" cy="792162"/>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职称</a:t>
            </a:r>
          </a:p>
        </p:txBody>
      </p:sp>
      <p:sp>
        <p:nvSpPr>
          <p:cNvPr id="332817" name="Oval 17"/>
          <p:cNvSpPr>
            <a:spLocks noChangeArrowheads="1"/>
          </p:cNvSpPr>
          <p:nvPr/>
        </p:nvSpPr>
        <p:spPr bwMode="auto">
          <a:xfrm>
            <a:off x="1775885" y="5805488"/>
            <a:ext cx="1678516" cy="792162"/>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教师姓名</a:t>
            </a:r>
          </a:p>
        </p:txBody>
      </p:sp>
      <p:sp>
        <p:nvSpPr>
          <p:cNvPr id="332818" name="Oval 18"/>
          <p:cNvSpPr>
            <a:spLocks noChangeArrowheads="1"/>
          </p:cNvSpPr>
          <p:nvPr/>
        </p:nvSpPr>
        <p:spPr bwMode="auto">
          <a:xfrm>
            <a:off x="4978401" y="260351"/>
            <a:ext cx="1742017" cy="792163"/>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u="sng"/>
              <a:t>学号</a:t>
            </a:r>
          </a:p>
        </p:txBody>
      </p:sp>
      <p:sp>
        <p:nvSpPr>
          <p:cNvPr id="332819" name="Oval 19"/>
          <p:cNvSpPr>
            <a:spLocks noChangeArrowheads="1"/>
          </p:cNvSpPr>
          <p:nvPr/>
        </p:nvSpPr>
        <p:spPr bwMode="auto">
          <a:xfrm>
            <a:off x="8591552" y="260351"/>
            <a:ext cx="1670049" cy="792163"/>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性别</a:t>
            </a:r>
          </a:p>
        </p:txBody>
      </p:sp>
      <p:sp>
        <p:nvSpPr>
          <p:cNvPr id="332820" name="Oval 20"/>
          <p:cNvSpPr>
            <a:spLocks noChangeArrowheads="1"/>
          </p:cNvSpPr>
          <p:nvPr/>
        </p:nvSpPr>
        <p:spPr bwMode="auto">
          <a:xfrm>
            <a:off x="6807201" y="260351"/>
            <a:ext cx="1689100" cy="792163"/>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姓名</a:t>
            </a:r>
          </a:p>
        </p:txBody>
      </p:sp>
      <p:sp>
        <p:nvSpPr>
          <p:cNvPr id="332821" name="Oval 21"/>
          <p:cNvSpPr>
            <a:spLocks noChangeArrowheads="1"/>
          </p:cNvSpPr>
          <p:nvPr/>
        </p:nvSpPr>
        <p:spPr bwMode="auto">
          <a:xfrm>
            <a:off x="7924801" y="1484313"/>
            <a:ext cx="1722967" cy="792162"/>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u="sng"/>
              <a:t>课程号</a:t>
            </a:r>
          </a:p>
        </p:txBody>
      </p:sp>
      <p:sp>
        <p:nvSpPr>
          <p:cNvPr id="332822" name="Oval 22"/>
          <p:cNvSpPr>
            <a:spLocks noChangeArrowheads="1"/>
          </p:cNvSpPr>
          <p:nvPr/>
        </p:nvSpPr>
        <p:spPr bwMode="auto">
          <a:xfrm>
            <a:off x="10566401" y="692151"/>
            <a:ext cx="1674284" cy="792163"/>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学分</a:t>
            </a:r>
          </a:p>
        </p:txBody>
      </p:sp>
      <p:sp>
        <p:nvSpPr>
          <p:cNvPr id="332823" name="Oval 23"/>
          <p:cNvSpPr>
            <a:spLocks noChangeArrowheads="1"/>
          </p:cNvSpPr>
          <p:nvPr/>
        </p:nvSpPr>
        <p:spPr bwMode="auto">
          <a:xfrm>
            <a:off x="9647768" y="1484313"/>
            <a:ext cx="1731433" cy="792162"/>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课程名</a:t>
            </a:r>
          </a:p>
        </p:txBody>
      </p:sp>
      <p:sp>
        <p:nvSpPr>
          <p:cNvPr id="332824" name="Line 24"/>
          <p:cNvSpPr>
            <a:spLocks noChangeShapeType="1"/>
          </p:cNvSpPr>
          <p:nvPr/>
        </p:nvSpPr>
        <p:spPr bwMode="auto">
          <a:xfrm flipH="1">
            <a:off x="1007534" y="5229225"/>
            <a:ext cx="480484" cy="647700"/>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25" name="Line 25"/>
          <p:cNvSpPr>
            <a:spLocks noChangeShapeType="1"/>
          </p:cNvSpPr>
          <p:nvPr/>
        </p:nvSpPr>
        <p:spPr bwMode="auto">
          <a:xfrm>
            <a:off x="2063751" y="5229226"/>
            <a:ext cx="383116" cy="576263"/>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26" name="Line 26"/>
          <p:cNvSpPr>
            <a:spLocks noChangeShapeType="1"/>
          </p:cNvSpPr>
          <p:nvPr/>
        </p:nvSpPr>
        <p:spPr bwMode="auto">
          <a:xfrm>
            <a:off x="2544234" y="5229225"/>
            <a:ext cx="1246717" cy="647700"/>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27" name="Line 27"/>
          <p:cNvSpPr>
            <a:spLocks noChangeShapeType="1"/>
          </p:cNvSpPr>
          <p:nvPr/>
        </p:nvSpPr>
        <p:spPr bwMode="auto">
          <a:xfrm flipH="1">
            <a:off x="5808133" y="1052513"/>
            <a:ext cx="287867" cy="1655762"/>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28" name="Line 28"/>
          <p:cNvSpPr>
            <a:spLocks noChangeShapeType="1"/>
          </p:cNvSpPr>
          <p:nvPr/>
        </p:nvSpPr>
        <p:spPr bwMode="auto">
          <a:xfrm flipH="1">
            <a:off x="6096000" y="1052513"/>
            <a:ext cx="1151467" cy="1655762"/>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29" name="Line 29"/>
          <p:cNvSpPr>
            <a:spLocks noChangeShapeType="1"/>
          </p:cNvSpPr>
          <p:nvPr/>
        </p:nvSpPr>
        <p:spPr bwMode="auto">
          <a:xfrm flipH="1">
            <a:off x="6383867" y="908050"/>
            <a:ext cx="2495551" cy="1800225"/>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0" name="Line 30"/>
          <p:cNvSpPr>
            <a:spLocks noChangeShapeType="1"/>
          </p:cNvSpPr>
          <p:nvPr/>
        </p:nvSpPr>
        <p:spPr bwMode="auto">
          <a:xfrm>
            <a:off x="9264651" y="2205039"/>
            <a:ext cx="1151467" cy="503237"/>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1" name="Line 31"/>
          <p:cNvSpPr>
            <a:spLocks noChangeShapeType="1"/>
          </p:cNvSpPr>
          <p:nvPr/>
        </p:nvSpPr>
        <p:spPr bwMode="auto">
          <a:xfrm>
            <a:off x="10513484" y="2276475"/>
            <a:ext cx="287867" cy="431800"/>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2" name="Line 32"/>
          <p:cNvSpPr>
            <a:spLocks noChangeShapeType="1"/>
          </p:cNvSpPr>
          <p:nvPr/>
        </p:nvSpPr>
        <p:spPr bwMode="auto">
          <a:xfrm flipH="1">
            <a:off x="11089218" y="1484313"/>
            <a:ext cx="478367" cy="1223962"/>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3" name="AutoShape 33"/>
          <p:cNvSpPr>
            <a:spLocks noChangeArrowheads="1"/>
          </p:cNvSpPr>
          <p:nvPr/>
        </p:nvSpPr>
        <p:spPr bwMode="auto">
          <a:xfrm>
            <a:off x="7342717" y="2708276"/>
            <a:ext cx="2309283" cy="720725"/>
          </a:xfrm>
          <a:prstGeom prst="diamond">
            <a:avLst/>
          </a:prstGeom>
          <a:solidFill>
            <a:srgbClr val="FFFFCC"/>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选修</a:t>
            </a:r>
          </a:p>
        </p:txBody>
      </p:sp>
      <p:sp>
        <p:nvSpPr>
          <p:cNvPr id="332834" name="Line 34"/>
          <p:cNvSpPr>
            <a:spLocks noChangeShapeType="1"/>
          </p:cNvSpPr>
          <p:nvPr/>
        </p:nvSpPr>
        <p:spPr bwMode="auto">
          <a:xfrm flipH="1">
            <a:off x="2063751" y="3284538"/>
            <a:ext cx="0" cy="360362"/>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5" name="Line 35"/>
          <p:cNvSpPr>
            <a:spLocks noChangeShapeType="1"/>
          </p:cNvSpPr>
          <p:nvPr/>
        </p:nvSpPr>
        <p:spPr bwMode="auto">
          <a:xfrm flipH="1">
            <a:off x="2063751" y="4292601"/>
            <a:ext cx="0" cy="360363"/>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6" name="AutoShape 36"/>
          <p:cNvSpPr>
            <a:spLocks noChangeArrowheads="1"/>
          </p:cNvSpPr>
          <p:nvPr/>
        </p:nvSpPr>
        <p:spPr bwMode="auto">
          <a:xfrm>
            <a:off x="3024717" y="2708276"/>
            <a:ext cx="2360083" cy="720725"/>
          </a:xfrm>
          <a:prstGeom prst="diamond">
            <a:avLst/>
          </a:prstGeom>
          <a:solidFill>
            <a:srgbClr val="FFFFCC"/>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从属</a:t>
            </a:r>
          </a:p>
        </p:txBody>
      </p:sp>
      <p:sp>
        <p:nvSpPr>
          <p:cNvPr id="332837" name="AutoShape 37"/>
          <p:cNvSpPr>
            <a:spLocks noChangeArrowheads="1"/>
          </p:cNvSpPr>
          <p:nvPr/>
        </p:nvSpPr>
        <p:spPr bwMode="auto">
          <a:xfrm>
            <a:off x="5327651" y="4652964"/>
            <a:ext cx="2393949" cy="720725"/>
          </a:xfrm>
          <a:prstGeom prst="diamond">
            <a:avLst/>
          </a:prstGeom>
          <a:solidFill>
            <a:srgbClr val="FFFFCC"/>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任课</a:t>
            </a:r>
          </a:p>
        </p:txBody>
      </p:sp>
      <p:sp>
        <p:nvSpPr>
          <p:cNvPr id="332838" name="AutoShape 38"/>
          <p:cNvSpPr>
            <a:spLocks noChangeArrowheads="1"/>
          </p:cNvSpPr>
          <p:nvPr/>
        </p:nvSpPr>
        <p:spPr bwMode="auto">
          <a:xfrm>
            <a:off x="912285" y="3644900"/>
            <a:ext cx="2440516" cy="649288"/>
          </a:xfrm>
          <a:prstGeom prst="diamond">
            <a:avLst/>
          </a:prstGeom>
          <a:solidFill>
            <a:srgbClr val="FFFFCC"/>
          </a:solidFill>
          <a:ln w="9525">
            <a:solidFill>
              <a:schemeClr val="tx1"/>
            </a:solidFill>
            <a:miter lim="800000"/>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从属</a:t>
            </a:r>
          </a:p>
        </p:txBody>
      </p:sp>
      <p:sp>
        <p:nvSpPr>
          <p:cNvPr id="332839" name="Line 39"/>
          <p:cNvSpPr>
            <a:spLocks noChangeShapeType="1"/>
          </p:cNvSpPr>
          <p:nvPr/>
        </p:nvSpPr>
        <p:spPr bwMode="auto">
          <a:xfrm flipH="1">
            <a:off x="2734733" y="3068638"/>
            <a:ext cx="289984"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0" name="Line 40"/>
          <p:cNvSpPr>
            <a:spLocks noChangeShapeType="1"/>
          </p:cNvSpPr>
          <p:nvPr/>
        </p:nvSpPr>
        <p:spPr bwMode="auto">
          <a:xfrm flipH="1">
            <a:off x="5327651" y="3068638"/>
            <a:ext cx="289983"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1" name="Line 41"/>
          <p:cNvSpPr>
            <a:spLocks noChangeShapeType="1"/>
          </p:cNvSpPr>
          <p:nvPr/>
        </p:nvSpPr>
        <p:spPr bwMode="auto">
          <a:xfrm flipH="1">
            <a:off x="7056967" y="3068638"/>
            <a:ext cx="289984"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2" name="Line 42"/>
          <p:cNvSpPr>
            <a:spLocks noChangeShapeType="1"/>
          </p:cNvSpPr>
          <p:nvPr/>
        </p:nvSpPr>
        <p:spPr bwMode="auto">
          <a:xfrm flipH="1">
            <a:off x="9647768" y="3068638"/>
            <a:ext cx="385233"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3" name="Line 43"/>
          <p:cNvSpPr>
            <a:spLocks noChangeShapeType="1"/>
          </p:cNvSpPr>
          <p:nvPr/>
        </p:nvSpPr>
        <p:spPr bwMode="auto">
          <a:xfrm flipH="1">
            <a:off x="2832101" y="5013325"/>
            <a:ext cx="2495551"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4" name="Line 44"/>
          <p:cNvSpPr>
            <a:spLocks noChangeShapeType="1"/>
          </p:cNvSpPr>
          <p:nvPr/>
        </p:nvSpPr>
        <p:spPr bwMode="auto">
          <a:xfrm flipH="1">
            <a:off x="7632701" y="5013325"/>
            <a:ext cx="2976033"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5" name="Line 45"/>
          <p:cNvSpPr>
            <a:spLocks noChangeShapeType="1"/>
          </p:cNvSpPr>
          <p:nvPr/>
        </p:nvSpPr>
        <p:spPr bwMode="auto">
          <a:xfrm flipV="1">
            <a:off x="10608733" y="3284539"/>
            <a:ext cx="0" cy="1728787"/>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6" name="Text Box 46"/>
          <p:cNvSpPr txBox="1">
            <a:spLocks noChangeArrowheads="1"/>
          </p:cNvSpPr>
          <p:nvPr/>
        </p:nvSpPr>
        <p:spPr bwMode="auto">
          <a:xfrm>
            <a:off x="2734734" y="2565401"/>
            <a:ext cx="38311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800" b="1" i="0">
                <a:solidFill>
                  <a:srgbClr val="003300"/>
                </a:solidFill>
              </a:rPr>
              <a:t>1</a:t>
            </a:r>
          </a:p>
        </p:txBody>
      </p:sp>
      <p:sp>
        <p:nvSpPr>
          <p:cNvPr id="332847" name="Text Box 47"/>
          <p:cNvSpPr txBox="1">
            <a:spLocks noChangeArrowheads="1"/>
          </p:cNvSpPr>
          <p:nvPr/>
        </p:nvSpPr>
        <p:spPr bwMode="auto">
          <a:xfrm>
            <a:off x="4944534" y="2492376"/>
            <a:ext cx="57573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800" b="1" i="0">
                <a:solidFill>
                  <a:srgbClr val="003300"/>
                </a:solidFill>
              </a:rPr>
              <a:t>m</a:t>
            </a:r>
          </a:p>
        </p:txBody>
      </p:sp>
      <p:sp>
        <p:nvSpPr>
          <p:cNvPr id="332848" name="Text Box 48"/>
          <p:cNvSpPr txBox="1">
            <a:spLocks noChangeArrowheads="1"/>
          </p:cNvSpPr>
          <p:nvPr/>
        </p:nvSpPr>
        <p:spPr bwMode="auto">
          <a:xfrm>
            <a:off x="7056967" y="2565401"/>
            <a:ext cx="57573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800" b="1" i="0">
                <a:solidFill>
                  <a:srgbClr val="003300"/>
                </a:solidFill>
              </a:rPr>
              <a:t>m</a:t>
            </a:r>
          </a:p>
        </p:txBody>
      </p:sp>
      <p:sp>
        <p:nvSpPr>
          <p:cNvPr id="332849" name="Text Box 49"/>
          <p:cNvSpPr txBox="1">
            <a:spLocks noChangeArrowheads="1"/>
          </p:cNvSpPr>
          <p:nvPr/>
        </p:nvSpPr>
        <p:spPr bwMode="auto">
          <a:xfrm>
            <a:off x="9457267" y="2636838"/>
            <a:ext cx="57573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800" b="1" i="0">
                <a:solidFill>
                  <a:srgbClr val="003300"/>
                </a:solidFill>
              </a:rPr>
              <a:t>n</a:t>
            </a:r>
          </a:p>
        </p:txBody>
      </p:sp>
      <p:sp>
        <p:nvSpPr>
          <p:cNvPr id="332850" name="Text Box 50"/>
          <p:cNvSpPr txBox="1">
            <a:spLocks noChangeArrowheads="1"/>
          </p:cNvSpPr>
          <p:nvPr/>
        </p:nvSpPr>
        <p:spPr bwMode="auto">
          <a:xfrm>
            <a:off x="2159000" y="4221163"/>
            <a:ext cx="57573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800" b="1" i="0">
                <a:solidFill>
                  <a:srgbClr val="003300"/>
                </a:solidFill>
              </a:rPr>
              <a:t>m</a:t>
            </a:r>
          </a:p>
        </p:txBody>
      </p:sp>
      <p:sp>
        <p:nvSpPr>
          <p:cNvPr id="332851" name="Text Box 51"/>
          <p:cNvSpPr txBox="1">
            <a:spLocks noChangeArrowheads="1"/>
          </p:cNvSpPr>
          <p:nvPr/>
        </p:nvSpPr>
        <p:spPr bwMode="auto">
          <a:xfrm>
            <a:off x="2256367" y="3284538"/>
            <a:ext cx="57573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800" b="1" i="0">
                <a:solidFill>
                  <a:srgbClr val="003300"/>
                </a:solidFill>
              </a:rPr>
              <a:t>1</a:t>
            </a:r>
          </a:p>
        </p:txBody>
      </p:sp>
      <p:sp>
        <p:nvSpPr>
          <p:cNvPr id="332852" name="Text Box 52"/>
          <p:cNvSpPr txBox="1">
            <a:spLocks noChangeArrowheads="1"/>
          </p:cNvSpPr>
          <p:nvPr/>
        </p:nvSpPr>
        <p:spPr bwMode="auto">
          <a:xfrm>
            <a:off x="7727951" y="4508501"/>
            <a:ext cx="57573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800" b="1" i="0">
                <a:solidFill>
                  <a:srgbClr val="003300"/>
                </a:solidFill>
              </a:rPr>
              <a:t>m</a:t>
            </a:r>
          </a:p>
        </p:txBody>
      </p:sp>
      <p:sp>
        <p:nvSpPr>
          <p:cNvPr id="332853" name="Text Box 53"/>
          <p:cNvSpPr txBox="1">
            <a:spLocks noChangeArrowheads="1"/>
          </p:cNvSpPr>
          <p:nvPr/>
        </p:nvSpPr>
        <p:spPr bwMode="auto">
          <a:xfrm>
            <a:off x="4271434" y="4508501"/>
            <a:ext cx="57573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eaLnBrk="1" hangingPunct="1">
              <a:spcBef>
                <a:spcPct val="50000"/>
              </a:spcBef>
            </a:pPr>
            <a:r>
              <a:rPr lang="en-US" altLang="zh-CN" sz="2800" b="1" i="0">
                <a:solidFill>
                  <a:srgbClr val="003300"/>
                </a:solidFill>
              </a:rPr>
              <a:t>1</a:t>
            </a:r>
          </a:p>
        </p:txBody>
      </p:sp>
      <p:sp>
        <p:nvSpPr>
          <p:cNvPr id="332854" name="Oval 54"/>
          <p:cNvSpPr>
            <a:spLocks noChangeArrowheads="1"/>
          </p:cNvSpPr>
          <p:nvPr/>
        </p:nvSpPr>
        <p:spPr bwMode="auto">
          <a:xfrm>
            <a:off x="6400801" y="3644901"/>
            <a:ext cx="1615017" cy="792163"/>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班号</a:t>
            </a:r>
          </a:p>
        </p:txBody>
      </p:sp>
      <p:sp>
        <p:nvSpPr>
          <p:cNvPr id="332855" name="Line 55"/>
          <p:cNvSpPr>
            <a:spLocks noChangeShapeType="1"/>
          </p:cNvSpPr>
          <p:nvPr/>
        </p:nvSpPr>
        <p:spPr bwMode="auto">
          <a:xfrm>
            <a:off x="6288617" y="3284538"/>
            <a:ext cx="480483" cy="431800"/>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56" name="Oval 56"/>
          <p:cNvSpPr>
            <a:spLocks noChangeArrowheads="1"/>
          </p:cNvSpPr>
          <p:nvPr/>
        </p:nvSpPr>
        <p:spPr bwMode="auto">
          <a:xfrm>
            <a:off x="5712885" y="5734051"/>
            <a:ext cx="1703916" cy="792163"/>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学时</a:t>
            </a:r>
          </a:p>
        </p:txBody>
      </p:sp>
      <p:sp>
        <p:nvSpPr>
          <p:cNvPr id="332857" name="Line 57"/>
          <p:cNvSpPr>
            <a:spLocks noChangeShapeType="1"/>
          </p:cNvSpPr>
          <p:nvPr/>
        </p:nvSpPr>
        <p:spPr bwMode="auto">
          <a:xfrm flipH="1">
            <a:off x="6479117" y="5373688"/>
            <a:ext cx="0" cy="360362"/>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59" name="Oval 59"/>
          <p:cNvSpPr>
            <a:spLocks noChangeArrowheads="1"/>
          </p:cNvSpPr>
          <p:nvPr/>
        </p:nvSpPr>
        <p:spPr bwMode="auto">
          <a:xfrm>
            <a:off x="8113184" y="3789363"/>
            <a:ext cx="1742016" cy="792162"/>
          </a:xfrm>
          <a:prstGeom prst="ellipse">
            <a:avLst/>
          </a:prstGeom>
          <a:solidFill>
            <a:srgbClr val="FFFFCC"/>
          </a:solidFill>
          <a:ln w="9525">
            <a:solidFill>
              <a:schemeClr val="tx1"/>
            </a:solidFill>
            <a:round/>
            <a:headEnd/>
            <a:tailEnd/>
          </a:ln>
        </p:spPr>
        <p:txBody>
          <a:bodyPr wrap="none" anchor="ctr"/>
          <a:lstStyle>
            <a:lvl1pPr eaLnBrk="0" hangingPunct="0">
              <a:defRPr i="1">
                <a:solidFill>
                  <a:schemeClr val="tx1"/>
                </a:solidFill>
                <a:latin typeface="Arial" pitchFamily="34" charset="0"/>
                <a:ea typeface="宋体" pitchFamily="2" charset="-122"/>
              </a:defRPr>
            </a:lvl1pPr>
            <a:lvl2pPr marL="742950" indent="-285750" eaLnBrk="0" hangingPunct="0">
              <a:defRPr i="1">
                <a:solidFill>
                  <a:schemeClr val="tx1"/>
                </a:solidFill>
                <a:latin typeface="Arial" pitchFamily="34" charset="0"/>
                <a:ea typeface="宋体" pitchFamily="2" charset="-122"/>
              </a:defRPr>
            </a:lvl2pPr>
            <a:lvl3pPr marL="1143000" indent="-228600" eaLnBrk="0" hangingPunct="0">
              <a:defRPr i="1">
                <a:solidFill>
                  <a:schemeClr val="tx1"/>
                </a:solidFill>
                <a:latin typeface="Arial" pitchFamily="34" charset="0"/>
                <a:ea typeface="宋体" pitchFamily="2" charset="-122"/>
              </a:defRPr>
            </a:lvl3pPr>
            <a:lvl4pPr marL="1600200" indent="-228600" eaLnBrk="0" hangingPunct="0">
              <a:defRPr i="1">
                <a:solidFill>
                  <a:schemeClr val="tx1"/>
                </a:solidFill>
                <a:latin typeface="Arial" pitchFamily="34" charset="0"/>
                <a:ea typeface="宋体" pitchFamily="2" charset="-122"/>
              </a:defRPr>
            </a:lvl4pPr>
            <a:lvl5pPr marL="2057400" indent="-228600" eaLnBrk="0" hangingPunct="0">
              <a:defRPr i="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i="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i="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i="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i="1">
                <a:solidFill>
                  <a:schemeClr val="tx1"/>
                </a:solidFill>
                <a:latin typeface="Arial" pitchFamily="34" charset="0"/>
                <a:ea typeface="宋体" pitchFamily="2" charset="-122"/>
              </a:defRPr>
            </a:lvl9pPr>
          </a:lstStyle>
          <a:p>
            <a:pPr algn="ctr" eaLnBrk="1" hangingPunct="1"/>
            <a:r>
              <a:rPr lang="zh-CN" altLang="en-US" b="1" i="0"/>
              <a:t>成绩</a:t>
            </a:r>
          </a:p>
        </p:txBody>
      </p:sp>
      <p:sp>
        <p:nvSpPr>
          <p:cNvPr id="332860" name="Line 60"/>
          <p:cNvSpPr>
            <a:spLocks noChangeShapeType="1"/>
          </p:cNvSpPr>
          <p:nvPr/>
        </p:nvSpPr>
        <p:spPr bwMode="auto">
          <a:xfrm>
            <a:off x="8494185" y="3429001"/>
            <a:ext cx="385233" cy="360363"/>
          </a:xfrm>
          <a:prstGeom prst="line">
            <a:avLst/>
          </a:prstGeom>
          <a:noFill/>
          <a:ln w="317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矩形 60"/>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2"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63"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8.3.2 </a:t>
            </a:r>
            <a:r>
              <a:rPr lang="zh-CN" altLang="en-US" sz="2800" b="1" dirty="0">
                <a:solidFill>
                  <a:schemeClr val="bg1"/>
                </a:solidFill>
                <a:latin typeface="微软雅黑" panose="020B0503020204020204" pitchFamily="34" charset="-122"/>
                <a:ea typeface="微软雅黑" panose="020B0503020204020204" pitchFamily="34" charset="-122"/>
              </a:rPr>
              <a:t>实体</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联系模型</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64" name="直接连接符 63"/>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2572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4" fill="hold" grpId="0" nodeType="clickEffect" nodePh="1">
                                  <p:stCondLst>
                                    <p:cond delay="0"/>
                                  </p:stCondLst>
                                  <p:endCondLst>
                                    <p:cond evt="begin" delay="0">
                                      <p:tn val="5"/>
                                    </p:cond>
                                  </p:endCondLst>
                                  <p:childTnLst>
                                    <p:set>
                                      <p:cBhvr>
                                        <p:cTn id="6" dur="1" fill="hold">
                                          <p:stCondLst>
                                            <p:cond delay="0"/>
                                          </p:stCondLst>
                                        </p:cTn>
                                        <p:tgtEl>
                                          <p:spTgt spid="332802"/>
                                        </p:tgtEl>
                                        <p:attrNameLst>
                                          <p:attrName>style.visibility</p:attrName>
                                        </p:attrNameLst>
                                      </p:cBhvr>
                                      <p:to>
                                        <p:strVal val="visible"/>
                                      </p:to>
                                    </p:set>
                                    <p:animEffect transition="in" filter="wheel(4)">
                                      <p:cBhvr>
                                        <p:cTn id="7" dur="3000"/>
                                        <p:tgtEl>
                                          <p:spTgt spid="332802"/>
                                        </p:tgtEl>
                                      </p:cBhvr>
                                    </p:animEffect>
                                  </p:childTnLst>
                                </p:cTn>
                              </p:par>
                              <p:par>
                                <p:cTn id="8" presetID="21" presetClass="entr" presetSubtype="4" fill="hold" grpId="0" nodeType="withEffect" nodePh="1">
                                  <p:stCondLst>
                                    <p:cond delay="0"/>
                                  </p:stCondLst>
                                  <p:endCondLst>
                                    <p:cond evt="begin" delay="0">
                                      <p:tn val="8"/>
                                    </p:cond>
                                  </p:endCondLst>
                                  <p:childTnLst>
                                    <p:set>
                                      <p:cBhvr>
                                        <p:cTn id="9" dur="1" fill="hold">
                                          <p:stCondLst>
                                            <p:cond delay="0"/>
                                          </p:stCondLst>
                                        </p:cTn>
                                        <p:tgtEl>
                                          <p:spTgt spid="332803"/>
                                        </p:tgtEl>
                                        <p:attrNameLst>
                                          <p:attrName>style.visibility</p:attrName>
                                        </p:attrNameLst>
                                      </p:cBhvr>
                                      <p:to>
                                        <p:strVal val="visible"/>
                                      </p:to>
                                    </p:set>
                                    <p:animEffect transition="in" filter="wheel(4)">
                                      <p:cBhvr>
                                        <p:cTn id="10" dur="3000"/>
                                        <p:tgtEl>
                                          <p:spTgt spid="332803"/>
                                        </p:tgtEl>
                                      </p:cBhvr>
                                    </p:animEffect>
                                  </p:childTnLst>
                                </p:cTn>
                              </p:par>
                              <p:par>
                                <p:cTn id="11" presetID="21" presetClass="entr" presetSubtype="4" fill="hold" grpId="0" nodeType="withEffect">
                                  <p:stCondLst>
                                    <p:cond delay="0"/>
                                  </p:stCondLst>
                                  <p:childTnLst>
                                    <p:set>
                                      <p:cBhvr>
                                        <p:cTn id="12" dur="1" fill="hold">
                                          <p:stCondLst>
                                            <p:cond delay="0"/>
                                          </p:stCondLst>
                                        </p:cTn>
                                        <p:tgtEl>
                                          <p:spTgt spid="332805"/>
                                        </p:tgtEl>
                                        <p:attrNameLst>
                                          <p:attrName>style.visibility</p:attrName>
                                        </p:attrNameLst>
                                      </p:cBhvr>
                                      <p:to>
                                        <p:strVal val="visible"/>
                                      </p:to>
                                    </p:set>
                                    <p:animEffect transition="in" filter="wheel(4)">
                                      <p:cBhvr>
                                        <p:cTn id="13" dur="3000"/>
                                        <p:tgtEl>
                                          <p:spTgt spid="332805"/>
                                        </p:tgtEl>
                                      </p:cBhvr>
                                    </p:animEffect>
                                  </p:childTnLst>
                                </p:cTn>
                              </p:par>
                              <p:par>
                                <p:cTn id="14" presetID="21" presetClass="entr" presetSubtype="4" fill="hold" grpId="0" nodeType="withEffect">
                                  <p:stCondLst>
                                    <p:cond delay="0"/>
                                  </p:stCondLst>
                                  <p:childTnLst>
                                    <p:set>
                                      <p:cBhvr>
                                        <p:cTn id="15" dur="1" fill="hold">
                                          <p:stCondLst>
                                            <p:cond delay="0"/>
                                          </p:stCondLst>
                                        </p:cTn>
                                        <p:tgtEl>
                                          <p:spTgt spid="332806"/>
                                        </p:tgtEl>
                                        <p:attrNameLst>
                                          <p:attrName>style.visibility</p:attrName>
                                        </p:attrNameLst>
                                      </p:cBhvr>
                                      <p:to>
                                        <p:strVal val="visible"/>
                                      </p:to>
                                    </p:set>
                                    <p:animEffect transition="in" filter="wheel(4)">
                                      <p:cBhvr>
                                        <p:cTn id="16" dur="3000"/>
                                        <p:tgtEl>
                                          <p:spTgt spid="332806"/>
                                        </p:tgtEl>
                                      </p:cBhvr>
                                    </p:animEffect>
                                  </p:childTnLst>
                                </p:cTn>
                              </p:par>
                              <p:par>
                                <p:cTn id="17" presetID="21" presetClass="entr" presetSubtype="4" fill="hold" grpId="0" nodeType="withEffect">
                                  <p:stCondLst>
                                    <p:cond delay="0"/>
                                  </p:stCondLst>
                                  <p:childTnLst>
                                    <p:set>
                                      <p:cBhvr>
                                        <p:cTn id="18" dur="1" fill="hold">
                                          <p:stCondLst>
                                            <p:cond delay="0"/>
                                          </p:stCondLst>
                                        </p:cTn>
                                        <p:tgtEl>
                                          <p:spTgt spid="332807"/>
                                        </p:tgtEl>
                                        <p:attrNameLst>
                                          <p:attrName>style.visibility</p:attrName>
                                        </p:attrNameLst>
                                      </p:cBhvr>
                                      <p:to>
                                        <p:strVal val="visible"/>
                                      </p:to>
                                    </p:set>
                                    <p:animEffect transition="in" filter="wheel(4)">
                                      <p:cBhvr>
                                        <p:cTn id="19" dur="3000"/>
                                        <p:tgtEl>
                                          <p:spTgt spid="332807"/>
                                        </p:tgtEl>
                                      </p:cBhvr>
                                    </p:animEffect>
                                  </p:childTnLst>
                                </p:cTn>
                              </p:par>
                              <p:par>
                                <p:cTn id="20" presetID="21" presetClass="entr" presetSubtype="4" fill="hold" grpId="0" nodeType="withEffect">
                                  <p:stCondLst>
                                    <p:cond delay="0"/>
                                  </p:stCondLst>
                                  <p:childTnLst>
                                    <p:set>
                                      <p:cBhvr>
                                        <p:cTn id="21" dur="1" fill="hold">
                                          <p:stCondLst>
                                            <p:cond delay="0"/>
                                          </p:stCondLst>
                                        </p:cTn>
                                        <p:tgtEl>
                                          <p:spTgt spid="332808"/>
                                        </p:tgtEl>
                                        <p:attrNameLst>
                                          <p:attrName>style.visibility</p:attrName>
                                        </p:attrNameLst>
                                      </p:cBhvr>
                                      <p:to>
                                        <p:strVal val="visible"/>
                                      </p:to>
                                    </p:set>
                                    <p:animEffect transition="in" filter="wheel(4)">
                                      <p:cBhvr>
                                        <p:cTn id="22" dur="3000"/>
                                        <p:tgtEl>
                                          <p:spTgt spid="332808"/>
                                        </p:tgtEl>
                                      </p:cBhvr>
                                    </p:animEffect>
                                  </p:childTnLst>
                                </p:cTn>
                              </p:par>
                              <p:par>
                                <p:cTn id="23" presetID="21" presetClass="entr" presetSubtype="4" fill="hold" grpId="0" nodeType="withEffect">
                                  <p:stCondLst>
                                    <p:cond delay="0"/>
                                  </p:stCondLst>
                                  <p:childTnLst>
                                    <p:set>
                                      <p:cBhvr>
                                        <p:cTn id="24" dur="1" fill="hold">
                                          <p:stCondLst>
                                            <p:cond delay="0"/>
                                          </p:stCondLst>
                                        </p:cTn>
                                        <p:tgtEl>
                                          <p:spTgt spid="332809"/>
                                        </p:tgtEl>
                                        <p:attrNameLst>
                                          <p:attrName>style.visibility</p:attrName>
                                        </p:attrNameLst>
                                      </p:cBhvr>
                                      <p:to>
                                        <p:strVal val="visible"/>
                                      </p:to>
                                    </p:set>
                                    <p:animEffect transition="in" filter="wheel(4)">
                                      <p:cBhvr>
                                        <p:cTn id="25" dur="3000"/>
                                        <p:tgtEl>
                                          <p:spTgt spid="332809"/>
                                        </p:tgtEl>
                                      </p:cBhvr>
                                    </p:animEffect>
                                  </p:childTnLst>
                                </p:cTn>
                              </p:par>
                              <p:par>
                                <p:cTn id="26" presetID="21" presetClass="entr" presetSubtype="4" fill="hold" grpId="0" nodeType="withEffect">
                                  <p:stCondLst>
                                    <p:cond delay="0"/>
                                  </p:stCondLst>
                                  <p:childTnLst>
                                    <p:set>
                                      <p:cBhvr>
                                        <p:cTn id="27" dur="1" fill="hold">
                                          <p:stCondLst>
                                            <p:cond delay="0"/>
                                          </p:stCondLst>
                                        </p:cTn>
                                        <p:tgtEl>
                                          <p:spTgt spid="332810"/>
                                        </p:tgtEl>
                                        <p:attrNameLst>
                                          <p:attrName>style.visibility</p:attrName>
                                        </p:attrNameLst>
                                      </p:cBhvr>
                                      <p:to>
                                        <p:strVal val="visible"/>
                                      </p:to>
                                    </p:set>
                                    <p:animEffect transition="in" filter="wheel(4)">
                                      <p:cBhvr>
                                        <p:cTn id="28" dur="3000"/>
                                        <p:tgtEl>
                                          <p:spTgt spid="332810"/>
                                        </p:tgtEl>
                                      </p:cBhvr>
                                    </p:animEffect>
                                  </p:childTnLst>
                                </p:cTn>
                              </p:par>
                              <p:par>
                                <p:cTn id="29" presetID="21" presetClass="entr" presetSubtype="4" fill="hold" grpId="0" nodeType="withEffect">
                                  <p:stCondLst>
                                    <p:cond delay="0"/>
                                  </p:stCondLst>
                                  <p:childTnLst>
                                    <p:set>
                                      <p:cBhvr>
                                        <p:cTn id="30" dur="1" fill="hold">
                                          <p:stCondLst>
                                            <p:cond delay="0"/>
                                          </p:stCondLst>
                                        </p:cTn>
                                        <p:tgtEl>
                                          <p:spTgt spid="332811"/>
                                        </p:tgtEl>
                                        <p:attrNameLst>
                                          <p:attrName>style.visibility</p:attrName>
                                        </p:attrNameLst>
                                      </p:cBhvr>
                                      <p:to>
                                        <p:strVal val="visible"/>
                                      </p:to>
                                    </p:set>
                                    <p:animEffect transition="in" filter="wheel(4)">
                                      <p:cBhvr>
                                        <p:cTn id="31" dur="3000"/>
                                        <p:tgtEl>
                                          <p:spTgt spid="332811"/>
                                        </p:tgtEl>
                                      </p:cBhvr>
                                    </p:animEffect>
                                  </p:childTnLst>
                                </p:cTn>
                              </p:par>
                              <p:par>
                                <p:cTn id="32" presetID="21" presetClass="entr" presetSubtype="4" fill="hold" grpId="0" nodeType="withEffect">
                                  <p:stCondLst>
                                    <p:cond delay="0"/>
                                  </p:stCondLst>
                                  <p:childTnLst>
                                    <p:set>
                                      <p:cBhvr>
                                        <p:cTn id="33" dur="1" fill="hold">
                                          <p:stCondLst>
                                            <p:cond delay="0"/>
                                          </p:stCondLst>
                                        </p:cTn>
                                        <p:tgtEl>
                                          <p:spTgt spid="332812"/>
                                        </p:tgtEl>
                                        <p:attrNameLst>
                                          <p:attrName>style.visibility</p:attrName>
                                        </p:attrNameLst>
                                      </p:cBhvr>
                                      <p:to>
                                        <p:strVal val="visible"/>
                                      </p:to>
                                    </p:set>
                                    <p:animEffect transition="in" filter="wheel(4)">
                                      <p:cBhvr>
                                        <p:cTn id="34" dur="3000"/>
                                        <p:tgtEl>
                                          <p:spTgt spid="332812"/>
                                        </p:tgtEl>
                                      </p:cBhvr>
                                    </p:animEffect>
                                  </p:childTnLst>
                                </p:cTn>
                              </p:par>
                              <p:par>
                                <p:cTn id="35" presetID="21" presetClass="entr" presetSubtype="4" fill="hold" grpId="0" nodeType="withEffect">
                                  <p:stCondLst>
                                    <p:cond delay="0"/>
                                  </p:stCondLst>
                                  <p:childTnLst>
                                    <p:set>
                                      <p:cBhvr>
                                        <p:cTn id="36" dur="1" fill="hold">
                                          <p:stCondLst>
                                            <p:cond delay="0"/>
                                          </p:stCondLst>
                                        </p:cTn>
                                        <p:tgtEl>
                                          <p:spTgt spid="332813"/>
                                        </p:tgtEl>
                                        <p:attrNameLst>
                                          <p:attrName>style.visibility</p:attrName>
                                        </p:attrNameLst>
                                      </p:cBhvr>
                                      <p:to>
                                        <p:strVal val="visible"/>
                                      </p:to>
                                    </p:set>
                                    <p:animEffect transition="in" filter="wheel(4)">
                                      <p:cBhvr>
                                        <p:cTn id="37" dur="3000"/>
                                        <p:tgtEl>
                                          <p:spTgt spid="332813"/>
                                        </p:tgtEl>
                                      </p:cBhvr>
                                    </p:animEffect>
                                  </p:childTnLst>
                                </p:cTn>
                              </p:par>
                              <p:par>
                                <p:cTn id="38" presetID="21" presetClass="entr" presetSubtype="4" fill="hold" grpId="0" nodeType="withEffect">
                                  <p:stCondLst>
                                    <p:cond delay="0"/>
                                  </p:stCondLst>
                                  <p:childTnLst>
                                    <p:set>
                                      <p:cBhvr>
                                        <p:cTn id="39" dur="1" fill="hold">
                                          <p:stCondLst>
                                            <p:cond delay="0"/>
                                          </p:stCondLst>
                                        </p:cTn>
                                        <p:tgtEl>
                                          <p:spTgt spid="332814"/>
                                        </p:tgtEl>
                                        <p:attrNameLst>
                                          <p:attrName>style.visibility</p:attrName>
                                        </p:attrNameLst>
                                      </p:cBhvr>
                                      <p:to>
                                        <p:strVal val="visible"/>
                                      </p:to>
                                    </p:set>
                                    <p:animEffect transition="in" filter="wheel(4)">
                                      <p:cBhvr>
                                        <p:cTn id="40" dur="3000"/>
                                        <p:tgtEl>
                                          <p:spTgt spid="332814"/>
                                        </p:tgtEl>
                                      </p:cBhvr>
                                    </p:animEffect>
                                  </p:childTnLst>
                                </p:cTn>
                              </p:par>
                              <p:par>
                                <p:cTn id="41" presetID="21" presetClass="entr" presetSubtype="4" fill="hold" grpId="0" nodeType="withEffect">
                                  <p:stCondLst>
                                    <p:cond delay="0"/>
                                  </p:stCondLst>
                                  <p:childTnLst>
                                    <p:set>
                                      <p:cBhvr>
                                        <p:cTn id="42" dur="1" fill="hold">
                                          <p:stCondLst>
                                            <p:cond delay="0"/>
                                          </p:stCondLst>
                                        </p:cTn>
                                        <p:tgtEl>
                                          <p:spTgt spid="332815"/>
                                        </p:tgtEl>
                                        <p:attrNameLst>
                                          <p:attrName>style.visibility</p:attrName>
                                        </p:attrNameLst>
                                      </p:cBhvr>
                                      <p:to>
                                        <p:strVal val="visible"/>
                                      </p:to>
                                    </p:set>
                                    <p:animEffect transition="in" filter="wheel(4)">
                                      <p:cBhvr>
                                        <p:cTn id="43" dur="3000"/>
                                        <p:tgtEl>
                                          <p:spTgt spid="332815"/>
                                        </p:tgtEl>
                                      </p:cBhvr>
                                    </p:animEffect>
                                  </p:childTnLst>
                                </p:cTn>
                              </p:par>
                              <p:par>
                                <p:cTn id="44" presetID="21" presetClass="entr" presetSubtype="4" fill="hold" grpId="0" nodeType="withEffect">
                                  <p:stCondLst>
                                    <p:cond delay="0"/>
                                  </p:stCondLst>
                                  <p:childTnLst>
                                    <p:set>
                                      <p:cBhvr>
                                        <p:cTn id="45" dur="1" fill="hold">
                                          <p:stCondLst>
                                            <p:cond delay="0"/>
                                          </p:stCondLst>
                                        </p:cTn>
                                        <p:tgtEl>
                                          <p:spTgt spid="332816"/>
                                        </p:tgtEl>
                                        <p:attrNameLst>
                                          <p:attrName>style.visibility</p:attrName>
                                        </p:attrNameLst>
                                      </p:cBhvr>
                                      <p:to>
                                        <p:strVal val="visible"/>
                                      </p:to>
                                    </p:set>
                                    <p:animEffect transition="in" filter="wheel(4)">
                                      <p:cBhvr>
                                        <p:cTn id="46" dur="3000"/>
                                        <p:tgtEl>
                                          <p:spTgt spid="332816"/>
                                        </p:tgtEl>
                                      </p:cBhvr>
                                    </p:animEffect>
                                  </p:childTnLst>
                                </p:cTn>
                              </p:par>
                              <p:par>
                                <p:cTn id="47" presetID="21" presetClass="entr" presetSubtype="4" fill="hold" grpId="0" nodeType="withEffect">
                                  <p:stCondLst>
                                    <p:cond delay="0"/>
                                  </p:stCondLst>
                                  <p:childTnLst>
                                    <p:set>
                                      <p:cBhvr>
                                        <p:cTn id="48" dur="1" fill="hold">
                                          <p:stCondLst>
                                            <p:cond delay="0"/>
                                          </p:stCondLst>
                                        </p:cTn>
                                        <p:tgtEl>
                                          <p:spTgt spid="332817"/>
                                        </p:tgtEl>
                                        <p:attrNameLst>
                                          <p:attrName>style.visibility</p:attrName>
                                        </p:attrNameLst>
                                      </p:cBhvr>
                                      <p:to>
                                        <p:strVal val="visible"/>
                                      </p:to>
                                    </p:set>
                                    <p:animEffect transition="in" filter="wheel(4)">
                                      <p:cBhvr>
                                        <p:cTn id="49" dur="3000"/>
                                        <p:tgtEl>
                                          <p:spTgt spid="332817"/>
                                        </p:tgtEl>
                                      </p:cBhvr>
                                    </p:animEffect>
                                  </p:childTnLst>
                                </p:cTn>
                              </p:par>
                              <p:par>
                                <p:cTn id="50" presetID="21" presetClass="entr" presetSubtype="4" fill="hold" grpId="0" nodeType="withEffect">
                                  <p:stCondLst>
                                    <p:cond delay="0"/>
                                  </p:stCondLst>
                                  <p:childTnLst>
                                    <p:set>
                                      <p:cBhvr>
                                        <p:cTn id="51" dur="1" fill="hold">
                                          <p:stCondLst>
                                            <p:cond delay="0"/>
                                          </p:stCondLst>
                                        </p:cTn>
                                        <p:tgtEl>
                                          <p:spTgt spid="332818"/>
                                        </p:tgtEl>
                                        <p:attrNameLst>
                                          <p:attrName>style.visibility</p:attrName>
                                        </p:attrNameLst>
                                      </p:cBhvr>
                                      <p:to>
                                        <p:strVal val="visible"/>
                                      </p:to>
                                    </p:set>
                                    <p:animEffect transition="in" filter="wheel(4)">
                                      <p:cBhvr>
                                        <p:cTn id="52" dur="3000"/>
                                        <p:tgtEl>
                                          <p:spTgt spid="332818"/>
                                        </p:tgtEl>
                                      </p:cBhvr>
                                    </p:animEffect>
                                  </p:childTnLst>
                                </p:cTn>
                              </p:par>
                              <p:par>
                                <p:cTn id="53" presetID="21" presetClass="entr" presetSubtype="4" fill="hold" grpId="0" nodeType="withEffect">
                                  <p:stCondLst>
                                    <p:cond delay="0"/>
                                  </p:stCondLst>
                                  <p:childTnLst>
                                    <p:set>
                                      <p:cBhvr>
                                        <p:cTn id="54" dur="1" fill="hold">
                                          <p:stCondLst>
                                            <p:cond delay="0"/>
                                          </p:stCondLst>
                                        </p:cTn>
                                        <p:tgtEl>
                                          <p:spTgt spid="332819"/>
                                        </p:tgtEl>
                                        <p:attrNameLst>
                                          <p:attrName>style.visibility</p:attrName>
                                        </p:attrNameLst>
                                      </p:cBhvr>
                                      <p:to>
                                        <p:strVal val="visible"/>
                                      </p:to>
                                    </p:set>
                                    <p:animEffect transition="in" filter="wheel(4)">
                                      <p:cBhvr>
                                        <p:cTn id="55" dur="3000"/>
                                        <p:tgtEl>
                                          <p:spTgt spid="332819"/>
                                        </p:tgtEl>
                                      </p:cBhvr>
                                    </p:animEffect>
                                  </p:childTnLst>
                                </p:cTn>
                              </p:par>
                              <p:par>
                                <p:cTn id="56" presetID="21" presetClass="entr" presetSubtype="4" fill="hold" grpId="0" nodeType="withEffect">
                                  <p:stCondLst>
                                    <p:cond delay="0"/>
                                  </p:stCondLst>
                                  <p:childTnLst>
                                    <p:set>
                                      <p:cBhvr>
                                        <p:cTn id="57" dur="1" fill="hold">
                                          <p:stCondLst>
                                            <p:cond delay="0"/>
                                          </p:stCondLst>
                                        </p:cTn>
                                        <p:tgtEl>
                                          <p:spTgt spid="332820"/>
                                        </p:tgtEl>
                                        <p:attrNameLst>
                                          <p:attrName>style.visibility</p:attrName>
                                        </p:attrNameLst>
                                      </p:cBhvr>
                                      <p:to>
                                        <p:strVal val="visible"/>
                                      </p:to>
                                    </p:set>
                                    <p:animEffect transition="in" filter="wheel(4)">
                                      <p:cBhvr>
                                        <p:cTn id="58" dur="3000"/>
                                        <p:tgtEl>
                                          <p:spTgt spid="332820"/>
                                        </p:tgtEl>
                                      </p:cBhvr>
                                    </p:animEffect>
                                  </p:childTnLst>
                                </p:cTn>
                              </p:par>
                              <p:par>
                                <p:cTn id="59" presetID="21" presetClass="entr" presetSubtype="4" fill="hold" grpId="0" nodeType="withEffect">
                                  <p:stCondLst>
                                    <p:cond delay="0"/>
                                  </p:stCondLst>
                                  <p:childTnLst>
                                    <p:set>
                                      <p:cBhvr>
                                        <p:cTn id="60" dur="1" fill="hold">
                                          <p:stCondLst>
                                            <p:cond delay="0"/>
                                          </p:stCondLst>
                                        </p:cTn>
                                        <p:tgtEl>
                                          <p:spTgt spid="332821"/>
                                        </p:tgtEl>
                                        <p:attrNameLst>
                                          <p:attrName>style.visibility</p:attrName>
                                        </p:attrNameLst>
                                      </p:cBhvr>
                                      <p:to>
                                        <p:strVal val="visible"/>
                                      </p:to>
                                    </p:set>
                                    <p:animEffect transition="in" filter="wheel(4)">
                                      <p:cBhvr>
                                        <p:cTn id="61" dur="3000"/>
                                        <p:tgtEl>
                                          <p:spTgt spid="332821"/>
                                        </p:tgtEl>
                                      </p:cBhvr>
                                    </p:animEffect>
                                  </p:childTnLst>
                                </p:cTn>
                              </p:par>
                              <p:par>
                                <p:cTn id="62" presetID="21" presetClass="entr" presetSubtype="4" fill="hold" grpId="0" nodeType="withEffect">
                                  <p:stCondLst>
                                    <p:cond delay="0"/>
                                  </p:stCondLst>
                                  <p:childTnLst>
                                    <p:set>
                                      <p:cBhvr>
                                        <p:cTn id="63" dur="1" fill="hold">
                                          <p:stCondLst>
                                            <p:cond delay="0"/>
                                          </p:stCondLst>
                                        </p:cTn>
                                        <p:tgtEl>
                                          <p:spTgt spid="332822"/>
                                        </p:tgtEl>
                                        <p:attrNameLst>
                                          <p:attrName>style.visibility</p:attrName>
                                        </p:attrNameLst>
                                      </p:cBhvr>
                                      <p:to>
                                        <p:strVal val="visible"/>
                                      </p:to>
                                    </p:set>
                                    <p:animEffect transition="in" filter="wheel(4)">
                                      <p:cBhvr>
                                        <p:cTn id="64" dur="3000"/>
                                        <p:tgtEl>
                                          <p:spTgt spid="332822"/>
                                        </p:tgtEl>
                                      </p:cBhvr>
                                    </p:animEffect>
                                  </p:childTnLst>
                                </p:cTn>
                              </p:par>
                              <p:par>
                                <p:cTn id="65" presetID="21" presetClass="entr" presetSubtype="4" fill="hold" grpId="0" nodeType="withEffect">
                                  <p:stCondLst>
                                    <p:cond delay="0"/>
                                  </p:stCondLst>
                                  <p:childTnLst>
                                    <p:set>
                                      <p:cBhvr>
                                        <p:cTn id="66" dur="1" fill="hold">
                                          <p:stCondLst>
                                            <p:cond delay="0"/>
                                          </p:stCondLst>
                                        </p:cTn>
                                        <p:tgtEl>
                                          <p:spTgt spid="332823"/>
                                        </p:tgtEl>
                                        <p:attrNameLst>
                                          <p:attrName>style.visibility</p:attrName>
                                        </p:attrNameLst>
                                      </p:cBhvr>
                                      <p:to>
                                        <p:strVal val="visible"/>
                                      </p:to>
                                    </p:set>
                                    <p:animEffect transition="in" filter="wheel(4)">
                                      <p:cBhvr>
                                        <p:cTn id="67" dur="3000"/>
                                        <p:tgtEl>
                                          <p:spTgt spid="332823"/>
                                        </p:tgtEl>
                                      </p:cBhvr>
                                    </p:animEffect>
                                  </p:childTnLst>
                                </p:cTn>
                              </p:par>
                              <p:par>
                                <p:cTn id="68" presetID="21" presetClass="entr" presetSubtype="4" fill="hold" grpId="0" nodeType="withEffect">
                                  <p:stCondLst>
                                    <p:cond delay="0"/>
                                  </p:stCondLst>
                                  <p:childTnLst>
                                    <p:set>
                                      <p:cBhvr>
                                        <p:cTn id="69" dur="1" fill="hold">
                                          <p:stCondLst>
                                            <p:cond delay="0"/>
                                          </p:stCondLst>
                                        </p:cTn>
                                        <p:tgtEl>
                                          <p:spTgt spid="332824"/>
                                        </p:tgtEl>
                                        <p:attrNameLst>
                                          <p:attrName>style.visibility</p:attrName>
                                        </p:attrNameLst>
                                      </p:cBhvr>
                                      <p:to>
                                        <p:strVal val="visible"/>
                                      </p:to>
                                    </p:set>
                                    <p:animEffect transition="in" filter="wheel(4)">
                                      <p:cBhvr>
                                        <p:cTn id="70" dur="3000"/>
                                        <p:tgtEl>
                                          <p:spTgt spid="332824"/>
                                        </p:tgtEl>
                                      </p:cBhvr>
                                    </p:animEffect>
                                  </p:childTnLst>
                                </p:cTn>
                              </p:par>
                              <p:par>
                                <p:cTn id="71" presetID="21" presetClass="entr" presetSubtype="4" fill="hold" grpId="0" nodeType="withEffect">
                                  <p:stCondLst>
                                    <p:cond delay="0"/>
                                  </p:stCondLst>
                                  <p:childTnLst>
                                    <p:set>
                                      <p:cBhvr>
                                        <p:cTn id="72" dur="1" fill="hold">
                                          <p:stCondLst>
                                            <p:cond delay="0"/>
                                          </p:stCondLst>
                                        </p:cTn>
                                        <p:tgtEl>
                                          <p:spTgt spid="332825"/>
                                        </p:tgtEl>
                                        <p:attrNameLst>
                                          <p:attrName>style.visibility</p:attrName>
                                        </p:attrNameLst>
                                      </p:cBhvr>
                                      <p:to>
                                        <p:strVal val="visible"/>
                                      </p:to>
                                    </p:set>
                                    <p:animEffect transition="in" filter="wheel(4)">
                                      <p:cBhvr>
                                        <p:cTn id="73" dur="3000"/>
                                        <p:tgtEl>
                                          <p:spTgt spid="332825"/>
                                        </p:tgtEl>
                                      </p:cBhvr>
                                    </p:animEffect>
                                  </p:childTnLst>
                                </p:cTn>
                              </p:par>
                              <p:par>
                                <p:cTn id="74" presetID="21" presetClass="entr" presetSubtype="4" fill="hold" grpId="0" nodeType="withEffect">
                                  <p:stCondLst>
                                    <p:cond delay="0"/>
                                  </p:stCondLst>
                                  <p:childTnLst>
                                    <p:set>
                                      <p:cBhvr>
                                        <p:cTn id="75" dur="1" fill="hold">
                                          <p:stCondLst>
                                            <p:cond delay="0"/>
                                          </p:stCondLst>
                                        </p:cTn>
                                        <p:tgtEl>
                                          <p:spTgt spid="332826"/>
                                        </p:tgtEl>
                                        <p:attrNameLst>
                                          <p:attrName>style.visibility</p:attrName>
                                        </p:attrNameLst>
                                      </p:cBhvr>
                                      <p:to>
                                        <p:strVal val="visible"/>
                                      </p:to>
                                    </p:set>
                                    <p:animEffect transition="in" filter="wheel(4)">
                                      <p:cBhvr>
                                        <p:cTn id="76" dur="3000"/>
                                        <p:tgtEl>
                                          <p:spTgt spid="332826"/>
                                        </p:tgtEl>
                                      </p:cBhvr>
                                    </p:animEffect>
                                  </p:childTnLst>
                                </p:cTn>
                              </p:par>
                              <p:par>
                                <p:cTn id="77" presetID="21" presetClass="entr" presetSubtype="4" fill="hold" grpId="0" nodeType="withEffect">
                                  <p:stCondLst>
                                    <p:cond delay="0"/>
                                  </p:stCondLst>
                                  <p:childTnLst>
                                    <p:set>
                                      <p:cBhvr>
                                        <p:cTn id="78" dur="1" fill="hold">
                                          <p:stCondLst>
                                            <p:cond delay="0"/>
                                          </p:stCondLst>
                                        </p:cTn>
                                        <p:tgtEl>
                                          <p:spTgt spid="332827"/>
                                        </p:tgtEl>
                                        <p:attrNameLst>
                                          <p:attrName>style.visibility</p:attrName>
                                        </p:attrNameLst>
                                      </p:cBhvr>
                                      <p:to>
                                        <p:strVal val="visible"/>
                                      </p:to>
                                    </p:set>
                                    <p:animEffect transition="in" filter="wheel(4)">
                                      <p:cBhvr>
                                        <p:cTn id="79" dur="3000"/>
                                        <p:tgtEl>
                                          <p:spTgt spid="332827"/>
                                        </p:tgtEl>
                                      </p:cBhvr>
                                    </p:animEffect>
                                  </p:childTnLst>
                                </p:cTn>
                              </p:par>
                              <p:par>
                                <p:cTn id="80" presetID="21" presetClass="entr" presetSubtype="4" fill="hold" grpId="0" nodeType="withEffect">
                                  <p:stCondLst>
                                    <p:cond delay="0"/>
                                  </p:stCondLst>
                                  <p:childTnLst>
                                    <p:set>
                                      <p:cBhvr>
                                        <p:cTn id="81" dur="1" fill="hold">
                                          <p:stCondLst>
                                            <p:cond delay="0"/>
                                          </p:stCondLst>
                                        </p:cTn>
                                        <p:tgtEl>
                                          <p:spTgt spid="332828"/>
                                        </p:tgtEl>
                                        <p:attrNameLst>
                                          <p:attrName>style.visibility</p:attrName>
                                        </p:attrNameLst>
                                      </p:cBhvr>
                                      <p:to>
                                        <p:strVal val="visible"/>
                                      </p:to>
                                    </p:set>
                                    <p:animEffect transition="in" filter="wheel(4)">
                                      <p:cBhvr>
                                        <p:cTn id="82" dur="3000"/>
                                        <p:tgtEl>
                                          <p:spTgt spid="332828"/>
                                        </p:tgtEl>
                                      </p:cBhvr>
                                    </p:animEffect>
                                  </p:childTnLst>
                                </p:cTn>
                              </p:par>
                              <p:par>
                                <p:cTn id="83" presetID="21" presetClass="entr" presetSubtype="4" fill="hold" grpId="0" nodeType="withEffect">
                                  <p:stCondLst>
                                    <p:cond delay="0"/>
                                  </p:stCondLst>
                                  <p:childTnLst>
                                    <p:set>
                                      <p:cBhvr>
                                        <p:cTn id="84" dur="1" fill="hold">
                                          <p:stCondLst>
                                            <p:cond delay="0"/>
                                          </p:stCondLst>
                                        </p:cTn>
                                        <p:tgtEl>
                                          <p:spTgt spid="332829"/>
                                        </p:tgtEl>
                                        <p:attrNameLst>
                                          <p:attrName>style.visibility</p:attrName>
                                        </p:attrNameLst>
                                      </p:cBhvr>
                                      <p:to>
                                        <p:strVal val="visible"/>
                                      </p:to>
                                    </p:set>
                                    <p:animEffect transition="in" filter="wheel(4)">
                                      <p:cBhvr>
                                        <p:cTn id="85" dur="3000"/>
                                        <p:tgtEl>
                                          <p:spTgt spid="332829"/>
                                        </p:tgtEl>
                                      </p:cBhvr>
                                    </p:animEffect>
                                  </p:childTnLst>
                                </p:cTn>
                              </p:par>
                              <p:par>
                                <p:cTn id="86" presetID="21" presetClass="entr" presetSubtype="4" fill="hold" grpId="0" nodeType="withEffect">
                                  <p:stCondLst>
                                    <p:cond delay="0"/>
                                  </p:stCondLst>
                                  <p:childTnLst>
                                    <p:set>
                                      <p:cBhvr>
                                        <p:cTn id="87" dur="1" fill="hold">
                                          <p:stCondLst>
                                            <p:cond delay="0"/>
                                          </p:stCondLst>
                                        </p:cTn>
                                        <p:tgtEl>
                                          <p:spTgt spid="332830"/>
                                        </p:tgtEl>
                                        <p:attrNameLst>
                                          <p:attrName>style.visibility</p:attrName>
                                        </p:attrNameLst>
                                      </p:cBhvr>
                                      <p:to>
                                        <p:strVal val="visible"/>
                                      </p:to>
                                    </p:set>
                                    <p:animEffect transition="in" filter="wheel(4)">
                                      <p:cBhvr>
                                        <p:cTn id="88" dur="3000"/>
                                        <p:tgtEl>
                                          <p:spTgt spid="332830"/>
                                        </p:tgtEl>
                                      </p:cBhvr>
                                    </p:animEffect>
                                  </p:childTnLst>
                                </p:cTn>
                              </p:par>
                              <p:par>
                                <p:cTn id="89" presetID="21" presetClass="entr" presetSubtype="4" fill="hold" grpId="0" nodeType="withEffect">
                                  <p:stCondLst>
                                    <p:cond delay="0"/>
                                  </p:stCondLst>
                                  <p:childTnLst>
                                    <p:set>
                                      <p:cBhvr>
                                        <p:cTn id="90" dur="1" fill="hold">
                                          <p:stCondLst>
                                            <p:cond delay="0"/>
                                          </p:stCondLst>
                                        </p:cTn>
                                        <p:tgtEl>
                                          <p:spTgt spid="332831"/>
                                        </p:tgtEl>
                                        <p:attrNameLst>
                                          <p:attrName>style.visibility</p:attrName>
                                        </p:attrNameLst>
                                      </p:cBhvr>
                                      <p:to>
                                        <p:strVal val="visible"/>
                                      </p:to>
                                    </p:set>
                                    <p:animEffect transition="in" filter="wheel(4)">
                                      <p:cBhvr>
                                        <p:cTn id="91" dur="3000"/>
                                        <p:tgtEl>
                                          <p:spTgt spid="332831"/>
                                        </p:tgtEl>
                                      </p:cBhvr>
                                    </p:animEffect>
                                  </p:childTnLst>
                                </p:cTn>
                              </p:par>
                              <p:par>
                                <p:cTn id="92" presetID="21" presetClass="entr" presetSubtype="4" fill="hold" grpId="0" nodeType="withEffect">
                                  <p:stCondLst>
                                    <p:cond delay="0"/>
                                  </p:stCondLst>
                                  <p:childTnLst>
                                    <p:set>
                                      <p:cBhvr>
                                        <p:cTn id="93" dur="1" fill="hold">
                                          <p:stCondLst>
                                            <p:cond delay="0"/>
                                          </p:stCondLst>
                                        </p:cTn>
                                        <p:tgtEl>
                                          <p:spTgt spid="332832"/>
                                        </p:tgtEl>
                                        <p:attrNameLst>
                                          <p:attrName>style.visibility</p:attrName>
                                        </p:attrNameLst>
                                      </p:cBhvr>
                                      <p:to>
                                        <p:strVal val="visible"/>
                                      </p:to>
                                    </p:set>
                                    <p:animEffect transition="in" filter="wheel(4)">
                                      <p:cBhvr>
                                        <p:cTn id="94" dur="3000"/>
                                        <p:tgtEl>
                                          <p:spTgt spid="332832"/>
                                        </p:tgtEl>
                                      </p:cBhvr>
                                    </p:animEffect>
                                  </p:childTnLst>
                                </p:cTn>
                              </p:par>
                              <p:par>
                                <p:cTn id="95" presetID="21" presetClass="entr" presetSubtype="4" fill="hold" grpId="0" nodeType="withEffect">
                                  <p:stCondLst>
                                    <p:cond delay="0"/>
                                  </p:stCondLst>
                                  <p:childTnLst>
                                    <p:set>
                                      <p:cBhvr>
                                        <p:cTn id="96" dur="1" fill="hold">
                                          <p:stCondLst>
                                            <p:cond delay="0"/>
                                          </p:stCondLst>
                                        </p:cTn>
                                        <p:tgtEl>
                                          <p:spTgt spid="332833"/>
                                        </p:tgtEl>
                                        <p:attrNameLst>
                                          <p:attrName>style.visibility</p:attrName>
                                        </p:attrNameLst>
                                      </p:cBhvr>
                                      <p:to>
                                        <p:strVal val="visible"/>
                                      </p:to>
                                    </p:set>
                                    <p:animEffect transition="in" filter="wheel(4)">
                                      <p:cBhvr>
                                        <p:cTn id="97" dur="3000"/>
                                        <p:tgtEl>
                                          <p:spTgt spid="332833"/>
                                        </p:tgtEl>
                                      </p:cBhvr>
                                    </p:animEffect>
                                  </p:childTnLst>
                                </p:cTn>
                              </p:par>
                              <p:par>
                                <p:cTn id="98" presetID="21" presetClass="entr" presetSubtype="4" fill="hold" grpId="0" nodeType="withEffect">
                                  <p:stCondLst>
                                    <p:cond delay="0"/>
                                  </p:stCondLst>
                                  <p:childTnLst>
                                    <p:set>
                                      <p:cBhvr>
                                        <p:cTn id="99" dur="1" fill="hold">
                                          <p:stCondLst>
                                            <p:cond delay="0"/>
                                          </p:stCondLst>
                                        </p:cTn>
                                        <p:tgtEl>
                                          <p:spTgt spid="332834"/>
                                        </p:tgtEl>
                                        <p:attrNameLst>
                                          <p:attrName>style.visibility</p:attrName>
                                        </p:attrNameLst>
                                      </p:cBhvr>
                                      <p:to>
                                        <p:strVal val="visible"/>
                                      </p:to>
                                    </p:set>
                                    <p:animEffect transition="in" filter="wheel(4)">
                                      <p:cBhvr>
                                        <p:cTn id="100" dur="3000"/>
                                        <p:tgtEl>
                                          <p:spTgt spid="332834"/>
                                        </p:tgtEl>
                                      </p:cBhvr>
                                    </p:animEffect>
                                  </p:childTnLst>
                                </p:cTn>
                              </p:par>
                              <p:par>
                                <p:cTn id="101" presetID="21" presetClass="entr" presetSubtype="4" fill="hold" grpId="0" nodeType="withEffect">
                                  <p:stCondLst>
                                    <p:cond delay="0"/>
                                  </p:stCondLst>
                                  <p:childTnLst>
                                    <p:set>
                                      <p:cBhvr>
                                        <p:cTn id="102" dur="1" fill="hold">
                                          <p:stCondLst>
                                            <p:cond delay="0"/>
                                          </p:stCondLst>
                                        </p:cTn>
                                        <p:tgtEl>
                                          <p:spTgt spid="332835"/>
                                        </p:tgtEl>
                                        <p:attrNameLst>
                                          <p:attrName>style.visibility</p:attrName>
                                        </p:attrNameLst>
                                      </p:cBhvr>
                                      <p:to>
                                        <p:strVal val="visible"/>
                                      </p:to>
                                    </p:set>
                                    <p:animEffect transition="in" filter="wheel(4)">
                                      <p:cBhvr>
                                        <p:cTn id="103" dur="3000"/>
                                        <p:tgtEl>
                                          <p:spTgt spid="332835"/>
                                        </p:tgtEl>
                                      </p:cBhvr>
                                    </p:animEffect>
                                  </p:childTnLst>
                                </p:cTn>
                              </p:par>
                              <p:par>
                                <p:cTn id="104" presetID="21" presetClass="entr" presetSubtype="4" fill="hold" grpId="0" nodeType="withEffect">
                                  <p:stCondLst>
                                    <p:cond delay="0"/>
                                  </p:stCondLst>
                                  <p:childTnLst>
                                    <p:set>
                                      <p:cBhvr>
                                        <p:cTn id="105" dur="1" fill="hold">
                                          <p:stCondLst>
                                            <p:cond delay="0"/>
                                          </p:stCondLst>
                                        </p:cTn>
                                        <p:tgtEl>
                                          <p:spTgt spid="332836"/>
                                        </p:tgtEl>
                                        <p:attrNameLst>
                                          <p:attrName>style.visibility</p:attrName>
                                        </p:attrNameLst>
                                      </p:cBhvr>
                                      <p:to>
                                        <p:strVal val="visible"/>
                                      </p:to>
                                    </p:set>
                                    <p:animEffect transition="in" filter="wheel(4)">
                                      <p:cBhvr>
                                        <p:cTn id="106" dur="3000"/>
                                        <p:tgtEl>
                                          <p:spTgt spid="332836"/>
                                        </p:tgtEl>
                                      </p:cBhvr>
                                    </p:animEffect>
                                  </p:childTnLst>
                                </p:cTn>
                              </p:par>
                              <p:par>
                                <p:cTn id="107" presetID="21" presetClass="entr" presetSubtype="4" fill="hold" grpId="0" nodeType="withEffect">
                                  <p:stCondLst>
                                    <p:cond delay="0"/>
                                  </p:stCondLst>
                                  <p:childTnLst>
                                    <p:set>
                                      <p:cBhvr>
                                        <p:cTn id="108" dur="1" fill="hold">
                                          <p:stCondLst>
                                            <p:cond delay="0"/>
                                          </p:stCondLst>
                                        </p:cTn>
                                        <p:tgtEl>
                                          <p:spTgt spid="332837"/>
                                        </p:tgtEl>
                                        <p:attrNameLst>
                                          <p:attrName>style.visibility</p:attrName>
                                        </p:attrNameLst>
                                      </p:cBhvr>
                                      <p:to>
                                        <p:strVal val="visible"/>
                                      </p:to>
                                    </p:set>
                                    <p:animEffect transition="in" filter="wheel(4)">
                                      <p:cBhvr>
                                        <p:cTn id="109" dur="3000"/>
                                        <p:tgtEl>
                                          <p:spTgt spid="332837"/>
                                        </p:tgtEl>
                                      </p:cBhvr>
                                    </p:animEffect>
                                  </p:childTnLst>
                                </p:cTn>
                              </p:par>
                              <p:par>
                                <p:cTn id="110" presetID="21" presetClass="entr" presetSubtype="4" fill="hold" grpId="0" nodeType="withEffect">
                                  <p:stCondLst>
                                    <p:cond delay="0"/>
                                  </p:stCondLst>
                                  <p:childTnLst>
                                    <p:set>
                                      <p:cBhvr>
                                        <p:cTn id="111" dur="1" fill="hold">
                                          <p:stCondLst>
                                            <p:cond delay="0"/>
                                          </p:stCondLst>
                                        </p:cTn>
                                        <p:tgtEl>
                                          <p:spTgt spid="332838"/>
                                        </p:tgtEl>
                                        <p:attrNameLst>
                                          <p:attrName>style.visibility</p:attrName>
                                        </p:attrNameLst>
                                      </p:cBhvr>
                                      <p:to>
                                        <p:strVal val="visible"/>
                                      </p:to>
                                    </p:set>
                                    <p:animEffect transition="in" filter="wheel(4)">
                                      <p:cBhvr>
                                        <p:cTn id="112" dur="3000"/>
                                        <p:tgtEl>
                                          <p:spTgt spid="332838"/>
                                        </p:tgtEl>
                                      </p:cBhvr>
                                    </p:animEffect>
                                  </p:childTnLst>
                                </p:cTn>
                              </p:par>
                              <p:par>
                                <p:cTn id="113" presetID="21" presetClass="entr" presetSubtype="4" fill="hold" grpId="0" nodeType="withEffect">
                                  <p:stCondLst>
                                    <p:cond delay="0"/>
                                  </p:stCondLst>
                                  <p:childTnLst>
                                    <p:set>
                                      <p:cBhvr>
                                        <p:cTn id="114" dur="1" fill="hold">
                                          <p:stCondLst>
                                            <p:cond delay="0"/>
                                          </p:stCondLst>
                                        </p:cTn>
                                        <p:tgtEl>
                                          <p:spTgt spid="332839"/>
                                        </p:tgtEl>
                                        <p:attrNameLst>
                                          <p:attrName>style.visibility</p:attrName>
                                        </p:attrNameLst>
                                      </p:cBhvr>
                                      <p:to>
                                        <p:strVal val="visible"/>
                                      </p:to>
                                    </p:set>
                                    <p:animEffect transition="in" filter="wheel(4)">
                                      <p:cBhvr>
                                        <p:cTn id="115" dur="3000"/>
                                        <p:tgtEl>
                                          <p:spTgt spid="332839"/>
                                        </p:tgtEl>
                                      </p:cBhvr>
                                    </p:animEffect>
                                  </p:childTnLst>
                                </p:cTn>
                              </p:par>
                              <p:par>
                                <p:cTn id="116" presetID="21" presetClass="entr" presetSubtype="4" fill="hold" grpId="0" nodeType="withEffect">
                                  <p:stCondLst>
                                    <p:cond delay="0"/>
                                  </p:stCondLst>
                                  <p:childTnLst>
                                    <p:set>
                                      <p:cBhvr>
                                        <p:cTn id="117" dur="1" fill="hold">
                                          <p:stCondLst>
                                            <p:cond delay="0"/>
                                          </p:stCondLst>
                                        </p:cTn>
                                        <p:tgtEl>
                                          <p:spTgt spid="332840"/>
                                        </p:tgtEl>
                                        <p:attrNameLst>
                                          <p:attrName>style.visibility</p:attrName>
                                        </p:attrNameLst>
                                      </p:cBhvr>
                                      <p:to>
                                        <p:strVal val="visible"/>
                                      </p:to>
                                    </p:set>
                                    <p:animEffect transition="in" filter="wheel(4)">
                                      <p:cBhvr>
                                        <p:cTn id="118" dur="3000"/>
                                        <p:tgtEl>
                                          <p:spTgt spid="332840"/>
                                        </p:tgtEl>
                                      </p:cBhvr>
                                    </p:animEffect>
                                  </p:childTnLst>
                                </p:cTn>
                              </p:par>
                              <p:par>
                                <p:cTn id="119" presetID="21" presetClass="entr" presetSubtype="4" fill="hold" grpId="0" nodeType="withEffect">
                                  <p:stCondLst>
                                    <p:cond delay="0"/>
                                  </p:stCondLst>
                                  <p:childTnLst>
                                    <p:set>
                                      <p:cBhvr>
                                        <p:cTn id="120" dur="1" fill="hold">
                                          <p:stCondLst>
                                            <p:cond delay="0"/>
                                          </p:stCondLst>
                                        </p:cTn>
                                        <p:tgtEl>
                                          <p:spTgt spid="332841"/>
                                        </p:tgtEl>
                                        <p:attrNameLst>
                                          <p:attrName>style.visibility</p:attrName>
                                        </p:attrNameLst>
                                      </p:cBhvr>
                                      <p:to>
                                        <p:strVal val="visible"/>
                                      </p:to>
                                    </p:set>
                                    <p:animEffect transition="in" filter="wheel(4)">
                                      <p:cBhvr>
                                        <p:cTn id="121" dur="3000"/>
                                        <p:tgtEl>
                                          <p:spTgt spid="332841"/>
                                        </p:tgtEl>
                                      </p:cBhvr>
                                    </p:animEffect>
                                  </p:childTnLst>
                                </p:cTn>
                              </p:par>
                              <p:par>
                                <p:cTn id="122" presetID="21" presetClass="entr" presetSubtype="4" fill="hold" grpId="0" nodeType="withEffect">
                                  <p:stCondLst>
                                    <p:cond delay="0"/>
                                  </p:stCondLst>
                                  <p:childTnLst>
                                    <p:set>
                                      <p:cBhvr>
                                        <p:cTn id="123" dur="1" fill="hold">
                                          <p:stCondLst>
                                            <p:cond delay="0"/>
                                          </p:stCondLst>
                                        </p:cTn>
                                        <p:tgtEl>
                                          <p:spTgt spid="332842"/>
                                        </p:tgtEl>
                                        <p:attrNameLst>
                                          <p:attrName>style.visibility</p:attrName>
                                        </p:attrNameLst>
                                      </p:cBhvr>
                                      <p:to>
                                        <p:strVal val="visible"/>
                                      </p:to>
                                    </p:set>
                                    <p:animEffect transition="in" filter="wheel(4)">
                                      <p:cBhvr>
                                        <p:cTn id="124" dur="3000"/>
                                        <p:tgtEl>
                                          <p:spTgt spid="332842"/>
                                        </p:tgtEl>
                                      </p:cBhvr>
                                    </p:animEffect>
                                  </p:childTnLst>
                                </p:cTn>
                              </p:par>
                              <p:par>
                                <p:cTn id="125" presetID="21" presetClass="entr" presetSubtype="4" fill="hold" grpId="0" nodeType="withEffect">
                                  <p:stCondLst>
                                    <p:cond delay="0"/>
                                  </p:stCondLst>
                                  <p:childTnLst>
                                    <p:set>
                                      <p:cBhvr>
                                        <p:cTn id="126" dur="1" fill="hold">
                                          <p:stCondLst>
                                            <p:cond delay="0"/>
                                          </p:stCondLst>
                                        </p:cTn>
                                        <p:tgtEl>
                                          <p:spTgt spid="332843"/>
                                        </p:tgtEl>
                                        <p:attrNameLst>
                                          <p:attrName>style.visibility</p:attrName>
                                        </p:attrNameLst>
                                      </p:cBhvr>
                                      <p:to>
                                        <p:strVal val="visible"/>
                                      </p:to>
                                    </p:set>
                                    <p:animEffect transition="in" filter="wheel(4)">
                                      <p:cBhvr>
                                        <p:cTn id="127" dur="3000"/>
                                        <p:tgtEl>
                                          <p:spTgt spid="332843"/>
                                        </p:tgtEl>
                                      </p:cBhvr>
                                    </p:animEffect>
                                  </p:childTnLst>
                                </p:cTn>
                              </p:par>
                              <p:par>
                                <p:cTn id="128" presetID="21" presetClass="entr" presetSubtype="4" fill="hold" grpId="0" nodeType="withEffect">
                                  <p:stCondLst>
                                    <p:cond delay="0"/>
                                  </p:stCondLst>
                                  <p:childTnLst>
                                    <p:set>
                                      <p:cBhvr>
                                        <p:cTn id="129" dur="1" fill="hold">
                                          <p:stCondLst>
                                            <p:cond delay="0"/>
                                          </p:stCondLst>
                                        </p:cTn>
                                        <p:tgtEl>
                                          <p:spTgt spid="332844"/>
                                        </p:tgtEl>
                                        <p:attrNameLst>
                                          <p:attrName>style.visibility</p:attrName>
                                        </p:attrNameLst>
                                      </p:cBhvr>
                                      <p:to>
                                        <p:strVal val="visible"/>
                                      </p:to>
                                    </p:set>
                                    <p:animEffect transition="in" filter="wheel(4)">
                                      <p:cBhvr>
                                        <p:cTn id="130" dur="3000"/>
                                        <p:tgtEl>
                                          <p:spTgt spid="332844"/>
                                        </p:tgtEl>
                                      </p:cBhvr>
                                    </p:animEffect>
                                  </p:childTnLst>
                                </p:cTn>
                              </p:par>
                              <p:par>
                                <p:cTn id="131" presetID="21" presetClass="entr" presetSubtype="4" fill="hold" grpId="0" nodeType="withEffect">
                                  <p:stCondLst>
                                    <p:cond delay="0"/>
                                  </p:stCondLst>
                                  <p:childTnLst>
                                    <p:set>
                                      <p:cBhvr>
                                        <p:cTn id="132" dur="1" fill="hold">
                                          <p:stCondLst>
                                            <p:cond delay="0"/>
                                          </p:stCondLst>
                                        </p:cTn>
                                        <p:tgtEl>
                                          <p:spTgt spid="332845"/>
                                        </p:tgtEl>
                                        <p:attrNameLst>
                                          <p:attrName>style.visibility</p:attrName>
                                        </p:attrNameLst>
                                      </p:cBhvr>
                                      <p:to>
                                        <p:strVal val="visible"/>
                                      </p:to>
                                    </p:set>
                                    <p:animEffect transition="in" filter="wheel(4)">
                                      <p:cBhvr>
                                        <p:cTn id="133" dur="3000"/>
                                        <p:tgtEl>
                                          <p:spTgt spid="332845"/>
                                        </p:tgtEl>
                                      </p:cBhvr>
                                    </p:animEffect>
                                  </p:childTnLst>
                                </p:cTn>
                              </p:par>
                              <p:par>
                                <p:cTn id="134" presetID="21" presetClass="entr" presetSubtype="4" fill="hold" grpId="0" nodeType="withEffect">
                                  <p:stCondLst>
                                    <p:cond delay="0"/>
                                  </p:stCondLst>
                                  <p:childTnLst>
                                    <p:set>
                                      <p:cBhvr>
                                        <p:cTn id="135" dur="1" fill="hold">
                                          <p:stCondLst>
                                            <p:cond delay="0"/>
                                          </p:stCondLst>
                                        </p:cTn>
                                        <p:tgtEl>
                                          <p:spTgt spid="332846"/>
                                        </p:tgtEl>
                                        <p:attrNameLst>
                                          <p:attrName>style.visibility</p:attrName>
                                        </p:attrNameLst>
                                      </p:cBhvr>
                                      <p:to>
                                        <p:strVal val="visible"/>
                                      </p:to>
                                    </p:set>
                                    <p:animEffect transition="in" filter="wheel(4)">
                                      <p:cBhvr>
                                        <p:cTn id="136" dur="3000"/>
                                        <p:tgtEl>
                                          <p:spTgt spid="332846"/>
                                        </p:tgtEl>
                                      </p:cBhvr>
                                    </p:animEffect>
                                  </p:childTnLst>
                                </p:cTn>
                              </p:par>
                              <p:par>
                                <p:cTn id="137" presetID="21" presetClass="entr" presetSubtype="4" fill="hold" grpId="0" nodeType="withEffect">
                                  <p:stCondLst>
                                    <p:cond delay="0"/>
                                  </p:stCondLst>
                                  <p:childTnLst>
                                    <p:set>
                                      <p:cBhvr>
                                        <p:cTn id="138" dur="1" fill="hold">
                                          <p:stCondLst>
                                            <p:cond delay="0"/>
                                          </p:stCondLst>
                                        </p:cTn>
                                        <p:tgtEl>
                                          <p:spTgt spid="332847"/>
                                        </p:tgtEl>
                                        <p:attrNameLst>
                                          <p:attrName>style.visibility</p:attrName>
                                        </p:attrNameLst>
                                      </p:cBhvr>
                                      <p:to>
                                        <p:strVal val="visible"/>
                                      </p:to>
                                    </p:set>
                                    <p:animEffect transition="in" filter="wheel(4)">
                                      <p:cBhvr>
                                        <p:cTn id="139" dur="3000"/>
                                        <p:tgtEl>
                                          <p:spTgt spid="332847"/>
                                        </p:tgtEl>
                                      </p:cBhvr>
                                    </p:animEffect>
                                  </p:childTnLst>
                                </p:cTn>
                              </p:par>
                              <p:par>
                                <p:cTn id="140" presetID="21" presetClass="entr" presetSubtype="4" fill="hold" grpId="0" nodeType="withEffect">
                                  <p:stCondLst>
                                    <p:cond delay="0"/>
                                  </p:stCondLst>
                                  <p:childTnLst>
                                    <p:set>
                                      <p:cBhvr>
                                        <p:cTn id="141" dur="1" fill="hold">
                                          <p:stCondLst>
                                            <p:cond delay="0"/>
                                          </p:stCondLst>
                                        </p:cTn>
                                        <p:tgtEl>
                                          <p:spTgt spid="332848"/>
                                        </p:tgtEl>
                                        <p:attrNameLst>
                                          <p:attrName>style.visibility</p:attrName>
                                        </p:attrNameLst>
                                      </p:cBhvr>
                                      <p:to>
                                        <p:strVal val="visible"/>
                                      </p:to>
                                    </p:set>
                                    <p:animEffect transition="in" filter="wheel(4)">
                                      <p:cBhvr>
                                        <p:cTn id="142" dur="3000"/>
                                        <p:tgtEl>
                                          <p:spTgt spid="332848"/>
                                        </p:tgtEl>
                                      </p:cBhvr>
                                    </p:animEffect>
                                  </p:childTnLst>
                                </p:cTn>
                              </p:par>
                              <p:par>
                                <p:cTn id="143" presetID="21" presetClass="entr" presetSubtype="4" fill="hold" grpId="0" nodeType="withEffect">
                                  <p:stCondLst>
                                    <p:cond delay="0"/>
                                  </p:stCondLst>
                                  <p:childTnLst>
                                    <p:set>
                                      <p:cBhvr>
                                        <p:cTn id="144" dur="1" fill="hold">
                                          <p:stCondLst>
                                            <p:cond delay="0"/>
                                          </p:stCondLst>
                                        </p:cTn>
                                        <p:tgtEl>
                                          <p:spTgt spid="332849"/>
                                        </p:tgtEl>
                                        <p:attrNameLst>
                                          <p:attrName>style.visibility</p:attrName>
                                        </p:attrNameLst>
                                      </p:cBhvr>
                                      <p:to>
                                        <p:strVal val="visible"/>
                                      </p:to>
                                    </p:set>
                                    <p:animEffect transition="in" filter="wheel(4)">
                                      <p:cBhvr>
                                        <p:cTn id="145" dur="3000"/>
                                        <p:tgtEl>
                                          <p:spTgt spid="332849"/>
                                        </p:tgtEl>
                                      </p:cBhvr>
                                    </p:animEffect>
                                  </p:childTnLst>
                                </p:cTn>
                              </p:par>
                              <p:par>
                                <p:cTn id="146" presetID="21" presetClass="entr" presetSubtype="4" fill="hold" grpId="0" nodeType="withEffect">
                                  <p:stCondLst>
                                    <p:cond delay="0"/>
                                  </p:stCondLst>
                                  <p:childTnLst>
                                    <p:set>
                                      <p:cBhvr>
                                        <p:cTn id="147" dur="1" fill="hold">
                                          <p:stCondLst>
                                            <p:cond delay="0"/>
                                          </p:stCondLst>
                                        </p:cTn>
                                        <p:tgtEl>
                                          <p:spTgt spid="332850"/>
                                        </p:tgtEl>
                                        <p:attrNameLst>
                                          <p:attrName>style.visibility</p:attrName>
                                        </p:attrNameLst>
                                      </p:cBhvr>
                                      <p:to>
                                        <p:strVal val="visible"/>
                                      </p:to>
                                    </p:set>
                                    <p:animEffect transition="in" filter="wheel(4)">
                                      <p:cBhvr>
                                        <p:cTn id="148" dur="3000"/>
                                        <p:tgtEl>
                                          <p:spTgt spid="332850"/>
                                        </p:tgtEl>
                                      </p:cBhvr>
                                    </p:animEffect>
                                  </p:childTnLst>
                                </p:cTn>
                              </p:par>
                              <p:par>
                                <p:cTn id="149" presetID="21" presetClass="entr" presetSubtype="4" fill="hold" grpId="0" nodeType="withEffect">
                                  <p:stCondLst>
                                    <p:cond delay="0"/>
                                  </p:stCondLst>
                                  <p:childTnLst>
                                    <p:set>
                                      <p:cBhvr>
                                        <p:cTn id="150" dur="1" fill="hold">
                                          <p:stCondLst>
                                            <p:cond delay="0"/>
                                          </p:stCondLst>
                                        </p:cTn>
                                        <p:tgtEl>
                                          <p:spTgt spid="332851"/>
                                        </p:tgtEl>
                                        <p:attrNameLst>
                                          <p:attrName>style.visibility</p:attrName>
                                        </p:attrNameLst>
                                      </p:cBhvr>
                                      <p:to>
                                        <p:strVal val="visible"/>
                                      </p:to>
                                    </p:set>
                                    <p:animEffect transition="in" filter="wheel(4)">
                                      <p:cBhvr>
                                        <p:cTn id="151" dur="3000"/>
                                        <p:tgtEl>
                                          <p:spTgt spid="332851"/>
                                        </p:tgtEl>
                                      </p:cBhvr>
                                    </p:animEffect>
                                  </p:childTnLst>
                                </p:cTn>
                              </p:par>
                              <p:par>
                                <p:cTn id="152" presetID="21" presetClass="entr" presetSubtype="4" fill="hold" grpId="0" nodeType="withEffect">
                                  <p:stCondLst>
                                    <p:cond delay="0"/>
                                  </p:stCondLst>
                                  <p:childTnLst>
                                    <p:set>
                                      <p:cBhvr>
                                        <p:cTn id="153" dur="1" fill="hold">
                                          <p:stCondLst>
                                            <p:cond delay="0"/>
                                          </p:stCondLst>
                                        </p:cTn>
                                        <p:tgtEl>
                                          <p:spTgt spid="332852"/>
                                        </p:tgtEl>
                                        <p:attrNameLst>
                                          <p:attrName>style.visibility</p:attrName>
                                        </p:attrNameLst>
                                      </p:cBhvr>
                                      <p:to>
                                        <p:strVal val="visible"/>
                                      </p:to>
                                    </p:set>
                                    <p:animEffect transition="in" filter="wheel(4)">
                                      <p:cBhvr>
                                        <p:cTn id="154" dur="3000"/>
                                        <p:tgtEl>
                                          <p:spTgt spid="332852"/>
                                        </p:tgtEl>
                                      </p:cBhvr>
                                    </p:animEffect>
                                  </p:childTnLst>
                                </p:cTn>
                              </p:par>
                              <p:par>
                                <p:cTn id="155" presetID="21" presetClass="entr" presetSubtype="4" fill="hold" grpId="0" nodeType="withEffect">
                                  <p:stCondLst>
                                    <p:cond delay="0"/>
                                  </p:stCondLst>
                                  <p:childTnLst>
                                    <p:set>
                                      <p:cBhvr>
                                        <p:cTn id="156" dur="1" fill="hold">
                                          <p:stCondLst>
                                            <p:cond delay="0"/>
                                          </p:stCondLst>
                                        </p:cTn>
                                        <p:tgtEl>
                                          <p:spTgt spid="332853"/>
                                        </p:tgtEl>
                                        <p:attrNameLst>
                                          <p:attrName>style.visibility</p:attrName>
                                        </p:attrNameLst>
                                      </p:cBhvr>
                                      <p:to>
                                        <p:strVal val="visible"/>
                                      </p:to>
                                    </p:set>
                                    <p:animEffect transition="in" filter="wheel(4)">
                                      <p:cBhvr>
                                        <p:cTn id="157" dur="3000"/>
                                        <p:tgtEl>
                                          <p:spTgt spid="332853"/>
                                        </p:tgtEl>
                                      </p:cBhvr>
                                    </p:animEffect>
                                  </p:childTnLst>
                                </p:cTn>
                              </p:par>
                              <p:par>
                                <p:cTn id="158" presetID="21" presetClass="entr" presetSubtype="4" fill="hold" grpId="0" nodeType="withEffect">
                                  <p:stCondLst>
                                    <p:cond delay="0"/>
                                  </p:stCondLst>
                                  <p:childTnLst>
                                    <p:set>
                                      <p:cBhvr>
                                        <p:cTn id="159" dur="1" fill="hold">
                                          <p:stCondLst>
                                            <p:cond delay="0"/>
                                          </p:stCondLst>
                                        </p:cTn>
                                        <p:tgtEl>
                                          <p:spTgt spid="332854"/>
                                        </p:tgtEl>
                                        <p:attrNameLst>
                                          <p:attrName>style.visibility</p:attrName>
                                        </p:attrNameLst>
                                      </p:cBhvr>
                                      <p:to>
                                        <p:strVal val="visible"/>
                                      </p:to>
                                    </p:set>
                                    <p:animEffect transition="in" filter="wheel(4)">
                                      <p:cBhvr>
                                        <p:cTn id="160" dur="3000"/>
                                        <p:tgtEl>
                                          <p:spTgt spid="332854"/>
                                        </p:tgtEl>
                                      </p:cBhvr>
                                    </p:animEffect>
                                  </p:childTnLst>
                                </p:cTn>
                              </p:par>
                              <p:par>
                                <p:cTn id="161" presetID="21" presetClass="entr" presetSubtype="4" fill="hold" grpId="0" nodeType="withEffect">
                                  <p:stCondLst>
                                    <p:cond delay="0"/>
                                  </p:stCondLst>
                                  <p:childTnLst>
                                    <p:set>
                                      <p:cBhvr>
                                        <p:cTn id="162" dur="1" fill="hold">
                                          <p:stCondLst>
                                            <p:cond delay="0"/>
                                          </p:stCondLst>
                                        </p:cTn>
                                        <p:tgtEl>
                                          <p:spTgt spid="332855"/>
                                        </p:tgtEl>
                                        <p:attrNameLst>
                                          <p:attrName>style.visibility</p:attrName>
                                        </p:attrNameLst>
                                      </p:cBhvr>
                                      <p:to>
                                        <p:strVal val="visible"/>
                                      </p:to>
                                    </p:set>
                                    <p:animEffect transition="in" filter="wheel(4)">
                                      <p:cBhvr>
                                        <p:cTn id="163" dur="3000"/>
                                        <p:tgtEl>
                                          <p:spTgt spid="332855"/>
                                        </p:tgtEl>
                                      </p:cBhvr>
                                    </p:animEffect>
                                  </p:childTnLst>
                                </p:cTn>
                              </p:par>
                              <p:par>
                                <p:cTn id="164" presetID="21" presetClass="entr" presetSubtype="4" fill="hold" grpId="0" nodeType="withEffect">
                                  <p:stCondLst>
                                    <p:cond delay="0"/>
                                  </p:stCondLst>
                                  <p:childTnLst>
                                    <p:set>
                                      <p:cBhvr>
                                        <p:cTn id="165" dur="1" fill="hold">
                                          <p:stCondLst>
                                            <p:cond delay="0"/>
                                          </p:stCondLst>
                                        </p:cTn>
                                        <p:tgtEl>
                                          <p:spTgt spid="332856"/>
                                        </p:tgtEl>
                                        <p:attrNameLst>
                                          <p:attrName>style.visibility</p:attrName>
                                        </p:attrNameLst>
                                      </p:cBhvr>
                                      <p:to>
                                        <p:strVal val="visible"/>
                                      </p:to>
                                    </p:set>
                                    <p:animEffect transition="in" filter="wheel(4)">
                                      <p:cBhvr>
                                        <p:cTn id="166" dur="3000"/>
                                        <p:tgtEl>
                                          <p:spTgt spid="332856"/>
                                        </p:tgtEl>
                                      </p:cBhvr>
                                    </p:animEffect>
                                  </p:childTnLst>
                                </p:cTn>
                              </p:par>
                              <p:par>
                                <p:cTn id="167" presetID="21" presetClass="entr" presetSubtype="4" fill="hold" grpId="0" nodeType="withEffect">
                                  <p:stCondLst>
                                    <p:cond delay="0"/>
                                  </p:stCondLst>
                                  <p:childTnLst>
                                    <p:set>
                                      <p:cBhvr>
                                        <p:cTn id="168" dur="1" fill="hold">
                                          <p:stCondLst>
                                            <p:cond delay="0"/>
                                          </p:stCondLst>
                                        </p:cTn>
                                        <p:tgtEl>
                                          <p:spTgt spid="332857"/>
                                        </p:tgtEl>
                                        <p:attrNameLst>
                                          <p:attrName>style.visibility</p:attrName>
                                        </p:attrNameLst>
                                      </p:cBhvr>
                                      <p:to>
                                        <p:strVal val="visible"/>
                                      </p:to>
                                    </p:set>
                                    <p:animEffect transition="in" filter="wheel(4)">
                                      <p:cBhvr>
                                        <p:cTn id="169" dur="3000"/>
                                        <p:tgtEl>
                                          <p:spTgt spid="332857"/>
                                        </p:tgtEl>
                                      </p:cBhvr>
                                    </p:animEffect>
                                  </p:childTnLst>
                                </p:cTn>
                              </p:par>
                              <p:par>
                                <p:cTn id="170" presetID="21" presetClass="entr" presetSubtype="4" fill="hold" grpId="0" nodeType="withEffect">
                                  <p:stCondLst>
                                    <p:cond delay="0"/>
                                  </p:stCondLst>
                                  <p:childTnLst>
                                    <p:set>
                                      <p:cBhvr>
                                        <p:cTn id="171" dur="1" fill="hold">
                                          <p:stCondLst>
                                            <p:cond delay="0"/>
                                          </p:stCondLst>
                                        </p:cTn>
                                        <p:tgtEl>
                                          <p:spTgt spid="332859"/>
                                        </p:tgtEl>
                                        <p:attrNameLst>
                                          <p:attrName>style.visibility</p:attrName>
                                        </p:attrNameLst>
                                      </p:cBhvr>
                                      <p:to>
                                        <p:strVal val="visible"/>
                                      </p:to>
                                    </p:set>
                                    <p:animEffect transition="in" filter="wheel(4)">
                                      <p:cBhvr>
                                        <p:cTn id="172" dur="3000"/>
                                        <p:tgtEl>
                                          <p:spTgt spid="332859"/>
                                        </p:tgtEl>
                                      </p:cBhvr>
                                    </p:animEffect>
                                  </p:childTnLst>
                                </p:cTn>
                              </p:par>
                              <p:par>
                                <p:cTn id="173" presetID="21" presetClass="entr" presetSubtype="4" fill="hold" grpId="0" nodeType="withEffect">
                                  <p:stCondLst>
                                    <p:cond delay="0"/>
                                  </p:stCondLst>
                                  <p:childTnLst>
                                    <p:set>
                                      <p:cBhvr>
                                        <p:cTn id="174" dur="1" fill="hold">
                                          <p:stCondLst>
                                            <p:cond delay="0"/>
                                          </p:stCondLst>
                                        </p:cTn>
                                        <p:tgtEl>
                                          <p:spTgt spid="332860"/>
                                        </p:tgtEl>
                                        <p:attrNameLst>
                                          <p:attrName>style.visibility</p:attrName>
                                        </p:attrNameLst>
                                      </p:cBhvr>
                                      <p:to>
                                        <p:strVal val="visible"/>
                                      </p:to>
                                    </p:set>
                                    <p:animEffect transition="in" filter="wheel(4)">
                                      <p:cBhvr>
                                        <p:cTn id="175" dur="3000"/>
                                        <p:tgtEl>
                                          <p:spTgt spid="332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02" grpId="0"/>
      <p:bldP spid="332803" grpId="0"/>
      <p:bldP spid="332805" grpId="0" animBg="1"/>
      <p:bldP spid="332806" grpId="0" animBg="1"/>
      <p:bldP spid="332807" grpId="0" animBg="1"/>
      <p:bldP spid="332808" grpId="0" animBg="1"/>
      <p:bldP spid="332809" grpId="0" animBg="1"/>
      <p:bldP spid="332810" grpId="0" animBg="1"/>
      <p:bldP spid="332811" grpId="0" animBg="1"/>
      <p:bldP spid="332812" grpId="0" animBg="1"/>
      <p:bldP spid="332813" grpId="0" animBg="1"/>
      <p:bldP spid="332814" grpId="0" animBg="1"/>
      <p:bldP spid="332815" grpId="0" animBg="1"/>
      <p:bldP spid="332816" grpId="0" animBg="1"/>
      <p:bldP spid="332817" grpId="0" animBg="1"/>
      <p:bldP spid="332818" grpId="0" animBg="1"/>
      <p:bldP spid="332819" grpId="0" animBg="1"/>
      <p:bldP spid="332820" grpId="0" animBg="1"/>
      <p:bldP spid="332821" grpId="0" animBg="1"/>
      <p:bldP spid="332822" grpId="0" animBg="1"/>
      <p:bldP spid="332823" grpId="0" animBg="1"/>
      <p:bldP spid="332824" grpId="0" animBg="1"/>
      <p:bldP spid="332825" grpId="0" animBg="1"/>
      <p:bldP spid="332826" grpId="0" animBg="1"/>
      <p:bldP spid="332827" grpId="0" animBg="1"/>
      <p:bldP spid="332828" grpId="0" animBg="1"/>
      <p:bldP spid="332829" grpId="0" animBg="1"/>
      <p:bldP spid="332830" grpId="0" animBg="1"/>
      <p:bldP spid="332831" grpId="0" animBg="1"/>
      <p:bldP spid="332832" grpId="0" animBg="1"/>
      <p:bldP spid="332833" grpId="0" animBg="1"/>
      <p:bldP spid="332834" grpId="0" animBg="1"/>
      <p:bldP spid="332835" grpId="0" animBg="1"/>
      <p:bldP spid="332836" grpId="0" animBg="1"/>
      <p:bldP spid="332837" grpId="0" animBg="1"/>
      <p:bldP spid="332838" grpId="0" animBg="1"/>
      <p:bldP spid="332839" grpId="0" animBg="1"/>
      <p:bldP spid="332840" grpId="0" animBg="1"/>
      <p:bldP spid="332841" grpId="0" animBg="1"/>
      <p:bldP spid="332842" grpId="0" animBg="1"/>
      <p:bldP spid="332843" grpId="0" animBg="1"/>
      <p:bldP spid="332844" grpId="0" animBg="1"/>
      <p:bldP spid="332845" grpId="0" animBg="1"/>
      <p:bldP spid="332846" grpId="0"/>
      <p:bldP spid="332847" grpId="0"/>
      <p:bldP spid="332848" grpId="0"/>
      <p:bldP spid="332849" grpId="0"/>
      <p:bldP spid="332850" grpId="0"/>
      <p:bldP spid="332851" grpId="0"/>
      <p:bldP spid="332852" grpId="0"/>
      <p:bldP spid="332853" grpId="0"/>
      <p:bldP spid="332854" grpId="0" animBg="1"/>
      <p:bldP spid="332855" grpId="0" animBg="1"/>
      <p:bldP spid="332856" grpId="0" animBg="1"/>
      <p:bldP spid="332857" grpId="0" animBg="1"/>
      <p:bldP spid="332859" grpId="0" animBg="1"/>
      <p:bldP spid="33286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a:spLocks noChangeArrowheads="1"/>
          </p:cNvSpPr>
          <p:nvPr/>
        </p:nvSpPr>
        <p:spPr bwMode="auto">
          <a:xfrm>
            <a:off x="443346" y="942108"/>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90000"/>
              </a:lnSpc>
              <a:spcBef>
                <a:spcPct val="20000"/>
              </a:spcBef>
              <a:buClr>
                <a:srgbClr val="C00000"/>
              </a:buClr>
              <a:buSzPct val="100000"/>
              <a:buFont typeface="Wingdings" panose="05000000000000000000" pitchFamily="2" charset="2"/>
              <a:buChar char="Ø"/>
            </a:pPr>
            <a:r>
              <a:rPr kumimoji="1" lang="en-US" altLang="zh-CN" sz="3200" b="1" i="0" dirty="0">
                <a:solidFill>
                  <a:srgbClr val="000066"/>
                </a:solidFill>
                <a:latin typeface="Tahoma" panose="020B0604030504040204" pitchFamily="34" charset="0"/>
              </a:rPr>
              <a:t>  </a:t>
            </a:r>
            <a:r>
              <a:rPr kumimoji="1" lang="zh-CN" altLang="en-US" sz="3200" b="1" i="0" dirty="0">
                <a:solidFill>
                  <a:srgbClr val="000066"/>
                </a:solidFill>
                <a:latin typeface="Tahoma" panose="020B0604030504040204" pitchFamily="34" charset="0"/>
              </a:rPr>
              <a:t>设计方法：</a:t>
            </a:r>
          </a:p>
        </p:txBody>
      </p:sp>
      <p:sp>
        <p:nvSpPr>
          <p:cNvPr id="8" name="Rectangle 4"/>
          <p:cNvSpPr>
            <a:spLocks noChangeArrowheads="1"/>
          </p:cNvSpPr>
          <p:nvPr/>
        </p:nvSpPr>
        <p:spPr bwMode="auto">
          <a:xfrm>
            <a:off x="214746" y="1627908"/>
            <a:ext cx="102800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spcBef>
                <a:spcPct val="50000"/>
              </a:spcBef>
              <a:buClr>
                <a:srgbClr val="FFFF66"/>
              </a:buClr>
            </a:pPr>
            <a:r>
              <a:rPr kumimoji="1" lang="zh-CN" altLang="en-US" sz="3200" b="1" i="0" dirty="0">
                <a:solidFill>
                  <a:srgbClr val="CC3300"/>
                </a:solidFill>
                <a:latin typeface="Tahoma" panose="020B0604030504040204" pitchFamily="34" charset="0"/>
              </a:rPr>
              <a:t>自顶向下：</a:t>
            </a:r>
            <a:r>
              <a:rPr kumimoji="1" lang="zh-CN" altLang="en-US" sz="2800" b="1" i="0" dirty="0">
                <a:solidFill>
                  <a:srgbClr val="000066"/>
                </a:solidFill>
                <a:latin typeface="Tahoma" panose="020B0604030504040204" pitchFamily="34" charset="0"/>
              </a:rPr>
              <a:t>首先定义全局概念结构的框架，然后逐步细化。</a:t>
            </a:r>
          </a:p>
        </p:txBody>
      </p:sp>
      <p:grpSp>
        <p:nvGrpSpPr>
          <p:cNvPr id="9" name="Group 5"/>
          <p:cNvGrpSpPr>
            <a:grpSpLocks/>
          </p:cNvGrpSpPr>
          <p:nvPr/>
        </p:nvGrpSpPr>
        <p:grpSpPr bwMode="auto">
          <a:xfrm>
            <a:off x="1943100" y="2365083"/>
            <a:ext cx="7483475" cy="3429000"/>
            <a:chOff x="432" y="1536"/>
            <a:chExt cx="4714" cy="2160"/>
          </a:xfrm>
        </p:grpSpPr>
        <p:sp>
          <p:nvSpPr>
            <p:cNvPr id="12" name="Rectangle 6"/>
            <p:cNvSpPr>
              <a:spLocks noChangeArrowheads="1"/>
            </p:cNvSpPr>
            <p:nvPr/>
          </p:nvSpPr>
          <p:spPr bwMode="auto">
            <a:xfrm>
              <a:off x="2016" y="2304"/>
              <a:ext cx="1271"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全局概念模式</a:t>
              </a:r>
            </a:p>
          </p:txBody>
        </p:sp>
        <p:sp>
          <p:nvSpPr>
            <p:cNvPr id="13" name="Rectangle 7"/>
            <p:cNvSpPr>
              <a:spLocks noChangeArrowheads="1"/>
            </p:cNvSpPr>
            <p:nvPr/>
          </p:nvSpPr>
          <p:spPr bwMode="auto">
            <a:xfrm>
              <a:off x="1008" y="2832"/>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4" name="Rectangle 8"/>
            <p:cNvSpPr>
              <a:spLocks noChangeArrowheads="1"/>
            </p:cNvSpPr>
            <p:nvPr/>
          </p:nvSpPr>
          <p:spPr bwMode="auto">
            <a:xfrm>
              <a:off x="3552" y="2784"/>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5" name="Rectangle 9"/>
            <p:cNvSpPr>
              <a:spLocks noChangeArrowheads="1"/>
            </p:cNvSpPr>
            <p:nvPr/>
          </p:nvSpPr>
          <p:spPr bwMode="auto">
            <a:xfrm>
              <a:off x="432" y="3408"/>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6" name="Rectangle 10"/>
            <p:cNvSpPr>
              <a:spLocks noChangeArrowheads="1"/>
            </p:cNvSpPr>
            <p:nvPr/>
          </p:nvSpPr>
          <p:spPr bwMode="auto">
            <a:xfrm>
              <a:off x="1680" y="3408"/>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7" name="Rectangle 11"/>
            <p:cNvSpPr>
              <a:spLocks noChangeArrowheads="1"/>
            </p:cNvSpPr>
            <p:nvPr/>
          </p:nvSpPr>
          <p:spPr bwMode="auto">
            <a:xfrm>
              <a:off x="2976" y="3408"/>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8" name="Rectangle 12"/>
            <p:cNvSpPr>
              <a:spLocks noChangeArrowheads="1"/>
            </p:cNvSpPr>
            <p:nvPr/>
          </p:nvSpPr>
          <p:spPr bwMode="auto">
            <a:xfrm>
              <a:off x="4272" y="3408"/>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9" name="AutoShape 13"/>
            <p:cNvSpPr>
              <a:spLocks noChangeArrowheads="1"/>
            </p:cNvSpPr>
            <p:nvPr/>
          </p:nvSpPr>
          <p:spPr bwMode="auto">
            <a:xfrm>
              <a:off x="2160" y="1536"/>
              <a:ext cx="1152" cy="576"/>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a:t>
              </a:r>
            </a:p>
          </p:txBody>
        </p:sp>
        <p:sp>
          <p:nvSpPr>
            <p:cNvPr id="20" name="Line 14"/>
            <p:cNvSpPr>
              <a:spLocks noChangeShapeType="1"/>
            </p:cNvSpPr>
            <p:nvPr/>
          </p:nvSpPr>
          <p:spPr bwMode="auto">
            <a:xfrm>
              <a:off x="2688" y="2016"/>
              <a:ext cx="0"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5"/>
            <p:cNvSpPr>
              <a:spLocks noChangeShapeType="1"/>
            </p:cNvSpPr>
            <p:nvPr/>
          </p:nvSpPr>
          <p:spPr bwMode="auto">
            <a:xfrm flipH="1">
              <a:off x="1392" y="2592"/>
              <a:ext cx="1248" cy="24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6"/>
            <p:cNvSpPr>
              <a:spLocks noChangeShapeType="1"/>
            </p:cNvSpPr>
            <p:nvPr/>
          </p:nvSpPr>
          <p:spPr bwMode="auto">
            <a:xfrm>
              <a:off x="2688" y="2592"/>
              <a:ext cx="1248" cy="192"/>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7"/>
            <p:cNvSpPr>
              <a:spLocks noChangeShapeType="1"/>
            </p:cNvSpPr>
            <p:nvPr/>
          </p:nvSpPr>
          <p:spPr bwMode="auto">
            <a:xfrm flipH="1">
              <a:off x="768" y="3120"/>
              <a:ext cx="576"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8"/>
            <p:cNvSpPr>
              <a:spLocks noChangeShapeType="1"/>
            </p:cNvSpPr>
            <p:nvPr/>
          </p:nvSpPr>
          <p:spPr bwMode="auto">
            <a:xfrm>
              <a:off x="1392" y="3120"/>
              <a:ext cx="624"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9"/>
            <p:cNvSpPr>
              <a:spLocks noChangeShapeType="1"/>
            </p:cNvSpPr>
            <p:nvPr/>
          </p:nvSpPr>
          <p:spPr bwMode="auto">
            <a:xfrm flipH="1">
              <a:off x="3456" y="3072"/>
              <a:ext cx="528"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0"/>
            <p:cNvSpPr>
              <a:spLocks noChangeShapeType="1"/>
            </p:cNvSpPr>
            <p:nvPr/>
          </p:nvSpPr>
          <p:spPr bwMode="auto">
            <a:xfrm>
              <a:off x="4032" y="3072"/>
              <a:ext cx="672"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Rectangle 21"/>
            <p:cNvSpPr>
              <a:spLocks noChangeArrowheads="1"/>
            </p:cNvSpPr>
            <p:nvPr/>
          </p:nvSpPr>
          <p:spPr bwMode="auto">
            <a:xfrm>
              <a:off x="2352" y="2880"/>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rgbClr val="000066"/>
                  </a:solidFill>
                  <a:latin typeface="Times New Roman" panose="02020603050405020304" pitchFamily="18" charset="0"/>
                  <a:ea typeface="楷体_GB2312" pitchFamily="49" charset="-122"/>
                </a:rPr>
                <a:t>…</a:t>
              </a:r>
            </a:p>
          </p:txBody>
        </p:sp>
        <p:sp>
          <p:nvSpPr>
            <p:cNvPr id="29" name="Rectangle 22"/>
            <p:cNvSpPr>
              <a:spLocks noChangeArrowheads="1"/>
            </p:cNvSpPr>
            <p:nvPr/>
          </p:nvSpPr>
          <p:spPr bwMode="auto">
            <a:xfrm>
              <a:off x="2400" y="3408"/>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chemeClr val="tx2"/>
                  </a:solidFill>
                  <a:latin typeface="Times New Roman" panose="02020603050405020304" pitchFamily="18" charset="0"/>
                  <a:ea typeface="楷体_GB2312" pitchFamily="49" charset="-122"/>
                </a:rPr>
                <a:t>…</a:t>
              </a:r>
            </a:p>
          </p:txBody>
        </p:sp>
      </p:grpSp>
      <p:sp>
        <p:nvSpPr>
          <p:cNvPr id="31"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3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2" name="直接连接符 31"/>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17504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checkerboard(across)">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a:spLocks noChangeArrowheads="1"/>
          </p:cNvSpPr>
          <p:nvPr/>
        </p:nvSpPr>
        <p:spPr bwMode="auto">
          <a:xfrm>
            <a:off x="280561" y="791541"/>
            <a:ext cx="11118266"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spcBef>
                <a:spcPct val="50000"/>
              </a:spcBef>
              <a:buClr>
                <a:srgbClr val="FFFF66"/>
              </a:buClr>
            </a:pPr>
            <a:r>
              <a:rPr kumimoji="1" lang="zh-CN" altLang="en-US" sz="3200" b="1" i="0" dirty="0">
                <a:solidFill>
                  <a:srgbClr val="CC3300"/>
                </a:solidFill>
                <a:latin typeface="Tahoma" panose="020B0604030504040204" pitchFamily="34" charset="0"/>
              </a:rPr>
              <a:t>自底向上</a:t>
            </a:r>
            <a:r>
              <a:rPr kumimoji="1" lang="zh-CN" altLang="en-US" sz="3200" b="1" i="0" dirty="0">
                <a:solidFill>
                  <a:srgbClr val="000066"/>
                </a:solidFill>
                <a:latin typeface="Tahoma" panose="020B0604030504040204" pitchFamily="34" charset="0"/>
              </a:rPr>
              <a:t>：</a:t>
            </a:r>
            <a:r>
              <a:rPr kumimoji="1" lang="zh-CN" altLang="en-US" sz="2800" b="1" i="0" dirty="0">
                <a:solidFill>
                  <a:srgbClr val="000066"/>
                </a:solidFill>
                <a:latin typeface="Tahoma" panose="020B0604030504040204" pitchFamily="34" charset="0"/>
              </a:rPr>
              <a:t>首先定义各局部应用的概念结构，然后将它们集成起来，得到全局概念结构</a:t>
            </a:r>
          </a:p>
        </p:txBody>
      </p:sp>
      <p:grpSp>
        <p:nvGrpSpPr>
          <p:cNvPr id="8" name="Group 4"/>
          <p:cNvGrpSpPr>
            <a:grpSpLocks/>
          </p:cNvGrpSpPr>
          <p:nvPr/>
        </p:nvGrpSpPr>
        <p:grpSpPr bwMode="auto">
          <a:xfrm>
            <a:off x="1918861" y="2227119"/>
            <a:ext cx="7407275" cy="3657600"/>
            <a:chOff x="528" y="1344"/>
            <a:chExt cx="4666" cy="2304"/>
          </a:xfrm>
        </p:grpSpPr>
        <p:sp>
          <p:nvSpPr>
            <p:cNvPr id="9" name="Rectangle 5"/>
            <p:cNvSpPr>
              <a:spLocks noChangeArrowheads="1"/>
            </p:cNvSpPr>
            <p:nvPr/>
          </p:nvSpPr>
          <p:spPr bwMode="auto">
            <a:xfrm>
              <a:off x="1968" y="3360"/>
              <a:ext cx="1271"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全局概念模式</a:t>
              </a:r>
            </a:p>
          </p:txBody>
        </p:sp>
        <p:sp>
          <p:nvSpPr>
            <p:cNvPr id="12" name="Rectangle 6"/>
            <p:cNvSpPr>
              <a:spLocks noChangeArrowheads="1"/>
            </p:cNvSpPr>
            <p:nvPr/>
          </p:nvSpPr>
          <p:spPr bwMode="auto">
            <a:xfrm>
              <a:off x="1008" y="2736"/>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3" name="Rectangle 7"/>
            <p:cNvSpPr>
              <a:spLocks noChangeArrowheads="1"/>
            </p:cNvSpPr>
            <p:nvPr/>
          </p:nvSpPr>
          <p:spPr bwMode="auto">
            <a:xfrm>
              <a:off x="3600" y="2688"/>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4" name="Rectangle 8"/>
            <p:cNvSpPr>
              <a:spLocks noChangeArrowheads="1"/>
            </p:cNvSpPr>
            <p:nvPr/>
          </p:nvSpPr>
          <p:spPr bwMode="auto">
            <a:xfrm>
              <a:off x="576" y="2064"/>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5" name="Rectangle 9"/>
            <p:cNvSpPr>
              <a:spLocks noChangeArrowheads="1"/>
            </p:cNvSpPr>
            <p:nvPr/>
          </p:nvSpPr>
          <p:spPr bwMode="auto">
            <a:xfrm>
              <a:off x="1728" y="2064"/>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6" name="Rectangle 10"/>
            <p:cNvSpPr>
              <a:spLocks noChangeArrowheads="1"/>
            </p:cNvSpPr>
            <p:nvPr/>
          </p:nvSpPr>
          <p:spPr bwMode="auto">
            <a:xfrm>
              <a:off x="3168" y="2064"/>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7" name="Rectangle 11"/>
            <p:cNvSpPr>
              <a:spLocks noChangeArrowheads="1"/>
            </p:cNvSpPr>
            <p:nvPr/>
          </p:nvSpPr>
          <p:spPr bwMode="auto">
            <a:xfrm>
              <a:off x="4320" y="2064"/>
              <a:ext cx="874"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p>
          </p:txBody>
        </p:sp>
        <p:sp>
          <p:nvSpPr>
            <p:cNvPr id="18" name="AutoShape 12"/>
            <p:cNvSpPr>
              <a:spLocks noChangeArrowheads="1"/>
            </p:cNvSpPr>
            <p:nvPr/>
          </p:nvSpPr>
          <p:spPr bwMode="auto">
            <a:xfrm>
              <a:off x="528" y="1392"/>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子需求</a:t>
              </a:r>
            </a:p>
          </p:txBody>
        </p:sp>
        <p:sp>
          <p:nvSpPr>
            <p:cNvPr id="19" name="Line 13"/>
            <p:cNvSpPr>
              <a:spLocks noChangeShapeType="1"/>
            </p:cNvSpPr>
            <p:nvPr/>
          </p:nvSpPr>
          <p:spPr bwMode="auto">
            <a:xfrm>
              <a:off x="1008" y="1776"/>
              <a:ext cx="0"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4"/>
            <p:cNvSpPr>
              <a:spLocks noChangeShapeType="1"/>
            </p:cNvSpPr>
            <p:nvPr/>
          </p:nvSpPr>
          <p:spPr bwMode="auto">
            <a:xfrm flipH="1">
              <a:off x="4128" y="2352"/>
              <a:ext cx="672"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5"/>
            <p:cNvSpPr>
              <a:spLocks noChangeShapeType="1"/>
            </p:cNvSpPr>
            <p:nvPr/>
          </p:nvSpPr>
          <p:spPr bwMode="auto">
            <a:xfrm>
              <a:off x="1008" y="2352"/>
              <a:ext cx="336"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6"/>
            <p:cNvSpPr>
              <a:spLocks noChangeShapeType="1"/>
            </p:cNvSpPr>
            <p:nvPr/>
          </p:nvSpPr>
          <p:spPr bwMode="auto">
            <a:xfrm>
              <a:off x="1392" y="3024"/>
              <a:ext cx="1152"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7"/>
            <p:cNvSpPr>
              <a:spLocks noChangeShapeType="1"/>
            </p:cNvSpPr>
            <p:nvPr/>
          </p:nvSpPr>
          <p:spPr bwMode="auto">
            <a:xfrm flipH="1">
              <a:off x="2736" y="2976"/>
              <a:ext cx="1248"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8"/>
            <p:cNvSpPr>
              <a:spLocks noChangeShapeType="1"/>
            </p:cNvSpPr>
            <p:nvPr/>
          </p:nvSpPr>
          <p:spPr bwMode="auto">
            <a:xfrm>
              <a:off x="3552" y="2352"/>
              <a:ext cx="576"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Rectangle 19"/>
            <p:cNvSpPr>
              <a:spLocks noChangeArrowheads="1"/>
            </p:cNvSpPr>
            <p:nvPr/>
          </p:nvSpPr>
          <p:spPr bwMode="auto">
            <a:xfrm>
              <a:off x="2352" y="2784"/>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rgbClr val="000066"/>
                  </a:solidFill>
                  <a:latin typeface="Times New Roman" panose="02020603050405020304" pitchFamily="18" charset="0"/>
                  <a:ea typeface="楷体_GB2312" pitchFamily="49" charset="-122"/>
                </a:rPr>
                <a:t>…</a:t>
              </a:r>
            </a:p>
          </p:txBody>
        </p:sp>
        <p:sp>
          <p:nvSpPr>
            <p:cNvPr id="27" name="Rectangle 20"/>
            <p:cNvSpPr>
              <a:spLocks noChangeArrowheads="1"/>
            </p:cNvSpPr>
            <p:nvPr/>
          </p:nvSpPr>
          <p:spPr bwMode="auto">
            <a:xfrm>
              <a:off x="2544" y="2064"/>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rgbClr val="000066"/>
                  </a:solidFill>
                  <a:latin typeface="Times New Roman" panose="02020603050405020304" pitchFamily="18" charset="0"/>
                  <a:ea typeface="楷体_GB2312" pitchFamily="49" charset="-122"/>
                </a:rPr>
                <a:t>…</a:t>
              </a:r>
            </a:p>
          </p:txBody>
        </p:sp>
        <p:sp>
          <p:nvSpPr>
            <p:cNvPr id="28" name="AutoShape 21"/>
            <p:cNvSpPr>
              <a:spLocks noChangeArrowheads="1"/>
            </p:cNvSpPr>
            <p:nvPr/>
          </p:nvSpPr>
          <p:spPr bwMode="auto">
            <a:xfrm>
              <a:off x="1776" y="1392"/>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子需求</a:t>
              </a:r>
            </a:p>
          </p:txBody>
        </p:sp>
        <p:sp>
          <p:nvSpPr>
            <p:cNvPr id="29" name="AutoShape 22"/>
            <p:cNvSpPr>
              <a:spLocks noChangeArrowheads="1"/>
            </p:cNvSpPr>
            <p:nvPr/>
          </p:nvSpPr>
          <p:spPr bwMode="auto">
            <a:xfrm>
              <a:off x="3072" y="1392"/>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子需求</a:t>
              </a:r>
            </a:p>
          </p:txBody>
        </p:sp>
        <p:sp>
          <p:nvSpPr>
            <p:cNvPr id="30" name="AutoShape 23"/>
            <p:cNvSpPr>
              <a:spLocks noChangeArrowheads="1"/>
            </p:cNvSpPr>
            <p:nvPr/>
          </p:nvSpPr>
          <p:spPr bwMode="auto">
            <a:xfrm>
              <a:off x="4176" y="1344"/>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子需求</a:t>
              </a:r>
            </a:p>
          </p:txBody>
        </p:sp>
        <p:sp>
          <p:nvSpPr>
            <p:cNvPr id="31" name="Line 24"/>
            <p:cNvSpPr>
              <a:spLocks noChangeShapeType="1"/>
            </p:cNvSpPr>
            <p:nvPr/>
          </p:nvSpPr>
          <p:spPr bwMode="auto">
            <a:xfrm>
              <a:off x="2208" y="1776"/>
              <a:ext cx="0"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5"/>
            <p:cNvSpPr>
              <a:spLocks noChangeShapeType="1"/>
            </p:cNvSpPr>
            <p:nvPr/>
          </p:nvSpPr>
          <p:spPr bwMode="auto">
            <a:xfrm>
              <a:off x="3552" y="1776"/>
              <a:ext cx="0"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6"/>
            <p:cNvSpPr>
              <a:spLocks noChangeShapeType="1"/>
            </p:cNvSpPr>
            <p:nvPr/>
          </p:nvSpPr>
          <p:spPr bwMode="auto">
            <a:xfrm>
              <a:off x="4704" y="1728"/>
              <a:ext cx="0"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7"/>
            <p:cNvSpPr>
              <a:spLocks noChangeShapeType="1"/>
            </p:cNvSpPr>
            <p:nvPr/>
          </p:nvSpPr>
          <p:spPr bwMode="auto">
            <a:xfrm flipH="1">
              <a:off x="1536" y="2352"/>
              <a:ext cx="576"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36"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7" name="直接连接符 36"/>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1322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a:spLocks noChangeArrowheads="1"/>
          </p:cNvSpPr>
          <p:nvPr/>
        </p:nvSpPr>
        <p:spPr bwMode="auto">
          <a:xfrm>
            <a:off x="245870" y="826897"/>
            <a:ext cx="11357263"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150000"/>
              </a:lnSpc>
              <a:spcBef>
                <a:spcPct val="50000"/>
              </a:spcBef>
              <a:buClr>
                <a:srgbClr val="FFFF66"/>
              </a:buClr>
            </a:pPr>
            <a:r>
              <a:rPr kumimoji="1" lang="zh-CN" altLang="en-US" sz="3200" b="1" i="0" dirty="0">
                <a:solidFill>
                  <a:srgbClr val="CC3300"/>
                </a:solidFill>
                <a:latin typeface="Tahoma" panose="020B0604030504040204" pitchFamily="34" charset="0"/>
              </a:rPr>
              <a:t>逐步扩张</a:t>
            </a:r>
            <a:r>
              <a:rPr kumimoji="1" lang="zh-CN" altLang="en-US" sz="3200" b="1" i="0" dirty="0">
                <a:solidFill>
                  <a:srgbClr val="000066"/>
                </a:solidFill>
                <a:latin typeface="Tahoma" panose="020B0604030504040204" pitchFamily="34" charset="0"/>
              </a:rPr>
              <a:t>：</a:t>
            </a:r>
            <a:r>
              <a:rPr kumimoji="1" lang="zh-CN" altLang="en-US" sz="2800" b="1" i="0" dirty="0">
                <a:solidFill>
                  <a:srgbClr val="000066"/>
                </a:solidFill>
                <a:latin typeface="Tahoma" panose="020B0604030504040204" pitchFamily="34" charset="0"/>
              </a:rPr>
              <a:t>首先定义最重要的核心概念结构，然后向外扩充，以滚雪球的方式逐步生成其他概念结构，直至总体概念结构。</a:t>
            </a:r>
          </a:p>
        </p:txBody>
      </p:sp>
      <p:grpSp>
        <p:nvGrpSpPr>
          <p:cNvPr id="8" name="Group 4"/>
          <p:cNvGrpSpPr>
            <a:grpSpLocks/>
          </p:cNvGrpSpPr>
          <p:nvPr/>
        </p:nvGrpSpPr>
        <p:grpSpPr bwMode="auto">
          <a:xfrm>
            <a:off x="2161310" y="2860961"/>
            <a:ext cx="7315200" cy="2667000"/>
            <a:chOff x="576" y="1680"/>
            <a:chExt cx="4608" cy="1680"/>
          </a:xfrm>
        </p:grpSpPr>
        <p:sp>
          <p:nvSpPr>
            <p:cNvPr id="9" name="Oval 5"/>
            <p:cNvSpPr>
              <a:spLocks noChangeArrowheads="1"/>
            </p:cNvSpPr>
            <p:nvPr/>
          </p:nvSpPr>
          <p:spPr bwMode="auto">
            <a:xfrm>
              <a:off x="672" y="2496"/>
              <a:ext cx="912" cy="816"/>
            </a:xfrm>
            <a:prstGeom prst="ellipse">
              <a:avLst/>
            </a:prstGeom>
            <a:noFill/>
            <a:ln w="190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核心</a:t>
              </a:r>
            </a:p>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概念结构</a:t>
              </a:r>
            </a:p>
          </p:txBody>
        </p:sp>
        <p:sp>
          <p:nvSpPr>
            <p:cNvPr id="12" name="Oval 6"/>
            <p:cNvSpPr>
              <a:spLocks noChangeArrowheads="1"/>
            </p:cNvSpPr>
            <p:nvPr/>
          </p:nvSpPr>
          <p:spPr bwMode="auto">
            <a:xfrm>
              <a:off x="4272" y="2544"/>
              <a:ext cx="912" cy="816"/>
            </a:xfrm>
            <a:prstGeom prst="ellipse">
              <a:avLst/>
            </a:prstGeom>
            <a:noFill/>
            <a:ln w="190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全局</a:t>
              </a:r>
            </a:p>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概念结构</a:t>
              </a:r>
            </a:p>
          </p:txBody>
        </p:sp>
        <p:sp>
          <p:nvSpPr>
            <p:cNvPr id="13" name="Oval 7"/>
            <p:cNvSpPr>
              <a:spLocks noChangeArrowheads="1"/>
            </p:cNvSpPr>
            <p:nvPr/>
          </p:nvSpPr>
          <p:spPr bwMode="auto">
            <a:xfrm>
              <a:off x="2304" y="2496"/>
              <a:ext cx="912" cy="816"/>
            </a:xfrm>
            <a:prstGeom prst="ellipse">
              <a:avLst/>
            </a:prstGeom>
            <a:noFill/>
            <a:ln w="19050">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endParaRPr kumimoji="1" lang="zh-CN" altLang="zh-CN" sz="2400" b="1" i="0">
                <a:solidFill>
                  <a:srgbClr val="000066"/>
                </a:solidFill>
                <a:latin typeface="Times New Roman" panose="02020603050405020304" pitchFamily="18" charset="0"/>
                <a:ea typeface="楷体_GB2312" pitchFamily="49" charset="-122"/>
              </a:endParaRPr>
            </a:p>
          </p:txBody>
        </p:sp>
        <p:sp>
          <p:nvSpPr>
            <p:cNvPr id="14" name="Line 8"/>
            <p:cNvSpPr>
              <a:spLocks noChangeShapeType="1"/>
            </p:cNvSpPr>
            <p:nvPr/>
          </p:nvSpPr>
          <p:spPr bwMode="auto">
            <a:xfrm>
              <a:off x="1584" y="2928"/>
              <a:ext cx="720" cy="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9"/>
            <p:cNvSpPr>
              <a:spLocks noChangeShapeType="1"/>
            </p:cNvSpPr>
            <p:nvPr/>
          </p:nvSpPr>
          <p:spPr bwMode="auto">
            <a:xfrm>
              <a:off x="3216" y="2928"/>
              <a:ext cx="336" cy="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0"/>
            <p:cNvSpPr>
              <a:spLocks noChangeShapeType="1"/>
            </p:cNvSpPr>
            <p:nvPr/>
          </p:nvSpPr>
          <p:spPr bwMode="auto">
            <a:xfrm>
              <a:off x="1104" y="2112"/>
              <a:ext cx="0"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1"/>
            <p:cNvSpPr>
              <a:spLocks noChangeShapeType="1"/>
            </p:cNvSpPr>
            <p:nvPr/>
          </p:nvSpPr>
          <p:spPr bwMode="auto">
            <a:xfrm>
              <a:off x="2784" y="2112"/>
              <a:ext cx="0"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AutoShape 12"/>
            <p:cNvSpPr>
              <a:spLocks noChangeArrowheads="1"/>
            </p:cNvSpPr>
            <p:nvPr/>
          </p:nvSpPr>
          <p:spPr bwMode="auto">
            <a:xfrm>
              <a:off x="576" y="1680"/>
              <a:ext cx="1200" cy="480"/>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核心需求</a:t>
              </a:r>
            </a:p>
          </p:txBody>
        </p:sp>
        <p:sp>
          <p:nvSpPr>
            <p:cNvPr id="19" name="AutoShape 13"/>
            <p:cNvSpPr>
              <a:spLocks noChangeArrowheads="1"/>
            </p:cNvSpPr>
            <p:nvPr/>
          </p:nvSpPr>
          <p:spPr bwMode="auto">
            <a:xfrm>
              <a:off x="2208" y="1680"/>
              <a:ext cx="1200" cy="480"/>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a:t>
              </a:r>
            </a:p>
          </p:txBody>
        </p:sp>
        <p:sp>
          <p:nvSpPr>
            <p:cNvPr id="20" name="Line 14"/>
            <p:cNvSpPr>
              <a:spLocks noChangeShapeType="1"/>
            </p:cNvSpPr>
            <p:nvPr/>
          </p:nvSpPr>
          <p:spPr bwMode="auto">
            <a:xfrm>
              <a:off x="3936" y="2928"/>
              <a:ext cx="336" cy="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Rectangle 15"/>
            <p:cNvSpPr>
              <a:spLocks noChangeArrowheads="1"/>
            </p:cNvSpPr>
            <p:nvPr/>
          </p:nvSpPr>
          <p:spPr bwMode="auto">
            <a:xfrm>
              <a:off x="3456" y="2736"/>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rgbClr val="000066"/>
                  </a:solidFill>
                  <a:latin typeface="Times New Roman" panose="02020603050405020304" pitchFamily="18" charset="0"/>
                  <a:ea typeface="楷体_GB2312" pitchFamily="49" charset="-122"/>
                </a:rPr>
                <a:t>…</a:t>
              </a:r>
            </a:p>
          </p:txBody>
        </p:sp>
      </p:grpSp>
      <p:sp>
        <p:nvSpPr>
          <p:cNvPr id="22"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23"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25" name="直接连接符 24"/>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346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a:spLocks noChangeArrowheads="1"/>
          </p:cNvSpPr>
          <p:nvPr/>
        </p:nvSpPr>
        <p:spPr bwMode="auto">
          <a:xfrm>
            <a:off x="238992" y="768924"/>
            <a:ext cx="11191007" cy="2033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lnSpc>
                <a:spcPct val="150000"/>
              </a:lnSpc>
              <a:spcBef>
                <a:spcPct val="50000"/>
              </a:spcBef>
              <a:buClr>
                <a:srgbClr val="FFFF66"/>
              </a:buClr>
            </a:pPr>
            <a:r>
              <a:rPr kumimoji="1" lang="zh-CN" altLang="en-US" sz="3200" b="1" i="0" dirty="0">
                <a:solidFill>
                  <a:srgbClr val="CC3300"/>
                </a:solidFill>
                <a:latin typeface="Tahoma" panose="020B0604030504040204" pitchFamily="34" charset="0"/>
              </a:rPr>
              <a:t>混合策略</a:t>
            </a:r>
            <a:r>
              <a:rPr kumimoji="1" lang="zh-CN" altLang="en-US" sz="3200" b="1" i="0" dirty="0">
                <a:solidFill>
                  <a:srgbClr val="000066"/>
                </a:solidFill>
                <a:latin typeface="Tahoma" panose="020B0604030504040204" pitchFamily="34" charset="0"/>
              </a:rPr>
              <a:t>：</a:t>
            </a:r>
            <a:r>
              <a:rPr kumimoji="1" lang="zh-CN" altLang="en-US" sz="2800" b="1" i="0" dirty="0">
                <a:solidFill>
                  <a:srgbClr val="000066"/>
                </a:solidFill>
                <a:latin typeface="Tahoma" panose="020B0604030504040204" pitchFamily="34" charset="0"/>
              </a:rPr>
              <a:t>将自顶向下和自底向上相结合，用自顶向下策略设计一个全局概念结构的框架，以它为骨架集成由自底向上策略中设计的各局部概念结构。</a:t>
            </a:r>
          </a:p>
        </p:txBody>
      </p:sp>
      <p:sp>
        <p:nvSpPr>
          <p:cNvPr id="8" name="Rectangle 4"/>
          <p:cNvSpPr>
            <a:spLocks noChangeArrowheads="1"/>
          </p:cNvSpPr>
          <p:nvPr/>
        </p:nvSpPr>
        <p:spPr bwMode="auto">
          <a:xfrm>
            <a:off x="772393" y="3512124"/>
            <a:ext cx="7848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indent="0" eaLnBrk="1" hangingPunct="1">
              <a:lnSpc>
                <a:spcPct val="90000"/>
              </a:lnSpc>
              <a:spcBef>
                <a:spcPct val="20000"/>
              </a:spcBef>
              <a:buClr>
                <a:srgbClr val="FFFF66"/>
              </a:buClr>
              <a:buSzPct val="75000"/>
            </a:pPr>
            <a:r>
              <a:rPr kumimoji="1" lang="zh-CN" altLang="en-US" sz="3200" b="1" i="0" dirty="0">
                <a:solidFill>
                  <a:srgbClr val="CC3300"/>
                </a:solidFill>
                <a:latin typeface="Tahoma" panose="020B0604030504040204" pitchFamily="34" charset="0"/>
              </a:rPr>
              <a:t>常用策略：</a:t>
            </a:r>
          </a:p>
          <a:p>
            <a:pPr lvl="1" eaLnBrk="1" hangingPunct="1">
              <a:spcBef>
                <a:spcPct val="20000"/>
              </a:spcBef>
              <a:buClr>
                <a:schemeClr val="hlink"/>
              </a:buClr>
              <a:buSzPct val="55000"/>
              <a:buFont typeface="Wingdings" panose="05000000000000000000" pitchFamily="2" charset="2"/>
              <a:buChar char="n"/>
            </a:pPr>
            <a:r>
              <a:rPr kumimoji="1" lang="zh-CN" altLang="en-US" sz="2800" b="1" i="0" dirty="0">
                <a:solidFill>
                  <a:srgbClr val="000066"/>
                </a:solidFill>
                <a:latin typeface="Tahoma" panose="020B0604030504040204" pitchFamily="34" charset="0"/>
              </a:rPr>
              <a:t>自顶向下地进行需求分析</a:t>
            </a:r>
          </a:p>
          <a:p>
            <a:pPr lvl="1" eaLnBrk="1" hangingPunct="1">
              <a:spcBef>
                <a:spcPct val="20000"/>
              </a:spcBef>
              <a:buClr>
                <a:schemeClr val="hlink"/>
              </a:buClr>
              <a:buSzPct val="55000"/>
              <a:buFont typeface="Wingdings" panose="05000000000000000000" pitchFamily="2" charset="2"/>
              <a:buChar char="n"/>
            </a:pPr>
            <a:r>
              <a:rPr kumimoji="1" lang="zh-CN" altLang="en-US" sz="2800" b="1" i="0" dirty="0">
                <a:solidFill>
                  <a:srgbClr val="000066"/>
                </a:solidFill>
                <a:latin typeface="Tahoma" panose="020B0604030504040204" pitchFamily="34" charset="0"/>
              </a:rPr>
              <a:t>自底向上地设计概念结构</a:t>
            </a:r>
            <a:endParaRPr kumimoji="1" lang="zh-CN" altLang="en-US" sz="3200" b="1" i="0" dirty="0">
              <a:solidFill>
                <a:srgbClr val="000066"/>
              </a:solidFill>
              <a:latin typeface="Tahoma" panose="020B0604030504040204" pitchFamily="34" charset="0"/>
            </a:endParaRPr>
          </a:p>
        </p:txBody>
      </p:sp>
      <p:sp>
        <p:nvSpPr>
          <p:cNvPr id="9"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1195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grpSp>
        <p:nvGrpSpPr>
          <p:cNvPr id="7" name="Group 3"/>
          <p:cNvGrpSpPr>
            <a:grpSpLocks/>
          </p:cNvGrpSpPr>
          <p:nvPr/>
        </p:nvGrpSpPr>
        <p:grpSpPr bwMode="auto">
          <a:xfrm>
            <a:off x="2479964" y="3048000"/>
            <a:ext cx="7620000" cy="3048000"/>
            <a:chOff x="672" y="1920"/>
            <a:chExt cx="4800" cy="1920"/>
          </a:xfrm>
        </p:grpSpPr>
        <p:sp>
          <p:nvSpPr>
            <p:cNvPr id="8" name="Rectangle 4"/>
            <p:cNvSpPr>
              <a:spLocks noChangeArrowheads="1"/>
            </p:cNvSpPr>
            <p:nvPr/>
          </p:nvSpPr>
          <p:spPr bwMode="auto">
            <a:xfrm>
              <a:off x="2064" y="3552"/>
              <a:ext cx="1271"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全局概念模式</a:t>
              </a:r>
            </a:p>
          </p:txBody>
        </p:sp>
        <p:sp>
          <p:nvSpPr>
            <p:cNvPr id="9" name="Rectangle 5"/>
            <p:cNvSpPr>
              <a:spLocks noChangeArrowheads="1"/>
            </p:cNvSpPr>
            <p:nvPr/>
          </p:nvSpPr>
          <p:spPr bwMode="auto">
            <a:xfrm>
              <a:off x="1104" y="2928"/>
              <a:ext cx="912"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r>
                <a:rPr kumimoji="1" lang="en-US" altLang="zh-CN" sz="2400" b="1" i="0">
                  <a:solidFill>
                    <a:srgbClr val="000066"/>
                  </a:solidFill>
                  <a:latin typeface="Times New Roman" panose="02020603050405020304" pitchFamily="18" charset="0"/>
                  <a:ea typeface="楷体_GB2312" pitchFamily="49" charset="-122"/>
                </a:rPr>
                <a:t>1</a:t>
              </a:r>
            </a:p>
          </p:txBody>
        </p:sp>
        <p:sp>
          <p:nvSpPr>
            <p:cNvPr id="12" name="Rectangle 6"/>
            <p:cNvSpPr>
              <a:spLocks noChangeArrowheads="1"/>
            </p:cNvSpPr>
            <p:nvPr/>
          </p:nvSpPr>
          <p:spPr bwMode="auto">
            <a:xfrm>
              <a:off x="3696" y="2880"/>
              <a:ext cx="1008"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r>
                <a:rPr kumimoji="1" lang="en-US" altLang="zh-CN" sz="2400" b="1" i="0">
                  <a:solidFill>
                    <a:srgbClr val="000066"/>
                  </a:solidFill>
                  <a:latin typeface="Times New Roman" panose="02020603050405020304" pitchFamily="18" charset="0"/>
                  <a:ea typeface="楷体_GB2312" pitchFamily="49" charset="-122"/>
                </a:rPr>
                <a:t>2</a:t>
              </a:r>
            </a:p>
          </p:txBody>
        </p:sp>
        <p:sp>
          <p:nvSpPr>
            <p:cNvPr id="13" name="Rectangle 7"/>
            <p:cNvSpPr>
              <a:spLocks noChangeArrowheads="1"/>
            </p:cNvSpPr>
            <p:nvPr/>
          </p:nvSpPr>
          <p:spPr bwMode="auto">
            <a:xfrm>
              <a:off x="672" y="2256"/>
              <a:ext cx="1056"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r>
                <a:rPr kumimoji="1" lang="en-US" altLang="zh-CN" sz="2400" b="1" i="0">
                  <a:solidFill>
                    <a:srgbClr val="000066"/>
                  </a:solidFill>
                  <a:latin typeface="Times New Roman" panose="02020603050405020304" pitchFamily="18" charset="0"/>
                  <a:ea typeface="楷体_GB2312" pitchFamily="49" charset="-122"/>
                </a:rPr>
                <a:t>1.1</a:t>
              </a:r>
            </a:p>
          </p:txBody>
        </p:sp>
        <p:sp>
          <p:nvSpPr>
            <p:cNvPr id="14" name="Rectangle 8"/>
            <p:cNvSpPr>
              <a:spLocks noChangeArrowheads="1"/>
            </p:cNvSpPr>
            <p:nvPr/>
          </p:nvSpPr>
          <p:spPr bwMode="auto">
            <a:xfrm>
              <a:off x="1824" y="2256"/>
              <a:ext cx="1008"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r>
                <a:rPr kumimoji="1" lang="en-US" altLang="zh-CN" sz="2400" b="1" i="0">
                  <a:solidFill>
                    <a:srgbClr val="000066"/>
                  </a:solidFill>
                  <a:latin typeface="Times New Roman" panose="02020603050405020304" pitchFamily="18" charset="0"/>
                  <a:ea typeface="楷体_GB2312" pitchFamily="49" charset="-122"/>
                </a:rPr>
                <a:t>1.2</a:t>
              </a:r>
            </a:p>
          </p:txBody>
        </p:sp>
        <p:sp>
          <p:nvSpPr>
            <p:cNvPr id="15" name="Rectangle 9"/>
            <p:cNvSpPr>
              <a:spLocks noChangeArrowheads="1"/>
            </p:cNvSpPr>
            <p:nvPr/>
          </p:nvSpPr>
          <p:spPr bwMode="auto">
            <a:xfrm>
              <a:off x="3264" y="2256"/>
              <a:ext cx="1056"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r>
                <a:rPr kumimoji="1" lang="en-US" altLang="zh-CN" sz="2400" b="1" i="0">
                  <a:solidFill>
                    <a:srgbClr val="000066"/>
                  </a:solidFill>
                  <a:latin typeface="Times New Roman" panose="02020603050405020304" pitchFamily="18" charset="0"/>
                  <a:ea typeface="楷体_GB2312" pitchFamily="49" charset="-122"/>
                </a:rPr>
                <a:t>n.1</a:t>
              </a:r>
            </a:p>
          </p:txBody>
        </p:sp>
        <p:sp>
          <p:nvSpPr>
            <p:cNvPr id="16" name="Rectangle 10"/>
            <p:cNvSpPr>
              <a:spLocks noChangeArrowheads="1"/>
            </p:cNvSpPr>
            <p:nvPr/>
          </p:nvSpPr>
          <p:spPr bwMode="auto">
            <a:xfrm>
              <a:off x="4416" y="2256"/>
              <a:ext cx="1056" cy="288"/>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概念模式</a:t>
              </a:r>
              <a:r>
                <a:rPr kumimoji="1" lang="en-US" altLang="zh-CN" sz="2400" b="1" i="0">
                  <a:solidFill>
                    <a:srgbClr val="000066"/>
                  </a:solidFill>
                  <a:latin typeface="Times New Roman" panose="02020603050405020304" pitchFamily="18" charset="0"/>
                  <a:ea typeface="楷体_GB2312" pitchFamily="49" charset="-122"/>
                </a:rPr>
                <a:t>n.2</a:t>
              </a:r>
            </a:p>
          </p:txBody>
        </p:sp>
        <p:sp>
          <p:nvSpPr>
            <p:cNvPr id="17" name="Line 11"/>
            <p:cNvSpPr>
              <a:spLocks noChangeShapeType="1"/>
            </p:cNvSpPr>
            <p:nvPr/>
          </p:nvSpPr>
          <p:spPr bwMode="auto">
            <a:xfrm>
              <a:off x="1104" y="1968"/>
              <a:ext cx="0"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Line 12"/>
            <p:cNvSpPr>
              <a:spLocks noChangeShapeType="1"/>
            </p:cNvSpPr>
            <p:nvPr/>
          </p:nvSpPr>
          <p:spPr bwMode="auto">
            <a:xfrm flipH="1">
              <a:off x="4224" y="2544"/>
              <a:ext cx="672"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13"/>
            <p:cNvSpPr>
              <a:spLocks noChangeShapeType="1"/>
            </p:cNvSpPr>
            <p:nvPr/>
          </p:nvSpPr>
          <p:spPr bwMode="auto">
            <a:xfrm>
              <a:off x="1104" y="2544"/>
              <a:ext cx="336"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14"/>
            <p:cNvSpPr>
              <a:spLocks noChangeShapeType="1"/>
            </p:cNvSpPr>
            <p:nvPr/>
          </p:nvSpPr>
          <p:spPr bwMode="auto">
            <a:xfrm>
              <a:off x="1488" y="3216"/>
              <a:ext cx="1152"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15"/>
            <p:cNvSpPr>
              <a:spLocks noChangeShapeType="1"/>
            </p:cNvSpPr>
            <p:nvPr/>
          </p:nvSpPr>
          <p:spPr bwMode="auto">
            <a:xfrm flipH="1">
              <a:off x="2832" y="3168"/>
              <a:ext cx="1248"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6"/>
            <p:cNvSpPr>
              <a:spLocks noChangeShapeType="1"/>
            </p:cNvSpPr>
            <p:nvPr/>
          </p:nvSpPr>
          <p:spPr bwMode="auto">
            <a:xfrm>
              <a:off x="3648" y="2544"/>
              <a:ext cx="576"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Rectangle 17"/>
            <p:cNvSpPr>
              <a:spLocks noChangeArrowheads="1"/>
            </p:cNvSpPr>
            <p:nvPr/>
          </p:nvSpPr>
          <p:spPr bwMode="auto">
            <a:xfrm>
              <a:off x="2640" y="2976"/>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rgbClr val="000066"/>
                  </a:solidFill>
                  <a:latin typeface="Times New Roman" panose="02020603050405020304" pitchFamily="18" charset="0"/>
                  <a:ea typeface="楷体_GB2312" pitchFamily="49" charset="-122"/>
                </a:rPr>
                <a:t>…</a:t>
              </a:r>
            </a:p>
          </p:txBody>
        </p:sp>
        <p:sp>
          <p:nvSpPr>
            <p:cNvPr id="25" name="Rectangle 18"/>
            <p:cNvSpPr>
              <a:spLocks noChangeArrowheads="1"/>
            </p:cNvSpPr>
            <p:nvPr/>
          </p:nvSpPr>
          <p:spPr bwMode="auto">
            <a:xfrm>
              <a:off x="2640" y="2256"/>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rgbClr val="000066"/>
                  </a:solidFill>
                  <a:latin typeface="Times New Roman" panose="02020603050405020304" pitchFamily="18" charset="0"/>
                  <a:ea typeface="楷体_GB2312" pitchFamily="49" charset="-122"/>
                </a:rPr>
                <a:t>…</a:t>
              </a:r>
            </a:p>
          </p:txBody>
        </p:sp>
        <p:sp>
          <p:nvSpPr>
            <p:cNvPr id="26" name="Line 19"/>
            <p:cNvSpPr>
              <a:spLocks noChangeShapeType="1"/>
            </p:cNvSpPr>
            <p:nvPr/>
          </p:nvSpPr>
          <p:spPr bwMode="auto">
            <a:xfrm>
              <a:off x="2304" y="1968"/>
              <a:ext cx="0"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0"/>
            <p:cNvSpPr>
              <a:spLocks noChangeShapeType="1"/>
            </p:cNvSpPr>
            <p:nvPr/>
          </p:nvSpPr>
          <p:spPr bwMode="auto">
            <a:xfrm>
              <a:off x="3648" y="1968"/>
              <a:ext cx="0"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1"/>
            <p:cNvSpPr>
              <a:spLocks noChangeShapeType="1"/>
            </p:cNvSpPr>
            <p:nvPr/>
          </p:nvSpPr>
          <p:spPr bwMode="auto">
            <a:xfrm>
              <a:off x="4800" y="1920"/>
              <a:ext cx="0"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2"/>
            <p:cNvSpPr>
              <a:spLocks noChangeShapeType="1"/>
            </p:cNvSpPr>
            <p:nvPr/>
          </p:nvSpPr>
          <p:spPr bwMode="auto">
            <a:xfrm flipH="1">
              <a:off x="1632" y="2544"/>
              <a:ext cx="576"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0" name="Group 23"/>
          <p:cNvGrpSpPr>
            <a:grpSpLocks/>
          </p:cNvGrpSpPr>
          <p:nvPr/>
        </p:nvGrpSpPr>
        <p:grpSpPr bwMode="auto">
          <a:xfrm>
            <a:off x="2327564" y="914400"/>
            <a:ext cx="7391400" cy="2286000"/>
            <a:chOff x="576" y="576"/>
            <a:chExt cx="4656" cy="1440"/>
          </a:xfrm>
        </p:grpSpPr>
        <p:sp>
          <p:nvSpPr>
            <p:cNvPr id="31" name="AutoShape 24"/>
            <p:cNvSpPr>
              <a:spLocks noChangeArrowheads="1"/>
            </p:cNvSpPr>
            <p:nvPr/>
          </p:nvSpPr>
          <p:spPr bwMode="auto">
            <a:xfrm>
              <a:off x="576" y="1584"/>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dirty="0">
                  <a:solidFill>
                    <a:srgbClr val="000066"/>
                  </a:solidFill>
                  <a:latin typeface="Times New Roman" panose="02020603050405020304" pitchFamily="18" charset="0"/>
                  <a:ea typeface="楷体_GB2312" pitchFamily="49" charset="-122"/>
                </a:rPr>
                <a:t>需求</a:t>
              </a:r>
              <a:r>
                <a:rPr kumimoji="1" lang="en-US" altLang="zh-CN" sz="2400" b="1" i="0" dirty="0">
                  <a:solidFill>
                    <a:srgbClr val="000066"/>
                  </a:solidFill>
                  <a:latin typeface="Times New Roman" panose="02020603050405020304" pitchFamily="18" charset="0"/>
                  <a:ea typeface="楷体_GB2312" pitchFamily="49" charset="-122"/>
                </a:rPr>
                <a:t>1.1</a:t>
              </a:r>
            </a:p>
          </p:txBody>
        </p:sp>
        <p:sp>
          <p:nvSpPr>
            <p:cNvPr id="32" name="AutoShape 25"/>
            <p:cNvSpPr>
              <a:spLocks noChangeArrowheads="1"/>
            </p:cNvSpPr>
            <p:nvPr/>
          </p:nvSpPr>
          <p:spPr bwMode="auto">
            <a:xfrm>
              <a:off x="1824" y="1584"/>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a:t>
              </a:r>
              <a:r>
                <a:rPr kumimoji="1" lang="en-US" altLang="zh-CN" sz="2400" b="1" i="0">
                  <a:solidFill>
                    <a:srgbClr val="000066"/>
                  </a:solidFill>
                  <a:latin typeface="Times New Roman" panose="02020603050405020304" pitchFamily="18" charset="0"/>
                  <a:ea typeface="楷体_GB2312" pitchFamily="49" charset="-122"/>
                </a:rPr>
                <a:t>1.2</a:t>
              </a:r>
            </a:p>
          </p:txBody>
        </p:sp>
        <p:sp>
          <p:nvSpPr>
            <p:cNvPr id="33" name="AutoShape 26"/>
            <p:cNvSpPr>
              <a:spLocks noChangeArrowheads="1"/>
            </p:cNvSpPr>
            <p:nvPr/>
          </p:nvSpPr>
          <p:spPr bwMode="auto">
            <a:xfrm>
              <a:off x="3120" y="1584"/>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a:t>
              </a:r>
              <a:r>
                <a:rPr kumimoji="1" lang="en-US" altLang="zh-CN" sz="2400" b="1" i="0">
                  <a:solidFill>
                    <a:srgbClr val="000066"/>
                  </a:solidFill>
                  <a:latin typeface="Times New Roman" panose="02020603050405020304" pitchFamily="18" charset="0"/>
                  <a:ea typeface="楷体_GB2312" pitchFamily="49" charset="-122"/>
                </a:rPr>
                <a:t>n.1</a:t>
              </a:r>
            </a:p>
          </p:txBody>
        </p:sp>
        <p:sp>
          <p:nvSpPr>
            <p:cNvPr id="34" name="AutoShape 27"/>
            <p:cNvSpPr>
              <a:spLocks noChangeArrowheads="1"/>
            </p:cNvSpPr>
            <p:nvPr/>
          </p:nvSpPr>
          <p:spPr bwMode="auto">
            <a:xfrm>
              <a:off x="4224" y="1536"/>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a:t>
              </a:r>
              <a:r>
                <a:rPr kumimoji="1" lang="en-US" altLang="zh-CN" sz="2400" b="1" i="0">
                  <a:solidFill>
                    <a:srgbClr val="000066"/>
                  </a:solidFill>
                  <a:latin typeface="Times New Roman" panose="02020603050405020304" pitchFamily="18" charset="0"/>
                  <a:ea typeface="楷体_GB2312" pitchFamily="49" charset="-122"/>
                </a:rPr>
                <a:t>n.2</a:t>
              </a:r>
            </a:p>
          </p:txBody>
        </p:sp>
        <p:sp>
          <p:nvSpPr>
            <p:cNvPr id="35" name="AutoShape 28"/>
            <p:cNvSpPr>
              <a:spLocks noChangeArrowheads="1"/>
            </p:cNvSpPr>
            <p:nvPr/>
          </p:nvSpPr>
          <p:spPr bwMode="auto">
            <a:xfrm>
              <a:off x="1344" y="1008"/>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a:t>
              </a:r>
              <a:r>
                <a:rPr kumimoji="1" lang="en-US" altLang="zh-CN" sz="2400" b="1" i="0">
                  <a:solidFill>
                    <a:srgbClr val="000066"/>
                  </a:solidFill>
                  <a:latin typeface="Times New Roman" panose="02020603050405020304" pitchFamily="18" charset="0"/>
                  <a:ea typeface="楷体_GB2312" pitchFamily="49" charset="-122"/>
                </a:rPr>
                <a:t>1</a:t>
              </a:r>
            </a:p>
          </p:txBody>
        </p:sp>
        <p:sp>
          <p:nvSpPr>
            <p:cNvPr id="36" name="AutoShape 29"/>
            <p:cNvSpPr>
              <a:spLocks noChangeArrowheads="1"/>
            </p:cNvSpPr>
            <p:nvPr/>
          </p:nvSpPr>
          <p:spPr bwMode="auto">
            <a:xfrm>
              <a:off x="3504" y="1008"/>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a:t>
              </a:r>
              <a:r>
                <a:rPr kumimoji="1" lang="en-US" altLang="zh-CN" sz="2400" b="1" i="0">
                  <a:solidFill>
                    <a:srgbClr val="000066"/>
                  </a:solidFill>
                  <a:latin typeface="Times New Roman" panose="02020603050405020304" pitchFamily="18" charset="0"/>
                  <a:ea typeface="楷体_GB2312" pitchFamily="49" charset="-122"/>
                </a:rPr>
                <a:t>n</a:t>
              </a:r>
            </a:p>
          </p:txBody>
        </p:sp>
        <p:sp>
          <p:nvSpPr>
            <p:cNvPr id="37" name="AutoShape 30"/>
            <p:cNvSpPr>
              <a:spLocks noChangeArrowheads="1"/>
            </p:cNvSpPr>
            <p:nvPr/>
          </p:nvSpPr>
          <p:spPr bwMode="auto">
            <a:xfrm>
              <a:off x="2448" y="576"/>
              <a:ext cx="1008" cy="432"/>
            </a:xfrm>
            <a:prstGeom prst="irregularSeal2">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a:t>
              </a:r>
            </a:p>
          </p:txBody>
        </p:sp>
        <p:sp>
          <p:nvSpPr>
            <p:cNvPr id="38" name="Line 31"/>
            <p:cNvSpPr>
              <a:spLocks noChangeShapeType="1"/>
            </p:cNvSpPr>
            <p:nvPr/>
          </p:nvSpPr>
          <p:spPr bwMode="auto">
            <a:xfrm flipH="1">
              <a:off x="2016" y="960"/>
              <a:ext cx="768" cy="14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2"/>
            <p:cNvSpPr>
              <a:spLocks noChangeShapeType="1"/>
            </p:cNvSpPr>
            <p:nvPr/>
          </p:nvSpPr>
          <p:spPr bwMode="auto">
            <a:xfrm>
              <a:off x="3264" y="864"/>
              <a:ext cx="528" cy="24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3"/>
            <p:cNvSpPr>
              <a:spLocks noChangeShapeType="1"/>
            </p:cNvSpPr>
            <p:nvPr/>
          </p:nvSpPr>
          <p:spPr bwMode="auto">
            <a:xfrm flipH="1">
              <a:off x="1248" y="1392"/>
              <a:ext cx="480"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34"/>
            <p:cNvSpPr>
              <a:spLocks noChangeShapeType="1"/>
            </p:cNvSpPr>
            <p:nvPr/>
          </p:nvSpPr>
          <p:spPr bwMode="auto">
            <a:xfrm>
              <a:off x="1872" y="1392"/>
              <a:ext cx="384"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35"/>
            <p:cNvSpPr>
              <a:spLocks noChangeShapeType="1"/>
            </p:cNvSpPr>
            <p:nvPr/>
          </p:nvSpPr>
          <p:spPr bwMode="auto">
            <a:xfrm flipH="1">
              <a:off x="3408" y="1392"/>
              <a:ext cx="432" cy="288"/>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36"/>
            <p:cNvSpPr>
              <a:spLocks noChangeShapeType="1"/>
            </p:cNvSpPr>
            <p:nvPr/>
          </p:nvSpPr>
          <p:spPr bwMode="auto">
            <a:xfrm>
              <a:off x="4080" y="1344"/>
              <a:ext cx="528" cy="336"/>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Rectangle 37"/>
            <p:cNvSpPr>
              <a:spLocks noChangeArrowheads="1"/>
            </p:cNvSpPr>
            <p:nvPr/>
          </p:nvSpPr>
          <p:spPr bwMode="auto">
            <a:xfrm>
              <a:off x="2640" y="1632"/>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rgbClr val="000066"/>
                  </a:solidFill>
                  <a:latin typeface="Times New Roman" panose="02020603050405020304" pitchFamily="18" charset="0"/>
                  <a:ea typeface="楷体_GB2312" pitchFamily="49" charset="-122"/>
                </a:rPr>
                <a:t>…</a:t>
              </a:r>
            </a:p>
          </p:txBody>
        </p:sp>
        <p:sp>
          <p:nvSpPr>
            <p:cNvPr id="45" name="Rectangle 38"/>
            <p:cNvSpPr>
              <a:spLocks noChangeArrowheads="1"/>
            </p:cNvSpPr>
            <p:nvPr/>
          </p:nvSpPr>
          <p:spPr bwMode="auto">
            <a:xfrm>
              <a:off x="2640" y="1104"/>
              <a:ext cx="72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800" b="1" i="0">
                  <a:solidFill>
                    <a:srgbClr val="000066"/>
                  </a:solidFill>
                  <a:latin typeface="Times New Roman" panose="02020603050405020304" pitchFamily="18" charset="0"/>
                  <a:ea typeface="楷体_GB2312" pitchFamily="49" charset="-122"/>
                </a:rPr>
                <a:t>…</a:t>
              </a:r>
            </a:p>
          </p:txBody>
        </p:sp>
      </p:grpSp>
      <p:sp>
        <p:nvSpPr>
          <p:cNvPr id="47" name="Line 40"/>
          <p:cNvSpPr>
            <a:spLocks noChangeShapeType="1"/>
          </p:cNvSpPr>
          <p:nvPr/>
        </p:nvSpPr>
        <p:spPr bwMode="auto">
          <a:xfrm>
            <a:off x="1188452" y="3352800"/>
            <a:ext cx="914400"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FF0000"/>
              </a:solidFill>
            </a:endParaRPr>
          </a:p>
        </p:txBody>
      </p:sp>
      <p:sp>
        <p:nvSpPr>
          <p:cNvPr id="48" name="Line 41"/>
          <p:cNvSpPr>
            <a:spLocks noChangeShapeType="1"/>
          </p:cNvSpPr>
          <p:nvPr/>
        </p:nvSpPr>
        <p:spPr bwMode="auto">
          <a:xfrm flipV="1">
            <a:off x="1648232" y="2514600"/>
            <a:ext cx="0" cy="762000"/>
          </a:xfrm>
          <a:prstGeom prst="line">
            <a:avLst/>
          </a:prstGeom>
          <a:noFill/>
          <a:ln w="25400">
            <a:solidFill>
              <a:srgbClr val="00B05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rgbClr val="FF0000"/>
              </a:solidFill>
            </a:endParaRPr>
          </a:p>
        </p:txBody>
      </p:sp>
      <p:sp>
        <p:nvSpPr>
          <p:cNvPr id="49" name="Line 42"/>
          <p:cNvSpPr>
            <a:spLocks noChangeShapeType="1"/>
          </p:cNvSpPr>
          <p:nvPr/>
        </p:nvSpPr>
        <p:spPr bwMode="auto">
          <a:xfrm>
            <a:off x="1188452" y="990600"/>
            <a:ext cx="914400"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FF0000"/>
              </a:solidFill>
            </a:endParaRPr>
          </a:p>
        </p:txBody>
      </p:sp>
      <p:sp>
        <p:nvSpPr>
          <p:cNvPr id="50" name="Line 43"/>
          <p:cNvSpPr>
            <a:spLocks noChangeShapeType="1"/>
          </p:cNvSpPr>
          <p:nvPr/>
        </p:nvSpPr>
        <p:spPr bwMode="auto">
          <a:xfrm>
            <a:off x="1648232" y="990600"/>
            <a:ext cx="0" cy="762000"/>
          </a:xfrm>
          <a:prstGeom prst="line">
            <a:avLst/>
          </a:prstGeom>
          <a:noFill/>
          <a:ln w="25400">
            <a:solidFill>
              <a:srgbClr val="00B05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rgbClr val="FF0000"/>
              </a:solidFill>
            </a:endParaRPr>
          </a:p>
        </p:txBody>
      </p:sp>
      <p:sp>
        <p:nvSpPr>
          <p:cNvPr id="51" name="Rectangle 44"/>
          <p:cNvSpPr>
            <a:spLocks noChangeArrowheads="1"/>
          </p:cNvSpPr>
          <p:nvPr/>
        </p:nvSpPr>
        <p:spPr bwMode="auto">
          <a:xfrm>
            <a:off x="1114832" y="1905000"/>
            <a:ext cx="1371600" cy="533400"/>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lnSpc>
                <a:spcPct val="95000"/>
              </a:lnSpc>
              <a:spcBef>
                <a:spcPct val="5000"/>
              </a:spcBef>
              <a:buClr>
                <a:schemeClr val="bg2"/>
              </a:buClr>
              <a:buFont typeface="Monotype Sorts" pitchFamily="2" charset="2"/>
              <a:buNone/>
            </a:pPr>
            <a:r>
              <a:rPr kumimoji="1" lang="zh-CN" altLang="en-US" sz="2400" b="1" i="0" dirty="0">
                <a:solidFill>
                  <a:srgbClr val="FF0000"/>
                </a:solidFill>
                <a:latin typeface="Times New Roman" panose="02020603050405020304" pitchFamily="18" charset="0"/>
                <a:ea typeface="楷体_GB2312" pitchFamily="49" charset="-122"/>
              </a:rPr>
              <a:t>需求分析</a:t>
            </a:r>
          </a:p>
          <a:p>
            <a:pPr algn="ctr" eaLnBrk="1" hangingPunct="1">
              <a:lnSpc>
                <a:spcPct val="95000"/>
              </a:lnSpc>
              <a:spcBef>
                <a:spcPct val="5000"/>
              </a:spcBef>
              <a:buClr>
                <a:schemeClr val="bg2"/>
              </a:buClr>
              <a:buFont typeface="Monotype Sorts" pitchFamily="2" charset="2"/>
              <a:buNone/>
            </a:pPr>
            <a:r>
              <a:rPr kumimoji="1" lang="zh-CN" altLang="en-US" sz="2400" b="1" i="0" dirty="0">
                <a:solidFill>
                  <a:srgbClr val="FF0000"/>
                </a:solidFill>
                <a:latin typeface="Times New Roman" panose="02020603050405020304" pitchFamily="18" charset="0"/>
                <a:ea typeface="楷体_GB2312" pitchFamily="49" charset="-122"/>
              </a:rPr>
              <a:t>自顶向下</a:t>
            </a:r>
          </a:p>
        </p:txBody>
      </p:sp>
      <p:sp>
        <p:nvSpPr>
          <p:cNvPr id="53" name="Line 46"/>
          <p:cNvSpPr>
            <a:spLocks noChangeShapeType="1"/>
          </p:cNvSpPr>
          <p:nvPr/>
        </p:nvSpPr>
        <p:spPr bwMode="auto">
          <a:xfrm>
            <a:off x="1648232" y="3276600"/>
            <a:ext cx="0" cy="1066800"/>
          </a:xfrm>
          <a:prstGeom prst="line">
            <a:avLst/>
          </a:prstGeom>
          <a:noFill/>
          <a:ln w="25400">
            <a:solidFill>
              <a:srgbClr val="00B05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rgbClr val="FF0000"/>
              </a:solidFill>
            </a:endParaRPr>
          </a:p>
        </p:txBody>
      </p:sp>
      <p:sp>
        <p:nvSpPr>
          <p:cNvPr id="54" name="Line 47"/>
          <p:cNvSpPr>
            <a:spLocks noChangeShapeType="1"/>
          </p:cNvSpPr>
          <p:nvPr/>
        </p:nvSpPr>
        <p:spPr bwMode="auto">
          <a:xfrm>
            <a:off x="1188452" y="6096000"/>
            <a:ext cx="914400" cy="0"/>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FF0000"/>
              </a:solidFill>
            </a:endParaRPr>
          </a:p>
        </p:txBody>
      </p:sp>
      <p:sp>
        <p:nvSpPr>
          <p:cNvPr id="55" name="Line 48"/>
          <p:cNvSpPr>
            <a:spLocks noChangeShapeType="1"/>
          </p:cNvSpPr>
          <p:nvPr/>
        </p:nvSpPr>
        <p:spPr bwMode="auto">
          <a:xfrm flipV="1">
            <a:off x="1648232" y="5029200"/>
            <a:ext cx="0" cy="1066800"/>
          </a:xfrm>
          <a:prstGeom prst="line">
            <a:avLst/>
          </a:prstGeom>
          <a:noFill/>
          <a:ln w="25400">
            <a:solidFill>
              <a:srgbClr val="00B05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rgbClr val="FF0000"/>
              </a:solidFill>
            </a:endParaRPr>
          </a:p>
        </p:txBody>
      </p:sp>
      <p:sp>
        <p:nvSpPr>
          <p:cNvPr id="56" name="Rectangle 49"/>
          <p:cNvSpPr>
            <a:spLocks noChangeArrowheads="1"/>
          </p:cNvSpPr>
          <p:nvPr/>
        </p:nvSpPr>
        <p:spPr bwMode="auto">
          <a:xfrm>
            <a:off x="1191032" y="4419600"/>
            <a:ext cx="1371600" cy="533400"/>
          </a:xfrm>
          <a:prstGeom prst="rect">
            <a:avLst/>
          </a:prstGeom>
          <a:noFill/>
          <a:ln w="1905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lnSpc>
                <a:spcPct val="95000"/>
              </a:lnSpc>
              <a:spcBef>
                <a:spcPct val="5000"/>
              </a:spcBef>
              <a:buClr>
                <a:schemeClr val="bg2"/>
              </a:buClr>
              <a:buFont typeface="Monotype Sorts" pitchFamily="2" charset="2"/>
              <a:buNone/>
            </a:pPr>
            <a:r>
              <a:rPr kumimoji="1" lang="zh-CN" altLang="en-US" sz="2400" b="1" i="0" dirty="0">
                <a:solidFill>
                  <a:srgbClr val="FF0000"/>
                </a:solidFill>
                <a:latin typeface="Times New Roman" panose="02020603050405020304" pitchFamily="18" charset="0"/>
                <a:ea typeface="楷体_GB2312" pitchFamily="49" charset="-122"/>
              </a:rPr>
              <a:t>概念结构设计</a:t>
            </a:r>
          </a:p>
          <a:p>
            <a:pPr algn="ctr" eaLnBrk="1" hangingPunct="1">
              <a:lnSpc>
                <a:spcPct val="95000"/>
              </a:lnSpc>
              <a:spcBef>
                <a:spcPct val="5000"/>
              </a:spcBef>
              <a:buClr>
                <a:schemeClr val="bg2"/>
              </a:buClr>
              <a:buFont typeface="Monotype Sorts" pitchFamily="2" charset="2"/>
              <a:buNone/>
            </a:pPr>
            <a:r>
              <a:rPr kumimoji="1" lang="zh-CN" altLang="en-US" sz="2400" b="1" i="0" dirty="0">
                <a:solidFill>
                  <a:srgbClr val="FF0000"/>
                </a:solidFill>
                <a:latin typeface="Times New Roman" panose="02020603050405020304" pitchFamily="18" charset="0"/>
                <a:ea typeface="楷体_GB2312" pitchFamily="49" charset="-122"/>
              </a:rPr>
              <a:t>自底向上</a:t>
            </a:r>
          </a:p>
        </p:txBody>
      </p:sp>
      <p:sp>
        <p:nvSpPr>
          <p:cNvPr id="52"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5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58" name="直接连接符 5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99615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a:spLocks noChangeArrowheads="1"/>
          </p:cNvSpPr>
          <p:nvPr/>
        </p:nvSpPr>
        <p:spPr bwMode="auto">
          <a:xfrm>
            <a:off x="1122221" y="1066800"/>
            <a:ext cx="7848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indent="0" eaLnBrk="1" hangingPunct="1">
              <a:lnSpc>
                <a:spcPct val="90000"/>
              </a:lnSpc>
              <a:spcBef>
                <a:spcPct val="20000"/>
              </a:spcBef>
              <a:buClr>
                <a:srgbClr val="FFFF66"/>
              </a:buClr>
              <a:buSzPct val="75000"/>
            </a:pPr>
            <a:r>
              <a:rPr kumimoji="1" lang="zh-CN" altLang="en-US" sz="3200" b="1" i="0" dirty="0">
                <a:solidFill>
                  <a:srgbClr val="CC3300"/>
                </a:solidFill>
                <a:latin typeface="Tahoma" panose="020B0604030504040204" pitchFamily="34" charset="0"/>
              </a:rPr>
              <a:t>自底向上概念结构设计步骤：</a:t>
            </a:r>
          </a:p>
          <a:p>
            <a:pPr lvl="1" eaLnBrk="1" hangingPunct="1">
              <a:spcBef>
                <a:spcPct val="20000"/>
              </a:spcBef>
              <a:buClr>
                <a:schemeClr val="hlink"/>
              </a:buClr>
              <a:buSzPct val="55000"/>
              <a:buFont typeface="Wingdings" panose="05000000000000000000" pitchFamily="2" charset="2"/>
              <a:buChar char="n"/>
            </a:pPr>
            <a:r>
              <a:rPr kumimoji="1" lang="zh-CN" altLang="en-US" sz="2800" b="1" i="0" dirty="0">
                <a:solidFill>
                  <a:srgbClr val="000066"/>
                </a:solidFill>
                <a:latin typeface="Tahoma" panose="020B0604030504040204" pitchFamily="34" charset="0"/>
              </a:rPr>
              <a:t>第</a:t>
            </a:r>
            <a:r>
              <a:rPr kumimoji="1" lang="en-US" altLang="zh-CN" sz="2800" b="1" i="0" dirty="0">
                <a:solidFill>
                  <a:srgbClr val="000066"/>
                </a:solidFill>
                <a:latin typeface="Tahoma" panose="020B0604030504040204" pitchFamily="34" charset="0"/>
              </a:rPr>
              <a:t>1</a:t>
            </a:r>
            <a:r>
              <a:rPr kumimoji="1" lang="zh-CN" altLang="en-US" sz="2800" b="1" i="0" dirty="0">
                <a:solidFill>
                  <a:srgbClr val="000066"/>
                </a:solidFill>
                <a:latin typeface="Tahoma" panose="020B0604030504040204" pitchFamily="34" charset="0"/>
              </a:rPr>
              <a:t>步：抽象数据并设计局部视图</a:t>
            </a:r>
          </a:p>
          <a:p>
            <a:pPr lvl="1" eaLnBrk="1" hangingPunct="1">
              <a:spcBef>
                <a:spcPct val="20000"/>
              </a:spcBef>
              <a:buClr>
                <a:schemeClr val="hlink"/>
              </a:buClr>
              <a:buSzPct val="55000"/>
              <a:buFont typeface="Wingdings" panose="05000000000000000000" pitchFamily="2" charset="2"/>
              <a:buChar char="n"/>
            </a:pPr>
            <a:r>
              <a:rPr kumimoji="1" lang="zh-CN" altLang="en-US" sz="2800" b="1" i="0" dirty="0">
                <a:solidFill>
                  <a:srgbClr val="000066"/>
                </a:solidFill>
                <a:latin typeface="Tahoma" panose="020B0604030504040204" pitchFamily="34" charset="0"/>
              </a:rPr>
              <a:t>第</a:t>
            </a:r>
            <a:r>
              <a:rPr kumimoji="1" lang="en-US" altLang="zh-CN" sz="2800" b="1" i="0" dirty="0">
                <a:solidFill>
                  <a:srgbClr val="000066"/>
                </a:solidFill>
                <a:latin typeface="Tahoma" panose="020B0604030504040204" pitchFamily="34" charset="0"/>
              </a:rPr>
              <a:t>2</a:t>
            </a:r>
            <a:r>
              <a:rPr kumimoji="1" lang="zh-CN" altLang="en-US" sz="2800" b="1" i="0" dirty="0">
                <a:solidFill>
                  <a:srgbClr val="000066"/>
                </a:solidFill>
                <a:latin typeface="Tahoma" panose="020B0604030504040204" pitchFamily="34" charset="0"/>
              </a:rPr>
              <a:t>步：集成局部视图，得到全局概念结构</a:t>
            </a:r>
          </a:p>
        </p:txBody>
      </p:sp>
      <p:grpSp>
        <p:nvGrpSpPr>
          <p:cNvPr id="8" name="Group 4"/>
          <p:cNvGrpSpPr>
            <a:grpSpLocks/>
          </p:cNvGrpSpPr>
          <p:nvPr/>
        </p:nvGrpSpPr>
        <p:grpSpPr bwMode="auto">
          <a:xfrm>
            <a:off x="1274621" y="2667000"/>
            <a:ext cx="7696200" cy="3581400"/>
            <a:chOff x="384" y="1632"/>
            <a:chExt cx="4848" cy="2256"/>
          </a:xfrm>
        </p:grpSpPr>
        <p:sp>
          <p:nvSpPr>
            <p:cNvPr id="9" name="Rectangle 5"/>
            <p:cNvSpPr>
              <a:spLocks noChangeArrowheads="1"/>
            </p:cNvSpPr>
            <p:nvPr/>
          </p:nvSpPr>
          <p:spPr bwMode="auto">
            <a:xfrm>
              <a:off x="1728" y="2112"/>
              <a:ext cx="1440" cy="480"/>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数据抽象、</a:t>
              </a:r>
            </a:p>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局部视图的设计</a:t>
              </a:r>
            </a:p>
          </p:txBody>
        </p:sp>
        <p:sp>
          <p:nvSpPr>
            <p:cNvPr id="12" name="Rectangle 6"/>
            <p:cNvSpPr>
              <a:spLocks noChangeArrowheads="1"/>
            </p:cNvSpPr>
            <p:nvPr/>
          </p:nvSpPr>
          <p:spPr bwMode="auto">
            <a:xfrm>
              <a:off x="1728" y="2976"/>
              <a:ext cx="1440" cy="384"/>
            </a:xfrm>
            <a:prstGeom prst="rec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视图集成</a:t>
              </a:r>
            </a:p>
          </p:txBody>
        </p:sp>
        <p:sp>
          <p:nvSpPr>
            <p:cNvPr id="13" name="Rectangle 7"/>
            <p:cNvSpPr>
              <a:spLocks noChangeArrowheads="1"/>
            </p:cNvSpPr>
            <p:nvPr/>
          </p:nvSpPr>
          <p:spPr bwMode="auto">
            <a:xfrm>
              <a:off x="1776" y="1632"/>
              <a:ext cx="14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需求分析</a:t>
              </a:r>
            </a:p>
          </p:txBody>
        </p:sp>
        <p:sp>
          <p:nvSpPr>
            <p:cNvPr id="14" name="Rectangle 8"/>
            <p:cNvSpPr>
              <a:spLocks noChangeArrowheads="1"/>
            </p:cNvSpPr>
            <p:nvPr/>
          </p:nvSpPr>
          <p:spPr bwMode="auto">
            <a:xfrm>
              <a:off x="1776" y="3504"/>
              <a:ext cx="144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逻辑结构设计</a:t>
              </a:r>
            </a:p>
          </p:txBody>
        </p:sp>
        <p:sp>
          <p:nvSpPr>
            <p:cNvPr id="15" name="Rectangle 9"/>
            <p:cNvSpPr>
              <a:spLocks noChangeArrowheads="1"/>
            </p:cNvSpPr>
            <p:nvPr/>
          </p:nvSpPr>
          <p:spPr bwMode="auto">
            <a:xfrm>
              <a:off x="384" y="2352"/>
              <a:ext cx="120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返回用户，</a:t>
              </a:r>
            </a:p>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征求意见直</a:t>
              </a:r>
            </a:p>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到满意为止</a:t>
              </a:r>
            </a:p>
          </p:txBody>
        </p:sp>
        <p:sp>
          <p:nvSpPr>
            <p:cNvPr id="16" name="AutoShape 10"/>
            <p:cNvSpPr>
              <a:spLocks noChangeArrowheads="1"/>
            </p:cNvSpPr>
            <p:nvPr/>
          </p:nvSpPr>
          <p:spPr bwMode="auto">
            <a:xfrm>
              <a:off x="3888" y="1680"/>
              <a:ext cx="1344" cy="288"/>
            </a:xfrm>
            <a:prstGeom prst="flowChartInputOutpu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DFD</a:t>
              </a:r>
              <a:r>
                <a:rPr kumimoji="1" lang="zh-CN" altLang="en-US" sz="2400" b="1" i="0">
                  <a:solidFill>
                    <a:srgbClr val="000066"/>
                  </a:solidFill>
                  <a:latin typeface="Times New Roman" panose="02020603050405020304" pitchFamily="18" charset="0"/>
                  <a:ea typeface="楷体_GB2312" pitchFamily="49" charset="-122"/>
                </a:rPr>
                <a:t>、</a:t>
              </a:r>
              <a:r>
                <a:rPr kumimoji="1" lang="en-US" altLang="zh-CN" sz="2400" b="1" i="0">
                  <a:solidFill>
                    <a:srgbClr val="000066"/>
                  </a:solidFill>
                  <a:latin typeface="Times New Roman" panose="02020603050405020304" pitchFamily="18" charset="0"/>
                  <a:ea typeface="楷体_GB2312" pitchFamily="49" charset="-122"/>
                </a:rPr>
                <a:t>DD</a:t>
              </a:r>
            </a:p>
          </p:txBody>
        </p:sp>
        <p:sp>
          <p:nvSpPr>
            <p:cNvPr id="17" name="AutoShape 11"/>
            <p:cNvSpPr>
              <a:spLocks noChangeArrowheads="1"/>
            </p:cNvSpPr>
            <p:nvPr/>
          </p:nvSpPr>
          <p:spPr bwMode="auto">
            <a:xfrm>
              <a:off x="3840" y="2208"/>
              <a:ext cx="1344" cy="288"/>
            </a:xfrm>
            <a:prstGeom prst="flowChartInputOutpu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分</a:t>
              </a:r>
              <a:r>
                <a:rPr kumimoji="1" lang="en-US" altLang="zh-CN" sz="2400" b="1" i="0">
                  <a:solidFill>
                    <a:srgbClr val="000066"/>
                  </a:solidFill>
                  <a:latin typeface="Times New Roman" panose="02020603050405020304" pitchFamily="18" charset="0"/>
                  <a:ea typeface="楷体_GB2312" pitchFamily="49" charset="-122"/>
                </a:rPr>
                <a:t>E</a:t>
              </a:r>
              <a:r>
                <a:rPr kumimoji="1" lang="zh-CN" altLang="en-US" sz="2400" b="1" i="0">
                  <a:solidFill>
                    <a:srgbClr val="000066"/>
                  </a:solidFill>
                  <a:latin typeface="Times New Roman" panose="02020603050405020304" pitchFamily="18" charset="0"/>
                  <a:ea typeface="楷体_GB2312" pitchFamily="49" charset="-122"/>
                </a:rPr>
                <a:t>－</a:t>
              </a:r>
              <a:r>
                <a:rPr kumimoji="1" lang="en-US" altLang="zh-CN" sz="2400" b="1" i="0">
                  <a:solidFill>
                    <a:srgbClr val="000066"/>
                  </a:solidFill>
                  <a:latin typeface="Times New Roman" panose="02020603050405020304" pitchFamily="18" charset="0"/>
                  <a:ea typeface="楷体_GB2312" pitchFamily="49" charset="-122"/>
                </a:rPr>
                <a:t>R</a:t>
              </a:r>
              <a:r>
                <a:rPr kumimoji="1" lang="zh-CN" altLang="en-US" sz="2400" b="1" i="0">
                  <a:solidFill>
                    <a:srgbClr val="000066"/>
                  </a:solidFill>
                  <a:latin typeface="Times New Roman" panose="02020603050405020304" pitchFamily="18" charset="0"/>
                  <a:ea typeface="楷体_GB2312" pitchFamily="49" charset="-122"/>
                </a:rPr>
                <a:t>图</a:t>
              </a:r>
            </a:p>
          </p:txBody>
        </p:sp>
        <p:sp>
          <p:nvSpPr>
            <p:cNvPr id="18" name="AutoShape 12"/>
            <p:cNvSpPr>
              <a:spLocks noChangeArrowheads="1"/>
            </p:cNvSpPr>
            <p:nvPr/>
          </p:nvSpPr>
          <p:spPr bwMode="auto">
            <a:xfrm>
              <a:off x="3744" y="3024"/>
              <a:ext cx="1344" cy="288"/>
            </a:xfrm>
            <a:prstGeom prst="flowChartInputOutput">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总</a:t>
              </a:r>
              <a:r>
                <a:rPr kumimoji="1" lang="en-US" altLang="zh-CN" sz="2400" b="1" i="0">
                  <a:solidFill>
                    <a:srgbClr val="000066"/>
                  </a:solidFill>
                  <a:latin typeface="Times New Roman" panose="02020603050405020304" pitchFamily="18" charset="0"/>
                  <a:ea typeface="楷体_GB2312" pitchFamily="49" charset="-122"/>
                </a:rPr>
                <a:t>E</a:t>
              </a:r>
              <a:r>
                <a:rPr kumimoji="1" lang="zh-CN" altLang="en-US" sz="2400" b="1" i="0">
                  <a:solidFill>
                    <a:srgbClr val="000066"/>
                  </a:solidFill>
                  <a:latin typeface="Times New Roman" panose="02020603050405020304" pitchFamily="18" charset="0"/>
                  <a:ea typeface="楷体_GB2312" pitchFamily="49" charset="-122"/>
                </a:rPr>
                <a:t>－</a:t>
              </a:r>
              <a:r>
                <a:rPr kumimoji="1" lang="en-US" altLang="zh-CN" sz="2400" b="1" i="0">
                  <a:solidFill>
                    <a:srgbClr val="000066"/>
                  </a:solidFill>
                  <a:latin typeface="Times New Roman" panose="02020603050405020304" pitchFamily="18" charset="0"/>
                  <a:ea typeface="楷体_GB2312" pitchFamily="49" charset="-122"/>
                </a:rPr>
                <a:t>R</a:t>
              </a:r>
              <a:r>
                <a:rPr kumimoji="1" lang="zh-CN" altLang="en-US" sz="2400" b="1" i="0">
                  <a:solidFill>
                    <a:srgbClr val="000066"/>
                  </a:solidFill>
                  <a:latin typeface="Times New Roman" panose="02020603050405020304" pitchFamily="18" charset="0"/>
                  <a:ea typeface="楷体_GB2312" pitchFamily="49" charset="-122"/>
                </a:rPr>
                <a:t>图</a:t>
              </a:r>
            </a:p>
          </p:txBody>
        </p:sp>
        <p:sp>
          <p:nvSpPr>
            <p:cNvPr id="19" name="AutoShape 13"/>
            <p:cNvSpPr>
              <a:spLocks noChangeArrowheads="1"/>
            </p:cNvSpPr>
            <p:nvPr/>
          </p:nvSpPr>
          <p:spPr bwMode="auto">
            <a:xfrm>
              <a:off x="3264" y="1728"/>
              <a:ext cx="384" cy="144"/>
            </a:xfrm>
            <a:prstGeom prst="rightArrow">
              <a:avLst>
                <a:gd name="adj1" fmla="val 50000"/>
                <a:gd name="adj2" fmla="val 66667"/>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 name="AutoShape 14"/>
            <p:cNvSpPr>
              <a:spLocks noChangeArrowheads="1"/>
            </p:cNvSpPr>
            <p:nvPr/>
          </p:nvSpPr>
          <p:spPr bwMode="auto">
            <a:xfrm>
              <a:off x="3312" y="2256"/>
              <a:ext cx="384" cy="144"/>
            </a:xfrm>
            <a:prstGeom prst="rightArrow">
              <a:avLst>
                <a:gd name="adj1" fmla="val 50000"/>
                <a:gd name="adj2" fmla="val 66667"/>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 name="AutoShape 15"/>
            <p:cNvSpPr>
              <a:spLocks noChangeArrowheads="1"/>
            </p:cNvSpPr>
            <p:nvPr/>
          </p:nvSpPr>
          <p:spPr bwMode="auto">
            <a:xfrm>
              <a:off x="3312" y="3072"/>
              <a:ext cx="384" cy="144"/>
            </a:xfrm>
            <a:prstGeom prst="rightArrow">
              <a:avLst>
                <a:gd name="adj1" fmla="val 50000"/>
                <a:gd name="adj2" fmla="val 66667"/>
              </a:avLst>
            </a:prstGeom>
            <a:noFill/>
            <a:ln w="1905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 name="Line 16"/>
            <p:cNvSpPr>
              <a:spLocks noChangeShapeType="1"/>
            </p:cNvSpPr>
            <p:nvPr/>
          </p:nvSpPr>
          <p:spPr bwMode="auto">
            <a:xfrm>
              <a:off x="2496" y="1920"/>
              <a:ext cx="0" cy="192"/>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7"/>
            <p:cNvSpPr>
              <a:spLocks noChangeShapeType="1"/>
            </p:cNvSpPr>
            <p:nvPr/>
          </p:nvSpPr>
          <p:spPr bwMode="auto">
            <a:xfrm>
              <a:off x="2448" y="2592"/>
              <a:ext cx="0" cy="384"/>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8"/>
            <p:cNvSpPr>
              <a:spLocks noChangeShapeType="1"/>
            </p:cNvSpPr>
            <p:nvPr/>
          </p:nvSpPr>
          <p:spPr bwMode="auto">
            <a:xfrm>
              <a:off x="2448" y="3360"/>
              <a:ext cx="0" cy="240"/>
            </a:xfrm>
            <a:prstGeom prst="line">
              <a:avLst/>
            </a:prstGeom>
            <a:noFill/>
            <a:ln w="19050">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9"/>
            <p:cNvSpPr>
              <a:spLocks noChangeShapeType="1"/>
            </p:cNvSpPr>
            <p:nvPr/>
          </p:nvSpPr>
          <p:spPr bwMode="auto">
            <a:xfrm>
              <a:off x="480" y="2004"/>
              <a:ext cx="4560" cy="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0"/>
            <p:cNvSpPr>
              <a:spLocks noChangeShapeType="1"/>
            </p:cNvSpPr>
            <p:nvPr/>
          </p:nvSpPr>
          <p:spPr bwMode="auto">
            <a:xfrm>
              <a:off x="516" y="3456"/>
              <a:ext cx="4560" cy="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1"/>
            <p:cNvSpPr>
              <a:spLocks noChangeShapeType="1"/>
            </p:cNvSpPr>
            <p:nvPr/>
          </p:nvSpPr>
          <p:spPr bwMode="auto">
            <a:xfrm>
              <a:off x="912" y="2016"/>
              <a:ext cx="0" cy="288"/>
            </a:xfrm>
            <a:prstGeom prst="line">
              <a:avLst/>
            </a:prstGeom>
            <a:noFill/>
            <a:ln w="1905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2"/>
            <p:cNvSpPr>
              <a:spLocks noChangeShapeType="1"/>
            </p:cNvSpPr>
            <p:nvPr/>
          </p:nvSpPr>
          <p:spPr bwMode="auto">
            <a:xfrm>
              <a:off x="912" y="3024"/>
              <a:ext cx="0" cy="432"/>
            </a:xfrm>
            <a:prstGeom prst="line">
              <a:avLst/>
            </a:prstGeom>
            <a:noFill/>
            <a:ln w="19050">
              <a:solidFill>
                <a:srgbClr val="00B05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31"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2" name="直接连接符 31"/>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4499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490106" y="1341438"/>
            <a:ext cx="777240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FF66"/>
              </a:buClr>
              <a:buFontTx/>
              <a:buNone/>
            </a:pPr>
            <a:r>
              <a:rPr lang="en-US" altLang="zh-CN" b="1">
                <a:solidFill>
                  <a:srgbClr val="CC3300"/>
                </a:solidFill>
              </a:rPr>
              <a:t>1</a:t>
            </a:r>
            <a:r>
              <a:rPr lang="zh-CN" altLang="en-US" b="1">
                <a:solidFill>
                  <a:srgbClr val="CC3300"/>
                </a:solidFill>
              </a:rPr>
              <a:t>）选择局部</a:t>
            </a:r>
            <a:r>
              <a:rPr lang="en-US" altLang="zh-CN" b="1">
                <a:solidFill>
                  <a:srgbClr val="CC3300"/>
                </a:solidFill>
              </a:rPr>
              <a:t>E-R</a:t>
            </a:r>
            <a:r>
              <a:rPr lang="zh-CN" altLang="en-US" b="1">
                <a:solidFill>
                  <a:srgbClr val="CC3300"/>
                </a:solidFill>
              </a:rPr>
              <a:t>图的描述范围</a:t>
            </a:r>
          </a:p>
        </p:txBody>
      </p:sp>
      <p:sp>
        <p:nvSpPr>
          <p:cNvPr id="8" name="Rectangle 4"/>
          <p:cNvSpPr>
            <a:spLocks noChangeArrowheads="1"/>
          </p:cNvSpPr>
          <p:nvPr/>
        </p:nvSpPr>
        <p:spPr bwMode="auto">
          <a:xfrm>
            <a:off x="561544" y="1844675"/>
            <a:ext cx="10525556" cy="268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25000"/>
              </a:spcBef>
              <a:buClr>
                <a:srgbClr val="FF0000"/>
              </a:buClr>
              <a:buFontTx/>
              <a:buChar char="•"/>
            </a:pPr>
            <a:r>
              <a:rPr kumimoji="1" lang="zh-CN" altLang="en-US" sz="2400" b="1" i="0" dirty="0">
                <a:solidFill>
                  <a:srgbClr val="000066"/>
                </a:solidFill>
                <a:latin typeface="Tahoma" panose="020B0604030504040204" pitchFamily="34" charset="0"/>
              </a:rPr>
              <a:t>需求分析阶段，已用多层数据流图和数据字典描述了整个系统。</a:t>
            </a:r>
          </a:p>
          <a:p>
            <a:pPr eaLnBrk="1" hangingPunct="1">
              <a:lnSpc>
                <a:spcPct val="125000"/>
              </a:lnSpc>
              <a:spcBef>
                <a:spcPct val="25000"/>
              </a:spcBef>
              <a:buClr>
                <a:srgbClr val="FF0000"/>
              </a:buClr>
              <a:buFontTx/>
              <a:buChar char="•"/>
            </a:pPr>
            <a:r>
              <a:rPr kumimoji="1" lang="zh-CN" altLang="en-US" sz="2400" b="1" i="0" dirty="0">
                <a:solidFill>
                  <a:srgbClr val="000066"/>
                </a:solidFill>
                <a:latin typeface="Tahoma" panose="020B0604030504040204" pitchFamily="34" charset="0"/>
              </a:rPr>
              <a:t>设计分</a:t>
            </a:r>
            <a:r>
              <a:rPr kumimoji="1" lang="en-US" altLang="zh-CN" sz="2400" b="1" i="0" dirty="0">
                <a:solidFill>
                  <a:srgbClr val="000066"/>
                </a:solidFill>
                <a:latin typeface="Tahoma" panose="020B0604030504040204" pitchFamily="34" charset="0"/>
              </a:rPr>
              <a:t>E-R</a:t>
            </a:r>
            <a:r>
              <a:rPr kumimoji="1" lang="zh-CN" altLang="en-US" sz="2400" b="1" i="0" dirty="0">
                <a:solidFill>
                  <a:srgbClr val="000066"/>
                </a:solidFill>
                <a:latin typeface="Tahoma" panose="020B0604030504040204" pitchFamily="34" charset="0"/>
              </a:rPr>
              <a:t>图首先需要根据系统的具体情况，在多层的数据流图中</a:t>
            </a:r>
            <a:r>
              <a:rPr kumimoji="1" lang="zh-CN" altLang="en-US" sz="2400" b="1" i="0" dirty="0">
                <a:solidFill>
                  <a:srgbClr val="CC3300"/>
                </a:solidFill>
                <a:latin typeface="Tahoma" panose="020B0604030504040204" pitchFamily="34" charset="0"/>
              </a:rPr>
              <a:t>选择一个适当层次的数据流图</a:t>
            </a:r>
            <a:r>
              <a:rPr kumimoji="1" lang="zh-CN" altLang="en-US" sz="2400" b="1" i="0" dirty="0">
                <a:solidFill>
                  <a:srgbClr val="000066"/>
                </a:solidFill>
                <a:latin typeface="Tahoma" panose="020B0604030504040204" pitchFamily="34" charset="0"/>
              </a:rPr>
              <a:t>，让这组图中每一部分对应一个局部应用，然后以这一层次的数据流图为出发点，设计分</a:t>
            </a:r>
            <a:r>
              <a:rPr kumimoji="1" lang="en-US" altLang="zh-CN" sz="2400" b="1" i="0" dirty="0">
                <a:solidFill>
                  <a:srgbClr val="000066"/>
                </a:solidFill>
                <a:latin typeface="Tahoma" panose="020B0604030504040204" pitchFamily="34" charset="0"/>
              </a:rPr>
              <a:t>E-R</a:t>
            </a:r>
            <a:r>
              <a:rPr kumimoji="1" lang="zh-CN" altLang="en-US" sz="2400" b="1" i="0" dirty="0">
                <a:solidFill>
                  <a:srgbClr val="000066"/>
                </a:solidFill>
                <a:latin typeface="Tahoma" panose="020B0604030504040204" pitchFamily="34" charset="0"/>
              </a:rPr>
              <a:t>图。 </a:t>
            </a:r>
          </a:p>
        </p:txBody>
      </p:sp>
      <p:sp>
        <p:nvSpPr>
          <p:cNvPr id="9" name="Rectangle 5"/>
          <p:cNvSpPr>
            <a:spLocks noChangeArrowheads="1"/>
          </p:cNvSpPr>
          <p:nvPr/>
        </p:nvSpPr>
        <p:spPr bwMode="auto">
          <a:xfrm>
            <a:off x="561544" y="3875954"/>
            <a:ext cx="9506678" cy="2046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ts val="600"/>
              </a:spcBef>
              <a:buClr>
                <a:srgbClr val="FF0000"/>
              </a:buClr>
              <a:buFontTx/>
              <a:buChar char="•"/>
            </a:pPr>
            <a:r>
              <a:rPr lang="zh-CN" altLang="en-US" sz="2400" b="1" i="0" dirty="0">
                <a:solidFill>
                  <a:srgbClr val="000066"/>
                </a:solidFill>
              </a:rPr>
              <a:t>通常以</a:t>
            </a:r>
            <a:r>
              <a:rPr lang="zh-CN" altLang="en-US" sz="2400" b="1" i="0" dirty="0">
                <a:solidFill>
                  <a:srgbClr val="CC3300"/>
                </a:solidFill>
              </a:rPr>
              <a:t>中层数据流图</a:t>
            </a:r>
            <a:r>
              <a:rPr lang="zh-CN" altLang="en-US" sz="2400" b="1" i="0" dirty="0">
                <a:solidFill>
                  <a:srgbClr val="000066"/>
                </a:solidFill>
              </a:rPr>
              <a:t>作为设计分</a:t>
            </a:r>
            <a:r>
              <a:rPr lang="en-US" altLang="zh-CN" sz="2400" b="1" i="0" dirty="0">
                <a:solidFill>
                  <a:srgbClr val="000066"/>
                </a:solidFill>
              </a:rPr>
              <a:t>E-R</a:t>
            </a:r>
            <a:r>
              <a:rPr lang="zh-CN" altLang="en-US" sz="2400" b="1" i="0" dirty="0">
                <a:solidFill>
                  <a:srgbClr val="000066"/>
                </a:solidFill>
              </a:rPr>
              <a:t>图的依据。原因：</a:t>
            </a:r>
          </a:p>
          <a:p>
            <a:pPr lvl="1" eaLnBrk="1" hangingPunct="1">
              <a:spcBef>
                <a:spcPts val="600"/>
              </a:spcBef>
              <a:buFontTx/>
              <a:buChar char="–"/>
            </a:pPr>
            <a:r>
              <a:rPr lang="zh-CN" altLang="en-US" sz="2400" b="1" i="0" dirty="0">
                <a:solidFill>
                  <a:srgbClr val="000066"/>
                </a:solidFill>
              </a:rPr>
              <a:t>高层数据流图只能反映系统的概貌；</a:t>
            </a:r>
          </a:p>
          <a:p>
            <a:pPr lvl="1" eaLnBrk="1" hangingPunct="1">
              <a:spcBef>
                <a:spcPts val="600"/>
              </a:spcBef>
              <a:buFontTx/>
              <a:buChar char="–"/>
            </a:pPr>
            <a:r>
              <a:rPr lang="zh-CN" altLang="en-US" sz="2400" b="1" i="0" dirty="0">
                <a:solidFill>
                  <a:srgbClr val="000066"/>
                </a:solidFill>
              </a:rPr>
              <a:t>中层数据流图能较好地反映系统中各局部应用的子系统组成；</a:t>
            </a:r>
          </a:p>
          <a:p>
            <a:pPr lvl="1" eaLnBrk="1" hangingPunct="1">
              <a:spcBef>
                <a:spcPts val="600"/>
              </a:spcBef>
              <a:buFontTx/>
              <a:buChar char="–"/>
            </a:pPr>
            <a:r>
              <a:rPr lang="zh-CN" altLang="en-US" sz="2400" b="1" i="0" dirty="0">
                <a:solidFill>
                  <a:srgbClr val="000066"/>
                </a:solidFill>
              </a:rPr>
              <a:t>低层数据流图过细描述整个系统。</a:t>
            </a:r>
          </a:p>
        </p:txBody>
      </p:sp>
      <p:sp>
        <p:nvSpPr>
          <p:cNvPr id="12" name="Rectangle 6"/>
          <p:cNvSpPr>
            <a:spLocks noChangeArrowheads="1"/>
          </p:cNvSpPr>
          <p:nvPr/>
        </p:nvSpPr>
        <p:spPr bwMode="auto">
          <a:xfrm>
            <a:off x="561544" y="776547"/>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indent="0" eaLnBrk="1" hangingPunct="1">
              <a:lnSpc>
                <a:spcPct val="90000"/>
              </a:lnSpc>
              <a:spcBef>
                <a:spcPct val="20000"/>
              </a:spcBef>
              <a:buClr>
                <a:srgbClr val="FFFF66"/>
              </a:buClr>
              <a:buSzPct val="75000"/>
            </a:pPr>
            <a:r>
              <a:rPr kumimoji="1" lang="zh-CN" altLang="en-US" sz="3200" b="1" i="0" dirty="0">
                <a:solidFill>
                  <a:srgbClr val="000066"/>
                </a:solidFill>
                <a:latin typeface="Tahoma" panose="020B0604030504040204" pitchFamily="34" charset="0"/>
              </a:rPr>
              <a:t>第</a:t>
            </a:r>
            <a:r>
              <a:rPr kumimoji="1" lang="en-US" altLang="zh-CN" sz="3200" b="1" i="0" dirty="0">
                <a:solidFill>
                  <a:srgbClr val="000066"/>
                </a:solidFill>
                <a:latin typeface="Tahoma" panose="020B0604030504040204" pitchFamily="34" charset="0"/>
              </a:rPr>
              <a:t>1</a:t>
            </a:r>
            <a:r>
              <a:rPr kumimoji="1" lang="zh-CN" altLang="en-US" sz="3200" b="1" i="0" dirty="0">
                <a:solidFill>
                  <a:srgbClr val="000066"/>
                </a:solidFill>
                <a:latin typeface="Tahoma" panose="020B0604030504040204" pitchFamily="34" charset="0"/>
              </a:rPr>
              <a:t>步：局部</a:t>
            </a:r>
            <a:r>
              <a:rPr kumimoji="1" lang="en-US" altLang="zh-CN" sz="3200" b="1" i="0" dirty="0">
                <a:solidFill>
                  <a:srgbClr val="000066"/>
                </a:solidFill>
                <a:latin typeface="Tahoma" panose="020B0604030504040204" pitchFamily="34" charset="0"/>
              </a:rPr>
              <a:t>E-R</a:t>
            </a:r>
            <a:r>
              <a:rPr kumimoji="1" lang="zh-CN" altLang="en-US" sz="3200" b="1" i="0" dirty="0">
                <a:solidFill>
                  <a:srgbClr val="000066"/>
                </a:solidFill>
                <a:latin typeface="Tahoma" panose="020B0604030504040204" pitchFamily="34" charset="0"/>
              </a:rPr>
              <a:t>模型设计</a:t>
            </a:r>
          </a:p>
        </p:txBody>
      </p:sp>
      <p:sp>
        <p:nvSpPr>
          <p:cNvPr id="10"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1"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3" name="直接连接符 12"/>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8082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checkerboard(across)">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checkerboard(across)">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utoUpdateAnimBg="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749902"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675845" y="1070984"/>
            <a:ext cx="777240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FF66"/>
              </a:buClr>
              <a:buFontTx/>
              <a:buNone/>
            </a:pPr>
            <a:r>
              <a:rPr lang="en-US" altLang="zh-CN" b="1" dirty="0">
                <a:solidFill>
                  <a:srgbClr val="CC3300"/>
                </a:solidFill>
              </a:rPr>
              <a:t>2</a:t>
            </a:r>
            <a:r>
              <a:rPr lang="zh-CN" altLang="en-US" b="1" dirty="0">
                <a:solidFill>
                  <a:srgbClr val="CC3300"/>
                </a:solidFill>
              </a:rPr>
              <a:t>）画出局部</a:t>
            </a:r>
            <a:r>
              <a:rPr lang="en-US" altLang="zh-CN" b="1" dirty="0">
                <a:solidFill>
                  <a:srgbClr val="CC3300"/>
                </a:solidFill>
              </a:rPr>
              <a:t>E-R</a:t>
            </a:r>
            <a:r>
              <a:rPr lang="zh-CN" altLang="en-US" b="1" dirty="0">
                <a:solidFill>
                  <a:srgbClr val="CC3300"/>
                </a:solidFill>
              </a:rPr>
              <a:t>图</a:t>
            </a:r>
          </a:p>
        </p:txBody>
      </p:sp>
      <p:sp>
        <p:nvSpPr>
          <p:cNvPr id="8" name="Rectangle 4"/>
          <p:cNvSpPr>
            <a:spLocks noChangeArrowheads="1"/>
          </p:cNvSpPr>
          <p:nvPr/>
        </p:nvSpPr>
        <p:spPr bwMode="auto">
          <a:xfrm>
            <a:off x="675845" y="1760967"/>
            <a:ext cx="10639855"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342900" lvl="2" indent="-342900" eaLnBrk="1" hangingPunct="1">
              <a:lnSpc>
                <a:spcPct val="125000"/>
              </a:lnSpc>
              <a:spcBef>
                <a:spcPct val="25000"/>
              </a:spcBef>
              <a:buClr>
                <a:srgbClr val="FF0000"/>
              </a:buClr>
              <a:buFontTx/>
              <a:buChar char="•"/>
            </a:pPr>
            <a:r>
              <a:rPr kumimoji="1" lang="zh-CN" altLang="en-US" sz="2400" b="1" i="0" dirty="0">
                <a:solidFill>
                  <a:srgbClr val="000066"/>
                </a:solidFill>
                <a:latin typeface="Tahoma" panose="020B0604030504040204" pitchFamily="34" charset="0"/>
              </a:rPr>
              <a:t>将各局部应用涉及的数据分别从数据字典中抽取出来，参照数据流图，标定各局部应用中的实体、实体的属性、标识实体的码，确定实体之间的联系及其类型（</a:t>
            </a:r>
            <a:r>
              <a:rPr kumimoji="1" lang="en-US" altLang="zh-CN" sz="2400" b="1" i="0" dirty="0">
                <a:solidFill>
                  <a:srgbClr val="000066"/>
                </a:solidFill>
                <a:latin typeface="Tahoma" panose="020B0604030504040204" pitchFamily="34" charset="0"/>
              </a:rPr>
              <a:t>1:1</a:t>
            </a:r>
            <a:r>
              <a:rPr kumimoji="1" lang="zh-CN" altLang="en-US" sz="2400" b="1" i="0" dirty="0">
                <a:solidFill>
                  <a:srgbClr val="000066"/>
                </a:solidFill>
                <a:latin typeface="Tahoma" panose="020B0604030504040204" pitchFamily="34" charset="0"/>
              </a:rPr>
              <a:t>，</a:t>
            </a:r>
            <a:r>
              <a:rPr kumimoji="1" lang="en-US" altLang="zh-CN" sz="2400" b="1" i="0" dirty="0" err="1">
                <a:solidFill>
                  <a:srgbClr val="000066"/>
                </a:solidFill>
                <a:latin typeface="Tahoma" panose="020B0604030504040204" pitchFamily="34" charset="0"/>
              </a:rPr>
              <a:t>1:n</a:t>
            </a:r>
            <a:r>
              <a:rPr kumimoji="1" lang="zh-CN" altLang="en-US" sz="2400" b="1" i="0" dirty="0">
                <a:solidFill>
                  <a:srgbClr val="000066"/>
                </a:solidFill>
                <a:latin typeface="Tahoma" panose="020B0604030504040204" pitchFamily="34" charset="0"/>
              </a:rPr>
              <a:t>，</a:t>
            </a:r>
            <a:r>
              <a:rPr kumimoji="1" lang="en-US" altLang="zh-CN" sz="2400" b="1" i="0" dirty="0" err="1">
                <a:solidFill>
                  <a:srgbClr val="000066"/>
                </a:solidFill>
                <a:latin typeface="Tahoma" panose="020B0604030504040204" pitchFamily="34" charset="0"/>
              </a:rPr>
              <a:t>m:n</a:t>
            </a:r>
            <a:r>
              <a:rPr kumimoji="1" lang="zh-CN" altLang="en-US" sz="2400" b="1" i="0" dirty="0">
                <a:solidFill>
                  <a:srgbClr val="000066"/>
                </a:solidFill>
                <a:latin typeface="Tahoma" panose="020B0604030504040204" pitchFamily="34" charset="0"/>
              </a:rPr>
              <a:t>）。</a:t>
            </a:r>
          </a:p>
        </p:txBody>
      </p:sp>
      <p:sp>
        <p:nvSpPr>
          <p:cNvPr id="9"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52694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3"/>
          <p:cNvSpPr txBox="1">
            <a:spLocks noChangeArrowheads="1"/>
          </p:cNvSpPr>
          <p:nvPr/>
        </p:nvSpPr>
        <p:spPr bwMode="auto">
          <a:xfrm>
            <a:off x="398973" y="828026"/>
            <a:ext cx="11304876" cy="10810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en-US" altLang="zh-CN" b="1" dirty="0">
                <a:latin typeface="楷体_GB2312" pitchFamily="49" charset="-122"/>
                <a:ea typeface="楷体_GB2312" pitchFamily="49" charset="-122"/>
              </a:rPr>
              <a:t> </a:t>
            </a:r>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例</a:t>
            </a:r>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某校的教务管理系统中，分为学籍管理、选课管理和教师开课管理部分。 </a:t>
            </a:r>
          </a:p>
        </p:txBody>
      </p:sp>
      <p:sp>
        <p:nvSpPr>
          <p:cNvPr id="8" name="Rectangle 4"/>
          <p:cNvSpPr>
            <a:spLocks noChangeArrowheads="1"/>
          </p:cNvSpPr>
          <p:nvPr/>
        </p:nvSpPr>
        <p:spPr bwMode="auto">
          <a:xfrm>
            <a:off x="398973" y="1741642"/>
            <a:ext cx="886079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28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lang="zh-CN" altLang="en-US" sz="2400" b="1" i="0" dirty="0">
                <a:solidFill>
                  <a:srgbClr val="FF3300"/>
                </a:solidFill>
                <a:latin typeface="楷体_GB2312" pitchFamily="49" charset="-122"/>
                <a:ea typeface="楷体_GB2312" pitchFamily="49" charset="-122"/>
              </a:rPr>
              <a:t>学籍管理语义：</a:t>
            </a:r>
          </a:p>
          <a:p>
            <a:pPr eaLnBrk="1" hangingPunct="1"/>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1</a:t>
            </a:r>
            <a:r>
              <a:rPr lang="zh-CN" altLang="en-US" sz="2400" b="1" i="0" dirty="0">
                <a:latin typeface="楷体_GB2312" pitchFamily="49" charset="-122"/>
                <a:ea typeface="楷体_GB2312" pitchFamily="49" charset="-122"/>
              </a:rPr>
              <a:t>）一个学院开设有多个专业，一个专业只能属于一个学院；</a:t>
            </a:r>
          </a:p>
          <a:p>
            <a:pPr eaLnBrk="1" hangingPunct="1"/>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2</a:t>
            </a:r>
            <a:r>
              <a:rPr lang="zh-CN" altLang="en-US" sz="2400" b="1" i="0" dirty="0">
                <a:latin typeface="楷体_GB2312" pitchFamily="49" charset="-122"/>
                <a:ea typeface="楷体_GB2312" pitchFamily="49" charset="-122"/>
              </a:rPr>
              <a:t>）一个专业有多个班级，一个班级只属于一个专业；</a:t>
            </a:r>
          </a:p>
          <a:p>
            <a:pPr eaLnBrk="1" hangingPunct="1"/>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3</a:t>
            </a:r>
            <a:r>
              <a:rPr lang="zh-CN" altLang="en-US" sz="2400" b="1" i="0" dirty="0">
                <a:latin typeface="楷体_GB2312" pitchFamily="49" charset="-122"/>
                <a:ea typeface="楷体_GB2312" pitchFamily="49" charset="-122"/>
              </a:rPr>
              <a:t>）一个班级有多个学生，一个学生只属于一个班级。</a:t>
            </a:r>
          </a:p>
        </p:txBody>
      </p:sp>
      <p:grpSp>
        <p:nvGrpSpPr>
          <p:cNvPr id="9" name="Group 5"/>
          <p:cNvGrpSpPr>
            <a:grpSpLocks/>
          </p:cNvGrpSpPr>
          <p:nvPr/>
        </p:nvGrpSpPr>
        <p:grpSpPr bwMode="auto">
          <a:xfrm>
            <a:off x="2298195" y="3857685"/>
            <a:ext cx="7846302" cy="1911393"/>
            <a:chOff x="1680" y="4709"/>
            <a:chExt cx="8842" cy="1934"/>
          </a:xfrm>
        </p:grpSpPr>
        <p:sp>
          <p:nvSpPr>
            <p:cNvPr id="12" name="AutoShape 6"/>
            <p:cNvSpPr>
              <a:spLocks noChangeArrowheads="1"/>
            </p:cNvSpPr>
            <p:nvPr/>
          </p:nvSpPr>
          <p:spPr bwMode="auto">
            <a:xfrm>
              <a:off x="1800" y="5480"/>
              <a:ext cx="686" cy="317"/>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t>学院</a:t>
              </a:r>
            </a:p>
          </p:txBody>
        </p:sp>
        <p:sp>
          <p:nvSpPr>
            <p:cNvPr id="13" name="AutoShape 7"/>
            <p:cNvSpPr>
              <a:spLocks noChangeArrowheads="1"/>
            </p:cNvSpPr>
            <p:nvPr/>
          </p:nvSpPr>
          <p:spPr bwMode="auto">
            <a:xfrm>
              <a:off x="4167" y="5480"/>
              <a:ext cx="674" cy="317"/>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专业</a:t>
              </a:r>
              <a:endParaRPr lang="zh-CN" altLang="en-US" sz="1400" dirty="0"/>
            </a:p>
          </p:txBody>
        </p:sp>
        <p:sp>
          <p:nvSpPr>
            <p:cNvPr id="14" name="AutoShape 8"/>
            <p:cNvSpPr>
              <a:spLocks noChangeArrowheads="1"/>
            </p:cNvSpPr>
            <p:nvPr/>
          </p:nvSpPr>
          <p:spPr bwMode="auto">
            <a:xfrm>
              <a:off x="6465" y="5480"/>
              <a:ext cx="827" cy="31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班级</a:t>
              </a:r>
              <a:endParaRPr lang="zh-CN" altLang="en-US" sz="1400" dirty="0"/>
            </a:p>
          </p:txBody>
        </p:sp>
        <p:sp>
          <p:nvSpPr>
            <p:cNvPr id="15" name="AutoShape 9"/>
            <p:cNvSpPr>
              <a:spLocks noChangeArrowheads="1"/>
            </p:cNvSpPr>
            <p:nvPr/>
          </p:nvSpPr>
          <p:spPr bwMode="auto">
            <a:xfrm>
              <a:off x="9090" y="5510"/>
              <a:ext cx="789" cy="28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学生</a:t>
              </a:r>
              <a:endParaRPr lang="zh-CN" altLang="en-US" sz="1400" dirty="0"/>
            </a:p>
          </p:txBody>
        </p:sp>
        <p:sp>
          <p:nvSpPr>
            <p:cNvPr id="16" name="AutoShape 10"/>
            <p:cNvSpPr>
              <a:spLocks noChangeArrowheads="1"/>
            </p:cNvSpPr>
            <p:nvPr/>
          </p:nvSpPr>
          <p:spPr bwMode="auto">
            <a:xfrm>
              <a:off x="2823" y="5366"/>
              <a:ext cx="957" cy="535"/>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开设</a:t>
              </a:r>
              <a:endParaRPr lang="zh-CN" altLang="en-US" sz="1400"/>
            </a:p>
          </p:txBody>
        </p:sp>
        <p:sp>
          <p:nvSpPr>
            <p:cNvPr id="17" name="AutoShape 11"/>
            <p:cNvSpPr>
              <a:spLocks noChangeArrowheads="1"/>
            </p:cNvSpPr>
            <p:nvPr/>
          </p:nvSpPr>
          <p:spPr bwMode="auto">
            <a:xfrm>
              <a:off x="1710" y="4709"/>
              <a:ext cx="900" cy="394"/>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dirty="0">
                  <a:latin typeface="Times New Roman" panose="02020603050405020304" pitchFamily="18" charset="0"/>
                </a:rPr>
                <a:t>学院号</a:t>
              </a:r>
              <a:endParaRPr lang="zh-CN" altLang="en-US" sz="1400" dirty="0"/>
            </a:p>
          </p:txBody>
        </p:sp>
        <p:sp>
          <p:nvSpPr>
            <p:cNvPr id="18" name="AutoShape 12"/>
            <p:cNvSpPr>
              <a:spLocks noChangeArrowheads="1"/>
            </p:cNvSpPr>
            <p:nvPr/>
          </p:nvSpPr>
          <p:spPr bwMode="auto">
            <a:xfrm>
              <a:off x="3957" y="4709"/>
              <a:ext cx="1038" cy="394"/>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专业名</a:t>
              </a:r>
              <a:endParaRPr lang="zh-CN" altLang="en-US" sz="1400" dirty="0"/>
            </a:p>
          </p:txBody>
        </p:sp>
        <p:sp>
          <p:nvSpPr>
            <p:cNvPr id="19" name="AutoShape 13"/>
            <p:cNvSpPr>
              <a:spLocks noChangeArrowheads="1"/>
            </p:cNvSpPr>
            <p:nvPr/>
          </p:nvSpPr>
          <p:spPr bwMode="auto">
            <a:xfrm>
              <a:off x="5190" y="5349"/>
              <a:ext cx="900" cy="520"/>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拥有</a:t>
              </a:r>
              <a:endParaRPr lang="zh-CN" altLang="en-US" sz="1400"/>
            </a:p>
          </p:txBody>
        </p:sp>
        <p:sp>
          <p:nvSpPr>
            <p:cNvPr id="20" name="AutoShape 14"/>
            <p:cNvSpPr>
              <a:spLocks noChangeArrowheads="1"/>
            </p:cNvSpPr>
            <p:nvPr/>
          </p:nvSpPr>
          <p:spPr bwMode="auto">
            <a:xfrm>
              <a:off x="7650" y="5366"/>
              <a:ext cx="1080" cy="535"/>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包含</a:t>
              </a:r>
              <a:endParaRPr lang="zh-CN" altLang="en-US" sz="1400" dirty="0"/>
            </a:p>
          </p:txBody>
        </p:sp>
        <p:sp>
          <p:nvSpPr>
            <p:cNvPr id="21" name="AutoShape 15"/>
            <p:cNvSpPr>
              <a:spLocks noChangeArrowheads="1"/>
            </p:cNvSpPr>
            <p:nvPr/>
          </p:nvSpPr>
          <p:spPr bwMode="auto">
            <a:xfrm>
              <a:off x="1680" y="6038"/>
              <a:ext cx="900" cy="404"/>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学院名</a:t>
              </a:r>
              <a:endParaRPr lang="zh-CN" altLang="en-US" sz="1400" dirty="0"/>
            </a:p>
          </p:txBody>
        </p:sp>
        <p:sp>
          <p:nvSpPr>
            <p:cNvPr id="22" name="AutoShape 16"/>
            <p:cNvSpPr>
              <a:spLocks noChangeArrowheads="1"/>
            </p:cNvSpPr>
            <p:nvPr/>
          </p:nvSpPr>
          <p:spPr bwMode="auto">
            <a:xfrm>
              <a:off x="3987" y="6139"/>
              <a:ext cx="1038" cy="36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a:latin typeface="Times New Roman" panose="02020603050405020304" pitchFamily="18" charset="0"/>
                </a:rPr>
                <a:t>专业号</a:t>
              </a:r>
              <a:endParaRPr lang="zh-CN" altLang="en-US" sz="1400" u="sng"/>
            </a:p>
          </p:txBody>
        </p:sp>
        <p:sp>
          <p:nvSpPr>
            <p:cNvPr id="23" name="AutoShape 17"/>
            <p:cNvSpPr>
              <a:spLocks noChangeArrowheads="1"/>
            </p:cNvSpPr>
            <p:nvPr/>
          </p:nvSpPr>
          <p:spPr bwMode="auto">
            <a:xfrm>
              <a:off x="6249" y="4709"/>
              <a:ext cx="1176" cy="409"/>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a:latin typeface="Times New Roman" panose="02020603050405020304" pitchFamily="18" charset="0"/>
                </a:rPr>
                <a:t>班级号</a:t>
              </a:r>
              <a:endParaRPr lang="zh-CN" altLang="en-US" sz="1400"/>
            </a:p>
          </p:txBody>
        </p:sp>
        <p:sp>
          <p:nvSpPr>
            <p:cNvPr id="25" name="AutoShape 18"/>
            <p:cNvSpPr>
              <a:spLocks noChangeArrowheads="1"/>
            </p:cNvSpPr>
            <p:nvPr/>
          </p:nvSpPr>
          <p:spPr bwMode="auto">
            <a:xfrm>
              <a:off x="6330" y="6154"/>
              <a:ext cx="1007" cy="358"/>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班级名</a:t>
              </a:r>
              <a:endParaRPr lang="zh-CN" altLang="en-US" sz="1400"/>
            </a:p>
          </p:txBody>
        </p:sp>
        <p:sp>
          <p:nvSpPr>
            <p:cNvPr id="26" name="AutoShape 19"/>
            <p:cNvSpPr>
              <a:spLocks noChangeArrowheads="1"/>
            </p:cNvSpPr>
            <p:nvPr/>
          </p:nvSpPr>
          <p:spPr bwMode="auto">
            <a:xfrm>
              <a:off x="8340" y="4709"/>
              <a:ext cx="854" cy="42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a:latin typeface="Times New Roman" panose="02020603050405020304" pitchFamily="18" charset="0"/>
                </a:rPr>
                <a:t>学号</a:t>
              </a:r>
              <a:endParaRPr lang="zh-CN" altLang="en-US" sz="1400"/>
            </a:p>
          </p:txBody>
        </p:sp>
        <p:sp>
          <p:nvSpPr>
            <p:cNvPr id="27" name="AutoShape 20"/>
            <p:cNvSpPr>
              <a:spLocks noChangeArrowheads="1"/>
            </p:cNvSpPr>
            <p:nvPr/>
          </p:nvSpPr>
          <p:spPr bwMode="auto">
            <a:xfrm>
              <a:off x="9345" y="4709"/>
              <a:ext cx="854" cy="432"/>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姓名</a:t>
              </a:r>
              <a:endParaRPr lang="zh-CN" altLang="en-US" sz="1400"/>
            </a:p>
          </p:txBody>
        </p:sp>
        <p:sp>
          <p:nvSpPr>
            <p:cNvPr id="28" name="AutoShape 21"/>
            <p:cNvSpPr>
              <a:spLocks noChangeArrowheads="1"/>
            </p:cNvSpPr>
            <p:nvPr/>
          </p:nvSpPr>
          <p:spPr bwMode="auto">
            <a:xfrm>
              <a:off x="8295" y="6234"/>
              <a:ext cx="854" cy="409"/>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性别</a:t>
              </a:r>
              <a:endParaRPr lang="zh-CN" altLang="en-US" sz="1400"/>
            </a:p>
          </p:txBody>
        </p:sp>
        <p:sp>
          <p:nvSpPr>
            <p:cNvPr id="29" name="AutoShape 22"/>
            <p:cNvSpPr>
              <a:spLocks noChangeArrowheads="1"/>
            </p:cNvSpPr>
            <p:nvPr/>
          </p:nvSpPr>
          <p:spPr bwMode="auto">
            <a:xfrm>
              <a:off x="9286" y="6232"/>
              <a:ext cx="1236" cy="387"/>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t>出生年月</a:t>
              </a:r>
            </a:p>
          </p:txBody>
        </p:sp>
        <p:sp>
          <p:nvSpPr>
            <p:cNvPr id="30" name="Line 23"/>
            <p:cNvSpPr>
              <a:spLocks noChangeShapeType="1"/>
            </p:cNvSpPr>
            <p:nvPr/>
          </p:nvSpPr>
          <p:spPr bwMode="auto">
            <a:xfrm>
              <a:off x="2167" y="5116"/>
              <a:ext cx="0" cy="3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4"/>
            <p:cNvSpPr>
              <a:spLocks noChangeShapeType="1"/>
            </p:cNvSpPr>
            <p:nvPr/>
          </p:nvSpPr>
          <p:spPr bwMode="auto">
            <a:xfrm>
              <a:off x="2137" y="5795"/>
              <a:ext cx="0" cy="22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5"/>
            <p:cNvSpPr>
              <a:spLocks noChangeShapeType="1"/>
            </p:cNvSpPr>
            <p:nvPr/>
          </p:nvSpPr>
          <p:spPr bwMode="auto">
            <a:xfrm>
              <a:off x="4489" y="5116"/>
              <a:ext cx="0" cy="3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6"/>
            <p:cNvSpPr>
              <a:spLocks noChangeShapeType="1"/>
            </p:cNvSpPr>
            <p:nvPr/>
          </p:nvSpPr>
          <p:spPr bwMode="auto">
            <a:xfrm>
              <a:off x="6840" y="5812"/>
              <a:ext cx="0" cy="3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27"/>
            <p:cNvSpPr>
              <a:spLocks noChangeShapeType="1"/>
            </p:cNvSpPr>
            <p:nvPr/>
          </p:nvSpPr>
          <p:spPr bwMode="auto">
            <a:xfrm>
              <a:off x="6840" y="5139"/>
              <a:ext cx="0" cy="34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8"/>
            <p:cNvSpPr>
              <a:spLocks noChangeShapeType="1"/>
            </p:cNvSpPr>
            <p:nvPr/>
          </p:nvSpPr>
          <p:spPr bwMode="auto">
            <a:xfrm>
              <a:off x="2486" y="5639"/>
              <a:ext cx="33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29"/>
            <p:cNvSpPr>
              <a:spLocks noChangeShapeType="1"/>
            </p:cNvSpPr>
            <p:nvPr/>
          </p:nvSpPr>
          <p:spPr bwMode="auto">
            <a:xfrm>
              <a:off x="3780" y="563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30"/>
            <p:cNvSpPr>
              <a:spLocks noChangeShapeType="1"/>
            </p:cNvSpPr>
            <p:nvPr/>
          </p:nvSpPr>
          <p:spPr bwMode="auto">
            <a:xfrm flipH="1">
              <a:off x="4845" y="5615"/>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1"/>
            <p:cNvSpPr>
              <a:spLocks noChangeShapeType="1"/>
            </p:cNvSpPr>
            <p:nvPr/>
          </p:nvSpPr>
          <p:spPr bwMode="auto">
            <a:xfrm>
              <a:off x="6090" y="5615"/>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2"/>
            <p:cNvSpPr>
              <a:spLocks noChangeShapeType="1"/>
            </p:cNvSpPr>
            <p:nvPr/>
          </p:nvSpPr>
          <p:spPr bwMode="auto">
            <a:xfrm flipH="1">
              <a:off x="7305" y="5630"/>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3"/>
            <p:cNvSpPr>
              <a:spLocks noChangeShapeType="1"/>
            </p:cNvSpPr>
            <p:nvPr/>
          </p:nvSpPr>
          <p:spPr bwMode="auto">
            <a:xfrm>
              <a:off x="8715" y="5636"/>
              <a:ext cx="36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4"/>
            <p:cNvSpPr>
              <a:spLocks noChangeShapeType="1"/>
            </p:cNvSpPr>
            <p:nvPr/>
          </p:nvSpPr>
          <p:spPr bwMode="auto">
            <a:xfrm flipH="1">
              <a:off x="9540" y="5124"/>
              <a:ext cx="18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35"/>
            <p:cNvSpPr>
              <a:spLocks noChangeShapeType="1"/>
            </p:cNvSpPr>
            <p:nvPr/>
          </p:nvSpPr>
          <p:spPr bwMode="auto">
            <a:xfrm>
              <a:off x="8925" y="5109"/>
              <a:ext cx="435" cy="4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36"/>
            <p:cNvSpPr>
              <a:spLocks noChangeShapeType="1"/>
            </p:cNvSpPr>
            <p:nvPr/>
          </p:nvSpPr>
          <p:spPr bwMode="auto">
            <a:xfrm>
              <a:off x="4500" y="5804"/>
              <a:ext cx="0" cy="3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37"/>
            <p:cNvSpPr>
              <a:spLocks noChangeShapeType="1"/>
            </p:cNvSpPr>
            <p:nvPr/>
          </p:nvSpPr>
          <p:spPr bwMode="auto">
            <a:xfrm>
              <a:off x="9525" y="5817"/>
              <a:ext cx="195" cy="42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38"/>
            <p:cNvSpPr>
              <a:spLocks noChangeShapeType="1"/>
            </p:cNvSpPr>
            <p:nvPr/>
          </p:nvSpPr>
          <p:spPr bwMode="auto">
            <a:xfrm flipH="1">
              <a:off x="8820" y="5802"/>
              <a:ext cx="510" cy="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6" name="Text Box 41"/>
          <p:cNvSpPr txBox="1">
            <a:spLocks noChangeArrowheads="1"/>
          </p:cNvSpPr>
          <p:nvPr/>
        </p:nvSpPr>
        <p:spPr bwMode="auto">
          <a:xfrm>
            <a:off x="3016199" y="4401343"/>
            <a:ext cx="71278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600" i="0" dirty="0">
                <a:latin typeface="Times New Roman" panose="02020603050405020304" pitchFamily="18" charset="0"/>
              </a:rPr>
              <a:t>1                  m                  1                 m                   1                       m</a:t>
            </a:r>
            <a:endParaRPr lang="en-US" altLang="zh-CN" sz="1600" dirty="0"/>
          </a:p>
        </p:txBody>
      </p:sp>
      <p:sp>
        <p:nvSpPr>
          <p:cNvPr id="47"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48"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49" name="直接连接符 48"/>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037084" y="6129579"/>
            <a:ext cx="2228521" cy="369332"/>
          </a:xfrm>
          <a:prstGeom prst="rect">
            <a:avLst/>
          </a:prstGeom>
          <a:noFill/>
        </p:spPr>
        <p:txBody>
          <a:bodyPr wrap="square" rtlCol="0">
            <a:spAutoFit/>
          </a:bodyPr>
          <a:lstStyle/>
          <a:p>
            <a:r>
              <a:rPr lang="zh-CN" altLang="en-US" dirty="0"/>
              <a:t>学籍管理分</a:t>
            </a:r>
            <a:r>
              <a:rPr lang="en-US" altLang="zh-CN" dirty="0"/>
              <a:t>ER</a:t>
            </a:r>
            <a:r>
              <a:rPr lang="zh-CN" altLang="en-US" dirty="0"/>
              <a:t>图</a:t>
            </a:r>
          </a:p>
        </p:txBody>
      </p:sp>
    </p:spTree>
    <p:extLst>
      <p:ext uri="{BB962C8B-B14F-4D97-AF65-F5344CB8AC3E}">
        <p14:creationId xmlns:p14="http://schemas.microsoft.com/office/powerpoint/2010/main" val="5816614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blinds(horizontal)">
                                      <p:cBhvr>
                                        <p:cTn id="1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36" name="Rectangle 6"/>
          <p:cNvSpPr>
            <a:spLocks noChangeArrowheads="1"/>
          </p:cNvSpPr>
          <p:nvPr/>
        </p:nvSpPr>
        <p:spPr bwMode="auto">
          <a:xfrm>
            <a:off x="399615" y="806086"/>
            <a:ext cx="934881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indent="228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1200"/>
              </a:spcBef>
            </a:pPr>
            <a:r>
              <a:rPr lang="zh-CN" altLang="en-US" sz="2400" b="1" i="0" dirty="0">
                <a:solidFill>
                  <a:srgbClr val="FF3300"/>
                </a:solidFill>
                <a:latin typeface="楷体_GB2312" pitchFamily="49" charset="-122"/>
                <a:ea typeface="楷体_GB2312" pitchFamily="49" charset="-122"/>
              </a:rPr>
              <a:t>选课管理语义：</a:t>
            </a:r>
          </a:p>
          <a:p>
            <a:pPr eaLnBrk="1" hangingPunct="1">
              <a:spcBef>
                <a:spcPts val="1200"/>
              </a:spcBef>
            </a:pPr>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1</a:t>
            </a:r>
            <a:r>
              <a:rPr lang="zh-CN" altLang="en-US" sz="2400" b="1" i="0" dirty="0">
                <a:latin typeface="楷体_GB2312" pitchFamily="49" charset="-122"/>
                <a:ea typeface="楷体_GB2312" pitchFamily="49" charset="-122"/>
              </a:rPr>
              <a:t>）一个学院可以开设多门课程，不同学院开设的课程必须不同。</a:t>
            </a:r>
          </a:p>
          <a:p>
            <a:pPr eaLnBrk="1" hangingPunct="1">
              <a:spcBef>
                <a:spcPts val="1200"/>
              </a:spcBef>
            </a:pPr>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2</a:t>
            </a:r>
            <a:r>
              <a:rPr lang="zh-CN" altLang="en-US" sz="2400" b="1" i="0" dirty="0">
                <a:latin typeface="楷体_GB2312" pitchFamily="49" charset="-122"/>
                <a:ea typeface="楷体_GB2312" pitchFamily="49" charset="-122"/>
              </a:rPr>
              <a:t>）一个学生可选修多门课程，一门课程可为多个学生选修；</a:t>
            </a:r>
          </a:p>
          <a:p>
            <a:pPr eaLnBrk="1" hangingPunct="1"/>
            <a:endParaRPr lang="en-US" altLang="zh-CN" sz="2400" b="1" i="0" dirty="0">
              <a:latin typeface="楷体_GB2312" pitchFamily="49" charset="-122"/>
              <a:ea typeface="楷体_GB2312" pitchFamily="49" charset="-122"/>
            </a:endParaRPr>
          </a:p>
        </p:txBody>
      </p:sp>
      <p:grpSp>
        <p:nvGrpSpPr>
          <p:cNvPr id="37" name="Group 53"/>
          <p:cNvGrpSpPr>
            <a:grpSpLocks/>
          </p:cNvGrpSpPr>
          <p:nvPr/>
        </p:nvGrpSpPr>
        <p:grpSpPr bwMode="auto">
          <a:xfrm>
            <a:off x="2556667" y="2894952"/>
            <a:ext cx="4949825" cy="2857500"/>
            <a:chOff x="305" y="1842"/>
            <a:chExt cx="3118" cy="1800"/>
          </a:xfrm>
        </p:grpSpPr>
        <p:sp>
          <p:nvSpPr>
            <p:cNvPr id="38" name="AutoShape 10"/>
            <p:cNvSpPr>
              <a:spLocks noChangeArrowheads="1"/>
            </p:cNvSpPr>
            <p:nvPr/>
          </p:nvSpPr>
          <p:spPr bwMode="auto">
            <a:xfrm>
              <a:off x="2167" y="2806"/>
              <a:ext cx="375" cy="250"/>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a:t>
              </a:r>
              <a:endParaRPr lang="zh-CN" altLang="en-US" sz="1400"/>
            </a:p>
          </p:txBody>
        </p:sp>
        <p:sp>
          <p:nvSpPr>
            <p:cNvPr id="39" name="AutoShape 11"/>
            <p:cNvSpPr>
              <a:spLocks noChangeArrowheads="1"/>
            </p:cNvSpPr>
            <p:nvPr/>
          </p:nvSpPr>
          <p:spPr bwMode="auto">
            <a:xfrm>
              <a:off x="846" y="2806"/>
              <a:ext cx="375" cy="250"/>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学生</a:t>
              </a:r>
              <a:endParaRPr lang="zh-CN" altLang="en-US" sz="1400"/>
            </a:p>
          </p:txBody>
        </p:sp>
        <p:sp>
          <p:nvSpPr>
            <p:cNvPr id="40" name="AutoShape 13"/>
            <p:cNvSpPr>
              <a:spLocks noChangeArrowheads="1"/>
            </p:cNvSpPr>
            <p:nvPr/>
          </p:nvSpPr>
          <p:spPr bwMode="auto">
            <a:xfrm>
              <a:off x="1423" y="2770"/>
              <a:ext cx="559" cy="335"/>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选修</a:t>
              </a:r>
              <a:endParaRPr lang="zh-CN" altLang="en-US" sz="1400"/>
            </a:p>
          </p:txBody>
        </p:sp>
        <p:sp>
          <p:nvSpPr>
            <p:cNvPr id="41" name="AutoShape 14"/>
            <p:cNvSpPr>
              <a:spLocks noChangeArrowheads="1"/>
            </p:cNvSpPr>
            <p:nvPr/>
          </p:nvSpPr>
          <p:spPr bwMode="auto">
            <a:xfrm>
              <a:off x="793" y="2304"/>
              <a:ext cx="465"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学号</a:t>
              </a:r>
              <a:endParaRPr lang="zh-CN" altLang="en-US" sz="1400"/>
            </a:p>
          </p:txBody>
        </p:sp>
        <p:sp>
          <p:nvSpPr>
            <p:cNvPr id="42" name="AutoShape 15"/>
            <p:cNvSpPr>
              <a:spLocks noChangeArrowheads="1"/>
            </p:cNvSpPr>
            <p:nvPr/>
          </p:nvSpPr>
          <p:spPr bwMode="auto">
            <a:xfrm>
              <a:off x="2338" y="3391"/>
              <a:ext cx="562"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课程名</a:t>
              </a:r>
              <a:endParaRPr lang="zh-CN" altLang="en-US" sz="1400"/>
            </a:p>
          </p:txBody>
        </p:sp>
        <p:sp>
          <p:nvSpPr>
            <p:cNvPr id="43" name="AutoShape 18"/>
            <p:cNvSpPr>
              <a:spLocks noChangeArrowheads="1"/>
            </p:cNvSpPr>
            <p:nvPr/>
          </p:nvSpPr>
          <p:spPr bwMode="auto">
            <a:xfrm>
              <a:off x="793" y="3224"/>
              <a:ext cx="465"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姓名</a:t>
              </a:r>
              <a:endParaRPr lang="zh-CN" altLang="en-US" sz="1400"/>
            </a:p>
          </p:txBody>
        </p:sp>
        <p:sp>
          <p:nvSpPr>
            <p:cNvPr id="44" name="AutoShape 19"/>
            <p:cNvSpPr>
              <a:spLocks noChangeArrowheads="1"/>
            </p:cNvSpPr>
            <p:nvPr/>
          </p:nvSpPr>
          <p:spPr bwMode="auto">
            <a:xfrm>
              <a:off x="1726" y="3391"/>
              <a:ext cx="558"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课程号</a:t>
              </a:r>
              <a:endParaRPr lang="zh-CN" altLang="en-US" sz="1400"/>
            </a:p>
          </p:txBody>
        </p:sp>
        <p:sp>
          <p:nvSpPr>
            <p:cNvPr id="45" name="AutoShape 20"/>
            <p:cNvSpPr>
              <a:spLocks noChangeArrowheads="1"/>
            </p:cNvSpPr>
            <p:nvPr/>
          </p:nvSpPr>
          <p:spPr bwMode="auto">
            <a:xfrm>
              <a:off x="2830" y="1842"/>
              <a:ext cx="593"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学院名</a:t>
              </a:r>
              <a:endParaRPr lang="zh-CN" altLang="en-US" sz="1400" u="sng" dirty="0"/>
            </a:p>
          </p:txBody>
        </p:sp>
        <p:sp>
          <p:nvSpPr>
            <p:cNvPr id="46" name="Line 26"/>
            <p:cNvSpPr>
              <a:spLocks noChangeShapeType="1"/>
            </p:cNvSpPr>
            <p:nvPr/>
          </p:nvSpPr>
          <p:spPr bwMode="auto">
            <a:xfrm>
              <a:off x="1040" y="2555"/>
              <a:ext cx="0" cy="2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7" name="Line 27"/>
            <p:cNvSpPr>
              <a:spLocks noChangeShapeType="1"/>
            </p:cNvSpPr>
            <p:nvPr/>
          </p:nvSpPr>
          <p:spPr bwMode="auto">
            <a:xfrm>
              <a:off x="1040" y="3056"/>
              <a:ext cx="0" cy="1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8" name="Line 28"/>
            <p:cNvSpPr>
              <a:spLocks noChangeShapeType="1"/>
            </p:cNvSpPr>
            <p:nvPr/>
          </p:nvSpPr>
          <p:spPr bwMode="auto">
            <a:xfrm>
              <a:off x="2338" y="2638"/>
              <a:ext cx="0" cy="1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9" name="Line 29"/>
            <p:cNvSpPr>
              <a:spLocks noChangeShapeType="1"/>
            </p:cNvSpPr>
            <p:nvPr/>
          </p:nvSpPr>
          <p:spPr bwMode="auto">
            <a:xfrm>
              <a:off x="2432" y="3056"/>
              <a:ext cx="93" cy="33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0" name="Line 30"/>
            <p:cNvSpPr>
              <a:spLocks noChangeShapeType="1"/>
            </p:cNvSpPr>
            <p:nvPr/>
          </p:nvSpPr>
          <p:spPr bwMode="auto">
            <a:xfrm>
              <a:off x="2331" y="2112"/>
              <a:ext cx="0" cy="41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1" name="AutoShape 32"/>
            <p:cNvSpPr>
              <a:spLocks noChangeArrowheads="1"/>
            </p:cNvSpPr>
            <p:nvPr/>
          </p:nvSpPr>
          <p:spPr bwMode="auto">
            <a:xfrm>
              <a:off x="2107" y="1853"/>
              <a:ext cx="435" cy="25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学院</a:t>
              </a:r>
              <a:endParaRPr lang="zh-CN" altLang="en-US" sz="1400" dirty="0"/>
            </a:p>
          </p:txBody>
        </p:sp>
        <p:sp>
          <p:nvSpPr>
            <p:cNvPr id="52" name="AutoShape 33"/>
            <p:cNvSpPr>
              <a:spLocks noChangeArrowheads="1"/>
            </p:cNvSpPr>
            <p:nvPr/>
          </p:nvSpPr>
          <p:spPr bwMode="auto">
            <a:xfrm>
              <a:off x="2051" y="2291"/>
              <a:ext cx="561" cy="334"/>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开设</a:t>
              </a:r>
              <a:endParaRPr lang="zh-CN" altLang="en-US" sz="1400"/>
            </a:p>
          </p:txBody>
        </p:sp>
        <p:sp>
          <p:nvSpPr>
            <p:cNvPr id="53" name="AutoShape 36"/>
            <p:cNvSpPr>
              <a:spLocks noChangeArrowheads="1"/>
            </p:cNvSpPr>
            <p:nvPr/>
          </p:nvSpPr>
          <p:spPr bwMode="auto">
            <a:xfrm>
              <a:off x="1460" y="2256"/>
              <a:ext cx="468"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成绩</a:t>
              </a:r>
              <a:endParaRPr lang="zh-CN" altLang="en-US" sz="1400"/>
            </a:p>
          </p:txBody>
        </p:sp>
        <p:sp>
          <p:nvSpPr>
            <p:cNvPr id="54" name="Line 38"/>
            <p:cNvSpPr>
              <a:spLocks noChangeShapeType="1"/>
            </p:cNvSpPr>
            <p:nvPr/>
          </p:nvSpPr>
          <p:spPr bwMode="auto">
            <a:xfrm flipH="1">
              <a:off x="1701" y="2513"/>
              <a:ext cx="0" cy="25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 name="Line 39"/>
            <p:cNvSpPr>
              <a:spLocks noChangeShapeType="1"/>
            </p:cNvSpPr>
            <p:nvPr/>
          </p:nvSpPr>
          <p:spPr bwMode="auto">
            <a:xfrm>
              <a:off x="1967" y="2941"/>
              <a:ext cx="18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42"/>
            <p:cNvSpPr>
              <a:spLocks noChangeShapeType="1"/>
            </p:cNvSpPr>
            <p:nvPr/>
          </p:nvSpPr>
          <p:spPr bwMode="auto">
            <a:xfrm>
              <a:off x="1228" y="2937"/>
              <a:ext cx="1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43"/>
            <p:cNvSpPr>
              <a:spLocks noChangeShapeType="1"/>
            </p:cNvSpPr>
            <p:nvPr/>
          </p:nvSpPr>
          <p:spPr bwMode="auto">
            <a:xfrm flipH="1">
              <a:off x="2060" y="3056"/>
              <a:ext cx="187" cy="3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47"/>
            <p:cNvSpPr>
              <a:spLocks noChangeShapeType="1"/>
            </p:cNvSpPr>
            <p:nvPr/>
          </p:nvSpPr>
          <p:spPr bwMode="auto">
            <a:xfrm>
              <a:off x="2542" y="1969"/>
              <a:ext cx="2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AutoShape 50"/>
            <p:cNvSpPr>
              <a:spLocks noChangeArrowheads="1"/>
            </p:cNvSpPr>
            <p:nvPr/>
          </p:nvSpPr>
          <p:spPr bwMode="auto">
            <a:xfrm>
              <a:off x="305" y="3216"/>
              <a:ext cx="418"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t>专业</a:t>
              </a:r>
            </a:p>
          </p:txBody>
        </p:sp>
        <p:sp>
          <p:nvSpPr>
            <p:cNvPr id="60" name="Line 51"/>
            <p:cNvSpPr>
              <a:spLocks noChangeShapeType="1"/>
            </p:cNvSpPr>
            <p:nvPr/>
          </p:nvSpPr>
          <p:spPr bwMode="auto">
            <a:xfrm flipH="1">
              <a:off x="559" y="3055"/>
              <a:ext cx="307" cy="1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Text Box 52"/>
            <p:cNvSpPr txBox="1">
              <a:spLocks noChangeArrowheads="1"/>
            </p:cNvSpPr>
            <p:nvPr/>
          </p:nvSpPr>
          <p:spPr bwMode="auto">
            <a:xfrm>
              <a:off x="1268" y="2147"/>
              <a:ext cx="1860" cy="1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1600" i="0" dirty="0">
                  <a:latin typeface="Times New Roman" panose="02020603050405020304" pitchFamily="18" charset="0"/>
                </a:rPr>
                <a:t>                          1</a:t>
              </a:r>
            </a:p>
            <a:p>
              <a:pPr algn="just" eaLnBrk="1" hangingPunct="1"/>
              <a:endParaRPr lang="en-US" altLang="zh-CN" sz="1600" i="0" dirty="0">
                <a:latin typeface="Times New Roman" panose="02020603050405020304" pitchFamily="18" charset="0"/>
              </a:endParaRPr>
            </a:p>
            <a:p>
              <a:pPr algn="just" eaLnBrk="1" hangingPunct="1"/>
              <a:r>
                <a:rPr lang="en-US" altLang="zh-CN" sz="1600" i="0" dirty="0">
                  <a:latin typeface="Times New Roman" panose="02020603050405020304" pitchFamily="18" charset="0"/>
                </a:rPr>
                <a:t>                          </a:t>
              </a:r>
            </a:p>
            <a:p>
              <a:pPr algn="just" eaLnBrk="1" hangingPunct="1"/>
              <a:r>
                <a:rPr lang="en-US" altLang="zh-CN" sz="1600" i="0" dirty="0">
                  <a:latin typeface="Times New Roman" panose="02020603050405020304" pitchFamily="18" charset="0"/>
                </a:rPr>
                <a:t>                           n                                             </a:t>
              </a:r>
            </a:p>
            <a:p>
              <a:pPr algn="just" eaLnBrk="1" hangingPunct="1"/>
              <a:r>
                <a:rPr lang="en-US" altLang="zh-CN" sz="1600" i="0" dirty="0">
                  <a:latin typeface="Times New Roman" panose="02020603050405020304" pitchFamily="18" charset="0"/>
                </a:rPr>
                <a:t>m                   n                                    </a:t>
              </a:r>
              <a:endParaRPr lang="en-US" altLang="zh-CN" sz="1600" dirty="0"/>
            </a:p>
          </p:txBody>
        </p:sp>
      </p:grpSp>
      <p:sp>
        <p:nvSpPr>
          <p:cNvPr id="31"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32"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3" name="直接连接符 32"/>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AutoShape 15"/>
          <p:cNvSpPr>
            <a:spLocks noChangeArrowheads="1"/>
          </p:cNvSpPr>
          <p:nvPr/>
        </p:nvSpPr>
        <p:spPr bwMode="auto">
          <a:xfrm>
            <a:off x="6614695" y="4470208"/>
            <a:ext cx="646262" cy="32651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t>学分</a:t>
            </a:r>
          </a:p>
        </p:txBody>
      </p:sp>
      <p:sp>
        <p:nvSpPr>
          <p:cNvPr id="35" name="Line 29"/>
          <p:cNvSpPr>
            <a:spLocks noChangeShapeType="1"/>
          </p:cNvSpPr>
          <p:nvPr/>
        </p:nvSpPr>
        <p:spPr bwMode="auto">
          <a:xfrm flipV="1">
            <a:off x="6115426" y="4622945"/>
            <a:ext cx="49926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62" name="AutoShape 20"/>
          <p:cNvSpPr>
            <a:spLocks noChangeArrowheads="1"/>
          </p:cNvSpPr>
          <p:nvPr/>
        </p:nvSpPr>
        <p:spPr bwMode="auto">
          <a:xfrm>
            <a:off x="4044248" y="2925114"/>
            <a:ext cx="941388"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学院号</a:t>
            </a:r>
            <a:endParaRPr lang="zh-CN" altLang="en-US" sz="1400" u="sng" dirty="0"/>
          </a:p>
        </p:txBody>
      </p:sp>
      <p:sp>
        <p:nvSpPr>
          <p:cNvPr id="63" name="Line 47"/>
          <p:cNvSpPr>
            <a:spLocks noChangeShapeType="1"/>
          </p:cNvSpPr>
          <p:nvPr/>
        </p:nvSpPr>
        <p:spPr bwMode="auto">
          <a:xfrm>
            <a:off x="4972842" y="3123214"/>
            <a:ext cx="444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AutoShape 36"/>
          <p:cNvSpPr>
            <a:spLocks noChangeArrowheads="1"/>
          </p:cNvSpPr>
          <p:nvPr/>
        </p:nvSpPr>
        <p:spPr bwMode="auto">
          <a:xfrm>
            <a:off x="4171155" y="5076177"/>
            <a:ext cx="742950" cy="398463"/>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绩点</a:t>
            </a:r>
            <a:endParaRPr lang="zh-CN" altLang="en-US" sz="1400" dirty="0"/>
          </a:p>
        </p:txBody>
      </p:sp>
      <p:sp>
        <p:nvSpPr>
          <p:cNvPr id="65" name="Line 38"/>
          <p:cNvSpPr>
            <a:spLocks noChangeShapeType="1"/>
          </p:cNvSpPr>
          <p:nvPr/>
        </p:nvSpPr>
        <p:spPr bwMode="auto">
          <a:xfrm flipH="1">
            <a:off x="4542630" y="4872465"/>
            <a:ext cx="251133" cy="2164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66" name="TextBox 65"/>
          <p:cNvSpPr txBox="1"/>
          <p:nvPr/>
        </p:nvSpPr>
        <p:spPr>
          <a:xfrm>
            <a:off x="3647444" y="6129579"/>
            <a:ext cx="2228521" cy="369332"/>
          </a:xfrm>
          <a:prstGeom prst="rect">
            <a:avLst/>
          </a:prstGeom>
          <a:noFill/>
        </p:spPr>
        <p:txBody>
          <a:bodyPr wrap="square" rtlCol="0">
            <a:spAutoFit/>
          </a:bodyPr>
          <a:lstStyle/>
          <a:p>
            <a:r>
              <a:rPr lang="zh-CN" altLang="en-US" dirty="0"/>
              <a:t>选课管理分</a:t>
            </a:r>
            <a:r>
              <a:rPr lang="en-US" altLang="zh-CN" dirty="0"/>
              <a:t>ER</a:t>
            </a:r>
            <a:r>
              <a:rPr lang="zh-CN" altLang="en-US" dirty="0"/>
              <a:t>图</a:t>
            </a:r>
          </a:p>
        </p:txBody>
      </p:sp>
    </p:spTree>
    <p:extLst>
      <p:ext uri="{BB962C8B-B14F-4D97-AF65-F5344CB8AC3E}">
        <p14:creationId xmlns:p14="http://schemas.microsoft.com/office/powerpoint/2010/main" val="2038746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5" name="Line 3"/>
          <p:cNvSpPr>
            <a:spLocks noChangeShapeType="1"/>
          </p:cNvSpPr>
          <p:nvPr/>
        </p:nvSpPr>
        <p:spPr bwMode="auto">
          <a:xfrm>
            <a:off x="6130925" y="990600"/>
            <a:ext cx="120967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5400">
                <a:solidFill>
                  <a:srgbClr val="000000"/>
                </a:solidFill>
                <a:round/>
                <a:headEnd type="triangle" w="med" len="med"/>
                <a:tailEnd type="triangle" w="med" len="med"/>
              </a14:hiddenLine>
            </a:ext>
          </a:extLst>
        </p:spPr>
        <p:txBody>
          <a:bodyPr wrap="none" anchor="ctr"/>
          <a:lstStyle/>
          <a:p>
            <a:endParaRPr lang="zh-CN" altLang="en-US"/>
          </a:p>
        </p:txBody>
      </p:sp>
      <p:sp>
        <p:nvSpPr>
          <p:cNvPr id="7" name="Rectangle 4"/>
          <p:cNvSpPr>
            <a:spLocks noChangeArrowheads="1"/>
          </p:cNvSpPr>
          <p:nvPr/>
        </p:nvSpPr>
        <p:spPr bwMode="auto">
          <a:xfrm>
            <a:off x="425955" y="665850"/>
            <a:ext cx="867568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286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ts val="1200"/>
              </a:spcBef>
            </a:pPr>
            <a:r>
              <a:rPr lang="zh-CN" altLang="en-US" sz="2400" b="1" i="0" dirty="0">
                <a:solidFill>
                  <a:srgbClr val="FF3300"/>
                </a:solidFill>
                <a:latin typeface="楷体_GB2312" pitchFamily="49" charset="-122"/>
                <a:ea typeface="楷体_GB2312" pitchFamily="49" charset="-122"/>
              </a:rPr>
              <a:t>教师开课管理语义：</a:t>
            </a:r>
          </a:p>
          <a:p>
            <a:pPr eaLnBrk="1" hangingPunct="1">
              <a:spcBef>
                <a:spcPts val="1200"/>
              </a:spcBef>
            </a:pPr>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1</a:t>
            </a:r>
            <a:r>
              <a:rPr lang="zh-CN" altLang="en-US" sz="2400" b="1" i="0" dirty="0">
                <a:latin typeface="楷体_GB2312" pitchFamily="49" charset="-122"/>
                <a:ea typeface="楷体_GB2312" pitchFamily="49" charset="-122"/>
              </a:rPr>
              <a:t>）一个部门可有多名教师，一名教师只能属于一个部门；</a:t>
            </a:r>
          </a:p>
          <a:p>
            <a:pPr eaLnBrk="1" hangingPunct="1">
              <a:spcBef>
                <a:spcPts val="1200"/>
              </a:spcBef>
            </a:pPr>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2</a:t>
            </a:r>
            <a:r>
              <a:rPr lang="zh-CN" altLang="en-US" sz="2400" b="1" i="0" dirty="0">
                <a:latin typeface="楷体_GB2312" pitchFamily="49" charset="-122"/>
                <a:ea typeface="楷体_GB2312" pitchFamily="49" charset="-122"/>
              </a:rPr>
              <a:t>）一个部门只有一个负责人；</a:t>
            </a:r>
          </a:p>
          <a:p>
            <a:pPr eaLnBrk="1" hangingPunct="1">
              <a:spcBef>
                <a:spcPts val="1200"/>
              </a:spcBef>
            </a:pPr>
            <a:r>
              <a:rPr lang="zh-CN" altLang="en-US" sz="2400" b="1" i="0" dirty="0">
                <a:latin typeface="楷体_GB2312" pitchFamily="49" charset="-122"/>
                <a:ea typeface="楷体_GB2312" pitchFamily="49" charset="-122"/>
              </a:rPr>
              <a:t>（</a:t>
            </a:r>
            <a:r>
              <a:rPr lang="en-US" altLang="zh-CN" sz="2400" b="1" i="0" dirty="0">
                <a:latin typeface="楷体_GB2312" pitchFamily="49" charset="-122"/>
                <a:ea typeface="楷体_GB2312" pitchFamily="49" charset="-122"/>
              </a:rPr>
              <a:t>3</a:t>
            </a:r>
            <a:r>
              <a:rPr lang="zh-CN" altLang="en-US" sz="2400" b="1" i="0" dirty="0">
                <a:latin typeface="楷体_GB2312" pitchFamily="49" charset="-122"/>
                <a:ea typeface="楷体_GB2312" pitchFamily="49" charset="-122"/>
              </a:rPr>
              <a:t>）一名教师可讲授多门课程，一门课程可为多名教师讲授。</a:t>
            </a:r>
          </a:p>
        </p:txBody>
      </p:sp>
      <p:grpSp>
        <p:nvGrpSpPr>
          <p:cNvPr id="8" name="Group 65"/>
          <p:cNvGrpSpPr>
            <a:grpSpLocks/>
          </p:cNvGrpSpPr>
          <p:nvPr/>
        </p:nvGrpSpPr>
        <p:grpSpPr bwMode="auto">
          <a:xfrm>
            <a:off x="2254321" y="3180700"/>
            <a:ext cx="7077076" cy="2967038"/>
            <a:chOff x="831" y="2163"/>
            <a:chExt cx="4458" cy="1869"/>
          </a:xfrm>
        </p:grpSpPr>
        <p:sp>
          <p:nvSpPr>
            <p:cNvPr id="9" name="Line 7"/>
            <p:cNvSpPr>
              <a:spLocks noChangeShapeType="1"/>
            </p:cNvSpPr>
            <p:nvPr/>
          </p:nvSpPr>
          <p:spPr bwMode="auto">
            <a:xfrm flipH="1" flipV="1">
              <a:off x="2498" y="2954"/>
              <a:ext cx="185" cy="41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12" name="AutoShape 8"/>
            <p:cNvSpPr>
              <a:spLocks noChangeArrowheads="1"/>
            </p:cNvSpPr>
            <p:nvPr/>
          </p:nvSpPr>
          <p:spPr bwMode="auto">
            <a:xfrm>
              <a:off x="930" y="2704"/>
              <a:ext cx="371" cy="250"/>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a:t>
              </a:r>
              <a:endParaRPr lang="zh-CN" altLang="en-US" sz="1400"/>
            </a:p>
          </p:txBody>
        </p:sp>
        <p:sp>
          <p:nvSpPr>
            <p:cNvPr id="13" name="AutoShape 10"/>
            <p:cNvSpPr>
              <a:spLocks noChangeArrowheads="1"/>
            </p:cNvSpPr>
            <p:nvPr/>
          </p:nvSpPr>
          <p:spPr bwMode="auto">
            <a:xfrm>
              <a:off x="2229" y="2695"/>
              <a:ext cx="371" cy="25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教师</a:t>
              </a:r>
              <a:endParaRPr lang="zh-CN" altLang="en-US" sz="1400"/>
            </a:p>
          </p:txBody>
        </p:sp>
        <p:sp>
          <p:nvSpPr>
            <p:cNvPr id="14" name="AutoShape 13"/>
            <p:cNvSpPr>
              <a:spLocks noChangeArrowheads="1"/>
            </p:cNvSpPr>
            <p:nvPr/>
          </p:nvSpPr>
          <p:spPr bwMode="auto">
            <a:xfrm>
              <a:off x="851" y="3282"/>
              <a:ext cx="555"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课程名</a:t>
              </a:r>
              <a:endParaRPr lang="zh-CN" altLang="en-US" sz="1400"/>
            </a:p>
          </p:txBody>
        </p:sp>
        <p:sp>
          <p:nvSpPr>
            <p:cNvPr id="15" name="AutoShape 14"/>
            <p:cNvSpPr>
              <a:spLocks noChangeArrowheads="1"/>
            </p:cNvSpPr>
            <p:nvPr/>
          </p:nvSpPr>
          <p:spPr bwMode="auto">
            <a:xfrm>
              <a:off x="2967" y="2660"/>
              <a:ext cx="555" cy="335"/>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属于</a:t>
              </a:r>
              <a:endParaRPr lang="zh-CN" altLang="en-US" sz="1400"/>
            </a:p>
          </p:txBody>
        </p:sp>
        <p:sp>
          <p:nvSpPr>
            <p:cNvPr id="16" name="AutoShape 15"/>
            <p:cNvSpPr>
              <a:spLocks noChangeArrowheads="1"/>
            </p:cNvSpPr>
            <p:nvPr/>
          </p:nvSpPr>
          <p:spPr bwMode="auto">
            <a:xfrm>
              <a:off x="1485" y="2671"/>
              <a:ext cx="555" cy="335"/>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讲授</a:t>
              </a:r>
              <a:endParaRPr lang="zh-CN" altLang="en-US" sz="1400"/>
            </a:p>
          </p:txBody>
        </p:sp>
        <p:sp>
          <p:nvSpPr>
            <p:cNvPr id="17" name="AutoShape 17"/>
            <p:cNvSpPr>
              <a:spLocks noChangeArrowheads="1"/>
            </p:cNvSpPr>
            <p:nvPr/>
          </p:nvSpPr>
          <p:spPr bwMode="auto">
            <a:xfrm>
              <a:off x="831" y="2163"/>
              <a:ext cx="551"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课程号</a:t>
              </a:r>
              <a:endParaRPr lang="zh-CN" altLang="en-US" sz="1400"/>
            </a:p>
          </p:txBody>
        </p:sp>
        <p:sp>
          <p:nvSpPr>
            <p:cNvPr id="18" name="AutoShape 19"/>
            <p:cNvSpPr>
              <a:spLocks noChangeArrowheads="1"/>
            </p:cNvSpPr>
            <p:nvPr/>
          </p:nvSpPr>
          <p:spPr bwMode="auto">
            <a:xfrm>
              <a:off x="3912" y="2264"/>
              <a:ext cx="555"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部门名</a:t>
              </a:r>
              <a:endParaRPr lang="zh-CN" altLang="en-US" sz="1400"/>
            </a:p>
          </p:txBody>
        </p:sp>
        <p:sp>
          <p:nvSpPr>
            <p:cNvPr id="19" name="AutoShape 20"/>
            <p:cNvSpPr>
              <a:spLocks noChangeArrowheads="1"/>
            </p:cNvSpPr>
            <p:nvPr/>
          </p:nvSpPr>
          <p:spPr bwMode="auto">
            <a:xfrm>
              <a:off x="1837" y="2195"/>
              <a:ext cx="555"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工号</a:t>
              </a:r>
              <a:endParaRPr lang="zh-CN" altLang="en-US" sz="1400" dirty="0"/>
            </a:p>
          </p:txBody>
        </p:sp>
        <p:sp>
          <p:nvSpPr>
            <p:cNvPr id="20" name="AutoShape 21"/>
            <p:cNvSpPr>
              <a:spLocks noChangeArrowheads="1"/>
            </p:cNvSpPr>
            <p:nvPr/>
          </p:nvSpPr>
          <p:spPr bwMode="auto">
            <a:xfrm>
              <a:off x="2438" y="2202"/>
              <a:ext cx="463"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姓名</a:t>
              </a:r>
              <a:endParaRPr lang="zh-CN" altLang="en-US" sz="1400"/>
            </a:p>
          </p:txBody>
        </p:sp>
        <p:sp>
          <p:nvSpPr>
            <p:cNvPr id="21" name="AutoShape 22"/>
            <p:cNvSpPr>
              <a:spLocks noChangeArrowheads="1"/>
            </p:cNvSpPr>
            <p:nvPr/>
          </p:nvSpPr>
          <p:spPr bwMode="auto">
            <a:xfrm>
              <a:off x="1968" y="3297"/>
              <a:ext cx="463"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性别</a:t>
              </a:r>
              <a:endParaRPr lang="zh-CN" altLang="en-US" sz="1400"/>
            </a:p>
          </p:txBody>
        </p:sp>
        <p:sp>
          <p:nvSpPr>
            <p:cNvPr id="22" name="AutoShape 23"/>
            <p:cNvSpPr>
              <a:spLocks noChangeArrowheads="1"/>
            </p:cNvSpPr>
            <p:nvPr/>
          </p:nvSpPr>
          <p:spPr bwMode="auto">
            <a:xfrm>
              <a:off x="2475" y="3297"/>
              <a:ext cx="463"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职称</a:t>
              </a:r>
              <a:endParaRPr lang="zh-CN" altLang="en-US" sz="1400" dirty="0"/>
            </a:p>
          </p:txBody>
        </p:sp>
        <p:sp>
          <p:nvSpPr>
            <p:cNvPr id="23" name="Line 27"/>
            <p:cNvSpPr>
              <a:spLocks noChangeShapeType="1"/>
            </p:cNvSpPr>
            <p:nvPr/>
          </p:nvSpPr>
          <p:spPr bwMode="auto">
            <a:xfrm>
              <a:off x="1123" y="2965"/>
              <a:ext cx="0" cy="3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25" name="Line 29"/>
            <p:cNvSpPr>
              <a:spLocks noChangeShapeType="1"/>
            </p:cNvSpPr>
            <p:nvPr/>
          </p:nvSpPr>
          <p:spPr bwMode="auto">
            <a:xfrm flipH="1">
              <a:off x="2222" y="2954"/>
              <a:ext cx="92" cy="33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26" name="AutoShape 32"/>
            <p:cNvSpPr>
              <a:spLocks noChangeArrowheads="1"/>
            </p:cNvSpPr>
            <p:nvPr/>
          </p:nvSpPr>
          <p:spPr bwMode="auto">
            <a:xfrm>
              <a:off x="3787" y="2704"/>
              <a:ext cx="369" cy="25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部门</a:t>
              </a:r>
              <a:endParaRPr lang="zh-CN" altLang="en-US" sz="1400"/>
            </a:p>
          </p:txBody>
        </p:sp>
        <p:sp>
          <p:nvSpPr>
            <p:cNvPr id="27" name="AutoShape 33"/>
            <p:cNvSpPr>
              <a:spLocks noChangeArrowheads="1"/>
            </p:cNvSpPr>
            <p:nvPr/>
          </p:nvSpPr>
          <p:spPr bwMode="auto">
            <a:xfrm>
              <a:off x="3379" y="2251"/>
              <a:ext cx="555"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部门号</a:t>
              </a:r>
              <a:endParaRPr lang="zh-CN" altLang="en-US" sz="1400"/>
            </a:p>
          </p:txBody>
        </p:sp>
        <p:sp>
          <p:nvSpPr>
            <p:cNvPr id="28" name="Line 35"/>
            <p:cNvSpPr>
              <a:spLocks noChangeShapeType="1"/>
            </p:cNvSpPr>
            <p:nvPr/>
          </p:nvSpPr>
          <p:spPr bwMode="auto">
            <a:xfrm flipH="1">
              <a:off x="3515" y="2840"/>
              <a:ext cx="272"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29" name="Line 38"/>
            <p:cNvSpPr>
              <a:spLocks noChangeShapeType="1"/>
            </p:cNvSpPr>
            <p:nvPr/>
          </p:nvSpPr>
          <p:spPr bwMode="auto">
            <a:xfrm>
              <a:off x="1301" y="2839"/>
              <a:ext cx="1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39"/>
            <p:cNvSpPr>
              <a:spLocks noChangeShapeType="1"/>
            </p:cNvSpPr>
            <p:nvPr/>
          </p:nvSpPr>
          <p:spPr bwMode="auto">
            <a:xfrm>
              <a:off x="2039" y="2839"/>
              <a:ext cx="1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41"/>
            <p:cNvSpPr>
              <a:spLocks noChangeShapeType="1"/>
            </p:cNvSpPr>
            <p:nvPr/>
          </p:nvSpPr>
          <p:spPr bwMode="auto">
            <a:xfrm flipH="1">
              <a:off x="1104" y="2436"/>
              <a:ext cx="0" cy="2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42"/>
            <p:cNvSpPr>
              <a:spLocks noChangeShapeType="1"/>
            </p:cNvSpPr>
            <p:nvPr/>
          </p:nvSpPr>
          <p:spPr bwMode="auto">
            <a:xfrm>
              <a:off x="2116" y="2453"/>
              <a:ext cx="184" cy="2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43"/>
            <p:cNvSpPr>
              <a:spLocks noChangeShapeType="1"/>
            </p:cNvSpPr>
            <p:nvPr/>
          </p:nvSpPr>
          <p:spPr bwMode="auto">
            <a:xfrm flipH="1">
              <a:off x="2485" y="2453"/>
              <a:ext cx="184" cy="25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44"/>
            <p:cNvSpPr>
              <a:spLocks noChangeShapeType="1"/>
            </p:cNvSpPr>
            <p:nvPr/>
          </p:nvSpPr>
          <p:spPr bwMode="auto">
            <a:xfrm>
              <a:off x="2600" y="2827"/>
              <a:ext cx="36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46"/>
            <p:cNvSpPr>
              <a:spLocks noChangeShapeType="1"/>
            </p:cNvSpPr>
            <p:nvPr/>
          </p:nvSpPr>
          <p:spPr bwMode="auto">
            <a:xfrm>
              <a:off x="3651" y="2523"/>
              <a:ext cx="276" cy="1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47"/>
            <p:cNvSpPr>
              <a:spLocks noChangeShapeType="1"/>
            </p:cNvSpPr>
            <p:nvPr/>
          </p:nvSpPr>
          <p:spPr bwMode="auto">
            <a:xfrm flipH="1">
              <a:off x="4112" y="2523"/>
              <a:ext cx="92" cy="1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AutoShape 51"/>
            <p:cNvSpPr>
              <a:spLocks noChangeArrowheads="1"/>
            </p:cNvSpPr>
            <p:nvPr/>
          </p:nvSpPr>
          <p:spPr bwMode="auto">
            <a:xfrm>
              <a:off x="4513" y="2659"/>
              <a:ext cx="555" cy="335"/>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负责</a:t>
              </a:r>
              <a:endParaRPr lang="zh-CN" altLang="en-US" sz="1400"/>
            </a:p>
          </p:txBody>
        </p:sp>
        <p:sp>
          <p:nvSpPr>
            <p:cNvPr id="38" name="Line 53"/>
            <p:cNvSpPr>
              <a:spLocks noChangeShapeType="1"/>
            </p:cNvSpPr>
            <p:nvPr/>
          </p:nvSpPr>
          <p:spPr bwMode="auto">
            <a:xfrm>
              <a:off x="4146" y="2826"/>
              <a:ext cx="36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54"/>
            <p:cNvSpPr>
              <a:spLocks noChangeShapeType="1"/>
            </p:cNvSpPr>
            <p:nvPr/>
          </p:nvSpPr>
          <p:spPr bwMode="auto">
            <a:xfrm flipH="1">
              <a:off x="4785" y="2995"/>
              <a:ext cx="5" cy="25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1" name="AutoShape 56"/>
            <p:cNvSpPr>
              <a:spLocks noChangeArrowheads="1"/>
            </p:cNvSpPr>
            <p:nvPr/>
          </p:nvSpPr>
          <p:spPr bwMode="auto">
            <a:xfrm>
              <a:off x="4564" y="3249"/>
              <a:ext cx="454" cy="25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负责人</a:t>
              </a:r>
              <a:endParaRPr lang="zh-CN" altLang="en-US" sz="1400" dirty="0"/>
            </a:p>
          </p:txBody>
        </p:sp>
        <p:sp>
          <p:nvSpPr>
            <p:cNvPr id="42" name="AutoShape 57"/>
            <p:cNvSpPr>
              <a:spLocks noChangeArrowheads="1"/>
            </p:cNvSpPr>
            <p:nvPr/>
          </p:nvSpPr>
          <p:spPr bwMode="auto">
            <a:xfrm>
              <a:off x="4564" y="3781"/>
              <a:ext cx="463"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t>姓名</a:t>
              </a:r>
            </a:p>
          </p:txBody>
        </p:sp>
        <p:sp>
          <p:nvSpPr>
            <p:cNvPr id="44" name="Line 59"/>
            <p:cNvSpPr>
              <a:spLocks noChangeShapeType="1"/>
            </p:cNvSpPr>
            <p:nvPr/>
          </p:nvSpPr>
          <p:spPr bwMode="auto">
            <a:xfrm flipH="1">
              <a:off x="4790" y="3500"/>
              <a:ext cx="1" cy="28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45" name="AutoShape 62"/>
            <p:cNvSpPr>
              <a:spLocks noChangeArrowheads="1"/>
            </p:cNvSpPr>
            <p:nvPr/>
          </p:nvSpPr>
          <p:spPr bwMode="auto">
            <a:xfrm>
              <a:off x="3972" y="3254"/>
              <a:ext cx="421" cy="25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工号</a:t>
              </a:r>
              <a:endParaRPr lang="zh-CN" altLang="en-US" sz="1400"/>
            </a:p>
          </p:txBody>
        </p:sp>
        <p:sp>
          <p:nvSpPr>
            <p:cNvPr id="46" name="Line 63"/>
            <p:cNvSpPr>
              <a:spLocks noChangeShapeType="1"/>
            </p:cNvSpPr>
            <p:nvPr/>
          </p:nvSpPr>
          <p:spPr bwMode="auto">
            <a:xfrm>
              <a:off x="4393" y="3362"/>
              <a:ext cx="1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Rectangle 64"/>
            <p:cNvSpPr>
              <a:spLocks noChangeArrowheads="1"/>
            </p:cNvSpPr>
            <p:nvPr/>
          </p:nvSpPr>
          <p:spPr bwMode="auto">
            <a:xfrm>
              <a:off x="1247" y="2296"/>
              <a:ext cx="4042"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5715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lang="en-US" altLang="zh-CN" dirty="0"/>
                <a:t>                     </a:t>
              </a:r>
              <a:endParaRPr lang="en-US" altLang="zh-CN" i="0" dirty="0"/>
            </a:p>
            <a:p>
              <a:pPr eaLnBrk="1" hangingPunct="1"/>
              <a:r>
                <a:rPr lang="en-US" altLang="zh-CN" i="0" dirty="0"/>
                <a:t>                                                                  </a:t>
              </a:r>
            </a:p>
            <a:p>
              <a:pPr eaLnBrk="1" hangingPunct="1"/>
              <a:r>
                <a:rPr lang="en-US" altLang="zh-CN" i="0" dirty="0"/>
                <a:t> m                n               n                  1                 1</a:t>
              </a:r>
            </a:p>
            <a:p>
              <a:pPr eaLnBrk="1" hangingPunct="1"/>
              <a:endParaRPr lang="en-US" altLang="zh-CN" i="0" dirty="0"/>
            </a:p>
            <a:p>
              <a:pPr eaLnBrk="1" hangingPunct="1"/>
              <a:r>
                <a:rPr lang="en-US" altLang="zh-CN" i="0" dirty="0"/>
                <a:t>                                                                                    1</a:t>
              </a:r>
            </a:p>
          </p:txBody>
        </p:sp>
      </p:grpSp>
      <p:sp>
        <p:nvSpPr>
          <p:cNvPr id="48"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49"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50" name="直接连接符 49"/>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AutoShape 15"/>
          <p:cNvSpPr>
            <a:spLocks noChangeArrowheads="1"/>
          </p:cNvSpPr>
          <p:nvPr/>
        </p:nvSpPr>
        <p:spPr bwMode="auto">
          <a:xfrm>
            <a:off x="1221283" y="4111068"/>
            <a:ext cx="646262" cy="32651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t>学时</a:t>
            </a:r>
          </a:p>
        </p:txBody>
      </p:sp>
      <p:sp>
        <p:nvSpPr>
          <p:cNvPr id="52" name="Line 29"/>
          <p:cNvSpPr>
            <a:spLocks noChangeShapeType="1"/>
          </p:cNvSpPr>
          <p:nvPr/>
        </p:nvSpPr>
        <p:spPr bwMode="auto">
          <a:xfrm flipV="1">
            <a:off x="1870583" y="4272050"/>
            <a:ext cx="49926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3" name="TextBox 52"/>
          <p:cNvSpPr txBox="1"/>
          <p:nvPr/>
        </p:nvSpPr>
        <p:spPr>
          <a:xfrm>
            <a:off x="4057885" y="6129579"/>
            <a:ext cx="2681918" cy="369332"/>
          </a:xfrm>
          <a:prstGeom prst="rect">
            <a:avLst/>
          </a:prstGeom>
          <a:noFill/>
        </p:spPr>
        <p:txBody>
          <a:bodyPr wrap="square" rtlCol="0">
            <a:spAutoFit/>
          </a:bodyPr>
          <a:lstStyle/>
          <a:p>
            <a:r>
              <a:rPr lang="zh-CN" altLang="en-US" dirty="0"/>
              <a:t>教师开课管理分</a:t>
            </a:r>
            <a:r>
              <a:rPr lang="en-US" altLang="zh-CN" dirty="0"/>
              <a:t>ER</a:t>
            </a:r>
            <a:r>
              <a:rPr lang="zh-CN" altLang="en-US" dirty="0"/>
              <a:t>图</a:t>
            </a:r>
          </a:p>
        </p:txBody>
      </p:sp>
    </p:spTree>
    <p:extLst>
      <p:ext uri="{BB962C8B-B14F-4D97-AF65-F5344CB8AC3E}">
        <p14:creationId xmlns:p14="http://schemas.microsoft.com/office/powerpoint/2010/main" val="26151555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8" name="Rectangle 2"/>
          <p:cNvSpPr>
            <a:spLocks noChangeArrowheads="1"/>
          </p:cNvSpPr>
          <p:nvPr/>
        </p:nvSpPr>
        <p:spPr bwMode="auto">
          <a:xfrm>
            <a:off x="539749" y="1773238"/>
            <a:ext cx="11108459" cy="4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eaLnBrk="0" hangingPunct="0">
              <a:defRPr i="1">
                <a:solidFill>
                  <a:schemeClr val="tx1"/>
                </a:solidFill>
                <a:latin typeface="Arial" panose="020B0604020202020204" pitchFamily="34" charset="0"/>
                <a:ea typeface="宋体" panose="02010600030101010101" pitchFamily="2" charset="-122"/>
              </a:defRPr>
            </a:lvl2pPr>
            <a:lvl3pPr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ts val="1200"/>
              </a:spcBef>
            </a:pPr>
            <a:r>
              <a:rPr kumimoji="1" lang="en-US" altLang="zh-CN" sz="2800" b="1" i="0" dirty="0">
                <a:latin typeface="楷体_GB2312" pitchFamily="49" charset="-122"/>
                <a:ea typeface="楷体_GB2312" pitchFamily="49" charset="-122"/>
              </a:rPr>
              <a:t>    </a:t>
            </a:r>
            <a:r>
              <a:rPr kumimoji="1" lang="zh-CN" altLang="en-US" sz="2800" b="1" i="0" dirty="0">
                <a:latin typeface="楷体_GB2312" pitchFamily="49" charset="-122"/>
                <a:ea typeface="楷体_GB2312" pitchFamily="49" charset="-122"/>
              </a:rPr>
              <a:t>对局部概念模型进行合并，集成为一个整体的数据概念结构即总</a:t>
            </a:r>
            <a:r>
              <a:rPr kumimoji="1" lang="en-US" altLang="zh-CN" sz="2800" b="1" i="0" dirty="0">
                <a:latin typeface="楷体_GB2312" pitchFamily="49" charset="-122"/>
                <a:ea typeface="楷体_GB2312" pitchFamily="49" charset="-122"/>
              </a:rPr>
              <a:t>E-R</a:t>
            </a:r>
            <a:r>
              <a:rPr kumimoji="1" lang="zh-CN" altLang="en-US" sz="2800" b="1" i="0" dirty="0">
                <a:latin typeface="楷体_GB2312" pitchFamily="49" charset="-122"/>
                <a:ea typeface="楷体_GB2312" pitchFamily="49" charset="-122"/>
              </a:rPr>
              <a:t>图。</a:t>
            </a:r>
          </a:p>
          <a:p>
            <a:pPr eaLnBrk="1" hangingPunct="1">
              <a:spcBef>
                <a:spcPts val="1200"/>
              </a:spcBef>
            </a:pPr>
            <a:r>
              <a:rPr kumimoji="1" lang="zh-CN" altLang="en-US" sz="2800" i="0" dirty="0">
                <a:solidFill>
                  <a:srgbClr val="FF6600"/>
                </a:solidFill>
                <a:latin typeface="楷体_GB2312" pitchFamily="49" charset="-122"/>
                <a:ea typeface="楷体_GB2312" pitchFamily="49" charset="-122"/>
              </a:rPr>
              <a:t>▼</a:t>
            </a:r>
            <a:r>
              <a:rPr kumimoji="1" lang="zh-CN" altLang="en-US" sz="2800" b="1" i="0" dirty="0">
                <a:latin typeface="楷体_GB2312" pitchFamily="49" charset="-122"/>
                <a:ea typeface="楷体_GB2312" pitchFamily="49" charset="-122"/>
              </a:rPr>
              <a:t>集成的两种方式：</a:t>
            </a:r>
          </a:p>
          <a:p>
            <a:pPr lvl="1" eaLnBrk="1" hangingPunct="1">
              <a:spcBef>
                <a:spcPts val="1200"/>
              </a:spcBef>
            </a:pPr>
            <a:r>
              <a:rPr kumimoji="1" lang="zh-CN" altLang="en-US" sz="2800" b="1" i="0" dirty="0">
                <a:latin typeface="楷体_GB2312" pitchFamily="49" charset="-122"/>
                <a:ea typeface="楷体_GB2312" pitchFamily="49" charset="-122"/>
              </a:rPr>
              <a:t>１）</a:t>
            </a:r>
            <a:r>
              <a:rPr kumimoji="1" lang="zh-CN" altLang="en-US" sz="2800" b="1" i="0" dirty="0">
                <a:solidFill>
                  <a:srgbClr val="FF3300"/>
                </a:solidFill>
                <a:latin typeface="楷体_GB2312" pitchFamily="49" charset="-122"/>
                <a:ea typeface="楷体_GB2312" pitchFamily="49" charset="-122"/>
              </a:rPr>
              <a:t>多元集成法</a:t>
            </a:r>
          </a:p>
          <a:p>
            <a:pPr lvl="2" eaLnBrk="1" hangingPunct="1">
              <a:spcBef>
                <a:spcPts val="1200"/>
              </a:spcBef>
            </a:pPr>
            <a:r>
              <a:rPr kumimoji="1" lang="zh-CN" altLang="en-US" sz="2800" b="1" i="0" dirty="0">
                <a:latin typeface="楷体_GB2312" pitchFamily="49" charset="-122"/>
                <a:ea typeface="楷体_GB2312" pitchFamily="49" charset="-122"/>
              </a:rPr>
              <a:t>通常用于局部视图比较简单时。</a:t>
            </a:r>
          </a:p>
          <a:p>
            <a:pPr lvl="1" eaLnBrk="1" hangingPunct="1">
              <a:spcBef>
                <a:spcPts val="1200"/>
              </a:spcBef>
            </a:pPr>
            <a:r>
              <a:rPr kumimoji="1" lang="zh-CN" altLang="en-US" sz="2800" b="1" i="0" dirty="0">
                <a:latin typeface="楷体_GB2312" pitchFamily="49" charset="-122"/>
                <a:ea typeface="楷体_GB2312" pitchFamily="49" charset="-122"/>
              </a:rPr>
              <a:t>２）</a:t>
            </a:r>
            <a:r>
              <a:rPr kumimoji="1" lang="zh-CN" altLang="en-US" sz="2800" b="1" i="0" dirty="0">
                <a:solidFill>
                  <a:srgbClr val="FF3300"/>
                </a:solidFill>
                <a:latin typeface="楷体_GB2312" pitchFamily="49" charset="-122"/>
                <a:ea typeface="楷体_GB2312" pitchFamily="49" charset="-122"/>
              </a:rPr>
              <a:t>二元集成法</a:t>
            </a:r>
          </a:p>
          <a:p>
            <a:pPr lvl="2" eaLnBrk="1" hangingPunct="1">
              <a:spcBef>
                <a:spcPts val="1200"/>
              </a:spcBef>
            </a:pPr>
            <a:r>
              <a:rPr kumimoji="1" lang="zh-CN" altLang="en-US" sz="2800" b="1" i="0" dirty="0">
                <a:latin typeface="楷体_GB2312" pitchFamily="49" charset="-122"/>
                <a:ea typeface="楷体_GB2312" pitchFamily="49" charset="-122"/>
              </a:rPr>
              <a:t>首先集成两个局部视图（通常是比较关键的两个局部视图）；以后每次将一个新的局部视图集成进来。</a:t>
            </a:r>
          </a:p>
        </p:txBody>
      </p:sp>
      <p:sp>
        <p:nvSpPr>
          <p:cNvPr id="49" name="Rectangle 4"/>
          <p:cNvSpPr>
            <a:spLocks noChangeArrowheads="1"/>
          </p:cNvSpPr>
          <p:nvPr/>
        </p:nvSpPr>
        <p:spPr bwMode="auto">
          <a:xfrm>
            <a:off x="539750" y="1052513"/>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indent="0" eaLnBrk="1" hangingPunct="1">
              <a:lnSpc>
                <a:spcPct val="90000"/>
              </a:lnSpc>
              <a:spcBef>
                <a:spcPct val="20000"/>
              </a:spcBef>
              <a:buClr>
                <a:srgbClr val="FFFF66"/>
              </a:buClr>
              <a:buSzPct val="75000"/>
            </a:pPr>
            <a:r>
              <a:rPr kumimoji="1" lang="en-US" altLang="zh-CN" sz="3200" b="1" i="0" dirty="0">
                <a:solidFill>
                  <a:srgbClr val="000066"/>
                </a:solidFill>
                <a:latin typeface="Tahoma" panose="020B0604030504040204" pitchFamily="34" charset="0"/>
              </a:rPr>
              <a:t> </a:t>
            </a:r>
            <a:r>
              <a:rPr kumimoji="1" lang="zh-CN" altLang="en-US" sz="3200" b="1" i="0" dirty="0">
                <a:solidFill>
                  <a:srgbClr val="000066"/>
                </a:solidFill>
                <a:latin typeface="Tahoma" panose="020B0604030504040204" pitchFamily="34" charset="0"/>
              </a:rPr>
              <a:t>第</a:t>
            </a:r>
            <a:r>
              <a:rPr kumimoji="1" lang="en-US" altLang="zh-CN" sz="3200" b="1" i="0" dirty="0">
                <a:solidFill>
                  <a:srgbClr val="000066"/>
                </a:solidFill>
                <a:latin typeface="Tahoma" panose="020B0604030504040204" pitchFamily="34" charset="0"/>
              </a:rPr>
              <a:t>2</a:t>
            </a:r>
            <a:r>
              <a:rPr kumimoji="1" lang="zh-CN" altLang="en-US" sz="3200" b="1" i="0" dirty="0">
                <a:solidFill>
                  <a:srgbClr val="000066"/>
                </a:solidFill>
                <a:latin typeface="Tahoma" panose="020B0604030504040204" pitchFamily="34" charset="0"/>
              </a:rPr>
              <a:t>步：局部</a:t>
            </a:r>
            <a:r>
              <a:rPr kumimoji="1" lang="en-US" altLang="zh-CN" sz="3200" b="1" i="0" dirty="0">
                <a:solidFill>
                  <a:srgbClr val="000066"/>
                </a:solidFill>
                <a:latin typeface="Tahoma" panose="020B0604030504040204" pitchFamily="34" charset="0"/>
              </a:rPr>
              <a:t>E-R</a:t>
            </a:r>
            <a:r>
              <a:rPr kumimoji="1" lang="zh-CN" altLang="en-US" sz="3200" b="1" i="0" dirty="0">
                <a:solidFill>
                  <a:srgbClr val="000066"/>
                </a:solidFill>
                <a:latin typeface="Tahoma" panose="020B0604030504040204" pitchFamily="34" charset="0"/>
              </a:rPr>
              <a:t>模型的集成</a:t>
            </a:r>
          </a:p>
        </p:txBody>
      </p:sp>
      <p:sp>
        <p:nvSpPr>
          <p:cNvPr id="6"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85242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Effect transition="in" filter="checkerboard(across)">
                                      <p:cBhvr>
                                        <p:cTn id="7" dur="500"/>
                                        <p:tgtEl>
                                          <p:spTgt spid="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8">
                                            <p:txEl>
                                              <p:pRg st="1" end="1"/>
                                            </p:txEl>
                                          </p:spTgt>
                                        </p:tgtEl>
                                        <p:attrNameLst>
                                          <p:attrName>style.visibility</p:attrName>
                                        </p:attrNameLst>
                                      </p:cBhvr>
                                      <p:to>
                                        <p:strVal val="visible"/>
                                      </p:to>
                                    </p:set>
                                    <p:animEffect transition="in" filter="checkerboard(across)">
                                      <p:cBhvr>
                                        <p:cTn id="12" dur="500"/>
                                        <p:tgtEl>
                                          <p:spTgt spid="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8">
                                            <p:txEl>
                                              <p:pRg st="2" end="2"/>
                                            </p:txEl>
                                          </p:spTgt>
                                        </p:tgtEl>
                                        <p:attrNameLst>
                                          <p:attrName>style.visibility</p:attrName>
                                        </p:attrNameLst>
                                      </p:cBhvr>
                                      <p:to>
                                        <p:strVal val="visible"/>
                                      </p:to>
                                    </p:set>
                                    <p:animEffect transition="in" filter="checkerboard(across)">
                                      <p:cBhvr>
                                        <p:cTn id="17" dur="500"/>
                                        <p:tgtEl>
                                          <p:spTgt spid="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8">
                                            <p:txEl>
                                              <p:pRg st="3" end="3"/>
                                            </p:txEl>
                                          </p:spTgt>
                                        </p:tgtEl>
                                        <p:attrNameLst>
                                          <p:attrName>style.visibility</p:attrName>
                                        </p:attrNameLst>
                                      </p:cBhvr>
                                      <p:to>
                                        <p:strVal val="visible"/>
                                      </p:to>
                                    </p:set>
                                    <p:animEffect transition="in" filter="checkerboard(across)">
                                      <p:cBhvr>
                                        <p:cTn id="22" dur="500"/>
                                        <p:tgtEl>
                                          <p:spTgt spid="4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8">
                                            <p:txEl>
                                              <p:pRg st="4" end="4"/>
                                            </p:txEl>
                                          </p:spTgt>
                                        </p:tgtEl>
                                        <p:attrNameLst>
                                          <p:attrName>style.visibility</p:attrName>
                                        </p:attrNameLst>
                                      </p:cBhvr>
                                      <p:to>
                                        <p:strVal val="visible"/>
                                      </p:to>
                                    </p:set>
                                    <p:animEffect transition="in" filter="checkerboard(across)">
                                      <p:cBhvr>
                                        <p:cTn id="27" dur="500"/>
                                        <p:tgtEl>
                                          <p:spTgt spid="4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8">
                                            <p:txEl>
                                              <p:pRg st="5" end="5"/>
                                            </p:txEl>
                                          </p:spTgt>
                                        </p:tgtEl>
                                        <p:attrNameLst>
                                          <p:attrName>style.visibility</p:attrName>
                                        </p:attrNameLst>
                                      </p:cBhvr>
                                      <p:to>
                                        <p:strVal val="visible"/>
                                      </p:to>
                                    </p:set>
                                    <p:animEffect transition="in" filter="checkerboard(across)">
                                      <p:cBhvr>
                                        <p:cTn id="32" dur="500"/>
                                        <p:tgtEl>
                                          <p:spTgt spid="4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4"/>
          <p:cNvSpPr>
            <a:spLocks noChangeArrowheads="1"/>
          </p:cNvSpPr>
          <p:nvPr/>
        </p:nvSpPr>
        <p:spPr bwMode="auto">
          <a:xfrm>
            <a:off x="488374" y="1341438"/>
            <a:ext cx="6103938"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indent="0" eaLnBrk="1" hangingPunct="1">
              <a:lnSpc>
                <a:spcPct val="110000"/>
              </a:lnSpc>
              <a:spcBef>
                <a:spcPct val="20000"/>
              </a:spcBef>
              <a:buClr>
                <a:srgbClr val="FFFF66"/>
              </a:buClr>
            </a:pPr>
            <a:r>
              <a:rPr kumimoji="1" lang="zh-CN" altLang="en-US" sz="2800" i="0" dirty="0">
                <a:solidFill>
                  <a:srgbClr val="FF6600"/>
                </a:solidFill>
                <a:latin typeface="楷体_GB2312" pitchFamily="49" charset="-122"/>
                <a:ea typeface="楷体_GB2312" pitchFamily="49" charset="-122"/>
              </a:rPr>
              <a:t>▼</a:t>
            </a:r>
            <a:r>
              <a:rPr kumimoji="1" lang="zh-CN" altLang="en-US" sz="2800" b="1" i="0" dirty="0">
                <a:solidFill>
                  <a:srgbClr val="000066"/>
                </a:solidFill>
                <a:latin typeface="Tahoma" panose="020B0604030504040204" pitchFamily="34" charset="0"/>
              </a:rPr>
              <a:t>集成局部</a:t>
            </a:r>
            <a:r>
              <a:rPr kumimoji="1" lang="en-US" altLang="zh-CN" sz="2800" b="1" i="0" dirty="0">
                <a:solidFill>
                  <a:srgbClr val="000066"/>
                </a:solidFill>
                <a:latin typeface="Tahoma" panose="020B0604030504040204" pitchFamily="34" charset="0"/>
              </a:rPr>
              <a:t>E-R</a:t>
            </a:r>
            <a:r>
              <a:rPr kumimoji="1" lang="zh-CN" altLang="en-US" sz="2800" b="1" i="0" dirty="0">
                <a:solidFill>
                  <a:srgbClr val="000066"/>
                </a:solidFill>
                <a:latin typeface="Tahoma" panose="020B0604030504040204" pitchFamily="34" charset="0"/>
              </a:rPr>
              <a:t>图步骤</a:t>
            </a:r>
            <a:r>
              <a:rPr kumimoji="1" lang="en-US" altLang="zh-CN" sz="2800" b="1" i="0" dirty="0">
                <a:solidFill>
                  <a:srgbClr val="000066"/>
                </a:solidFill>
                <a:latin typeface="Tahoma" panose="020B0604030504040204" pitchFamily="34" charset="0"/>
              </a:rPr>
              <a:t>:</a:t>
            </a:r>
          </a:p>
          <a:p>
            <a:pPr marL="0" eaLnBrk="1" hangingPunct="1">
              <a:lnSpc>
                <a:spcPct val="110000"/>
              </a:lnSpc>
              <a:spcBef>
                <a:spcPct val="20000"/>
              </a:spcBef>
              <a:buClr>
                <a:schemeClr val="accent1"/>
              </a:buClr>
            </a:pPr>
            <a:r>
              <a:rPr kumimoji="1" lang="en-US" altLang="zh-CN" sz="2800" b="1" i="0" dirty="0">
                <a:solidFill>
                  <a:srgbClr val="CC3300"/>
                </a:solidFill>
                <a:latin typeface="Tahoma" panose="020B0604030504040204" pitchFamily="34" charset="0"/>
              </a:rPr>
              <a:t>⒈  </a:t>
            </a:r>
            <a:r>
              <a:rPr kumimoji="1" lang="zh-CN" altLang="en-US" sz="2800" b="1" i="0" dirty="0">
                <a:solidFill>
                  <a:srgbClr val="CC3300"/>
                </a:solidFill>
                <a:latin typeface="Tahoma" panose="020B0604030504040204" pitchFamily="34" charset="0"/>
              </a:rPr>
              <a:t>合并</a:t>
            </a:r>
            <a:r>
              <a:rPr kumimoji="1" lang="zh-CN" altLang="en-US" sz="2800" b="1" i="0" dirty="0">
                <a:solidFill>
                  <a:srgbClr val="000066"/>
                </a:solidFill>
                <a:latin typeface="Tahoma" panose="020B0604030504040204" pitchFamily="34" charset="0"/>
              </a:rPr>
              <a:t>：解决各局部</a:t>
            </a:r>
            <a:r>
              <a:rPr kumimoji="1" lang="en-US" altLang="zh-CN" sz="2800" b="1" i="0" dirty="0">
                <a:solidFill>
                  <a:srgbClr val="000066"/>
                </a:solidFill>
                <a:latin typeface="Tahoma" panose="020B0604030504040204" pitchFamily="34" charset="0"/>
              </a:rPr>
              <a:t>E-R</a:t>
            </a:r>
            <a:r>
              <a:rPr kumimoji="1" lang="zh-CN" altLang="en-US" sz="2800" b="1" i="0" dirty="0">
                <a:solidFill>
                  <a:srgbClr val="000066"/>
                </a:solidFill>
                <a:latin typeface="Tahoma" panose="020B0604030504040204" pitchFamily="34" charset="0"/>
              </a:rPr>
              <a:t>图之间的冲突，将各分</a:t>
            </a:r>
            <a:r>
              <a:rPr kumimoji="1" lang="en-US" altLang="zh-CN" sz="2800" b="1" i="0" dirty="0">
                <a:solidFill>
                  <a:srgbClr val="000066"/>
                </a:solidFill>
                <a:latin typeface="Tahoma" panose="020B0604030504040204" pitchFamily="34" charset="0"/>
              </a:rPr>
              <a:t>E </a:t>
            </a:r>
            <a:r>
              <a:rPr kumimoji="1" lang="en-US" altLang="zh-CN" sz="2800" b="1" i="0" dirty="0">
                <a:solidFill>
                  <a:srgbClr val="000066"/>
                </a:solidFill>
                <a:latin typeface="Times New Roman" panose="02020603050405020304" pitchFamily="18" charset="0"/>
              </a:rPr>
              <a:t>–</a:t>
            </a:r>
            <a:r>
              <a:rPr kumimoji="1" lang="en-US" altLang="zh-CN" sz="2800" b="1" i="0" dirty="0">
                <a:solidFill>
                  <a:srgbClr val="000066"/>
                </a:solidFill>
                <a:latin typeface="Tahoma" panose="020B0604030504040204" pitchFamily="34" charset="0"/>
              </a:rPr>
              <a:t>R</a:t>
            </a:r>
            <a:r>
              <a:rPr kumimoji="1" lang="zh-CN" altLang="en-US" sz="2800" b="1" i="0" dirty="0">
                <a:solidFill>
                  <a:srgbClr val="000066"/>
                </a:solidFill>
                <a:latin typeface="Tahoma" panose="020B0604030504040204" pitchFamily="34" charset="0"/>
              </a:rPr>
              <a:t>图合并起来生成初步</a:t>
            </a:r>
            <a:r>
              <a:rPr kumimoji="1" lang="en-US" altLang="zh-CN" sz="2800" b="1" i="0" dirty="0">
                <a:solidFill>
                  <a:srgbClr val="000066"/>
                </a:solidFill>
                <a:latin typeface="Tahoma" panose="020B0604030504040204" pitchFamily="34" charset="0"/>
              </a:rPr>
              <a:t>E-R</a:t>
            </a:r>
            <a:r>
              <a:rPr kumimoji="1" lang="zh-CN" altLang="en-US" sz="2800" b="1" i="0" dirty="0">
                <a:solidFill>
                  <a:srgbClr val="000066"/>
                </a:solidFill>
                <a:latin typeface="Tahoma" panose="020B0604030504040204" pitchFamily="34" charset="0"/>
              </a:rPr>
              <a:t>图。</a:t>
            </a:r>
          </a:p>
          <a:p>
            <a:pPr marL="0" eaLnBrk="1" hangingPunct="1">
              <a:lnSpc>
                <a:spcPct val="110000"/>
              </a:lnSpc>
              <a:spcBef>
                <a:spcPct val="20000"/>
              </a:spcBef>
              <a:buClr>
                <a:schemeClr val="accent1"/>
              </a:buClr>
            </a:pPr>
            <a:r>
              <a:rPr kumimoji="1" lang="zh-CN" altLang="en-US" sz="2800" b="1" i="0" dirty="0">
                <a:solidFill>
                  <a:srgbClr val="CC3300"/>
                </a:solidFill>
                <a:latin typeface="Tahoma" panose="020B0604030504040204" pitchFamily="34" charset="0"/>
              </a:rPr>
              <a:t>⒉  优化</a:t>
            </a:r>
            <a:r>
              <a:rPr kumimoji="1" lang="zh-CN" altLang="en-US" sz="2800" b="1" i="0" dirty="0">
                <a:solidFill>
                  <a:srgbClr val="000066"/>
                </a:solidFill>
                <a:latin typeface="Tahoma" panose="020B0604030504040204" pitchFamily="34" charset="0"/>
              </a:rPr>
              <a:t>：消除不必要的冗余，生成全局</a:t>
            </a:r>
            <a:r>
              <a:rPr kumimoji="1" lang="en-US" altLang="zh-CN" sz="2800" b="1" i="0" dirty="0">
                <a:solidFill>
                  <a:srgbClr val="000066"/>
                </a:solidFill>
                <a:latin typeface="Tahoma" panose="020B0604030504040204" pitchFamily="34" charset="0"/>
              </a:rPr>
              <a:t>E-R</a:t>
            </a:r>
            <a:r>
              <a:rPr kumimoji="1" lang="zh-CN" altLang="en-US" sz="2800" b="1" i="0" dirty="0">
                <a:solidFill>
                  <a:srgbClr val="000066"/>
                </a:solidFill>
                <a:latin typeface="Tahoma" panose="020B0604030504040204" pitchFamily="34" charset="0"/>
              </a:rPr>
              <a:t>图。</a:t>
            </a:r>
            <a:endParaRPr kumimoji="1" lang="en-US" altLang="zh-CN" sz="2800" b="1" i="0" dirty="0">
              <a:solidFill>
                <a:srgbClr val="000066"/>
              </a:solidFill>
              <a:latin typeface="Tahoma" panose="020B0604030504040204" pitchFamily="34" charset="0"/>
            </a:endParaRPr>
          </a:p>
          <a:p>
            <a:pPr marL="0" eaLnBrk="1" hangingPunct="1">
              <a:lnSpc>
                <a:spcPct val="110000"/>
              </a:lnSpc>
              <a:spcBef>
                <a:spcPct val="20000"/>
              </a:spcBef>
              <a:buClr>
                <a:schemeClr val="accent1"/>
              </a:buClr>
            </a:pPr>
            <a:endParaRPr kumimoji="1" lang="zh-CN" altLang="en-US" sz="2800" b="1" i="0" dirty="0">
              <a:solidFill>
                <a:srgbClr val="000066"/>
              </a:solidFill>
              <a:latin typeface="Tahoma" panose="020B0604030504040204" pitchFamily="34" charset="0"/>
            </a:endParaRPr>
          </a:p>
        </p:txBody>
      </p:sp>
      <p:grpSp>
        <p:nvGrpSpPr>
          <p:cNvPr id="7" name="Group 5"/>
          <p:cNvGrpSpPr>
            <a:grpSpLocks/>
          </p:cNvGrpSpPr>
          <p:nvPr/>
        </p:nvGrpSpPr>
        <p:grpSpPr bwMode="auto">
          <a:xfrm>
            <a:off x="6736773" y="1773238"/>
            <a:ext cx="4391025" cy="2971800"/>
            <a:chOff x="3168" y="1344"/>
            <a:chExt cx="2384" cy="1872"/>
          </a:xfrm>
        </p:grpSpPr>
        <p:sp>
          <p:nvSpPr>
            <p:cNvPr id="8" name="Line 6"/>
            <p:cNvSpPr>
              <a:spLocks noChangeShapeType="1"/>
            </p:cNvSpPr>
            <p:nvPr/>
          </p:nvSpPr>
          <p:spPr bwMode="auto">
            <a:xfrm>
              <a:off x="3724" y="1656"/>
              <a:ext cx="0" cy="499"/>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7"/>
            <p:cNvSpPr txBox="1">
              <a:spLocks noChangeArrowheads="1"/>
            </p:cNvSpPr>
            <p:nvPr/>
          </p:nvSpPr>
          <p:spPr bwMode="auto">
            <a:xfrm>
              <a:off x="3804" y="1718"/>
              <a:ext cx="7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r>
                <a:rPr lang="zh-CN" altLang="en-US" sz="2400" b="1" i="0">
                  <a:solidFill>
                    <a:srgbClr val="000066"/>
                  </a:solidFill>
                  <a:latin typeface="Times New Roman" panose="02020603050405020304" pitchFamily="18" charset="0"/>
                </a:rPr>
                <a:t>合并</a:t>
              </a:r>
              <a:endParaRPr lang="zh-CN" altLang="en-US" sz="1600" i="0">
                <a:solidFill>
                  <a:srgbClr val="000066"/>
                </a:solidFill>
                <a:latin typeface="Times New Roman" panose="02020603050405020304" pitchFamily="18" charset="0"/>
              </a:endParaRPr>
            </a:p>
          </p:txBody>
        </p:sp>
        <p:sp>
          <p:nvSpPr>
            <p:cNvPr id="12" name="Text Box 8"/>
            <p:cNvSpPr txBox="1">
              <a:spLocks noChangeArrowheads="1"/>
            </p:cNvSpPr>
            <p:nvPr/>
          </p:nvSpPr>
          <p:spPr bwMode="auto">
            <a:xfrm>
              <a:off x="3168" y="2155"/>
              <a:ext cx="1113" cy="312"/>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400" b="1" i="0">
                  <a:solidFill>
                    <a:srgbClr val="000066"/>
                  </a:solidFill>
                  <a:latin typeface="Times New Roman" panose="02020603050405020304" pitchFamily="18" charset="0"/>
                </a:rPr>
                <a:t>初步</a:t>
              </a:r>
              <a:r>
                <a:rPr lang="en-US" altLang="zh-CN" sz="2400" b="1" i="0">
                  <a:solidFill>
                    <a:srgbClr val="000066"/>
                  </a:solidFill>
                  <a:latin typeface="Times New Roman" panose="02020603050405020304" pitchFamily="18" charset="0"/>
                </a:rPr>
                <a:t>E-R</a:t>
              </a:r>
              <a:r>
                <a:rPr lang="zh-CN" altLang="en-US" sz="2400" b="1" i="0">
                  <a:solidFill>
                    <a:srgbClr val="000066"/>
                  </a:solidFill>
                  <a:latin typeface="Times New Roman" panose="02020603050405020304" pitchFamily="18" charset="0"/>
                </a:rPr>
                <a:t>图</a:t>
              </a:r>
            </a:p>
          </p:txBody>
        </p:sp>
        <p:sp>
          <p:nvSpPr>
            <p:cNvPr id="13" name="Text Box 9"/>
            <p:cNvSpPr txBox="1">
              <a:spLocks noChangeArrowheads="1"/>
            </p:cNvSpPr>
            <p:nvPr/>
          </p:nvSpPr>
          <p:spPr bwMode="auto">
            <a:xfrm>
              <a:off x="3247" y="1344"/>
              <a:ext cx="954" cy="312"/>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r>
                <a:rPr lang="zh-CN" altLang="en-US" sz="2400" b="1" i="0">
                  <a:solidFill>
                    <a:srgbClr val="000066"/>
                  </a:solidFill>
                  <a:latin typeface="Times New Roman" panose="02020603050405020304" pitchFamily="18" charset="0"/>
                </a:rPr>
                <a:t>局部</a:t>
              </a:r>
              <a:r>
                <a:rPr lang="en-US" altLang="zh-CN" sz="2400" b="1" i="0">
                  <a:solidFill>
                    <a:srgbClr val="000066"/>
                  </a:solidFill>
                  <a:latin typeface="Times New Roman" panose="02020603050405020304" pitchFamily="18" charset="0"/>
                </a:rPr>
                <a:t>E-R</a:t>
              </a:r>
              <a:r>
                <a:rPr lang="zh-CN" altLang="en-US" sz="2400" b="1" i="0">
                  <a:solidFill>
                    <a:srgbClr val="000066"/>
                  </a:solidFill>
                  <a:latin typeface="Times New Roman" panose="02020603050405020304" pitchFamily="18" charset="0"/>
                </a:rPr>
                <a:t>图</a:t>
              </a:r>
            </a:p>
          </p:txBody>
        </p:sp>
        <p:sp>
          <p:nvSpPr>
            <p:cNvPr id="14" name="Text Box 10"/>
            <p:cNvSpPr txBox="1">
              <a:spLocks noChangeArrowheads="1"/>
            </p:cNvSpPr>
            <p:nvPr/>
          </p:nvSpPr>
          <p:spPr bwMode="auto">
            <a:xfrm>
              <a:off x="3168" y="2904"/>
              <a:ext cx="1113" cy="312"/>
            </a:xfrm>
            <a:prstGeom prst="rect">
              <a:avLst/>
            </a:prstGeom>
            <a:noFill/>
            <a:ln w="254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400" b="1" i="0">
                  <a:solidFill>
                    <a:srgbClr val="000066"/>
                  </a:solidFill>
                  <a:latin typeface="Times New Roman" panose="02020603050405020304" pitchFamily="18" charset="0"/>
                </a:rPr>
                <a:t>全局</a:t>
              </a:r>
              <a:r>
                <a:rPr lang="en-US" altLang="zh-CN" sz="2400" b="1" i="0">
                  <a:solidFill>
                    <a:srgbClr val="000066"/>
                  </a:solidFill>
                  <a:latin typeface="Times New Roman" panose="02020603050405020304" pitchFamily="18" charset="0"/>
                </a:rPr>
                <a:t>E-R</a:t>
              </a:r>
              <a:r>
                <a:rPr lang="zh-CN" altLang="en-US" sz="2400" b="1" i="0">
                  <a:solidFill>
                    <a:srgbClr val="000066"/>
                  </a:solidFill>
                  <a:latin typeface="Times New Roman" panose="02020603050405020304" pitchFamily="18" charset="0"/>
                </a:rPr>
                <a:t>图</a:t>
              </a:r>
            </a:p>
          </p:txBody>
        </p:sp>
        <p:sp>
          <p:nvSpPr>
            <p:cNvPr id="15" name="Line 11"/>
            <p:cNvSpPr>
              <a:spLocks noChangeShapeType="1"/>
            </p:cNvSpPr>
            <p:nvPr/>
          </p:nvSpPr>
          <p:spPr bwMode="auto">
            <a:xfrm>
              <a:off x="3724" y="2467"/>
              <a:ext cx="0" cy="437"/>
            </a:xfrm>
            <a:prstGeom prst="line">
              <a:avLst/>
            </a:prstGeom>
            <a:noFill/>
            <a:ln w="2540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2"/>
            <p:cNvSpPr txBox="1">
              <a:spLocks noChangeArrowheads="1"/>
            </p:cNvSpPr>
            <p:nvPr/>
          </p:nvSpPr>
          <p:spPr bwMode="auto">
            <a:xfrm>
              <a:off x="3804" y="2530"/>
              <a:ext cx="174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a:r>
                <a:rPr lang="zh-CN" altLang="en-US" sz="2400" b="1" i="0">
                  <a:solidFill>
                    <a:srgbClr val="000066"/>
                  </a:solidFill>
                  <a:latin typeface="Times New Roman" panose="02020603050405020304" pitchFamily="18" charset="0"/>
                </a:rPr>
                <a:t>消除不必要的冗余</a:t>
              </a:r>
              <a:endParaRPr lang="zh-CN" altLang="en-US" sz="1600" i="0">
                <a:solidFill>
                  <a:srgbClr val="000066"/>
                </a:solidFill>
                <a:latin typeface="Times New Roman" panose="02020603050405020304" pitchFamily="18" charset="0"/>
              </a:endParaRPr>
            </a:p>
          </p:txBody>
        </p:sp>
      </p:grpSp>
      <p:sp>
        <p:nvSpPr>
          <p:cNvPr id="17"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8"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806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3"/>
          <p:cNvSpPr txBox="1">
            <a:spLocks noChangeArrowheads="1"/>
          </p:cNvSpPr>
          <p:nvPr/>
        </p:nvSpPr>
        <p:spPr bwMode="auto">
          <a:xfrm>
            <a:off x="643148" y="1035627"/>
            <a:ext cx="777240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FF66"/>
              </a:buClr>
              <a:buFontTx/>
              <a:buNone/>
            </a:pPr>
            <a:r>
              <a:rPr lang="zh-CN" altLang="en-US" b="1">
                <a:solidFill>
                  <a:srgbClr val="CC3300"/>
                </a:solidFill>
              </a:rPr>
              <a:t>（</a:t>
            </a:r>
            <a:r>
              <a:rPr lang="en-US" altLang="zh-CN" b="1">
                <a:solidFill>
                  <a:srgbClr val="CC3300"/>
                </a:solidFill>
              </a:rPr>
              <a:t>1</a:t>
            </a:r>
            <a:r>
              <a:rPr lang="zh-CN" altLang="en-US" b="1">
                <a:solidFill>
                  <a:srgbClr val="CC3300"/>
                </a:solidFill>
              </a:rPr>
              <a:t>） 合并局部</a:t>
            </a:r>
            <a:r>
              <a:rPr lang="en-US" altLang="zh-CN" b="1">
                <a:solidFill>
                  <a:srgbClr val="CC3300"/>
                </a:solidFill>
              </a:rPr>
              <a:t>E-R</a:t>
            </a:r>
            <a:r>
              <a:rPr lang="zh-CN" altLang="en-US" b="1">
                <a:solidFill>
                  <a:srgbClr val="CC3300"/>
                </a:solidFill>
              </a:rPr>
              <a:t>图，生成全局</a:t>
            </a:r>
            <a:r>
              <a:rPr lang="en-US" altLang="zh-CN" b="1">
                <a:solidFill>
                  <a:srgbClr val="CC3300"/>
                </a:solidFill>
              </a:rPr>
              <a:t>E-R</a:t>
            </a:r>
            <a:r>
              <a:rPr lang="zh-CN" altLang="en-US" b="1">
                <a:solidFill>
                  <a:srgbClr val="CC3300"/>
                </a:solidFill>
              </a:rPr>
              <a:t>图</a:t>
            </a:r>
          </a:p>
        </p:txBody>
      </p:sp>
      <p:sp>
        <p:nvSpPr>
          <p:cNvPr id="7" name="Rectangle 4"/>
          <p:cNvSpPr>
            <a:spLocks noChangeArrowheads="1"/>
          </p:cNvSpPr>
          <p:nvPr/>
        </p:nvSpPr>
        <p:spPr bwMode="auto">
          <a:xfrm>
            <a:off x="2043546" y="1645227"/>
            <a:ext cx="7772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FF66"/>
              </a:buClr>
              <a:buFontTx/>
              <a:buChar char="•"/>
            </a:pPr>
            <a:r>
              <a:rPr kumimoji="1" lang="zh-CN" altLang="en-US" sz="2800" b="1" i="0" dirty="0">
                <a:solidFill>
                  <a:srgbClr val="000066"/>
                </a:solidFill>
                <a:latin typeface="Tahoma" panose="020B0604030504040204" pitchFamily="34" charset="0"/>
              </a:rPr>
              <a:t>各局部Ｅ</a:t>
            </a:r>
            <a:r>
              <a:rPr kumimoji="1" lang="en-US" altLang="zh-CN" sz="2800" b="1" i="0" dirty="0">
                <a:solidFill>
                  <a:srgbClr val="000066"/>
                </a:solidFill>
                <a:latin typeface="Tahoma" panose="020B0604030504040204" pitchFamily="34" charset="0"/>
              </a:rPr>
              <a:t>-</a:t>
            </a:r>
            <a:r>
              <a:rPr kumimoji="1" lang="zh-CN" altLang="en-US" sz="2800" b="1" i="0" dirty="0">
                <a:solidFill>
                  <a:srgbClr val="000066"/>
                </a:solidFill>
                <a:latin typeface="Tahoma" panose="020B0604030504040204" pitchFamily="34" charset="0"/>
              </a:rPr>
              <a:t>Ｒ图存在冲突</a:t>
            </a:r>
          </a:p>
          <a:p>
            <a:pPr lvl="1" eaLnBrk="1" hangingPunct="1">
              <a:spcBef>
                <a:spcPct val="20000"/>
              </a:spcBef>
              <a:buClr>
                <a:schemeClr val="hlink"/>
              </a:buClr>
            </a:pPr>
            <a:r>
              <a:rPr kumimoji="1" lang="zh-CN" altLang="en-US" sz="2800" b="1" i="0" dirty="0">
                <a:solidFill>
                  <a:srgbClr val="000066"/>
                </a:solidFill>
                <a:latin typeface="Tahoma" panose="020B0604030504040204" pitchFamily="34" charset="0"/>
              </a:rPr>
              <a:t>        各个局部应用所面向的问题不同且由不同的设计人员进行设计</a:t>
            </a:r>
          </a:p>
        </p:txBody>
      </p:sp>
      <p:sp>
        <p:nvSpPr>
          <p:cNvPr id="8" name="AutoShape 5"/>
          <p:cNvSpPr>
            <a:spLocks noChangeArrowheads="1"/>
          </p:cNvSpPr>
          <p:nvPr/>
        </p:nvSpPr>
        <p:spPr bwMode="auto">
          <a:xfrm>
            <a:off x="5396346" y="3169227"/>
            <a:ext cx="228600" cy="609600"/>
          </a:xfrm>
          <a:prstGeom prst="downArrow">
            <a:avLst>
              <a:gd name="adj1" fmla="val 50000"/>
              <a:gd name="adj2" fmla="val 66667"/>
            </a:avLst>
          </a:prstGeom>
          <a:solidFill>
            <a:schemeClr val="hlink"/>
          </a:solidFill>
          <a:ln w="9525">
            <a:solidFill>
              <a:schemeClr val="hlink"/>
            </a:solidFill>
            <a:miter lim="800000"/>
            <a:headEnd/>
            <a:tailEnd/>
          </a:ln>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Rectangle 6"/>
          <p:cNvSpPr>
            <a:spLocks noChangeArrowheads="1"/>
          </p:cNvSpPr>
          <p:nvPr/>
        </p:nvSpPr>
        <p:spPr bwMode="auto">
          <a:xfrm>
            <a:off x="1814946" y="3245427"/>
            <a:ext cx="77724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lvl="1" eaLnBrk="1" hangingPunct="1">
              <a:spcBef>
                <a:spcPct val="20000"/>
              </a:spcBef>
              <a:buClr>
                <a:schemeClr val="hlink"/>
              </a:buClr>
            </a:pPr>
            <a:endParaRPr kumimoji="1" lang="en-US" altLang="zh-CN" sz="2800" b="1" i="0">
              <a:solidFill>
                <a:srgbClr val="000066"/>
              </a:solidFill>
              <a:latin typeface="Tahoma" panose="020B0604030504040204" pitchFamily="34" charset="0"/>
            </a:endParaRPr>
          </a:p>
          <a:p>
            <a:pPr lvl="1" eaLnBrk="1" hangingPunct="1">
              <a:spcBef>
                <a:spcPct val="20000"/>
              </a:spcBef>
              <a:buClr>
                <a:schemeClr val="hlink"/>
              </a:buClr>
            </a:pPr>
            <a:r>
              <a:rPr kumimoji="1" lang="en-US" altLang="zh-CN" sz="2800" b="1" i="0">
                <a:solidFill>
                  <a:srgbClr val="000066"/>
                </a:solidFill>
                <a:latin typeface="Tahoma" panose="020B0604030504040204" pitchFamily="34" charset="0"/>
              </a:rPr>
              <a:t>	        </a:t>
            </a:r>
            <a:r>
              <a:rPr kumimoji="1" lang="zh-CN" altLang="en-US" sz="2800" b="1" i="0">
                <a:solidFill>
                  <a:srgbClr val="000066"/>
                </a:solidFill>
                <a:latin typeface="Tahoma" panose="020B0604030504040204" pitchFamily="34" charset="0"/>
              </a:rPr>
              <a:t>各个局部</a:t>
            </a:r>
            <a:r>
              <a:rPr kumimoji="1" lang="en-US" altLang="zh-CN" sz="2800" b="1" i="0">
                <a:solidFill>
                  <a:srgbClr val="000066"/>
                </a:solidFill>
                <a:latin typeface="Tahoma" panose="020B0604030504040204" pitchFamily="34" charset="0"/>
              </a:rPr>
              <a:t>E-R</a:t>
            </a:r>
            <a:r>
              <a:rPr kumimoji="1" lang="zh-CN" altLang="en-US" sz="2800" b="1" i="0">
                <a:solidFill>
                  <a:srgbClr val="000066"/>
                </a:solidFill>
                <a:latin typeface="Tahoma" panose="020B0604030504040204" pitchFamily="34" charset="0"/>
              </a:rPr>
              <a:t>图之间必定会存在许多不一致的地方－－冲突</a:t>
            </a:r>
          </a:p>
          <a:p>
            <a:pPr lvl="1" eaLnBrk="1" hangingPunct="1">
              <a:spcBef>
                <a:spcPct val="20000"/>
              </a:spcBef>
              <a:buClr>
                <a:schemeClr val="hlink"/>
              </a:buClr>
            </a:pPr>
            <a:endParaRPr kumimoji="1" lang="zh-CN" altLang="en-US" sz="2800" b="1" i="0">
              <a:solidFill>
                <a:srgbClr val="000066"/>
              </a:solidFill>
              <a:latin typeface="Tahoma" panose="020B0604030504040204" pitchFamily="34" charset="0"/>
            </a:endParaRPr>
          </a:p>
          <a:p>
            <a:pPr lvl="1" eaLnBrk="1" hangingPunct="1">
              <a:spcBef>
                <a:spcPct val="20000"/>
              </a:spcBef>
              <a:buClr>
                <a:schemeClr val="hlink"/>
              </a:buClr>
            </a:pPr>
            <a:r>
              <a:rPr kumimoji="1" lang="zh-CN" altLang="en-US" sz="2800" b="1" i="0">
                <a:solidFill>
                  <a:srgbClr val="000066"/>
                </a:solidFill>
                <a:latin typeface="Tahoma" panose="020B0604030504040204" pitchFamily="34" charset="0"/>
              </a:rPr>
              <a:t>合并局部</a:t>
            </a:r>
            <a:r>
              <a:rPr kumimoji="1" lang="en-US" altLang="zh-CN" sz="2800" b="1" i="0">
                <a:solidFill>
                  <a:srgbClr val="000066"/>
                </a:solidFill>
                <a:latin typeface="Tahoma" panose="020B0604030504040204" pitchFamily="34" charset="0"/>
              </a:rPr>
              <a:t>E-R</a:t>
            </a:r>
            <a:r>
              <a:rPr kumimoji="1" lang="zh-CN" altLang="en-US" sz="2800" b="1" i="0">
                <a:solidFill>
                  <a:srgbClr val="000066"/>
                </a:solidFill>
                <a:latin typeface="Tahoma" panose="020B0604030504040204" pitchFamily="34" charset="0"/>
              </a:rPr>
              <a:t>图的主要工作与关键所在：</a:t>
            </a:r>
            <a:r>
              <a:rPr kumimoji="1" lang="zh-CN" altLang="en-US" sz="2800" b="1" i="0">
                <a:solidFill>
                  <a:srgbClr val="FF3300"/>
                </a:solidFill>
                <a:latin typeface="Tahoma" panose="020B0604030504040204" pitchFamily="34" charset="0"/>
              </a:rPr>
              <a:t>合理消除各局部</a:t>
            </a:r>
            <a:r>
              <a:rPr kumimoji="1" lang="en-US" altLang="zh-CN" sz="2800" b="1" i="0">
                <a:solidFill>
                  <a:srgbClr val="FF3300"/>
                </a:solidFill>
                <a:latin typeface="Tahoma" panose="020B0604030504040204" pitchFamily="34" charset="0"/>
              </a:rPr>
              <a:t>E-R</a:t>
            </a:r>
            <a:r>
              <a:rPr kumimoji="1" lang="zh-CN" altLang="en-US" sz="2800" b="1" i="0">
                <a:solidFill>
                  <a:srgbClr val="FF3300"/>
                </a:solidFill>
                <a:latin typeface="Tahoma" panose="020B0604030504040204" pitchFamily="34" charset="0"/>
              </a:rPr>
              <a:t>图的冲突。</a:t>
            </a:r>
          </a:p>
        </p:txBody>
      </p:sp>
      <p:sp>
        <p:nvSpPr>
          <p:cNvPr id="10"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1"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2784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out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animEffect transition="in" filter="blinds(horizontal)">
                                      <p:cBhvr>
                                        <p:cTn id="22" dur="500"/>
                                        <p:tgtEl>
                                          <p:spTgt spid="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animEffect transition="in" filter="blinds(horizontal)">
                                      <p:cBhvr>
                                        <p:cTn id="2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2" autoUpdateAnimBg="0"/>
      <p:bldP spid="8" grpId="0" animBg="1"/>
      <p:bldP spid="9" grpId="0" build="p" bldLvl="2"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3"/>
          <p:cNvSpPr txBox="1">
            <a:spLocks noChangeArrowheads="1"/>
          </p:cNvSpPr>
          <p:nvPr/>
        </p:nvSpPr>
        <p:spPr bwMode="auto">
          <a:xfrm>
            <a:off x="533400" y="1066800"/>
            <a:ext cx="777240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buClr>
                <a:srgbClr val="FFFF66"/>
              </a:buClr>
              <a:buNone/>
            </a:pPr>
            <a:r>
              <a:rPr kumimoji="1" lang="zh-CN" altLang="en-US" b="1" dirty="0">
                <a:solidFill>
                  <a:srgbClr val="000066"/>
                </a:solidFill>
                <a:latin typeface="Tahoma" panose="020B0604030504040204" pitchFamily="34" charset="0"/>
              </a:rPr>
              <a:t>三种主要的冲突类型：</a:t>
            </a:r>
          </a:p>
        </p:txBody>
      </p:sp>
      <p:sp>
        <p:nvSpPr>
          <p:cNvPr id="7" name="Rectangle 4"/>
          <p:cNvSpPr>
            <a:spLocks noChangeArrowheads="1"/>
          </p:cNvSpPr>
          <p:nvPr/>
        </p:nvSpPr>
        <p:spPr bwMode="auto">
          <a:xfrm>
            <a:off x="457200" y="1600200"/>
            <a:ext cx="10245436" cy="194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i="1">
                <a:solidFill>
                  <a:schemeClr val="tx1"/>
                </a:solidFill>
                <a:latin typeface="Arial" panose="020B0604020202020204" pitchFamily="34" charset="0"/>
                <a:ea typeface="宋体" panose="02010600030101010101" pitchFamily="2" charset="-122"/>
              </a:defRPr>
            </a:lvl1pPr>
            <a:lvl2pPr marL="914400" indent="-45720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marL="0" indent="0" eaLnBrk="1" hangingPunct="1">
              <a:lnSpc>
                <a:spcPct val="125000"/>
              </a:lnSpc>
              <a:spcBef>
                <a:spcPct val="30000"/>
              </a:spcBef>
            </a:pPr>
            <a:r>
              <a:rPr kumimoji="1" lang="en-US" altLang="zh-CN" sz="2800" b="1" i="0" dirty="0">
                <a:solidFill>
                  <a:srgbClr val="CC3300"/>
                </a:solidFill>
                <a:latin typeface="Tahoma" panose="020B0604030504040204" pitchFamily="34" charset="0"/>
              </a:rPr>
              <a:t>a.</a:t>
            </a:r>
            <a:r>
              <a:rPr kumimoji="1" lang="zh-CN" altLang="en-US" sz="2800" b="1" i="0" dirty="0">
                <a:solidFill>
                  <a:srgbClr val="CC3300"/>
                </a:solidFill>
                <a:latin typeface="Tahoma" panose="020B0604030504040204" pitchFamily="34" charset="0"/>
              </a:rPr>
              <a:t>属性冲突</a:t>
            </a:r>
          </a:p>
          <a:p>
            <a:pPr lvl="1" eaLnBrk="1" hangingPunct="1">
              <a:lnSpc>
                <a:spcPct val="125000"/>
              </a:lnSpc>
              <a:spcBef>
                <a:spcPct val="30000"/>
              </a:spcBef>
              <a:buClr>
                <a:schemeClr val="hlink"/>
              </a:buClr>
              <a:buFontTx/>
              <a:buChar char="–"/>
            </a:pPr>
            <a:r>
              <a:rPr kumimoji="1" lang="zh-CN" altLang="en-US" sz="2800" b="1" i="0" dirty="0">
                <a:solidFill>
                  <a:srgbClr val="000066"/>
                </a:solidFill>
                <a:latin typeface="Tahoma" panose="020B0604030504040204" pitchFamily="34" charset="0"/>
              </a:rPr>
              <a:t>属性域冲突：属性值的类型、取值范围或取值集合不同。</a:t>
            </a:r>
          </a:p>
          <a:p>
            <a:pPr lvl="1" eaLnBrk="1" hangingPunct="1">
              <a:lnSpc>
                <a:spcPct val="125000"/>
              </a:lnSpc>
              <a:spcBef>
                <a:spcPct val="30000"/>
              </a:spcBef>
              <a:buClr>
                <a:schemeClr val="hlink"/>
              </a:buClr>
              <a:buFontTx/>
              <a:buChar char="–"/>
            </a:pPr>
            <a:r>
              <a:rPr kumimoji="1" lang="zh-CN" altLang="en-US" sz="2800" b="1" i="0" dirty="0">
                <a:solidFill>
                  <a:srgbClr val="000066"/>
                </a:solidFill>
                <a:latin typeface="Tahoma" panose="020B0604030504040204" pitchFamily="34" charset="0"/>
              </a:rPr>
              <a:t>属性取值单位冲突</a:t>
            </a:r>
          </a:p>
        </p:txBody>
      </p:sp>
      <p:sp>
        <p:nvSpPr>
          <p:cNvPr id="8" name="Rectangle 5"/>
          <p:cNvSpPr>
            <a:spLocks noChangeArrowheads="1"/>
          </p:cNvSpPr>
          <p:nvPr/>
        </p:nvSpPr>
        <p:spPr bwMode="auto">
          <a:xfrm>
            <a:off x="928416" y="5407909"/>
            <a:ext cx="81534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Clr>
                <a:schemeClr val="folHlink"/>
              </a:buClr>
              <a:buSzPct val="60000"/>
              <a:buFont typeface="Wingdings" panose="05000000000000000000" pitchFamily="2" charset="2"/>
              <a:buNone/>
            </a:pPr>
            <a:r>
              <a:rPr kumimoji="1" lang="zh-CN" altLang="en-US" sz="2800" b="1" i="0" dirty="0">
                <a:solidFill>
                  <a:schemeClr val="accent2"/>
                </a:solidFill>
                <a:latin typeface="Tahoma" panose="020B0604030504040204" pitchFamily="34" charset="0"/>
              </a:rPr>
              <a:t>解决方法：通常用讨论、协商等行政手段加以解决</a:t>
            </a:r>
          </a:p>
        </p:txBody>
      </p:sp>
      <p:sp>
        <p:nvSpPr>
          <p:cNvPr id="9"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344191" y="3530438"/>
            <a:ext cx="10423902" cy="1514261"/>
          </a:xfrm>
          <a:prstGeom prst="rect">
            <a:avLst/>
          </a:prstGeom>
        </p:spPr>
        <p:txBody>
          <a:bodyPr wrap="square">
            <a:spAutoFit/>
          </a:bodyPr>
          <a:lstStyle/>
          <a:p>
            <a:pPr lvl="1">
              <a:lnSpc>
                <a:spcPct val="110000"/>
              </a:lnSpc>
              <a:spcBef>
                <a:spcPct val="15000"/>
              </a:spcBef>
              <a:buClr>
                <a:schemeClr val="hlink"/>
              </a:buClr>
            </a:pPr>
            <a:r>
              <a:rPr kumimoji="1" lang="en-US" altLang="zh-CN" sz="2800" b="1" dirty="0">
                <a:solidFill>
                  <a:srgbClr val="FF0000"/>
                </a:solidFill>
                <a:latin typeface="Tahoma" panose="020B0604030504040204" pitchFamily="34" charset="0"/>
              </a:rPr>
              <a:t>【</a:t>
            </a:r>
            <a:r>
              <a:rPr kumimoji="1" lang="zh-CN" altLang="en-US" sz="2800" b="1" dirty="0">
                <a:solidFill>
                  <a:srgbClr val="FF0000"/>
                </a:solidFill>
                <a:latin typeface="Tahoma" panose="020B0604030504040204" pitchFamily="34" charset="0"/>
              </a:rPr>
              <a:t>例</a:t>
            </a:r>
            <a:r>
              <a:rPr kumimoji="1" lang="en-US" altLang="zh-CN" sz="2800" b="1" dirty="0">
                <a:solidFill>
                  <a:srgbClr val="FF0000"/>
                </a:solidFill>
                <a:latin typeface="Tahoma" panose="020B0604030504040204" pitchFamily="34" charset="0"/>
              </a:rPr>
              <a:t>】</a:t>
            </a:r>
            <a:r>
              <a:rPr kumimoji="1" lang="zh-CN" altLang="en-US" sz="2800" b="1" dirty="0">
                <a:solidFill>
                  <a:srgbClr val="000066"/>
                </a:solidFill>
                <a:latin typeface="Tahoma" panose="020B0604030504040204" pitchFamily="34" charset="0"/>
              </a:rPr>
              <a:t>“课程”的属性中，选课管理中用“学分”属性，而在教师开课管理中则用“学时”属性，而学时和学分是互通的，统一用一种即可。</a:t>
            </a:r>
          </a:p>
        </p:txBody>
      </p:sp>
    </p:spTree>
    <p:extLst>
      <p:ext uri="{BB962C8B-B14F-4D97-AF65-F5344CB8AC3E}">
        <p14:creationId xmlns:p14="http://schemas.microsoft.com/office/powerpoint/2010/main" val="4498908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heckerboard(across)">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checkerboard(across)">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checkerboard(across)">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2" autoUpdateAnimBg="0"/>
      <p:bldP spid="8"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3"/>
          <p:cNvSpPr>
            <a:spLocks noChangeArrowheads="1"/>
          </p:cNvSpPr>
          <p:nvPr/>
        </p:nvSpPr>
        <p:spPr bwMode="auto">
          <a:xfrm>
            <a:off x="381000" y="1066800"/>
            <a:ext cx="11256818" cy="2195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i="1">
                <a:solidFill>
                  <a:schemeClr val="tx1"/>
                </a:solidFill>
                <a:latin typeface="Arial" panose="020B0604020202020204" pitchFamily="34" charset="0"/>
                <a:ea typeface="宋体" panose="02010600030101010101" pitchFamily="2" charset="-122"/>
              </a:defRPr>
            </a:lvl1pPr>
            <a:lvl2pPr marL="914400" indent="-45720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30000"/>
              </a:spcBef>
              <a:buClr>
                <a:srgbClr val="FFFF66"/>
              </a:buClr>
            </a:pPr>
            <a:r>
              <a:rPr kumimoji="1" lang="en-US" altLang="zh-CN" sz="2800" b="1" i="0" dirty="0">
                <a:solidFill>
                  <a:srgbClr val="CC3300"/>
                </a:solidFill>
                <a:latin typeface="Tahoma" panose="020B0604030504040204" pitchFamily="34" charset="0"/>
              </a:rPr>
              <a:t>b.  </a:t>
            </a:r>
            <a:r>
              <a:rPr kumimoji="1" lang="zh-CN" altLang="en-US" sz="2800" b="1" i="0" dirty="0">
                <a:solidFill>
                  <a:srgbClr val="CC3300"/>
                </a:solidFill>
                <a:latin typeface="Tahoma" panose="020B0604030504040204" pitchFamily="34" charset="0"/>
              </a:rPr>
              <a:t>命名冲突</a:t>
            </a:r>
          </a:p>
          <a:p>
            <a:pPr lvl="1" eaLnBrk="1" hangingPunct="1">
              <a:lnSpc>
                <a:spcPct val="105000"/>
              </a:lnSpc>
              <a:spcBef>
                <a:spcPct val="15000"/>
              </a:spcBef>
              <a:buClr>
                <a:schemeClr val="hlink"/>
              </a:buClr>
              <a:buFontTx/>
              <a:buChar char="–"/>
            </a:pPr>
            <a:r>
              <a:rPr kumimoji="1" lang="zh-CN" altLang="en-US" sz="2800" b="1" i="0" dirty="0">
                <a:solidFill>
                  <a:srgbClr val="CC3300"/>
                </a:solidFill>
                <a:latin typeface="Tahoma" panose="020B0604030504040204" pitchFamily="34" charset="0"/>
              </a:rPr>
              <a:t>同名异义</a:t>
            </a:r>
            <a:r>
              <a:rPr kumimoji="1" lang="zh-CN" altLang="en-US" sz="2800" b="1" i="0" dirty="0">
                <a:solidFill>
                  <a:srgbClr val="000066"/>
                </a:solidFill>
                <a:latin typeface="Tahoma" panose="020B0604030504040204" pitchFamily="34" charset="0"/>
              </a:rPr>
              <a:t>：不同意义的对象在不同的局部应用中具有相同的名字。</a:t>
            </a:r>
          </a:p>
          <a:p>
            <a:pPr lvl="1" eaLnBrk="1" hangingPunct="1">
              <a:lnSpc>
                <a:spcPct val="105000"/>
              </a:lnSpc>
              <a:spcBef>
                <a:spcPct val="15000"/>
              </a:spcBef>
              <a:buClr>
                <a:schemeClr val="hlink"/>
              </a:buClr>
              <a:buFontTx/>
              <a:buChar char="–"/>
            </a:pPr>
            <a:r>
              <a:rPr kumimoji="1" lang="zh-CN" altLang="en-US" sz="2800" b="1" i="0" dirty="0">
                <a:solidFill>
                  <a:srgbClr val="CC3300"/>
                </a:solidFill>
                <a:latin typeface="Tahoma" panose="020B0604030504040204" pitchFamily="34" charset="0"/>
              </a:rPr>
              <a:t>异名同义（一义多名）</a:t>
            </a:r>
            <a:r>
              <a:rPr kumimoji="1" lang="zh-CN" altLang="en-US" sz="2800" b="1" i="0" dirty="0">
                <a:solidFill>
                  <a:srgbClr val="000066"/>
                </a:solidFill>
                <a:latin typeface="Tahoma" panose="020B0604030504040204" pitchFamily="34" charset="0"/>
              </a:rPr>
              <a:t>：同一意义的对象在不同的局部应用中具有不同的名字。</a:t>
            </a:r>
          </a:p>
        </p:txBody>
      </p:sp>
      <p:sp>
        <p:nvSpPr>
          <p:cNvPr id="7" name="Rectangle 4"/>
          <p:cNvSpPr>
            <a:spLocks noChangeArrowheads="1"/>
          </p:cNvSpPr>
          <p:nvPr/>
        </p:nvSpPr>
        <p:spPr bwMode="auto">
          <a:xfrm>
            <a:off x="685800" y="5988087"/>
            <a:ext cx="81534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Clr>
                <a:schemeClr val="folHlink"/>
              </a:buClr>
              <a:buSzPct val="60000"/>
              <a:buFont typeface="Wingdings" panose="05000000000000000000" pitchFamily="2" charset="2"/>
              <a:buNone/>
            </a:pPr>
            <a:r>
              <a:rPr kumimoji="1" lang="zh-CN" altLang="en-US" sz="2800" b="1" i="0" dirty="0">
                <a:solidFill>
                  <a:schemeClr val="accent2"/>
                </a:solidFill>
                <a:latin typeface="Tahoma" panose="020B0604030504040204" pitchFamily="34" charset="0"/>
              </a:rPr>
              <a:t>解决方法：通常用讨论、协商等行政手段加以解决</a:t>
            </a:r>
          </a:p>
        </p:txBody>
      </p:sp>
      <p:sp>
        <p:nvSpPr>
          <p:cNvPr id="8" name="Rectangle 5"/>
          <p:cNvSpPr>
            <a:spLocks noChangeArrowheads="1"/>
          </p:cNvSpPr>
          <p:nvPr/>
        </p:nvSpPr>
        <p:spPr bwMode="auto">
          <a:xfrm>
            <a:off x="654916" y="4811888"/>
            <a:ext cx="10952018" cy="1106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20000"/>
              </a:spcBef>
              <a:buClr>
                <a:schemeClr val="bg2"/>
              </a:buClr>
              <a:buFont typeface="Monotype Sorts" pitchFamily="2" charset="2"/>
              <a:buNone/>
            </a:pPr>
            <a:r>
              <a:rPr kumimoji="1" lang="zh-CN" altLang="en-US" sz="2800" b="1" i="0" dirty="0">
                <a:solidFill>
                  <a:srgbClr val="000066"/>
                </a:solidFill>
                <a:latin typeface="Tahoma" panose="020B0604030504040204" pitchFamily="34" charset="0"/>
              </a:rPr>
              <a:t>注：命名冲突可能发生在属性级、实体级、联系级上，其中属性的命名冲突更为常见。</a:t>
            </a:r>
          </a:p>
        </p:txBody>
      </p:sp>
      <p:sp>
        <p:nvSpPr>
          <p:cNvPr id="9"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1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1" name="直接连接符 10"/>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45870" y="3262393"/>
            <a:ext cx="11145384" cy="1514261"/>
          </a:xfrm>
          <a:prstGeom prst="rect">
            <a:avLst/>
          </a:prstGeom>
        </p:spPr>
        <p:txBody>
          <a:bodyPr wrap="square">
            <a:spAutoFit/>
          </a:bodyPr>
          <a:lstStyle/>
          <a:p>
            <a:pPr lvl="1">
              <a:lnSpc>
                <a:spcPct val="110000"/>
              </a:lnSpc>
              <a:spcBef>
                <a:spcPct val="15000"/>
              </a:spcBef>
              <a:buClr>
                <a:schemeClr val="hlink"/>
              </a:buClr>
            </a:pPr>
            <a:r>
              <a:rPr kumimoji="1" lang="en-US" altLang="zh-CN" sz="2800" b="1" dirty="0">
                <a:solidFill>
                  <a:srgbClr val="FF0000"/>
                </a:solidFill>
                <a:latin typeface="Tahoma" panose="020B0604030504040204" pitchFamily="34" charset="0"/>
              </a:rPr>
              <a:t>【</a:t>
            </a:r>
            <a:r>
              <a:rPr kumimoji="1" lang="zh-CN" altLang="en-US" sz="2800" b="1" dirty="0">
                <a:solidFill>
                  <a:srgbClr val="FF0000"/>
                </a:solidFill>
                <a:latin typeface="Tahoma" panose="020B0604030504040204" pitchFamily="34" charset="0"/>
              </a:rPr>
              <a:t>例</a:t>
            </a:r>
            <a:r>
              <a:rPr kumimoji="1" lang="en-US" altLang="zh-CN" sz="2800" b="1" dirty="0">
                <a:solidFill>
                  <a:srgbClr val="FF0000"/>
                </a:solidFill>
                <a:latin typeface="Tahoma" panose="020B0604030504040204" pitchFamily="34" charset="0"/>
              </a:rPr>
              <a:t>】</a:t>
            </a:r>
            <a:r>
              <a:rPr kumimoji="1" lang="zh-CN" altLang="en-US" sz="2800" b="1" dirty="0">
                <a:solidFill>
                  <a:srgbClr val="000066"/>
                </a:solidFill>
                <a:latin typeface="Tahoma" panose="020B0604030504040204" pitchFamily="34" charset="0"/>
              </a:rPr>
              <a:t>学籍管理和选课管理中，都用实体“学院”，而在教师开课管理中，用了“部门”，其实“学院”和“部门”表示的是同一种实体，应该统一为“学院”。</a:t>
            </a:r>
          </a:p>
        </p:txBody>
      </p:sp>
    </p:spTree>
    <p:extLst>
      <p:ext uri="{BB962C8B-B14F-4D97-AF65-F5344CB8AC3E}">
        <p14:creationId xmlns:p14="http://schemas.microsoft.com/office/powerpoint/2010/main" val="17382679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i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heckerboard(across)">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autoUpdateAnimBg="0"/>
      <p:bldP spid="7" grpId="0" autoUpdateAnimBg="0"/>
      <p:bldP spid="8"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3"/>
          <p:cNvSpPr>
            <a:spLocks noChangeArrowheads="1"/>
          </p:cNvSpPr>
          <p:nvPr/>
        </p:nvSpPr>
        <p:spPr bwMode="auto">
          <a:xfrm>
            <a:off x="381000" y="1066799"/>
            <a:ext cx="11298382" cy="5233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i="1">
                <a:solidFill>
                  <a:schemeClr val="tx1"/>
                </a:solidFill>
                <a:latin typeface="Arial" panose="020B0604020202020204" pitchFamily="34" charset="0"/>
                <a:ea typeface="宋体" panose="02010600030101010101" pitchFamily="2" charset="-122"/>
              </a:defRPr>
            </a:lvl1pPr>
            <a:lvl2pPr marL="914400" indent="-457200" eaLnBrk="0" hangingPunct="0">
              <a:defRPr i="1">
                <a:solidFill>
                  <a:schemeClr val="tx1"/>
                </a:solidFill>
                <a:latin typeface="Arial" panose="020B0604020202020204" pitchFamily="34" charset="0"/>
                <a:ea typeface="宋体" panose="02010600030101010101" pitchFamily="2" charset="-122"/>
              </a:defRPr>
            </a:lvl2pPr>
            <a:lvl3pPr marL="1371600" indent="-4572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30000"/>
              </a:spcBef>
              <a:buClr>
                <a:srgbClr val="FFFF66"/>
              </a:buClr>
            </a:pPr>
            <a:r>
              <a:rPr kumimoji="1" lang="en-US" altLang="zh-CN" sz="2800" b="1" i="0" dirty="0">
                <a:solidFill>
                  <a:srgbClr val="CC3300"/>
                </a:solidFill>
                <a:latin typeface="Tahoma" panose="020B0604030504040204" pitchFamily="34" charset="0"/>
              </a:rPr>
              <a:t>c.  </a:t>
            </a:r>
            <a:r>
              <a:rPr kumimoji="1" lang="zh-CN" altLang="en-US" sz="2800" b="1" i="0" dirty="0">
                <a:solidFill>
                  <a:srgbClr val="CC3300"/>
                </a:solidFill>
                <a:latin typeface="Tahoma" panose="020B0604030504040204" pitchFamily="34" charset="0"/>
              </a:rPr>
              <a:t>结构冲突</a:t>
            </a:r>
          </a:p>
          <a:p>
            <a:pPr lvl="1" eaLnBrk="1" hangingPunct="1">
              <a:lnSpc>
                <a:spcPct val="110000"/>
              </a:lnSpc>
              <a:spcBef>
                <a:spcPct val="15000"/>
              </a:spcBef>
              <a:buClr>
                <a:schemeClr val="hlink"/>
              </a:buClr>
              <a:buFontTx/>
              <a:buChar char="–"/>
            </a:pPr>
            <a:r>
              <a:rPr kumimoji="1" lang="zh-CN" altLang="en-US" sz="2800" b="1" i="0" dirty="0">
                <a:solidFill>
                  <a:srgbClr val="000066"/>
                </a:solidFill>
                <a:latin typeface="Tahoma" panose="020B0604030504040204" pitchFamily="34" charset="0"/>
              </a:rPr>
              <a:t>同一对象在不同应用中具有不同的抽象</a:t>
            </a:r>
          </a:p>
          <a:p>
            <a:pPr marL="457200" lvl="1" indent="0" eaLnBrk="1" hangingPunct="1">
              <a:lnSpc>
                <a:spcPct val="110000"/>
              </a:lnSpc>
              <a:spcBef>
                <a:spcPct val="15000"/>
              </a:spcBef>
              <a:buClr>
                <a:schemeClr val="hlink"/>
              </a:buClr>
            </a:pPr>
            <a:r>
              <a:rPr kumimoji="1" lang="en-US" altLang="zh-CN" sz="2800" b="1" i="0" dirty="0">
                <a:solidFill>
                  <a:srgbClr val="FF0000"/>
                </a:solidFill>
                <a:latin typeface="Tahoma" panose="020B0604030504040204" pitchFamily="34" charset="0"/>
              </a:rPr>
              <a:t>【</a:t>
            </a:r>
            <a:r>
              <a:rPr kumimoji="1" lang="zh-CN" altLang="en-US" sz="2800" b="1" i="0" dirty="0">
                <a:solidFill>
                  <a:srgbClr val="FF0000"/>
                </a:solidFill>
                <a:latin typeface="Tahoma" panose="020B0604030504040204" pitchFamily="34" charset="0"/>
              </a:rPr>
              <a:t>例</a:t>
            </a:r>
            <a:r>
              <a:rPr kumimoji="1" lang="en-US" altLang="zh-CN" sz="2800" b="1" i="0" dirty="0">
                <a:solidFill>
                  <a:srgbClr val="FF0000"/>
                </a:solidFill>
                <a:latin typeface="Tahoma" panose="020B0604030504040204" pitchFamily="34" charset="0"/>
              </a:rPr>
              <a:t>】</a:t>
            </a:r>
            <a:r>
              <a:rPr kumimoji="1" lang="zh-CN" altLang="en-US" sz="2800" b="1" i="0" dirty="0">
                <a:solidFill>
                  <a:srgbClr val="000066"/>
                </a:solidFill>
                <a:latin typeface="Tahoma" panose="020B0604030504040204" pitchFamily="34" charset="0"/>
              </a:rPr>
              <a:t>“专业”在学籍管理中被当作实体，而在选课管理中则被当作属性。</a:t>
            </a:r>
          </a:p>
          <a:p>
            <a:pPr marL="457200" lvl="1" indent="0" eaLnBrk="1" hangingPunct="1">
              <a:lnSpc>
                <a:spcPct val="110000"/>
              </a:lnSpc>
              <a:spcBef>
                <a:spcPct val="15000"/>
              </a:spcBef>
              <a:buClr>
                <a:schemeClr val="hlink"/>
              </a:buClr>
            </a:pPr>
            <a:r>
              <a:rPr kumimoji="1" lang="zh-CN" altLang="en-US" sz="2800" b="1" i="0" dirty="0">
                <a:solidFill>
                  <a:schemeClr val="accent2"/>
                </a:solidFill>
                <a:latin typeface="Tahoma" panose="020B0604030504040204" pitchFamily="34" charset="0"/>
              </a:rPr>
              <a:t>解决方法：通常是把属性变换为实体或把实体变换为属性，使同一对象具有相同的抽象。但变换时要遵循如下准则</a:t>
            </a:r>
            <a:r>
              <a:rPr kumimoji="1" lang="en-US" altLang="zh-CN" sz="2800" b="1" i="0" dirty="0">
                <a:solidFill>
                  <a:schemeClr val="accent2"/>
                </a:solidFill>
                <a:latin typeface="Tahoma" panose="020B0604030504040204" pitchFamily="34" charset="0"/>
              </a:rPr>
              <a:t>:</a:t>
            </a:r>
          </a:p>
          <a:p>
            <a:pPr lvl="2">
              <a:lnSpc>
                <a:spcPct val="150000"/>
              </a:lnSpc>
              <a:buFont typeface="Wingdings" panose="05000000000000000000" pitchFamily="2" charset="2"/>
              <a:buChar char="l"/>
            </a:pPr>
            <a:r>
              <a:rPr lang="zh-CN" altLang="en-US" sz="2000" b="1" i="0" dirty="0"/>
              <a:t>属性不能再具有需要描述的性质。即属性必须是不可分的数据项，不能再由另一些属性组成。</a:t>
            </a:r>
          </a:p>
          <a:p>
            <a:pPr lvl="2">
              <a:lnSpc>
                <a:spcPct val="150000"/>
              </a:lnSpc>
              <a:buFont typeface="Wingdings" panose="05000000000000000000" pitchFamily="2" charset="2"/>
              <a:buChar char="l"/>
            </a:pPr>
            <a:r>
              <a:rPr lang="zh-CN" altLang="en-US" sz="2000" b="1" i="0" dirty="0"/>
              <a:t>属性不能与其他实体具有联系。联系只发生在实体之间。</a:t>
            </a:r>
            <a:endParaRPr lang="en-US" altLang="zh-CN" sz="2000" b="1" i="0" dirty="0"/>
          </a:p>
          <a:p>
            <a:pPr lvl="2">
              <a:lnSpc>
                <a:spcPct val="150000"/>
              </a:lnSpc>
              <a:buFont typeface="Wingdings" panose="05000000000000000000" pitchFamily="2" charset="2"/>
              <a:buChar char="l"/>
            </a:pPr>
            <a:r>
              <a:rPr lang="zh-CN" altLang="en-US" sz="2000" b="1" i="0" dirty="0"/>
              <a:t>为了简化</a:t>
            </a:r>
            <a:r>
              <a:rPr lang="en-US" altLang="zh-CN" sz="2000" b="1" i="0" dirty="0"/>
              <a:t>E-R</a:t>
            </a:r>
            <a:r>
              <a:rPr lang="zh-CN" altLang="en-US" sz="2000" b="1" i="0" dirty="0"/>
              <a:t>图的处置，现实世界中的事物凡能够作为属性对待的，应尽量作为属性。</a:t>
            </a:r>
          </a:p>
          <a:p>
            <a:pPr lvl="2"/>
            <a:endParaRPr lang="zh-CN" altLang="en-US" sz="2800" b="1" dirty="0"/>
          </a:p>
          <a:p>
            <a:pPr lvl="1" eaLnBrk="1" hangingPunct="1">
              <a:lnSpc>
                <a:spcPct val="110000"/>
              </a:lnSpc>
              <a:spcBef>
                <a:spcPct val="15000"/>
              </a:spcBef>
              <a:buClr>
                <a:schemeClr val="hlink"/>
              </a:buClr>
              <a:buFontTx/>
              <a:buChar char="•"/>
            </a:pPr>
            <a:endParaRPr kumimoji="1" lang="zh-CN" altLang="en-US" sz="2800" b="1" i="0" dirty="0">
              <a:solidFill>
                <a:schemeClr val="accent2"/>
              </a:solidFill>
              <a:latin typeface="Tahoma" panose="020B0604030504040204" pitchFamily="34" charset="0"/>
            </a:endParaRPr>
          </a:p>
          <a:p>
            <a:pPr lvl="2" eaLnBrk="1" hangingPunct="1">
              <a:spcBef>
                <a:spcPct val="20000"/>
              </a:spcBef>
              <a:buClr>
                <a:schemeClr val="folHlink"/>
              </a:buClr>
              <a:buSzPct val="50000"/>
              <a:buFont typeface="Wingdings" panose="05000000000000000000" pitchFamily="2" charset="2"/>
              <a:buChar char="n"/>
            </a:pPr>
            <a:endParaRPr kumimoji="1" lang="en-US" altLang="zh-CN" sz="2800" b="1" i="0" dirty="0">
              <a:solidFill>
                <a:srgbClr val="000066"/>
              </a:solidFill>
              <a:latin typeface="Tahoma" panose="020B0604030504040204" pitchFamily="34" charset="0"/>
            </a:endParaRPr>
          </a:p>
        </p:txBody>
      </p:sp>
      <p:sp>
        <p:nvSpPr>
          <p:cNvPr id="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6593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checkerboard(across)">
                                      <p:cBhvr>
                                        <p:cTn id="22" dur="500"/>
                                        <p:tgtEl>
                                          <p:spTgt spid="6">
                                            <p:txEl>
                                              <p:pRg st="3" end="3"/>
                                            </p:txEl>
                                          </p:spTgt>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Effect transition="in" filter="checkerboard(across)">
                                      <p:cBhvr>
                                        <p:cTn id="25" dur="500"/>
                                        <p:tgtEl>
                                          <p:spTgt spid="6">
                                            <p:txEl>
                                              <p:pRg st="4" end="4"/>
                                            </p:txEl>
                                          </p:spTgt>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checkerboard(across)">
                                      <p:cBhvr>
                                        <p:cTn id="28" dur="500"/>
                                        <p:tgtEl>
                                          <p:spTgt spid="6">
                                            <p:txEl>
                                              <p:pRg st="5" end="5"/>
                                            </p:txEl>
                                          </p:spTgt>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checkerboard(across)">
                                      <p:cBhvr>
                                        <p:cTn id="31"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2"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3"/>
          <p:cNvSpPr txBox="1">
            <a:spLocks noChangeArrowheads="1"/>
          </p:cNvSpPr>
          <p:nvPr/>
        </p:nvSpPr>
        <p:spPr bwMode="auto">
          <a:xfrm>
            <a:off x="377535" y="955963"/>
            <a:ext cx="10886209"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eaLnBrk="1" hangingPunct="1">
              <a:lnSpc>
                <a:spcPct val="110000"/>
              </a:lnSpc>
              <a:spcBef>
                <a:spcPct val="15000"/>
              </a:spcBef>
              <a:buClr>
                <a:schemeClr val="hlink"/>
              </a:buClr>
              <a:buFontTx/>
              <a:buChar char="–"/>
            </a:pPr>
            <a:r>
              <a:rPr kumimoji="1" lang="zh-CN" altLang="en-US" sz="2800" b="1" dirty="0">
                <a:solidFill>
                  <a:srgbClr val="000066"/>
                </a:solidFill>
                <a:latin typeface="Tahoma" panose="020B0604030504040204" pitchFamily="34" charset="0"/>
                <a:ea typeface="宋体" panose="02010600030101010101" pitchFamily="2" charset="-122"/>
              </a:rPr>
              <a:t>同一实体在不同分</a:t>
            </a:r>
            <a:r>
              <a:rPr kumimoji="1" lang="en-US" altLang="zh-CN" sz="2800" b="1" dirty="0">
                <a:solidFill>
                  <a:srgbClr val="000066"/>
                </a:solidFill>
                <a:latin typeface="Tahoma" panose="020B0604030504040204" pitchFamily="34" charset="0"/>
                <a:ea typeface="宋体" panose="02010600030101010101" pitchFamily="2" charset="-122"/>
              </a:rPr>
              <a:t>E-R</a:t>
            </a:r>
            <a:r>
              <a:rPr kumimoji="1" lang="zh-CN" altLang="en-US" sz="2800" b="1" dirty="0">
                <a:solidFill>
                  <a:srgbClr val="000066"/>
                </a:solidFill>
                <a:latin typeface="Tahoma" panose="020B0604030504040204" pitchFamily="34" charset="0"/>
                <a:ea typeface="宋体" panose="02010600030101010101" pitchFamily="2" charset="-122"/>
              </a:rPr>
              <a:t>图中所包含的属性不完全相同，或者属性的排列次序不完全相同。</a:t>
            </a:r>
          </a:p>
          <a:p>
            <a:pPr lvl="2" eaLnBrk="1" hangingPunct="1">
              <a:lnSpc>
                <a:spcPct val="120000"/>
              </a:lnSpc>
              <a:spcBef>
                <a:spcPct val="60000"/>
              </a:spcBef>
              <a:buClr>
                <a:schemeClr val="hlink"/>
              </a:buClr>
            </a:pPr>
            <a:r>
              <a:rPr lang="zh-CN" altLang="en-US" sz="2800" b="1" dirty="0">
                <a:solidFill>
                  <a:srgbClr val="CC3300"/>
                </a:solidFill>
              </a:rPr>
              <a:t>产生原因</a:t>
            </a:r>
            <a:r>
              <a:rPr lang="zh-CN" altLang="en-US" sz="2800" b="1" dirty="0">
                <a:solidFill>
                  <a:srgbClr val="000066"/>
                </a:solidFill>
              </a:rPr>
              <a:t>：不同的局部应用关心的是该实体的不同侧面。</a:t>
            </a:r>
          </a:p>
          <a:p>
            <a:pPr lvl="2" eaLnBrk="1" hangingPunct="1">
              <a:lnSpc>
                <a:spcPct val="120000"/>
              </a:lnSpc>
              <a:spcBef>
                <a:spcPct val="60000"/>
              </a:spcBef>
              <a:buClr>
                <a:schemeClr val="hlink"/>
              </a:buClr>
            </a:pPr>
            <a:r>
              <a:rPr lang="zh-CN" altLang="en-US" sz="2800" b="1" dirty="0">
                <a:solidFill>
                  <a:srgbClr val="CC3300"/>
                </a:solidFill>
              </a:rPr>
              <a:t>解决方法</a:t>
            </a:r>
            <a:r>
              <a:rPr lang="zh-CN" altLang="en-US" sz="2800" b="1" dirty="0">
                <a:solidFill>
                  <a:srgbClr val="000066"/>
                </a:solidFill>
              </a:rPr>
              <a:t>：使该实体的属性取各分</a:t>
            </a:r>
            <a:r>
              <a:rPr lang="en-US" altLang="zh-CN" sz="2800" b="1" dirty="0">
                <a:solidFill>
                  <a:srgbClr val="000066"/>
                </a:solidFill>
              </a:rPr>
              <a:t>E-R</a:t>
            </a:r>
            <a:r>
              <a:rPr lang="zh-CN" altLang="en-US" sz="2800" b="1" dirty="0">
                <a:solidFill>
                  <a:srgbClr val="000066"/>
                </a:solidFill>
              </a:rPr>
              <a:t>图中属性的并集，再适当调整属性的次序。</a:t>
            </a:r>
          </a:p>
        </p:txBody>
      </p:sp>
      <p:sp>
        <p:nvSpPr>
          <p:cNvPr id="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75401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grpSp>
        <p:nvGrpSpPr>
          <p:cNvPr id="6" name="Group 3"/>
          <p:cNvGrpSpPr>
            <a:grpSpLocks/>
          </p:cNvGrpSpPr>
          <p:nvPr/>
        </p:nvGrpSpPr>
        <p:grpSpPr bwMode="auto">
          <a:xfrm>
            <a:off x="2173692" y="1296978"/>
            <a:ext cx="2385177" cy="1553599"/>
            <a:chOff x="1639" y="1008"/>
            <a:chExt cx="2526" cy="1379"/>
          </a:xfrm>
        </p:grpSpPr>
        <p:sp>
          <p:nvSpPr>
            <p:cNvPr id="7" name="Rectangle 4"/>
            <p:cNvSpPr>
              <a:spLocks noChangeArrowheads="1"/>
            </p:cNvSpPr>
            <p:nvPr/>
          </p:nvSpPr>
          <p:spPr bwMode="auto">
            <a:xfrm>
              <a:off x="2592" y="1008"/>
              <a:ext cx="671" cy="383"/>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a:solidFill>
                    <a:srgbClr val="000066"/>
                  </a:solidFill>
                  <a:latin typeface="Times New Roman" panose="02020603050405020304" pitchFamily="18" charset="0"/>
                </a:rPr>
                <a:t>学生</a:t>
              </a:r>
            </a:p>
          </p:txBody>
        </p:sp>
        <p:sp>
          <p:nvSpPr>
            <p:cNvPr id="8" name="Oval 5"/>
            <p:cNvSpPr>
              <a:spLocks noChangeArrowheads="1"/>
            </p:cNvSpPr>
            <p:nvPr/>
          </p:nvSpPr>
          <p:spPr bwMode="auto">
            <a:xfrm>
              <a:off x="1639" y="2006"/>
              <a:ext cx="846" cy="363"/>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dirty="0">
                  <a:solidFill>
                    <a:srgbClr val="000066"/>
                  </a:solidFill>
                  <a:latin typeface="Times New Roman" panose="02020603050405020304" pitchFamily="18" charset="0"/>
                </a:rPr>
                <a:t>学号</a:t>
              </a:r>
            </a:p>
          </p:txBody>
        </p:sp>
        <p:sp>
          <p:nvSpPr>
            <p:cNvPr id="9" name="Oval 6"/>
            <p:cNvSpPr>
              <a:spLocks noChangeArrowheads="1"/>
            </p:cNvSpPr>
            <p:nvPr/>
          </p:nvSpPr>
          <p:spPr bwMode="auto">
            <a:xfrm>
              <a:off x="2568" y="2016"/>
              <a:ext cx="720" cy="363"/>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en-US" altLang="zh-CN" sz="2000" b="1" i="0" dirty="0">
                  <a:solidFill>
                    <a:srgbClr val="000066"/>
                  </a:solidFill>
                  <a:latin typeface="Times New Roman" panose="02020603050405020304" pitchFamily="18" charset="0"/>
                </a:rPr>
                <a:t> </a:t>
              </a:r>
              <a:r>
                <a:rPr lang="zh-CN" altLang="en-US" sz="2000" b="1" i="0" dirty="0">
                  <a:solidFill>
                    <a:srgbClr val="000066"/>
                  </a:solidFill>
                  <a:latin typeface="Times New Roman" panose="02020603050405020304" pitchFamily="18" charset="0"/>
                </a:rPr>
                <a:t>姓名</a:t>
              </a:r>
            </a:p>
          </p:txBody>
        </p:sp>
        <p:sp>
          <p:nvSpPr>
            <p:cNvPr id="12" name="Oval 7"/>
            <p:cNvSpPr>
              <a:spLocks noChangeArrowheads="1"/>
            </p:cNvSpPr>
            <p:nvPr/>
          </p:nvSpPr>
          <p:spPr bwMode="auto">
            <a:xfrm>
              <a:off x="3466" y="2006"/>
              <a:ext cx="699" cy="381"/>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dirty="0">
                  <a:solidFill>
                    <a:srgbClr val="000066"/>
                  </a:solidFill>
                  <a:latin typeface="Times New Roman" panose="02020603050405020304" pitchFamily="18" charset="0"/>
                </a:rPr>
                <a:t>专业</a:t>
              </a:r>
            </a:p>
          </p:txBody>
        </p:sp>
        <p:sp>
          <p:nvSpPr>
            <p:cNvPr id="14" name="Line 9"/>
            <p:cNvSpPr>
              <a:spLocks noChangeShapeType="1"/>
            </p:cNvSpPr>
            <p:nvPr/>
          </p:nvSpPr>
          <p:spPr bwMode="auto">
            <a:xfrm flipH="1">
              <a:off x="2111" y="1392"/>
              <a:ext cx="696" cy="614"/>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0"/>
            <p:cNvSpPr>
              <a:spLocks noChangeShapeType="1"/>
            </p:cNvSpPr>
            <p:nvPr/>
          </p:nvSpPr>
          <p:spPr bwMode="auto">
            <a:xfrm>
              <a:off x="2908" y="1401"/>
              <a:ext cx="0" cy="605"/>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1"/>
            <p:cNvSpPr>
              <a:spLocks noChangeShapeType="1"/>
            </p:cNvSpPr>
            <p:nvPr/>
          </p:nvSpPr>
          <p:spPr bwMode="auto">
            <a:xfrm>
              <a:off x="3072" y="1392"/>
              <a:ext cx="672" cy="614"/>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 name="Rectangle 13"/>
          <p:cNvSpPr>
            <a:spLocks noChangeArrowheads="1"/>
          </p:cNvSpPr>
          <p:nvPr/>
        </p:nvSpPr>
        <p:spPr bwMode="auto">
          <a:xfrm>
            <a:off x="1837605" y="3068638"/>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en-US" altLang="zh-CN" sz="2400" b="1" i="0" dirty="0">
                <a:latin typeface="Times New Roman" panose="02020603050405020304" pitchFamily="18" charset="0"/>
              </a:rPr>
              <a:t>(a)</a:t>
            </a:r>
            <a:r>
              <a:rPr lang="zh-CN" altLang="en-US" sz="2400" b="1" i="0" dirty="0">
                <a:latin typeface="Times New Roman" panose="02020603050405020304" pitchFamily="18" charset="0"/>
              </a:rPr>
              <a:t>学生选课管理系统</a:t>
            </a:r>
          </a:p>
        </p:txBody>
      </p:sp>
      <p:grpSp>
        <p:nvGrpSpPr>
          <p:cNvPr id="19" name="Group 14"/>
          <p:cNvGrpSpPr>
            <a:grpSpLocks/>
          </p:cNvGrpSpPr>
          <p:nvPr/>
        </p:nvGrpSpPr>
        <p:grpSpPr bwMode="auto">
          <a:xfrm>
            <a:off x="5762681" y="1125539"/>
            <a:ext cx="5507849" cy="1579563"/>
            <a:chOff x="641" y="2352"/>
            <a:chExt cx="4879" cy="995"/>
          </a:xfrm>
        </p:grpSpPr>
        <p:sp>
          <p:nvSpPr>
            <p:cNvPr id="20" name="Rectangle 15"/>
            <p:cNvSpPr>
              <a:spLocks noChangeArrowheads="1"/>
            </p:cNvSpPr>
            <p:nvPr/>
          </p:nvSpPr>
          <p:spPr bwMode="auto">
            <a:xfrm>
              <a:off x="3648" y="2448"/>
              <a:ext cx="187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endParaRPr lang="zh-CN" altLang="zh-CN" sz="2000" b="1" i="0">
                <a:solidFill>
                  <a:srgbClr val="000066"/>
                </a:solidFill>
                <a:latin typeface="Times New Roman" panose="02020603050405020304" pitchFamily="18" charset="0"/>
              </a:endParaRPr>
            </a:p>
          </p:txBody>
        </p:sp>
        <p:grpSp>
          <p:nvGrpSpPr>
            <p:cNvPr id="21" name="Group 16"/>
            <p:cNvGrpSpPr>
              <a:grpSpLocks/>
            </p:cNvGrpSpPr>
            <p:nvPr/>
          </p:nvGrpSpPr>
          <p:grpSpPr bwMode="auto">
            <a:xfrm>
              <a:off x="641" y="2352"/>
              <a:ext cx="3727" cy="995"/>
              <a:chOff x="833" y="2160"/>
              <a:chExt cx="3727" cy="995"/>
            </a:xfrm>
          </p:grpSpPr>
          <p:sp>
            <p:nvSpPr>
              <p:cNvPr id="22" name="Rectangle 17"/>
              <p:cNvSpPr>
                <a:spLocks noChangeArrowheads="1"/>
              </p:cNvSpPr>
              <p:nvPr/>
            </p:nvSpPr>
            <p:spPr bwMode="auto">
              <a:xfrm>
                <a:off x="2352" y="2160"/>
                <a:ext cx="671" cy="285"/>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a:solidFill>
                      <a:srgbClr val="000066"/>
                    </a:solidFill>
                    <a:latin typeface="Times New Roman" panose="02020603050405020304" pitchFamily="18" charset="0"/>
                  </a:rPr>
                  <a:t>学生</a:t>
                </a:r>
              </a:p>
            </p:txBody>
          </p:sp>
          <p:sp>
            <p:nvSpPr>
              <p:cNvPr id="23" name="Oval 18"/>
              <p:cNvSpPr>
                <a:spLocks noChangeArrowheads="1"/>
              </p:cNvSpPr>
              <p:nvPr/>
            </p:nvSpPr>
            <p:spPr bwMode="auto">
              <a:xfrm>
                <a:off x="833" y="2888"/>
                <a:ext cx="576" cy="223"/>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a:solidFill>
                      <a:srgbClr val="000066"/>
                    </a:solidFill>
                    <a:latin typeface="Times New Roman" panose="02020603050405020304" pitchFamily="18" charset="0"/>
                  </a:rPr>
                  <a:t>学号</a:t>
                </a:r>
              </a:p>
            </p:txBody>
          </p:sp>
          <p:sp>
            <p:nvSpPr>
              <p:cNvPr id="25" name="Oval 19"/>
              <p:cNvSpPr>
                <a:spLocks noChangeArrowheads="1"/>
              </p:cNvSpPr>
              <p:nvPr/>
            </p:nvSpPr>
            <p:spPr bwMode="auto">
              <a:xfrm>
                <a:off x="1694" y="2903"/>
                <a:ext cx="576" cy="223"/>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en-US" altLang="zh-CN" sz="2000" b="1" i="0">
                    <a:solidFill>
                      <a:srgbClr val="000066"/>
                    </a:solidFill>
                    <a:latin typeface="Times New Roman" panose="02020603050405020304" pitchFamily="18" charset="0"/>
                  </a:rPr>
                  <a:t> </a:t>
                </a:r>
                <a:r>
                  <a:rPr lang="zh-CN" altLang="en-US" sz="2000" b="1" i="0">
                    <a:solidFill>
                      <a:srgbClr val="000066"/>
                    </a:solidFill>
                    <a:latin typeface="Times New Roman" panose="02020603050405020304" pitchFamily="18" charset="0"/>
                  </a:rPr>
                  <a:t>姓名</a:t>
                </a:r>
              </a:p>
            </p:txBody>
          </p:sp>
          <p:sp>
            <p:nvSpPr>
              <p:cNvPr id="26" name="Oval 20"/>
              <p:cNvSpPr>
                <a:spLocks noChangeArrowheads="1"/>
              </p:cNvSpPr>
              <p:nvPr/>
            </p:nvSpPr>
            <p:spPr bwMode="auto">
              <a:xfrm>
                <a:off x="2457" y="2834"/>
                <a:ext cx="877" cy="316"/>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b="1" i="0" dirty="0">
                    <a:solidFill>
                      <a:srgbClr val="000066"/>
                    </a:solidFill>
                    <a:latin typeface="Times New Roman" panose="02020603050405020304" pitchFamily="18" charset="0"/>
                  </a:rPr>
                  <a:t>出生年月</a:t>
                </a:r>
              </a:p>
            </p:txBody>
          </p:sp>
          <p:sp>
            <p:nvSpPr>
              <p:cNvPr id="27" name="Oval 21"/>
              <p:cNvSpPr>
                <a:spLocks noChangeArrowheads="1"/>
              </p:cNvSpPr>
              <p:nvPr/>
            </p:nvSpPr>
            <p:spPr bwMode="auto">
              <a:xfrm>
                <a:off x="3840" y="2875"/>
                <a:ext cx="720" cy="28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dirty="0">
                    <a:solidFill>
                      <a:srgbClr val="000066"/>
                    </a:solidFill>
                    <a:latin typeface="Times New Roman" panose="02020603050405020304" pitchFamily="18" charset="0"/>
                  </a:rPr>
                  <a:t>性别</a:t>
                </a:r>
              </a:p>
            </p:txBody>
          </p:sp>
          <p:sp>
            <p:nvSpPr>
              <p:cNvPr id="28" name="Line 22"/>
              <p:cNvSpPr>
                <a:spLocks noChangeShapeType="1"/>
              </p:cNvSpPr>
              <p:nvPr/>
            </p:nvSpPr>
            <p:spPr bwMode="auto">
              <a:xfrm flipH="1">
                <a:off x="1052" y="2446"/>
                <a:ext cx="1321" cy="429"/>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3"/>
              <p:cNvSpPr>
                <a:spLocks noChangeShapeType="1"/>
              </p:cNvSpPr>
              <p:nvPr/>
            </p:nvSpPr>
            <p:spPr bwMode="auto">
              <a:xfrm flipH="1">
                <a:off x="1934" y="2446"/>
                <a:ext cx="672" cy="439"/>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4"/>
              <p:cNvSpPr>
                <a:spLocks noChangeShapeType="1"/>
              </p:cNvSpPr>
              <p:nvPr/>
            </p:nvSpPr>
            <p:spPr bwMode="auto">
              <a:xfrm>
                <a:off x="2887" y="2441"/>
                <a:ext cx="1" cy="393"/>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5"/>
              <p:cNvSpPr>
                <a:spLocks noChangeShapeType="1"/>
              </p:cNvSpPr>
              <p:nvPr/>
            </p:nvSpPr>
            <p:spPr bwMode="auto">
              <a:xfrm>
                <a:off x="3024" y="2446"/>
                <a:ext cx="960" cy="465"/>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34" name="Rectangle 28"/>
          <p:cNvSpPr>
            <a:spLocks noChangeArrowheads="1"/>
          </p:cNvSpPr>
          <p:nvPr/>
        </p:nvSpPr>
        <p:spPr bwMode="auto">
          <a:xfrm>
            <a:off x="6877917" y="3141663"/>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en-US" altLang="zh-CN" sz="2400" b="1" i="0" dirty="0">
                <a:latin typeface="Times New Roman" panose="02020603050405020304" pitchFamily="18" charset="0"/>
              </a:rPr>
              <a:t>(b)</a:t>
            </a:r>
            <a:r>
              <a:rPr lang="zh-CN" altLang="en-US" sz="2400" b="1" i="0" dirty="0">
                <a:latin typeface="Times New Roman" panose="02020603050405020304" pitchFamily="18" charset="0"/>
              </a:rPr>
              <a:t>学生学籍管理系统</a:t>
            </a:r>
          </a:p>
        </p:txBody>
      </p:sp>
      <p:sp>
        <p:nvSpPr>
          <p:cNvPr id="35" name="Rectangle 29"/>
          <p:cNvSpPr>
            <a:spLocks noChangeArrowheads="1"/>
          </p:cNvSpPr>
          <p:nvPr/>
        </p:nvSpPr>
        <p:spPr bwMode="auto">
          <a:xfrm>
            <a:off x="1837605" y="6021388"/>
            <a:ext cx="2971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en-US" altLang="zh-CN" sz="2000" b="1" i="0">
                <a:latin typeface="Times New Roman" panose="02020603050405020304" pitchFamily="18" charset="0"/>
              </a:rPr>
              <a:t>(c)</a:t>
            </a:r>
            <a:r>
              <a:rPr lang="zh-CN" altLang="en-US" sz="2000" b="1" i="0">
                <a:latin typeface="Times New Roman" panose="02020603050405020304" pitchFamily="18" charset="0"/>
              </a:rPr>
              <a:t>合并后</a:t>
            </a:r>
          </a:p>
        </p:txBody>
      </p:sp>
      <p:grpSp>
        <p:nvGrpSpPr>
          <p:cNvPr id="36" name="Group 30"/>
          <p:cNvGrpSpPr>
            <a:grpSpLocks/>
          </p:cNvGrpSpPr>
          <p:nvPr/>
        </p:nvGrpSpPr>
        <p:grpSpPr bwMode="auto">
          <a:xfrm>
            <a:off x="3268233" y="3639590"/>
            <a:ext cx="5351463" cy="1943100"/>
            <a:chOff x="1477" y="1248"/>
            <a:chExt cx="3371" cy="1224"/>
          </a:xfrm>
        </p:grpSpPr>
        <p:sp>
          <p:nvSpPr>
            <p:cNvPr id="37" name="Rectangle 31"/>
            <p:cNvSpPr>
              <a:spLocks noChangeArrowheads="1"/>
            </p:cNvSpPr>
            <p:nvPr/>
          </p:nvSpPr>
          <p:spPr bwMode="auto">
            <a:xfrm>
              <a:off x="2592" y="1248"/>
              <a:ext cx="671" cy="383"/>
            </a:xfrm>
            <a:prstGeom prst="rect">
              <a:avLst/>
            </a:prstGeom>
            <a:noFill/>
            <a:ln w="222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a:solidFill>
                    <a:srgbClr val="000066"/>
                  </a:solidFill>
                  <a:latin typeface="Times New Roman" panose="02020603050405020304" pitchFamily="18" charset="0"/>
                </a:rPr>
                <a:t>学生</a:t>
              </a:r>
            </a:p>
          </p:txBody>
        </p:sp>
        <p:sp>
          <p:nvSpPr>
            <p:cNvPr id="38" name="Oval 32"/>
            <p:cNvSpPr>
              <a:spLocks noChangeArrowheads="1"/>
            </p:cNvSpPr>
            <p:nvPr/>
          </p:nvSpPr>
          <p:spPr bwMode="auto">
            <a:xfrm>
              <a:off x="1477" y="2208"/>
              <a:ext cx="480" cy="24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en-US" altLang="zh-CN" sz="2000" b="1" i="0">
                  <a:solidFill>
                    <a:srgbClr val="000066"/>
                  </a:solidFill>
                  <a:latin typeface="Times New Roman" panose="02020603050405020304" pitchFamily="18" charset="0"/>
                </a:rPr>
                <a:t> </a:t>
              </a:r>
              <a:r>
                <a:rPr lang="zh-CN" altLang="en-US" sz="2000" b="1" i="0">
                  <a:solidFill>
                    <a:srgbClr val="000066"/>
                  </a:solidFill>
                  <a:latin typeface="Times New Roman" panose="02020603050405020304" pitchFamily="18" charset="0"/>
                </a:rPr>
                <a:t>学号</a:t>
              </a:r>
            </a:p>
          </p:txBody>
        </p:sp>
        <p:sp>
          <p:nvSpPr>
            <p:cNvPr id="39" name="Oval 33"/>
            <p:cNvSpPr>
              <a:spLocks noChangeArrowheads="1"/>
            </p:cNvSpPr>
            <p:nvPr/>
          </p:nvSpPr>
          <p:spPr bwMode="auto">
            <a:xfrm>
              <a:off x="2639" y="2232"/>
              <a:ext cx="624" cy="24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b="1" i="0" dirty="0">
                  <a:solidFill>
                    <a:srgbClr val="000066"/>
                  </a:solidFill>
                  <a:latin typeface="Times New Roman" panose="02020603050405020304" pitchFamily="18" charset="0"/>
                </a:rPr>
                <a:t>出生日期</a:t>
              </a:r>
            </a:p>
          </p:txBody>
        </p:sp>
        <p:sp>
          <p:nvSpPr>
            <p:cNvPr id="40" name="Oval 34"/>
            <p:cNvSpPr>
              <a:spLocks noChangeArrowheads="1"/>
            </p:cNvSpPr>
            <p:nvPr/>
          </p:nvSpPr>
          <p:spPr bwMode="auto">
            <a:xfrm>
              <a:off x="3524" y="2253"/>
              <a:ext cx="480" cy="192"/>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dirty="0">
                  <a:solidFill>
                    <a:srgbClr val="000066"/>
                  </a:solidFill>
                  <a:latin typeface="Times New Roman" panose="02020603050405020304" pitchFamily="18" charset="0"/>
                </a:rPr>
                <a:t>专业</a:t>
              </a:r>
            </a:p>
          </p:txBody>
        </p:sp>
        <p:sp>
          <p:nvSpPr>
            <p:cNvPr id="41" name="Line 35"/>
            <p:cNvSpPr>
              <a:spLocks noChangeShapeType="1"/>
            </p:cNvSpPr>
            <p:nvPr/>
          </p:nvSpPr>
          <p:spPr bwMode="auto">
            <a:xfrm flipH="1">
              <a:off x="1717" y="1632"/>
              <a:ext cx="973" cy="567"/>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36"/>
            <p:cNvSpPr>
              <a:spLocks noChangeShapeType="1"/>
            </p:cNvSpPr>
            <p:nvPr/>
          </p:nvSpPr>
          <p:spPr bwMode="auto">
            <a:xfrm flipH="1">
              <a:off x="2927" y="1631"/>
              <a:ext cx="0" cy="601"/>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39"/>
            <p:cNvSpPr>
              <a:spLocks noChangeShapeType="1"/>
            </p:cNvSpPr>
            <p:nvPr/>
          </p:nvSpPr>
          <p:spPr bwMode="auto">
            <a:xfrm>
              <a:off x="3062" y="1631"/>
              <a:ext cx="702" cy="625"/>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Oval 41"/>
            <p:cNvSpPr>
              <a:spLocks noChangeArrowheads="1"/>
            </p:cNvSpPr>
            <p:nvPr/>
          </p:nvSpPr>
          <p:spPr bwMode="auto">
            <a:xfrm>
              <a:off x="2050" y="2203"/>
              <a:ext cx="480" cy="24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a:solidFill>
                    <a:srgbClr val="000066"/>
                  </a:solidFill>
                  <a:latin typeface="Times New Roman" panose="02020603050405020304" pitchFamily="18" charset="0"/>
                </a:rPr>
                <a:t>姓名</a:t>
              </a:r>
            </a:p>
          </p:txBody>
        </p:sp>
        <p:sp>
          <p:nvSpPr>
            <p:cNvPr id="48" name="Oval 42"/>
            <p:cNvSpPr>
              <a:spLocks noChangeArrowheads="1"/>
            </p:cNvSpPr>
            <p:nvPr/>
          </p:nvSpPr>
          <p:spPr bwMode="auto">
            <a:xfrm>
              <a:off x="4368" y="2208"/>
              <a:ext cx="480" cy="240"/>
            </a:xfrm>
            <a:prstGeom prst="ellipse">
              <a:avLst/>
            </a:prstGeom>
            <a:noFill/>
            <a:ln w="222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000" b="1" i="0">
                  <a:solidFill>
                    <a:srgbClr val="000066"/>
                  </a:solidFill>
                  <a:latin typeface="Times New Roman" panose="02020603050405020304" pitchFamily="18" charset="0"/>
                </a:rPr>
                <a:t>性别</a:t>
              </a:r>
            </a:p>
          </p:txBody>
        </p:sp>
        <p:sp>
          <p:nvSpPr>
            <p:cNvPr id="49" name="Line 43"/>
            <p:cNvSpPr>
              <a:spLocks noChangeShapeType="1"/>
            </p:cNvSpPr>
            <p:nvPr/>
          </p:nvSpPr>
          <p:spPr bwMode="auto">
            <a:xfrm flipV="1">
              <a:off x="2290" y="1623"/>
              <a:ext cx="496" cy="576"/>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44"/>
            <p:cNvSpPr>
              <a:spLocks noChangeShapeType="1"/>
            </p:cNvSpPr>
            <p:nvPr/>
          </p:nvSpPr>
          <p:spPr bwMode="auto">
            <a:xfrm>
              <a:off x="3168" y="1632"/>
              <a:ext cx="1296" cy="624"/>
            </a:xfrm>
            <a:prstGeom prst="line">
              <a:avLst/>
            </a:prstGeom>
            <a:noFill/>
            <a:ln w="222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2"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53"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54" name="直接连接符 53"/>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3184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linds(horizontal)">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3"/>
          <p:cNvSpPr txBox="1">
            <a:spLocks noChangeArrowheads="1"/>
          </p:cNvSpPr>
          <p:nvPr/>
        </p:nvSpPr>
        <p:spPr bwMode="auto">
          <a:xfrm>
            <a:off x="166254" y="949037"/>
            <a:ext cx="11003973" cy="472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eaLnBrk="1" hangingPunct="1">
              <a:lnSpc>
                <a:spcPct val="110000"/>
              </a:lnSpc>
              <a:spcBef>
                <a:spcPct val="15000"/>
              </a:spcBef>
              <a:buClr>
                <a:schemeClr val="hlink"/>
              </a:buClr>
              <a:buFontTx/>
              <a:buChar char="–"/>
            </a:pPr>
            <a:r>
              <a:rPr kumimoji="1" lang="zh-CN" altLang="en-US" sz="2800" b="1" dirty="0">
                <a:solidFill>
                  <a:srgbClr val="000066"/>
                </a:solidFill>
                <a:latin typeface="Tahoma" panose="020B0604030504040204" pitchFamily="34" charset="0"/>
                <a:ea typeface="宋体" panose="02010600030101010101" pitchFamily="2" charset="-122"/>
              </a:rPr>
              <a:t>实体之间的联系在不同局部视图中呈现不同的类型</a:t>
            </a:r>
          </a:p>
          <a:p>
            <a:pPr marL="914400" lvl="2" indent="0" eaLnBrk="1" hangingPunct="1">
              <a:lnSpc>
                <a:spcPct val="120000"/>
              </a:lnSpc>
              <a:spcBef>
                <a:spcPct val="30000"/>
              </a:spcBef>
              <a:buClr>
                <a:schemeClr val="hlink"/>
              </a:buClr>
              <a:buNone/>
            </a:pPr>
            <a:r>
              <a:rPr lang="en-US" altLang="zh-CN" sz="2600" b="1" dirty="0">
                <a:solidFill>
                  <a:srgbClr val="FF0000"/>
                </a:solidFill>
              </a:rPr>
              <a:t>【</a:t>
            </a:r>
            <a:r>
              <a:rPr lang="zh-CN" altLang="en-US" sz="2600" b="1" dirty="0">
                <a:solidFill>
                  <a:srgbClr val="FF0000"/>
                </a:solidFill>
              </a:rPr>
              <a:t>例</a:t>
            </a:r>
            <a:r>
              <a:rPr lang="en-US" altLang="zh-CN" sz="2600" b="1" dirty="0">
                <a:solidFill>
                  <a:srgbClr val="FF0000"/>
                </a:solidFill>
              </a:rPr>
              <a:t>】</a:t>
            </a:r>
            <a:r>
              <a:rPr lang="zh-CN" altLang="en-US" sz="2600" b="1" dirty="0">
                <a:solidFill>
                  <a:srgbClr val="000066"/>
                </a:solidFill>
              </a:rPr>
              <a:t>实体</a:t>
            </a:r>
            <a:r>
              <a:rPr lang="en-US" altLang="zh-CN" sz="2600" b="1" dirty="0">
                <a:solidFill>
                  <a:srgbClr val="000066"/>
                </a:solidFill>
              </a:rPr>
              <a:t>E1</a:t>
            </a:r>
            <a:r>
              <a:rPr lang="zh-CN" altLang="en-US" sz="2600" b="1" dirty="0">
                <a:solidFill>
                  <a:srgbClr val="000066"/>
                </a:solidFill>
              </a:rPr>
              <a:t>与</a:t>
            </a:r>
            <a:r>
              <a:rPr lang="en-US" altLang="zh-CN" sz="2600" b="1" dirty="0">
                <a:solidFill>
                  <a:srgbClr val="000066"/>
                </a:solidFill>
              </a:rPr>
              <a:t>E2</a:t>
            </a:r>
            <a:r>
              <a:rPr lang="zh-CN" altLang="en-US" sz="2600" b="1" dirty="0">
                <a:solidFill>
                  <a:srgbClr val="000066"/>
                </a:solidFill>
              </a:rPr>
              <a:t>在局部应用</a:t>
            </a:r>
            <a:r>
              <a:rPr lang="en-US" altLang="zh-CN" sz="2600" b="1" dirty="0">
                <a:solidFill>
                  <a:srgbClr val="000066"/>
                </a:solidFill>
              </a:rPr>
              <a:t>A</a:t>
            </a:r>
            <a:r>
              <a:rPr lang="zh-CN" altLang="en-US" sz="2600" b="1" dirty="0">
                <a:solidFill>
                  <a:srgbClr val="000066"/>
                </a:solidFill>
              </a:rPr>
              <a:t>中是多对多联系，而在局部应用</a:t>
            </a:r>
            <a:r>
              <a:rPr lang="en-US" altLang="zh-CN" sz="2600" b="1" dirty="0">
                <a:solidFill>
                  <a:srgbClr val="000066"/>
                </a:solidFill>
              </a:rPr>
              <a:t>B</a:t>
            </a:r>
            <a:r>
              <a:rPr lang="zh-CN" altLang="en-US" sz="2600" b="1" dirty="0">
                <a:solidFill>
                  <a:srgbClr val="000066"/>
                </a:solidFill>
              </a:rPr>
              <a:t>中是一对多联系。</a:t>
            </a:r>
          </a:p>
          <a:p>
            <a:pPr lvl="2" eaLnBrk="1" hangingPunct="1">
              <a:lnSpc>
                <a:spcPct val="120000"/>
              </a:lnSpc>
              <a:spcBef>
                <a:spcPct val="30000"/>
              </a:spcBef>
              <a:buClr>
                <a:schemeClr val="hlink"/>
              </a:buClr>
              <a:buFontTx/>
              <a:buNone/>
            </a:pPr>
            <a:r>
              <a:rPr lang="zh-CN" altLang="en-US" sz="2600" b="1" dirty="0">
                <a:solidFill>
                  <a:srgbClr val="000066"/>
                </a:solidFill>
              </a:rPr>
              <a:t>        在局部应用</a:t>
            </a:r>
            <a:r>
              <a:rPr lang="en-US" altLang="zh-CN" sz="2600" b="1" dirty="0">
                <a:solidFill>
                  <a:srgbClr val="000066"/>
                </a:solidFill>
              </a:rPr>
              <a:t>X</a:t>
            </a:r>
            <a:r>
              <a:rPr lang="zh-CN" altLang="en-US" sz="2600" b="1" dirty="0">
                <a:solidFill>
                  <a:srgbClr val="000066"/>
                </a:solidFill>
              </a:rPr>
              <a:t>中</a:t>
            </a:r>
            <a:r>
              <a:rPr lang="en-US" altLang="zh-CN" sz="2600" b="1" dirty="0">
                <a:solidFill>
                  <a:srgbClr val="000066"/>
                </a:solidFill>
              </a:rPr>
              <a:t>E1</a:t>
            </a:r>
            <a:r>
              <a:rPr lang="zh-CN" altLang="en-US" sz="2600" b="1" dirty="0">
                <a:solidFill>
                  <a:srgbClr val="000066"/>
                </a:solidFill>
              </a:rPr>
              <a:t>与</a:t>
            </a:r>
            <a:r>
              <a:rPr lang="en-US" altLang="zh-CN" sz="2600" b="1" dirty="0">
                <a:solidFill>
                  <a:srgbClr val="000066"/>
                </a:solidFill>
              </a:rPr>
              <a:t>E2</a:t>
            </a:r>
            <a:r>
              <a:rPr lang="zh-CN" altLang="en-US" sz="2600" b="1" dirty="0">
                <a:solidFill>
                  <a:srgbClr val="000066"/>
                </a:solidFill>
              </a:rPr>
              <a:t>发生联系，而在局部应用</a:t>
            </a:r>
            <a:r>
              <a:rPr lang="en-US" altLang="zh-CN" sz="2600" b="1" dirty="0">
                <a:solidFill>
                  <a:srgbClr val="000066"/>
                </a:solidFill>
              </a:rPr>
              <a:t>Y</a:t>
            </a:r>
            <a:r>
              <a:rPr lang="zh-CN" altLang="en-US" sz="2600" b="1" dirty="0">
                <a:solidFill>
                  <a:srgbClr val="000066"/>
                </a:solidFill>
              </a:rPr>
              <a:t>中</a:t>
            </a:r>
            <a:r>
              <a:rPr lang="en-US" altLang="zh-CN" sz="2600" b="1" dirty="0">
                <a:solidFill>
                  <a:srgbClr val="000066"/>
                </a:solidFill>
              </a:rPr>
              <a:t>E1</a:t>
            </a:r>
            <a:r>
              <a:rPr lang="zh-CN" altLang="en-US" sz="2600" b="1" dirty="0">
                <a:solidFill>
                  <a:srgbClr val="000066"/>
                </a:solidFill>
              </a:rPr>
              <a:t>、</a:t>
            </a:r>
            <a:r>
              <a:rPr lang="en-US" altLang="zh-CN" sz="2600" b="1" dirty="0">
                <a:solidFill>
                  <a:srgbClr val="000066"/>
                </a:solidFill>
              </a:rPr>
              <a:t>E2</a:t>
            </a:r>
            <a:r>
              <a:rPr lang="zh-CN" altLang="en-US" sz="2600" b="1" dirty="0">
                <a:solidFill>
                  <a:srgbClr val="000066"/>
                </a:solidFill>
              </a:rPr>
              <a:t>、</a:t>
            </a:r>
            <a:r>
              <a:rPr lang="en-US" altLang="zh-CN" sz="2600" b="1" dirty="0">
                <a:solidFill>
                  <a:srgbClr val="000066"/>
                </a:solidFill>
              </a:rPr>
              <a:t>E3</a:t>
            </a:r>
            <a:r>
              <a:rPr lang="zh-CN" altLang="en-US" sz="2600" b="1" dirty="0">
                <a:solidFill>
                  <a:srgbClr val="000066"/>
                </a:solidFill>
              </a:rPr>
              <a:t>三者之间有联系。</a:t>
            </a:r>
          </a:p>
          <a:p>
            <a:pPr lvl="2" eaLnBrk="1" hangingPunct="1">
              <a:lnSpc>
                <a:spcPct val="120000"/>
              </a:lnSpc>
              <a:spcBef>
                <a:spcPct val="60000"/>
              </a:spcBef>
              <a:buClr>
                <a:schemeClr val="hlink"/>
              </a:buClr>
            </a:pPr>
            <a:r>
              <a:rPr lang="zh-CN" altLang="en-US" sz="2800" b="1" dirty="0">
                <a:solidFill>
                  <a:schemeClr val="accent2"/>
                </a:solidFill>
              </a:rPr>
              <a:t>解决方法：根据应用语义对实体联系的类型进行综合或调整。</a:t>
            </a:r>
          </a:p>
        </p:txBody>
      </p:sp>
      <p:sp>
        <p:nvSpPr>
          <p:cNvPr id="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8.2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7"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2432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grpSp>
        <p:nvGrpSpPr>
          <p:cNvPr id="6" name="Group 3"/>
          <p:cNvGrpSpPr>
            <a:grpSpLocks/>
          </p:cNvGrpSpPr>
          <p:nvPr/>
        </p:nvGrpSpPr>
        <p:grpSpPr bwMode="auto">
          <a:xfrm>
            <a:off x="1805133" y="814532"/>
            <a:ext cx="3124200" cy="3025775"/>
            <a:chOff x="480" y="864"/>
            <a:chExt cx="1968" cy="2448"/>
          </a:xfrm>
        </p:grpSpPr>
        <p:sp>
          <p:nvSpPr>
            <p:cNvPr id="7" name="Rectangle 4"/>
            <p:cNvSpPr>
              <a:spLocks noChangeArrowheads="1"/>
            </p:cNvSpPr>
            <p:nvPr/>
          </p:nvSpPr>
          <p:spPr bwMode="auto">
            <a:xfrm>
              <a:off x="1008" y="864"/>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产品</a:t>
              </a:r>
            </a:p>
          </p:txBody>
        </p:sp>
        <p:sp>
          <p:nvSpPr>
            <p:cNvPr id="8" name="Rectangle 5"/>
            <p:cNvSpPr>
              <a:spLocks noChangeArrowheads="1"/>
            </p:cNvSpPr>
            <p:nvPr/>
          </p:nvSpPr>
          <p:spPr bwMode="auto">
            <a:xfrm>
              <a:off x="1035" y="2304"/>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零件</a:t>
              </a:r>
            </a:p>
          </p:txBody>
        </p:sp>
        <p:sp>
          <p:nvSpPr>
            <p:cNvPr id="9" name="Line 6"/>
            <p:cNvSpPr>
              <a:spLocks noChangeShapeType="1"/>
            </p:cNvSpPr>
            <p:nvPr/>
          </p:nvSpPr>
          <p:spPr bwMode="auto">
            <a:xfrm>
              <a:off x="1632" y="1728"/>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AutoShape 7"/>
            <p:cNvSpPr>
              <a:spLocks noChangeArrowheads="1"/>
            </p:cNvSpPr>
            <p:nvPr/>
          </p:nvSpPr>
          <p:spPr bwMode="auto">
            <a:xfrm>
              <a:off x="912" y="1536"/>
              <a:ext cx="720" cy="384"/>
            </a:xfrm>
            <a:prstGeom prst="flowChartDecision">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构成</a:t>
              </a:r>
            </a:p>
          </p:txBody>
        </p:sp>
        <p:sp>
          <p:nvSpPr>
            <p:cNvPr id="13" name="Line 8"/>
            <p:cNvSpPr>
              <a:spLocks noChangeShapeType="1"/>
            </p:cNvSpPr>
            <p:nvPr/>
          </p:nvSpPr>
          <p:spPr bwMode="auto">
            <a:xfrm>
              <a:off x="1275" y="1200"/>
              <a:ext cx="0" cy="33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9"/>
            <p:cNvSpPr>
              <a:spLocks noChangeShapeType="1"/>
            </p:cNvSpPr>
            <p:nvPr/>
          </p:nvSpPr>
          <p:spPr bwMode="auto">
            <a:xfrm>
              <a:off x="1275" y="1920"/>
              <a:ext cx="0" cy="38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Rectangle 10"/>
            <p:cNvSpPr>
              <a:spLocks noChangeArrowheads="1"/>
            </p:cNvSpPr>
            <p:nvPr/>
          </p:nvSpPr>
          <p:spPr bwMode="auto">
            <a:xfrm>
              <a:off x="1083" y="1248"/>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n</a:t>
              </a:r>
            </a:p>
          </p:txBody>
        </p:sp>
        <p:sp>
          <p:nvSpPr>
            <p:cNvPr id="16" name="Rectangle 11"/>
            <p:cNvSpPr>
              <a:spLocks noChangeArrowheads="1"/>
            </p:cNvSpPr>
            <p:nvPr/>
          </p:nvSpPr>
          <p:spPr bwMode="auto">
            <a:xfrm>
              <a:off x="1083" y="1920"/>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m</a:t>
              </a:r>
            </a:p>
          </p:txBody>
        </p:sp>
        <p:sp>
          <p:nvSpPr>
            <p:cNvPr id="17" name="Oval 12"/>
            <p:cNvSpPr>
              <a:spLocks noChangeArrowheads="1"/>
            </p:cNvSpPr>
            <p:nvPr/>
          </p:nvSpPr>
          <p:spPr bwMode="auto">
            <a:xfrm>
              <a:off x="1920" y="1584"/>
              <a:ext cx="528" cy="336"/>
            </a:xfrm>
            <a:prstGeom prst="ellipse">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数量</a:t>
              </a:r>
            </a:p>
          </p:txBody>
        </p:sp>
        <p:sp>
          <p:nvSpPr>
            <p:cNvPr id="18" name="Rectangle 13"/>
            <p:cNvSpPr>
              <a:spLocks noChangeArrowheads="1"/>
            </p:cNvSpPr>
            <p:nvPr/>
          </p:nvSpPr>
          <p:spPr bwMode="auto">
            <a:xfrm>
              <a:off x="480" y="2928"/>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400" b="1" i="0">
                  <a:solidFill>
                    <a:srgbClr val="000066"/>
                  </a:solidFill>
                  <a:latin typeface="Times New Roman" panose="02020603050405020304" pitchFamily="18" charset="0"/>
                </a:rPr>
                <a:t>（</a:t>
              </a:r>
              <a:r>
                <a:rPr lang="en-US" altLang="zh-CN" sz="2400" b="1" i="0">
                  <a:solidFill>
                    <a:srgbClr val="000066"/>
                  </a:solidFill>
                  <a:latin typeface="Times New Roman" panose="02020603050405020304" pitchFamily="18" charset="0"/>
                </a:rPr>
                <a:t>a</a:t>
              </a:r>
              <a:r>
                <a:rPr lang="zh-CN" altLang="en-US" sz="2400" b="1" i="0">
                  <a:solidFill>
                    <a:srgbClr val="000066"/>
                  </a:solidFill>
                  <a:latin typeface="Times New Roman" panose="02020603050405020304" pitchFamily="18" charset="0"/>
                </a:rPr>
                <a:t>）</a:t>
              </a:r>
              <a:r>
                <a:rPr lang="en-US" altLang="zh-CN" sz="2400" b="1" i="0">
                  <a:solidFill>
                    <a:srgbClr val="000066"/>
                  </a:solidFill>
                  <a:latin typeface="Times New Roman" panose="02020603050405020304" pitchFamily="18" charset="0"/>
                </a:rPr>
                <a:t>E-R</a:t>
              </a:r>
              <a:r>
                <a:rPr lang="zh-CN" altLang="en-US" sz="2400" b="1" i="0">
                  <a:solidFill>
                    <a:srgbClr val="000066"/>
                  </a:solidFill>
                  <a:latin typeface="Times New Roman" panose="02020603050405020304" pitchFamily="18" charset="0"/>
                </a:rPr>
                <a:t>图</a:t>
              </a:r>
              <a:r>
                <a:rPr lang="en-US" altLang="zh-CN" sz="2400" b="1" i="0">
                  <a:solidFill>
                    <a:srgbClr val="000066"/>
                  </a:solidFill>
                  <a:latin typeface="Times New Roman" panose="02020603050405020304" pitchFamily="18" charset="0"/>
                </a:rPr>
                <a:t>1</a:t>
              </a:r>
            </a:p>
          </p:txBody>
        </p:sp>
      </p:grpSp>
      <p:grpSp>
        <p:nvGrpSpPr>
          <p:cNvPr id="19" name="Group 14"/>
          <p:cNvGrpSpPr>
            <a:grpSpLocks/>
          </p:cNvGrpSpPr>
          <p:nvPr/>
        </p:nvGrpSpPr>
        <p:grpSpPr bwMode="auto">
          <a:xfrm>
            <a:off x="4973783" y="887557"/>
            <a:ext cx="4648200" cy="2808288"/>
            <a:chOff x="2400" y="960"/>
            <a:chExt cx="2928" cy="2448"/>
          </a:xfrm>
        </p:grpSpPr>
        <p:sp>
          <p:nvSpPr>
            <p:cNvPr id="20" name="Rectangle 15"/>
            <p:cNvSpPr>
              <a:spLocks noChangeArrowheads="1"/>
            </p:cNvSpPr>
            <p:nvPr/>
          </p:nvSpPr>
          <p:spPr bwMode="auto">
            <a:xfrm>
              <a:off x="2928" y="960"/>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产品</a:t>
              </a:r>
            </a:p>
          </p:txBody>
        </p:sp>
        <p:sp>
          <p:nvSpPr>
            <p:cNvPr id="21" name="Rectangle 16"/>
            <p:cNvSpPr>
              <a:spLocks noChangeArrowheads="1"/>
            </p:cNvSpPr>
            <p:nvPr/>
          </p:nvSpPr>
          <p:spPr bwMode="auto">
            <a:xfrm>
              <a:off x="2955" y="2400"/>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零件</a:t>
              </a:r>
            </a:p>
          </p:txBody>
        </p:sp>
        <p:sp>
          <p:nvSpPr>
            <p:cNvPr id="22" name="Line 17"/>
            <p:cNvSpPr>
              <a:spLocks noChangeShapeType="1"/>
            </p:cNvSpPr>
            <p:nvPr/>
          </p:nvSpPr>
          <p:spPr bwMode="auto">
            <a:xfrm>
              <a:off x="3456" y="1872"/>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AutoShape 18"/>
            <p:cNvSpPr>
              <a:spLocks noChangeArrowheads="1"/>
            </p:cNvSpPr>
            <p:nvPr/>
          </p:nvSpPr>
          <p:spPr bwMode="auto">
            <a:xfrm>
              <a:off x="3744" y="1680"/>
              <a:ext cx="720" cy="384"/>
            </a:xfrm>
            <a:prstGeom prst="flowChartDecision">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供应</a:t>
              </a:r>
            </a:p>
          </p:txBody>
        </p:sp>
        <p:sp>
          <p:nvSpPr>
            <p:cNvPr id="25" name="Rectangle 19"/>
            <p:cNvSpPr>
              <a:spLocks noChangeArrowheads="1"/>
            </p:cNvSpPr>
            <p:nvPr/>
          </p:nvSpPr>
          <p:spPr bwMode="auto">
            <a:xfrm>
              <a:off x="3600" y="1152"/>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n</a:t>
              </a:r>
            </a:p>
          </p:txBody>
        </p:sp>
        <p:sp>
          <p:nvSpPr>
            <p:cNvPr id="26" name="Rectangle 20"/>
            <p:cNvSpPr>
              <a:spLocks noChangeArrowheads="1"/>
            </p:cNvSpPr>
            <p:nvPr/>
          </p:nvSpPr>
          <p:spPr bwMode="auto">
            <a:xfrm>
              <a:off x="4320" y="158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p</a:t>
              </a:r>
            </a:p>
          </p:txBody>
        </p:sp>
        <p:sp>
          <p:nvSpPr>
            <p:cNvPr id="27" name="Oval 21"/>
            <p:cNvSpPr>
              <a:spLocks noChangeArrowheads="1"/>
            </p:cNvSpPr>
            <p:nvPr/>
          </p:nvSpPr>
          <p:spPr bwMode="auto">
            <a:xfrm>
              <a:off x="2928" y="1680"/>
              <a:ext cx="528" cy="336"/>
            </a:xfrm>
            <a:prstGeom prst="ellipse">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数量</a:t>
              </a:r>
            </a:p>
          </p:txBody>
        </p:sp>
        <p:sp>
          <p:nvSpPr>
            <p:cNvPr id="28" name="Rectangle 22"/>
            <p:cNvSpPr>
              <a:spLocks noChangeArrowheads="1"/>
            </p:cNvSpPr>
            <p:nvPr/>
          </p:nvSpPr>
          <p:spPr bwMode="auto">
            <a:xfrm>
              <a:off x="2400" y="3024"/>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400" b="1" i="0">
                  <a:solidFill>
                    <a:srgbClr val="000066"/>
                  </a:solidFill>
                  <a:latin typeface="Times New Roman" panose="02020603050405020304" pitchFamily="18" charset="0"/>
                </a:rPr>
                <a:t>（</a:t>
              </a:r>
              <a:r>
                <a:rPr lang="en-US" altLang="zh-CN" sz="2400" b="1" i="0">
                  <a:solidFill>
                    <a:srgbClr val="000066"/>
                  </a:solidFill>
                  <a:latin typeface="Times New Roman" panose="02020603050405020304" pitchFamily="18" charset="0"/>
                </a:rPr>
                <a:t>b</a:t>
              </a:r>
              <a:r>
                <a:rPr lang="zh-CN" altLang="en-US" sz="2400" b="1" i="0">
                  <a:solidFill>
                    <a:srgbClr val="000066"/>
                  </a:solidFill>
                  <a:latin typeface="Times New Roman" panose="02020603050405020304" pitchFamily="18" charset="0"/>
                </a:rPr>
                <a:t>）</a:t>
              </a:r>
              <a:r>
                <a:rPr lang="en-US" altLang="zh-CN" sz="2400" b="1" i="0">
                  <a:solidFill>
                    <a:srgbClr val="000066"/>
                  </a:solidFill>
                  <a:latin typeface="Times New Roman" panose="02020603050405020304" pitchFamily="18" charset="0"/>
                </a:rPr>
                <a:t>E-R</a:t>
              </a:r>
              <a:r>
                <a:rPr lang="zh-CN" altLang="en-US" sz="2400" b="1" i="0">
                  <a:solidFill>
                    <a:srgbClr val="000066"/>
                  </a:solidFill>
                  <a:latin typeface="Times New Roman" panose="02020603050405020304" pitchFamily="18" charset="0"/>
                </a:rPr>
                <a:t>图</a:t>
              </a:r>
              <a:r>
                <a:rPr lang="en-US" altLang="zh-CN" sz="2400" b="1" i="0">
                  <a:solidFill>
                    <a:srgbClr val="000066"/>
                  </a:solidFill>
                  <a:latin typeface="Times New Roman" panose="02020603050405020304" pitchFamily="18" charset="0"/>
                </a:rPr>
                <a:t>2</a:t>
              </a:r>
            </a:p>
          </p:txBody>
        </p:sp>
        <p:sp>
          <p:nvSpPr>
            <p:cNvPr id="29" name="Line 23"/>
            <p:cNvSpPr>
              <a:spLocks noChangeShapeType="1"/>
            </p:cNvSpPr>
            <p:nvPr/>
          </p:nvSpPr>
          <p:spPr bwMode="auto">
            <a:xfrm>
              <a:off x="4464" y="1872"/>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Rectangle 24"/>
            <p:cNvSpPr>
              <a:spLocks noChangeArrowheads="1"/>
            </p:cNvSpPr>
            <p:nvPr/>
          </p:nvSpPr>
          <p:spPr bwMode="auto">
            <a:xfrm>
              <a:off x="4752" y="1728"/>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供应商</a:t>
              </a:r>
            </a:p>
          </p:txBody>
        </p:sp>
        <p:sp>
          <p:nvSpPr>
            <p:cNvPr id="31" name="Line 25"/>
            <p:cNvSpPr>
              <a:spLocks noChangeShapeType="1"/>
            </p:cNvSpPr>
            <p:nvPr/>
          </p:nvSpPr>
          <p:spPr bwMode="auto">
            <a:xfrm>
              <a:off x="3504" y="1104"/>
              <a:ext cx="480" cy="62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6"/>
            <p:cNvSpPr>
              <a:spLocks noChangeShapeType="1"/>
            </p:cNvSpPr>
            <p:nvPr/>
          </p:nvSpPr>
          <p:spPr bwMode="auto">
            <a:xfrm flipV="1">
              <a:off x="3552" y="2016"/>
              <a:ext cx="432" cy="5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Rectangle 27"/>
            <p:cNvSpPr>
              <a:spLocks noChangeArrowheads="1"/>
            </p:cNvSpPr>
            <p:nvPr/>
          </p:nvSpPr>
          <p:spPr bwMode="auto">
            <a:xfrm>
              <a:off x="3648" y="2208"/>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m</a:t>
              </a:r>
            </a:p>
          </p:txBody>
        </p:sp>
      </p:grpSp>
      <p:grpSp>
        <p:nvGrpSpPr>
          <p:cNvPr id="34" name="Group 28"/>
          <p:cNvGrpSpPr>
            <a:grpSpLocks/>
          </p:cNvGrpSpPr>
          <p:nvPr/>
        </p:nvGrpSpPr>
        <p:grpSpPr bwMode="auto">
          <a:xfrm>
            <a:off x="3173558" y="4075257"/>
            <a:ext cx="5257800" cy="2689225"/>
            <a:chOff x="1440" y="1104"/>
            <a:chExt cx="3312" cy="2448"/>
          </a:xfrm>
        </p:grpSpPr>
        <p:sp>
          <p:nvSpPr>
            <p:cNvPr id="35" name="Line 29"/>
            <p:cNvSpPr>
              <a:spLocks noChangeShapeType="1"/>
            </p:cNvSpPr>
            <p:nvPr/>
          </p:nvSpPr>
          <p:spPr bwMode="auto">
            <a:xfrm>
              <a:off x="1968" y="1968"/>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AutoShape 30"/>
            <p:cNvSpPr>
              <a:spLocks noChangeArrowheads="1"/>
            </p:cNvSpPr>
            <p:nvPr/>
          </p:nvSpPr>
          <p:spPr bwMode="auto">
            <a:xfrm>
              <a:off x="2256" y="1776"/>
              <a:ext cx="720" cy="384"/>
            </a:xfrm>
            <a:prstGeom prst="flowChartDecision">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构成</a:t>
              </a:r>
            </a:p>
          </p:txBody>
        </p:sp>
        <p:sp>
          <p:nvSpPr>
            <p:cNvPr id="37" name="Line 31"/>
            <p:cNvSpPr>
              <a:spLocks noChangeShapeType="1"/>
            </p:cNvSpPr>
            <p:nvPr/>
          </p:nvSpPr>
          <p:spPr bwMode="auto">
            <a:xfrm>
              <a:off x="2619" y="1440"/>
              <a:ext cx="0" cy="33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2"/>
            <p:cNvSpPr>
              <a:spLocks noChangeShapeType="1"/>
            </p:cNvSpPr>
            <p:nvPr/>
          </p:nvSpPr>
          <p:spPr bwMode="auto">
            <a:xfrm>
              <a:off x="2619" y="2160"/>
              <a:ext cx="0" cy="38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Rectangle 33"/>
            <p:cNvSpPr>
              <a:spLocks noChangeArrowheads="1"/>
            </p:cNvSpPr>
            <p:nvPr/>
          </p:nvSpPr>
          <p:spPr bwMode="auto">
            <a:xfrm>
              <a:off x="2427" y="1488"/>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n</a:t>
              </a:r>
            </a:p>
          </p:txBody>
        </p:sp>
        <p:sp>
          <p:nvSpPr>
            <p:cNvPr id="40" name="Rectangle 34"/>
            <p:cNvSpPr>
              <a:spLocks noChangeArrowheads="1"/>
            </p:cNvSpPr>
            <p:nvPr/>
          </p:nvSpPr>
          <p:spPr bwMode="auto">
            <a:xfrm>
              <a:off x="2427" y="2160"/>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m</a:t>
              </a:r>
            </a:p>
          </p:txBody>
        </p:sp>
        <p:sp>
          <p:nvSpPr>
            <p:cNvPr id="41" name="Oval 35"/>
            <p:cNvSpPr>
              <a:spLocks noChangeArrowheads="1"/>
            </p:cNvSpPr>
            <p:nvPr/>
          </p:nvSpPr>
          <p:spPr bwMode="auto">
            <a:xfrm>
              <a:off x="1440" y="1824"/>
              <a:ext cx="528" cy="336"/>
            </a:xfrm>
            <a:prstGeom prst="ellipse">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数量</a:t>
              </a:r>
              <a:r>
                <a:rPr kumimoji="1" lang="en-US" altLang="zh-CN" sz="2400" b="1" i="0">
                  <a:solidFill>
                    <a:srgbClr val="000066"/>
                  </a:solidFill>
                  <a:latin typeface="Times New Roman" panose="02020603050405020304" pitchFamily="18" charset="0"/>
                  <a:ea typeface="楷体_GB2312" pitchFamily="49" charset="-122"/>
                </a:rPr>
                <a:t>1</a:t>
              </a:r>
            </a:p>
          </p:txBody>
        </p:sp>
        <p:sp>
          <p:nvSpPr>
            <p:cNvPr id="42" name="Rectangle 36"/>
            <p:cNvSpPr>
              <a:spLocks noChangeArrowheads="1"/>
            </p:cNvSpPr>
            <p:nvPr/>
          </p:nvSpPr>
          <p:spPr bwMode="auto">
            <a:xfrm>
              <a:off x="1824" y="3168"/>
              <a:ext cx="187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a:r>
                <a:rPr lang="zh-CN" altLang="en-US" sz="2400" b="1" i="0">
                  <a:solidFill>
                    <a:srgbClr val="000066"/>
                  </a:solidFill>
                  <a:latin typeface="Times New Roman" panose="02020603050405020304" pitchFamily="18" charset="0"/>
                </a:rPr>
                <a:t>（</a:t>
              </a:r>
              <a:r>
                <a:rPr lang="en-US" altLang="zh-CN" sz="2400" b="1" i="0">
                  <a:solidFill>
                    <a:srgbClr val="000066"/>
                  </a:solidFill>
                  <a:latin typeface="Times New Roman" panose="02020603050405020304" pitchFamily="18" charset="0"/>
                </a:rPr>
                <a:t>c</a:t>
              </a:r>
              <a:r>
                <a:rPr lang="zh-CN" altLang="en-US" sz="2400" b="1" i="0">
                  <a:solidFill>
                    <a:srgbClr val="000066"/>
                  </a:solidFill>
                  <a:latin typeface="Times New Roman" panose="02020603050405020304" pitchFamily="18" charset="0"/>
                </a:rPr>
                <a:t>）合并后</a:t>
              </a:r>
            </a:p>
          </p:txBody>
        </p:sp>
        <p:sp>
          <p:nvSpPr>
            <p:cNvPr id="43" name="Rectangle 37"/>
            <p:cNvSpPr>
              <a:spLocks noChangeArrowheads="1"/>
            </p:cNvSpPr>
            <p:nvPr/>
          </p:nvSpPr>
          <p:spPr bwMode="auto">
            <a:xfrm>
              <a:off x="2352" y="1104"/>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产品</a:t>
              </a:r>
            </a:p>
          </p:txBody>
        </p:sp>
        <p:sp>
          <p:nvSpPr>
            <p:cNvPr id="44" name="Rectangle 38"/>
            <p:cNvSpPr>
              <a:spLocks noChangeArrowheads="1"/>
            </p:cNvSpPr>
            <p:nvPr/>
          </p:nvSpPr>
          <p:spPr bwMode="auto">
            <a:xfrm>
              <a:off x="2379" y="2544"/>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零件</a:t>
              </a:r>
            </a:p>
          </p:txBody>
        </p:sp>
        <p:sp>
          <p:nvSpPr>
            <p:cNvPr id="45" name="AutoShape 39"/>
            <p:cNvSpPr>
              <a:spLocks noChangeArrowheads="1"/>
            </p:cNvSpPr>
            <p:nvPr/>
          </p:nvSpPr>
          <p:spPr bwMode="auto">
            <a:xfrm>
              <a:off x="3168" y="1824"/>
              <a:ext cx="720" cy="384"/>
            </a:xfrm>
            <a:prstGeom prst="flowChartDecision">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供应</a:t>
              </a:r>
            </a:p>
          </p:txBody>
        </p:sp>
        <p:sp>
          <p:nvSpPr>
            <p:cNvPr id="46" name="Rectangle 40"/>
            <p:cNvSpPr>
              <a:spLocks noChangeArrowheads="1"/>
            </p:cNvSpPr>
            <p:nvPr/>
          </p:nvSpPr>
          <p:spPr bwMode="auto">
            <a:xfrm>
              <a:off x="2976" y="134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n</a:t>
              </a:r>
            </a:p>
          </p:txBody>
        </p:sp>
        <p:sp>
          <p:nvSpPr>
            <p:cNvPr id="47" name="Rectangle 41"/>
            <p:cNvSpPr>
              <a:spLocks noChangeArrowheads="1"/>
            </p:cNvSpPr>
            <p:nvPr/>
          </p:nvSpPr>
          <p:spPr bwMode="auto">
            <a:xfrm>
              <a:off x="3744" y="1728"/>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p</a:t>
              </a:r>
            </a:p>
          </p:txBody>
        </p:sp>
        <p:sp>
          <p:nvSpPr>
            <p:cNvPr id="48" name="Oval 42"/>
            <p:cNvSpPr>
              <a:spLocks noChangeArrowheads="1"/>
            </p:cNvSpPr>
            <p:nvPr/>
          </p:nvSpPr>
          <p:spPr bwMode="auto">
            <a:xfrm>
              <a:off x="3360" y="2640"/>
              <a:ext cx="528" cy="336"/>
            </a:xfrm>
            <a:prstGeom prst="ellipse">
              <a:avLst/>
            </a:pr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数量</a:t>
              </a:r>
              <a:r>
                <a:rPr kumimoji="1" lang="en-US" altLang="zh-CN" sz="2400" b="1" i="0">
                  <a:solidFill>
                    <a:srgbClr val="000066"/>
                  </a:solidFill>
                  <a:latin typeface="Times New Roman" panose="02020603050405020304" pitchFamily="18" charset="0"/>
                  <a:ea typeface="楷体_GB2312" pitchFamily="49" charset="-122"/>
                </a:rPr>
                <a:t>2</a:t>
              </a:r>
            </a:p>
          </p:txBody>
        </p:sp>
        <p:sp>
          <p:nvSpPr>
            <p:cNvPr id="49" name="Line 43"/>
            <p:cNvSpPr>
              <a:spLocks noChangeShapeType="1"/>
            </p:cNvSpPr>
            <p:nvPr/>
          </p:nvSpPr>
          <p:spPr bwMode="auto">
            <a:xfrm>
              <a:off x="3888" y="2016"/>
              <a:ext cx="28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Rectangle 44"/>
            <p:cNvSpPr>
              <a:spLocks noChangeArrowheads="1"/>
            </p:cNvSpPr>
            <p:nvPr/>
          </p:nvSpPr>
          <p:spPr bwMode="auto">
            <a:xfrm>
              <a:off x="4176" y="1872"/>
              <a:ext cx="576" cy="336"/>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sz="2400" b="1" i="0">
                  <a:solidFill>
                    <a:srgbClr val="000066"/>
                  </a:solidFill>
                  <a:latin typeface="Times New Roman" panose="02020603050405020304" pitchFamily="18" charset="0"/>
                  <a:ea typeface="楷体_GB2312" pitchFamily="49" charset="-122"/>
                </a:rPr>
                <a:t>供应商</a:t>
              </a:r>
            </a:p>
          </p:txBody>
        </p:sp>
        <p:sp>
          <p:nvSpPr>
            <p:cNvPr id="51" name="Line 45"/>
            <p:cNvSpPr>
              <a:spLocks noChangeShapeType="1"/>
            </p:cNvSpPr>
            <p:nvPr/>
          </p:nvSpPr>
          <p:spPr bwMode="auto">
            <a:xfrm>
              <a:off x="2928" y="1248"/>
              <a:ext cx="480" cy="62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46"/>
            <p:cNvSpPr>
              <a:spLocks noChangeShapeType="1"/>
            </p:cNvSpPr>
            <p:nvPr/>
          </p:nvSpPr>
          <p:spPr bwMode="auto">
            <a:xfrm flipV="1">
              <a:off x="2976" y="2112"/>
              <a:ext cx="384" cy="57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Rectangle 47"/>
            <p:cNvSpPr>
              <a:spLocks noChangeArrowheads="1"/>
            </p:cNvSpPr>
            <p:nvPr/>
          </p:nvSpPr>
          <p:spPr bwMode="auto">
            <a:xfrm>
              <a:off x="3024" y="2304"/>
              <a:ext cx="57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en-US" altLang="zh-CN" sz="2400" b="1" i="0">
                  <a:solidFill>
                    <a:srgbClr val="000066"/>
                  </a:solidFill>
                  <a:latin typeface="Times New Roman" panose="02020603050405020304" pitchFamily="18" charset="0"/>
                  <a:ea typeface="楷体_GB2312" pitchFamily="49" charset="-122"/>
                </a:rPr>
                <a:t>m</a:t>
              </a:r>
            </a:p>
          </p:txBody>
        </p:sp>
        <p:sp>
          <p:nvSpPr>
            <p:cNvPr id="54" name="Line 48"/>
            <p:cNvSpPr>
              <a:spLocks noChangeShapeType="1"/>
            </p:cNvSpPr>
            <p:nvPr/>
          </p:nvSpPr>
          <p:spPr bwMode="auto">
            <a:xfrm>
              <a:off x="3552" y="2208"/>
              <a:ext cx="0" cy="43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5"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56"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57" name="直接连接符 56"/>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6468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3"/>
          <p:cNvSpPr txBox="1">
            <a:spLocks noChangeArrowheads="1"/>
          </p:cNvSpPr>
          <p:nvPr/>
        </p:nvSpPr>
        <p:spPr bwMode="auto">
          <a:xfrm>
            <a:off x="381000" y="983672"/>
            <a:ext cx="8223250"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FF66"/>
              </a:buClr>
              <a:buFontTx/>
              <a:buNone/>
            </a:pPr>
            <a:r>
              <a:rPr lang="zh-CN" altLang="en-US" b="1">
                <a:solidFill>
                  <a:srgbClr val="CC3300"/>
                </a:solidFill>
              </a:rPr>
              <a:t>（</a:t>
            </a:r>
            <a:r>
              <a:rPr lang="en-US" altLang="zh-CN" b="1">
                <a:solidFill>
                  <a:srgbClr val="CC3300"/>
                </a:solidFill>
              </a:rPr>
              <a:t>2</a:t>
            </a:r>
            <a:r>
              <a:rPr lang="zh-CN" altLang="en-US" b="1">
                <a:solidFill>
                  <a:srgbClr val="CC3300"/>
                </a:solidFill>
              </a:rPr>
              <a:t>） 优化：消除不必要的冗余，设计全局</a:t>
            </a:r>
            <a:r>
              <a:rPr lang="en-US" altLang="zh-CN" b="1">
                <a:solidFill>
                  <a:srgbClr val="CC3300"/>
                </a:solidFill>
              </a:rPr>
              <a:t>E-R</a:t>
            </a:r>
            <a:r>
              <a:rPr lang="zh-CN" altLang="en-US" b="1">
                <a:solidFill>
                  <a:srgbClr val="CC3300"/>
                </a:solidFill>
              </a:rPr>
              <a:t>图</a:t>
            </a:r>
          </a:p>
        </p:txBody>
      </p:sp>
      <p:sp>
        <p:nvSpPr>
          <p:cNvPr id="7" name="Rectangle 4"/>
          <p:cNvSpPr>
            <a:spLocks noChangeArrowheads="1"/>
          </p:cNvSpPr>
          <p:nvPr/>
        </p:nvSpPr>
        <p:spPr bwMode="auto">
          <a:xfrm>
            <a:off x="311725" y="1821872"/>
            <a:ext cx="11648209"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15000"/>
              </a:spcBef>
              <a:buClr>
                <a:srgbClr val="FFFF66"/>
              </a:buClr>
            </a:pPr>
            <a:r>
              <a:rPr kumimoji="1" lang="zh-CN" altLang="en-US" sz="3200" b="1" i="0" dirty="0">
                <a:solidFill>
                  <a:srgbClr val="000066"/>
                </a:solidFill>
                <a:latin typeface="Tahoma" panose="020B0604030504040204" pitchFamily="34" charset="0"/>
              </a:rPr>
              <a:t>什么是冗余？</a:t>
            </a:r>
          </a:p>
          <a:p>
            <a:pPr eaLnBrk="1" hangingPunct="1">
              <a:lnSpc>
                <a:spcPct val="105000"/>
              </a:lnSpc>
              <a:spcBef>
                <a:spcPct val="15000"/>
              </a:spcBef>
              <a:buClr>
                <a:srgbClr val="FFFF66"/>
              </a:buClr>
            </a:pPr>
            <a:endParaRPr kumimoji="1" lang="zh-CN" altLang="en-US" sz="3200" b="1" i="0" dirty="0">
              <a:solidFill>
                <a:srgbClr val="000066"/>
              </a:solidFill>
              <a:latin typeface="Tahoma" panose="020B0604030504040204" pitchFamily="34" charset="0"/>
            </a:endParaRPr>
          </a:p>
          <a:p>
            <a:pPr marL="457200" indent="-457200" eaLnBrk="1" hangingPunct="1">
              <a:lnSpc>
                <a:spcPct val="105000"/>
              </a:lnSpc>
              <a:spcBef>
                <a:spcPct val="15000"/>
              </a:spcBef>
              <a:buFont typeface="Wingdings" panose="05000000000000000000" pitchFamily="2" charset="2"/>
              <a:buChar char="Ø"/>
            </a:pPr>
            <a:r>
              <a:rPr kumimoji="1" lang="zh-CN" altLang="en-US" sz="2800" b="1" i="0" dirty="0">
                <a:solidFill>
                  <a:srgbClr val="CC3300"/>
                </a:solidFill>
                <a:latin typeface="Tahoma" panose="020B0604030504040204" pitchFamily="34" charset="0"/>
              </a:rPr>
              <a:t>冗余的数据</a:t>
            </a:r>
            <a:r>
              <a:rPr kumimoji="1" lang="zh-CN" altLang="en-US" sz="2800" b="1" i="0" dirty="0">
                <a:solidFill>
                  <a:srgbClr val="000066"/>
                </a:solidFill>
                <a:latin typeface="Tahoma" panose="020B0604030504040204" pitchFamily="34" charset="0"/>
              </a:rPr>
              <a:t>：是指可由基本数据导出的数据。</a:t>
            </a:r>
          </a:p>
          <a:p>
            <a:pPr marL="457200" indent="-457200" eaLnBrk="1" hangingPunct="1">
              <a:lnSpc>
                <a:spcPct val="105000"/>
              </a:lnSpc>
              <a:spcBef>
                <a:spcPct val="15000"/>
              </a:spcBef>
              <a:buFont typeface="Wingdings" panose="05000000000000000000" pitchFamily="2" charset="2"/>
              <a:buChar char="Ø"/>
            </a:pPr>
            <a:r>
              <a:rPr kumimoji="1" lang="zh-CN" altLang="en-US" sz="2800" b="1" i="0" dirty="0">
                <a:solidFill>
                  <a:srgbClr val="CC3300"/>
                </a:solidFill>
                <a:latin typeface="Tahoma" panose="020B0604030504040204" pitchFamily="34" charset="0"/>
              </a:rPr>
              <a:t>冗余的联系</a:t>
            </a:r>
            <a:r>
              <a:rPr kumimoji="1" lang="zh-CN" altLang="en-US" sz="2800" b="1" i="0" dirty="0">
                <a:solidFill>
                  <a:srgbClr val="000066"/>
                </a:solidFill>
                <a:latin typeface="Tahoma" panose="020B0604030504040204" pitchFamily="34" charset="0"/>
              </a:rPr>
              <a:t>：是指可由其他联系导出的联系。</a:t>
            </a:r>
          </a:p>
          <a:p>
            <a:pPr marL="457200" indent="-457200" eaLnBrk="1" hangingPunct="1">
              <a:spcBef>
                <a:spcPct val="70000"/>
              </a:spcBef>
              <a:buFont typeface="Wingdings" panose="05000000000000000000" pitchFamily="2" charset="2"/>
              <a:buChar char="Ø"/>
            </a:pPr>
            <a:r>
              <a:rPr kumimoji="1" lang="zh-CN" altLang="en-US" sz="2800" b="1" i="0" dirty="0">
                <a:solidFill>
                  <a:srgbClr val="000066"/>
                </a:solidFill>
                <a:latin typeface="Tahoma" panose="020B0604030504040204" pitchFamily="34" charset="0"/>
              </a:rPr>
              <a:t>冗余数据和冗余联系容易破坏数据库的完整性，给数据库维护增加困难。</a:t>
            </a:r>
          </a:p>
        </p:txBody>
      </p:sp>
      <p:sp>
        <p:nvSpPr>
          <p:cNvPr id="8"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9"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0430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6" name="Rectangle 3"/>
          <p:cNvSpPr txBox="1">
            <a:spLocks noChangeArrowheads="1"/>
          </p:cNvSpPr>
          <p:nvPr/>
        </p:nvSpPr>
        <p:spPr bwMode="auto">
          <a:xfrm>
            <a:off x="533399" y="1066800"/>
            <a:ext cx="10865427" cy="1676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ct val="15000"/>
              </a:spcBef>
              <a:buClr>
                <a:srgbClr val="FFFF66"/>
              </a:buClr>
              <a:buFontTx/>
              <a:buNone/>
            </a:pPr>
            <a:r>
              <a:rPr kumimoji="1" lang="zh-CN" altLang="en-US" b="1" dirty="0">
                <a:solidFill>
                  <a:srgbClr val="CC3300"/>
                </a:solidFill>
                <a:latin typeface="Tahoma" panose="020B0604030504040204" pitchFamily="34" charset="0"/>
              </a:rPr>
              <a:t>消除冗余的方法－分析方法</a:t>
            </a:r>
          </a:p>
          <a:p>
            <a:pPr>
              <a:lnSpc>
                <a:spcPct val="120000"/>
              </a:lnSpc>
              <a:spcBef>
                <a:spcPct val="0"/>
              </a:spcBef>
              <a:buClr>
                <a:schemeClr val="tx1"/>
              </a:buClr>
            </a:pPr>
            <a:r>
              <a:rPr kumimoji="1" lang="zh-CN" altLang="en-US" b="1" dirty="0">
                <a:solidFill>
                  <a:srgbClr val="000066"/>
                </a:solidFill>
                <a:latin typeface="Tahoma" panose="020B0604030504040204" pitchFamily="34" charset="0"/>
              </a:rPr>
              <a:t>以数据字典和数据流图为依据，根据数据字典中关于数据项之间逻辑关系的说明来消除冗余。</a:t>
            </a:r>
          </a:p>
        </p:txBody>
      </p:sp>
      <p:sp>
        <p:nvSpPr>
          <p:cNvPr id="8"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9"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3"/>
          <p:cNvSpPr txBox="1">
            <a:spLocks noChangeArrowheads="1"/>
          </p:cNvSpPr>
          <p:nvPr/>
        </p:nvSpPr>
        <p:spPr bwMode="auto">
          <a:xfrm>
            <a:off x="600272" y="2931090"/>
            <a:ext cx="11169794" cy="325273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533400" eaLnBrk="1" hangingPunct="1">
              <a:buFontTx/>
              <a:buNone/>
            </a:pPr>
            <a:r>
              <a:rPr lang="en-US" altLang="zh-CN" sz="2400" b="1" dirty="0">
                <a:solidFill>
                  <a:srgbClr val="FF0000"/>
                </a:solidFill>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例</a:t>
            </a:r>
            <a:r>
              <a:rPr lang="en-US" altLang="zh-CN" sz="2400" b="1" dirty="0">
                <a:solidFill>
                  <a:srgbClr val="FF0000"/>
                </a:solidFill>
                <a:latin typeface="楷体_GB2312" pitchFamily="49" charset="-122"/>
                <a:ea typeface="楷体_GB2312" pitchFamily="49" charset="-122"/>
              </a:rPr>
              <a:t>】</a:t>
            </a:r>
          </a:p>
          <a:p>
            <a:pPr marL="0" indent="-533400" eaLnBrk="1" hangingPunct="1">
              <a:buFontTx/>
              <a:buNone/>
            </a:pPr>
            <a:r>
              <a:rPr lang="zh-CN" altLang="en-US" sz="2400" b="1" dirty="0">
                <a:solidFill>
                  <a:schemeClr val="tx2"/>
                </a:solidFill>
                <a:latin typeface="楷体_GB2312" pitchFamily="49" charset="-122"/>
                <a:ea typeface="楷体_GB2312" pitchFamily="49" charset="-122"/>
              </a:rPr>
              <a:t>“选课”联系中的绩点属性可以由成绩推算出来，属于</a:t>
            </a:r>
            <a:r>
              <a:rPr lang="zh-CN" altLang="en-US" sz="2400" b="1" dirty="0">
                <a:solidFill>
                  <a:srgbClr val="FF0000"/>
                </a:solidFill>
                <a:latin typeface="楷体_GB2312" pitchFamily="49" charset="-122"/>
                <a:ea typeface="楷体_GB2312" pitchFamily="49" charset="-122"/>
              </a:rPr>
              <a:t>冗余数据</a:t>
            </a:r>
            <a:r>
              <a:rPr lang="zh-CN" altLang="en-US" sz="2400" b="1" dirty="0">
                <a:solidFill>
                  <a:schemeClr val="tx2"/>
                </a:solidFill>
                <a:latin typeface="楷体_GB2312" pitchFamily="49" charset="-122"/>
                <a:ea typeface="楷体_GB2312" pitchFamily="49" charset="-122"/>
              </a:rPr>
              <a:t>，可以去掉。</a:t>
            </a:r>
            <a:endParaRPr lang="en-US" altLang="zh-CN" sz="2400" b="1" dirty="0">
              <a:solidFill>
                <a:schemeClr val="tx2"/>
              </a:solidFill>
              <a:latin typeface="楷体_GB2312" pitchFamily="49" charset="-122"/>
              <a:ea typeface="楷体_GB2312" pitchFamily="49" charset="-122"/>
            </a:endParaRPr>
          </a:p>
          <a:p>
            <a:pPr marL="0" indent="-533400" eaLnBrk="1" hangingPunct="1">
              <a:buFontTx/>
              <a:buNone/>
            </a:pPr>
            <a:endParaRPr lang="zh-CN" altLang="en-US" sz="2400" b="1" dirty="0">
              <a:solidFill>
                <a:schemeClr val="tx2"/>
              </a:solidFill>
              <a:latin typeface="楷体_GB2312" pitchFamily="49" charset="-122"/>
              <a:ea typeface="楷体_GB2312" pitchFamily="49" charset="-122"/>
            </a:endParaRPr>
          </a:p>
          <a:p>
            <a:pPr marL="0" indent="0" eaLnBrk="1" hangingPunct="1">
              <a:lnSpc>
                <a:spcPct val="115000"/>
              </a:lnSpc>
              <a:buNone/>
            </a:pPr>
            <a:r>
              <a:rPr lang="zh-CN" altLang="en-US" sz="2400" b="1" dirty="0">
                <a:solidFill>
                  <a:schemeClr val="tx2"/>
                </a:solidFill>
                <a:ea typeface="楷体_GB2312" pitchFamily="49" charset="-122"/>
              </a:rPr>
              <a:t>“学院”</a:t>
            </a:r>
            <a:r>
              <a:rPr lang="zh-CN" altLang="en-US" sz="2400" b="1" dirty="0">
                <a:solidFill>
                  <a:schemeClr val="tx2"/>
                </a:solidFill>
                <a:latin typeface="楷体_GB2312" pitchFamily="49" charset="-122"/>
                <a:ea typeface="楷体_GB2312" pitchFamily="49" charset="-122"/>
              </a:rPr>
              <a:t>实体与</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课程</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实体之间的</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开设</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联系，可以由</a:t>
            </a:r>
            <a:r>
              <a:rPr lang="zh-CN" altLang="en-US" sz="2400" b="1" dirty="0">
                <a:solidFill>
                  <a:schemeClr val="tx2"/>
                </a:solidFill>
                <a:ea typeface="楷体_GB2312" pitchFamily="49" charset="-122"/>
              </a:rPr>
              <a:t>“学院”</a:t>
            </a:r>
            <a:r>
              <a:rPr lang="zh-CN" altLang="en-US" sz="2400" b="1" dirty="0">
                <a:solidFill>
                  <a:schemeClr val="tx2"/>
                </a:solidFill>
                <a:latin typeface="楷体_GB2312" pitchFamily="49" charset="-122"/>
                <a:ea typeface="楷体_GB2312" pitchFamily="49" charset="-122"/>
              </a:rPr>
              <a:t>与</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教师</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实体之间的</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属于</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联系、</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教师</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与</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课程</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实体之间的</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讲授</a:t>
            </a:r>
            <a:r>
              <a:rPr lang="zh-CN" altLang="en-US" sz="2400" b="1" dirty="0">
                <a:solidFill>
                  <a:schemeClr val="tx2"/>
                </a:solidFill>
                <a:ea typeface="楷体_GB2312" pitchFamily="49" charset="-122"/>
              </a:rPr>
              <a:t>”</a:t>
            </a:r>
            <a:r>
              <a:rPr lang="zh-CN" altLang="en-US" sz="2400" b="1" dirty="0">
                <a:solidFill>
                  <a:schemeClr val="tx2"/>
                </a:solidFill>
                <a:latin typeface="楷体_GB2312" pitchFamily="49" charset="-122"/>
                <a:ea typeface="楷体_GB2312" pitchFamily="49" charset="-122"/>
              </a:rPr>
              <a:t>联系推导出来，所以属于</a:t>
            </a:r>
            <a:r>
              <a:rPr lang="zh-CN" altLang="en-US" sz="2400" b="1" dirty="0">
                <a:solidFill>
                  <a:srgbClr val="FF0000"/>
                </a:solidFill>
                <a:latin typeface="楷体_GB2312" pitchFamily="49" charset="-122"/>
                <a:ea typeface="楷体_GB2312" pitchFamily="49" charset="-122"/>
              </a:rPr>
              <a:t>冗余的联系</a:t>
            </a:r>
            <a:r>
              <a:rPr lang="zh-CN" altLang="en-US" sz="2400" b="1" dirty="0">
                <a:solidFill>
                  <a:schemeClr val="tx2"/>
                </a:solidFill>
                <a:latin typeface="楷体_GB2312" pitchFamily="49" charset="-122"/>
                <a:ea typeface="楷体_GB2312" pitchFamily="49" charset="-122"/>
              </a:rPr>
              <a:t>。</a:t>
            </a:r>
          </a:p>
        </p:txBody>
      </p:sp>
    </p:spTree>
    <p:extLst>
      <p:ext uri="{BB962C8B-B14F-4D97-AF65-F5344CB8AC3E}">
        <p14:creationId xmlns:p14="http://schemas.microsoft.com/office/powerpoint/2010/main" val="864488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xEl>
                                              <p:pRg st="3" end="3"/>
                                            </p:txEl>
                                          </p:spTgt>
                                        </p:tgtEl>
                                        <p:attrNameLst>
                                          <p:attrName>style.visibility</p:attrName>
                                        </p:attrNameLst>
                                      </p:cBhvr>
                                      <p:to>
                                        <p:strVal val="visible"/>
                                      </p:to>
                                    </p:set>
                                    <p:animEffect transition="in" filter="blinds(horizontal)">
                                      <p:cBhvr>
                                        <p:cTn id="7"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nvCxnSpPr>
        <p:spPr>
          <a:xfrm rot="5400000">
            <a:off x="4354918"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3168838" y="836244"/>
            <a:ext cx="8694725" cy="5610730"/>
            <a:chOff x="0" y="577805"/>
            <a:chExt cx="8694725" cy="5610730"/>
          </a:xfrm>
        </p:grpSpPr>
        <p:sp>
          <p:nvSpPr>
            <p:cNvPr id="7" name="AutoShape 3"/>
            <p:cNvSpPr>
              <a:spLocks noChangeArrowheads="1"/>
            </p:cNvSpPr>
            <p:nvPr/>
          </p:nvSpPr>
          <p:spPr bwMode="auto">
            <a:xfrm>
              <a:off x="5435600" y="3284539"/>
              <a:ext cx="598488" cy="300280"/>
            </a:xfrm>
            <a:prstGeom prst="flowChartProcess">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专业</a:t>
              </a:r>
              <a:endParaRPr lang="zh-CN" altLang="en-US" sz="1400" dirty="0"/>
            </a:p>
          </p:txBody>
        </p:sp>
        <p:sp>
          <p:nvSpPr>
            <p:cNvPr id="8" name="AutoShape 4"/>
            <p:cNvSpPr>
              <a:spLocks noChangeArrowheads="1"/>
            </p:cNvSpPr>
            <p:nvPr/>
          </p:nvSpPr>
          <p:spPr bwMode="auto">
            <a:xfrm>
              <a:off x="5395159" y="5216496"/>
              <a:ext cx="733425" cy="3127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班级</a:t>
              </a:r>
              <a:endParaRPr lang="zh-CN" altLang="en-US" sz="1400" dirty="0"/>
            </a:p>
          </p:txBody>
        </p:sp>
        <p:sp>
          <p:nvSpPr>
            <p:cNvPr id="9" name="AutoShape 5"/>
            <p:cNvSpPr>
              <a:spLocks noChangeArrowheads="1"/>
            </p:cNvSpPr>
            <p:nvPr/>
          </p:nvSpPr>
          <p:spPr bwMode="auto">
            <a:xfrm>
              <a:off x="3132138" y="5243027"/>
              <a:ext cx="700087" cy="287337"/>
            </a:xfrm>
            <a:prstGeom prst="flowChartProcess">
              <a:avLst/>
            </a:prstGeom>
            <a:solidFill>
              <a:srgbClr val="FFFFFF"/>
            </a:solidFill>
            <a:ln w="0" algn="ctr">
              <a:solidFill>
                <a:srgbClr val="000000"/>
              </a:solidFill>
              <a:miter lim="800000"/>
              <a:headEnd/>
              <a:tailEnd/>
            </a:ln>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学生</a:t>
              </a:r>
              <a:endParaRPr lang="zh-CN" altLang="en-US" sz="1400" dirty="0"/>
            </a:p>
          </p:txBody>
        </p:sp>
        <p:sp>
          <p:nvSpPr>
            <p:cNvPr id="12" name="AutoShape 6"/>
            <p:cNvSpPr>
              <a:spLocks noChangeArrowheads="1"/>
            </p:cNvSpPr>
            <p:nvPr/>
          </p:nvSpPr>
          <p:spPr bwMode="auto">
            <a:xfrm>
              <a:off x="5292725" y="2170627"/>
              <a:ext cx="849313" cy="417513"/>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开设</a:t>
              </a:r>
              <a:endParaRPr lang="zh-CN" altLang="en-US" sz="1400"/>
            </a:p>
          </p:txBody>
        </p:sp>
        <p:sp>
          <p:nvSpPr>
            <p:cNvPr id="13" name="AutoShape 7"/>
            <p:cNvSpPr>
              <a:spLocks noChangeArrowheads="1"/>
            </p:cNvSpPr>
            <p:nvPr/>
          </p:nvSpPr>
          <p:spPr bwMode="auto">
            <a:xfrm>
              <a:off x="4140200" y="3500438"/>
              <a:ext cx="920750" cy="358775"/>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专业名</a:t>
              </a:r>
              <a:endParaRPr lang="zh-CN" altLang="en-US" sz="1400"/>
            </a:p>
          </p:txBody>
        </p:sp>
        <p:sp>
          <p:nvSpPr>
            <p:cNvPr id="14" name="AutoShape 8"/>
            <p:cNvSpPr>
              <a:spLocks noChangeArrowheads="1"/>
            </p:cNvSpPr>
            <p:nvPr/>
          </p:nvSpPr>
          <p:spPr bwMode="auto">
            <a:xfrm>
              <a:off x="5356116" y="4161940"/>
              <a:ext cx="798513" cy="428743"/>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拥有</a:t>
              </a:r>
              <a:endParaRPr lang="zh-CN" altLang="en-US" sz="1400" dirty="0"/>
            </a:p>
          </p:txBody>
        </p:sp>
        <p:sp>
          <p:nvSpPr>
            <p:cNvPr id="15" name="AutoShape 9"/>
            <p:cNvSpPr>
              <a:spLocks noChangeArrowheads="1"/>
            </p:cNvSpPr>
            <p:nvPr/>
          </p:nvSpPr>
          <p:spPr bwMode="auto">
            <a:xfrm>
              <a:off x="4140200" y="5114062"/>
              <a:ext cx="958850" cy="549275"/>
            </a:xfrm>
            <a:prstGeom prst="flowChartDecision">
              <a:avLst/>
            </a:prstGeom>
            <a:solidFill>
              <a:srgbClr val="FFFFFF"/>
            </a:solidFill>
            <a:ln w="0" algn="ctr">
              <a:solidFill>
                <a:srgbClr val="000000"/>
              </a:solidFill>
              <a:miter lim="800000"/>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包含</a:t>
              </a:r>
              <a:endParaRPr lang="zh-CN" altLang="en-US" sz="1400"/>
            </a:p>
          </p:txBody>
        </p:sp>
        <p:sp>
          <p:nvSpPr>
            <p:cNvPr id="16" name="AutoShape 10"/>
            <p:cNvSpPr>
              <a:spLocks noChangeArrowheads="1"/>
            </p:cNvSpPr>
            <p:nvPr/>
          </p:nvSpPr>
          <p:spPr bwMode="auto">
            <a:xfrm>
              <a:off x="4110901" y="3032919"/>
              <a:ext cx="920750" cy="357336"/>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a:latin typeface="Times New Roman" panose="02020603050405020304" pitchFamily="18" charset="0"/>
                </a:rPr>
                <a:t>专业号</a:t>
              </a:r>
              <a:endParaRPr lang="zh-CN" altLang="en-US" sz="1400" u="sng"/>
            </a:p>
          </p:txBody>
        </p:sp>
        <p:sp>
          <p:nvSpPr>
            <p:cNvPr id="17" name="AutoShape 11"/>
            <p:cNvSpPr>
              <a:spLocks noChangeArrowheads="1"/>
            </p:cNvSpPr>
            <p:nvPr/>
          </p:nvSpPr>
          <p:spPr bwMode="auto">
            <a:xfrm>
              <a:off x="6474659" y="5003880"/>
              <a:ext cx="1042987" cy="43180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a:latin typeface="Times New Roman" panose="02020603050405020304" pitchFamily="18" charset="0"/>
                </a:rPr>
                <a:t>班级号</a:t>
              </a:r>
              <a:endParaRPr lang="zh-CN" altLang="en-US" sz="1400"/>
            </a:p>
          </p:txBody>
        </p:sp>
        <p:sp>
          <p:nvSpPr>
            <p:cNvPr id="18" name="AutoShape 12"/>
            <p:cNvSpPr>
              <a:spLocks noChangeArrowheads="1"/>
            </p:cNvSpPr>
            <p:nvPr/>
          </p:nvSpPr>
          <p:spPr bwMode="auto">
            <a:xfrm>
              <a:off x="6410970" y="5547559"/>
              <a:ext cx="893763" cy="39233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班级名</a:t>
              </a:r>
              <a:endParaRPr lang="zh-CN" altLang="en-US" sz="1400"/>
            </a:p>
          </p:txBody>
        </p:sp>
        <p:sp>
          <p:nvSpPr>
            <p:cNvPr id="19" name="AutoShape 13"/>
            <p:cNvSpPr>
              <a:spLocks noChangeArrowheads="1"/>
            </p:cNvSpPr>
            <p:nvPr/>
          </p:nvSpPr>
          <p:spPr bwMode="auto">
            <a:xfrm>
              <a:off x="2726353" y="4505443"/>
              <a:ext cx="757238" cy="378620"/>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u="sng">
                  <a:latin typeface="Times New Roman" panose="02020603050405020304" pitchFamily="18" charset="0"/>
                </a:rPr>
                <a:t>学号</a:t>
              </a:r>
              <a:endParaRPr lang="zh-CN" altLang="en-US" sz="1400"/>
            </a:p>
          </p:txBody>
        </p:sp>
        <p:sp>
          <p:nvSpPr>
            <p:cNvPr id="20" name="AutoShape 14"/>
            <p:cNvSpPr>
              <a:spLocks noChangeArrowheads="1"/>
            </p:cNvSpPr>
            <p:nvPr/>
          </p:nvSpPr>
          <p:spPr bwMode="auto">
            <a:xfrm>
              <a:off x="3624878" y="4505443"/>
              <a:ext cx="757238" cy="39234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姓名</a:t>
              </a:r>
              <a:endParaRPr lang="zh-CN" altLang="en-US" sz="1400"/>
            </a:p>
          </p:txBody>
        </p:sp>
        <p:sp>
          <p:nvSpPr>
            <p:cNvPr id="21" name="AutoShape 15"/>
            <p:cNvSpPr>
              <a:spLocks noChangeArrowheads="1"/>
            </p:cNvSpPr>
            <p:nvPr/>
          </p:nvSpPr>
          <p:spPr bwMode="auto">
            <a:xfrm>
              <a:off x="2516188" y="5808156"/>
              <a:ext cx="757237" cy="380379"/>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a:latin typeface="Times New Roman" panose="02020603050405020304" pitchFamily="18" charset="0"/>
                </a:rPr>
                <a:t>性别</a:t>
              </a:r>
              <a:endParaRPr lang="zh-CN" altLang="en-US" sz="1400"/>
            </a:p>
          </p:txBody>
        </p:sp>
        <p:sp>
          <p:nvSpPr>
            <p:cNvPr id="22" name="AutoShape 16"/>
            <p:cNvSpPr>
              <a:spLocks noChangeArrowheads="1"/>
            </p:cNvSpPr>
            <p:nvPr/>
          </p:nvSpPr>
          <p:spPr bwMode="auto">
            <a:xfrm>
              <a:off x="3395663" y="5828794"/>
              <a:ext cx="1068024" cy="359741"/>
            </a:xfrm>
            <a:prstGeom prst="flowChartConnector">
              <a:avLst/>
            </a:prstGeom>
            <a:solidFill>
              <a:srgbClr val="FFFFFF"/>
            </a:solidFill>
            <a:ln w="0" algn="ctr">
              <a:solidFill>
                <a:srgbClr val="000000"/>
              </a:solidFill>
              <a:round/>
              <a:headEnd/>
              <a:tailEnd/>
            </a:ln>
          </p:spPr>
          <p:txBody>
            <a:bodyPr lIns="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i="0" dirty="0">
                  <a:latin typeface="Times New Roman" panose="02020603050405020304" pitchFamily="18" charset="0"/>
                </a:rPr>
                <a:t>出生日期</a:t>
              </a:r>
              <a:endParaRPr lang="zh-CN" altLang="en-US" sz="1400" dirty="0"/>
            </a:p>
          </p:txBody>
        </p:sp>
        <p:sp>
          <p:nvSpPr>
            <p:cNvPr id="23" name="Line 17"/>
            <p:cNvSpPr>
              <a:spLocks noChangeShapeType="1"/>
            </p:cNvSpPr>
            <p:nvPr/>
          </p:nvSpPr>
          <p:spPr bwMode="auto">
            <a:xfrm flipH="1">
              <a:off x="5076825" y="3500438"/>
              <a:ext cx="355600" cy="144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18"/>
            <p:cNvSpPr>
              <a:spLocks noChangeShapeType="1"/>
            </p:cNvSpPr>
            <p:nvPr/>
          </p:nvSpPr>
          <p:spPr bwMode="auto">
            <a:xfrm>
              <a:off x="6115884" y="5516563"/>
              <a:ext cx="287337" cy="2159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19"/>
            <p:cNvSpPr>
              <a:spLocks noChangeShapeType="1"/>
            </p:cNvSpPr>
            <p:nvPr/>
          </p:nvSpPr>
          <p:spPr bwMode="auto">
            <a:xfrm flipH="1">
              <a:off x="5750193" y="4590683"/>
              <a:ext cx="11678" cy="625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0"/>
            <p:cNvSpPr>
              <a:spLocks noChangeShapeType="1"/>
            </p:cNvSpPr>
            <p:nvPr/>
          </p:nvSpPr>
          <p:spPr bwMode="auto">
            <a:xfrm>
              <a:off x="5701278" y="1454636"/>
              <a:ext cx="10318" cy="71599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1"/>
            <p:cNvSpPr>
              <a:spLocks noChangeShapeType="1"/>
            </p:cNvSpPr>
            <p:nvPr/>
          </p:nvSpPr>
          <p:spPr bwMode="auto">
            <a:xfrm>
              <a:off x="5717381" y="2588140"/>
              <a:ext cx="7144" cy="69639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2"/>
            <p:cNvSpPr>
              <a:spLocks noChangeShapeType="1"/>
            </p:cNvSpPr>
            <p:nvPr/>
          </p:nvSpPr>
          <p:spPr bwMode="auto">
            <a:xfrm flipV="1">
              <a:off x="5734843" y="3584818"/>
              <a:ext cx="0" cy="57712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23"/>
            <p:cNvSpPr>
              <a:spLocks noChangeShapeType="1"/>
            </p:cNvSpPr>
            <p:nvPr/>
          </p:nvSpPr>
          <p:spPr bwMode="auto">
            <a:xfrm>
              <a:off x="3851275" y="5373688"/>
              <a:ext cx="3190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Line 24"/>
            <p:cNvSpPr>
              <a:spLocks noChangeShapeType="1"/>
            </p:cNvSpPr>
            <p:nvPr/>
          </p:nvSpPr>
          <p:spPr bwMode="auto">
            <a:xfrm flipH="1">
              <a:off x="5076825" y="5373688"/>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25"/>
            <p:cNvSpPr>
              <a:spLocks noChangeShapeType="1"/>
            </p:cNvSpPr>
            <p:nvPr/>
          </p:nvSpPr>
          <p:spPr bwMode="auto">
            <a:xfrm>
              <a:off x="6115884" y="5229225"/>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26"/>
            <p:cNvSpPr>
              <a:spLocks noChangeShapeType="1"/>
            </p:cNvSpPr>
            <p:nvPr/>
          </p:nvSpPr>
          <p:spPr bwMode="auto">
            <a:xfrm flipH="1">
              <a:off x="3624878" y="4877713"/>
              <a:ext cx="325438" cy="3683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27"/>
            <p:cNvSpPr>
              <a:spLocks noChangeShapeType="1"/>
            </p:cNvSpPr>
            <p:nvPr/>
          </p:nvSpPr>
          <p:spPr bwMode="auto">
            <a:xfrm>
              <a:off x="3245466" y="4863427"/>
              <a:ext cx="140672" cy="3530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28"/>
            <p:cNvSpPr>
              <a:spLocks noChangeShapeType="1"/>
            </p:cNvSpPr>
            <p:nvPr/>
          </p:nvSpPr>
          <p:spPr bwMode="auto">
            <a:xfrm>
              <a:off x="5011739" y="3211588"/>
              <a:ext cx="423862" cy="13217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29"/>
            <p:cNvSpPr>
              <a:spLocks noChangeShapeType="1"/>
            </p:cNvSpPr>
            <p:nvPr/>
          </p:nvSpPr>
          <p:spPr bwMode="auto">
            <a:xfrm>
              <a:off x="3606800" y="5558701"/>
              <a:ext cx="173038" cy="2700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30"/>
            <p:cNvSpPr>
              <a:spLocks noChangeShapeType="1"/>
            </p:cNvSpPr>
            <p:nvPr/>
          </p:nvSpPr>
          <p:spPr bwMode="auto">
            <a:xfrm flipH="1">
              <a:off x="3021012" y="5544413"/>
              <a:ext cx="412749" cy="284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1"/>
            <p:cNvSpPr>
              <a:spLocks noChangeShapeType="1"/>
            </p:cNvSpPr>
            <p:nvPr/>
          </p:nvSpPr>
          <p:spPr bwMode="auto">
            <a:xfrm flipH="1" flipV="1">
              <a:off x="3402605" y="1454636"/>
              <a:ext cx="293687"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39" name="AutoShape 32"/>
            <p:cNvSpPr>
              <a:spLocks noChangeArrowheads="1"/>
            </p:cNvSpPr>
            <p:nvPr/>
          </p:nvSpPr>
          <p:spPr bwMode="auto">
            <a:xfrm>
              <a:off x="896938" y="1143000"/>
              <a:ext cx="588962" cy="31046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a:t>
              </a:r>
              <a:endParaRPr lang="zh-CN" altLang="en-US" sz="1400"/>
            </a:p>
          </p:txBody>
        </p:sp>
        <p:sp>
          <p:nvSpPr>
            <p:cNvPr id="40" name="AutoShape 33"/>
            <p:cNvSpPr>
              <a:spLocks noChangeArrowheads="1"/>
            </p:cNvSpPr>
            <p:nvPr/>
          </p:nvSpPr>
          <p:spPr bwMode="auto">
            <a:xfrm>
              <a:off x="2959100" y="1128713"/>
              <a:ext cx="588963" cy="324748"/>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教师</a:t>
              </a:r>
              <a:endParaRPr lang="zh-CN" altLang="en-US" sz="1400"/>
            </a:p>
          </p:txBody>
        </p:sp>
        <p:sp>
          <p:nvSpPr>
            <p:cNvPr id="41" name="AutoShape 34"/>
            <p:cNvSpPr>
              <a:spLocks noChangeArrowheads="1"/>
            </p:cNvSpPr>
            <p:nvPr/>
          </p:nvSpPr>
          <p:spPr bwMode="auto">
            <a:xfrm>
              <a:off x="0" y="891767"/>
              <a:ext cx="881063" cy="34330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课程名</a:t>
              </a:r>
              <a:endParaRPr lang="zh-CN" altLang="en-US" sz="1400"/>
            </a:p>
          </p:txBody>
        </p:sp>
        <p:sp>
          <p:nvSpPr>
            <p:cNvPr id="42" name="AutoShape 35"/>
            <p:cNvSpPr>
              <a:spLocks noChangeArrowheads="1"/>
            </p:cNvSpPr>
            <p:nvPr/>
          </p:nvSpPr>
          <p:spPr bwMode="auto">
            <a:xfrm>
              <a:off x="4130675" y="1073150"/>
              <a:ext cx="881063"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属于</a:t>
              </a:r>
              <a:endParaRPr lang="zh-CN" altLang="en-US" sz="1400"/>
            </a:p>
          </p:txBody>
        </p:sp>
        <p:sp>
          <p:nvSpPr>
            <p:cNvPr id="43" name="AutoShape 36"/>
            <p:cNvSpPr>
              <a:spLocks noChangeArrowheads="1"/>
            </p:cNvSpPr>
            <p:nvPr/>
          </p:nvSpPr>
          <p:spPr bwMode="auto">
            <a:xfrm>
              <a:off x="1778000" y="1090613"/>
              <a:ext cx="881063" cy="531812"/>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讲授</a:t>
              </a:r>
              <a:endParaRPr lang="zh-CN" altLang="en-US" sz="1400"/>
            </a:p>
          </p:txBody>
        </p:sp>
        <p:sp>
          <p:nvSpPr>
            <p:cNvPr id="44" name="AutoShape 37"/>
            <p:cNvSpPr>
              <a:spLocks noChangeArrowheads="1"/>
            </p:cNvSpPr>
            <p:nvPr/>
          </p:nvSpPr>
          <p:spPr bwMode="auto">
            <a:xfrm>
              <a:off x="755650" y="577805"/>
              <a:ext cx="874713" cy="290231"/>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课程号</a:t>
              </a:r>
              <a:endParaRPr lang="zh-CN" altLang="en-US" sz="1400"/>
            </a:p>
          </p:txBody>
        </p:sp>
        <p:sp>
          <p:nvSpPr>
            <p:cNvPr id="45" name="AutoShape 38"/>
            <p:cNvSpPr>
              <a:spLocks noChangeArrowheads="1"/>
            </p:cNvSpPr>
            <p:nvPr/>
          </p:nvSpPr>
          <p:spPr bwMode="auto">
            <a:xfrm>
              <a:off x="5781337" y="577805"/>
              <a:ext cx="972682" cy="342648"/>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学院名</a:t>
              </a:r>
              <a:endParaRPr lang="zh-CN" altLang="en-US" sz="1400" dirty="0"/>
            </a:p>
          </p:txBody>
        </p:sp>
        <p:sp>
          <p:nvSpPr>
            <p:cNvPr id="46" name="AutoShape 39"/>
            <p:cNvSpPr>
              <a:spLocks noChangeArrowheads="1"/>
            </p:cNvSpPr>
            <p:nvPr/>
          </p:nvSpPr>
          <p:spPr bwMode="auto">
            <a:xfrm>
              <a:off x="2569271" y="577806"/>
              <a:ext cx="700680" cy="318347"/>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工号</a:t>
              </a:r>
              <a:endParaRPr lang="zh-CN" altLang="en-US" sz="1400" dirty="0"/>
            </a:p>
          </p:txBody>
        </p:sp>
        <p:sp>
          <p:nvSpPr>
            <p:cNvPr id="47" name="AutoShape 40"/>
            <p:cNvSpPr>
              <a:spLocks noChangeArrowheads="1"/>
            </p:cNvSpPr>
            <p:nvPr/>
          </p:nvSpPr>
          <p:spPr bwMode="auto">
            <a:xfrm>
              <a:off x="3321884" y="577807"/>
              <a:ext cx="638787" cy="3139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姓名</a:t>
              </a:r>
              <a:endParaRPr lang="zh-CN" altLang="en-US" sz="1400" dirty="0"/>
            </a:p>
          </p:txBody>
        </p:sp>
        <p:sp>
          <p:nvSpPr>
            <p:cNvPr id="48" name="AutoShape 41"/>
            <p:cNvSpPr>
              <a:spLocks noChangeArrowheads="1"/>
            </p:cNvSpPr>
            <p:nvPr/>
          </p:nvSpPr>
          <p:spPr bwMode="auto">
            <a:xfrm>
              <a:off x="2561230" y="1999149"/>
              <a:ext cx="735012"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性别</a:t>
              </a:r>
              <a:endParaRPr lang="zh-CN" altLang="en-US" sz="1400"/>
            </a:p>
          </p:txBody>
        </p:sp>
        <p:sp>
          <p:nvSpPr>
            <p:cNvPr id="49" name="AutoShape 42"/>
            <p:cNvSpPr>
              <a:spLocks noChangeArrowheads="1"/>
            </p:cNvSpPr>
            <p:nvPr/>
          </p:nvSpPr>
          <p:spPr bwMode="auto">
            <a:xfrm>
              <a:off x="3349625" y="1999149"/>
              <a:ext cx="73501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职称</a:t>
              </a:r>
              <a:endParaRPr lang="zh-CN" altLang="en-US" sz="1400"/>
            </a:p>
          </p:txBody>
        </p:sp>
        <p:sp>
          <p:nvSpPr>
            <p:cNvPr id="50" name="Line 43"/>
            <p:cNvSpPr>
              <a:spLocks noChangeShapeType="1"/>
            </p:cNvSpPr>
            <p:nvPr/>
          </p:nvSpPr>
          <p:spPr bwMode="auto">
            <a:xfrm>
              <a:off x="755650" y="1196975"/>
              <a:ext cx="142875"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1" name="Line 44"/>
            <p:cNvSpPr>
              <a:spLocks noChangeShapeType="1"/>
            </p:cNvSpPr>
            <p:nvPr/>
          </p:nvSpPr>
          <p:spPr bwMode="auto">
            <a:xfrm flipH="1">
              <a:off x="2964455" y="1454636"/>
              <a:ext cx="146050" cy="5318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2" name="AutoShape 45"/>
            <p:cNvSpPr>
              <a:spLocks noChangeArrowheads="1"/>
            </p:cNvSpPr>
            <p:nvPr/>
          </p:nvSpPr>
          <p:spPr bwMode="auto">
            <a:xfrm>
              <a:off x="5432425" y="1143000"/>
              <a:ext cx="585788" cy="310461"/>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 学院</a:t>
              </a:r>
              <a:endParaRPr lang="zh-CN" altLang="en-US" sz="1400" dirty="0"/>
            </a:p>
          </p:txBody>
        </p:sp>
        <p:sp>
          <p:nvSpPr>
            <p:cNvPr id="53" name="AutoShape 46"/>
            <p:cNvSpPr>
              <a:spLocks noChangeArrowheads="1"/>
            </p:cNvSpPr>
            <p:nvPr/>
          </p:nvSpPr>
          <p:spPr bwMode="auto">
            <a:xfrm>
              <a:off x="4848406" y="601052"/>
              <a:ext cx="870237" cy="322009"/>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dirty="0">
                  <a:latin typeface="Times New Roman" panose="02020603050405020304" pitchFamily="18" charset="0"/>
                </a:rPr>
                <a:t>学院号</a:t>
              </a:r>
              <a:endParaRPr lang="zh-CN" altLang="en-US" sz="1400" dirty="0"/>
            </a:p>
          </p:txBody>
        </p:sp>
        <p:sp>
          <p:nvSpPr>
            <p:cNvPr id="54" name="Line 47"/>
            <p:cNvSpPr>
              <a:spLocks noChangeShapeType="1"/>
            </p:cNvSpPr>
            <p:nvPr/>
          </p:nvSpPr>
          <p:spPr bwMode="auto">
            <a:xfrm flipH="1">
              <a:off x="5000625" y="1358900"/>
              <a:ext cx="43180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55" name="Line 48"/>
            <p:cNvSpPr>
              <a:spLocks noChangeShapeType="1"/>
            </p:cNvSpPr>
            <p:nvPr/>
          </p:nvSpPr>
          <p:spPr bwMode="auto">
            <a:xfrm>
              <a:off x="1485900" y="1357313"/>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49"/>
            <p:cNvSpPr>
              <a:spLocks noChangeShapeType="1"/>
            </p:cNvSpPr>
            <p:nvPr/>
          </p:nvSpPr>
          <p:spPr bwMode="auto">
            <a:xfrm>
              <a:off x="2657475" y="1357313"/>
              <a:ext cx="292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0"/>
            <p:cNvSpPr>
              <a:spLocks noChangeShapeType="1"/>
            </p:cNvSpPr>
            <p:nvPr/>
          </p:nvSpPr>
          <p:spPr bwMode="auto">
            <a:xfrm flipH="1">
              <a:off x="1189038" y="868035"/>
              <a:ext cx="3968" cy="26729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1"/>
            <p:cNvSpPr>
              <a:spLocks noChangeShapeType="1"/>
            </p:cNvSpPr>
            <p:nvPr/>
          </p:nvSpPr>
          <p:spPr bwMode="auto">
            <a:xfrm>
              <a:off x="2912269" y="891768"/>
              <a:ext cx="159544" cy="251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52"/>
            <p:cNvSpPr>
              <a:spLocks noChangeShapeType="1"/>
            </p:cNvSpPr>
            <p:nvPr/>
          </p:nvSpPr>
          <p:spPr bwMode="auto">
            <a:xfrm flipH="1">
              <a:off x="3365500" y="891768"/>
              <a:ext cx="241300" cy="2512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3"/>
            <p:cNvSpPr>
              <a:spLocks noChangeShapeType="1"/>
            </p:cNvSpPr>
            <p:nvPr/>
          </p:nvSpPr>
          <p:spPr bwMode="auto">
            <a:xfrm>
              <a:off x="3548063" y="1338263"/>
              <a:ext cx="585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Line 54"/>
            <p:cNvSpPr>
              <a:spLocks noChangeShapeType="1"/>
            </p:cNvSpPr>
            <p:nvPr/>
          </p:nvSpPr>
          <p:spPr bwMode="auto">
            <a:xfrm>
              <a:off x="5364163" y="920453"/>
              <a:ext cx="290512" cy="20032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55"/>
            <p:cNvSpPr>
              <a:spLocks noChangeShapeType="1"/>
            </p:cNvSpPr>
            <p:nvPr/>
          </p:nvSpPr>
          <p:spPr bwMode="auto">
            <a:xfrm flipH="1">
              <a:off x="5948363" y="938213"/>
              <a:ext cx="142875" cy="1825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AutoShape 56"/>
            <p:cNvSpPr>
              <a:spLocks noChangeArrowheads="1"/>
            </p:cNvSpPr>
            <p:nvPr/>
          </p:nvSpPr>
          <p:spPr bwMode="auto">
            <a:xfrm>
              <a:off x="6584950" y="1071563"/>
              <a:ext cx="881063" cy="531812"/>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负责</a:t>
              </a:r>
              <a:endParaRPr lang="zh-CN" altLang="en-US" sz="1400"/>
            </a:p>
          </p:txBody>
        </p:sp>
        <p:sp>
          <p:nvSpPr>
            <p:cNvPr id="64" name="Line 57"/>
            <p:cNvSpPr>
              <a:spLocks noChangeShapeType="1"/>
            </p:cNvSpPr>
            <p:nvPr/>
          </p:nvSpPr>
          <p:spPr bwMode="auto">
            <a:xfrm>
              <a:off x="6002338" y="1336675"/>
              <a:ext cx="58578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58"/>
            <p:cNvSpPr>
              <a:spLocks noChangeShapeType="1"/>
            </p:cNvSpPr>
            <p:nvPr/>
          </p:nvSpPr>
          <p:spPr bwMode="auto">
            <a:xfrm flipH="1">
              <a:off x="7016748" y="1604963"/>
              <a:ext cx="4365" cy="4032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66" name="Line 59"/>
            <p:cNvSpPr>
              <a:spLocks noChangeShapeType="1"/>
            </p:cNvSpPr>
            <p:nvPr/>
          </p:nvSpPr>
          <p:spPr bwMode="auto">
            <a:xfrm flipH="1" flipV="1">
              <a:off x="7227888" y="2419350"/>
              <a:ext cx="293687" cy="6651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67" name="AutoShape 60"/>
            <p:cNvSpPr>
              <a:spLocks noChangeArrowheads="1"/>
            </p:cNvSpPr>
            <p:nvPr/>
          </p:nvSpPr>
          <p:spPr bwMode="auto">
            <a:xfrm>
              <a:off x="6800850" y="2008188"/>
              <a:ext cx="720725" cy="398462"/>
            </a:xfrm>
            <a:prstGeom prst="flowChartProcess">
              <a:avLst/>
            </a:prstGeom>
            <a:solidFill>
              <a:srgbClr val="FFFFFF"/>
            </a:solidFill>
            <a:ln w="0" algn="ctr">
              <a:solidFill>
                <a:srgbClr val="000000"/>
              </a:solidFill>
              <a:miter lim="800000"/>
              <a:headEnd/>
              <a:tailEnd/>
            </a:ln>
          </p:spPr>
          <p:txBody>
            <a:bodyPr lIns="7200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负责人</a:t>
              </a:r>
              <a:endParaRPr lang="zh-CN" altLang="en-US" sz="1400"/>
            </a:p>
          </p:txBody>
        </p:sp>
        <p:sp>
          <p:nvSpPr>
            <p:cNvPr id="69" name="AutoShape 62"/>
            <p:cNvSpPr>
              <a:spLocks noChangeArrowheads="1"/>
            </p:cNvSpPr>
            <p:nvPr/>
          </p:nvSpPr>
          <p:spPr bwMode="auto">
            <a:xfrm>
              <a:off x="7191375" y="2963863"/>
              <a:ext cx="735013"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dirty="0">
                  <a:latin typeface="Times New Roman" panose="02020603050405020304" pitchFamily="18" charset="0"/>
                </a:rPr>
                <a:t>姓名</a:t>
              </a:r>
              <a:endParaRPr lang="zh-CN" altLang="en-US" sz="1400" dirty="0"/>
            </a:p>
          </p:txBody>
        </p:sp>
        <p:sp>
          <p:nvSpPr>
            <p:cNvPr id="71" name="AutoShape 64"/>
            <p:cNvSpPr>
              <a:spLocks noChangeArrowheads="1"/>
            </p:cNvSpPr>
            <p:nvPr/>
          </p:nvSpPr>
          <p:spPr bwMode="auto">
            <a:xfrm>
              <a:off x="7956550" y="2065382"/>
              <a:ext cx="738175" cy="332229"/>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u="sng">
                  <a:latin typeface="Times New Roman" panose="02020603050405020304" pitchFamily="18" charset="0"/>
                </a:rPr>
                <a:t>工号</a:t>
              </a:r>
              <a:endParaRPr lang="zh-CN" altLang="en-US" sz="1400"/>
            </a:p>
          </p:txBody>
        </p:sp>
        <p:sp>
          <p:nvSpPr>
            <p:cNvPr id="72" name="Line 65"/>
            <p:cNvSpPr>
              <a:spLocks noChangeShapeType="1"/>
            </p:cNvSpPr>
            <p:nvPr/>
          </p:nvSpPr>
          <p:spPr bwMode="auto">
            <a:xfrm>
              <a:off x="7524750" y="2228850"/>
              <a:ext cx="440349" cy="26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Rectangle 66"/>
            <p:cNvSpPr>
              <a:spLocks noChangeArrowheads="1"/>
            </p:cNvSpPr>
            <p:nvPr/>
          </p:nvSpPr>
          <p:spPr bwMode="auto">
            <a:xfrm>
              <a:off x="1392237" y="983765"/>
              <a:ext cx="6416675" cy="476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57150"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r>
                <a:rPr lang="en-US" altLang="zh-CN" i="0" dirty="0"/>
                <a:t>m                n               </a:t>
              </a:r>
              <a:r>
                <a:rPr lang="en-US" altLang="zh-CN" i="0" dirty="0" err="1"/>
                <a:t>n</a:t>
              </a:r>
              <a:r>
                <a:rPr lang="en-US" altLang="zh-CN" i="0" dirty="0"/>
                <a:t>                  1                 1</a:t>
              </a:r>
            </a:p>
            <a:p>
              <a:pPr eaLnBrk="1" hangingPunct="1"/>
              <a:endParaRPr lang="en-US" altLang="zh-CN" i="0" dirty="0"/>
            </a:p>
            <a:p>
              <a:pPr eaLnBrk="1" hangingPunct="1"/>
              <a:r>
                <a:rPr lang="en-US" altLang="zh-CN" i="0" dirty="0"/>
                <a:t>                                                              1                       1</a:t>
              </a:r>
            </a:p>
            <a:p>
              <a:pPr eaLnBrk="1" hangingPunct="1"/>
              <a:endParaRPr lang="en-US" altLang="zh-CN" i="0" dirty="0"/>
            </a:p>
            <a:p>
              <a:pPr eaLnBrk="1" hangingPunct="1"/>
              <a:r>
                <a:rPr lang="en-US" altLang="zh-CN" i="0" dirty="0"/>
                <a:t>m</a:t>
              </a:r>
            </a:p>
            <a:p>
              <a:pPr eaLnBrk="1" hangingPunct="1"/>
              <a:endParaRPr lang="en-US" altLang="zh-CN" i="0" dirty="0"/>
            </a:p>
            <a:p>
              <a:pPr eaLnBrk="1" hangingPunct="1"/>
              <a:endParaRPr lang="en-US" altLang="zh-CN" i="0" dirty="0"/>
            </a:p>
            <a:p>
              <a:pPr eaLnBrk="1" hangingPunct="1"/>
              <a:r>
                <a:rPr lang="en-US" altLang="zh-CN" i="0" dirty="0"/>
                <a:t>                                                               n</a:t>
              </a:r>
            </a:p>
            <a:p>
              <a:pPr eaLnBrk="1" hangingPunct="1"/>
              <a:endParaRPr lang="en-US" altLang="zh-CN" i="0" dirty="0"/>
            </a:p>
            <a:p>
              <a:pPr eaLnBrk="1" hangingPunct="1"/>
              <a:endParaRPr lang="en-US" altLang="zh-CN" i="0" dirty="0"/>
            </a:p>
            <a:p>
              <a:pPr eaLnBrk="1" hangingPunct="1"/>
              <a:r>
                <a:rPr lang="en-US" altLang="zh-CN" i="0" dirty="0"/>
                <a:t>                                                              1</a:t>
              </a:r>
            </a:p>
            <a:p>
              <a:pPr eaLnBrk="1" hangingPunct="1"/>
              <a:r>
                <a:rPr lang="en-US" altLang="zh-CN" i="0" dirty="0"/>
                <a:t>            n</a:t>
              </a:r>
            </a:p>
            <a:p>
              <a:pPr eaLnBrk="1" hangingPunct="1"/>
              <a:endParaRPr lang="en-US" altLang="zh-CN" i="0" dirty="0"/>
            </a:p>
            <a:p>
              <a:pPr eaLnBrk="1" hangingPunct="1"/>
              <a:endParaRPr lang="en-US" altLang="zh-CN" i="0" dirty="0"/>
            </a:p>
            <a:p>
              <a:pPr eaLnBrk="1" hangingPunct="1"/>
              <a:r>
                <a:rPr lang="en-US" altLang="zh-CN" i="0" dirty="0"/>
                <a:t>                                                             n</a:t>
              </a:r>
            </a:p>
            <a:p>
              <a:pPr eaLnBrk="1" hangingPunct="1"/>
              <a:r>
                <a:rPr lang="en-US" altLang="zh-CN" i="0" dirty="0"/>
                <a:t>                                       n               1</a:t>
              </a:r>
            </a:p>
            <a:p>
              <a:pPr eaLnBrk="1" hangingPunct="1"/>
              <a:endParaRPr lang="en-US" altLang="zh-CN" i="0" dirty="0"/>
            </a:p>
          </p:txBody>
        </p:sp>
        <p:sp>
          <p:nvSpPr>
            <p:cNvPr id="74" name="AutoShape 67"/>
            <p:cNvSpPr>
              <a:spLocks noChangeArrowheads="1"/>
            </p:cNvSpPr>
            <p:nvPr/>
          </p:nvSpPr>
          <p:spPr bwMode="auto">
            <a:xfrm>
              <a:off x="1331913" y="2997200"/>
              <a:ext cx="887412" cy="531813"/>
            </a:xfrm>
            <a:prstGeom prst="flowChartDecision">
              <a:avLst/>
            </a:prstGeom>
            <a:solidFill>
              <a:srgbClr val="FFFFFF"/>
            </a:solidFill>
            <a:ln w="0" algn="ctr">
              <a:solidFill>
                <a:srgbClr val="000000"/>
              </a:solidFill>
              <a:miter lim="800000"/>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选修</a:t>
              </a:r>
              <a:endParaRPr lang="zh-CN" altLang="en-US" sz="1400"/>
            </a:p>
          </p:txBody>
        </p:sp>
        <p:sp>
          <p:nvSpPr>
            <p:cNvPr id="75" name="AutoShape 68"/>
            <p:cNvSpPr>
              <a:spLocks noChangeArrowheads="1"/>
            </p:cNvSpPr>
            <p:nvPr/>
          </p:nvSpPr>
          <p:spPr bwMode="auto">
            <a:xfrm>
              <a:off x="323850" y="3068638"/>
              <a:ext cx="742950" cy="398462"/>
            </a:xfrm>
            <a:prstGeom prst="flowChartConnector">
              <a:avLst/>
            </a:prstGeom>
            <a:solidFill>
              <a:srgbClr val="FFFFFF"/>
            </a:solidFill>
            <a:ln w="0" algn="ctr">
              <a:solidFill>
                <a:srgbClr val="000000"/>
              </a:solidFill>
              <a:round/>
              <a:headEnd/>
              <a:tailEnd/>
            </a:ln>
          </p:spPr>
          <p:txBody>
            <a:bodyPr lIns="72000" tIns="0" rIns="0" bIns="0"/>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i="0">
                  <a:latin typeface="Times New Roman" panose="02020603050405020304" pitchFamily="18" charset="0"/>
                </a:rPr>
                <a:t>成绩</a:t>
              </a:r>
              <a:endParaRPr lang="zh-CN" altLang="en-US" sz="1400"/>
            </a:p>
          </p:txBody>
        </p:sp>
        <p:sp>
          <p:nvSpPr>
            <p:cNvPr id="76" name="Line 69"/>
            <p:cNvSpPr>
              <a:spLocks noChangeShapeType="1"/>
            </p:cNvSpPr>
            <p:nvPr/>
          </p:nvSpPr>
          <p:spPr bwMode="auto">
            <a:xfrm>
              <a:off x="1203325" y="1453461"/>
              <a:ext cx="560388" cy="154373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lIns="72000"/>
            <a:lstStyle/>
            <a:p>
              <a:endParaRPr lang="zh-CN" altLang="en-US"/>
            </a:p>
          </p:txBody>
        </p:sp>
        <p:sp>
          <p:nvSpPr>
            <p:cNvPr id="77" name="Line 70"/>
            <p:cNvSpPr>
              <a:spLocks noChangeShapeType="1"/>
            </p:cNvSpPr>
            <p:nvPr/>
          </p:nvSpPr>
          <p:spPr bwMode="auto">
            <a:xfrm flipH="1" flipV="1">
              <a:off x="1763713" y="3500438"/>
              <a:ext cx="1368425" cy="19446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71"/>
            <p:cNvSpPr>
              <a:spLocks noChangeShapeType="1"/>
            </p:cNvSpPr>
            <p:nvPr/>
          </p:nvSpPr>
          <p:spPr bwMode="auto">
            <a:xfrm>
              <a:off x="1042988" y="3284538"/>
              <a:ext cx="3206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 name="矩形 78"/>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81"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80"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82" name="直接连接符 81"/>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3" name="Rectangle 3"/>
          <p:cNvSpPr txBox="1">
            <a:spLocks noChangeArrowheads="1"/>
          </p:cNvSpPr>
          <p:nvPr/>
        </p:nvSpPr>
        <p:spPr bwMode="auto">
          <a:xfrm>
            <a:off x="68969" y="709635"/>
            <a:ext cx="3119428" cy="213694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None/>
            </a:pPr>
            <a:r>
              <a:rPr lang="en-US" altLang="zh-CN" b="1" dirty="0">
                <a:latin typeface="楷体_GB2312" pitchFamily="49" charset="-122"/>
                <a:ea typeface="楷体_GB2312" pitchFamily="49" charset="-122"/>
              </a:rPr>
              <a:t> </a:t>
            </a:r>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例</a:t>
            </a:r>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 </a:t>
            </a:r>
            <a:r>
              <a:rPr lang="zh-CN" altLang="en-US" b="1" dirty="0">
                <a:latin typeface="楷体_GB2312" pitchFamily="49" charset="-122"/>
                <a:ea typeface="楷体_GB2312" pitchFamily="49" charset="-122"/>
              </a:rPr>
              <a:t>某校的教务管理系统的</a:t>
            </a:r>
            <a:r>
              <a:rPr lang="zh-CN" altLang="en-US" dirty="0">
                <a:solidFill>
                  <a:srgbClr val="FF0000"/>
                </a:solidFill>
              </a:rPr>
              <a:t>全局</a:t>
            </a:r>
            <a:r>
              <a:rPr lang="en-US" altLang="zh-CN" dirty="0">
                <a:solidFill>
                  <a:srgbClr val="FF0000"/>
                </a:solidFill>
              </a:rPr>
              <a:t>ER</a:t>
            </a:r>
            <a:r>
              <a:rPr lang="zh-CN" altLang="en-US" dirty="0">
                <a:solidFill>
                  <a:srgbClr val="FF0000"/>
                </a:solidFill>
              </a:rPr>
              <a:t>图</a:t>
            </a:r>
          </a:p>
          <a:p>
            <a:pPr eaLnBrk="1" hangingPunct="1">
              <a:buFontTx/>
              <a:buNone/>
            </a:pPr>
            <a:r>
              <a:rPr lang="zh-CN" altLang="en-US" b="1" dirty="0">
                <a:latin typeface="楷体_GB2312" pitchFamily="49" charset="-122"/>
                <a:ea typeface="楷体_GB2312" pitchFamily="49" charset="-122"/>
              </a:rPr>
              <a:t> </a:t>
            </a:r>
          </a:p>
        </p:txBody>
      </p:sp>
    </p:spTree>
    <p:extLst>
      <p:ext uri="{BB962C8B-B14F-4D97-AF65-F5344CB8AC3E}">
        <p14:creationId xmlns:p14="http://schemas.microsoft.com/office/powerpoint/2010/main" val="133117644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4"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74677" y="977954"/>
            <a:ext cx="11489275" cy="1126462"/>
          </a:xfrm>
          <a:prstGeom prst="rect">
            <a:avLst/>
          </a:prstGeom>
        </p:spPr>
        <p:txBody>
          <a:bodyPr wrap="square">
            <a:spAutoFit/>
          </a:bodyPr>
          <a:lstStyle/>
          <a:p>
            <a:pPr eaLnBrk="1" hangingPunct="1">
              <a:lnSpc>
                <a:spcPct val="125000"/>
              </a:lnSpc>
              <a:spcBef>
                <a:spcPct val="30000"/>
              </a:spcBef>
              <a:buFontTx/>
              <a:buNone/>
            </a:pPr>
            <a:r>
              <a:rPr lang="en-US" altLang="zh-CN" sz="2400" b="1" dirty="0">
                <a:solidFill>
                  <a:srgbClr val="FF0000"/>
                </a:solidFill>
              </a:rPr>
              <a:t>【</a:t>
            </a:r>
            <a:r>
              <a:rPr lang="zh-CN" altLang="en-US" sz="2400" b="1" dirty="0">
                <a:solidFill>
                  <a:srgbClr val="FF0000"/>
                </a:solidFill>
              </a:rPr>
              <a:t>实例</a:t>
            </a:r>
            <a:r>
              <a:rPr lang="en-US" altLang="zh-CN" sz="2400" b="1" dirty="0">
                <a:solidFill>
                  <a:srgbClr val="FF0000"/>
                </a:solidFill>
              </a:rPr>
              <a:t>】</a:t>
            </a:r>
            <a:r>
              <a:rPr lang="zh-CN" altLang="zh-CN" sz="2400" dirty="0"/>
              <a:t>电网设备抢修物资管理数据库设计</a:t>
            </a:r>
            <a:endParaRPr lang="en-US" altLang="zh-CN" sz="2400" dirty="0"/>
          </a:p>
          <a:p>
            <a:pPr>
              <a:lnSpc>
                <a:spcPct val="125000"/>
              </a:lnSpc>
              <a:spcBef>
                <a:spcPct val="30000"/>
              </a:spcBef>
            </a:pPr>
            <a:r>
              <a:rPr lang="zh-CN" altLang="en-US" sz="2400" dirty="0"/>
              <a:t>         在需求分析得到的数据流图和数据字典的基础上，可以得到各局部的</a:t>
            </a:r>
            <a:r>
              <a:rPr lang="en-US" altLang="zh-CN" sz="2400" dirty="0"/>
              <a:t>ER</a:t>
            </a:r>
            <a:r>
              <a:rPr lang="zh-CN" altLang="en-US" sz="2400" dirty="0"/>
              <a:t>模型。</a:t>
            </a:r>
            <a:endParaRPr lang="en-US" altLang="zh-CN" sz="2400" dirty="0"/>
          </a:p>
        </p:txBody>
      </p:sp>
      <p:pic>
        <p:nvPicPr>
          <p:cNvPr id="2050" name="Picture 2" descr="8-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4591" y="2558041"/>
            <a:ext cx="5171143" cy="3346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descr="8-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30925" y="2271069"/>
            <a:ext cx="4369177" cy="3633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2224030" y="6243242"/>
            <a:ext cx="1928733" cy="369332"/>
          </a:xfrm>
          <a:prstGeom prst="rect">
            <a:avLst/>
          </a:prstGeom>
        </p:spPr>
        <p:txBody>
          <a:bodyPr wrap="none">
            <a:spAutoFit/>
          </a:bodyPr>
          <a:lstStyle/>
          <a:p>
            <a:r>
              <a:rPr lang="zh-CN" altLang="zh-CN" dirty="0"/>
              <a:t> </a:t>
            </a:r>
            <a:r>
              <a:rPr lang="zh-CN" altLang="zh-CN" dirty="0">
                <a:solidFill>
                  <a:srgbClr val="FF0000"/>
                </a:solidFill>
              </a:rPr>
              <a:t>局部</a:t>
            </a:r>
            <a:r>
              <a:rPr lang="en-US" altLang="zh-CN" dirty="0">
                <a:solidFill>
                  <a:srgbClr val="FF0000"/>
                </a:solidFill>
              </a:rPr>
              <a:t>E-R</a:t>
            </a:r>
            <a:r>
              <a:rPr lang="zh-CN" altLang="zh-CN" dirty="0">
                <a:solidFill>
                  <a:srgbClr val="FF0000"/>
                </a:solidFill>
              </a:rPr>
              <a:t>图（</a:t>
            </a:r>
            <a:r>
              <a:rPr lang="en-US" altLang="zh-CN" dirty="0">
                <a:solidFill>
                  <a:srgbClr val="FF0000"/>
                </a:solidFill>
              </a:rPr>
              <a:t>1</a:t>
            </a:r>
            <a:r>
              <a:rPr lang="zh-CN" altLang="zh-CN" dirty="0">
                <a:solidFill>
                  <a:srgbClr val="FF0000"/>
                </a:solidFill>
              </a:rPr>
              <a:t>）</a:t>
            </a:r>
            <a:endParaRPr lang="zh-CN" altLang="en-US" dirty="0">
              <a:solidFill>
                <a:srgbClr val="FF0000"/>
              </a:solidFill>
            </a:endParaRPr>
          </a:p>
        </p:txBody>
      </p:sp>
      <p:sp>
        <p:nvSpPr>
          <p:cNvPr id="8" name="矩形 7"/>
          <p:cNvSpPr/>
          <p:nvPr/>
        </p:nvSpPr>
        <p:spPr>
          <a:xfrm>
            <a:off x="7351146" y="6188997"/>
            <a:ext cx="1928733" cy="369332"/>
          </a:xfrm>
          <a:prstGeom prst="rect">
            <a:avLst/>
          </a:prstGeom>
        </p:spPr>
        <p:txBody>
          <a:bodyPr wrap="none">
            <a:spAutoFit/>
          </a:bodyPr>
          <a:lstStyle/>
          <a:p>
            <a:r>
              <a:rPr lang="zh-CN" altLang="zh-CN" dirty="0"/>
              <a:t> </a:t>
            </a:r>
            <a:r>
              <a:rPr lang="zh-CN" altLang="zh-CN" dirty="0">
                <a:solidFill>
                  <a:srgbClr val="FF0000"/>
                </a:solidFill>
              </a:rPr>
              <a:t>局部</a:t>
            </a:r>
            <a:r>
              <a:rPr lang="en-US" altLang="zh-CN" dirty="0">
                <a:solidFill>
                  <a:srgbClr val="FF0000"/>
                </a:solidFill>
              </a:rPr>
              <a:t>E-R</a:t>
            </a:r>
            <a:r>
              <a:rPr lang="zh-CN" altLang="zh-CN" dirty="0">
                <a:solidFill>
                  <a:srgbClr val="FF0000"/>
                </a:solidFill>
              </a:rPr>
              <a:t>图（</a:t>
            </a:r>
            <a:r>
              <a:rPr lang="en-US" altLang="zh-CN" dirty="0">
                <a:solidFill>
                  <a:srgbClr val="FF0000"/>
                </a:solidFill>
              </a:rPr>
              <a:t>2</a:t>
            </a:r>
            <a:r>
              <a:rPr lang="zh-CN" altLang="zh-CN" dirty="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25678823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4"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74677" y="977954"/>
            <a:ext cx="11489275" cy="505331"/>
          </a:xfrm>
          <a:prstGeom prst="rect">
            <a:avLst/>
          </a:prstGeom>
        </p:spPr>
        <p:txBody>
          <a:bodyPr wrap="square">
            <a:spAutoFit/>
          </a:bodyPr>
          <a:lstStyle/>
          <a:p>
            <a:pPr eaLnBrk="1" hangingPunct="1">
              <a:lnSpc>
                <a:spcPct val="125000"/>
              </a:lnSpc>
              <a:spcBef>
                <a:spcPct val="30000"/>
              </a:spcBef>
              <a:buFontTx/>
              <a:buNone/>
            </a:pPr>
            <a:r>
              <a:rPr lang="en-US" altLang="zh-CN" sz="2400" b="1" dirty="0">
                <a:solidFill>
                  <a:srgbClr val="FF0000"/>
                </a:solidFill>
              </a:rPr>
              <a:t>【</a:t>
            </a:r>
            <a:r>
              <a:rPr lang="zh-CN" altLang="en-US" sz="2400" b="1" dirty="0">
                <a:solidFill>
                  <a:srgbClr val="FF0000"/>
                </a:solidFill>
              </a:rPr>
              <a:t>实例</a:t>
            </a:r>
            <a:r>
              <a:rPr lang="en-US" altLang="zh-CN" sz="2400" b="1" dirty="0">
                <a:solidFill>
                  <a:srgbClr val="FF0000"/>
                </a:solidFill>
              </a:rPr>
              <a:t>】</a:t>
            </a:r>
            <a:r>
              <a:rPr lang="zh-CN" altLang="zh-CN" sz="2400" dirty="0"/>
              <a:t>电网设备抢修物资管理数据库设计</a:t>
            </a:r>
            <a:endParaRPr lang="en-US" altLang="zh-CN" sz="2400" dirty="0"/>
          </a:p>
        </p:txBody>
      </p:sp>
      <p:sp>
        <p:nvSpPr>
          <p:cNvPr id="8" name="矩形 7"/>
          <p:cNvSpPr/>
          <p:nvPr/>
        </p:nvSpPr>
        <p:spPr>
          <a:xfrm>
            <a:off x="8315512" y="5250116"/>
            <a:ext cx="1928733" cy="369332"/>
          </a:xfrm>
          <a:prstGeom prst="rect">
            <a:avLst/>
          </a:prstGeom>
        </p:spPr>
        <p:txBody>
          <a:bodyPr wrap="none">
            <a:spAutoFit/>
          </a:bodyPr>
          <a:lstStyle/>
          <a:p>
            <a:r>
              <a:rPr lang="zh-CN" altLang="zh-CN" dirty="0"/>
              <a:t> </a:t>
            </a:r>
            <a:r>
              <a:rPr lang="zh-CN" altLang="zh-CN" dirty="0">
                <a:solidFill>
                  <a:srgbClr val="FF0000"/>
                </a:solidFill>
              </a:rPr>
              <a:t>局部</a:t>
            </a:r>
            <a:r>
              <a:rPr lang="en-US" altLang="zh-CN" dirty="0">
                <a:solidFill>
                  <a:srgbClr val="FF0000"/>
                </a:solidFill>
              </a:rPr>
              <a:t>E-R</a:t>
            </a:r>
            <a:r>
              <a:rPr lang="zh-CN" altLang="zh-CN" dirty="0">
                <a:solidFill>
                  <a:srgbClr val="FF0000"/>
                </a:solidFill>
              </a:rPr>
              <a:t>图（</a:t>
            </a:r>
            <a:r>
              <a:rPr lang="en-US" altLang="zh-CN" dirty="0">
                <a:solidFill>
                  <a:srgbClr val="FF0000"/>
                </a:solidFill>
              </a:rPr>
              <a:t>4</a:t>
            </a:r>
            <a:r>
              <a:rPr lang="zh-CN" altLang="zh-CN" dirty="0">
                <a:solidFill>
                  <a:srgbClr val="FF0000"/>
                </a:solidFill>
              </a:rPr>
              <a:t>）</a:t>
            </a:r>
            <a:endParaRPr lang="zh-CN" altLang="en-US" dirty="0">
              <a:solidFill>
                <a:srgbClr val="FF0000"/>
              </a:solidFill>
            </a:endParaRPr>
          </a:p>
        </p:txBody>
      </p:sp>
      <p:pic>
        <p:nvPicPr>
          <p:cNvPr id="3074" name="Picture 2" descr="8-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8171" y="1646017"/>
            <a:ext cx="4935754" cy="5058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4591775" y="5601389"/>
            <a:ext cx="1928733" cy="369332"/>
          </a:xfrm>
          <a:prstGeom prst="rect">
            <a:avLst/>
          </a:prstGeom>
        </p:spPr>
        <p:txBody>
          <a:bodyPr wrap="none">
            <a:spAutoFit/>
          </a:bodyPr>
          <a:lstStyle/>
          <a:p>
            <a:r>
              <a:rPr lang="zh-CN" altLang="zh-CN" dirty="0"/>
              <a:t> </a:t>
            </a:r>
            <a:r>
              <a:rPr lang="zh-CN" altLang="zh-CN" dirty="0">
                <a:solidFill>
                  <a:srgbClr val="FF0000"/>
                </a:solidFill>
              </a:rPr>
              <a:t>局部</a:t>
            </a:r>
            <a:r>
              <a:rPr lang="en-US" altLang="zh-CN" dirty="0">
                <a:solidFill>
                  <a:srgbClr val="FF0000"/>
                </a:solidFill>
              </a:rPr>
              <a:t>E-R</a:t>
            </a:r>
            <a:r>
              <a:rPr lang="zh-CN" altLang="zh-CN" dirty="0">
                <a:solidFill>
                  <a:srgbClr val="FF0000"/>
                </a:solidFill>
              </a:rPr>
              <a:t>图（</a:t>
            </a:r>
            <a:r>
              <a:rPr lang="en-US" altLang="zh-CN" dirty="0">
                <a:solidFill>
                  <a:srgbClr val="FF0000"/>
                </a:solidFill>
              </a:rPr>
              <a:t>3</a:t>
            </a:r>
            <a:r>
              <a:rPr lang="zh-CN" altLang="zh-CN" dirty="0">
                <a:solidFill>
                  <a:srgbClr val="FF0000"/>
                </a:solidFill>
              </a:rPr>
              <a:t>）</a:t>
            </a:r>
            <a:endParaRPr lang="zh-CN" altLang="en-US" dirty="0">
              <a:solidFill>
                <a:srgbClr val="FF0000"/>
              </a:solidFill>
            </a:endParaRPr>
          </a:p>
        </p:txBody>
      </p:sp>
      <p:pic>
        <p:nvPicPr>
          <p:cNvPr id="3075" name="Picture 3" descr="8-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61032" y="1575473"/>
            <a:ext cx="5129684" cy="3066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234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3" name="文本框 94"/>
          <p:cNvSpPr txBox="1">
            <a:spLocks noChangeArrowheads="1"/>
          </p:cNvSpPr>
          <p:nvPr/>
        </p:nvSpPr>
        <p:spPr bwMode="auto">
          <a:xfrm>
            <a:off x="245870" y="65515"/>
            <a:ext cx="5885055"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 </a:t>
            </a:r>
            <a:r>
              <a:rPr lang="zh-CN" altLang="en-US" sz="2800" b="1" dirty="0">
                <a:solidFill>
                  <a:schemeClr val="bg1"/>
                </a:solidFill>
                <a:latin typeface="微软雅黑" panose="020B0503020204020204" pitchFamily="34" charset="-122"/>
                <a:ea typeface="微软雅黑" panose="020B0503020204020204" pitchFamily="34" charset="-122"/>
              </a:rPr>
              <a:t>数据库设计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概念设计阶段</a:t>
            </a:r>
          </a:p>
        </p:txBody>
      </p:sp>
      <p:sp>
        <p:nvSpPr>
          <p:cNvPr id="4" name="文本框 94"/>
          <p:cNvSpPr txBox="1">
            <a:spLocks noChangeArrowheads="1"/>
          </p:cNvSpPr>
          <p:nvPr/>
        </p:nvSpPr>
        <p:spPr bwMode="auto">
          <a:xfrm>
            <a:off x="5556142" y="62344"/>
            <a:ext cx="671038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8.3.3 </a:t>
            </a:r>
            <a:r>
              <a:rPr lang="zh-CN" altLang="en-US" sz="2800" b="1" dirty="0">
                <a:solidFill>
                  <a:schemeClr val="bg1"/>
                </a:solidFill>
                <a:latin typeface="微软雅黑" panose="020B0503020204020204" pitchFamily="34" charset="-122"/>
                <a:ea typeface="微软雅黑" panose="020B0503020204020204" pitchFamily="34" charset="-122"/>
              </a:rPr>
              <a:t>概念结构设计的步骤与方法</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flipH="1">
            <a:off x="5453378" y="120874"/>
            <a:ext cx="395" cy="40234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74677" y="977954"/>
            <a:ext cx="11489275" cy="505331"/>
          </a:xfrm>
          <a:prstGeom prst="rect">
            <a:avLst/>
          </a:prstGeom>
        </p:spPr>
        <p:txBody>
          <a:bodyPr wrap="square">
            <a:spAutoFit/>
          </a:bodyPr>
          <a:lstStyle/>
          <a:p>
            <a:pPr eaLnBrk="1" hangingPunct="1">
              <a:lnSpc>
                <a:spcPct val="125000"/>
              </a:lnSpc>
              <a:spcBef>
                <a:spcPct val="30000"/>
              </a:spcBef>
              <a:buFontTx/>
              <a:buNone/>
            </a:pPr>
            <a:r>
              <a:rPr lang="en-US" altLang="zh-CN" sz="2400" b="1" dirty="0">
                <a:solidFill>
                  <a:srgbClr val="FF0000"/>
                </a:solidFill>
              </a:rPr>
              <a:t>【</a:t>
            </a:r>
            <a:r>
              <a:rPr lang="zh-CN" altLang="en-US" sz="2400" b="1" dirty="0">
                <a:solidFill>
                  <a:srgbClr val="FF0000"/>
                </a:solidFill>
              </a:rPr>
              <a:t>实例</a:t>
            </a:r>
            <a:r>
              <a:rPr lang="en-US" altLang="zh-CN" sz="2400" b="1" dirty="0">
                <a:solidFill>
                  <a:srgbClr val="FF0000"/>
                </a:solidFill>
              </a:rPr>
              <a:t>】</a:t>
            </a:r>
            <a:r>
              <a:rPr lang="zh-CN" altLang="zh-CN" sz="2400" dirty="0"/>
              <a:t>电网设备抢修物资管理数据库设计</a:t>
            </a:r>
            <a:endParaRPr lang="en-US" altLang="zh-CN" sz="2400" dirty="0"/>
          </a:p>
        </p:txBody>
      </p:sp>
      <p:sp>
        <p:nvSpPr>
          <p:cNvPr id="7" name="矩形 6"/>
          <p:cNvSpPr/>
          <p:nvPr/>
        </p:nvSpPr>
        <p:spPr>
          <a:xfrm>
            <a:off x="2778474" y="3266288"/>
            <a:ext cx="2659702" cy="369332"/>
          </a:xfrm>
          <a:prstGeom prst="rect">
            <a:avLst/>
          </a:prstGeom>
        </p:spPr>
        <p:txBody>
          <a:bodyPr wrap="none">
            <a:spAutoFit/>
          </a:bodyPr>
          <a:lstStyle/>
          <a:p>
            <a:r>
              <a:rPr lang="zh-CN" altLang="en-US" dirty="0">
                <a:solidFill>
                  <a:srgbClr val="FF0000"/>
                </a:solidFill>
              </a:rPr>
              <a:t>不包括属性的全局</a:t>
            </a:r>
            <a:r>
              <a:rPr lang="en-US" altLang="zh-CN" dirty="0">
                <a:solidFill>
                  <a:srgbClr val="FF0000"/>
                </a:solidFill>
              </a:rPr>
              <a:t>E-R</a:t>
            </a:r>
            <a:r>
              <a:rPr lang="zh-CN" altLang="zh-CN" dirty="0">
                <a:solidFill>
                  <a:srgbClr val="FF0000"/>
                </a:solidFill>
              </a:rPr>
              <a:t>图</a:t>
            </a:r>
            <a:endParaRPr lang="zh-CN" altLang="en-US" dirty="0">
              <a:solidFill>
                <a:srgbClr val="FF0000"/>
              </a:solidFill>
            </a:endParaRPr>
          </a:p>
        </p:txBody>
      </p:sp>
      <p:pic>
        <p:nvPicPr>
          <p:cNvPr id="4098" name="Picture 2" descr="8-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9662" y="977954"/>
            <a:ext cx="5553518" cy="5647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59694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defRPr/>
            </a:pPr>
            <a:endParaRPr kumimoji="1" lang="zh-CN" altLang="en-US" dirty="0">
              <a:solidFill>
                <a:srgbClr val="00589A"/>
              </a:solidFill>
            </a:endParaRPr>
          </a:p>
        </p:txBody>
      </p:sp>
      <p:sp>
        <p:nvSpPr>
          <p:cNvPr id="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小结</a:t>
            </a:r>
          </a:p>
        </p:txBody>
      </p:sp>
      <p:sp>
        <p:nvSpPr>
          <p:cNvPr id="5" name="圆角矩形 4"/>
          <p:cNvSpPr/>
          <p:nvPr/>
        </p:nvSpPr>
        <p:spPr>
          <a:xfrm>
            <a:off x="371965" y="858981"/>
            <a:ext cx="10985119" cy="166724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实体联系（</a:t>
            </a:r>
            <a:r>
              <a:rPr lang="en-US" altLang="zh-CN" sz="2000" dirty="0">
                <a:solidFill>
                  <a:schemeClr val="tx1"/>
                </a:solidFill>
                <a:latin typeface="微软雅黑" panose="020B0503020204020204" pitchFamily="34" charset="-122"/>
                <a:ea typeface="微软雅黑" panose="020B0503020204020204" pitchFamily="34" charset="-122"/>
              </a:rPr>
              <a:t>E-R</a:t>
            </a:r>
            <a:r>
              <a:rPr lang="zh-CN" altLang="en-US" sz="2000" dirty="0">
                <a:solidFill>
                  <a:schemeClr val="tx1"/>
                </a:solidFill>
                <a:latin typeface="微软雅黑" panose="020B0503020204020204" pitchFamily="34" charset="-122"/>
                <a:ea typeface="微软雅黑" panose="020B0503020204020204" pitchFamily="34" charset="-122"/>
              </a:rPr>
              <a:t>）模型</a:t>
            </a:r>
            <a:endParaRPr lang="en-US" altLang="zh-CN" sz="2000" dirty="0">
              <a:solidFill>
                <a:schemeClr val="tx1"/>
              </a:solidFill>
              <a:latin typeface="微软雅黑" panose="020B0503020204020204" pitchFamily="34" charset="-122"/>
              <a:ea typeface="微软雅黑" panose="020B0503020204020204" pitchFamily="34" charset="-122"/>
            </a:endParaRPr>
          </a:p>
          <a:p>
            <a:pPr marL="342900" indent="-342900" defTabSz="1600200">
              <a:lnSpc>
                <a:spcPct val="150000"/>
              </a:lnSpc>
              <a:spcAft>
                <a:spcPct val="35000"/>
              </a:spcAft>
              <a:buFont typeface="Wingdings" panose="05000000000000000000" pitchFamily="2" charset="2"/>
              <a:buChar char="n"/>
            </a:pPr>
            <a:r>
              <a:rPr lang="zh-CN" altLang="en-US" sz="2000" dirty="0">
                <a:solidFill>
                  <a:schemeClr val="tx1"/>
                </a:solidFill>
                <a:latin typeface="微软雅黑" panose="020B0503020204020204" pitchFamily="34" charset="-122"/>
                <a:ea typeface="微软雅黑" panose="020B0503020204020204" pitchFamily="34" charset="-122"/>
              </a:rPr>
              <a:t>概念设计的步骤和方法</a:t>
            </a:r>
            <a:r>
              <a:rPr lang="en-US" altLang="zh-CN" sz="2000" dirty="0">
                <a:solidFill>
                  <a:schemeClr val="tx1"/>
                </a:solidFill>
                <a:latin typeface="微软雅黑" panose="020B0503020204020204" pitchFamily="34" charset="-122"/>
                <a:ea typeface="微软雅黑" panose="020B0503020204020204" pitchFamily="34" charset="-122"/>
              </a:rPr>
              <a:t> </a:t>
            </a:r>
          </a:p>
        </p:txBody>
      </p:sp>
      <p:sp>
        <p:nvSpPr>
          <p:cNvPr id="2" name="矩形 1"/>
          <p:cNvSpPr/>
          <p:nvPr/>
        </p:nvSpPr>
        <p:spPr>
          <a:xfrm>
            <a:off x="4313693" y="3600884"/>
            <a:ext cx="3695242"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5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谢谢观看！</a:t>
            </a:r>
          </a:p>
        </p:txBody>
      </p:sp>
    </p:spTree>
    <p:extLst>
      <p:ext uri="{BB962C8B-B14F-4D97-AF65-F5344CB8AC3E}">
        <p14:creationId xmlns:p14="http://schemas.microsoft.com/office/powerpoint/2010/main" val="3890999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4CC2E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4492</TotalTime>
  <Words>4972</Words>
  <Application>Microsoft Macintosh PowerPoint</Application>
  <PresentationFormat>宽屏</PresentationFormat>
  <Paragraphs>854</Paragraphs>
  <Slides>54</Slides>
  <Notes>40</Notes>
  <HiddenSlides>2</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7" baseType="lpstr">
      <vt:lpstr>华文新魏</vt:lpstr>
      <vt:lpstr>楷体_GB2312</vt:lpstr>
      <vt:lpstr>宋体</vt:lpstr>
      <vt:lpstr>微软雅黑</vt:lpstr>
      <vt:lpstr>Arial</vt:lpstr>
      <vt:lpstr>Calibri</vt:lpstr>
      <vt:lpstr>Calibri Light</vt:lpstr>
      <vt:lpstr>Monotype Sorts</vt:lpstr>
      <vt:lpstr>Tahoma</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基本概念</vt:lpstr>
      <vt:lpstr>基本概念</vt:lpstr>
      <vt:lpstr>基本概念</vt:lpstr>
      <vt:lpstr>基本概念</vt:lpstr>
      <vt:lpstr>E-R图设计</vt:lpstr>
      <vt:lpstr>E-R图设计</vt:lpstr>
      <vt:lpstr>【例】学生选修课程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zhouping</dc:creator>
  <cp:lastModifiedBy>Qingting Xu</cp:lastModifiedBy>
  <cp:revision>1504</cp:revision>
  <dcterms:created xsi:type="dcterms:W3CDTF">2014-07-02T10:42:00Z</dcterms:created>
  <dcterms:modified xsi:type="dcterms:W3CDTF">2025-09-26T01:21:21Z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所有者">
    <vt:lpwstr>大同煤炭职业技术学院</vt:lpwstr>
  </property>
  <property fmtid="{D5CDD505-2E9C-101B-9397-08002B2CF9AE}" pid="3" name="KSOProductBuildVer">
    <vt:lpwstr>2052-11.1.0.8894</vt:lpwstr>
  </property>
</Properties>
</file>