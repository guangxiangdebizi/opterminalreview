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86" r:id="rId2"/>
    <p:sldId id="454" r:id="rId3"/>
    <p:sldId id="481" r:id="rId4"/>
    <p:sldId id="472" r:id="rId5"/>
    <p:sldId id="482" r:id="rId6"/>
    <p:sldId id="476" r:id="rId7"/>
    <p:sldId id="477" r:id="rId8"/>
    <p:sldId id="478" r:id="rId9"/>
    <p:sldId id="479" r:id="rId10"/>
    <p:sldId id="480" r:id="rId11"/>
    <p:sldId id="456" r:id="rId12"/>
  </p:sldIdLst>
  <p:sldSz cx="12192000" cy="6858000"/>
  <p:notesSz cx="7010400" cy="92964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orient="horz" pos="2876">
          <p15:clr>
            <a:srgbClr val="A4A3A4"/>
          </p15:clr>
        </p15:guide>
        <p15:guide id="3" orient="horz" pos="1298">
          <p15:clr>
            <a:srgbClr val="A4A3A4"/>
          </p15:clr>
        </p15:guide>
        <p15:guide id="4" pos="3871">
          <p15:clr>
            <a:srgbClr val="A4A3A4"/>
          </p15:clr>
        </p15:guide>
        <p15:guide id="5" pos="1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924">
          <p15:clr>
            <a:srgbClr val="A4A3A4"/>
          </p15:clr>
        </p15:guide>
        <p15:guide id="4" pos="22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0000"/>
    <a:srgbClr val="1569F0"/>
    <a:srgbClr val="009900"/>
    <a:srgbClr val="F79646"/>
    <a:srgbClr val="009AD0"/>
    <a:srgbClr val="245D60"/>
    <a:srgbClr val="DD4633"/>
    <a:srgbClr val="CCCC00"/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34" autoAdjust="0"/>
    <p:restoredTop sz="82793" autoAdjust="0"/>
  </p:normalViewPr>
  <p:slideViewPr>
    <p:cSldViewPr snapToGrid="0">
      <p:cViewPr varScale="1">
        <p:scale>
          <a:sx n="91" d="100"/>
          <a:sy n="91" d="100"/>
        </p:scale>
        <p:origin x="1432" y="192"/>
      </p:cViewPr>
      <p:guideLst>
        <p:guide orient="horz" pos="2205"/>
        <p:guide orient="horz" pos="2876"/>
        <p:guide orient="horz" pos="1298"/>
        <p:guide pos="3871"/>
        <p:guide pos="12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-2790" y="-78"/>
      </p:cViewPr>
      <p:guideLst>
        <p:guide orient="horz" pos="2160"/>
        <p:guide pos="2880"/>
        <p:guide orient="horz" pos="2924"/>
        <p:guide pos="22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344" y="0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t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3915CCEA-4D12-4250-ABBC-1F15DE901CBC}" type="datetimeFigureOut">
              <a:rPr lang="zh-CN" altLang="en-US"/>
              <a:t>2025/9/23</a:t>
            </a:fld>
            <a:endParaRPr lang="en-US" altLang="zh-CN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344" y="8829429"/>
            <a:ext cx="3037840" cy="4648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3177" tIns="46589" rIns="93177" bIns="46589" numCol="1" anchor="b" anchorCtr="0" compatLnSpc="1"/>
          <a:lstStyle>
            <a:lvl1pPr algn="r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6A76C4A-4CA1-4C6A-946C-E26A5534DC95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18476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971344" y="1"/>
            <a:ext cx="3037840" cy="466972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FAF2163-2CD8-43A9-AAB8-953EE3B200FA}" type="datetimeFigureOut">
              <a:rPr lang="zh-CN" altLang="en-US"/>
              <a:t>2025/9/23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971344" y="8829429"/>
            <a:ext cx="3037840" cy="466971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798234E-E7EE-4FBE-B288-F5A88D0BAAD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4179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876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sz="1200" b="1" dirty="0">
              <a:latin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246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zh-CN" altLang="en-US" sz="1200" b="1" dirty="0">
              <a:solidFill>
                <a:schemeClr val="tx2"/>
              </a:solidFill>
              <a:latin typeface="楷体_GB2312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53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 sz="1200" b="1" kern="1200" dirty="0">
              <a:solidFill>
                <a:srgbClr val="FF3300"/>
              </a:solidFill>
              <a:latin typeface="+mn-lt"/>
              <a:ea typeface="楷体_GB2312" pitchFamily="49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534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636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562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55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3035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14327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038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endParaRPr lang="zh-CN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98234E-E7EE-4FBE-B288-F5A88D0BAAD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448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6523" y="6437084"/>
            <a:ext cx="1968290" cy="366871"/>
          </a:xfrm>
          <a:prstGeom prst="rect">
            <a:avLst/>
          </a:prstGeom>
        </p:spPr>
      </p:pic>
      <p:grpSp>
        <p:nvGrpSpPr>
          <p:cNvPr id="15" name="组合 14"/>
          <p:cNvGrpSpPr/>
          <p:nvPr userDrawn="1"/>
        </p:nvGrpSpPr>
        <p:grpSpPr>
          <a:xfrm>
            <a:off x="-1" y="6817500"/>
            <a:ext cx="12204000" cy="40500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8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468"/>
            <a:ext cx="1716196" cy="500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10" descr="https://gimg2.baidu.com/image_search/src=http%3A%2F%2Fscibit.com%2Fwp-content%2Fuploads%2Fsites%2F29%2F2016%2F12%2Fmysql.jpg&amp;refer=http%3A%2F%2Fscibit.com&amp;app=2002&amp;size=f9999,10000&amp;q=a80&amp;n=0&amp;g=0n&amp;fmt=jpeg?sec=1617097019&amp;t=50d79522f2407f4e27c19386f4a66441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" y="-136525"/>
            <a:ext cx="38100" cy="7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4"/>
          <p:cNvGrpSpPr/>
          <p:nvPr userDrawn="1"/>
        </p:nvGrpSpPr>
        <p:grpSpPr>
          <a:xfrm flipV="1">
            <a:off x="-1" y="6857999"/>
            <a:ext cx="12204000" cy="45719"/>
            <a:chOff x="-1" y="6019811"/>
            <a:chExt cx="9144000" cy="40500"/>
          </a:xfrm>
        </p:grpSpPr>
        <p:sp>
          <p:nvSpPr>
            <p:cNvPr id="11" name="矩形 7"/>
            <p:cNvSpPr>
              <a:spLocks noChangeArrowheads="1"/>
            </p:cNvSpPr>
            <p:nvPr userDrawn="1"/>
          </p:nvSpPr>
          <p:spPr bwMode="auto">
            <a:xfrm>
              <a:off x="3973509" y="6019811"/>
              <a:ext cx="3238531" cy="40500"/>
            </a:xfrm>
            <a:prstGeom prst="rect">
              <a:avLst/>
            </a:prstGeom>
            <a:solidFill>
              <a:srgbClr val="317FB7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矩形 8"/>
            <p:cNvSpPr>
              <a:spLocks noChangeArrowheads="1"/>
            </p:cNvSpPr>
            <p:nvPr userDrawn="1"/>
          </p:nvSpPr>
          <p:spPr bwMode="auto">
            <a:xfrm flipH="1">
              <a:off x="-1" y="6019811"/>
              <a:ext cx="2571763" cy="40500"/>
            </a:xfrm>
            <a:prstGeom prst="rect">
              <a:avLst/>
            </a:prstGeom>
            <a:solidFill>
              <a:srgbClr val="92D050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矩形 12"/>
            <p:cNvSpPr>
              <a:spLocks noChangeArrowheads="1"/>
            </p:cNvSpPr>
            <p:nvPr userDrawn="1"/>
          </p:nvSpPr>
          <p:spPr bwMode="auto">
            <a:xfrm flipH="1">
              <a:off x="2571736" y="6019811"/>
              <a:ext cx="1404964" cy="40500"/>
            </a:xfrm>
            <a:prstGeom prst="rect">
              <a:avLst/>
            </a:prstGeom>
            <a:solidFill>
              <a:srgbClr val="F49022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矩形 12"/>
            <p:cNvSpPr>
              <a:spLocks noChangeArrowheads="1"/>
            </p:cNvSpPr>
            <p:nvPr userDrawn="1"/>
          </p:nvSpPr>
          <p:spPr bwMode="auto">
            <a:xfrm flipH="1">
              <a:off x="7215205" y="6019811"/>
              <a:ext cx="1928794" cy="40500"/>
            </a:xfrm>
            <a:prstGeom prst="rect">
              <a:avLst/>
            </a:prstGeom>
            <a:solidFill>
              <a:srgbClr val="EE3636"/>
            </a:solidFill>
            <a:ln w="25400">
              <a:noFill/>
              <a:bevel/>
            </a:ln>
          </p:spPr>
          <p:txBody>
            <a:bodyPr anchor="ctr"/>
            <a:lstStyle/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  <p:pic>
        <p:nvPicPr>
          <p:cNvPr id="16" name="图片 15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  <p:pic>
        <p:nvPicPr>
          <p:cNvPr id="17" name="图片 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25"/>
            <a:ext cx="2106613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4" name="图片 3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T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08327" y="6356352"/>
            <a:ext cx="796637" cy="365125"/>
          </a:xfrm>
          <a:prstGeom prst="rect">
            <a:avLst/>
          </a:prstGeom>
        </p:spPr>
        <p:txBody>
          <a:bodyPr lIns="121917" tIns="60958" rIns="121917" bIns="60958"/>
          <a:lstStyle>
            <a:lvl1pPr algn="r">
              <a:defRPr sz="1400"/>
            </a:lvl1pPr>
          </a:lstStyle>
          <a:p>
            <a:fld id="{99FE38DD-D074-4D0B-A898-33F2288C0FC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1" name="矩形 7"/>
          <p:cNvSpPr>
            <a:spLocks noChangeArrowheads="1"/>
          </p:cNvSpPr>
          <p:nvPr userDrawn="1"/>
        </p:nvSpPr>
        <p:spPr bwMode="auto">
          <a:xfrm>
            <a:off x="5298013" y="6807215"/>
            <a:ext cx="4318041" cy="54000"/>
          </a:xfrm>
          <a:prstGeom prst="rect">
            <a:avLst/>
          </a:prstGeom>
          <a:solidFill>
            <a:srgbClr val="317FB7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" name="矩形 8"/>
          <p:cNvSpPr>
            <a:spLocks noChangeArrowheads="1"/>
          </p:cNvSpPr>
          <p:nvPr userDrawn="1"/>
        </p:nvSpPr>
        <p:spPr bwMode="auto">
          <a:xfrm flipH="1">
            <a:off x="-1" y="6807215"/>
            <a:ext cx="3429017" cy="54000"/>
          </a:xfrm>
          <a:prstGeom prst="rect">
            <a:avLst/>
          </a:prstGeom>
          <a:solidFill>
            <a:srgbClr val="92D050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3" name="矩形 12"/>
          <p:cNvSpPr>
            <a:spLocks noChangeArrowheads="1"/>
          </p:cNvSpPr>
          <p:nvPr userDrawn="1"/>
        </p:nvSpPr>
        <p:spPr bwMode="auto">
          <a:xfrm flipH="1">
            <a:off x="3428982" y="6807215"/>
            <a:ext cx="1873285" cy="54000"/>
          </a:xfrm>
          <a:prstGeom prst="rect">
            <a:avLst/>
          </a:prstGeom>
          <a:solidFill>
            <a:srgbClr val="F49022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4" name="矩形 12"/>
          <p:cNvSpPr>
            <a:spLocks noChangeArrowheads="1"/>
          </p:cNvSpPr>
          <p:nvPr userDrawn="1"/>
        </p:nvSpPr>
        <p:spPr bwMode="auto">
          <a:xfrm flipH="1">
            <a:off x="9620274" y="6807215"/>
            <a:ext cx="2571725" cy="54000"/>
          </a:xfrm>
          <a:prstGeom prst="rect">
            <a:avLst/>
          </a:prstGeom>
          <a:solidFill>
            <a:srgbClr val="EE3636"/>
          </a:solidFill>
          <a:ln w="25400">
            <a:noFill/>
            <a:bevel/>
          </a:ln>
        </p:spPr>
        <p:txBody>
          <a:bodyPr lIns="121917" tIns="60958" rIns="121917" bIns="60958"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710" y="6450629"/>
            <a:ext cx="1968290" cy="36687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223209" y="6497747"/>
            <a:ext cx="1968290" cy="366871"/>
          </a:xfrm>
          <a:prstGeom prst="rect">
            <a:avLst/>
          </a:prstGeom>
        </p:spPr>
      </p:pic>
      <p:pic>
        <p:nvPicPr>
          <p:cNvPr id="7" name="Picture 2" descr="https://www.shiep.edu.cn/_upload/article/images/ae/f5/a315f22e46eba7886e93c3942349/e87d7fad-391a-42bc-b0b3-a522274164b9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90" y="6063"/>
            <a:ext cx="1647588" cy="392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60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7143" y="1"/>
            <a:ext cx="564856" cy="6204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5" y="6348548"/>
            <a:ext cx="641405" cy="509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7" r:id="rId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465733" y="1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  <p:sp>
        <p:nvSpPr>
          <p:cNvPr id="9" name="TextBox 1"/>
          <p:cNvSpPr>
            <a:spLocks noChangeArrowheads="1"/>
          </p:cNvSpPr>
          <p:nvPr/>
        </p:nvSpPr>
        <p:spPr bwMode="auto">
          <a:xfrm>
            <a:off x="2218540" y="975521"/>
            <a:ext cx="7345184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rIns="0">
            <a:spAutoFit/>
          </a:bodyPr>
          <a:lstStyle/>
          <a:p>
            <a:pPr algn="ctr"/>
            <a:endParaRPr lang="en-US" altLang="zh-CN" sz="5400" b="1" dirty="0">
              <a:solidFill>
                <a:srgbClr val="00589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细圆简体"/>
            </a:endParaRPr>
          </a:p>
          <a:p>
            <a:pPr algn="ctr"/>
            <a:r>
              <a:rPr lang="zh-CN" altLang="en-US" sz="5400" b="1" dirty="0">
                <a:solidFill>
                  <a:srgbClr val="00589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细圆简体"/>
              </a:rPr>
              <a:t>数据库原理</a:t>
            </a:r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8833" y="15"/>
            <a:ext cx="5515227" cy="4818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0" y="5618485"/>
            <a:ext cx="27262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                                    </a:t>
            </a:r>
          </a:p>
          <a:p>
            <a:endParaRPr lang="zh-CN" altLang="en-US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444074" y="1015661"/>
            <a:ext cx="81280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40000"/>
              </a:spcBef>
            </a:pPr>
            <a:r>
              <a:rPr lang="zh-CN" altLang="en-US" sz="4000" b="1" dirty="0">
                <a:solidFill>
                  <a:srgbClr val="003300"/>
                </a:solidFill>
              </a:rPr>
              <a:t>第二章    关系数据库</a:t>
            </a:r>
            <a:endParaRPr lang="en-US" altLang="zh-CN" sz="4000" b="1" dirty="0">
              <a:solidFill>
                <a:srgbClr val="003300"/>
              </a:solidFill>
            </a:endParaRPr>
          </a:p>
          <a:p>
            <a:pPr algn="ctr" eaLnBrk="1" hangingPunct="1">
              <a:spcBef>
                <a:spcPct val="40000"/>
              </a:spcBef>
            </a:pPr>
            <a:endParaRPr lang="zh-CN" altLang="en-US" sz="4000" b="1" dirty="0">
              <a:solidFill>
                <a:srgbClr val="FF6600"/>
              </a:solidFill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2.1 </a:t>
            </a:r>
            <a:r>
              <a:rPr lang="zh-CN" altLang="en-US" sz="3200" b="1" dirty="0"/>
              <a:t>关系数据模型</a:t>
            </a:r>
            <a:endParaRPr lang="en-US" altLang="zh-CN" sz="3200" b="1" dirty="0"/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</a:t>
            </a:r>
            <a:r>
              <a:rPr lang="en-US" altLang="zh-CN" sz="3200" b="1" dirty="0">
                <a:solidFill>
                  <a:srgbClr val="FF0000"/>
                </a:solidFill>
              </a:rPr>
              <a:t>2.2 </a:t>
            </a:r>
            <a:r>
              <a:rPr lang="zh-CN" altLang="en-US" sz="3200" b="1" dirty="0">
                <a:solidFill>
                  <a:srgbClr val="FF0000"/>
                </a:solidFill>
              </a:rPr>
              <a:t>关系的完整性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zh-CN" sz="3200" b="1" dirty="0"/>
              <a:t>	2.3 </a:t>
            </a:r>
            <a:r>
              <a:rPr lang="zh-CN" altLang="en-US" sz="3200" b="1" dirty="0"/>
              <a:t>关系代数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02470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799" y="1066800"/>
            <a:ext cx="9984509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一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实体完整性（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Entity Integrity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规则：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若属性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是基本关系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主属性</a:t>
            </a:r>
            <a:r>
              <a:rPr lang="zh-CN" altLang="en-US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，则属性</a:t>
            </a:r>
            <a:r>
              <a:rPr lang="en-US" altLang="zh-CN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不能取空值</a:t>
            </a:r>
            <a:r>
              <a:rPr lang="zh-CN" altLang="en-US" b="1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04799" y="2514600"/>
            <a:ext cx="9679709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800" b="1" dirty="0">
                <a:solidFill>
                  <a:schemeClr val="accent6"/>
                </a:solidFill>
                <a:latin typeface="楷体_GB2312" pitchFamily="49" charset="-122"/>
              </a:rPr>
              <a:t>注意：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1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）该规则针对基本关系；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2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）基本关系中所有主属性都不能取空值；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</a:pP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（</a:t>
            </a:r>
            <a:r>
              <a:rPr kumimoji="1" lang="en-US" altLang="zh-CN" sz="2800" b="1" dirty="0">
                <a:solidFill>
                  <a:schemeClr val="tx2"/>
                </a:solidFill>
                <a:latin typeface="楷体_GB2312" pitchFamily="49" charset="-122"/>
              </a:rPr>
              <a:t>3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）空值即为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不知道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或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“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无意义</a:t>
            </a:r>
            <a:r>
              <a:rPr kumimoji="1"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的值。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304799" y="4724400"/>
            <a:ext cx="10889673" cy="1634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>
              <a:lnSpc>
                <a:spcPct val="125000"/>
              </a:lnSpc>
            </a:pPr>
            <a:r>
              <a:rPr kumimoji="1" lang="zh-CN" altLang="en-US" sz="2800" b="1" dirty="0">
                <a:solidFill>
                  <a:schemeClr val="hlink"/>
                </a:solidFill>
                <a:latin typeface="楷体_GB2312" pitchFamily="49" charset="-122"/>
              </a:rPr>
              <a:t>意义：</a:t>
            </a:r>
            <a:r>
              <a:rPr kumimoji="1" lang="zh-CN" altLang="en-US" sz="2800" b="1" dirty="0">
                <a:solidFill>
                  <a:schemeClr val="tx2"/>
                </a:solidFill>
                <a:latin typeface="楷体_GB2312" pitchFamily="49" charset="-122"/>
              </a:rPr>
              <a:t>关系对应现实世界中的实体集，元组对应实体，实体是相互可区分的，通过主码来唯一标识，若主码为空，则出现不可标识的实体，这是不容许的。</a:t>
            </a:r>
          </a:p>
        </p:txBody>
      </p:sp>
    </p:spTree>
    <p:extLst>
      <p:ext uri="{BB962C8B-B14F-4D97-AF65-F5344CB8AC3E}">
        <p14:creationId xmlns:p14="http://schemas.microsoft.com/office/powerpoint/2010/main" val="23634820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4799" y="1066800"/>
            <a:ext cx="9984509" cy="709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一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 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实体完整性（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Entity Integrity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b="1" dirty="0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9" name="Group 4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7980196"/>
              </p:ext>
            </p:extLst>
          </p:nvPr>
        </p:nvGraphicFramePr>
        <p:xfrm>
          <a:off x="6966353" y="2396818"/>
          <a:ext cx="3322955" cy="3255622"/>
        </p:xfrm>
        <a:graphic>
          <a:graphicData uri="http://schemas.openxmlformats.org/drawingml/2006/table">
            <a:tbl>
              <a:tblPr/>
              <a:tblGrid>
                <a:gridCol w="13439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90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课号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成绩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002210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C01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002210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C02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005130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005130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C02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005130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C03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546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005220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85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091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005221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C01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40</a:t>
                      </a:r>
                      <a:endParaRPr kumimoji="0" lang="en-US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6710804" y="1783108"/>
            <a:ext cx="447100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『</a:t>
            </a:r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』</a:t>
            </a:r>
            <a:r>
              <a:rPr lang="zh-CN" altLang="en-US" sz="2000" b="1" dirty="0">
                <a:solidFill>
                  <a:srgbClr val="003300"/>
                </a:solidFill>
                <a:ea typeface="宋体" panose="02010600030101010101" pitchFamily="2" charset="-122"/>
              </a:rPr>
              <a:t>选课（</a:t>
            </a:r>
            <a:r>
              <a:rPr lang="zh-CN" altLang="en-US" sz="2000" b="1" u="sng" dirty="0">
                <a:solidFill>
                  <a:srgbClr val="003300"/>
                </a:solidFill>
                <a:ea typeface="宋体" panose="02010600030101010101" pitchFamily="2" charset="-122"/>
              </a:rPr>
              <a:t>学号，课程号</a:t>
            </a:r>
            <a:r>
              <a:rPr lang="zh-CN" altLang="en-US" sz="2000" b="1" dirty="0">
                <a:solidFill>
                  <a:srgbClr val="003300"/>
                </a:solidFill>
                <a:ea typeface="宋体" panose="02010600030101010101" pitchFamily="2" charset="-122"/>
              </a:rPr>
              <a:t>，成绩）</a:t>
            </a:r>
          </a:p>
        </p:txBody>
      </p:sp>
      <p:sp>
        <p:nvSpPr>
          <p:cNvPr id="11" name="AutoShape 41"/>
          <p:cNvSpPr>
            <a:spLocks noChangeArrowheads="1"/>
          </p:cNvSpPr>
          <p:nvPr/>
        </p:nvSpPr>
        <p:spPr bwMode="auto">
          <a:xfrm>
            <a:off x="10401777" y="4534252"/>
            <a:ext cx="1691322" cy="468850"/>
          </a:xfrm>
          <a:prstGeom prst="wedgeEllipseCallout">
            <a:avLst>
              <a:gd name="adj1" fmla="val -79759"/>
              <a:gd name="adj2" fmla="val -4047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可以为空</a:t>
            </a:r>
          </a:p>
        </p:txBody>
      </p:sp>
      <p:sp>
        <p:nvSpPr>
          <p:cNvPr id="12" name="AutoShape 42"/>
          <p:cNvSpPr>
            <a:spLocks noChangeArrowheads="1"/>
          </p:cNvSpPr>
          <p:nvPr/>
        </p:nvSpPr>
        <p:spPr bwMode="auto">
          <a:xfrm>
            <a:off x="6096000" y="5862993"/>
            <a:ext cx="1655762" cy="511708"/>
          </a:xfrm>
          <a:prstGeom prst="wedgeEllipseCallout">
            <a:avLst>
              <a:gd name="adj1" fmla="val 25937"/>
              <a:gd name="adj2" fmla="val -11198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不能为空</a:t>
            </a:r>
          </a:p>
        </p:txBody>
      </p:sp>
      <p:sp>
        <p:nvSpPr>
          <p:cNvPr id="13" name="AutoShape 43"/>
          <p:cNvSpPr>
            <a:spLocks noChangeArrowheads="1"/>
          </p:cNvSpPr>
          <p:nvPr/>
        </p:nvSpPr>
        <p:spPr bwMode="auto">
          <a:xfrm>
            <a:off x="7836809" y="5905260"/>
            <a:ext cx="1655762" cy="469441"/>
          </a:xfrm>
          <a:prstGeom prst="wedgeEllipseCallout">
            <a:avLst>
              <a:gd name="adj1" fmla="val 3512"/>
              <a:gd name="adj2" fmla="val -125022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不能为空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385520"/>
              </p:ext>
            </p:extLst>
          </p:nvPr>
        </p:nvGraphicFramePr>
        <p:xfrm>
          <a:off x="513805" y="2472458"/>
          <a:ext cx="4709366" cy="2350617"/>
        </p:xfrm>
        <a:graphic>
          <a:graphicData uri="http://schemas.openxmlformats.org/drawingml/2006/table">
            <a:tbl>
              <a:tblPr/>
              <a:tblGrid>
                <a:gridCol w="1308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4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64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 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59229" y="1783108"/>
            <a:ext cx="5342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</a:rPr>
              <a:t>『</a:t>
            </a:r>
            <a:r>
              <a:rPr lang="zh-CN" altLang="en-US" sz="2000" b="1" dirty="0">
                <a:solidFill>
                  <a:srgbClr val="FF0000"/>
                </a:solidFill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</a:rPr>
              <a:t>』</a:t>
            </a:r>
            <a:r>
              <a:rPr lang="zh-CN" altLang="en-US" sz="2000" b="1" dirty="0"/>
              <a:t>学生（学号，姓名，性别，所在系）</a:t>
            </a:r>
          </a:p>
        </p:txBody>
      </p:sp>
      <p:sp>
        <p:nvSpPr>
          <p:cNvPr id="15" name="AutoShape 42"/>
          <p:cNvSpPr>
            <a:spLocks noChangeArrowheads="1"/>
          </p:cNvSpPr>
          <p:nvPr/>
        </p:nvSpPr>
        <p:spPr bwMode="auto">
          <a:xfrm>
            <a:off x="359229" y="5081400"/>
            <a:ext cx="1655762" cy="511708"/>
          </a:xfrm>
          <a:prstGeom prst="wedgeEllipseCallout">
            <a:avLst>
              <a:gd name="adj1" fmla="val -10748"/>
              <a:gd name="adj2" fmla="val -13495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不能为空</a:t>
            </a:r>
          </a:p>
        </p:txBody>
      </p:sp>
      <p:sp>
        <p:nvSpPr>
          <p:cNvPr id="16" name="AutoShape 41"/>
          <p:cNvSpPr>
            <a:spLocks noChangeArrowheads="1"/>
          </p:cNvSpPr>
          <p:nvPr/>
        </p:nvSpPr>
        <p:spPr bwMode="auto">
          <a:xfrm>
            <a:off x="5250339" y="3481279"/>
            <a:ext cx="1691322" cy="468850"/>
          </a:xfrm>
          <a:prstGeom prst="wedgeEllipseCallout">
            <a:avLst>
              <a:gd name="adj1" fmla="val -90958"/>
              <a:gd name="adj2" fmla="val -7043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algn="ctr" eaLnBrk="1" hangingPunct="1"/>
            <a:r>
              <a:rPr lang="zh-CN" altLang="en-US" dirty="0">
                <a:ea typeface="宋体" panose="02010600030101010101" pitchFamily="2" charset="-122"/>
              </a:rPr>
              <a:t>可以为空</a:t>
            </a:r>
          </a:p>
        </p:txBody>
      </p:sp>
    </p:spTree>
    <p:extLst>
      <p:ext uri="{BB962C8B-B14F-4D97-AF65-F5344CB8AC3E}">
        <p14:creationId xmlns:p14="http://schemas.microsoft.com/office/powerpoint/2010/main" val="336263933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990600"/>
            <a:ext cx="10545618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50000"/>
              </a:lnSpc>
              <a:buFontTx/>
              <a:buNone/>
            </a:pPr>
            <a:endParaRPr lang="en-US" altLang="zh-CN" b="1" dirty="0">
              <a:solidFill>
                <a:schemeClr val="accent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  <a:buFontTx/>
              <a:buNone/>
            </a:pPr>
            <a:r>
              <a:rPr lang="zh-CN" altLang="en-US" b="1" dirty="0">
                <a:solidFill>
                  <a:schemeClr val="accent6"/>
                </a:solidFill>
                <a:latin typeface="楷体_GB2312" pitchFamily="49" charset="-122"/>
                <a:ea typeface="楷体_GB2312" pitchFamily="49" charset="-122"/>
              </a:rPr>
              <a:t>规则：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若属性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F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是基本关系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的外码，它与基本关系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的主码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K</a:t>
            </a:r>
            <a:r>
              <a:rPr lang="en-US" altLang="zh-CN" sz="2400" b="1" i="1" baseline="-250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相对应，则对于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R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中每个元组在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上的取值必须为：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）或取空值（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F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的每个属性均为空）；</a:t>
            </a:r>
          </a:p>
          <a:p>
            <a:pPr eaLnBrk="1" hangingPunct="1">
              <a:lnSpc>
                <a:spcPct val="115000"/>
              </a:lnSpc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（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）或等于</a:t>
            </a:r>
            <a:r>
              <a:rPr lang="en-US" altLang="zh-CN" sz="2400" b="1" i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中某个元组的主码值。</a:t>
            </a:r>
            <a:endParaRPr lang="zh-CN" altLang="en-US" sz="2400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11907" y="1087438"/>
            <a:ext cx="77724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二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参照完整性（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Referential Integrity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43857066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45869" y="1066800"/>
            <a:ext cx="8858941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『</a:t>
            </a:r>
            <a:r>
              <a:rPr lang="zh-CN" altLang="en-US" b="1" dirty="0">
                <a:solidFill>
                  <a:srgbClr val="FF0000"/>
                </a:solidFill>
              </a:rPr>
              <a:t>例</a:t>
            </a:r>
            <a:r>
              <a:rPr lang="en-US" altLang="zh-CN" b="1" dirty="0">
                <a:solidFill>
                  <a:srgbClr val="FF0000"/>
                </a:solidFill>
              </a:rPr>
              <a:t>』</a:t>
            </a:r>
            <a:r>
              <a:rPr lang="zh-CN" altLang="en-US" b="1" dirty="0">
                <a:solidFill>
                  <a:schemeClr val="tx2"/>
                </a:solidFill>
              </a:rPr>
              <a:t>下例中，关系</a:t>
            </a:r>
            <a:r>
              <a:rPr lang="en-US" altLang="zh-CN" b="1" dirty="0">
                <a:solidFill>
                  <a:schemeClr val="tx2"/>
                </a:solidFill>
              </a:rPr>
              <a:t>S</a:t>
            </a:r>
            <a:r>
              <a:rPr lang="zh-CN" altLang="en-US" b="1" dirty="0">
                <a:solidFill>
                  <a:schemeClr val="tx2"/>
                </a:solidFill>
              </a:rPr>
              <a:t>在系号上的取值有两种可能：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7813097" y="1844675"/>
            <a:ext cx="4230857" cy="2640723"/>
          </a:xfrm>
          <a:prstGeom prst="rect">
            <a:avLst/>
          </a:prstGeom>
          <a:noFill/>
          <a:ln w="317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rgbClr val="FF0066"/>
                </a:solidFill>
                <a:latin typeface="楷体_GB2312" pitchFamily="49" charset="-122"/>
              </a:rPr>
              <a:t>系号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是关系模式系的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主码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，也是关系模式学生的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外码。</a:t>
            </a:r>
            <a:endParaRPr kumimoji="1" lang="en-US" altLang="zh-CN" sz="2400" b="1" dirty="0">
              <a:solidFill>
                <a:srgbClr val="0000FF"/>
              </a:solidFill>
              <a:latin typeface="楷体_GB2312" pitchFamily="49" charset="-122"/>
            </a:endParaRPr>
          </a:p>
          <a:p>
            <a:pPr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在学生关系中，系号的取值只允许有两种可能：</a:t>
            </a:r>
            <a:endParaRPr kumimoji="1" lang="en-US" altLang="zh-CN" sz="2400" b="1" dirty="0">
              <a:solidFill>
                <a:schemeClr val="tx2"/>
              </a:solidFill>
              <a:latin typeface="楷体_GB2312" pitchFamily="49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kumimoji="1" lang="zh-CN" altLang="en-US" sz="2400" dirty="0">
                <a:solidFill>
                  <a:schemeClr val="tx2"/>
                </a:solidFill>
                <a:latin typeface="楷体_GB2312" pitchFamily="49" charset="-122"/>
              </a:rPr>
              <a:t>为</a:t>
            </a:r>
            <a:r>
              <a:rPr kumimoji="1" lang="zh-CN" altLang="en-US" sz="2400" dirty="0">
                <a:solidFill>
                  <a:srgbClr val="0000FF"/>
                </a:solidFill>
                <a:latin typeface="楷体_GB2312" pitchFamily="49" charset="-122"/>
              </a:rPr>
              <a:t>空值</a:t>
            </a:r>
            <a:endParaRPr kumimoji="1" lang="en-US" altLang="zh-CN" sz="2400" dirty="0">
              <a:solidFill>
                <a:schemeClr val="tx2"/>
              </a:solidFill>
              <a:latin typeface="楷体_GB2312" pitchFamily="49" charset="-122"/>
            </a:endParaRP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p"/>
            </a:pP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等于系关系中</a:t>
            </a:r>
            <a:r>
              <a:rPr kumimoji="1"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某个主码值，</a:t>
            </a:r>
            <a:r>
              <a:rPr kumimoji="1" lang="zh-CN" altLang="en-US" sz="2400" b="1" dirty="0">
                <a:solidFill>
                  <a:schemeClr val="tx2"/>
                </a:solidFill>
                <a:latin typeface="楷体_GB2312" pitchFamily="49" charset="-122"/>
              </a:rPr>
              <a:t>不能出现一个不存在的系号</a:t>
            </a:r>
          </a:p>
        </p:txBody>
      </p:sp>
      <p:graphicFrame>
        <p:nvGraphicFramePr>
          <p:cNvPr id="7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303711"/>
              </p:ext>
            </p:extLst>
          </p:nvPr>
        </p:nvGraphicFramePr>
        <p:xfrm>
          <a:off x="1655185" y="3929063"/>
          <a:ext cx="5929312" cy="2379733"/>
        </p:xfrm>
        <a:graphic>
          <a:graphicData uri="http://schemas.openxmlformats.org/drawingml/2006/table">
            <a:tbl>
              <a:tblPr/>
              <a:tblGrid>
                <a:gridCol w="180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D01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031989"/>
              </p:ext>
            </p:extLst>
          </p:nvPr>
        </p:nvGraphicFramePr>
        <p:xfrm>
          <a:off x="1631508" y="1779891"/>
          <a:ext cx="3255962" cy="1899141"/>
        </p:xfrm>
        <a:graphic>
          <a:graphicData uri="http://schemas.openxmlformats.org/drawingml/2006/table">
            <a:tbl>
              <a:tblPr/>
              <a:tblGrid>
                <a:gridCol w="180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785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系号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系名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D01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D03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信息安全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9" name="直接箭头连接符 8"/>
          <p:cNvCxnSpPr/>
          <p:nvPr/>
        </p:nvCxnSpPr>
        <p:spPr>
          <a:xfrm flipH="1" flipV="1">
            <a:off x="2583872" y="3488600"/>
            <a:ext cx="3568734" cy="392905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29"/>
          <p:cNvSpPr txBox="1">
            <a:spLocks noChangeArrowheads="1"/>
          </p:cNvSpPr>
          <p:nvPr/>
        </p:nvSpPr>
        <p:spPr bwMode="auto">
          <a:xfrm>
            <a:off x="245870" y="2364075"/>
            <a:ext cx="92209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/>
              <a:t>系</a:t>
            </a:r>
            <a:endParaRPr lang="en-US" altLang="zh-CN" sz="3200" dirty="0"/>
          </a:p>
        </p:txBody>
      </p:sp>
      <p:sp>
        <p:nvSpPr>
          <p:cNvPr id="11" name="TextBox 29"/>
          <p:cNvSpPr txBox="1">
            <a:spLocks noChangeArrowheads="1"/>
          </p:cNvSpPr>
          <p:nvPr/>
        </p:nvSpPr>
        <p:spPr bwMode="auto">
          <a:xfrm>
            <a:off x="418011" y="4875849"/>
            <a:ext cx="108421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/>
              <a:t>学生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7867705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45870" y="744383"/>
            <a:ext cx="10994785" cy="1267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125000"/>
              </a:lnSpc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</a:rPr>
              <a:t>✾</a:t>
            </a:r>
            <a:r>
              <a:rPr kumimoji="1" lang="zh-CN" altLang="en-US" b="1" dirty="0">
                <a:solidFill>
                  <a:schemeClr val="tx2"/>
                </a:solidFill>
              </a:rPr>
              <a:t>不仅两个或两个以上的关系间可以存在参照引用关系，同一关系内部属性间也可能存在参照引用关系。</a:t>
            </a:r>
            <a:endParaRPr lang="zh-CN" altLang="en-US" b="1" dirty="0">
              <a:solidFill>
                <a:srgbClr val="FF3300"/>
              </a:solidFill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endParaRPr lang="en-US" altLang="zh-CN" b="1" dirty="0">
              <a:solidFill>
                <a:srgbClr val="003300"/>
              </a:solidFill>
            </a:endParaRPr>
          </a:p>
        </p:txBody>
      </p:sp>
      <p:graphicFrame>
        <p:nvGraphicFramePr>
          <p:cNvPr id="6" name="Group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233"/>
              </p:ext>
            </p:extLst>
          </p:nvPr>
        </p:nvGraphicFramePr>
        <p:xfrm>
          <a:off x="1869894" y="2840823"/>
          <a:ext cx="8569326" cy="2397383"/>
        </p:xfrm>
        <a:graphic>
          <a:graphicData uri="http://schemas.openxmlformats.org/drawingml/2006/table">
            <a:tbl>
              <a:tblPr/>
              <a:tblGrid>
                <a:gridCol w="186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9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32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32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班长号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4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1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30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7" marR="91437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计算机系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7" marR="91437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Line 47"/>
          <p:cNvSpPr>
            <a:spLocks noChangeShapeType="1"/>
          </p:cNvSpPr>
          <p:nvPr/>
        </p:nvSpPr>
        <p:spPr bwMode="auto">
          <a:xfrm>
            <a:off x="2597150" y="2492375"/>
            <a:ext cx="6840538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8" name="Line 48"/>
          <p:cNvSpPr>
            <a:spLocks noChangeShapeType="1"/>
          </p:cNvSpPr>
          <p:nvPr/>
        </p:nvSpPr>
        <p:spPr bwMode="auto">
          <a:xfrm>
            <a:off x="2597150" y="2492375"/>
            <a:ext cx="0" cy="4333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9" name="Line 49"/>
          <p:cNvSpPr>
            <a:spLocks noChangeShapeType="1"/>
          </p:cNvSpPr>
          <p:nvPr/>
        </p:nvSpPr>
        <p:spPr bwMode="auto">
          <a:xfrm>
            <a:off x="9437688" y="2492375"/>
            <a:ext cx="0" cy="36036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2" name="椭圆形标注 1"/>
          <p:cNvSpPr/>
          <p:nvPr/>
        </p:nvSpPr>
        <p:spPr>
          <a:xfrm>
            <a:off x="2148840" y="5865223"/>
            <a:ext cx="1143000" cy="398417"/>
          </a:xfrm>
          <a:prstGeom prst="wedgeEllipseCallout">
            <a:avLst>
              <a:gd name="adj1" fmla="val -5404"/>
              <a:gd name="adj2" fmla="val -2309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主码</a:t>
            </a:r>
          </a:p>
        </p:txBody>
      </p:sp>
      <p:sp>
        <p:nvSpPr>
          <p:cNvPr id="10" name="椭圆形标注 9"/>
          <p:cNvSpPr/>
          <p:nvPr/>
        </p:nvSpPr>
        <p:spPr>
          <a:xfrm>
            <a:off x="8813075" y="5818414"/>
            <a:ext cx="1143000" cy="398417"/>
          </a:xfrm>
          <a:prstGeom prst="wedgeEllipseCallout">
            <a:avLst>
              <a:gd name="adj1" fmla="val -5404"/>
              <a:gd name="adj2" fmla="val -2309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外码</a:t>
            </a:r>
          </a:p>
        </p:txBody>
      </p:sp>
    </p:spTree>
    <p:extLst>
      <p:ext uri="{BB962C8B-B14F-4D97-AF65-F5344CB8AC3E}">
        <p14:creationId xmlns:p14="http://schemas.microsoft.com/office/powerpoint/2010/main" val="4589978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2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23850" y="684352"/>
            <a:ext cx="11524161" cy="64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CN" b="1" dirty="0">
                <a:solidFill>
                  <a:srgbClr val="FF3300"/>
                </a:solidFill>
              </a:rPr>
              <a:t>✾</a:t>
            </a:r>
            <a:r>
              <a:rPr lang="zh-CN" altLang="en-US" b="1" dirty="0">
                <a:solidFill>
                  <a:srgbClr val="003300"/>
                </a:solidFill>
              </a:rPr>
              <a:t>外码与相应的主码名可以取不同的名字，但是必须定义在同一个（或一组）域上。</a:t>
            </a:r>
          </a:p>
        </p:txBody>
      </p:sp>
      <p:graphicFrame>
        <p:nvGraphicFramePr>
          <p:cNvPr id="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6464713"/>
              </p:ext>
            </p:extLst>
          </p:nvPr>
        </p:nvGraphicFramePr>
        <p:xfrm>
          <a:off x="1655185" y="4216427"/>
          <a:ext cx="5929312" cy="2379733"/>
        </p:xfrm>
        <a:graphic>
          <a:graphicData uri="http://schemas.openxmlformats.org/drawingml/2006/table">
            <a:tbl>
              <a:tblPr/>
              <a:tblGrid>
                <a:gridCol w="1808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9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D01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618"/>
              </p:ext>
            </p:extLst>
          </p:nvPr>
        </p:nvGraphicFramePr>
        <p:xfrm>
          <a:off x="1631508" y="2063913"/>
          <a:ext cx="3255962" cy="1902483"/>
        </p:xfrm>
        <a:graphic>
          <a:graphicData uri="http://schemas.openxmlformats.org/drawingml/2006/table">
            <a:tbl>
              <a:tblPr/>
              <a:tblGrid>
                <a:gridCol w="180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1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系号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系名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D01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软件工程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计算机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D03</a:t>
                      </a:r>
                    </a:p>
                  </a:txBody>
                  <a:tcPr marL="91447" marR="91447" marT="45668" marB="4566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信息安全</a:t>
                      </a:r>
                    </a:p>
                  </a:txBody>
                  <a:tcPr marL="91447" marR="91447" marT="45668" marB="4566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29"/>
          <p:cNvSpPr txBox="1">
            <a:spLocks noChangeArrowheads="1"/>
          </p:cNvSpPr>
          <p:nvPr/>
        </p:nvSpPr>
        <p:spPr bwMode="auto">
          <a:xfrm>
            <a:off x="245870" y="2651439"/>
            <a:ext cx="17145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/>
              <a:t>系</a:t>
            </a:r>
            <a:endParaRPr lang="en-US" altLang="zh-CN" sz="3200" dirty="0"/>
          </a:p>
        </p:txBody>
      </p:sp>
      <p:sp>
        <p:nvSpPr>
          <p:cNvPr id="12" name="TextBox 29"/>
          <p:cNvSpPr txBox="1">
            <a:spLocks noChangeArrowheads="1"/>
          </p:cNvSpPr>
          <p:nvPr/>
        </p:nvSpPr>
        <p:spPr bwMode="auto">
          <a:xfrm>
            <a:off x="457200" y="5163213"/>
            <a:ext cx="104502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/>
            <a:r>
              <a:rPr lang="zh-CN" altLang="en-US" sz="3200" dirty="0"/>
              <a:t>学生</a:t>
            </a:r>
            <a:endParaRPr lang="en-US" altLang="zh-CN" sz="3200" dirty="0"/>
          </a:p>
        </p:txBody>
      </p:sp>
      <p:cxnSp>
        <p:nvCxnSpPr>
          <p:cNvPr id="3" name="直接箭头连接符 2"/>
          <p:cNvCxnSpPr/>
          <p:nvPr/>
        </p:nvCxnSpPr>
        <p:spPr>
          <a:xfrm>
            <a:off x="6422572" y="1619416"/>
            <a:ext cx="0" cy="26063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2462349" y="1596556"/>
            <a:ext cx="0" cy="48041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2462349" y="1619416"/>
            <a:ext cx="3960223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153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381000" y="854366"/>
            <a:ext cx="11312236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三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用户定义的完整性（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User-defined Integrity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</a:p>
          <a:p>
            <a:pPr eaLnBrk="1" hangingPunct="1"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针对某个具体数据库的约束条件，由应用环境决定，它反映某一具体应用所涉及的数据必须满足的语义要求。</a:t>
            </a: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1255028" y="4515617"/>
            <a:ext cx="3676650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如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</a:rPr>
              <a:t>: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成绩在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49" charset="-122"/>
              </a:rPr>
              <a:t>0-100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之间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学号、课号的编号规则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性别只能取</a:t>
            </a:r>
            <a:r>
              <a:rPr lang="zh-CN" altLang="en-US" sz="2400" b="1" dirty="0">
                <a:solidFill>
                  <a:srgbClr val="0000FF"/>
                </a:solidFill>
              </a:rPr>
              <a:t>‘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男</a:t>
            </a:r>
            <a:r>
              <a:rPr lang="zh-CN" altLang="en-US" sz="2400" b="1" dirty="0">
                <a:solidFill>
                  <a:srgbClr val="0000FF"/>
                </a:solidFill>
              </a:rPr>
              <a:t>’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或</a:t>
            </a:r>
            <a:r>
              <a:rPr lang="zh-CN" altLang="en-US" sz="2400" b="1" dirty="0">
                <a:solidFill>
                  <a:srgbClr val="0000FF"/>
                </a:solidFill>
              </a:rPr>
              <a:t>‘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49" charset="-122"/>
              </a:rPr>
              <a:t>女</a:t>
            </a:r>
            <a:r>
              <a:rPr lang="zh-CN" altLang="en-US" sz="2400" b="1" dirty="0">
                <a:solidFill>
                  <a:srgbClr val="0000FF"/>
                </a:solidFill>
              </a:rPr>
              <a:t>’</a:t>
            </a:r>
            <a:endParaRPr lang="zh-CN" altLang="en-US" sz="2400" b="1" dirty="0">
              <a:solidFill>
                <a:srgbClr val="0000FF"/>
              </a:solidFill>
              <a:latin typeface="楷体_GB2312" pitchFamily="49" charset="-122"/>
            </a:endParaRPr>
          </a:p>
        </p:txBody>
      </p:sp>
      <p:graphicFrame>
        <p:nvGraphicFramePr>
          <p:cNvPr id="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6658889"/>
              </p:ext>
            </p:extLst>
          </p:nvPr>
        </p:nvGraphicFramePr>
        <p:xfrm>
          <a:off x="1267097" y="2324823"/>
          <a:ext cx="4110486" cy="2133600"/>
        </p:xfrm>
        <a:graphic>
          <a:graphicData uri="http://schemas.openxmlformats.org/drawingml/2006/table">
            <a:tbl>
              <a:tblPr/>
              <a:tblGrid>
                <a:gridCol w="1384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0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成绩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70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90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260188"/>
              </p:ext>
            </p:extLst>
          </p:nvPr>
        </p:nvGraphicFramePr>
        <p:xfrm>
          <a:off x="6477720" y="4617721"/>
          <a:ext cx="4500562" cy="2135274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81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3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课程号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课程名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学分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C++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数据库原理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操作系统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离散数学</a:t>
                      </a:r>
                      <a:endParaRPr kumimoji="0" lang="en-US" altLang="zh-CN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080736"/>
              </p:ext>
            </p:extLst>
          </p:nvPr>
        </p:nvGraphicFramePr>
        <p:xfrm>
          <a:off x="6453050" y="2161903"/>
          <a:ext cx="5179424" cy="2277464"/>
        </p:xfrm>
        <a:graphic>
          <a:graphicData uri="http://schemas.openxmlformats.org/drawingml/2006/table">
            <a:tbl>
              <a:tblPr/>
              <a:tblGrid>
                <a:gridCol w="1293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4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学号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姓名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性别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所在系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002210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王雪莲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女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D01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005130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白亚春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NULL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005220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陈韬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76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005221</a:t>
                      </a:r>
                    </a:p>
                  </a:txBody>
                  <a:tcPr marL="91439" marR="91439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袁更旭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男</a:t>
                      </a: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宋体" pitchFamily="2" charset="-122"/>
                        </a:rPr>
                        <a:t>D02</a:t>
                      </a:r>
                      <a:endParaRPr kumimoji="0" lang="zh-CN" alt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宋体" pitchFamily="2" charset="-122"/>
                      </a:endParaRPr>
                    </a:p>
                  </a:txBody>
                  <a:tcPr marL="91439" marR="91439" marT="45690" marB="456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45870" y="3082834"/>
            <a:ext cx="8579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学生选课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10497" y="3082834"/>
            <a:ext cx="7184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学生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62303" y="5577655"/>
            <a:ext cx="82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课程</a:t>
            </a:r>
          </a:p>
        </p:txBody>
      </p:sp>
    </p:spTree>
    <p:extLst>
      <p:ext uri="{BB962C8B-B14F-4D97-AF65-F5344CB8AC3E}">
        <p14:creationId xmlns:p14="http://schemas.microsoft.com/office/powerpoint/2010/main" val="17016765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3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关系的完整性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395287" y="1039960"/>
            <a:ext cx="11362603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四</a:t>
            </a:r>
            <a:r>
              <a:rPr lang="en-US" altLang="zh-CN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完整性约束的作用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   数据完整性的作用就是要保证数据库中的数据是正确的，提高了数据库的正确度。</a:t>
            </a: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(1)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执行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插入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操作时检查完整性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(2)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执行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删除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操作时检查完整性</a:t>
            </a:r>
          </a:p>
          <a:p>
            <a:pPr eaLnBrk="1" hangingPunct="1">
              <a:lnSpc>
                <a:spcPct val="110000"/>
              </a:lnSpc>
              <a:spcBef>
                <a:spcPct val="40000"/>
              </a:spcBef>
              <a:buFontTx/>
              <a:buNone/>
            </a:pP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(3)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执行</a:t>
            </a:r>
            <a:r>
              <a:rPr lang="zh-CN" altLang="en-US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更新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操作时检查完整性</a:t>
            </a:r>
          </a:p>
        </p:txBody>
      </p:sp>
    </p:spTree>
    <p:extLst>
      <p:ext uri="{BB962C8B-B14F-4D97-AF65-F5344CB8AC3E}">
        <p14:creationId xmlns:p14="http://schemas.microsoft.com/office/powerpoint/2010/main" val="267033735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0" y="-15479"/>
            <a:ext cx="12192000" cy="678867"/>
          </a:xfrm>
          <a:prstGeom prst="rect">
            <a:avLst/>
          </a:prstGeom>
          <a:solidFill>
            <a:srgbClr val="005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/>
            </a:pPr>
            <a:endParaRPr kumimoji="1" lang="zh-CN" altLang="en-US" dirty="0">
              <a:solidFill>
                <a:srgbClr val="00589A"/>
              </a:solidFill>
            </a:endParaRPr>
          </a:p>
        </p:txBody>
      </p:sp>
      <p:sp>
        <p:nvSpPr>
          <p:cNvPr id="4" name="文本框 94"/>
          <p:cNvSpPr txBox="1">
            <a:spLocks noChangeArrowheads="1"/>
          </p:cNvSpPr>
          <p:nvPr/>
        </p:nvSpPr>
        <p:spPr bwMode="auto">
          <a:xfrm>
            <a:off x="245870" y="65515"/>
            <a:ext cx="5053997" cy="5232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小结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371965" y="858982"/>
            <a:ext cx="10985119" cy="266798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n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三类完整性约束</a:t>
            </a:r>
            <a:endParaRPr lang="en-US" altLang="zh-CN" sz="20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实体完整性</a:t>
            </a:r>
            <a:endParaRPr lang="en-US" altLang="zh-CN" sz="20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参照完整性</a:t>
            </a:r>
            <a:endParaRPr lang="en-US" altLang="zh-CN" sz="20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800100" lvl="1" indent="-342900" defTabSz="1600200">
              <a:lnSpc>
                <a:spcPct val="150000"/>
              </a:lnSpc>
              <a:spcAft>
                <a:spcPct val="35000"/>
              </a:spcAft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用户自定义的完整性</a:t>
            </a:r>
          </a:p>
        </p:txBody>
      </p:sp>
      <p:sp>
        <p:nvSpPr>
          <p:cNvPr id="6" name="矩形 5"/>
          <p:cNvSpPr/>
          <p:nvPr/>
        </p:nvSpPr>
        <p:spPr>
          <a:xfrm>
            <a:off x="4365944" y="4378124"/>
            <a:ext cx="369524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cap="none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谢谢观看！</a:t>
            </a:r>
          </a:p>
        </p:txBody>
      </p:sp>
    </p:spTree>
    <p:extLst>
      <p:ext uri="{BB962C8B-B14F-4D97-AF65-F5344CB8AC3E}">
        <p14:creationId xmlns:p14="http://schemas.microsoft.com/office/powerpoint/2010/main" val="38467827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4CC2E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3663</TotalTime>
  <Words>845</Words>
  <Application>Microsoft Macintosh PowerPoint</Application>
  <PresentationFormat>宽屏</PresentationFormat>
  <Paragraphs>258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楷体</vt:lpstr>
      <vt:lpstr>楷体_GB2312</vt:lpstr>
      <vt:lpstr>宋体</vt:lpstr>
      <vt:lpstr>微软雅黑</vt:lpstr>
      <vt:lpstr>Arial</vt:lpstr>
      <vt:lpstr>Calibri</vt:lpstr>
      <vt:lpstr>Calibri Light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zhouping</dc:creator>
  <cp:lastModifiedBy>Qingting Xu</cp:lastModifiedBy>
  <cp:revision>1272</cp:revision>
  <dcterms:created xsi:type="dcterms:W3CDTF">2014-07-02T10:42:00Z</dcterms:created>
  <dcterms:modified xsi:type="dcterms:W3CDTF">2025-09-23T14:11:44Z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所有者">
    <vt:lpwstr>大同煤炭职业技术学院</vt:lpwstr>
  </property>
  <property fmtid="{D5CDD505-2E9C-101B-9397-08002B2CF9AE}" pid="3" name="KSOProductBuildVer">
    <vt:lpwstr>2052-11.1.0.8894</vt:lpwstr>
  </property>
</Properties>
</file>