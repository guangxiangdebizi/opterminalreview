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86" r:id="rId2"/>
    <p:sldId id="454" r:id="rId3"/>
    <p:sldId id="455" r:id="rId4"/>
    <p:sldId id="520" r:id="rId5"/>
    <p:sldId id="506" r:id="rId6"/>
    <p:sldId id="504" r:id="rId7"/>
    <p:sldId id="503" r:id="rId8"/>
    <p:sldId id="502" r:id="rId9"/>
    <p:sldId id="521" r:id="rId10"/>
    <p:sldId id="507" r:id="rId11"/>
    <p:sldId id="509" r:id="rId12"/>
    <p:sldId id="511" r:id="rId13"/>
    <p:sldId id="512" r:id="rId14"/>
    <p:sldId id="513" r:id="rId15"/>
    <p:sldId id="515" r:id="rId16"/>
    <p:sldId id="516" r:id="rId17"/>
    <p:sldId id="456" r:id="rId18"/>
  </p:sldIdLst>
  <p:sldSz cx="12192000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>
          <p15:clr>
            <a:srgbClr val="A4A3A4"/>
          </p15:clr>
        </p15:guide>
        <p15:guide id="2" orient="horz" pos="2879">
          <p15:clr>
            <a:srgbClr val="A4A3A4"/>
          </p15:clr>
        </p15:guide>
        <p15:guide id="3" orient="horz" pos="1329">
          <p15:clr>
            <a:srgbClr val="A4A3A4"/>
          </p15:clr>
        </p15:guide>
        <p15:guide id="4" pos="3840">
          <p15:clr>
            <a:srgbClr val="A4A3A4"/>
          </p15:clr>
        </p15:guide>
        <p15:guide id="5" pos="1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000">
          <p15:clr>
            <a:srgbClr val="A4A3A4"/>
          </p15:clr>
        </p15:guide>
        <p15:guide id="2" orient="horz" pos="2945">
          <p15:clr>
            <a:srgbClr val="A4A3A4"/>
          </p15:clr>
        </p15:guide>
        <p15:guide id="3" pos="2880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9F0"/>
    <a:srgbClr val="FF0000"/>
    <a:srgbClr val="009AD0"/>
    <a:srgbClr val="002060"/>
    <a:srgbClr val="009900"/>
    <a:srgbClr val="F79646"/>
    <a:srgbClr val="245D60"/>
    <a:srgbClr val="DD4633"/>
    <a:srgbClr val="CCCC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70807" autoAdjust="0"/>
  </p:normalViewPr>
  <p:slideViewPr>
    <p:cSldViewPr snapToGrid="0">
      <p:cViewPr varScale="1">
        <p:scale>
          <a:sx n="77" d="100"/>
          <a:sy n="77" d="100"/>
        </p:scale>
        <p:origin x="1968" y="176"/>
      </p:cViewPr>
      <p:guideLst>
        <p:guide orient="horz" pos="2172"/>
        <p:guide orient="horz" pos="2879"/>
        <p:guide orient="horz" pos="1329"/>
        <p:guide pos="3840"/>
        <p:guide pos="12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2790" y="-78"/>
      </p:cViewPr>
      <p:guideLst>
        <p:guide orient="horz" pos="2000"/>
        <p:guide orient="horz" pos="2945"/>
        <p:guide pos="2880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15CCEA-4D12-4250-ABBC-1F15DE901CBC}" type="datetimeFigureOut">
              <a:rPr lang="zh-CN" altLang="en-US"/>
              <a:t>2025/9/23</a:t>
            </a:fld>
            <a:endParaRPr lang="en-US" altLang="zh-CN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A76C4A-4CA1-4C6A-946C-E26A5534DC9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73588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AF2163-2CD8-43A9-AAB8-953EE3B200FA}" type="datetimeFigureOut">
              <a:rPr lang="zh-CN" altLang="en-US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1344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798234E-E7EE-4FBE-B288-F5A88D0BAAD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303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kern="1200" dirty="0">
              <a:solidFill>
                <a:srgbClr val="FF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1716196" cy="50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gimg2.baidu.com/image_search/src=http%3A%2F%2Fscibit.com%2Fwp-content%2Fuploads%2Fsites%2F29%2F2016%2F12%2Fmysql.jpg&amp;refer=http%3A%2F%2Fscibit.com&amp;app=2002&amp;size=f9999,10000&amp;q=a80&amp;n=0&amp;g=0n&amp;fmt=jpeg?sec=1617097019&amp;t=50d79522f2407f4e27c19386f4a6644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4"/>
          <p:cNvGrpSpPr/>
          <p:nvPr userDrawn="1"/>
        </p:nvGrpSpPr>
        <p:grpSpPr>
          <a:xfrm flipV="1">
            <a:off x="-1" y="6857999"/>
            <a:ext cx="12204000" cy="45719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15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  <p:pic>
        <p:nvPicPr>
          <p:cNvPr id="17" name="图片 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25"/>
            <a:ext cx="21066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51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28958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T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矩形 7"/>
          <p:cNvSpPr>
            <a:spLocks noChangeArrowheads="1"/>
          </p:cNvSpPr>
          <p:nvPr userDrawn="1"/>
        </p:nvSpPr>
        <p:spPr bwMode="auto">
          <a:xfrm>
            <a:off x="5298013" y="6807215"/>
            <a:ext cx="4318041" cy="54000"/>
          </a:xfrm>
          <a:prstGeom prst="rect">
            <a:avLst/>
          </a:prstGeom>
          <a:solidFill>
            <a:srgbClr val="317FB7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8"/>
          <p:cNvSpPr>
            <a:spLocks noChangeArrowheads="1"/>
          </p:cNvSpPr>
          <p:nvPr userDrawn="1"/>
        </p:nvSpPr>
        <p:spPr bwMode="auto">
          <a:xfrm flipH="1">
            <a:off x="-1" y="6807215"/>
            <a:ext cx="3429017" cy="54000"/>
          </a:xfrm>
          <a:prstGeom prst="rect">
            <a:avLst/>
          </a:prstGeom>
          <a:solidFill>
            <a:srgbClr val="92D050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 userDrawn="1"/>
        </p:nvSpPr>
        <p:spPr bwMode="auto">
          <a:xfrm flipH="1">
            <a:off x="3428982" y="6807215"/>
            <a:ext cx="1873285" cy="54000"/>
          </a:xfrm>
          <a:prstGeom prst="rect">
            <a:avLst/>
          </a:prstGeom>
          <a:solidFill>
            <a:srgbClr val="F49022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 userDrawn="1"/>
        </p:nvSpPr>
        <p:spPr bwMode="auto">
          <a:xfrm flipH="1">
            <a:off x="9620274" y="6807215"/>
            <a:ext cx="2571725" cy="54000"/>
          </a:xfrm>
          <a:prstGeom prst="rect">
            <a:avLst/>
          </a:prstGeom>
          <a:solidFill>
            <a:srgbClr val="EE3636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296303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  <p:pic>
        <p:nvPicPr>
          <p:cNvPr id="7" name="Picture 2" descr="https://www.shiep.edu.cn/_upload/article/images/ae/f5/a315f22e46eba7886e93c3942349/e87d7fad-391a-42bc-b0b3-a522274164b9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0" y="6063"/>
            <a:ext cx="1647588" cy="3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143" y="1"/>
            <a:ext cx="564856" cy="62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448763" y="1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  <p:sp>
        <p:nvSpPr>
          <p:cNvPr id="9" name="TextBox 1"/>
          <p:cNvSpPr>
            <a:spLocks noChangeArrowheads="1"/>
          </p:cNvSpPr>
          <p:nvPr/>
        </p:nvSpPr>
        <p:spPr bwMode="auto">
          <a:xfrm>
            <a:off x="2218540" y="975521"/>
            <a:ext cx="7345184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rIns="0">
            <a:spAutoFit/>
          </a:bodyPr>
          <a:lstStyle/>
          <a:p>
            <a:pPr algn="ctr"/>
            <a:endParaRPr lang="en-US" altLang="zh-CN" sz="5400" b="1" dirty="0">
              <a:solidFill>
                <a:srgbClr val="0058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细圆简体"/>
            </a:endParaRPr>
          </a:p>
          <a:p>
            <a:pPr algn="ctr"/>
            <a:r>
              <a:rPr lang="zh-CN" altLang="en-US" sz="5400" b="1" dirty="0">
                <a:solidFill>
                  <a:srgbClr val="0058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细圆简体"/>
              </a:rPr>
              <a:t>数据库原理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33" y="15"/>
            <a:ext cx="5515227" cy="481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44074" y="1015661"/>
            <a:ext cx="8128000" cy="526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第三章    </a:t>
            </a:r>
            <a:r>
              <a:rPr lang="zh-CN" sz="4000" b="1" dirty="0">
                <a:solidFill>
                  <a:srgbClr val="003300"/>
                </a:solidFill>
              </a:rPr>
              <a:t>结构化查询语言</a:t>
            </a:r>
            <a:r>
              <a:rPr lang="en-US" altLang="zh-CN" sz="4000" b="1" dirty="0">
                <a:solidFill>
                  <a:srgbClr val="003300"/>
                </a:solidFill>
              </a:rPr>
              <a:t>SQL</a:t>
            </a:r>
          </a:p>
          <a:p>
            <a:pPr eaLnBrk="1" hangingPunct="1">
              <a:spcBef>
                <a:spcPct val="40000"/>
              </a:spcBef>
            </a:pPr>
            <a:endParaRPr lang="zh-CN" altLang="en-US" sz="4000" b="1" dirty="0">
              <a:solidFill>
                <a:srgbClr val="FF66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</a:rPr>
              <a:t>	3.1 SQL</a:t>
            </a:r>
            <a:r>
              <a:rPr lang="zh-CN" altLang="en-US" sz="3200" b="1" dirty="0">
                <a:solidFill>
                  <a:schemeClr val="tx1"/>
                </a:solidFill>
              </a:rPr>
              <a:t>概述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chemeClr val="tx1"/>
                </a:solidFill>
              </a:rPr>
              <a:t>3.2 </a:t>
            </a:r>
            <a:r>
              <a:rPr lang="zh-CN" altLang="en-US" sz="3200" b="1" dirty="0">
                <a:solidFill>
                  <a:schemeClr val="tx1"/>
                </a:solidFill>
              </a:rPr>
              <a:t>数据定义语句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3.3 </a:t>
            </a:r>
            <a:r>
              <a:rPr lang="zh-CN" altLang="en-US" sz="3200" b="1" dirty="0"/>
              <a:t>查询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dirty="0"/>
              <a:t>       </a:t>
            </a:r>
            <a:r>
              <a:rPr lang="en-US" altLang="zh-CN" sz="3200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3.4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数据更新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ym typeface="+mn-ea"/>
              </a:rPr>
              <a:t>	3.5 </a:t>
            </a:r>
            <a:r>
              <a:rPr lang="zh-CN" altLang="en-US" sz="3200" b="1" dirty="0">
                <a:sym typeface="+mn-ea"/>
              </a:rPr>
              <a:t>视图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218" name="Rectangle 3"/>
          <p:cNvSpPr/>
          <p:nvPr/>
        </p:nvSpPr>
        <p:spPr>
          <a:xfrm>
            <a:off x="393065" y="676910"/>
            <a:ext cx="6934200" cy="55308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插入单个元组</a:t>
            </a:r>
          </a:p>
        </p:txBody>
      </p:sp>
      <p:sp>
        <p:nvSpPr>
          <p:cNvPr id="290820" name="Rectangle 4"/>
          <p:cNvSpPr/>
          <p:nvPr/>
        </p:nvSpPr>
        <p:spPr>
          <a:xfrm>
            <a:off x="679450" y="3797935"/>
            <a:ext cx="5893435" cy="570230"/>
          </a:xfrm>
          <a:prstGeom prst="rect">
            <a:avLst/>
          </a:prstGeom>
          <a:noFill/>
          <a:ln w="22225">
            <a:noFill/>
          </a:ln>
        </p:spPr>
        <p:txBody>
          <a:bodyPr anchor="t" anchorCtr="0"/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SzPct val="115000"/>
              <a:buChar char="•"/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将新元组插入指定表中。</a:t>
            </a:r>
          </a:p>
        </p:txBody>
      </p:sp>
      <p:sp>
        <p:nvSpPr>
          <p:cNvPr id="290821" name="Rectangle 5"/>
          <p:cNvSpPr/>
          <p:nvPr/>
        </p:nvSpPr>
        <p:spPr>
          <a:xfrm>
            <a:off x="1056640" y="1367155"/>
            <a:ext cx="8153400" cy="1603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语句格式为：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INSERT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INTO &lt;</a:t>
            </a:r>
            <a:r>
              <a:rPr lang="zh-CN" altLang="en-US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</a:t>
            </a:r>
            <a:r>
              <a:rPr lang="en-US" altLang="zh-CN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[(&lt;</a:t>
            </a:r>
            <a:r>
              <a:rPr lang="zh-CN" altLang="en-US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属性列</a:t>
            </a:r>
            <a:r>
              <a:rPr lang="en-US" altLang="zh-CN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1&gt;[</a:t>
            </a:r>
            <a:r>
              <a:rPr lang="zh-CN" altLang="en-US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</a:t>
            </a:r>
            <a:r>
              <a:rPr lang="zh-CN" altLang="en-US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属性列</a:t>
            </a:r>
            <a:r>
              <a:rPr lang="en-US" altLang="zh-CN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&gt;…)]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VALUES (&lt;</a:t>
            </a:r>
            <a:r>
              <a:rPr lang="zh-CN" altLang="en-US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常量</a:t>
            </a:r>
            <a:r>
              <a:rPr lang="en-US" altLang="zh-CN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1&gt; [</a:t>
            </a:r>
            <a:r>
              <a:rPr lang="zh-CN" altLang="en-US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</a:t>
            </a:r>
            <a:r>
              <a:rPr lang="zh-CN" altLang="en-US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常量</a:t>
            </a:r>
            <a:r>
              <a:rPr lang="en-US" altLang="zh-CN" sz="24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2&gt;]    …   );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0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0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0" grpId="0"/>
      <p:bldP spid="2908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843" name="Rectangle 3"/>
          <p:cNvSpPr>
            <a:spLocks noGrp="1"/>
          </p:cNvSpPr>
          <p:nvPr/>
        </p:nvSpPr>
        <p:spPr>
          <a:xfrm>
            <a:off x="245745" y="822960"/>
            <a:ext cx="11309350" cy="325247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indent="0"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INTO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指定要插入数据的表名及属性列；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指定属性列的顺序可与表定义中的顺序不一致；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没有指定属性列：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表示要插入的是一条完整的元组，且属性列属性与表定义中的顺序一致；</a:t>
            </a:r>
          </a:p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指定部分属性列：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插入的元组在其余属性列上取空值，要求非空的属性列必须指定，不能为空。</a:t>
            </a:r>
          </a:p>
        </p:txBody>
      </p:sp>
      <p:sp>
        <p:nvSpPr>
          <p:cNvPr id="3" name="Rectangle 4"/>
          <p:cNvSpPr/>
          <p:nvPr/>
        </p:nvSpPr>
        <p:spPr>
          <a:xfrm>
            <a:off x="814070" y="4300855"/>
            <a:ext cx="8153400" cy="173418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  <a:buClr>
                <a:srgbClr val="FFFF66"/>
              </a:buClr>
              <a:buSzPct val="125000"/>
              <a:buChar char="•"/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VALUES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</a:t>
            </a:r>
          </a:p>
          <a:p>
            <a:pPr lvl="1" indent="0" eaLnBrk="1" hangingPunct="1">
              <a:lnSpc>
                <a:spcPct val="65000"/>
              </a:lnSpc>
              <a:spcBef>
                <a:spcPct val="50000"/>
              </a:spcBef>
              <a:buClr>
                <a:schemeClr val="hlink"/>
              </a:buClr>
              <a:buChar char="–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提供的值必须与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INTO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子句匹配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  <a:p>
            <a:pPr lvl="2" indent="0" eaLnBrk="1" hangingPunct="1">
              <a:lnSpc>
                <a:spcPct val="65000"/>
              </a:lnSpc>
              <a:spcBef>
                <a:spcPct val="50000"/>
              </a:spcBef>
              <a:buClr>
                <a:schemeClr val="accent1"/>
              </a:buClr>
              <a:buChar char="&gt;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值的个数</a:t>
            </a:r>
          </a:p>
          <a:p>
            <a:pPr lvl="2" indent="0" eaLnBrk="1" hangingPunct="1">
              <a:lnSpc>
                <a:spcPct val="65000"/>
              </a:lnSpc>
              <a:spcBef>
                <a:spcPct val="50000"/>
              </a:spcBef>
              <a:buClr>
                <a:schemeClr val="accent1"/>
              </a:buClr>
              <a:buChar char="&gt;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值的类型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91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91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91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91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91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3" grpId="0" build="p" bldLvl="2"/>
      <p:bldP spid="3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162" name="Rectangle 2"/>
          <p:cNvSpPr/>
          <p:nvPr/>
        </p:nvSpPr>
        <p:spPr>
          <a:xfrm>
            <a:off x="154305" y="663575"/>
            <a:ext cx="11884025" cy="583247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3.65】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将新的配电物资（物资编号：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m020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；物资名称：架空绝缘导线；规格：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10KV-100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；仓库名称：供电局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仓库；单价：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12.8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；库存数量：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）插入配电物资库存记录表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Stock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INSERT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INTO Stock(mat_num,mat_name,speci,warehouse, unit,amount)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VALUES ('m020','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架空绝缘导线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','10KV-100','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 12.8,50);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3.66】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将新的抢修工程（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20110011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，观澜站电缆接地抢修，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2011-2-3 0:00:00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2011-2-5 12:00:00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）插入到抢修工程计划表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Salvaging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INSERT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INTO Salvaging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VALUES ('20110011','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观澜站电缆接地抢修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','2011-2-3 0:00:00','2011-2-5 12:00:00',1);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0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0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0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0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0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0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868" name="Rectangle 4"/>
          <p:cNvSpPr/>
          <p:nvPr/>
        </p:nvSpPr>
        <p:spPr>
          <a:xfrm>
            <a:off x="639445" y="4900295"/>
            <a:ext cx="10912475" cy="9144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/>
          <a:lstStyle/>
          <a:p>
            <a:pPr indent="0"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SzPct val="115000"/>
              <a:buChar char="•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基本用法同插入单行元祖类似，但是允许将多条数据记录用逗号隔开，放在关键字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VALUES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的后面，插入数据表中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292869" name="Rectangle 5"/>
          <p:cNvSpPr>
            <a:spLocks noChangeArrowheads="1"/>
          </p:cNvSpPr>
          <p:nvPr/>
        </p:nvSpPr>
        <p:spPr bwMode="auto">
          <a:xfrm>
            <a:off x="545465" y="1415415"/>
            <a:ext cx="8610600" cy="36163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2900" marR="0" lv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FF66"/>
              </a:buClr>
              <a:buSzPct val="115000"/>
              <a:buFontTx/>
              <a:buChar char="•"/>
              <a:defRPr/>
            </a:pP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语句格式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  <a:p>
            <a:pPr marL="0" marR="0" lv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INSERT </a:t>
            </a:r>
            <a:endParaRPr kumimoji="0" lang="zh-CN" altLang="zh-CN" sz="24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INTO &lt;</a:t>
            </a:r>
            <a:r>
              <a:rPr kumimoji="0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[&lt;</a:t>
            </a:r>
            <a:r>
              <a:rPr kumimoji="0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属性列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1&gt;[,&lt;</a:t>
            </a:r>
            <a:r>
              <a:rPr kumimoji="0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属性列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2&gt;</a:t>
            </a:r>
            <a:r>
              <a:rPr kumimoji="0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]]</a:t>
            </a:r>
            <a:endParaRPr kumimoji="0" lang="zh-CN" altLang="zh-CN" sz="24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VALUES (&lt;</a:t>
            </a:r>
            <a:r>
              <a:rPr kumimoji="0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常量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1_1&gt;[,&lt;</a:t>
            </a:r>
            <a:r>
              <a:rPr kumimoji="0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常量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1_2&gt;]</a:t>
            </a:r>
            <a:r>
              <a:rPr kumimoji="0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),</a:t>
            </a:r>
            <a:endParaRPr kumimoji="0" lang="zh-CN" altLang="zh-CN" sz="24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(&lt;</a:t>
            </a:r>
            <a:r>
              <a:rPr kumimoji="0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常量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2_1&gt;[,&lt;</a:t>
            </a:r>
            <a:r>
              <a:rPr kumimoji="0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常量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2_2&gt;]</a:t>
            </a:r>
            <a:r>
              <a:rPr kumimoji="0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kumimoji="0" lang="zh-CN" altLang="zh-CN" sz="24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…</a:t>
            </a:r>
            <a:endParaRPr kumimoji="0" lang="zh-CN" altLang="zh-CN" sz="24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(&lt;</a:t>
            </a:r>
            <a:r>
              <a:rPr kumimoji="0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常量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n_1&gt;[,&lt;</a:t>
            </a:r>
            <a:r>
              <a:rPr kumimoji="0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常量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n_2&gt;]</a:t>
            </a:r>
            <a:r>
              <a:rPr kumimoji="0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endParaRPr kumimoji="1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7218" name="Rectangle 3"/>
          <p:cNvSpPr/>
          <p:nvPr/>
        </p:nvSpPr>
        <p:spPr>
          <a:xfrm>
            <a:off x="331470" y="717550"/>
            <a:ext cx="6934200" cy="55308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插入多行元组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8" grpId="0"/>
      <p:bldP spid="29286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314" name="矩形 1"/>
          <p:cNvSpPr/>
          <p:nvPr/>
        </p:nvSpPr>
        <p:spPr>
          <a:xfrm>
            <a:off x="179705" y="1484630"/>
            <a:ext cx="1097026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</a:pP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3.67</a:t>
            </a: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 将多行数据记录插入领料出库表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Out_stock</a:t>
            </a:r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中。</a:t>
            </a:r>
          </a:p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INSERT 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INTO Out_stock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VALUES ('20110006','m001',2,'2011-3-9','</a:t>
            </a:r>
            <a:r>
              <a:rPr lang="zh-CN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'),</a:t>
            </a:r>
            <a:endParaRPr lang="zh-CN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('20110006','m002',3,'2011-3-9','</a:t>
            </a:r>
            <a:r>
              <a:rPr lang="zh-CN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1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1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868" name="Rectangle 4"/>
          <p:cNvSpPr/>
          <p:nvPr/>
        </p:nvSpPr>
        <p:spPr>
          <a:xfrm>
            <a:off x="539115" y="4725670"/>
            <a:ext cx="7924800" cy="9144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/>
          <a:lstStyle/>
          <a:p>
            <a:pPr>
              <a:spcBef>
                <a:spcPct val="20000"/>
              </a:spcBef>
              <a:buClr>
                <a:srgbClr val="FFFF66"/>
              </a:buClr>
              <a:buSzPct val="115000"/>
              <a:buChar char="•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将子查询结果插入指定表中。</a:t>
            </a:r>
          </a:p>
        </p:txBody>
      </p:sp>
      <p:sp>
        <p:nvSpPr>
          <p:cNvPr id="292869" name="Rectangle 5"/>
          <p:cNvSpPr/>
          <p:nvPr/>
        </p:nvSpPr>
        <p:spPr>
          <a:xfrm>
            <a:off x="539115" y="1830070"/>
            <a:ext cx="8153400" cy="251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lr>
                <a:srgbClr val="FFFF66"/>
              </a:buClr>
              <a:buSzPct val="115000"/>
              <a:buChar char="•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语句格式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INSERT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INTO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[(&lt;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属性列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1&gt;[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属性列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&gt;…)]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子查询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</a:p>
        </p:txBody>
      </p:sp>
      <p:sp>
        <p:nvSpPr>
          <p:cNvPr id="137218" name="Rectangle 3"/>
          <p:cNvSpPr/>
          <p:nvPr/>
        </p:nvSpPr>
        <p:spPr>
          <a:xfrm>
            <a:off x="331470" y="923290"/>
            <a:ext cx="6934200" cy="55308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插入子查询结果</a:t>
            </a:r>
            <a:endParaRPr lang="en-US" altLang="zh-CN" sz="2400" dirty="0">
              <a:solidFill>
                <a:srgbClr val="6699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939" name="Rectangle 3"/>
          <p:cNvSpPr>
            <a:spLocks noGrp="1"/>
          </p:cNvSpPr>
          <p:nvPr/>
        </p:nvSpPr>
        <p:spPr>
          <a:xfrm>
            <a:off x="0" y="970915"/>
            <a:ext cx="11953875" cy="302895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Char char="•"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INTO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与插入单条元组类似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  <a:p>
            <a:pPr lvl="2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指定要插入数据的表名及属性列</a:t>
            </a:r>
          </a:p>
          <a:p>
            <a:pPr lvl="2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属性列的顺序可与表定义中的顺序不一致</a:t>
            </a:r>
          </a:p>
          <a:p>
            <a:pPr lvl="2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没有指定属性列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：表示要插入的是一条完整的元组</a:t>
            </a:r>
          </a:p>
          <a:p>
            <a:pPr lvl="2" indent="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指定部分属性列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：插入的元组在其余属性列上取空值，要求非空的属性列必须指定，不能为空。</a:t>
            </a:r>
          </a:p>
        </p:txBody>
      </p:sp>
      <p:sp>
        <p:nvSpPr>
          <p:cNvPr id="295940" name="Rectangle 4"/>
          <p:cNvSpPr/>
          <p:nvPr/>
        </p:nvSpPr>
        <p:spPr>
          <a:xfrm>
            <a:off x="114300" y="3999865"/>
            <a:ext cx="10160635" cy="1938020"/>
          </a:xfrm>
          <a:prstGeom prst="rect">
            <a:avLst/>
          </a:prstGeom>
          <a:noFill/>
          <a:ln w="22225">
            <a:noFill/>
          </a:ln>
        </p:spPr>
        <p:txBody>
          <a:bodyPr wrap="square" anchor="t" anchorCtr="0">
            <a:spAutoFit/>
          </a:bodyPr>
          <a:lstStyle/>
          <a:p>
            <a:pPr lvl="1" indent="0"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Char char="•"/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子查询</a:t>
            </a:r>
          </a:p>
          <a:p>
            <a:pPr lvl="2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  <a:buChar char="•"/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子句目标列必须与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INTO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子句匹配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  <a:p>
            <a:pPr lvl="3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Char char="–"/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值的个数</a:t>
            </a:r>
          </a:p>
          <a:p>
            <a:pPr lvl="3" indent="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Char char="–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值的类型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62" name="Rectangle 3"/>
          <p:cNvSpPr>
            <a:spLocks noGrp="1"/>
          </p:cNvSpPr>
          <p:nvPr/>
        </p:nvSpPr>
        <p:spPr>
          <a:xfrm>
            <a:off x="104140" y="663575"/>
            <a:ext cx="11544935" cy="9144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3.68】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对每一抢修工程项目，求其所用物资的总费用，并把结果存入数据库。</a:t>
            </a:r>
          </a:p>
        </p:txBody>
      </p:sp>
      <p:sp>
        <p:nvSpPr>
          <p:cNvPr id="293892" name="Rectangle 4"/>
          <p:cNvSpPr/>
          <p:nvPr/>
        </p:nvSpPr>
        <p:spPr>
          <a:xfrm>
            <a:off x="643890" y="1221105"/>
            <a:ext cx="8915400" cy="3276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第一步：建表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CREATE TABLE Prj_cost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    prj_num char(8)  PRIMARY KEY ,    	 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cost decimal(18, 2),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</a:p>
        </p:txBody>
      </p:sp>
      <p:sp>
        <p:nvSpPr>
          <p:cNvPr id="144386" name="Rectangle 3"/>
          <p:cNvSpPr>
            <a:spLocks noGrp="1"/>
          </p:cNvSpPr>
          <p:nvPr/>
        </p:nvSpPr>
        <p:spPr>
          <a:xfrm>
            <a:off x="1702435" y="3284220"/>
            <a:ext cx="7336155" cy="324802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第二步：插入数据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INSERT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INTO Prj_cost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SELECT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j_num, SUM (out_stock.amount*unit)</a:t>
            </a: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FROM Out_stock,Stock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WHERE Out_stock.mat_num=Stock.mat_num </a:t>
            </a:r>
          </a:p>
          <a:p>
            <a:pPr eaLnBrk="1" hangingPunct="1">
              <a:buNone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GROUP BY prj_num</a:t>
            </a:r>
          </a:p>
        </p:txBody>
      </p:sp>
      <p:pic>
        <p:nvPicPr>
          <p:cNvPr id="2" name="图片 -21474825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685" y="1443355"/>
            <a:ext cx="3289935" cy="25514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3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3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93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3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93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4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4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4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4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963" name="Rectangle 3"/>
          <p:cNvSpPr/>
          <p:nvPr/>
        </p:nvSpPr>
        <p:spPr>
          <a:xfrm>
            <a:off x="633730" y="3830955"/>
            <a:ext cx="11118850" cy="2092960"/>
          </a:xfrm>
          <a:prstGeom prst="rect">
            <a:avLst/>
          </a:prstGeom>
          <a:noFill/>
          <a:ln w="22225">
            <a:noFill/>
          </a:ln>
        </p:spPr>
        <p:txBody>
          <a:bodyPr anchor="t" anchorCtr="0"/>
          <a:lstStyle/>
          <a:p>
            <a:pPr>
              <a:spcBef>
                <a:spcPct val="20000"/>
              </a:spcBef>
              <a:buClr>
                <a:srgbClr val="FFFF66"/>
              </a:buClr>
              <a:buSzPct val="115000"/>
              <a:buChar char="•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修改指定表中满足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子句条件的元组，并由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重新赋值；如果省略WHERE子句，表示要修改表中的所有元组。</a:t>
            </a:r>
          </a:p>
        </p:txBody>
      </p:sp>
      <p:sp>
        <p:nvSpPr>
          <p:cNvPr id="296964" name="Rectangle 4"/>
          <p:cNvSpPr/>
          <p:nvPr/>
        </p:nvSpPr>
        <p:spPr>
          <a:xfrm>
            <a:off x="760730" y="1125538"/>
            <a:ext cx="8382000" cy="251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lr>
                <a:srgbClr val="FFFF66"/>
              </a:buClr>
              <a:buSzPct val="115000"/>
              <a:buChar char="•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语句格式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  <a:p>
            <a:pPr marL="0" indent="0">
              <a:spcBef>
                <a:spcPct val="20000"/>
              </a:spcBef>
              <a:buClr>
                <a:srgbClr val="FFFF66"/>
              </a:buClr>
              <a:buSzPct val="115000"/>
              <a:buNone/>
            </a:pPr>
            <a:endParaRPr lang="en-US" altLang="zh-CN" sz="2400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spcBef>
                <a:spcPct val="20000"/>
              </a:spcBef>
              <a:buClr>
                <a:srgbClr val="FFFF66"/>
              </a:buClr>
              <a:buSzPct val="115000"/>
              <a:buNone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UPDATE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&gt;=&lt;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&gt;[,&lt;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&gt;=&lt;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&gt;]…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 WHERE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];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458" name="Rectangle 3"/>
          <p:cNvSpPr/>
          <p:nvPr/>
        </p:nvSpPr>
        <p:spPr>
          <a:xfrm>
            <a:off x="570230" y="1441450"/>
            <a:ext cx="8610600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3.69】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将编号为“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m020”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的物资单价改为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44.5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297988" name="Rectangle 4"/>
          <p:cNvSpPr/>
          <p:nvPr/>
        </p:nvSpPr>
        <p:spPr>
          <a:xfrm>
            <a:off x="1141730" y="1831975"/>
            <a:ext cx="7467600" cy="1524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 Stock</a:t>
            </a:r>
          </a:p>
          <a:p>
            <a:pPr marL="342900" indent="-342900"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 unit =44.5</a:t>
            </a:r>
          </a:p>
          <a:p>
            <a:pPr marL="342900" indent="-342900"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WHERE mat_num ='m020';</a:t>
            </a:r>
          </a:p>
          <a:p>
            <a:pPr marL="342900" indent="-342900">
              <a:spcBef>
                <a:spcPct val="20000"/>
              </a:spcBef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461" name="Rectangle 6"/>
          <p:cNvSpPr/>
          <p:nvPr/>
        </p:nvSpPr>
        <p:spPr>
          <a:xfrm>
            <a:off x="381000" y="760095"/>
            <a:ext cx="6934200" cy="4603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修改单个元组的值</a:t>
            </a:r>
          </a:p>
        </p:txBody>
      </p:sp>
      <p:sp>
        <p:nvSpPr>
          <p:cNvPr id="148482" name="Rectangle 3"/>
          <p:cNvSpPr/>
          <p:nvPr/>
        </p:nvSpPr>
        <p:spPr>
          <a:xfrm>
            <a:off x="495935" y="4003675"/>
            <a:ext cx="8610600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3.70】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将所有物资的单价增加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299012" name="Rectangle 4"/>
          <p:cNvSpPr/>
          <p:nvPr/>
        </p:nvSpPr>
        <p:spPr>
          <a:xfrm>
            <a:off x="1141730" y="4537710"/>
            <a:ext cx="7772400" cy="1676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 Stock</a:t>
            </a:r>
          </a:p>
          <a:p>
            <a:pPr marL="342900" indent="-342900" eaLnBrk="1" latinLnBrk="0" hangingPunct="1">
              <a:lnSpc>
                <a:spcPct val="125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 unit=unit+1;</a:t>
            </a:r>
          </a:p>
          <a:p>
            <a:pPr marL="342900" indent="-342900">
              <a:spcBef>
                <a:spcPct val="20000"/>
              </a:spcBef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484" name="Rectangle 5"/>
          <p:cNvSpPr/>
          <p:nvPr/>
        </p:nvSpPr>
        <p:spPr>
          <a:xfrm>
            <a:off x="381000" y="3449320"/>
            <a:ext cx="6934200" cy="46037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修改多个元组的值</a:t>
            </a:r>
          </a:p>
        </p:txBody>
      </p:sp>
      <p:sp>
        <p:nvSpPr>
          <p:cNvPr id="299015" name="Rectangle 7"/>
          <p:cNvSpPr/>
          <p:nvPr/>
        </p:nvSpPr>
        <p:spPr>
          <a:xfrm>
            <a:off x="782955" y="5642610"/>
            <a:ext cx="5714365" cy="460375"/>
          </a:xfrm>
          <a:prstGeom prst="rect">
            <a:avLst/>
          </a:prstGeom>
          <a:noFill/>
          <a:ln w="222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缺省表示要修改表中所有元组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4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14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29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8" grpId="0"/>
      <p:bldP spid="148482" grpId="0"/>
      <p:bldP spid="148482" grpId="1"/>
      <p:bldP spid="299012" grpId="0"/>
      <p:bldP spid="299012" grpId="1"/>
      <p:bldP spid="148484" grpId="0"/>
      <p:bldP spid="148484" grpId="1"/>
      <p:bldP spid="299015" grpId="0"/>
      <p:bldP spid="29901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506" name="Rectangle 3"/>
          <p:cNvSpPr/>
          <p:nvPr/>
        </p:nvSpPr>
        <p:spPr>
          <a:xfrm>
            <a:off x="245745" y="1643380"/>
            <a:ext cx="8893175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3.71】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将供电局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仓库所有物资的领取数量置零。</a:t>
            </a:r>
          </a:p>
        </p:txBody>
      </p:sp>
      <p:sp>
        <p:nvSpPr>
          <p:cNvPr id="149507" name="Rectangle 5"/>
          <p:cNvSpPr/>
          <p:nvPr/>
        </p:nvSpPr>
        <p:spPr>
          <a:xfrm>
            <a:off x="381000" y="990600"/>
            <a:ext cx="6934200" cy="55308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带子查询的修改语句</a:t>
            </a:r>
          </a:p>
        </p:txBody>
      </p:sp>
      <p:sp>
        <p:nvSpPr>
          <p:cNvPr id="300038" name="Rectangle 6"/>
          <p:cNvSpPr>
            <a:spLocks noGrp="1"/>
          </p:cNvSpPr>
          <p:nvPr/>
        </p:nvSpPr>
        <p:spPr>
          <a:xfrm>
            <a:off x="398463" y="2276475"/>
            <a:ext cx="8494712" cy="2386965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update Out_stock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set amount =0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where mat_num in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( select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mat_num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from 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where warehouse ='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');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65904" y="4663440"/>
            <a:ext cx="767998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Update </a:t>
            </a:r>
            <a:r>
              <a:rPr lang="en-US" altLang="zh-CN" sz="2400" dirty="0" err="1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out_stock</a:t>
            </a: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stock</a:t>
            </a:r>
            <a:endParaRPr lang="zh-CN" altLang="zh-CN" sz="2400" dirty="0">
              <a:solidFill>
                <a:srgbClr val="1569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Set  </a:t>
            </a:r>
            <a:r>
              <a:rPr lang="en-US" altLang="zh-CN" sz="2400" dirty="0" err="1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out_stock.amount</a:t>
            </a: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=0</a:t>
            </a:r>
            <a:endParaRPr lang="zh-CN" altLang="zh-CN" sz="2400" dirty="0">
              <a:solidFill>
                <a:srgbClr val="1569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Where stock. </a:t>
            </a:r>
            <a:r>
              <a:rPr lang="en-US" altLang="zh-CN" sz="2400" dirty="0" err="1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mat_num</a:t>
            </a: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</a:t>
            </a:r>
            <a:r>
              <a:rPr lang="en-US" altLang="zh-CN" sz="2400" dirty="0" err="1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out_stock</a:t>
            </a: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</a:t>
            </a:r>
            <a:r>
              <a:rPr lang="en-US" altLang="zh-CN" sz="2400" dirty="0" err="1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mat_num</a:t>
            </a: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altLang="zh-CN" sz="2400" dirty="0">
              <a:solidFill>
                <a:srgbClr val="1569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and warehouse ='</a:t>
            </a:r>
            <a:r>
              <a:rPr lang="zh-CN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';</a:t>
            </a:r>
            <a:endParaRPr lang="zh-CN" altLang="zh-CN" sz="2400" dirty="0">
              <a:solidFill>
                <a:srgbClr val="1569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1919" y="4682252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该语句还可以写为：</a:t>
            </a: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0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0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0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0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00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059" name="Rectangle 3"/>
          <p:cNvSpPr/>
          <p:nvPr/>
        </p:nvSpPr>
        <p:spPr>
          <a:xfrm>
            <a:off x="614045" y="3766185"/>
            <a:ext cx="10422890" cy="1600200"/>
          </a:xfrm>
          <a:prstGeom prst="rect">
            <a:avLst/>
          </a:prstGeom>
          <a:noFill/>
          <a:ln w="22225">
            <a:noFill/>
          </a:ln>
        </p:spPr>
        <p:txBody>
          <a:bodyPr anchor="t" anchorCtr="0"/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SzPct val="115000"/>
              <a:buChar char="•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从指定表中删除满足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子句条件的所有元组，若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缺省则删除表中所有元组；只删除表的数据，不删表的定义。</a:t>
            </a:r>
          </a:p>
        </p:txBody>
      </p:sp>
      <p:sp>
        <p:nvSpPr>
          <p:cNvPr id="301060" name="Rectangle 4"/>
          <p:cNvSpPr/>
          <p:nvPr/>
        </p:nvSpPr>
        <p:spPr>
          <a:xfrm>
            <a:off x="762000" y="1085215"/>
            <a:ext cx="8382000" cy="251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SzPct val="115000"/>
              <a:buChar char="•"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语句格式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rgbClr val="FFFF66"/>
              </a:buClr>
              <a:buSzPct val="115000"/>
              <a:buChar char="•"/>
            </a:pP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DELETE 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FROM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表名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[ WHERE &lt;</a:t>
            </a:r>
            <a:r>
              <a:rPr lang="zh-CN" altLang="en-US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</a:t>
            </a:r>
            <a:r>
              <a:rPr lang="en-US" altLang="zh-CN" sz="2400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 ];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554" name="Rectangle 3"/>
          <p:cNvSpPr/>
          <p:nvPr/>
        </p:nvSpPr>
        <p:spPr>
          <a:xfrm>
            <a:off x="323850" y="1346200"/>
            <a:ext cx="11160760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3.72】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删除项目号为“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20110001”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的抢修工程领取编号为“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m001”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的物资出库记录。</a:t>
            </a:r>
          </a:p>
        </p:txBody>
      </p:sp>
      <p:sp>
        <p:nvSpPr>
          <p:cNvPr id="302084" name="Rectangle 4"/>
          <p:cNvSpPr/>
          <p:nvPr/>
        </p:nvSpPr>
        <p:spPr>
          <a:xfrm>
            <a:off x="611188" y="2268855"/>
            <a:ext cx="8353425" cy="21605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DELETE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FROM Out_stock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WHERE prj_num ='20110001' AND mat_num ='m001';</a:t>
            </a:r>
          </a:p>
          <a:p>
            <a:pPr marL="342900" indent="-342900">
              <a:spcBef>
                <a:spcPct val="20000"/>
              </a:spcBef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556" name="Rectangle 5"/>
          <p:cNvSpPr/>
          <p:nvPr/>
        </p:nvSpPr>
        <p:spPr>
          <a:xfrm>
            <a:off x="395605" y="793115"/>
            <a:ext cx="6934200" cy="55308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删除单个元组的值</a:t>
            </a:r>
          </a:p>
        </p:txBody>
      </p:sp>
      <p:sp>
        <p:nvSpPr>
          <p:cNvPr id="302089" name="Rectangle 9"/>
          <p:cNvSpPr/>
          <p:nvPr/>
        </p:nvSpPr>
        <p:spPr>
          <a:xfrm>
            <a:off x="395288" y="3750628"/>
            <a:ext cx="6934200" cy="55308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删除多个元组的值</a:t>
            </a:r>
          </a:p>
        </p:txBody>
      </p:sp>
      <p:sp>
        <p:nvSpPr>
          <p:cNvPr id="302090" name="Rectangle 10"/>
          <p:cNvSpPr/>
          <p:nvPr/>
        </p:nvSpPr>
        <p:spPr>
          <a:xfrm>
            <a:off x="323850" y="4304030"/>
            <a:ext cx="8610600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3.73】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删除所有抢修工程的领料出库记录。</a:t>
            </a:r>
          </a:p>
        </p:txBody>
      </p:sp>
      <p:sp>
        <p:nvSpPr>
          <p:cNvPr id="302091" name="Rectangle 11"/>
          <p:cNvSpPr/>
          <p:nvPr/>
        </p:nvSpPr>
        <p:spPr>
          <a:xfrm>
            <a:off x="895350" y="4987925"/>
            <a:ext cx="7467600" cy="1195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 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Out_stock;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2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2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2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2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2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2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0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2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2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4" grpId="0" build="p"/>
      <p:bldP spid="302089" grpId="0"/>
      <p:bldP spid="302090" grpId="0"/>
      <p:bldP spid="30209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数据更新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578" name="Rectangle 3"/>
          <p:cNvSpPr/>
          <p:nvPr/>
        </p:nvSpPr>
        <p:spPr>
          <a:xfrm>
            <a:off x="381000" y="990600"/>
            <a:ext cx="6934200" cy="553085"/>
          </a:xfrm>
          <a:prstGeom prst="rect">
            <a:avLst/>
          </a:prstGeom>
          <a:noFill/>
          <a:ln w="22225">
            <a:noFill/>
          </a:ln>
        </p:spPr>
        <p:txBody>
          <a:bodyPr anchor="t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400" dirty="0">
                <a:solidFill>
                  <a:srgbClr val="66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带子查询的删除语句</a:t>
            </a:r>
          </a:p>
        </p:txBody>
      </p:sp>
      <p:sp>
        <p:nvSpPr>
          <p:cNvPr id="152579" name="Rectangle 4"/>
          <p:cNvSpPr/>
          <p:nvPr/>
        </p:nvSpPr>
        <p:spPr>
          <a:xfrm>
            <a:off x="533400" y="1700213"/>
            <a:ext cx="8610600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  <a:buClr>
                <a:schemeClr val="accent1"/>
              </a:buClr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3.74】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删除观澜站光缆抢修工程项目的所有领料出库记录。</a:t>
            </a:r>
          </a:p>
        </p:txBody>
      </p:sp>
      <p:sp>
        <p:nvSpPr>
          <p:cNvPr id="304134" name="Rectangle 6"/>
          <p:cNvSpPr>
            <a:spLocks noGrp="1"/>
          </p:cNvSpPr>
          <p:nvPr/>
        </p:nvSpPr>
        <p:spPr>
          <a:xfrm>
            <a:off x="985203" y="2390458"/>
            <a:ext cx="7189787" cy="3073400"/>
          </a:xfrm>
          <a:prstGeom prst="rect">
            <a:avLst/>
          </a:prstGeom>
          <a:noFill/>
          <a:ln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Delete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Out_stock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Where prj_num in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(select prj_num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from Salvaging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where prj_name ='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观澜站光缆抢修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'); 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270953" y="5351146"/>
            <a:ext cx="7704137" cy="1323975"/>
          </a:xfrm>
          <a:prstGeom prst="rect">
            <a:avLst/>
          </a:prstGeom>
          <a:noFill/>
          <a:ln w="22225">
            <a:solidFill>
              <a:srgbClr val="8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solidFill>
                  <a:schemeClr val="tx2"/>
                </a:solidFill>
                <a:ea typeface="宋体" charset="-122"/>
              </a:rPr>
              <a:t>delete </a:t>
            </a:r>
          </a:p>
          <a:p>
            <a:pPr eaLnBrk="1" hangingPunct="1"/>
            <a:r>
              <a:rPr kumimoji="1" lang="en-US" altLang="zh-CN" sz="2000" b="1" dirty="0">
                <a:solidFill>
                  <a:schemeClr val="tx2"/>
                </a:solidFill>
                <a:ea typeface="宋体" charset="-122"/>
              </a:rPr>
              <a:t>From </a:t>
            </a:r>
            <a:r>
              <a:rPr lang="en-US" altLang="zh-CN" sz="2000" b="1" dirty="0" err="1">
                <a:solidFill>
                  <a:schemeClr val="tx2"/>
                </a:solidFill>
              </a:rPr>
              <a:t>out_stock</a:t>
            </a:r>
            <a:r>
              <a:rPr kumimoji="1" lang="en-US" altLang="zh-CN" sz="2000" b="1" dirty="0">
                <a:solidFill>
                  <a:schemeClr val="tx2"/>
                </a:solidFill>
                <a:ea typeface="宋体" charset="-122"/>
              </a:rPr>
              <a:t>, </a:t>
            </a:r>
            <a:r>
              <a:rPr lang="en-US" altLang="zh-CN" sz="2000" b="1" dirty="0">
                <a:solidFill>
                  <a:schemeClr val="tx2"/>
                </a:solidFill>
              </a:rPr>
              <a:t>salvaging</a:t>
            </a:r>
            <a:endParaRPr kumimoji="1" lang="en-US" altLang="zh-CN" sz="2000" b="1" dirty="0">
              <a:solidFill>
                <a:schemeClr val="tx2"/>
              </a:solidFill>
              <a:ea typeface="宋体" charset="-122"/>
            </a:endParaRPr>
          </a:p>
          <a:p>
            <a:pPr eaLnBrk="1" hangingPunct="1"/>
            <a:r>
              <a:rPr kumimoji="1" lang="en-US" altLang="zh-CN" sz="2000" b="1" dirty="0">
                <a:solidFill>
                  <a:schemeClr val="tx2"/>
                </a:solidFill>
                <a:ea typeface="宋体" charset="-122"/>
              </a:rPr>
              <a:t> Where </a:t>
            </a:r>
            <a:r>
              <a:rPr lang="en-US" altLang="zh-CN" sz="2000" b="1" dirty="0">
                <a:solidFill>
                  <a:schemeClr val="tx2"/>
                </a:solidFill>
              </a:rPr>
              <a:t>salvaging. </a:t>
            </a:r>
            <a:r>
              <a:rPr lang="en-US" altLang="zh-CN" sz="2000" b="1" dirty="0" err="1">
                <a:solidFill>
                  <a:schemeClr val="tx2"/>
                </a:solidFill>
              </a:rPr>
              <a:t>prj_num</a:t>
            </a:r>
            <a:r>
              <a:rPr lang="en-US" altLang="zh-CN" sz="2000" b="1" dirty="0">
                <a:solidFill>
                  <a:schemeClr val="tx2"/>
                </a:solidFill>
              </a:rPr>
              <a:t> = </a:t>
            </a:r>
            <a:r>
              <a:rPr lang="en-US" altLang="zh-CN" sz="2000" b="1" dirty="0" err="1">
                <a:solidFill>
                  <a:schemeClr val="tx2"/>
                </a:solidFill>
              </a:rPr>
              <a:t>out_stock.prj_num</a:t>
            </a:r>
            <a:r>
              <a:rPr kumimoji="1" lang="en-US" altLang="zh-CN" sz="2000" b="1" dirty="0">
                <a:solidFill>
                  <a:schemeClr val="tx2"/>
                </a:solidFill>
                <a:ea typeface="宋体" charset="-122"/>
              </a:rPr>
              <a:t> and </a:t>
            </a:r>
            <a:r>
              <a:rPr lang="en-US" altLang="zh-CN" sz="2000" b="1" dirty="0" err="1">
                <a:solidFill>
                  <a:schemeClr val="tx2"/>
                </a:solidFill>
              </a:rPr>
              <a:t>prj_name</a:t>
            </a:r>
            <a:r>
              <a:rPr lang="en-US" altLang="zh-CN" sz="2000" b="1" dirty="0">
                <a:solidFill>
                  <a:schemeClr val="tx2"/>
                </a:solidFill>
              </a:rPr>
              <a:t> ='</a:t>
            </a:r>
            <a:r>
              <a:rPr lang="zh-CN" altLang="en-US" sz="2000" b="1" dirty="0">
                <a:solidFill>
                  <a:schemeClr val="tx2"/>
                </a:solidFill>
              </a:rPr>
              <a:t>观澜站光缆抢修</a:t>
            </a:r>
            <a:r>
              <a:rPr lang="en-US" altLang="zh-CN" sz="2000" b="1" dirty="0">
                <a:solidFill>
                  <a:schemeClr val="tx2"/>
                </a:solidFill>
              </a:rPr>
              <a:t>'; </a:t>
            </a:r>
          </a:p>
        </p:txBody>
      </p:sp>
      <p:sp>
        <p:nvSpPr>
          <p:cNvPr id="3" name="椭圆形标注 2"/>
          <p:cNvSpPr/>
          <p:nvPr/>
        </p:nvSpPr>
        <p:spPr>
          <a:xfrm>
            <a:off x="7703820" y="4221480"/>
            <a:ext cx="3246120" cy="1074420"/>
          </a:xfrm>
          <a:prstGeom prst="wedgeEllipseCallout">
            <a:avLst>
              <a:gd name="adj1" fmla="val -48833"/>
              <a:gd name="adj2" fmla="val 738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思考：这语句正确么？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6307138" y="5516563"/>
            <a:ext cx="1008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solidFill>
                  <a:srgbClr val="CC3300"/>
                </a:solidFill>
                <a:latin typeface="Times New Roman" pitchFamily="18" charset="0"/>
                <a:ea typeface="宋体" charset="-122"/>
              </a:rPr>
              <a:t>错误！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4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4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4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4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4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4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20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4" grpId="0" build="p"/>
      <p:bldP spid="9" grpId="0" animBg="1"/>
      <p:bldP spid="14" grpId="0"/>
      <p:bldP spid="1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71965" y="858982"/>
            <a:ext cx="10985119" cy="170895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插入数据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修改数据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删除数据</a:t>
            </a:r>
          </a:p>
        </p:txBody>
      </p:sp>
      <p:sp>
        <p:nvSpPr>
          <p:cNvPr id="2" name="矩形 1"/>
          <p:cNvSpPr/>
          <p:nvPr/>
        </p:nvSpPr>
        <p:spPr>
          <a:xfrm>
            <a:off x="4313693" y="3600884"/>
            <a:ext cx="36952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谢谢观看！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4CC2E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1355</Words>
  <Application>Microsoft Macintosh PowerPoint</Application>
  <PresentationFormat>宽屏</PresentationFormat>
  <Paragraphs>184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zhouping</dc:creator>
  <cp:lastModifiedBy>Qingting Xu</cp:lastModifiedBy>
  <cp:revision>1321</cp:revision>
  <dcterms:created xsi:type="dcterms:W3CDTF">2014-07-02T10:42:00Z</dcterms:created>
  <dcterms:modified xsi:type="dcterms:W3CDTF">2025-09-23T14:24:31Z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所有者">
    <vt:lpwstr>大同煤炭职业技术学院</vt:lpwstr>
  </property>
  <property fmtid="{D5CDD505-2E9C-101B-9397-08002B2CF9AE}" pid="3" name="KSOProductBuildVer">
    <vt:lpwstr>2052-11.1.0.10700</vt:lpwstr>
  </property>
  <property fmtid="{D5CDD505-2E9C-101B-9397-08002B2CF9AE}" pid="4" name="ICV">
    <vt:lpwstr>719139C40EFD4C08BDA977BB504149A1</vt:lpwstr>
  </property>
</Properties>
</file>