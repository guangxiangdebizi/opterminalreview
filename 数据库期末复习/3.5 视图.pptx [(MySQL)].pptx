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handoutMasterIdLst>
    <p:handoutMasterId r:id="rId30"/>
  </p:handoutMasterIdLst>
  <p:sldIdLst>
    <p:sldId id="286" r:id="rId2"/>
    <p:sldId id="454" r:id="rId3"/>
    <p:sldId id="455" r:id="rId4"/>
    <p:sldId id="507" r:id="rId5"/>
    <p:sldId id="506" r:id="rId6"/>
    <p:sldId id="504" r:id="rId7"/>
    <p:sldId id="505" r:id="rId8"/>
    <p:sldId id="503" r:id="rId9"/>
    <p:sldId id="508" r:id="rId10"/>
    <p:sldId id="509" r:id="rId11"/>
    <p:sldId id="510" r:id="rId12"/>
    <p:sldId id="511" r:id="rId13"/>
    <p:sldId id="502" r:id="rId14"/>
    <p:sldId id="518" r:id="rId15"/>
    <p:sldId id="521" r:id="rId16"/>
    <p:sldId id="528" r:id="rId17"/>
    <p:sldId id="527" r:id="rId18"/>
    <p:sldId id="522" r:id="rId19"/>
    <p:sldId id="523" r:id="rId20"/>
    <p:sldId id="529" r:id="rId21"/>
    <p:sldId id="530" r:id="rId22"/>
    <p:sldId id="531" r:id="rId23"/>
    <p:sldId id="532" r:id="rId24"/>
    <p:sldId id="533" r:id="rId25"/>
    <p:sldId id="534" r:id="rId26"/>
    <p:sldId id="535" r:id="rId27"/>
    <p:sldId id="456" r:id="rId28"/>
  </p:sldIdLst>
  <p:sldSz cx="12192000" cy="6858000"/>
  <p:notesSz cx="7010400" cy="92964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4">
          <p15:clr>
            <a:srgbClr val="A4A3A4"/>
          </p15:clr>
        </p15:guide>
        <p15:guide id="2" orient="horz" pos="2902">
          <p15:clr>
            <a:srgbClr val="A4A3A4"/>
          </p15:clr>
        </p15:guide>
        <p15:guide id="3" orient="horz" pos="1261">
          <p15:clr>
            <a:srgbClr val="A4A3A4"/>
          </p15:clr>
        </p15:guide>
        <p15:guide id="4" pos="3840">
          <p15:clr>
            <a:srgbClr val="A4A3A4"/>
          </p15:clr>
        </p15:guide>
        <p15:guide id="5" pos="1234">
          <p15:clr>
            <a:srgbClr val="A4A3A4"/>
          </p15:clr>
        </p15:guide>
      </p15:sldGuideLst>
    </p:ext>
    <p:ext uri="{2D200454-40CA-4A62-9FC3-DE9A4176ACB9}">
      <p15:notesGuideLst xmlns:p15="http://schemas.microsoft.com/office/powerpoint/2012/main">
        <p15:guide id="1" orient="horz" pos="2100">
          <p15:clr>
            <a:srgbClr val="A4A3A4"/>
          </p15:clr>
        </p15:guide>
        <p15:guide id="2" orient="horz" pos="2933">
          <p15:clr>
            <a:srgbClr val="A4A3A4"/>
          </p15:clr>
        </p15:guide>
        <p15:guide id="3" pos="2880">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9AD0"/>
    <a:srgbClr val="002060"/>
    <a:srgbClr val="009900"/>
    <a:srgbClr val="1569F0"/>
    <a:srgbClr val="F79646"/>
    <a:srgbClr val="245D60"/>
    <a:srgbClr val="DD4633"/>
    <a:srgbClr val="CCCC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4" autoAdjust="0"/>
    <p:restoredTop sz="40373" autoAdjust="0"/>
  </p:normalViewPr>
  <p:slideViewPr>
    <p:cSldViewPr snapToGrid="0">
      <p:cViewPr varScale="1">
        <p:scale>
          <a:sx n="40" d="100"/>
          <a:sy n="40" d="100"/>
        </p:scale>
        <p:origin x="3408" y="200"/>
      </p:cViewPr>
      <p:guideLst>
        <p:guide orient="horz" pos="2164"/>
        <p:guide orient="horz" pos="2902"/>
        <p:guide orient="horz" pos="1261"/>
        <p:guide pos="3840"/>
        <p:guide pos="1234"/>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8" d="100"/>
          <a:sy n="58" d="100"/>
        </p:scale>
        <p:origin x="-2790" y="-78"/>
      </p:cViewPr>
      <p:guideLst>
        <p:guide orient="horz" pos="2100"/>
        <p:guide orient="horz" pos="2933"/>
        <p:guide pos="2880"/>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037840" cy="464820"/>
          </a:xfrm>
          <a:prstGeom prst="rect">
            <a:avLst/>
          </a:prstGeom>
          <a:noFill/>
          <a:ln w="9525">
            <a:noFill/>
            <a:miter lim="800000"/>
          </a:ln>
          <a:effectLst/>
        </p:spPr>
        <p:txBody>
          <a:bodyPr vert="horz" wrap="square" lIns="93177" tIns="46589" rIns="93177" bIns="46589" numCol="1" anchor="t" anchorCtr="0" compatLnSpc="1"/>
          <a:lstStyle>
            <a:lvl1pPr>
              <a:defRPr sz="1200" smtClean="0">
                <a:latin typeface="Calibri" panose="020F0502020204030204" pitchFamily="34" charset="0"/>
              </a:defRPr>
            </a:lvl1pPr>
          </a:lstStyle>
          <a:p>
            <a:pPr>
              <a:defRPr/>
            </a:pPr>
            <a:endParaRPr lang="zh-CN" altLang="en-US"/>
          </a:p>
        </p:txBody>
      </p:sp>
      <p:sp>
        <p:nvSpPr>
          <p:cNvPr id="33795" name="Rectangle 3"/>
          <p:cNvSpPr>
            <a:spLocks noGrp="1" noChangeArrowheads="1"/>
          </p:cNvSpPr>
          <p:nvPr>
            <p:ph type="dt" sz="quarter" idx="1"/>
          </p:nvPr>
        </p:nvSpPr>
        <p:spPr bwMode="auto">
          <a:xfrm>
            <a:off x="3971344" y="0"/>
            <a:ext cx="3037840" cy="464820"/>
          </a:xfrm>
          <a:prstGeom prst="rect">
            <a:avLst/>
          </a:prstGeom>
          <a:noFill/>
          <a:ln w="9525">
            <a:noFill/>
            <a:miter lim="800000"/>
          </a:ln>
          <a:effectLst/>
        </p:spPr>
        <p:txBody>
          <a:bodyPr vert="horz" wrap="square" lIns="93177" tIns="46589" rIns="93177" bIns="46589" numCol="1" anchor="t" anchorCtr="0" compatLnSpc="1"/>
          <a:lstStyle>
            <a:lvl1pPr algn="r">
              <a:defRPr sz="1200" smtClean="0">
                <a:latin typeface="Calibri" panose="020F0502020204030204" pitchFamily="34" charset="0"/>
              </a:defRPr>
            </a:lvl1pPr>
          </a:lstStyle>
          <a:p>
            <a:pPr>
              <a:defRPr/>
            </a:pPr>
            <a:fld id="{3915CCEA-4D12-4250-ABBC-1F15DE901CBC}" type="datetimeFigureOut">
              <a:rPr lang="zh-CN" altLang="en-US"/>
              <a:t>2025/9/23</a:t>
            </a:fld>
            <a:endParaRPr lang="en-US" altLang="zh-CN"/>
          </a:p>
        </p:txBody>
      </p:sp>
      <p:sp>
        <p:nvSpPr>
          <p:cNvPr id="33796" name="Rectangle 4"/>
          <p:cNvSpPr>
            <a:spLocks noGrp="1" noChangeArrowheads="1"/>
          </p:cNvSpPr>
          <p:nvPr>
            <p:ph type="ftr" sz="quarter" idx="2"/>
          </p:nvPr>
        </p:nvSpPr>
        <p:spPr bwMode="auto">
          <a:xfrm>
            <a:off x="0" y="8829429"/>
            <a:ext cx="3037840" cy="464820"/>
          </a:xfrm>
          <a:prstGeom prst="rect">
            <a:avLst/>
          </a:prstGeom>
          <a:noFill/>
          <a:ln w="9525">
            <a:noFill/>
            <a:miter lim="800000"/>
          </a:ln>
          <a:effectLst/>
        </p:spPr>
        <p:txBody>
          <a:bodyPr vert="horz" wrap="square" lIns="93177" tIns="46589" rIns="93177" bIns="46589" numCol="1" anchor="b" anchorCtr="0" compatLnSpc="1"/>
          <a:lstStyle>
            <a:lvl1pPr>
              <a:defRPr sz="1200" smtClean="0">
                <a:latin typeface="Calibri" panose="020F0502020204030204" pitchFamily="34" charset="0"/>
              </a:defRPr>
            </a:lvl1pPr>
          </a:lstStyle>
          <a:p>
            <a:pPr>
              <a:defRPr/>
            </a:pPr>
            <a:endParaRPr lang="en-US" altLang="zh-CN"/>
          </a:p>
        </p:txBody>
      </p:sp>
      <p:sp>
        <p:nvSpPr>
          <p:cNvPr id="33797" name="Rectangle 5"/>
          <p:cNvSpPr>
            <a:spLocks noGrp="1" noChangeArrowheads="1"/>
          </p:cNvSpPr>
          <p:nvPr>
            <p:ph type="sldNum" sz="quarter" idx="3"/>
          </p:nvPr>
        </p:nvSpPr>
        <p:spPr bwMode="auto">
          <a:xfrm>
            <a:off x="3971344" y="8829429"/>
            <a:ext cx="3037840" cy="464820"/>
          </a:xfrm>
          <a:prstGeom prst="rect">
            <a:avLst/>
          </a:prstGeom>
          <a:noFill/>
          <a:ln w="9525">
            <a:noFill/>
            <a:miter lim="800000"/>
          </a:ln>
          <a:effectLst/>
        </p:spPr>
        <p:txBody>
          <a:bodyPr vert="horz" wrap="square" lIns="93177" tIns="46589" rIns="93177" bIns="46589" numCol="1" anchor="b" anchorCtr="0" compatLnSpc="1"/>
          <a:lstStyle>
            <a:lvl1pPr algn="r">
              <a:defRPr sz="1200" smtClean="0">
                <a:latin typeface="Calibri" panose="020F0502020204030204" pitchFamily="34" charset="0"/>
              </a:defRPr>
            </a:lvl1pPr>
          </a:lstStyle>
          <a:p>
            <a:pPr>
              <a:defRPr/>
            </a:pPr>
            <a:fld id="{C6A76C4A-4CA1-4C6A-946C-E26A5534DC95}" type="slidenum">
              <a:rPr lang="zh-CN" altLang="en-US"/>
              <a:t>‹#›</a:t>
            </a:fld>
            <a:endParaRPr lang="en-US" altLang="zh-CN"/>
          </a:p>
        </p:txBody>
      </p:sp>
    </p:spTree>
    <p:extLst>
      <p:ext uri="{BB962C8B-B14F-4D97-AF65-F5344CB8AC3E}">
        <p14:creationId xmlns:p14="http://schemas.microsoft.com/office/powerpoint/2010/main" val="14175252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37840" cy="466972"/>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971344" y="1"/>
            <a:ext cx="3037840" cy="466972"/>
          </a:xfrm>
          <a:prstGeom prst="rect">
            <a:avLst/>
          </a:prstGeom>
        </p:spPr>
        <p:txBody>
          <a:bodyPr vert="horz" lIns="93177" tIns="46589" rIns="93177" bIns="46589" rtlCol="0"/>
          <a:lstStyle>
            <a:lvl1pPr algn="r" fontAlgn="auto">
              <a:spcBef>
                <a:spcPts val="0"/>
              </a:spcBef>
              <a:spcAft>
                <a:spcPts val="0"/>
              </a:spcAft>
              <a:defRPr sz="1200">
                <a:latin typeface="+mn-lt"/>
                <a:ea typeface="+mn-ea"/>
              </a:defRPr>
            </a:lvl1pPr>
          </a:lstStyle>
          <a:p>
            <a:pPr>
              <a:defRPr/>
            </a:pPr>
            <a:fld id="{8FAF2163-2CD8-43A9-AAB8-953EE3B200FA}" type="datetimeFigureOut">
              <a:rPr lang="zh-CN" altLang="en-US"/>
              <a:t>2025/9/23</a:t>
            </a:fld>
            <a:endParaRPr lang="zh-CN" altLang="en-US"/>
          </a:p>
        </p:txBody>
      </p:sp>
      <p:sp>
        <p:nvSpPr>
          <p:cNvPr id="4" name="幻灯片图像占位符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701040" y="4473894"/>
            <a:ext cx="5608320" cy="3660456"/>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829429"/>
            <a:ext cx="3037840" cy="4669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971344" y="8829429"/>
            <a:ext cx="3037840" cy="466971"/>
          </a:xfrm>
          <a:prstGeom prst="rect">
            <a:avLst/>
          </a:prstGeom>
        </p:spPr>
        <p:txBody>
          <a:bodyPr vert="horz" lIns="93177" tIns="46589" rIns="93177" bIns="46589" rtlCol="0" anchor="b"/>
          <a:lstStyle>
            <a:lvl1pPr algn="r" fontAlgn="auto">
              <a:spcBef>
                <a:spcPts val="0"/>
              </a:spcBef>
              <a:spcAft>
                <a:spcPts val="0"/>
              </a:spcAft>
              <a:defRPr sz="1200">
                <a:latin typeface="+mn-lt"/>
                <a:ea typeface="+mn-ea"/>
              </a:defRPr>
            </a:lvl1pPr>
          </a:lstStyle>
          <a:p>
            <a:pPr>
              <a:defRPr/>
            </a:pPr>
            <a:fld id="{1798234E-E7EE-4FBE-B288-F5A88D0BAADF}" type="slidenum">
              <a:rPr lang="zh-CN" altLang="en-US"/>
              <a:t>‹#›</a:t>
            </a:fld>
            <a:endParaRPr lang="zh-CN" altLang="en-US"/>
          </a:p>
        </p:txBody>
      </p:sp>
    </p:spTree>
    <p:extLst>
      <p:ext uri="{BB962C8B-B14F-4D97-AF65-F5344CB8AC3E}">
        <p14:creationId xmlns:p14="http://schemas.microsoft.com/office/powerpoint/2010/main" val="24221901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342900" indent="-342900" eaLnBrk="1" latinLnBrk="0" hangingPunct="1">
              <a:lnSpc>
                <a:spcPct val="125000"/>
              </a:lnSpc>
              <a:spcBef>
                <a:spcPts val="0"/>
              </a:spcBef>
              <a:buClr>
                <a:schemeClr val="folHlink"/>
              </a:buClr>
              <a:buSzPct val="60000"/>
              <a:buFont typeface="Wingdings" panose="05000000000000000000" pitchFamily="2" charset="2"/>
            </a:pPr>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rgbClr val="FF0000"/>
              </a:solidFill>
              <a:latin typeface="微软雅黑" panose="020B0503020204020204" pitchFamily="34" charset="-122"/>
              <a:ea typeface="微软雅黑" panose="020B0503020204020204" pitchFamily="34" charset="-122"/>
              <a:cs typeface="+mn-cs"/>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indent="0" eaLnBrk="1" latinLnBrk="0" hangingPunct="1">
              <a:lnSpc>
                <a:spcPct val="125000"/>
              </a:lnSpc>
              <a:spcBef>
                <a:spcPts val="0"/>
              </a:spcBef>
              <a:spcAft>
                <a:spcPts val="0"/>
              </a:spcAft>
              <a:buClr>
                <a:srgbClr val="FFFF66"/>
              </a:buClr>
              <a:buNone/>
            </a:pPr>
            <a:endParaRPr lang="en-US" altLang="zh-CN" sz="1200" kern="12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hangingPunct="1">
              <a:lnSpc>
                <a:spcPct val="110000"/>
              </a:lnSpc>
              <a:buClr>
                <a:srgbClr val="FFFF66"/>
              </a:buClr>
            </a:pPr>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GI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4" name="图片 3" descr="logo.jpg"/>
          <p:cNvPicPr>
            <a:picLocks noChangeAspect="1"/>
          </p:cNvPicPr>
          <p:nvPr userDrawn="1"/>
        </p:nvPicPr>
        <p:blipFill>
          <a:blip r:embed="rId2" cstate="print"/>
          <a:stretch>
            <a:fillRect/>
          </a:stretch>
        </p:blipFill>
        <p:spPr>
          <a:xfrm>
            <a:off x="10196523" y="6437085"/>
            <a:ext cx="1968290" cy="366871"/>
          </a:xfrm>
          <a:prstGeom prst="rect">
            <a:avLst/>
          </a:prstGeom>
        </p:spPr>
      </p:pic>
      <p:grpSp>
        <p:nvGrpSpPr>
          <p:cNvPr id="15"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468"/>
            <a:ext cx="1716196" cy="500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descr="https://gimg2.baidu.com/image_search/src=http%3A%2F%2Fscibit.com%2Fwp-content%2Fuploads%2Fsites%2F29%2F2016%2F12%2Fmysql.jpg&amp;refer=http%3A%2F%2Fscibit.com&amp;app=2002&amp;size=f9999,10000&amp;q=a80&amp;n=0&amp;g=0n&amp;fmt=jpeg?sec=1617097019&amp;t=50d79522f2407f4e27c19386f4a6644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5575" y="-136525"/>
            <a:ext cx="38100" cy="7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grpSp>
        <p:nvGrpSpPr>
          <p:cNvPr id="10" name="组合 14"/>
          <p:cNvGrpSpPr/>
          <p:nvPr userDrawn="1"/>
        </p:nvGrpSpPr>
        <p:grpSpPr>
          <a:xfrm flipV="1">
            <a:off x="-1" y="6857999"/>
            <a:ext cx="12204000" cy="45719"/>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15" descr="logo.jpg"/>
          <p:cNvPicPr>
            <a:picLocks noChangeAspect="1"/>
          </p:cNvPicPr>
          <p:nvPr userDrawn="1"/>
        </p:nvPicPr>
        <p:blipFill>
          <a:blip r:embed="rId2" cstate="print"/>
          <a:stretch>
            <a:fillRect/>
          </a:stretch>
        </p:blipFill>
        <p:spPr>
          <a:xfrm>
            <a:off x="10223710" y="6450629"/>
            <a:ext cx="1968290" cy="366871"/>
          </a:xfrm>
          <a:prstGeom prst="rect">
            <a:avLst/>
          </a:prstGeom>
        </p:spPr>
      </p:pic>
      <p:pic>
        <p:nvPicPr>
          <p:cNvPr id="17" name="图片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125"/>
            <a:ext cx="21066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pic>
        <p:nvPicPr>
          <p:cNvPr id="4"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328958"/>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TR">
    <p:bg>
      <p:bgPr>
        <a:solidFill>
          <a:schemeClr val="bg1">
            <a:lumMod val="95000"/>
          </a:schemeClr>
        </a:solidFill>
        <a:effectLst/>
      </p:bgPr>
    </p:bg>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sp>
        <p:nvSpPr>
          <p:cNvPr id="11" name="矩形 7"/>
          <p:cNvSpPr>
            <a:spLocks noChangeArrowheads="1"/>
          </p:cNvSpPr>
          <p:nvPr userDrawn="1"/>
        </p:nvSpPr>
        <p:spPr bwMode="auto">
          <a:xfrm>
            <a:off x="5298013" y="6807215"/>
            <a:ext cx="4318041" cy="54000"/>
          </a:xfrm>
          <a:prstGeom prst="rect">
            <a:avLst/>
          </a:prstGeom>
          <a:solidFill>
            <a:srgbClr val="317FB7"/>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807215"/>
            <a:ext cx="3429017" cy="54000"/>
          </a:xfrm>
          <a:prstGeom prst="rect">
            <a:avLst/>
          </a:prstGeom>
          <a:solidFill>
            <a:srgbClr val="92D050"/>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3428982" y="6807215"/>
            <a:ext cx="1873285" cy="54000"/>
          </a:xfrm>
          <a:prstGeom prst="rect">
            <a:avLst/>
          </a:prstGeom>
          <a:solidFill>
            <a:srgbClr val="F49022"/>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9620274" y="6807215"/>
            <a:ext cx="2571725" cy="54000"/>
          </a:xfrm>
          <a:prstGeom prst="rect">
            <a:avLst/>
          </a:prstGeom>
          <a:solidFill>
            <a:srgbClr val="EE3636"/>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9"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296303"/>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大纲">
    <p:spTree>
      <p:nvGrpSpPr>
        <p:cNvPr id="1" name=""/>
        <p:cNvGrpSpPr/>
        <p:nvPr/>
      </p:nvGrpSpPr>
      <p:grpSpPr>
        <a:xfrm>
          <a:off x="0" y="0"/>
          <a:ext cx="0" cy="0"/>
          <a:chOff x="0" y="0"/>
          <a:chExt cx="0" cy="0"/>
        </a:xfrm>
      </p:grpSpPr>
      <p:pic>
        <p:nvPicPr>
          <p:cNvPr id="9" name="图片 8" descr="logo.jpg"/>
          <p:cNvPicPr>
            <a:picLocks noChangeAspect="1"/>
          </p:cNvPicPr>
          <p:nvPr userDrawn="1"/>
        </p:nvPicPr>
        <p:blipFill>
          <a:blip r:embed="rId2" cstate="print"/>
          <a:stretch>
            <a:fillRect/>
          </a:stretch>
        </p:blipFill>
        <p:spPr>
          <a:xfrm>
            <a:off x="10223209" y="6497747"/>
            <a:ext cx="1968290" cy="366871"/>
          </a:xfrm>
          <a:prstGeom prst="rect">
            <a:avLst/>
          </a:prstGeom>
        </p:spPr>
      </p:pic>
      <p:pic>
        <p:nvPicPr>
          <p:cNvPr id="7" name="Picture 2" descr="https://www.shiep.edu.cn/_upload/article/images/ae/f5/a315f22e46eba7886e93c3942349/e87d7fad-391a-42bc-b0b3-a522274164b9.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5290" y="6063"/>
            <a:ext cx="1647588" cy="392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14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27143" y="1"/>
            <a:ext cx="564856" cy="62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descr="logo.jpg"/>
          <p:cNvPicPr>
            <a:picLocks noChangeAspect="1"/>
          </p:cNvPicPr>
          <p:nvPr/>
        </p:nvPicPr>
        <p:blipFill>
          <a:blip r:embed="rId8" cstate="print"/>
          <a:stretch>
            <a:fillRect/>
          </a:stretch>
        </p:blipFill>
        <p:spPr>
          <a:xfrm>
            <a:off x="10196523" y="6437085"/>
            <a:ext cx="1968290" cy="36687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448763" y="15"/>
            <a:ext cx="2726267" cy="1200329"/>
          </a:xfrm>
          <a:prstGeom prst="rect">
            <a:avLst/>
          </a:prstGeom>
          <a:solidFill>
            <a:schemeClr val="bg1"/>
          </a:solidFill>
        </p:spPr>
        <p:txBody>
          <a:bodyPr wrap="square" rtlCol="0">
            <a:spAutoFit/>
          </a:bodyPr>
          <a:lstStyle/>
          <a:p>
            <a:endParaRPr lang="en-US" altLang="zh-CN" dirty="0"/>
          </a:p>
          <a:p>
            <a:endParaRPr lang="en-US" altLang="zh-CN" dirty="0"/>
          </a:p>
          <a:p>
            <a:r>
              <a:rPr lang="en-US" altLang="zh-CN" dirty="0"/>
              <a:t>                                                    </a:t>
            </a:r>
          </a:p>
          <a:p>
            <a:endParaRPr lang="zh-CN" altLang="en-US" dirty="0"/>
          </a:p>
        </p:txBody>
      </p:sp>
      <p:sp>
        <p:nvSpPr>
          <p:cNvPr id="9" name="TextBox 1"/>
          <p:cNvSpPr>
            <a:spLocks noChangeArrowheads="1"/>
          </p:cNvSpPr>
          <p:nvPr/>
        </p:nvSpPr>
        <p:spPr bwMode="auto">
          <a:xfrm>
            <a:off x="2218540" y="975521"/>
            <a:ext cx="7345184" cy="1754326"/>
          </a:xfrm>
          <a:prstGeom prst="rect">
            <a:avLst/>
          </a:prstGeom>
          <a:noFill/>
          <a:ln w="9525">
            <a:noFill/>
            <a:miter lim="800000"/>
          </a:ln>
        </p:spPr>
        <p:txBody>
          <a:bodyPr wrap="square" lIns="0" rIns="0">
            <a:spAutoFit/>
          </a:bodyPr>
          <a:lstStyle/>
          <a:p>
            <a:pPr algn="ctr"/>
            <a:endParaRPr lang="en-US" altLang="zh-CN" sz="5400" b="1" dirty="0">
              <a:solidFill>
                <a:srgbClr val="00589A"/>
              </a:solidFill>
              <a:latin typeface="微软雅黑" panose="020B0503020204020204" pitchFamily="34" charset="-122"/>
              <a:ea typeface="微软雅黑" panose="020B0503020204020204" pitchFamily="34" charset="-122"/>
              <a:sym typeface="方正细圆简体"/>
            </a:endParaRPr>
          </a:p>
          <a:p>
            <a:pPr algn="ctr"/>
            <a:r>
              <a:rPr lang="zh-CN" altLang="en-US" sz="5400" b="1" dirty="0">
                <a:solidFill>
                  <a:srgbClr val="00589A"/>
                </a:solidFill>
                <a:latin typeface="微软雅黑" panose="020B0503020204020204" pitchFamily="34" charset="-122"/>
                <a:ea typeface="微软雅黑" panose="020B0503020204020204" pitchFamily="34" charset="-122"/>
                <a:sym typeface="方正细圆简体"/>
              </a:rPr>
              <a:t>数据库原理</a:t>
            </a:r>
          </a:p>
        </p:txBody>
      </p:sp>
      <p:pic>
        <p:nvPicPr>
          <p:cNvPr id="410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33" y="15"/>
            <a:ext cx="5515227" cy="481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p:cNvSpPr txBox="1">
            <a:spLocks noChangeArrowheads="1"/>
          </p:cNvSpPr>
          <p:nvPr/>
        </p:nvSpPr>
        <p:spPr bwMode="auto">
          <a:xfrm>
            <a:off x="2444074" y="1015661"/>
            <a:ext cx="8128000" cy="526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40000"/>
              </a:spcBef>
            </a:pPr>
            <a:r>
              <a:rPr lang="zh-CN" altLang="en-US" sz="4000" b="1" dirty="0">
                <a:solidFill>
                  <a:srgbClr val="003300"/>
                </a:solidFill>
              </a:rPr>
              <a:t>第三章    </a:t>
            </a:r>
            <a:r>
              <a:rPr lang="zh-CN" sz="4000" b="1" dirty="0">
                <a:solidFill>
                  <a:srgbClr val="003300"/>
                </a:solidFill>
              </a:rPr>
              <a:t>结构化查询语言</a:t>
            </a:r>
            <a:r>
              <a:rPr lang="en-US" altLang="zh-CN" sz="4000" b="1" dirty="0">
                <a:solidFill>
                  <a:srgbClr val="003300"/>
                </a:solidFill>
              </a:rPr>
              <a:t>SQL</a:t>
            </a:r>
          </a:p>
          <a:p>
            <a:pPr eaLnBrk="1" hangingPunct="1">
              <a:spcBef>
                <a:spcPct val="40000"/>
              </a:spcBef>
            </a:pPr>
            <a:endParaRPr lang="zh-CN" altLang="en-US" sz="4000" b="1" dirty="0">
              <a:solidFill>
                <a:srgbClr val="FF6600"/>
              </a:solidFill>
            </a:endParaRPr>
          </a:p>
          <a:p>
            <a:pPr eaLnBrk="1" hangingPunct="1">
              <a:spcBef>
                <a:spcPct val="50000"/>
              </a:spcBef>
            </a:pPr>
            <a:r>
              <a:rPr lang="en-US" altLang="zh-CN" sz="3200" b="1" dirty="0">
                <a:solidFill>
                  <a:schemeClr val="tx1"/>
                </a:solidFill>
              </a:rPr>
              <a:t>	3.1 SQL</a:t>
            </a:r>
            <a:r>
              <a:rPr lang="zh-CN" altLang="en-US" sz="3200" b="1" dirty="0">
                <a:solidFill>
                  <a:schemeClr val="tx1"/>
                </a:solidFill>
              </a:rPr>
              <a:t>概述</a:t>
            </a:r>
            <a:endParaRPr lang="en-US" altLang="zh-CN" sz="3200" b="1" dirty="0">
              <a:solidFill>
                <a:schemeClr val="tx1"/>
              </a:solidFill>
            </a:endParaRPr>
          </a:p>
          <a:p>
            <a:pPr eaLnBrk="1" hangingPunct="1">
              <a:spcBef>
                <a:spcPct val="50000"/>
              </a:spcBef>
            </a:pPr>
            <a:r>
              <a:rPr lang="en-US" altLang="zh-CN" sz="3200" b="1" dirty="0"/>
              <a:t>	</a:t>
            </a:r>
            <a:r>
              <a:rPr lang="en-US" altLang="zh-CN" sz="3200" b="1" dirty="0">
                <a:solidFill>
                  <a:schemeClr val="tx1"/>
                </a:solidFill>
              </a:rPr>
              <a:t>3.2 </a:t>
            </a:r>
            <a:r>
              <a:rPr lang="zh-CN" altLang="en-US" sz="3200" b="1" dirty="0">
                <a:solidFill>
                  <a:schemeClr val="tx1"/>
                </a:solidFill>
              </a:rPr>
              <a:t>数据定义语句</a:t>
            </a:r>
            <a:endParaRPr lang="zh-CN" altLang="en-US" sz="3200" b="1" dirty="0"/>
          </a:p>
          <a:p>
            <a:pPr eaLnBrk="1" hangingPunct="1">
              <a:spcBef>
                <a:spcPct val="50000"/>
              </a:spcBef>
            </a:pPr>
            <a:r>
              <a:rPr lang="en-US" altLang="zh-CN" sz="3200" b="1" dirty="0"/>
              <a:t>	3.3 </a:t>
            </a:r>
            <a:r>
              <a:rPr lang="zh-CN" altLang="en-US" sz="3200" b="1" dirty="0"/>
              <a:t>查询</a:t>
            </a:r>
          </a:p>
          <a:p>
            <a:pPr eaLnBrk="1" hangingPunct="1">
              <a:spcBef>
                <a:spcPct val="50000"/>
              </a:spcBef>
            </a:pPr>
            <a:r>
              <a:rPr lang="en-US" altLang="zh-CN" sz="3200" dirty="0"/>
              <a:t>        </a:t>
            </a:r>
            <a:r>
              <a:rPr lang="en-US" altLang="zh-CN" sz="3200" b="1" dirty="0">
                <a:sym typeface="+mn-ea"/>
              </a:rPr>
              <a:t>3.4 </a:t>
            </a:r>
            <a:r>
              <a:rPr lang="zh-CN" altLang="en-US" sz="3200" b="1" dirty="0">
                <a:sym typeface="+mn-ea"/>
              </a:rPr>
              <a:t>数据更新</a:t>
            </a:r>
            <a:endParaRPr lang="zh-CN" altLang="en-US" sz="3200" b="1" dirty="0"/>
          </a:p>
          <a:p>
            <a:pPr eaLnBrk="1" hangingPunct="1">
              <a:spcBef>
                <a:spcPct val="50000"/>
              </a:spcBef>
            </a:pPr>
            <a:r>
              <a:rPr lang="en-US" altLang="zh-CN" sz="3200" b="1" dirty="0">
                <a:sym typeface="+mn-ea"/>
              </a:rPr>
              <a:t>	</a:t>
            </a:r>
            <a:r>
              <a:rPr lang="en-US" altLang="zh-CN" sz="3200" b="1" dirty="0">
                <a:solidFill>
                  <a:srgbClr val="FF0000"/>
                </a:solidFill>
                <a:sym typeface="+mn-ea"/>
              </a:rPr>
              <a:t>3.5 </a:t>
            </a:r>
            <a:r>
              <a:rPr lang="zh-CN" altLang="en-US" sz="3200" b="1" dirty="0">
                <a:solidFill>
                  <a:srgbClr val="FF0000"/>
                </a:solidFill>
                <a:sym typeface="+mn-ea"/>
              </a:rPr>
              <a:t>视图</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331779" name="Rectangle 3"/>
          <p:cNvSpPr/>
          <p:nvPr/>
        </p:nvSpPr>
        <p:spPr>
          <a:xfrm>
            <a:off x="601345" y="934720"/>
            <a:ext cx="10989310" cy="2623185"/>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视图的特点</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eaLnBrk="1" latinLnBrk="0" hangingPunct="1">
              <a:lnSpc>
                <a:spcPct val="125000"/>
              </a:lnSpc>
              <a:spcBef>
                <a:spcPts val="0"/>
              </a:spcBef>
              <a:buClr>
                <a:schemeClr val="accent1"/>
              </a:buClr>
              <a:buChar char="•"/>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虚表，是从一个或几个基本表（或视图）导出的表；</a:t>
            </a:r>
          </a:p>
          <a:p>
            <a:pPr marL="342900" indent="-342900" eaLnBrk="1" latinLnBrk="0" hangingPunct="1">
              <a:lnSpc>
                <a:spcPct val="125000"/>
              </a:lnSpc>
              <a:spcBef>
                <a:spcPts val="0"/>
              </a:spcBef>
              <a:buClr>
                <a:schemeClr val="accent1"/>
              </a:buClr>
              <a:buChar char="•"/>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只存放视图定义，不存放数据，因此不会出现数据冗余；</a:t>
            </a:r>
          </a:p>
          <a:p>
            <a:pPr marL="342900" indent="-342900" eaLnBrk="1" latinLnBrk="0" hangingPunct="1">
              <a:lnSpc>
                <a:spcPct val="125000"/>
              </a:lnSpc>
              <a:spcBef>
                <a:spcPts val="0"/>
              </a:spcBef>
              <a:buClr>
                <a:schemeClr val="accent1"/>
              </a:buClr>
              <a:buChar char="•"/>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基表中的数据一旦发生变化，从视图中查询出的数据也随之改变；</a:t>
            </a:r>
          </a:p>
          <a:p>
            <a:pPr marL="342900" indent="-342900" eaLnBrk="1" latinLnBrk="0" hangingPunct="1">
              <a:lnSpc>
                <a:spcPct val="125000"/>
              </a:lnSpc>
              <a:spcBef>
                <a:spcPts val="0"/>
              </a:spcBef>
              <a:buClr>
                <a:schemeClr val="accent1"/>
              </a:buClr>
              <a:buChar char="•"/>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用户可通过视图这样的窗口，看到数据库中感兴趣的数据。</a:t>
            </a:r>
          </a:p>
        </p:txBody>
      </p:sp>
      <p:sp>
        <p:nvSpPr>
          <p:cNvPr id="161794" name="Rectangle 3"/>
          <p:cNvSpPr/>
          <p:nvPr/>
        </p:nvSpPr>
        <p:spPr>
          <a:xfrm>
            <a:off x="601345" y="3557905"/>
            <a:ext cx="6248400" cy="2399665"/>
          </a:xfrm>
          <a:prstGeom prst="rect">
            <a:avLst/>
          </a:prstGeom>
          <a:noFill/>
          <a:ln w="22225">
            <a:noFill/>
          </a:ln>
        </p:spPr>
        <p:txBody>
          <a:bodyPr anchor="t" anchorCtr="0">
            <a:spAutoFit/>
          </a:bodyPr>
          <a:lstStyle/>
          <a:p>
            <a:pPr marL="342900" indent="-342900" algn="l" eaLnBrk="1" latinLnBrk="0" hangingPunct="1">
              <a:lnSpc>
                <a:spcPct val="125000"/>
              </a:lnSpc>
              <a:spcBef>
                <a:spcPts val="0"/>
              </a:spcBef>
              <a:buClr>
                <a:schemeClr val="accent1"/>
              </a:buClr>
              <a:buSzTx/>
              <a:buFontTx/>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基于视图的操作：</a:t>
            </a:r>
          </a:p>
          <a:p>
            <a:pPr eaLnBrk="1" latinLnBrk="0" hangingPunct="1">
              <a:lnSpc>
                <a:spcPct val="125000"/>
              </a:lnSpc>
              <a:spcBef>
                <a:spcPts val="0"/>
              </a:spcBef>
              <a:buClr>
                <a:schemeClr val="folHlink"/>
              </a:buClr>
              <a:buSzPct val="60000"/>
              <a:buFont typeface="Wingdings" panose="05000000000000000000" pitchFamily="2" charset="2"/>
              <a:buChar char="n"/>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查询</a:t>
            </a:r>
          </a:p>
          <a:p>
            <a:pPr eaLnBrk="1" latinLnBrk="0" hangingPunct="1">
              <a:lnSpc>
                <a:spcPct val="125000"/>
              </a:lnSpc>
              <a:spcBef>
                <a:spcPts val="0"/>
              </a:spcBef>
              <a:buClr>
                <a:schemeClr val="folHlink"/>
              </a:buClr>
              <a:buSzPct val="60000"/>
              <a:buFont typeface="Wingdings" panose="05000000000000000000" pitchFamily="2" charset="2"/>
              <a:buChar char="n"/>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删除</a:t>
            </a:r>
          </a:p>
          <a:p>
            <a:pPr eaLnBrk="1" latinLnBrk="0" hangingPunct="1">
              <a:lnSpc>
                <a:spcPct val="125000"/>
              </a:lnSpc>
              <a:spcBef>
                <a:spcPts val="0"/>
              </a:spcBef>
              <a:buClr>
                <a:schemeClr val="folHlink"/>
              </a:buClr>
              <a:buSzPct val="60000"/>
              <a:buFont typeface="Wingdings" panose="05000000000000000000" pitchFamily="2" charset="2"/>
              <a:buChar char="n"/>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受限更新</a:t>
            </a:r>
          </a:p>
          <a:p>
            <a:pPr eaLnBrk="1" latinLnBrk="0" hangingPunct="1">
              <a:lnSpc>
                <a:spcPct val="125000"/>
              </a:lnSpc>
              <a:spcBef>
                <a:spcPts val="0"/>
              </a:spcBef>
              <a:buClr>
                <a:schemeClr val="folHlink"/>
              </a:buClr>
              <a:buSzPct val="60000"/>
              <a:buFont typeface="Wingdings" panose="05000000000000000000" pitchFamily="2" charset="2"/>
              <a:buChar char="n"/>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定义基于该视图的新视图</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blinds(horizontal)">
                                      <p:cBhvr>
                                        <p:cTn id="7" dur="500"/>
                                        <p:tgtEl>
                                          <p:spTgt spid="161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p:bldP spid="161794"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34852" name="Rectangle 4"/>
          <p:cNvSpPr/>
          <p:nvPr/>
        </p:nvSpPr>
        <p:spPr>
          <a:xfrm>
            <a:off x="838200" y="1525270"/>
            <a:ext cx="8686800" cy="2239010"/>
          </a:xfrm>
          <a:prstGeom prst="rect">
            <a:avLst/>
          </a:prstGeom>
          <a:noFill/>
          <a:ln w="9525">
            <a:noFill/>
          </a:ln>
        </p:spPr>
        <p:txBody>
          <a:bodyPr anchor="t" anchorCtr="0"/>
          <a:lstStyle/>
          <a:p>
            <a:pPr marL="342900" indent="-342900" eaLnBrk="1" latinLnBrk="0" hangingPunct="1">
              <a:lnSpc>
                <a:spcPct val="125000"/>
              </a:lnSpc>
              <a:spcBef>
                <a:spcPts val="0"/>
              </a:spcBef>
              <a:buClr>
                <a:schemeClr val="hlink"/>
              </a:buClr>
              <a:buSzPct val="115000"/>
              <a:buChar char="•"/>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语句格式</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eaLnBrk="1" latinLnBrk="0" hangingPunct="1">
              <a:lnSpc>
                <a:spcPct val="125000"/>
              </a:lnSpc>
              <a:spcBef>
                <a:spcPts val="0"/>
              </a:spcBef>
              <a:buClr>
                <a:schemeClr val="folHlink"/>
              </a:buClr>
              <a:buSzPct val="60000"/>
              <a:buFont typeface="Wingdings" panose="05000000000000000000" pitchFamily="2" charset="2"/>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CREATE VIEW &lt;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视图名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&gt;[(&lt;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列名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&gt;[,&lt;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列名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&gt;]…)] </a:t>
            </a:r>
          </a:p>
          <a:p>
            <a:pPr marL="342900" indent="-342900" eaLnBrk="1" latinLnBrk="0" hangingPunct="1">
              <a:lnSpc>
                <a:spcPct val="125000"/>
              </a:lnSpc>
              <a:spcBef>
                <a:spcPts val="0"/>
              </a:spcBef>
              <a:buClr>
                <a:schemeClr val="folHlink"/>
              </a:buClr>
              <a:buSzPct val="60000"/>
              <a:buFont typeface="Wingdings" panose="05000000000000000000" pitchFamily="2" charset="2"/>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AS &lt;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子查询</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&gt;</a:t>
            </a:r>
          </a:p>
          <a:p>
            <a:pPr marL="342900" indent="-342900" eaLnBrk="1" latinLnBrk="0" hangingPunct="1">
              <a:lnSpc>
                <a:spcPct val="125000"/>
              </a:lnSpc>
              <a:spcBef>
                <a:spcPts val="0"/>
              </a:spcBef>
              <a:buClr>
                <a:schemeClr val="folHlink"/>
              </a:buClr>
              <a:buSzPct val="60000"/>
              <a:buFont typeface="Wingdings" panose="05000000000000000000" pitchFamily="2" charset="2"/>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WITH CHECK OPTION];</a:t>
            </a:r>
          </a:p>
        </p:txBody>
      </p:sp>
      <p:sp>
        <p:nvSpPr>
          <p:cNvPr id="162820" name="Rectangle 5"/>
          <p:cNvSpPr>
            <a:spLocks noGrp="1"/>
          </p:cNvSpPr>
          <p:nvPr/>
        </p:nvSpPr>
        <p:spPr>
          <a:xfrm>
            <a:off x="499745" y="839470"/>
            <a:ext cx="8382000" cy="6858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rgbClr val="FFFF66"/>
              </a:buClr>
              <a:buNone/>
            </a:pPr>
            <a:r>
              <a:rPr lang="en-US" altLang="zh-CN"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定义视图</a:t>
            </a:r>
          </a:p>
        </p:txBody>
      </p:sp>
      <p:sp>
        <p:nvSpPr>
          <p:cNvPr id="334854" name="Text Box 6"/>
          <p:cNvSpPr txBox="1"/>
          <p:nvPr/>
        </p:nvSpPr>
        <p:spPr>
          <a:xfrm>
            <a:off x="487045" y="3576320"/>
            <a:ext cx="11217275" cy="2861310"/>
          </a:xfrm>
          <a:prstGeom prst="rect">
            <a:avLst/>
          </a:prstGeom>
          <a:noFill/>
          <a:ln w="22225">
            <a:noFill/>
          </a:ln>
        </p:spPr>
        <p:txBody>
          <a:bodyPr wrap="square" anchor="t" anchorCtr="0">
            <a:spAutoFit/>
          </a:bodyPr>
          <a:lstStyle/>
          <a:p>
            <a:pPr eaLnBrk="1" latinLnBrk="0" hangingPunct="1">
              <a:lnSpc>
                <a:spcPct val="125000"/>
              </a:lnSpc>
              <a:spcBef>
                <a:spcPts val="0"/>
              </a:spcBef>
              <a:buClr>
                <a:schemeClr val="accent1"/>
              </a:buClr>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注：视图是用一个查询块的结果定义的，但子查询中通常不允许含有</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Order by</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子句和</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Distinct</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短语。</a:t>
            </a:r>
          </a:p>
          <a:p>
            <a:pPr algn="l" eaLnBrk="1" latinLnBrk="0" hangingPunct="1">
              <a:lnSpc>
                <a:spcPct val="125000"/>
              </a:lnSpc>
              <a:spcBef>
                <a:spcPts val="0"/>
              </a:spcBef>
              <a:buClr>
                <a:schemeClr val="accent1"/>
              </a:buClr>
              <a:buSzTx/>
              <a:buFontTx/>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sym typeface="+mn-ea"/>
              </a:rPr>
              <a:t>WITH CHECK OPTION表示用视图进行UPDATE、INSERT和DELETE操作时要保证更新、插入或删除的元组满足视图定义中的谓词条件（即子查询中的条件表达式）。</a:t>
            </a:r>
            <a:endParaRPr lang="zh-CN" altLang="en-US" sz="2400" kern="12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Clr>
                <a:schemeClr val="accent1"/>
              </a:buClr>
            </a:pPr>
            <a:endPar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4854"/>
                                        </p:tgtEl>
                                        <p:attrNameLst>
                                          <p:attrName>style.visibility</p:attrName>
                                        </p:attrNameLst>
                                      </p:cBhvr>
                                      <p:to>
                                        <p:strVal val="visible"/>
                                      </p:to>
                                    </p:set>
                                    <p:animEffect transition="in" filter="blinds(horizontal)">
                                      <p:cBhvr>
                                        <p:cTn id="7" dur="500"/>
                                        <p:tgtEl>
                                          <p:spTgt spid="334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4" grpId="0"/>
      <p:bldP spid="33485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3842" name="Rectangle 3"/>
          <p:cNvSpPr>
            <a:spLocks noGrp="1"/>
          </p:cNvSpPr>
          <p:nvPr/>
        </p:nvSpPr>
        <p:spPr>
          <a:xfrm>
            <a:off x="400050" y="1143000"/>
            <a:ext cx="7905750" cy="6096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chemeClr val="hlink"/>
              </a:buClr>
            </a:pPr>
            <a:r>
              <a:rPr lang="zh-CN" altLang="en-US" sz="2400" dirty="0">
                <a:solidFill>
                  <a:srgbClr val="000066"/>
                </a:solidFill>
                <a:latin typeface="微软雅黑" panose="020B0503020204020204" pitchFamily="34" charset="-122"/>
                <a:ea typeface="微软雅黑" panose="020B0503020204020204" pitchFamily="34" charset="-122"/>
              </a:rPr>
              <a:t>组成视图的属性列名：</a:t>
            </a:r>
          </a:p>
        </p:txBody>
      </p:sp>
      <p:sp>
        <p:nvSpPr>
          <p:cNvPr id="335876" name="Rectangle 4"/>
          <p:cNvSpPr/>
          <p:nvPr/>
        </p:nvSpPr>
        <p:spPr>
          <a:xfrm>
            <a:off x="848995" y="1752600"/>
            <a:ext cx="8604250" cy="990600"/>
          </a:xfrm>
          <a:prstGeom prst="rect">
            <a:avLst/>
          </a:prstGeom>
          <a:noFill/>
          <a:ln w="9525">
            <a:noFill/>
          </a:ln>
        </p:spPr>
        <p:txBody>
          <a:bodyPr anchor="t" anchorCtr="0"/>
          <a:lstStyle/>
          <a:p>
            <a:pPr marL="342900" indent="-342900" eaLnBrk="1" latinLnBrk="0" hangingPunct="1">
              <a:lnSpc>
                <a:spcPct val="125000"/>
              </a:lnSpc>
              <a:spcBef>
                <a:spcPts val="0"/>
              </a:spcBef>
              <a:buClr>
                <a:schemeClr val="hlink"/>
              </a:buClr>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全部省略：</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由子查询中</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SELECT</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目标列中的各个字段组成。</a:t>
            </a:r>
          </a:p>
        </p:txBody>
      </p:sp>
      <p:sp>
        <p:nvSpPr>
          <p:cNvPr id="335877" name="Rectangle 5"/>
          <p:cNvSpPr/>
          <p:nvPr/>
        </p:nvSpPr>
        <p:spPr>
          <a:xfrm>
            <a:off x="926783" y="2355850"/>
            <a:ext cx="8526462" cy="1938020"/>
          </a:xfrm>
          <a:prstGeom prst="rect">
            <a:avLst/>
          </a:prstGeom>
          <a:noFill/>
          <a:ln w="22225">
            <a:noFill/>
          </a:ln>
        </p:spPr>
        <p:txBody>
          <a:bodyPr anchor="t" anchorCtr="0">
            <a:spAutoFit/>
          </a:bodyPr>
          <a:lstStyle/>
          <a:p>
            <a:pPr eaLnBrk="1" latinLnBrk="0" hangingPunct="1">
              <a:lnSpc>
                <a:spcPct val="125000"/>
              </a:lnSpc>
              <a:spcBef>
                <a:spcPts val="0"/>
              </a:spcBef>
            </a:pP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全部指定：</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以下情况必须明确指定视图的所有列名</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25000"/>
              </a:lnSpc>
              <a:spcBef>
                <a:spcPts val="0"/>
              </a:spcBef>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(1)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某个目标列是集函数或列表达式；</a:t>
            </a:r>
          </a:p>
          <a:p>
            <a:pPr eaLnBrk="1" latinLnBrk="0" hangingPunct="1">
              <a:lnSpc>
                <a:spcPct val="125000"/>
              </a:lnSpc>
              <a:spcBef>
                <a:spcPts val="0"/>
              </a:spcBef>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多表连接时选出了几个同名列作为视图的属性名；</a:t>
            </a:r>
          </a:p>
          <a:p>
            <a:pPr eaLnBrk="1" latinLnBrk="0" hangingPunct="1">
              <a:lnSpc>
                <a:spcPct val="125000"/>
              </a:lnSpc>
              <a:spcBef>
                <a:spcPts val="0"/>
              </a:spcBef>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需要在视图中为某个列启用新的更合适的名字。</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35876"/>
                                        </p:tgtEl>
                                        <p:attrNameLst>
                                          <p:attrName>style.visibility</p:attrName>
                                        </p:attrNameLst>
                                      </p:cBhvr>
                                      <p:to>
                                        <p:strVal val="visible"/>
                                      </p:to>
                                    </p:set>
                                    <p:animEffect transition="in" filter="box(in)">
                                      <p:cBhvr>
                                        <p:cTn id="7" dur="500"/>
                                        <p:tgtEl>
                                          <p:spTgt spid="33587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35877"/>
                                        </p:tgtEl>
                                        <p:attrNameLst>
                                          <p:attrName>style.visibility</p:attrName>
                                        </p:attrNameLst>
                                      </p:cBhvr>
                                      <p:to>
                                        <p:strVal val="visible"/>
                                      </p:to>
                                    </p:set>
                                    <p:animEffect transition="in" filter="box(in)">
                                      <p:cBhvr>
                                        <p:cTn id="12" dur="500"/>
                                        <p:tgtEl>
                                          <p:spTgt spid="335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6" grpId="0"/>
      <p:bldP spid="33587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36899" name="Rectangle 3"/>
          <p:cNvSpPr/>
          <p:nvPr/>
        </p:nvSpPr>
        <p:spPr>
          <a:xfrm>
            <a:off x="323850" y="2636838"/>
            <a:ext cx="8820150" cy="60960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3.75】</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建立供电局</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仓库所存放物资的视图。</a:t>
            </a:r>
          </a:p>
        </p:txBody>
      </p:sp>
      <p:sp>
        <p:nvSpPr>
          <p:cNvPr id="336900" name="Rectangle 4"/>
          <p:cNvSpPr/>
          <p:nvPr/>
        </p:nvSpPr>
        <p:spPr>
          <a:xfrm>
            <a:off x="868045" y="3268980"/>
            <a:ext cx="8534400" cy="96012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VIEW s1_stock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164868" name="Rectangle 5"/>
          <p:cNvSpPr/>
          <p:nvPr/>
        </p:nvSpPr>
        <p:spPr>
          <a:xfrm>
            <a:off x="0" y="1600200"/>
            <a:ext cx="11881485" cy="1014730"/>
          </a:xfrm>
          <a:prstGeom prst="rect">
            <a:avLst/>
          </a:prstGeom>
          <a:noFill/>
          <a:ln w="22225">
            <a:noFill/>
          </a:ln>
        </p:spPr>
        <p:txBody>
          <a:bodyPr wrap="square" anchor="t" anchorCtr="0">
            <a:spAutoFit/>
          </a:bodyPr>
          <a:lstStyle/>
          <a:p>
            <a:pPr marL="914400" lvl="1" indent="-45720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行列子集视图：</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从单个基本表导出的，只是去掉了基本表的某些行和某些列，但保留了码的视图。</a:t>
            </a:r>
          </a:p>
        </p:txBody>
      </p:sp>
      <p:sp>
        <p:nvSpPr>
          <p:cNvPr id="164869" name="Rectangle 6"/>
          <p:cNvSpPr>
            <a:spLocks noGrp="1"/>
          </p:cNvSpPr>
          <p:nvPr/>
        </p:nvSpPr>
        <p:spPr>
          <a:xfrm>
            <a:off x="381000" y="990600"/>
            <a:ext cx="7772400" cy="6096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rgbClr val="FFFF66"/>
              </a:buClr>
            </a:pPr>
            <a:r>
              <a:rPr lang="zh-CN" altLang="en-US" sz="2400" dirty="0">
                <a:solidFill>
                  <a:srgbClr val="669900"/>
                </a:solidFill>
                <a:latin typeface="微软雅黑" panose="020B0503020204020204" pitchFamily="34" charset="-122"/>
                <a:ea typeface="微软雅黑" panose="020B0503020204020204" pitchFamily="34" charset="-122"/>
              </a:rPr>
              <a:t>建立在单个基本表上的视图</a:t>
            </a:r>
          </a:p>
        </p:txBody>
      </p:sp>
      <p:sp>
        <p:nvSpPr>
          <p:cNvPr id="2" name="Rectangle 4"/>
          <p:cNvSpPr/>
          <p:nvPr/>
        </p:nvSpPr>
        <p:spPr>
          <a:xfrm>
            <a:off x="1233170" y="4211320"/>
            <a:ext cx="8534400" cy="157099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SELECT mat_num,mat_name,speci,amount,unit</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FROM 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WHERE warehouse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供电局</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仓库</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36899"/>
                                        </p:tgtEl>
                                        <p:attrNameLst>
                                          <p:attrName>style.visibility</p:attrName>
                                        </p:attrNameLst>
                                      </p:cBhvr>
                                      <p:to>
                                        <p:strVal val="visible"/>
                                      </p:to>
                                    </p:set>
                                    <p:anim calcmode="lin" valueType="num">
                                      <p:cBhvr>
                                        <p:cTn id="7" dur="500" fill="hold"/>
                                        <p:tgtEl>
                                          <p:spTgt spid="336899"/>
                                        </p:tgtEl>
                                        <p:attrNameLst>
                                          <p:attrName>ppt_w</p:attrName>
                                        </p:attrNameLst>
                                      </p:cBhvr>
                                      <p:tavLst>
                                        <p:tav tm="0">
                                          <p:val>
                                            <p:fltVal val="0"/>
                                          </p:val>
                                        </p:tav>
                                        <p:tav tm="100000">
                                          <p:val>
                                            <p:strVal val="#ppt_w"/>
                                          </p:val>
                                        </p:tav>
                                      </p:tavLst>
                                    </p:anim>
                                    <p:anim calcmode="lin" valueType="num">
                                      <p:cBhvr>
                                        <p:cTn id="8" dur="500" fill="hold"/>
                                        <p:tgtEl>
                                          <p:spTgt spid="33689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36900"/>
                                        </p:tgtEl>
                                        <p:attrNameLst>
                                          <p:attrName>style.visibility</p:attrName>
                                        </p:attrNameLst>
                                      </p:cBhvr>
                                      <p:to>
                                        <p:strVal val="visible"/>
                                      </p:to>
                                    </p:set>
                                    <p:animEffect transition="in" filter="blinds(horizontal)">
                                      <p:cBhvr>
                                        <p:cTn id="13" dur="500"/>
                                        <p:tgtEl>
                                          <p:spTgt spid="33690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64869"/>
                                        </p:tgtEl>
                                        <p:attrNameLst>
                                          <p:attrName>style.visibility</p:attrName>
                                        </p:attrNameLst>
                                      </p:cBhvr>
                                      <p:to>
                                        <p:strVal val="visible"/>
                                      </p:to>
                                    </p:set>
                                    <p:animEffect transition="in" filter="blinds(horizontal)">
                                      <p:cBhvr>
                                        <p:cTn id="23" dur="500"/>
                                        <p:tgtEl>
                                          <p:spTgt spid="164869"/>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64868"/>
                                        </p:tgtEl>
                                        <p:attrNameLst>
                                          <p:attrName>style.visibility</p:attrName>
                                        </p:attrNameLst>
                                      </p:cBhvr>
                                      <p:to>
                                        <p:strVal val="visible"/>
                                      </p:to>
                                    </p:set>
                                    <p:animEffect transition="in" filter="blinds(horizontal)">
                                      <p:cBhvr>
                                        <p:cTn id="26" dur="500"/>
                                        <p:tgtEl>
                                          <p:spTgt spid="164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9" grpId="0"/>
      <p:bldP spid="336900" grpId="0"/>
      <p:bldP spid="336900" grpId="1"/>
      <p:bldP spid="164868" grpId="0"/>
      <p:bldP spid="164868" grpId="1"/>
      <p:bldP spid="164869" grpId="0"/>
      <p:bldP spid="164869" grpId="1"/>
      <p:bldP spid="2" grpId="0"/>
      <p:bldP spid="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6914" name="Text Box 4"/>
          <p:cNvSpPr txBox="1"/>
          <p:nvPr/>
        </p:nvSpPr>
        <p:spPr>
          <a:xfrm>
            <a:off x="539750" y="836930"/>
            <a:ext cx="11172825" cy="1476375"/>
          </a:xfrm>
          <a:prstGeom prst="rect">
            <a:avLst/>
          </a:prstGeom>
          <a:noFill/>
          <a:ln w="22225">
            <a:noFill/>
          </a:ln>
        </p:spPr>
        <p:txBody>
          <a:bodyPr wrap="square" anchor="t" anchorCtr="0">
            <a:spAutoFit/>
          </a:bodyPr>
          <a:lstStyle/>
          <a:p>
            <a:pPr eaLnBrk="1" latinLnBrk="0" hangingPunct="1">
              <a:lnSpc>
                <a:spcPct val="125000"/>
              </a:lnSpc>
              <a:spcBef>
                <a:spcPts val="0"/>
              </a:spcBef>
              <a:buClr>
                <a:schemeClr val="accent1"/>
              </a:buCl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DBMS</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执行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CREATE VIEW</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语句时只是把视图的定义存入数据字典，并不执行其中的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SELECT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语句。只是在对视图进行查询时，才按视图的定义从基本表中将数据查出。</a:t>
            </a:r>
          </a:p>
        </p:txBody>
      </p:sp>
      <p:sp>
        <p:nvSpPr>
          <p:cNvPr id="3" name="矩形 2"/>
          <p:cNvSpPr/>
          <p:nvPr/>
        </p:nvSpPr>
        <p:spPr>
          <a:xfrm>
            <a:off x="915670" y="2313305"/>
            <a:ext cx="5208905" cy="553085"/>
          </a:xfrm>
          <a:prstGeom prst="rect">
            <a:avLst/>
          </a:prstGeom>
          <a:noFill/>
          <a:ln w="9525">
            <a:noFill/>
          </a:ln>
        </p:spPr>
        <p:txBody>
          <a:bodyPr wrap="square" anchor="t" anchorCtr="0">
            <a:spAutoFit/>
          </a:bodyPr>
          <a:lstStyle/>
          <a:p>
            <a:pPr eaLnBrk="1" latinLnBrk="0" hangingPunct="1">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rPr>
              <a:t>SELECT * FROM s1_stock</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619" y="3595370"/>
            <a:ext cx="549544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38948" name="Rectangle 4"/>
          <p:cNvSpPr/>
          <p:nvPr/>
        </p:nvSpPr>
        <p:spPr>
          <a:xfrm>
            <a:off x="0" y="906780"/>
            <a:ext cx="11838940" cy="60960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3.76】</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建立供电局</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仓库所存放物资的视图，并要求进行修改和插入操作时仍需保证该视图只有供电局</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仓库所存放的物资。</a:t>
            </a:r>
          </a:p>
        </p:txBody>
      </p:sp>
      <p:sp>
        <p:nvSpPr>
          <p:cNvPr id="338949" name="Rectangle 5"/>
          <p:cNvSpPr/>
          <p:nvPr/>
        </p:nvSpPr>
        <p:spPr>
          <a:xfrm>
            <a:off x="441960" y="1903095"/>
            <a:ext cx="11308715" cy="3240405"/>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VIEW s2_stock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SELECT mat_num,mat_name,speci,amount,unit</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FROM 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WHERE warehouse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供电局</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仓库</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eaLnBrk="1" latinLnBrk="0" hangingPunct="1">
              <a:lnSpc>
                <a:spcPct val="125000"/>
              </a:lnSpc>
              <a:spcBef>
                <a:spcPts val="0"/>
              </a:spcBef>
            </a:pP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WITH CHECK OPTION </a:t>
            </a:r>
          </a:p>
        </p:txBody>
      </p:sp>
      <p:sp>
        <p:nvSpPr>
          <p:cNvPr id="5" name="Rectangle 3"/>
          <p:cNvSpPr txBox="1"/>
          <p:nvPr/>
        </p:nvSpPr>
        <p:spPr>
          <a:xfrm>
            <a:off x="441960" y="4993005"/>
            <a:ext cx="11166475" cy="1386205"/>
          </a:xfrm>
          <a:prstGeom prst="rect">
            <a:avLst/>
          </a:prstGeom>
          <a:noFill/>
          <a:ln w="9525">
            <a:noFill/>
          </a:ln>
        </p:spPr>
        <p:txBody>
          <a:bodyPr anchor="t" anchorCtr="0"/>
          <a:lstStyle/>
          <a:p>
            <a:pPr eaLnBrk="1" latinLnBrk="0" hangingPunct="1">
              <a:lnSpc>
                <a:spcPct val="125000"/>
              </a:lnSpc>
              <a:spcBef>
                <a:spcPts val="0"/>
              </a:spcBef>
              <a:buClr>
                <a:srgbClr val="FFFF66"/>
              </a:buClr>
            </a:pP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注意：</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以后对该视图进行插入、修改和删除操作时，DBMS会自动检查或加上warehouse ='供电局1#仓库'的条件</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8949"/>
                                        </p:tgtEl>
                                        <p:attrNameLst>
                                          <p:attrName>style.visibility</p:attrName>
                                        </p:attrNameLst>
                                      </p:cBhvr>
                                      <p:to>
                                        <p:strVal val="visible"/>
                                      </p:to>
                                    </p:set>
                                    <p:animEffect transition="in" filter="blinds(horizontal)">
                                      <p:cBhvr>
                                        <p:cTn id="7" dur="500"/>
                                        <p:tgtEl>
                                          <p:spTgt spid="3389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9" grpId="0"/>
      <p:bldP spid="338949" grpId="1"/>
      <p:bldP spid="5" grpId="0"/>
      <p:bldP spid="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9986" name="Rectangle 3"/>
          <p:cNvSpPr>
            <a:spLocks noGrp="1"/>
          </p:cNvSpPr>
          <p:nvPr/>
        </p:nvSpPr>
        <p:spPr>
          <a:xfrm>
            <a:off x="582930" y="841375"/>
            <a:ext cx="9548495" cy="6096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rgbClr val="FFFF66"/>
              </a:buClr>
            </a:pPr>
            <a:r>
              <a:rPr lang="zh-CN" altLang="en-US" sz="2400" dirty="0">
                <a:solidFill>
                  <a:srgbClr val="669900"/>
                </a:solidFill>
                <a:latin typeface="微软雅黑" panose="020B0503020204020204" pitchFamily="34" charset="-122"/>
                <a:ea typeface="微软雅黑" panose="020B0503020204020204" pitchFamily="34" charset="-122"/>
              </a:rPr>
              <a:t>建立在多个基本表上的视图</a:t>
            </a:r>
          </a:p>
        </p:txBody>
      </p:sp>
      <p:sp>
        <p:nvSpPr>
          <p:cNvPr id="339972" name="Rectangle 4"/>
          <p:cNvSpPr/>
          <p:nvPr/>
        </p:nvSpPr>
        <p:spPr>
          <a:xfrm>
            <a:off x="245745" y="1375410"/>
            <a:ext cx="11526520" cy="116967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3.77】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建立由抢修工程项目名称（</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prj_name</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）、出库物资名称（</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mat_name</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）、规格（</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speci</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）及领取数量（</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amount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）的视图。</a:t>
            </a:r>
          </a:p>
        </p:txBody>
      </p:sp>
      <p:sp>
        <p:nvSpPr>
          <p:cNvPr id="339973" name="Rectangle 5"/>
          <p:cNvSpPr/>
          <p:nvPr/>
        </p:nvSpPr>
        <p:spPr>
          <a:xfrm>
            <a:off x="678180" y="2445385"/>
            <a:ext cx="10661650" cy="1010285"/>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CREATE VIEW s1_outstock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AS</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a:t>
            </a:r>
          </a:p>
        </p:txBody>
      </p:sp>
      <p:sp>
        <p:nvSpPr>
          <p:cNvPr id="2" name="Rectangle 5"/>
          <p:cNvSpPr/>
          <p:nvPr/>
        </p:nvSpPr>
        <p:spPr>
          <a:xfrm>
            <a:off x="878205" y="3256915"/>
            <a:ext cx="10661650" cy="2113915"/>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SELECT prj_name, mat_name,speci, out_stock.amount</a:t>
            </a:r>
          </a:p>
          <a:p>
            <a:pPr marL="342900" indent="-342900">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FROM Stock inner join  </a:t>
            </a:r>
            <a:r>
              <a:rPr lang="en-US" altLang="zh-CN" sz="2400" dirty="0" err="1">
                <a:solidFill>
                  <a:srgbClr val="FF3300"/>
                </a:solidFill>
                <a:latin typeface="微软雅黑" panose="020B0503020204020204" pitchFamily="34" charset="-122"/>
                <a:ea typeface="微软雅黑" panose="020B0503020204020204" pitchFamily="34" charset="-122"/>
              </a:rPr>
              <a:t>Out_stock</a:t>
            </a:r>
            <a:endParaRPr lang="en-US" altLang="zh-CN" sz="2400" dirty="0">
              <a:solidFill>
                <a:srgbClr val="FF3300"/>
              </a:solidFill>
              <a:latin typeface="微软雅黑" panose="020B0503020204020204" pitchFamily="34" charset="-122"/>
              <a:ea typeface="微软雅黑" panose="020B0503020204020204" pitchFamily="34" charset="-122"/>
            </a:endParaRPr>
          </a:p>
          <a:p>
            <a:pPr marL="342900" indent="-342900">
              <a:lnSpc>
                <a:spcPct val="125000"/>
              </a:lnSpc>
              <a:spcBef>
                <a:spcPts val="0"/>
              </a:spcBef>
            </a:pPr>
            <a:r>
              <a:rPr lang="en-US" altLang="zh-CN" sz="2400">
                <a:solidFill>
                  <a:srgbClr val="FF3300"/>
                </a:solidFill>
                <a:latin typeface="微软雅黑" panose="020B0503020204020204" pitchFamily="34" charset="-122"/>
                <a:ea typeface="微软雅黑" panose="020B0503020204020204" pitchFamily="34" charset="-122"/>
              </a:rPr>
              <a:t>      on </a:t>
            </a:r>
            <a:r>
              <a:rPr lang="en-US" altLang="zh-CN" sz="2400" dirty="0" err="1">
                <a:solidFill>
                  <a:srgbClr val="FF3300"/>
                </a:solidFill>
                <a:latin typeface="微软雅黑" panose="020B0503020204020204" pitchFamily="34" charset="-122"/>
                <a:ea typeface="微软雅黑" panose="020B0503020204020204" pitchFamily="34" charset="-122"/>
              </a:rPr>
              <a:t>Stock.mat_num</a:t>
            </a:r>
            <a:r>
              <a:rPr lang="en-US" altLang="zh-CN" sz="2400" dirty="0">
                <a:solidFill>
                  <a:srgbClr val="FF3300"/>
                </a:solidFill>
                <a:latin typeface="微软雅黑" panose="020B0503020204020204" pitchFamily="34" charset="-122"/>
                <a:ea typeface="微软雅黑" panose="020B0503020204020204" pitchFamily="34" charset="-122"/>
              </a:rPr>
              <a:t> = </a:t>
            </a:r>
            <a:r>
              <a:rPr lang="en-US" altLang="zh-CN" sz="2400" dirty="0" err="1">
                <a:solidFill>
                  <a:srgbClr val="FF3300"/>
                </a:solidFill>
                <a:latin typeface="微软雅黑" panose="020B0503020204020204" pitchFamily="34" charset="-122"/>
                <a:ea typeface="微软雅黑" panose="020B0503020204020204" pitchFamily="34" charset="-122"/>
              </a:rPr>
              <a:t>Out_stock.mat_num</a:t>
            </a:r>
            <a:r>
              <a:rPr lang="en-US" altLang="zh-CN" sz="2400" dirty="0">
                <a:solidFill>
                  <a:srgbClr val="FF3300"/>
                </a:solidFill>
                <a:latin typeface="微软雅黑" panose="020B0503020204020204" pitchFamily="34" charset="-122"/>
                <a:ea typeface="微软雅黑" panose="020B0503020204020204" pitchFamily="34" charset="-122"/>
              </a:rPr>
              <a:t> </a:t>
            </a:r>
          </a:p>
          <a:p>
            <a:pPr marL="342900" indent="-342900">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inner join Salvaging </a:t>
            </a:r>
          </a:p>
          <a:p>
            <a:pPr marL="342900" indent="-342900">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on </a:t>
            </a:r>
            <a:r>
              <a:rPr lang="en-US" altLang="zh-CN" sz="2400" dirty="0" err="1">
                <a:solidFill>
                  <a:srgbClr val="FF3300"/>
                </a:solidFill>
                <a:latin typeface="微软雅黑" panose="020B0503020204020204" pitchFamily="34" charset="-122"/>
                <a:ea typeface="微软雅黑" panose="020B0503020204020204" pitchFamily="34" charset="-122"/>
              </a:rPr>
              <a:t>Salvaging.prj_num</a:t>
            </a:r>
            <a:r>
              <a:rPr lang="en-US" altLang="zh-CN" sz="2400" dirty="0">
                <a:solidFill>
                  <a:srgbClr val="FF3300"/>
                </a:solidFill>
                <a:latin typeface="微软雅黑" panose="020B0503020204020204" pitchFamily="34" charset="-122"/>
                <a:ea typeface="微软雅黑" panose="020B0503020204020204" pitchFamily="34" charset="-122"/>
              </a:rPr>
              <a:t> = Out_stock.prj_num;</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9973"/>
                                        </p:tgtEl>
                                        <p:attrNameLst>
                                          <p:attrName>style.visibility</p:attrName>
                                        </p:attrNameLst>
                                      </p:cBhvr>
                                      <p:to>
                                        <p:strVal val="visible"/>
                                      </p:to>
                                    </p:set>
                                    <p:animEffect transition="in" filter="blinds(horizontal)">
                                      <p:cBhvr>
                                        <p:cTn id="7" dur="500"/>
                                        <p:tgtEl>
                                          <p:spTgt spid="33997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3" grpId="0"/>
      <p:bldP spid="339973" grpId="1"/>
      <p:bldP spid="2" grpId="0"/>
      <p:bldP spid="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1010" name="Rectangle 3"/>
          <p:cNvSpPr>
            <a:spLocks noGrp="1"/>
          </p:cNvSpPr>
          <p:nvPr/>
        </p:nvSpPr>
        <p:spPr>
          <a:xfrm>
            <a:off x="533400" y="914400"/>
            <a:ext cx="10166985" cy="6096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rgbClr val="FFFF66"/>
              </a:buClr>
            </a:pPr>
            <a:r>
              <a:rPr lang="zh-CN" altLang="en-US" sz="2400" dirty="0">
                <a:solidFill>
                  <a:srgbClr val="669900"/>
                </a:solidFill>
                <a:latin typeface="微软雅黑" panose="020B0503020204020204" pitchFamily="34" charset="-122"/>
                <a:ea typeface="微软雅黑" panose="020B0503020204020204" pitchFamily="34" charset="-122"/>
              </a:rPr>
              <a:t>基于视图的视图</a:t>
            </a:r>
          </a:p>
        </p:txBody>
      </p:sp>
      <p:sp>
        <p:nvSpPr>
          <p:cNvPr id="340996" name="Rectangle 4"/>
          <p:cNvSpPr/>
          <p:nvPr/>
        </p:nvSpPr>
        <p:spPr>
          <a:xfrm>
            <a:off x="395605" y="1621155"/>
            <a:ext cx="10664825" cy="83820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3.78】</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建立供电局</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仓库所存放物资库存数量不少于</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50</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的视图。</a:t>
            </a:r>
          </a:p>
        </p:txBody>
      </p:sp>
      <p:sp>
        <p:nvSpPr>
          <p:cNvPr id="340997" name="Rectangle 5"/>
          <p:cNvSpPr/>
          <p:nvPr/>
        </p:nvSpPr>
        <p:spPr>
          <a:xfrm>
            <a:off x="713740" y="2371725"/>
            <a:ext cx="6652260" cy="1109345"/>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CREATE VIEW s3_stock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AS</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a:t>
            </a:r>
          </a:p>
        </p:txBody>
      </p:sp>
      <p:sp>
        <p:nvSpPr>
          <p:cNvPr id="2" name="Rectangle 5"/>
          <p:cNvSpPr/>
          <p:nvPr/>
        </p:nvSpPr>
        <p:spPr>
          <a:xfrm>
            <a:off x="965835" y="3291840"/>
            <a:ext cx="7705090" cy="1736725"/>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SELECT mat_num,mat_name,speci,amount</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FROM s1_stock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WHERE amount&gt;=50;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0997"/>
                                        </p:tgtEl>
                                        <p:attrNameLst>
                                          <p:attrName>style.visibility</p:attrName>
                                        </p:attrNameLst>
                                      </p:cBhvr>
                                      <p:to>
                                        <p:strVal val="visible"/>
                                      </p:to>
                                    </p:set>
                                    <p:animEffect transition="in" filter="blinds(horizontal)">
                                      <p:cBhvr>
                                        <p:cTn id="7" dur="500"/>
                                        <p:tgtEl>
                                          <p:spTgt spid="34099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1010"/>
                                        </p:tgtEl>
                                        <p:attrNameLst>
                                          <p:attrName>style.visibility</p:attrName>
                                        </p:attrNameLst>
                                      </p:cBhvr>
                                      <p:to>
                                        <p:strVal val="visible"/>
                                      </p:to>
                                    </p:set>
                                    <p:animEffect transition="in" filter="blinds(horizontal)">
                                      <p:cBhvr>
                                        <p:cTn id="17" dur="500"/>
                                        <p:tgtEl>
                                          <p:spTgt spid="171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p:bldP spid="171010" grpId="1"/>
      <p:bldP spid="340997" grpId="0"/>
      <p:bldP spid="340997" grpId="1"/>
      <p:bldP spid="2" grpId="0"/>
      <p:bldP spid="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2034" name="Rectangle 3"/>
          <p:cNvSpPr>
            <a:spLocks noGrp="1"/>
          </p:cNvSpPr>
          <p:nvPr/>
        </p:nvSpPr>
        <p:spPr>
          <a:xfrm>
            <a:off x="533400" y="678815"/>
            <a:ext cx="7772400" cy="6096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rgbClr val="FFFF66"/>
              </a:buClr>
            </a:pPr>
            <a:r>
              <a:rPr lang="zh-CN" altLang="en-US" sz="2400" dirty="0">
                <a:solidFill>
                  <a:srgbClr val="669900"/>
                </a:solidFill>
                <a:latin typeface="微软雅黑" panose="020B0503020204020204" pitchFamily="34" charset="-122"/>
                <a:ea typeface="微软雅黑" panose="020B0503020204020204" pitchFamily="34" charset="-122"/>
              </a:rPr>
              <a:t>带表达式的视图</a:t>
            </a:r>
          </a:p>
        </p:txBody>
      </p:sp>
      <p:sp>
        <p:nvSpPr>
          <p:cNvPr id="342020" name="Rectangle 4"/>
          <p:cNvSpPr/>
          <p:nvPr/>
        </p:nvSpPr>
        <p:spPr>
          <a:xfrm>
            <a:off x="533400" y="1742440"/>
            <a:ext cx="8153400" cy="83820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3.79】</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建立一个体现抢修工程项目实际抢修天数的视图。</a:t>
            </a:r>
          </a:p>
        </p:txBody>
      </p:sp>
      <p:sp>
        <p:nvSpPr>
          <p:cNvPr id="342021" name="Rectangle 5"/>
          <p:cNvSpPr/>
          <p:nvPr/>
        </p:nvSpPr>
        <p:spPr>
          <a:xfrm>
            <a:off x="533400" y="2437765"/>
            <a:ext cx="11560175" cy="114554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CREATE VIEW s1_salvaging</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AS</a:t>
            </a:r>
          </a:p>
          <a:p>
            <a:pPr marL="342900" indent="-342900" eaLnBrk="1" latinLnBrk="0" hangingPunct="1">
              <a:lnSpc>
                <a:spcPct val="125000"/>
              </a:lnSpc>
              <a:spcBef>
                <a:spcPts val="0"/>
              </a:spcBef>
            </a:pPr>
            <a:endParaRPr lang="en-US" altLang="zh-CN" sz="2400" dirty="0">
              <a:solidFill>
                <a:srgbClr val="FF3300"/>
              </a:solidFill>
              <a:latin typeface="微软雅黑" panose="020B0503020204020204" pitchFamily="34" charset="-122"/>
              <a:ea typeface="微软雅黑" panose="020B0503020204020204" pitchFamily="34" charset="-122"/>
            </a:endParaRPr>
          </a:p>
        </p:txBody>
      </p:sp>
      <p:sp>
        <p:nvSpPr>
          <p:cNvPr id="172037" name="Rectangle 6"/>
          <p:cNvSpPr/>
          <p:nvPr/>
        </p:nvSpPr>
        <p:spPr>
          <a:xfrm>
            <a:off x="0" y="1212215"/>
            <a:ext cx="8915400" cy="553085"/>
          </a:xfrm>
          <a:prstGeom prst="rect">
            <a:avLst/>
          </a:prstGeom>
          <a:noFill/>
          <a:ln w="22225">
            <a:noFill/>
          </a:ln>
        </p:spPr>
        <p:txBody>
          <a:bodyPr anchor="t" anchorCtr="0">
            <a:spAutoFit/>
          </a:bodyPr>
          <a:lstStyle/>
          <a:p>
            <a:pPr marL="914400" lvl="1" indent="-45720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rgbClr val="000066"/>
                </a:solidFill>
                <a:latin typeface="微软雅黑" panose="020B0503020204020204" pitchFamily="34" charset="-122"/>
                <a:ea typeface="微软雅黑" panose="020B0503020204020204" pitchFamily="34" charset="-122"/>
              </a:rPr>
              <a:t>－带虚拟列（基本表上并不实际存在的列）的视图。</a:t>
            </a:r>
          </a:p>
        </p:txBody>
      </p:sp>
      <p:sp>
        <p:nvSpPr>
          <p:cNvPr id="7" name="矩形 6"/>
          <p:cNvSpPr/>
          <p:nvPr/>
        </p:nvSpPr>
        <p:spPr>
          <a:xfrm>
            <a:off x="533400" y="4816475"/>
            <a:ext cx="11544935" cy="1014730"/>
          </a:xfrm>
          <a:prstGeom prst="rect">
            <a:avLst/>
          </a:prstGeom>
          <a:noFill/>
          <a:ln w="9525">
            <a:noFill/>
          </a:ln>
        </p:spPr>
        <p:txBody>
          <a:bodyPr wrap="square" anchor="t" anchorCtr="0">
            <a:spAutoFit/>
          </a:bodyPr>
          <a:lstStyle/>
          <a:p>
            <a:pPr eaLnBrk="1" latinLnBrk="0" hangingPunct="1">
              <a:lnSpc>
                <a:spcPct val="125000"/>
              </a:lnSpc>
              <a:spcBef>
                <a:spcPts val="0"/>
              </a:spcBef>
            </a:pPr>
            <a:r>
              <a:rPr lang="zh-CN"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注意：本例中由于</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SELECT</a:t>
            </a:r>
            <a:r>
              <a:rPr lang="zh-CN"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子句的目标列中含有表达式，因此必须在</a:t>
            </a: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CREATE VIEW</a:t>
            </a:r>
            <a:r>
              <a:rPr lang="zh-CN"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的视图名后面明确说明视图的各个属性列名。</a:t>
            </a:r>
            <a:endParaRPr lang="zh-CN" altLang="en-US"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Rectangle 5"/>
          <p:cNvSpPr/>
          <p:nvPr/>
        </p:nvSpPr>
        <p:spPr>
          <a:xfrm>
            <a:off x="631825" y="3369310"/>
            <a:ext cx="11560175" cy="1109345"/>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SELECT prj_name, start_date, end_date,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datediff(day,start_date,end_date )</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FROM Salvaging; </a:t>
            </a:r>
          </a:p>
        </p:txBody>
      </p:sp>
      <p:sp>
        <p:nvSpPr>
          <p:cNvPr id="3" name="文本框 2"/>
          <p:cNvSpPr txBox="1"/>
          <p:nvPr/>
        </p:nvSpPr>
        <p:spPr>
          <a:xfrm>
            <a:off x="4531995" y="2442210"/>
            <a:ext cx="5581015" cy="553085"/>
          </a:xfrm>
          <a:prstGeom prst="rect">
            <a:avLst/>
          </a:prstGeom>
          <a:noFill/>
        </p:spPr>
        <p:txBody>
          <a:bodyPr wrap="none" rtlCol="0" anchor="t">
            <a:spAutoFit/>
          </a:bodyPr>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sym typeface="+mn-ea"/>
              </a:rPr>
              <a:t>(prj_name, start_date, end_date,</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days</a:t>
            </a:r>
            <a:r>
              <a:rPr lang="en-US" altLang="zh-CN" sz="2400" dirty="0">
                <a:solidFill>
                  <a:srgbClr val="FF3300"/>
                </a:solidFill>
                <a:latin typeface="微软雅黑" panose="020B0503020204020204" pitchFamily="34" charset="-122"/>
                <a:ea typeface="微软雅黑" panose="020B0503020204020204" pitchFamily="34" charset="-122"/>
                <a:sym typeface="+mn-ea"/>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2021"/>
                                        </p:tgtEl>
                                        <p:attrNameLst>
                                          <p:attrName>style.visibility</p:attrName>
                                        </p:attrNameLst>
                                      </p:cBhvr>
                                      <p:to>
                                        <p:strVal val="visible"/>
                                      </p:to>
                                    </p:set>
                                    <p:animEffect transition="in" filter="blinds(horizontal)">
                                      <p:cBhvr>
                                        <p:cTn id="7" dur="500"/>
                                        <p:tgtEl>
                                          <p:spTgt spid="3420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21" grpId="0"/>
      <p:bldP spid="342021" grpId="1"/>
      <p:bldP spid="7" grpId="0"/>
      <p:bldP spid="7" grpId="1"/>
      <p:bldP spid="2" grpId="0"/>
      <p:bldP spid="2" grpId="1"/>
      <p:bldP spid="3" grpId="0"/>
      <p:bldP spid="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058" name="Rectangle 3"/>
          <p:cNvSpPr>
            <a:spLocks noGrp="1"/>
          </p:cNvSpPr>
          <p:nvPr/>
        </p:nvSpPr>
        <p:spPr>
          <a:xfrm>
            <a:off x="532130" y="915670"/>
            <a:ext cx="9243060" cy="6096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rgbClr val="FFFF66"/>
              </a:buClr>
            </a:pPr>
            <a:r>
              <a:rPr lang="zh-CN" altLang="en-US" sz="2400" dirty="0">
                <a:solidFill>
                  <a:srgbClr val="669900"/>
                </a:solidFill>
                <a:latin typeface="微软雅黑" panose="020B0503020204020204" pitchFamily="34" charset="-122"/>
                <a:ea typeface="微软雅黑" panose="020B0503020204020204" pitchFamily="34" charset="-122"/>
              </a:rPr>
              <a:t>建立分组视图</a:t>
            </a:r>
          </a:p>
        </p:txBody>
      </p:sp>
      <p:sp>
        <p:nvSpPr>
          <p:cNvPr id="173059" name="Rectangle 4"/>
          <p:cNvSpPr/>
          <p:nvPr/>
        </p:nvSpPr>
        <p:spPr>
          <a:xfrm>
            <a:off x="-1270" y="1449070"/>
            <a:ext cx="10874375" cy="553085"/>
          </a:xfrm>
          <a:prstGeom prst="rect">
            <a:avLst/>
          </a:prstGeom>
          <a:noFill/>
          <a:ln w="22225">
            <a:noFill/>
          </a:ln>
        </p:spPr>
        <p:txBody>
          <a:bodyPr wrap="square" anchor="t" anchorCtr="0">
            <a:spAutoFit/>
          </a:bodyPr>
          <a:lstStyle/>
          <a:p>
            <a:pPr marL="914400" lvl="1" indent="-45720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－用带集函数和</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Group by</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子句的查询来定义的视图。</a:t>
            </a:r>
          </a:p>
        </p:txBody>
      </p:sp>
      <p:sp>
        <p:nvSpPr>
          <p:cNvPr id="343045" name="Rectangle 5"/>
          <p:cNvSpPr/>
          <p:nvPr/>
        </p:nvSpPr>
        <p:spPr>
          <a:xfrm>
            <a:off x="532130" y="2211070"/>
            <a:ext cx="10027285" cy="83820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3.80】</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将仓库名称与其仓库内所存放物资的种类定义为一个视图。</a:t>
            </a:r>
          </a:p>
          <a:p>
            <a:pPr marL="342900" indent="-342900">
              <a:lnSpc>
                <a:spcPct val="80000"/>
              </a:lnSpc>
              <a:spcBef>
                <a:spcPct val="20000"/>
              </a:spcBef>
            </a:pPr>
            <a:endPar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3046" name="Rectangle 6"/>
          <p:cNvSpPr/>
          <p:nvPr/>
        </p:nvSpPr>
        <p:spPr>
          <a:xfrm>
            <a:off x="772795" y="2911475"/>
            <a:ext cx="9786620" cy="104775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CREATE VIEW s4_stock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AS</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a:t>
            </a:r>
          </a:p>
        </p:txBody>
      </p:sp>
      <p:sp>
        <p:nvSpPr>
          <p:cNvPr id="2" name="Rectangle 6"/>
          <p:cNvSpPr/>
          <p:nvPr/>
        </p:nvSpPr>
        <p:spPr>
          <a:xfrm>
            <a:off x="1202690" y="3865880"/>
            <a:ext cx="9786620" cy="148463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SELECT warehouse,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COUNT(mat_num) </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FROM Stock</a:t>
            </a:r>
          </a:p>
          <a:p>
            <a:pPr marL="342900" indent="-342900" algn="l" eaLnBrk="1" latinLnBrk="0" hangingPunct="1">
              <a:lnSpc>
                <a:spcPct val="125000"/>
              </a:lnSpc>
              <a:spcBef>
                <a:spcPts val="0"/>
              </a:spcBef>
              <a:buClrTx/>
              <a:buSzTx/>
              <a:buFontTx/>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GROUP BY warehouse;</a:t>
            </a:r>
          </a:p>
        </p:txBody>
      </p:sp>
      <p:sp>
        <p:nvSpPr>
          <p:cNvPr id="3" name="Rectangle 6"/>
          <p:cNvSpPr/>
          <p:nvPr/>
        </p:nvSpPr>
        <p:spPr>
          <a:xfrm>
            <a:off x="4142105" y="2911475"/>
            <a:ext cx="3907155" cy="60960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(warehouse,</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counts</a:t>
            </a:r>
            <a:r>
              <a:rPr lang="en-US" altLang="zh-CN" sz="2400" dirty="0">
                <a:solidFill>
                  <a:srgbClr val="FF3300"/>
                </a:solidFill>
                <a:latin typeface="微软雅黑" panose="020B0503020204020204" pitchFamily="34" charset="-122"/>
                <a:ea typeface="微软雅黑" panose="020B0503020204020204" pitchFamily="34" charset="-122"/>
              </a:rPr>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3046"/>
                                        </p:tgtEl>
                                        <p:attrNameLst>
                                          <p:attrName>style.visibility</p:attrName>
                                        </p:attrNameLst>
                                      </p:cBhvr>
                                      <p:to>
                                        <p:strVal val="visible"/>
                                      </p:to>
                                    </p:set>
                                    <p:animEffect transition="in" filter="blinds(horizontal)">
                                      <p:cBhvr>
                                        <p:cTn id="7" dur="500"/>
                                        <p:tgtEl>
                                          <p:spTgt spid="3430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6" grpId="0"/>
      <p:bldP spid="343046" grpId="1"/>
      <p:bldP spid="2" grpId="0"/>
      <p:bldP spid="2" grpId="1"/>
      <p:bldP spid="3" grpId="0"/>
      <p:bldP spid="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4082" name="Rectangle 3"/>
          <p:cNvSpPr>
            <a:spLocks noGrp="1"/>
          </p:cNvSpPr>
          <p:nvPr/>
        </p:nvSpPr>
        <p:spPr>
          <a:xfrm>
            <a:off x="779145" y="797560"/>
            <a:ext cx="7772400" cy="6096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rgbClr val="FFFF66"/>
              </a:buClr>
            </a:pPr>
            <a:r>
              <a:rPr lang="zh-CN" altLang="en-US" sz="2400" dirty="0">
                <a:solidFill>
                  <a:srgbClr val="669900"/>
                </a:solidFill>
                <a:latin typeface="微软雅黑" panose="020B0503020204020204" pitchFamily="34" charset="-122"/>
                <a:ea typeface="微软雅黑" panose="020B0503020204020204" pitchFamily="34" charset="-122"/>
              </a:rPr>
              <a:t>一类不易扩充的视图</a:t>
            </a:r>
          </a:p>
        </p:txBody>
      </p:sp>
      <p:sp>
        <p:nvSpPr>
          <p:cNvPr id="174083" name="Rectangle 4"/>
          <p:cNvSpPr/>
          <p:nvPr/>
        </p:nvSpPr>
        <p:spPr>
          <a:xfrm>
            <a:off x="245745" y="1330960"/>
            <a:ext cx="9144000" cy="553085"/>
          </a:xfrm>
          <a:prstGeom prst="rect">
            <a:avLst/>
          </a:prstGeom>
          <a:noFill/>
          <a:ln w="22225">
            <a:noFill/>
          </a:ln>
        </p:spPr>
        <p:txBody>
          <a:bodyPr anchor="t" anchorCtr="0">
            <a:spAutoFit/>
          </a:bodyPr>
          <a:lstStyle/>
          <a:p>
            <a:pPr marL="914400" lvl="1" indent="-45720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－以 </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SELECT *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方式创建的视图可扩充性差，应尽可能避免。</a:t>
            </a:r>
          </a:p>
        </p:txBody>
      </p:sp>
      <p:sp>
        <p:nvSpPr>
          <p:cNvPr id="344069" name="Rectangle 5"/>
          <p:cNvSpPr/>
          <p:nvPr/>
        </p:nvSpPr>
        <p:spPr>
          <a:xfrm>
            <a:off x="436245" y="1884045"/>
            <a:ext cx="8763000" cy="83820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3.81】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将所有已按期完成的抢修工程定义为一个视图。</a:t>
            </a:r>
          </a:p>
        </p:txBody>
      </p:sp>
      <p:sp>
        <p:nvSpPr>
          <p:cNvPr id="344070" name="Rectangle 6"/>
          <p:cNvSpPr>
            <a:spLocks noChangeArrowheads="1"/>
          </p:cNvSpPr>
          <p:nvPr/>
        </p:nvSpPr>
        <p:spPr bwMode="auto">
          <a:xfrm>
            <a:off x="779145" y="2617153"/>
            <a:ext cx="9010650" cy="2438400"/>
          </a:xfrm>
          <a:prstGeom prst="rect">
            <a:avLst/>
          </a:prstGeom>
          <a:noFill/>
          <a:ln w="9525">
            <a:noFill/>
            <a:miter lim="800000"/>
          </a:ln>
        </p:spPr>
        <p:txBody>
          <a:bodyPr/>
          <a:lstStyle/>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CREATE VIEW s2_salvaging </a:t>
            </a:r>
            <a:r>
              <a:rPr kumimoji="0" lang="zh-CN" altLang="en-US" sz="2400" i="0" u="none" strike="noStrike" kern="1200" cap="none" spc="0" normalizeH="0" baseline="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(prj_num,prj_name,start_date,end_date,prj_status)</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AS</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  SELECT </a:t>
            </a:r>
            <a:r>
              <a:rPr kumimoji="0" lang="zh-CN" altLang="en-US" sz="2400" i="0" u="none" strike="noStrike" kern="1200" cap="none" spc="0" normalizeH="0" baseline="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0" lang="en-US" altLang="zh-CN" sz="2400"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  FROM Salvaging</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  WHERE </a:t>
            </a:r>
            <a:r>
              <a:rPr kumimoji="0" lang="en-US" altLang="zh-CN" sz="2400" i="0" u="none" strike="noStrike" kern="1200" cap="none" spc="0" normalizeH="0" baseline="0" noProof="0" dirty="0" err="1">
                <a:ln>
                  <a:noFill/>
                </a:ln>
                <a:solidFill>
                  <a:srgbClr val="FF3300"/>
                </a:solidFill>
                <a:effectLst/>
                <a:uLnTx/>
                <a:uFillTx/>
                <a:latin typeface="微软雅黑" panose="020B0503020204020204" pitchFamily="34" charset="-122"/>
                <a:ea typeface="微软雅黑" panose="020B0503020204020204" pitchFamily="34" charset="-122"/>
                <a:cs typeface="+mn-cs"/>
              </a:rPr>
              <a:t>prj_status</a:t>
            </a:r>
            <a:r>
              <a:rPr kumimoji="0" lang="en-US" altLang="zh-CN" sz="2400"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mn-cs"/>
              </a:rPr>
              <a:t>=1;</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4070"/>
                                        </p:tgtEl>
                                        <p:attrNameLst>
                                          <p:attrName>style.visibility</p:attrName>
                                        </p:attrNameLst>
                                      </p:cBhvr>
                                      <p:to>
                                        <p:strVal val="visible"/>
                                      </p:to>
                                    </p:set>
                                    <p:animEffect transition="in" filter="blinds(horizontal)">
                                      <p:cBhvr>
                                        <p:cTn id="7" dur="500"/>
                                        <p:tgtEl>
                                          <p:spTgt spid="34407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082"/>
                                        </p:tgtEl>
                                        <p:attrNameLst>
                                          <p:attrName>style.visibility</p:attrName>
                                        </p:attrNameLst>
                                      </p:cBhvr>
                                      <p:to>
                                        <p:strVal val="visible"/>
                                      </p:to>
                                    </p:set>
                                    <p:animEffect transition="in" filter="blinds(horizontal)">
                                      <p:cBhvr>
                                        <p:cTn id="12" dur="500"/>
                                        <p:tgtEl>
                                          <p:spTgt spid="17408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4083"/>
                                        </p:tgtEl>
                                        <p:attrNameLst>
                                          <p:attrName>style.visibility</p:attrName>
                                        </p:attrNameLst>
                                      </p:cBhvr>
                                      <p:to>
                                        <p:strVal val="visible"/>
                                      </p:to>
                                    </p:set>
                                    <p:animEffect transition="in" filter="blinds(horizontal)">
                                      <p:cBhvr>
                                        <p:cTn id="15" dur="500"/>
                                        <p:tgtEl>
                                          <p:spTgt spid="174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p:bldP spid="174082" grpId="1"/>
      <p:bldP spid="174083" grpId="0"/>
      <p:bldP spid="174083" grpId="1"/>
      <p:bldP spid="34407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3.5.1 </a:t>
            </a:r>
            <a:r>
              <a:rPr lang="zh-CN" sz="2800" b="1" dirty="0">
                <a:solidFill>
                  <a:schemeClr val="bg1"/>
                </a:solidFill>
                <a:latin typeface="微软雅黑" panose="020B0503020204020204" pitchFamily="34" charset="-122"/>
                <a:ea typeface="微软雅黑" panose="020B0503020204020204" pitchFamily="34" charset="-122"/>
              </a:rPr>
              <a:t>视图的定义与删除</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5106" name="Rectangle 3"/>
          <p:cNvSpPr/>
          <p:nvPr/>
        </p:nvSpPr>
        <p:spPr>
          <a:xfrm>
            <a:off x="511810" y="1218565"/>
            <a:ext cx="8686800" cy="1219200"/>
          </a:xfrm>
          <a:prstGeom prst="rect">
            <a:avLst/>
          </a:prstGeom>
          <a:noFill/>
          <a:ln w="9525">
            <a:noFill/>
          </a:ln>
        </p:spPr>
        <p:txBody>
          <a:bodyPr anchor="t" anchorCtr="0"/>
          <a:lstStyle/>
          <a:p>
            <a:pPr marL="342900" indent="-342900" eaLnBrk="1" latinLnBrk="0" hangingPunct="1">
              <a:lnSpc>
                <a:spcPct val="125000"/>
              </a:lnSpc>
              <a:spcBef>
                <a:spcPts val="0"/>
              </a:spcBef>
              <a:buClr>
                <a:schemeClr val="hlink"/>
              </a:buClr>
              <a:buSzPct val="115000"/>
              <a:buChar char="•"/>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语句格式</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eaLnBrk="1" latinLnBrk="0" hangingPunct="1">
              <a:lnSpc>
                <a:spcPct val="125000"/>
              </a:lnSpc>
              <a:spcBef>
                <a:spcPts val="0"/>
              </a:spcBef>
              <a:buClr>
                <a:schemeClr val="folHlink"/>
              </a:buClr>
              <a:buSzPct val="60000"/>
              <a:buFont typeface="Wingdings" panose="05000000000000000000" pitchFamily="2" charset="2"/>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DROP VIEW &lt;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视图名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&gt; ; </a:t>
            </a:r>
          </a:p>
        </p:txBody>
      </p:sp>
      <p:sp>
        <p:nvSpPr>
          <p:cNvPr id="345092" name="Text Box 4"/>
          <p:cNvSpPr txBox="1"/>
          <p:nvPr/>
        </p:nvSpPr>
        <p:spPr>
          <a:xfrm>
            <a:off x="174625" y="2225040"/>
            <a:ext cx="11842115" cy="1476375"/>
          </a:xfrm>
          <a:prstGeom prst="rect">
            <a:avLst/>
          </a:prstGeom>
          <a:noFill/>
          <a:ln w="22225">
            <a:noFill/>
          </a:ln>
        </p:spPr>
        <p:txBody>
          <a:bodyPr wrap="square" anchor="t" anchorCtr="0">
            <a:spAutoFit/>
          </a:bodyPr>
          <a:lstStyle/>
          <a:p>
            <a:pPr eaLnBrk="1" latinLnBrk="0" hangingPunct="1">
              <a:lnSpc>
                <a:spcPct val="125000"/>
              </a:lnSpc>
              <a:spcBef>
                <a:spcPts val="0"/>
              </a:spcBef>
              <a:buClr>
                <a:schemeClr val="accent1"/>
              </a:buClr>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注： </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）该语句从数据字典中删除指定的视图定义；</a:t>
            </a:r>
          </a:p>
          <a:p>
            <a:pPr lvl="1" indent="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）由该视图导出的其他视图定义仍在数据字典中，但已不能使用，必须显式删除</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p>
          <a:p>
            <a:pPr lvl="1" indent="0" eaLnBrk="1" latinLnBrk="0" hangingPunct="1">
              <a:lnSpc>
                <a:spcPct val="125000"/>
              </a:lnSpc>
              <a:spcBef>
                <a:spcPts val="0"/>
              </a:spcBef>
              <a:buClr>
                <a:schemeClr val="hlink"/>
              </a:buClr>
              <a:buSzPct val="55000"/>
              <a:buFont typeface="Wingdings" panose="05000000000000000000" pitchFamily="2" charset="2"/>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3</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）删除基表时，由该基表导出的所有视图定义均已不能使用，都必须显式删除。</a:t>
            </a:r>
          </a:p>
        </p:txBody>
      </p:sp>
      <p:sp>
        <p:nvSpPr>
          <p:cNvPr id="175108" name="Rectangle 5"/>
          <p:cNvSpPr>
            <a:spLocks noGrp="1"/>
          </p:cNvSpPr>
          <p:nvPr/>
        </p:nvSpPr>
        <p:spPr>
          <a:xfrm>
            <a:off x="406083" y="689293"/>
            <a:ext cx="8382000" cy="6858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rgbClr val="FFFF66"/>
              </a:buClr>
              <a:buNone/>
            </a:pPr>
            <a:r>
              <a:rPr lang="en-US" altLang="zh-CN"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删除视图</a:t>
            </a:r>
          </a:p>
        </p:txBody>
      </p:sp>
      <p:sp>
        <p:nvSpPr>
          <p:cNvPr id="346115" name="Rectangle 3"/>
          <p:cNvSpPr/>
          <p:nvPr/>
        </p:nvSpPr>
        <p:spPr>
          <a:xfrm>
            <a:off x="312738" y="3701415"/>
            <a:ext cx="8153400" cy="83820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3.82】</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删除视图</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S1_Stock</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46116" name="Rectangle 4"/>
          <p:cNvSpPr/>
          <p:nvPr/>
        </p:nvSpPr>
        <p:spPr>
          <a:xfrm>
            <a:off x="876300" y="4224020"/>
            <a:ext cx="8229600" cy="609600"/>
          </a:xfrm>
          <a:prstGeom prst="rect">
            <a:avLst/>
          </a:prstGeom>
          <a:noFill/>
          <a:ln w="9525">
            <a:noFill/>
          </a:ln>
        </p:spPr>
        <p:txBody>
          <a:bodyPr anchor="t" anchorCtr="0"/>
          <a:lstStyle/>
          <a:p>
            <a:pPr marL="342900" indent="-342900" eaLnBrk="1" latinLnBrk="0" hangingPunct="1">
              <a:lnSpc>
                <a:spcPct val="125000"/>
              </a:lnSpc>
              <a:spcBef>
                <a:spcPts val="0"/>
              </a:spcBef>
              <a:buClr>
                <a:schemeClr val="folHlink"/>
              </a:buClr>
              <a:buSzPct val="60000"/>
              <a:buFont typeface="Wingdings" panose="05000000000000000000" pitchFamily="2" charset="2"/>
            </a:pPr>
            <a:r>
              <a:rPr lang="en-US" altLang="zh-CN" sz="2400" dirty="0">
                <a:solidFill>
                  <a:srgbClr val="CC3300"/>
                </a:solidFill>
                <a:latin typeface="微软雅黑" panose="020B0503020204020204" pitchFamily="34" charset="-122"/>
                <a:ea typeface="微软雅黑" panose="020B0503020204020204" pitchFamily="34" charset="-122"/>
              </a:rPr>
              <a:t>DROP VIEW S1_Stock;</a:t>
            </a:r>
          </a:p>
        </p:txBody>
      </p:sp>
      <p:sp>
        <p:nvSpPr>
          <p:cNvPr id="346117" name="Rectangle 5"/>
          <p:cNvSpPr/>
          <p:nvPr/>
        </p:nvSpPr>
        <p:spPr>
          <a:xfrm>
            <a:off x="876300" y="4758690"/>
            <a:ext cx="8229600" cy="609600"/>
          </a:xfrm>
          <a:prstGeom prst="rect">
            <a:avLst/>
          </a:prstGeom>
          <a:noFill/>
          <a:ln w="9525">
            <a:noFill/>
          </a:ln>
        </p:spPr>
        <p:txBody>
          <a:bodyPr anchor="t" anchorCtr="0"/>
          <a:lstStyle/>
          <a:p>
            <a:pPr marL="342900" indent="-342900" eaLnBrk="1" latinLnBrk="0" hangingPunct="1">
              <a:lnSpc>
                <a:spcPct val="125000"/>
              </a:lnSpc>
              <a:spcBef>
                <a:spcPts val="0"/>
              </a:spcBef>
              <a:buClr>
                <a:schemeClr val="folHlink"/>
              </a:buClr>
              <a:buSzPct val="60000"/>
              <a:buFont typeface="Wingdings" panose="05000000000000000000" pitchFamily="2" charset="2"/>
            </a:pPr>
            <a:r>
              <a:rPr lang="en-US" altLang="zh-CN" sz="2400" dirty="0">
                <a:solidFill>
                  <a:srgbClr val="CC3300"/>
                </a:solidFill>
                <a:latin typeface="微软雅黑" panose="020B0503020204020204" pitchFamily="34" charset="-122"/>
                <a:ea typeface="微软雅黑" panose="020B0503020204020204" pitchFamily="34" charset="-122"/>
              </a:rPr>
              <a:t>DROP VIEW S3_Stock;</a:t>
            </a:r>
          </a:p>
        </p:txBody>
      </p:sp>
      <p:sp>
        <p:nvSpPr>
          <p:cNvPr id="346118" name="Text Box 6"/>
          <p:cNvSpPr txBox="1"/>
          <p:nvPr/>
        </p:nvSpPr>
        <p:spPr>
          <a:xfrm>
            <a:off x="406400" y="5262880"/>
            <a:ext cx="11162665" cy="1014730"/>
          </a:xfrm>
          <a:prstGeom prst="rect">
            <a:avLst/>
          </a:prstGeom>
          <a:noFill/>
          <a:ln w="22225">
            <a:noFill/>
          </a:ln>
        </p:spPr>
        <p:txBody>
          <a:bodyPr wrap="square" anchor="t" anchorCtr="0">
            <a:spAutoFit/>
          </a:bodyPr>
          <a:lstStyle/>
          <a:p>
            <a:pPr eaLnBrk="1" latinLnBrk="0" hangingPunct="1">
              <a:lnSpc>
                <a:spcPct val="125000"/>
              </a:lnSpc>
              <a:spcBef>
                <a:spcPts val="0"/>
              </a:spcBef>
              <a:buClr>
                <a:schemeClr val="accent1"/>
              </a:buClr>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注：</a:t>
            </a:r>
            <a:r>
              <a:rPr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由于s1_stock视图上还导出了s3_stock视图，虽然s3_stock视图的定义仍在数据字典中，但已无法使用，所以需要使用DROP VIEW s3_stock将其删除。</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5092"/>
                                        </p:tgtEl>
                                        <p:attrNameLst>
                                          <p:attrName>style.visibility</p:attrName>
                                        </p:attrNameLst>
                                      </p:cBhvr>
                                      <p:to>
                                        <p:strVal val="visible"/>
                                      </p:to>
                                    </p:set>
                                    <p:animEffect transition="in" filter="blinds(horizontal)">
                                      <p:cBhvr>
                                        <p:cTn id="7" dur="500"/>
                                        <p:tgtEl>
                                          <p:spTgt spid="3450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6115"/>
                                        </p:tgtEl>
                                        <p:attrNameLst>
                                          <p:attrName>style.visibility</p:attrName>
                                        </p:attrNameLst>
                                      </p:cBhvr>
                                      <p:to>
                                        <p:strVal val="visible"/>
                                      </p:to>
                                    </p:set>
                                    <p:animEffect transition="in" filter="blinds(horizontal)">
                                      <p:cBhvr>
                                        <p:cTn id="12" dur="500"/>
                                        <p:tgtEl>
                                          <p:spTgt spid="3461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6116"/>
                                        </p:tgtEl>
                                        <p:attrNameLst>
                                          <p:attrName>style.visibility</p:attrName>
                                        </p:attrNameLst>
                                      </p:cBhvr>
                                      <p:to>
                                        <p:strVal val="visible"/>
                                      </p:to>
                                    </p:set>
                                    <p:animEffect transition="in" filter="blinds(horizontal)">
                                      <p:cBhvr>
                                        <p:cTn id="17" dur="500"/>
                                        <p:tgtEl>
                                          <p:spTgt spid="3461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6117"/>
                                        </p:tgtEl>
                                        <p:attrNameLst>
                                          <p:attrName>style.visibility</p:attrName>
                                        </p:attrNameLst>
                                      </p:cBhvr>
                                      <p:to>
                                        <p:strVal val="visible"/>
                                      </p:to>
                                    </p:set>
                                    <p:animEffect transition="in" filter="blinds(horizontal)">
                                      <p:cBhvr>
                                        <p:cTn id="22" dur="500"/>
                                        <p:tgtEl>
                                          <p:spTgt spid="3461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46118"/>
                                        </p:tgtEl>
                                        <p:attrNameLst>
                                          <p:attrName>style.visibility</p:attrName>
                                        </p:attrNameLst>
                                      </p:cBhvr>
                                      <p:to>
                                        <p:strVal val="visible"/>
                                      </p:to>
                                    </p:set>
                                    <p:animEffect transition="in" filter="blinds(horizontal)">
                                      <p:cBhvr>
                                        <p:cTn id="27" dur="500"/>
                                        <p:tgtEl>
                                          <p:spTgt spid="346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2" grpId="0"/>
      <p:bldP spid="345092" grpId="1"/>
      <p:bldP spid="346115" grpId="0"/>
      <p:bldP spid="346115" grpId="1"/>
      <p:bldP spid="346116" grpId="0"/>
      <p:bldP spid="346116" grpId="1"/>
      <p:bldP spid="346117" grpId="0"/>
      <p:bldP spid="346117" grpId="1"/>
      <p:bldP spid="346118" grpId="0"/>
      <p:bldP spid="34611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3.5.2 </a:t>
            </a:r>
            <a:r>
              <a:rPr lang="zh-CN" altLang="en-US" sz="2800" b="1" dirty="0">
                <a:solidFill>
                  <a:schemeClr val="bg1"/>
                </a:solidFill>
                <a:latin typeface="微软雅黑" panose="020B0503020204020204" pitchFamily="34" charset="-122"/>
                <a:ea typeface="微软雅黑" panose="020B0503020204020204" pitchFamily="34" charset="-122"/>
              </a:rPr>
              <a:t>查询</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7154" name="Rectangle 3"/>
          <p:cNvSpPr/>
          <p:nvPr/>
        </p:nvSpPr>
        <p:spPr>
          <a:xfrm>
            <a:off x="409575" y="729615"/>
            <a:ext cx="8077200" cy="1014730"/>
          </a:xfrm>
          <a:prstGeom prst="rect">
            <a:avLst/>
          </a:prstGeom>
          <a:noFill/>
          <a:ln w="22225">
            <a:noFill/>
          </a:ln>
        </p:spPr>
        <p:txBody>
          <a:bodyPr anchor="t" anchorCtr="0">
            <a:spAutoFit/>
          </a:bodyPr>
          <a:lstStyle/>
          <a:p>
            <a:pPr eaLnBrk="1" latinLnBrk="0" hangingPunct="1">
              <a:lnSpc>
                <a:spcPct val="125000"/>
              </a:lnSpc>
              <a:spcBef>
                <a:spcPts val="0"/>
              </a:spcBef>
              <a:spcAft>
                <a:spcPts val="0"/>
              </a:spcAft>
              <a:buClr>
                <a:srgbClr val="FFFF66"/>
              </a:buClr>
              <a:buChar char="•"/>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从用户角度：</a:t>
            </a:r>
          </a:p>
          <a:p>
            <a:pPr eaLnBrk="1" latinLnBrk="0" hangingPunct="1">
              <a:lnSpc>
                <a:spcPct val="125000"/>
              </a:lnSpc>
              <a:spcBef>
                <a:spcPts val="0"/>
              </a:spcBef>
              <a:spcAft>
                <a:spcPts val="0"/>
              </a:spcAft>
              <a:buClr>
                <a:srgbClr val="FFFF66"/>
              </a:buClr>
            </a:pP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查询视图与查询基本表相同。</a:t>
            </a:r>
            <a:endPar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7140" name="Rectangle 4"/>
          <p:cNvSpPr/>
          <p:nvPr/>
        </p:nvSpPr>
        <p:spPr>
          <a:xfrm>
            <a:off x="589280" y="1744345"/>
            <a:ext cx="8077200" cy="1938020"/>
          </a:xfrm>
          <a:prstGeom prst="rect">
            <a:avLst/>
          </a:prstGeom>
          <a:noFill/>
          <a:ln w="22225">
            <a:noFill/>
          </a:ln>
        </p:spPr>
        <p:txBody>
          <a:bodyPr anchor="t" anchorCtr="0">
            <a:spAutoFit/>
          </a:bodyPr>
          <a:lstStyle/>
          <a:p>
            <a:pPr eaLnBrk="1" latinLnBrk="0" hangingPunct="1">
              <a:lnSpc>
                <a:spcPct val="125000"/>
              </a:lnSpc>
              <a:spcBef>
                <a:spcPts val="0"/>
              </a:spcBef>
              <a:spcAft>
                <a:spcPts val="0"/>
              </a:spcAft>
              <a:buClr>
                <a:schemeClr val="folHlink"/>
              </a:buClr>
              <a:buSzPct val="60000"/>
              <a:buFont typeface="Wingdings" panose="05000000000000000000" pitchFamily="2" charset="2"/>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注：</a:t>
            </a:r>
          </a:p>
          <a:p>
            <a:pPr eaLnBrk="1" latinLnBrk="0" hangingPunct="1">
              <a:lnSpc>
                <a:spcPct val="125000"/>
              </a:lnSpc>
              <a:spcBef>
                <a:spcPts val="0"/>
              </a:spcBef>
              <a:spcAft>
                <a:spcPts val="0"/>
              </a:spcAft>
              <a:buClr>
                <a:schemeClr val="folHlink"/>
              </a:buClr>
              <a:buSzPct val="60000"/>
              <a:buFont typeface="Wingdings" panose="05000000000000000000" pitchFamily="2" charset="2"/>
              <a:buChar char="n"/>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一般情况下</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视图可以像基本表那样使用；</a:t>
            </a:r>
          </a:p>
          <a:p>
            <a:pPr eaLnBrk="1" latinLnBrk="0" hangingPunct="1">
              <a:lnSpc>
                <a:spcPct val="125000"/>
              </a:lnSpc>
              <a:spcBef>
                <a:spcPts val="0"/>
              </a:spcBef>
              <a:spcAft>
                <a:spcPts val="0"/>
              </a:spcAft>
              <a:buClr>
                <a:schemeClr val="folHlink"/>
              </a:buClr>
              <a:buSzPct val="60000"/>
              <a:buFont typeface="Wingdings" panose="05000000000000000000" pitchFamily="2" charset="2"/>
              <a:buChar char="n"/>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视图名可以出现在关系名可以出现的地方；</a:t>
            </a:r>
          </a:p>
          <a:p>
            <a:pPr eaLnBrk="1" latinLnBrk="0" hangingPunct="1">
              <a:lnSpc>
                <a:spcPct val="125000"/>
              </a:lnSpc>
              <a:spcBef>
                <a:spcPts val="0"/>
              </a:spcBef>
              <a:spcAft>
                <a:spcPts val="0"/>
              </a:spcAft>
              <a:buClr>
                <a:schemeClr val="folHlink"/>
              </a:buClr>
              <a:buSzPct val="60000"/>
              <a:buFont typeface="Wingdings" panose="05000000000000000000" pitchFamily="2" charset="2"/>
              <a:buChar char="n"/>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DBMS</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将视图转换成对基本表的操作。</a:t>
            </a:r>
          </a:p>
        </p:txBody>
      </p:sp>
      <p:sp>
        <p:nvSpPr>
          <p:cNvPr id="348163" name="Rectangle 3"/>
          <p:cNvSpPr>
            <a:spLocks noGrp="1"/>
          </p:cNvSpPr>
          <p:nvPr/>
        </p:nvSpPr>
        <p:spPr>
          <a:xfrm>
            <a:off x="120015" y="3795395"/>
            <a:ext cx="11951970" cy="2667000"/>
          </a:xfrm>
          <a:prstGeom prst="rect">
            <a:avLst/>
          </a:prstGeom>
          <a:noFill/>
          <a:ln w="22225">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indent="0" eaLnBrk="1" latinLnBrk="0" hangingPunct="1">
              <a:lnSpc>
                <a:spcPct val="120000"/>
              </a:lnSpc>
              <a:spcBef>
                <a:spcPts val="0"/>
              </a:spcBef>
              <a:buClr>
                <a:srgbClr val="FFFF66"/>
              </a:buClr>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DBMS</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实现视图查询的方法：视图消解法（</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View Resolution</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a:t>
            </a:r>
          </a:p>
          <a:p>
            <a:pPr lvl="1" indent="0" eaLnBrk="1" latinLnBrk="0" hangingPunct="1">
              <a:lnSpc>
                <a:spcPct val="120000"/>
              </a:lnSpc>
              <a:spcBef>
                <a:spcPts val="0"/>
              </a:spcBef>
              <a:buClr>
                <a:schemeClr val="hlink"/>
              </a:buClr>
              <a:buSzPct val="55000"/>
              <a:buFont typeface="Wingdings" panose="05000000000000000000" pitchFamily="2" charset="2"/>
              <a:buNone/>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）进行有效性检查，检查查询的基本表、视图是否存在；</a:t>
            </a:r>
          </a:p>
          <a:p>
            <a:pPr lvl="1" indent="0" eaLnBrk="1" latinLnBrk="0" hangingPunct="1">
              <a:lnSpc>
                <a:spcPct val="120000"/>
              </a:lnSpc>
              <a:spcBef>
                <a:spcPts val="0"/>
              </a:spcBef>
              <a:buClr>
                <a:schemeClr val="hlink"/>
              </a:buClr>
              <a:buSzPct val="55000"/>
              <a:buFont typeface="Wingdings" panose="05000000000000000000" pitchFamily="2" charset="2"/>
              <a:buNone/>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）如果存在，从数据字典中取出视图的定义，把视图定义中的子查询与用户的查询结合起来，转换成等价的对基本表的查询；</a:t>
            </a:r>
          </a:p>
          <a:p>
            <a:pPr lvl="1" indent="0" eaLnBrk="1" latinLnBrk="0" hangingPunct="1">
              <a:lnSpc>
                <a:spcPct val="120000"/>
              </a:lnSpc>
              <a:spcBef>
                <a:spcPts val="0"/>
              </a:spcBef>
              <a:buClr>
                <a:schemeClr val="hlink"/>
              </a:buClr>
              <a:buSzPct val="55000"/>
              <a:buFont typeface="Wingdings" panose="05000000000000000000" pitchFamily="2" charset="2"/>
              <a:buNone/>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）执行修正后的查询。</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7140"/>
                                        </p:tgtEl>
                                        <p:attrNameLst>
                                          <p:attrName>style.visibility</p:attrName>
                                        </p:attrNameLst>
                                      </p:cBhvr>
                                      <p:to>
                                        <p:strVal val="visible"/>
                                      </p:to>
                                    </p:set>
                                    <p:animEffect transition="in" filter="checkerboard(across)">
                                      <p:cBhvr>
                                        <p:cTn id="7" dur="500"/>
                                        <p:tgtEl>
                                          <p:spTgt spid="34714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48163">
                                            <p:txEl>
                                              <p:pRg st="0" end="0"/>
                                            </p:txEl>
                                          </p:spTgt>
                                        </p:tgtEl>
                                        <p:attrNameLst>
                                          <p:attrName>style.visibility</p:attrName>
                                        </p:attrNameLst>
                                      </p:cBhvr>
                                      <p:to>
                                        <p:strVal val="visible"/>
                                      </p:to>
                                    </p:set>
                                    <p:animEffect transition="in" filter="box(in)">
                                      <p:cBhvr>
                                        <p:cTn id="12" dur="500"/>
                                        <p:tgtEl>
                                          <p:spTgt spid="3481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48163">
                                            <p:txEl>
                                              <p:pRg st="1" end="1"/>
                                            </p:txEl>
                                          </p:spTgt>
                                        </p:tgtEl>
                                        <p:attrNameLst>
                                          <p:attrName>style.visibility</p:attrName>
                                        </p:attrNameLst>
                                      </p:cBhvr>
                                      <p:to>
                                        <p:strVal val="visible"/>
                                      </p:to>
                                    </p:set>
                                    <p:animEffect transition="in" filter="box(in)">
                                      <p:cBhvr>
                                        <p:cTn id="17" dur="500"/>
                                        <p:tgtEl>
                                          <p:spTgt spid="34816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48163">
                                            <p:txEl>
                                              <p:pRg st="2" end="2"/>
                                            </p:txEl>
                                          </p:spTgt>
                                        </p:tgtEl>
                                        <p:attrNameLst>
                                          <p:attrName>style.visibility</p:attrName>
                                        </p:attrNameLst>
                                      </p:cBhvr>
                                      <p:to>
                                        <p:strVal val="visible"/>
                                      </p:to>
                                    </p:set>
                                    <p:animEffect transition="in" filter="box(in)">
                                      <p:cBhvr>
                                        <p:cTn id="22" dur="500"/>
                                        <p:tgtEl>
                                          <p:spTgt spid="34816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48163">
                                            <p:txEl>
                                              <p:pRg st="3" end="3"/>
                                            </p:txEl>
                                          </p:spTgt>
                                        </p:tgtEl>
                                        <p:attrNameLst>
                                          <p:attrName>style.visibility</p:attrName>
                                        </p:attrNameLst>
                                      </p:cBhvr>
                                      <p:to>
                                        <p:strVal val="visible"/>
                                      </p:to>
                                    </p:set>
                                    <p:animEffect transition="in" filter="box(in)">
                                      <p:cBhvr>
                                        <p:cTn id="27" dur="500"/>
                                        <p:tgtEl>
                                          <p:spTgt spid="3481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0" grpId="0"/>
      <p:bldP spid="348163" grpId="0" build="p" bldLvl="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3.5.2 </a:t>
            </a:r>
            <a:r>
              <a:rPr lang="zh-CN" altLang="en-US" sz="2800" b="1" dirty="0">
                <a:solidFill>
                  <a:schemeClr val="bg1"/>
                </a:solidFill>
                <a:latin typeface="微软雅黑" panose="020B0503020204020204" pitchFamily="34" charset="-122"/>
                <a:ea typeface="微软雅黑" panose="020B0503020204020204" pitchFamily="34" charset="-122"/>
              </a:rPr>
              <a:t>查询</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9202" name="Rectangle 3"/>
          <p:cNvSpPr/>
          <p:nvPr/>
        </p:nvSpPr>
        <p:spPr>
          <a:xfrm>
            <a:off x="423545" y="831215"/>
            <a:ext cx="11504930" cy="83820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3.83】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在供电局</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仓库的物资视图</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s1_stock</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中找出单价小于</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的物资名称、规格和单价。</a:t>
            </a:r>
          </a:p>
        </p:txBody>
      </p:sp>
      <p:sp>
        <p:nvSpPr>
          <p:cNvPr id="351236" name="Rectangle 4"/>
          <p:cNvSpPr/>
          <p:nvPr/>
        </p:nvSpPr>
        <p:spPr>
          <a:xfrm>
            <a:off x="704215" y="1855470"/>
            <a:ext cx="10447655" cy="152400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SELECT mat_name,speci, unit</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FROM s1_stock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WHERE unit&lt;20;</a:t>
            </a:r>
          </a:p>
        </p:txBody>
      </p:sp>
      <p:sp>
        <p:nvSpPr>
          <p:cNvPr id="351237" name="Rectangle 5"/>
          <p:cNvSpPr/>
          <p:nvPr/>
        </p:nvSpPr>
        <p:spPr>
          <a:xfrm>
            <a:off x="307340" y="3564890"/>
            <a:ext cx="10989310" cy="2399665"/>
          </a:xfrm>
          <a:prstGeom prst="rect">
            <a:avLst/>
          </a:prstGeom>
          <a:noFill/>
          <a:ln w="22225">
            <a:noFill/>
          </a:ln>
        </p:spPr>
        <p:txBody>
          <a:bodyPr wrap="square" anchor="t" anchorCtr="0">
            <a:spAutoFit/>
          </a:bodyPr>
          <a:lstStyle/>
          <a:p>
            <a:pPr lvl="1" indent="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转换后的查询语句为：</a:t>
            </a:r>
          </a:p>
          <a:p>
            <a:pPr eaLnBrk="1" latinLnBrk="0" hangingPunct="1">
              <a:lnSpc>
                <a:spcPct val="125000"/>
              </a:lnSpc>
              <a:spcBef>
                <a:spcPts val="0"/>
              </a:spcBef>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SELECT mat_name,speci, unit</a:t>
            </a:r>
          </a:p>
          <a:p>
            <a:pPr eaLnBrk="1" latinLnBrk="0" hangingPunct="1">
              <a:lnSpc>
                <a:spcPct val="125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FROM  Stock</a:t>
            </a:r>
          </a:p>
          <a:p>
            <a:pPr eaLnBrk="1" latinLnBrk="0" hangingPunct="1">
              <a:lnSpc>
                <a:spcPct val="125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WHERE warehouse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供电局</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仓库</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p>
          <a:p>
            <a:pPr eaLnBrk="1" latinLnBrk="0" hangingPunct="1">
              <a:lnSpc>
                <a:spcPct val="125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AND    unit&lt;20;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1236"/>
                                        </p:tgtEl>
                                        <p:attrNameLst>
                                          <p:attrName>style.visibility</p:attrName>
                                        </p:attrNameLst>
                                      </p:cBhvr>
                                      <p:to>
                                        <p:strVal val="visible"/>
                                      </p:to>
                                    </p:set>
                                    <p:animEffect transition="in" filter="blinds(horizontal)">
                                      <p:cBhvr>
                                        <p:cTn id="7" dur="500"/>
                                        <p:tgtEl>
                                          <p:spTgt spid="3512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1237"/>
                                        </p:tgtEl>
                                        <p:attrNameLst>
                                          <p:attrName>style.visibility</p:attrName>
                                        </p:attrNameLst>
                                      </p:cBhvr>
                                      <p:to>
                                        <p:strVal val="visible"/>
                                      </p:to>
                                    </p:set>
                                    <p:animEffect transition="in" filter="blinds(horizontal)">
                                      <p:cBhvr>
                                        <p:cTn id="12" dur="500"/>
                                        <p:tgtEl>
                                          <p:spTgt spid="351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6" grpId="0"/>
      <p:bldP spid="351236" grpId="1"/>
      <p:bldP spid="3512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3.5.2 </a:t>
            </a:r>
            <a:r>
              <a:rPr lang="zh-CN" altLang="en-US" sz="2800" b="1" dirty="0">
                <a:solidFill>
                  <a:schemeClr val="bg1"/>
                </a:solidFill>
                <a:latin typeface="微软雅黑" panose="020B0503020204020204" pitchFamily="34" charset="-122"/>
                <a:ea typeface="微软雅黑" panose="020B0503020204020204" pitchFamily="34" charset="-122"/>
              </a:rPr>
              <a:t>查询</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52259" name="Rectangle 3"/>
          <p:cNvSpPr/>
          <p:nvPr/>
        </p:nvSpPr>
        <p:spPr>
          <a:xfrm>
            <a:off x="457200" y="990600"/>
            <a:ext cx="10400030" cy="83820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3.84】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查询使用了供电局</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仓库物资的抢修工程项目号。</a:t>
            </a:r>
          </a:p>
        </p:txBody>
      </p:sp>
      <p:sp>
        <p:nvSpPr>
          <p:cNvPr id="352260" name="Rectangle 4"/>
          <p:cNvSpPr/>
          <p:nvPr/>
        </p:nvSpPr>
        <p:spPr>
          <a:xfrm>
            <a:off x="457200" y="1722755"/>
            <a:ext cx="10839450" cy="198120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SELECT distinct prj_num</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FROM s1_stock, inner join </a:t>
            </a:r>
            <a:r>
              <a:rPr lang="en-US" altLang="zh-CN" sz="2400" dirty="0" err="1">
                <a:solidFill>
                  <a:srgbClr val="FF3300"/>
                </a:solidFill>
                <a:latin typeface="微软雅黑" panose="020B0503020204020204" pitchFamily="34" charset="-122"/>
                <a:ea typeface="微软雅黑" panose="020B0503020204020204" pitchFamily="34" charset="-122"/>
              </a:rPr>
              <a:t>Out_stock</a:t>
            </a:r>
            <a:endParaRPr lang="en-US" altLang="zh-CN" sz="2400" dirty="0">
              <a:solidFill>
                <a:srgbClr val="FF3300"/>
              </a:solidFill>
              <a:latin typeface="微软雅黑" panose="020B0503020204020204" pitchFamily="34" charset="-122"/>
              <a:ea typeface="微软雅黑" panose="020B0503020204020204" pitchFamily="34" charset="-122"/>
            </a:endParaRP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on s1_stock.mat_num=Out_stock.mat_num; </a:t>
            </a:r>
          </a:p>
        </p:txBody>
      </p:sp>
      <p:sp>
        <p:nvSpPr>
          <p:cNvPr id="352261" name="Rectangle 5"/>
          <p:cNvSpPr/>
          <p:nvPr/>
        </p:nvSpPr>
        <p:spPr>
          <a:xfrm>
            <a:off x="245745" y="3448050"/>
            <a:ext cx="10930890" cy="2862322"/>
          </a:xfrm>
          <a:prstGeom prst="rect">
            <a:avLst/>
          </a:prstGeom>
          <a:noFill/>
          <a:ln w="22225">
            <a:noFill/>
          </a:ln>
        </p:spPr>
        <p:txBody>
          <a:bodyPr wrap="square" anchor="t" anchorCtr="0">
            <a:spAutoFit/>
          </a:bodyPr>
          <a:lstStyle/>
          <a:p>
            <a:pPr lvl="1" indent="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转换后的查询语句为：</a:t>
            </a:r>
          </a:p>
          <a:p>
            <a:pPr lvl="1" indent="0" eaLnBrk="1" latinLnBrk="0" hangingPunct="1">
              <a:lnSpc>
                <a:spcPct val="125000"/>
              </a:lnSpc>
              <a:spcBef>
                <a:spcPts val="0"/>
              </a:spcBef>
              <a:buClr>
                <a:schemeClr val="hlink"/>
              </a:buClr>
              <a:buSzPct val="55000"/>
              <a:buFont typeface="Wingdings" panose="05000000000000000000" pitchFamily="2" charset="2"/>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SELECT distinct prj_num </a:t>
            </a:r>
          </a:p>
          <a:p>
            <a:pPr lvl="1" indent="0" eaLnBrk="1" latinLnBrk="0" hangingPunct="1">
              <a:lnSpc>
                <a:spcPct val="125000"/>
              </a:lnSpc>
              <a:spcBef>
                <a:spcPts val="0"/>
              </a:spcBef>
              <a:buClr>
                <a:schemeClr val="hlink"/>
              </a:buClr>
              <a:buSzPct val="55000"/>
              <a:buFont typeface="Wingdings" panose="05000000000000000000" pitchFamily="2" charset="2"/>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FROM Stock inner join  </a:t>
            </a:r>
            <a:r>
              <a:rPr lang="en-US" altLang="zh-CN" sz="24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Out_stock</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on </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rPr>
              <a:t>Stock.mat_num</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rPr>
              <a:t>Out_stock.mat_num</a:t>
            </a: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lvl="1" indent="0" eaLnBrk="1" latinLnBrk="0" hangingPunct="1">
              <a:lnSpc>
                <a:spcPct val="125000"/>
              </a:lnSpc>
              <a:spcBef>
                <a:spcPts val="0"/>
              </a:spcBef>
              <a:buClr>
                <a:schemeClr val="hlink"/>
              </a:buClr>
              <a:buSzPct val="55000"/>
              <a:buFont typeface="Wingdings" panose="05000000000000000000" pitchFamily="2" charset="2"/>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WHERE warehouse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供电局</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仓库’   </a:t>
            </a:r>
          </a:p>
          <a:p>
            <a:pPr lvl="1" indent="0" eaLnBrk="1" latinLnBrk="0" hangingPunct="1">
              <a:lnSpc>
                <a:spcPct val="125000"/>
              </a:lnSpc>
              <a:spcBef>
                <a:spcPts val="0"/>
              </a:spcBef>
              <a:buClr>
                <a:schemeClr val="hlink"/>
              </a:buClr>
              <a:buSzPct val="55000"/>
              <a:buFont typeface="Wingdings" panose="05000000000000000000" pitchFamily="2" charset="2"/>
            </a:pP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2260"/>
                                        </p:tgtEl>
                                        <p:attrNameLst>
                                          <p:attrName>style.visibility</p:attrName>
                                        </p:attrNameLst>
                                      </p:cBhvr>
                                      <p:to>
                                        <p:strVal val="visible"/>
                                      </p:to>
                                    </p:set>
                                    <p:animEffect transition="in" filter="blinds(horizontal)">
                                      <p:cBhvr>
                                        <p:cTn id="7" dur="500"/>
                                        <p:tgtEl>
                                          <p:spTgt spid="35226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2261"/>
                                        </p:tgtEl>
                                        <p:attrNameLst>
                                          <p:attrName>style.visibility</p:attrName>
                                        </p:attrNameLst>
                                      </p:cBhvr>
                                      <p:to>
                                        <p:strVal val="visible"/>
                                      </p:to>
                                    </p:set>
                                    <p:animEffect transition="in" filter="blinds(horizontal)">
                                      <p:cBhvr>
                                        <p:cTn id="12" dur="500"/>
                                        <p:tgtEl>
                                          <p:spTgt spid="352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60" grpId="0"/>
      <p:bldP spid="352260" grpId="1"/>
      <p:bldP spid="352261" grpId="0"/>
      <p:bldP spid="352261"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3.5.2 </a:t>
            </a:r>
            <a:r>
              <a:rPr lang="zh-CN" altLang="en-US" sz="2800" b="1" dirty="0">
                <a:solidFill>
                  <a:schemeClr val="bg1"/>
                </a:solidFill>
                <a:latin typeface="微软雅黑" panose="020B0503020204020204" pitchFamily="34" charset="-122"/>
                <a:ea typeface="微软雅黑" panose="020B0503020204020204" pitchFamily="34" charset="-122"/>
              </a:rPr>
              <a:t>查询</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81250" name="Rectangle 3"/>
          <p:cNvSpPr>
            <a:spLocks noGrp="1"/>
          </p:cNvSpPr>
          <p:nvPr/>
        </p:nvSpPr>
        <p:spPr>
          <a:xfrm>
            <a:off x="245745" y="730250"/>
            <a:ext cx="11306175" cy="97028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视图消解法的局限</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有些情况下，视图消解法不能转换成正确查询，则查询时会出现问题。</a:t>
            </a:r>
          </a:p>
        </p:txBody>
      </p:sp>
      <p:sp>
        <p:nvSpPr>
          <p:cNvPr id="353284" name="Rectangle 4"/>
          <p:cNvSpPr/>
          <p:nvPr/>
        </p:nvSpPr>
        <p:spPr>
          <a:xfrm>
            <a:off x="363855" y="1700530"/>
            <a:ext cx="10289540" cy="83820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3.85】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查询所存物资种类大于</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的仓库名称。</a:t>
            </a:r>
          </a:p>
        </p:txBody>
      </p:sp>
      <p:sp>
        <p:nvSpPr>
          <p:cNvPr id="353285" name="Rectangle 5"/>
          <p:cNvSpPr/>
          <p:nvPr/>
        </p:nvSpPr>
        <p:spPr>
          <a:xfrm>
            <a:off x="945515" y="2289810"/>
            <a:ext cx="4450080" cy="144780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SELECT warehouse</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FROM s4_stock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WHERE counts&gt;2;</a:t>
            </a:r>
          </a:p>
          <a:p>
            <a:pPr marL="342900" indent="-342900">
              <a:lnSpc>
                <a:spcPct val="80000"/>
              </a:lnSpc>
              <a:spcBef>
                <a:spcPct val="20000"/>
              </a:spcBef>
            </a:pPr>
            <a:endParaRPr lang="en-US" altLang="zh-CN" sz="2400" dirty="0">
              <a:solidFill>
                <a:srgbClr val="FF3300"/>
              </a:solidFill>
              <a:latin typeface="微软雅黑" panose="020B0503020204020204" pitchFamily="34" charset="-122"/>
              <a:ea typeface="微软雅黑" panose="020B0503020204020204" pitchFamily="34" charset="-122"/>
            </a:endParaRPr>
          </a:p>
        </p:txBody>
      </p:sp>
      <p:sp>
        <p:nvSpPr>
          <p:cNvPr id="6" name="Rectangle 3"/>
          <p:cNvSpPr/>
          <p:nvPr/>
        </p:nvSpPr>
        <p:spPr>
          <a:xfrm>
            <a:off x="995045" y="3835400"/>
            <a:ext cx="6068695" cy="2399665"/>
          </a:xfrm>
          <a:prstGeom prst="rect">
            <a:avLst/>
          </a:prstGeom>
          <a:noFill/>
          <a:ln w="22225">
            <a:noFill/>
          </a:ln>
        </p:spPr>
        <p:txBody>
          <a:bodyPr wrap="square" anchor="t" anchorCtr="0">
            <a:spAutoFit/>
          </a:bodyPr>
          <a:lstStyle/>
          <a:p>
            <a:pPr lvl="1" indent="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转换后的查询语句为：</a:t>
            </a:r>
          </a:p>
          <a:p>
            <a:pPr eaLnBrk="1" latinLnBrk="0" hangingPunct="1">
              <a:lnSpc>
                <a:spcPct val="125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SELECT warehouse</a:t>
            </a:r>
          </a:p>
          <a:p>
            <a:pPr eaLnBrk="1" latinLnBrk="0" hangingPunct="1">
              <a:lnSpc>
                <a:spcPct val="125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FROM Stock</a:t>
            </a:r>
          </a:p>
          <a:p>
            <a:pPr eaLnBrk="1" latinLnBrk="0" hangingPunct="1">
              <a:lnSpc>
                <a:spcPct val="125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WHERE COUNT(mat_num) &gt;2</a:t>
            </a:r>
          </a:p>
          <a:p>
            <a:pPr eaLnBrk="1" latinLnBrk="0" hangingPunct="1">
              <a:lnSpc>
                <a:spcPct val="125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GROUP BY warehouse;</a:t>
            </a:r>
          </a:p>
        </p:txBody>
      </p:sp>
      <p:sp>
        <p:nvSpPr>
          <p:cNvPr id="7" name="Rectangle 4"/>
          <p:cNvSpPr/>
          <p:nvPr/>
        </p:nvSpPr>
        <p:spPr>
          <a:xfrm>
            <a:off x="6071870" y="2289810"/>
            <a:ext cx="6283960" cy="2399665"/>
          </a:xfrm>
          <a:prstGeom prst="rect">
            <a:avLst/>
          </a:prstGeom>
          <a:noFill/>
          <a:ln w="22225">
            <a:noFill/>
          </a:ln>
        </p:spPr>
        <p:txBody>
          <a:bodyPr wrap="square" anchor="t" anchorCtr="0">
            <a:spAutoFit/>
          </a:bodyPr>
          <a:lstStyle/>
          <a:p>
            <a:pPr eaLnBrk="1" latinLnBrk="0" hangingPunct="1">
              <a:lnSpc>
                <a:spcPct val="125000"/>
              </a:lnSpc>
              <a:spcBef>
                <a:spcPts val="0"/>
              </a:spcBef>
              <a:buClr>
                <a:schemeClr val="folHlink"/>
              </a:buClr>
              <a:buSzPct val="60000"/>
              <a:buFont typeface="Wingdings" panose="05000000000000000000" pitchFamily="2" charset="2"/>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正确：</a:t>
            </a:r>
          </a:p>
          <a:p>
            <a:pPr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SELECT warehouse</a:t>
            </a:r>
          </a:p>
          <a:p>
            <a:pPr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FROM Stock</a:t>
            </a:r>
          </a:p>
          <a:p>
            <a:pPr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GROUP BY warehouse </a:t>
            </a:r>
          </a:p>
          <a:p>
            <a:pPr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HAVING COUNT(mat_num) &gt;2;</a:t>
            </a:r>
          </a:p>
        </p:txBody>
      </p:sp>
      <p:sp>
        <p:nvSpPr>
          <p:cNvPr id="8" name="Text Box 5"/>
          <p:cNvSpPr txBox="1"/>
          <p:nvPr/>
        </p:nvSpPr>
        <p:spPr>
          <a:xfrm>
            <a:off x="4255135" y="4689475"/>
            <a:ext cx="1286510" cy="553085"/>
          </a:xfrm>
          <a:prstGeom prst="rect">
            <a:avLst/>
          </a:prstGeom>
          <a:noFill/>
          <a:ln w="22225">
            <a:noFill/>
          </a:ln>
        </p:spPr>
        <p:txBody>
          <a:bodyPr wrap="square" anchor="t" anchorCtr="0">
            <a:spAutoFit/>
          </a:bodyPr>
          <a:lstStyle/>
          <a:p>
            <a:pPr eaLnBrk="1" latinLnBrk="0" hangingPunct="1">
              <a:lnSpc>
                <a:spcPct val="125000"/>
              </a:lnSpc>
              <a:spcBef>
                <a:spcPts val="0"/>
              </a:spcBef>
              <a:buClr>
                <a:schemeClr val="accent1"/>
              </a:buClr>
            </a:pPr>
            <a:r>
              <a:rPr lang="zh-CN" altLang="en-US" sz="2400" dirty="0">
                <a:solidFill>
                  <a:srgbClr val="CC3300"/>
                </a:solidFill>
                <a:latin typeface="微软雅黑" panose="020B0503020204020204" pitchFamily="34" charset="-122"/>
                <a:ea typeface="微软雅黑" panose="020B0503020204020204" pitchFamily="34" charset="-122"/>
              </a:rPr>
              <a:t>错误！</a:t>
            </a:r>
          </a:p>
        </p:txBody>
      </p:sp>
      <p:pic>
        <p:nvPicPr>
          <p:cNvPr id="2" name="图片 1"/>
          <p:cNvPicPr>
            <a:picLocks noChangeAspect="1"/>
          </p:cNvPicPr>
          <p:nvPr/>
        </p:nvPicPr>
        <p:blipFill>
          <a:blip r:embed="rId3"/>
          <a:stretch>
            <a:fillRect/>
          </a:stretch>
        </p:blipFill>
        <p:spPr>
          <a:xfrm>
            <a:off x="7317105" y="4771390"/>
            <a:ext cx="2748915" cy="108585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3285"/>
                                        </p:tgtEl>
                                        <p:attrNameLst>
                                          <p:attrName>style.visibility</p:attrName>
                                        </p:attrNameLst>
                                      </p:cBhvr>
                                      <p:to>
                                        <p:strVal val="visible"/>
                                      </p:to>
                                    </p:set>
                                    <p:animEffect transition="in" filter="blinds(horizontal)">
                                      <p:cBhvr>
                                        <p:cTn id="7" dur="500"/>
                                        <p:tgtEl>
                                          <p:spTgt spid="35328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5" grpId="0"/>
      <p:bldP spid="353285" grpId="1"/>
      <p:bldP spid="6" grpId="0"/>
      <p:bldP spid="6" grpId="1"/>
      <p:bldP spid="7" grpId="0"/>
      <p:bldP spid="7" grpId="1"/>
      <p:bldP spid="8" grpId="0"/>
      <p:bldP spid="8"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3.5.3 </a:t>
            </a:r>
            <a:r>
              <a:rPr lang="zh-CN" altLang="en-US" sz="2800" b="1" dirty="0">
                <a:solidFill>
                  <a:schemeClr val="bg1"/>
                </a:solidFill>
                <a:latin typeface="微软雅黑" panose="020B0503020204020204" pitchFamily="34" charset="-122"/>
                <a:ea typeface="微软雅黑" panose="020B0503020204020204" pitchFamily="34" charset="-122"/>
              </a:rPr>
              <a:t>更新</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55331" name="Rectangle 3"/>
          <p:cNvSpPr>
            <a:spLocks noGrp="1"/>
          </p:cNvSpPr>
          <p:nvPr/>
        </p:nvSpPr>
        <p:spPr>
          <a:xfrm>
            <a:off x="533400" y="1143000"/>
            <a:ext cx="11050905" cy="49530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indent="0" eaLnBrk="1" latinLnBrk="0" hangingPunct="1">
              <a:lnSpc>
                <a:spcPct val="125000"/>
              </a:lnSpc>
              <a:spcBef>
                <a:spcPts val="0"/>
              </a:spcBef>
              <a:buClr>
                <a:srgbClr val="FFFF66"/>
              </a:buClr>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受限更新</a:t>
            </a:r>
          </a:p>
          <a:p>
            <a:pPr indent="0" eaLnBrk="1" latinLnBrk="0" hangingPunct="1">
              <a:lnSpc>
                <a:spcPct val="125000"/>
              </a:lnSpc>
              <a:spcBef>
                <a:spcPts val="0"/>
              </a:spcBef>
              <a:buClr>
                <a:srgbClr val="FFFF66"/>
              </a:buClr>
              <a:buNone/>
            </a:pPr>
            <a:endPar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endParaRPr>
          </a:p>
          <a:p>
            <a:pPr indent="0" eaLnBrk="1" latinLnBrk="0" hangingPunct="1">
              <a:lnSpc>
                <a:spcPct val="125000"/>
              </a:lnSpc>
              <a:spcBef>
                <a:spcPts val="0"/>
              </a:spcBef>
              <a:buClr>
                <a:srgbClr val="FFFF66"/>
              </a:buClr>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DBMS</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实现视图更新的方法：</a:t>
            </a:r>
          </a:p>
          <a:p>
            <a:pPr lvl="1" indent="0" eaLnBrk="1" latinLnBrk="0" hangingPunct="1">
              <a:lnSpc>
                <a:spcPct val="125000"/>
              </a:lnSpc>
              <a:spcBef>
                <a:spcPts val="0"/>
              </a:spcBef>
            </a:pP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视图消解法</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View Resolution</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p>
          <a:p>
            <a:pPr lvl="1" indent="0" eaLnBrk="1" latinLnBrk="0" hangingPunct="1">
              <a:lnSpc>
                <a:spcPct val="125000"/>
              </a:lnSpc>
              <a:spcBef>
                <a:spcPts val="0"/>
              </a:spcBef>
            </a:pPr>
            <a:endPar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endParaRPr>
          </a:p>
          <a:p>
            <a:pPr indent="0" eaLnBrk="1" latinLnBrk="0" hangingPunct="1">
              <a:lnSpc>
                <a:spcPct val="125000"/>
              </a:lnSpc>
              <a:spcBef>
                <a:spcPts val="0"/>
              </a:spcBef>
              <a:buClr>
                <a:srgbClr val="FFFF66"/>
              </a:buClr>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指定</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WITH CHECK OPTION</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子句后</a:t>
            </a:r>
          </a:p>
          <a:p>
            <a:pPr indent="0" eaLnBrk="1" latinLnBrk="0" hangingPunct="1">
              <a:lnSpc>
                <a:spcPct val="125000"/>
              </a:lnSpc>
              <a:spcBef>
                <a:spcPts val="0"/>
              </a:spcBef>
              <a:buNone/>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DBMS</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在更新视图时会进行检查，防止用户通过视图对不属于视图范围内的基本表数据进行更新。</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3.5.3 </a:t>
            </a:r>
            <a:r>
              <a:rPr lang="zh-CN" altLang="en-US" sz="2800" b="1" dirty="0">
                <a:solidFill>
                  <a:schemeClr val="bg1"/>
                </a:solidFill>
                <a:latin typeface="微软雅黑" panose="020B0503020204020204" pitchFamily="34" charset="-122"/>
                <a:ea typeface="微软雅黑" panose="020B0503020204020204" pitchFamily="34" charset="-122"/>
              </a:rPr>
              <a:t>更新</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56355" name="Rectangle 3"/>
          <p:cNvSpPr/>
          <p:nvPr/>
        </p:nvSpPr>
        <p:spPr>
          <a:xfrm>
            <a:off x="166370" y="917575"/>
            <a:ext cx="11200130" cy="838200"/>
          </a:xfrm>
          <a:prstGeom prst="rect">
            <a:avLst/>
          </a:prstGeom>
          <a:noFill/>
          <a:ln w="9525">
            <a:noFill/>
          </a:ln>
        </p:spPr>
        <p:txBody>
          <a:bodyPr anchor="t" anchorCtr="0"/>
          <a:lstStyle/>
          <a:p>
            <a:pPr marL="342900" indent="0" eaLnBrk="1" latinLnBrk="0" hangingPunct="1">
              <a:lnSpc>
                <a:spcPct val="125000"/>
              </a:lnSpc>
              <a:spcBef>
                <a:spcPts val="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3.86】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将供电局</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仓库的物资视图</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s1_stock</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中编号为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m001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的物资库存量改为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56356" name="Rectangle 4"/>
          <p:cNvSpPr/>
          <p:nvPr/>
        </p:nvSpPr>
        <p:spPr>
          <a:xfrm>
            <a:off x="862965" y="1900555"/>
            <a:ext cx="8850630" cy="1600200"/>
          </a:xfrm>
          <a:prstGeom prst="rect">
            <a:avLst/>
          </a:prstGeom>
          <a:noFill/>
          <a:ln w="9525">
            <a:noFill/>
          </a:ln>
        </p:spPr>
        <p:txBody>
          <a:bodyPr anchor="t" anchorCtr="0"/>
          <a:lstStyle/>
          <a:p>
            <a:pPr marL="342900" indent="0" eaLnBrk="1" latinLnBrk="0" hangingPunct="1">
              <a:lnSpc>
                <a:spcPct val="125000"/>
              </a:lnSpc>
              <a:spcBef>
                <a:spcPts val="0"/>
              </a:spcBef>
            </a:pPr>
            <a:r>
              <a:rPr lang="en-US" altLang="zh-CN" sz="2400" dirty="0">
                <a:solidFill>
                  <a:srgbClr val="CC3300"/>
                </a:solidFill>
                <a:latin typeface="微软雅黑" panose="020B0503020204020204" pitchFamily="34" charset="-122"/>
                <a:ea typeface="微软雅黑" panose="020B0503020204020204" pitchFamily="34" charset="-122"/>
              </a:rPr>
              <a:t>UPDATE s1_stock</a:t>
            </a:r>
          </a:p>
          <a:p>
            <a:pPr marL="342900" indent="0" eaLnBrk="1" latinLnBrk="0" hangingPunct="1">
              <a:lnSpc>
                <a:spcPct val="125000"/>
              </a:lnSpc>
              <a:spcBef>
                <a:spcPts val="0"/>
              </a:spcBef>
            </a:pPr>
            <a:r>
              <a:rPr lang="en-US" altLang="zh-CN" sz="2400" dirty="0">
                <a:solidFill>
                  <a:srgbClr val="CC3300"/>
                </a:solidFill>
                <a:latin typeface="微软雅黑" panose="020B0503020204020204" pitchFamily="34" charset="-122"/>
                <a:ea typeface="微软雅黑" panose="020B0503020204020204" pitchFamily="34" charset="-122"/>
              </a:rPr>
              <a:t>SET amount =100</a:t>
            </a:r>
          </a:p>
          <a:p>
            <a:pPr marL="342900" indent="0" eaLnBrk="1" latinLnBrk="0" hangingPunct="1">
              <a:lnSpc>
                <a:spcPct val="125000"/>
              </a:lnSpc>
              <a:spcBef>
                <a:spcPts val="0"/>
              </a:spcBef>
            </a:pPr>
            <a:r>
              <a:rPr lang="en-US" altLang="zh-CN" sz="2400" dirty="0">
                <a:solidFill>
                  <a:srgbClr val="CC3300"/>
                </a:solidFill>
                <a:latin typeface="微软雅黑" panose="020B0503020204020204" pitchFamily="34" charset="-122"/>
                <a:ea typeface="微软雅黑" panose="020B0503020204020204" pitchFamily="34" charset="-122"/>
              </a:rPr>
              <a:t>WHERE mat_num = 'm001';</a:t>
            </a:r>
          </a:p>
        </p:txBody>
      </p:sp>
      <p:sp>
        <p:nvSpPr>
          <p:cNvPr id="356357" name="Rectangle 5"/>
          <p:cNvSpPr/>
          <p:nvPr/>
        </p:nvSpPr>
        <p:spPr>
          <a:xfrm>
            <a:off x="480695" y="3500755"/>
            <a:ext cx="11002645" cy="2514600"/>
          </a:xfrm>
          <a:prstGeom prst="rect">
            <a:avLst/>
          </a:prstGeom>
          <a:noFill/>
          <a:ln w="9525">
            <a:noFill/>
          </a:ln>
        </p:spPr>
        <p:txBody>
          <a:bodyPr anchor="t" anchorCtr="0"/>
          <a:lstStyle/>
          <a:p>
            <a:pPr marL="742950" lvl="1" indent="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转换后的语句：</a:t>
            </a:r>
          </a:p>
          <a:p>
            <a:pPr marL="342900" indent="0" eaLnBrk="1" latinLnBrk="0" hangingPunct="1">
              <a:lnSpc>
                <a:spcPct val="125000"/>
              </a:lnSpc>
              <a:spcBef>
                <a:spcPts val="0"/>
              </a:spcBef>
            </a:pP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UPDATE Stock</a:t>
            </a:r>
          </a:p>
          <a:p>
            <a:pPr marL="342900" indent="0" eaLnBrk="1" latinLnBrk="0" hangingPunct="1">
              <a:lnSpc>
                <a:spcPct val="125000"/>
              </a:lnSpc>
              <a:spcBef>
                <a:spcPts val="0"/>
              </a:spcBef>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SET amount =100</a:t>
            </a:r>
          </a:p>
          <a:p>
            <a:pPr marL="342900" indent="0" eaLnBrk="1" latinLnBrk="0" hangingPunct="1">
              <a:lnSpc>
                <a:spcPct val="125000"/>
              </a:lnSpc>
              <a:spcBef>
                <a:spcPts val="0"/>
              </a:spcBef>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WHERE warehouse ='</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供电局</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仓库</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a:t>
            </a:r>
          </a:p>
          <a:p>
            <a:pPr marL="342900" indent="0" eaLnBrk="1" latinLnBrk="0" hangingPunct="1">
              <a:lnSpc>
                <a:spcPct val="125000"/>
              </a:lnSpc>
              <a:spcBef>
                <a:spcPts val="0"/>
              </a:spcBef>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AND mat_num = 'm001';</a:t>
            </a:r>
          </a:p>
          <a:p>
            <a:pPr marL="342900" indent="-342900"/>
            <a:endPar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6356"/>
                                        </p:tgtEl>
                                        <p:attrNameLst>
                                          <p:attrName>style.visibility</p:attrName>
                                        </p:attrNameLst>
                                      </p:cBhvr>
                                      <p:to>
                                        <p:strVal val="visible"/>
                                      </p:to>
                                    </p:set>
                                    <p:animEffect transition="in" filter="blinds(horizontal)">
                                      <p:cBhvr>
                                        <p:cTn id="7" dur="500"/>
                                        <p:tgtEl>
                                          <p:spTgt spid="3563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6357"/>
                                        </p:tgtEl>
                                        <p:attrNameLst>
                                          <p:attrName>style.visibility</p:attrName>
                                        </p:attrNameLst>
                                      </p:cBhvr>
                                      <p:to>
                                        <p:strVal val="visible"/>
                                      </p:to>
                                    </p:set>
                                    <p:animEffect transition="in" filter="blinds(horizontal)">
                                      <p:cBhvr>
                                        <p:cTn id="12" dur="500"/>
                                        <p:tgtEl>
                                          <p:spTgt spid="356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6" grpId="0"/>
      <p:bldP spid="356356" grpId="1"/>
      <p:bldP spid="356357" grpId="0"/>
      <p:bldP spid="356357"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3.5.3 </a:t>
            </a:r>
            <a:r>
              <a:rPr lang="zh-CN" altLang="en-US" sz="2800" b="1" dirty="0">
                <a:solidFill>
                  <a:schemeClr val="bg1"/>
                </a:solidFill>
                <a:latin typeface="微软雅黑" panose="020B0503020204020204" pitchFamily="34" charset="-122"/>
                <a:ea typeface="微软雅黑" panose="020B0503020204020204" pitchFamily="34" charset="-122"/>
              </a:rPr>
              <a:t>更新</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57379" name="Rectangle 3"/>
          <p:cNvSpPr/>
          <p:nvPr/>
        </p:nvSpPr>
        <p:spPr>
          <a:xfrm>
            <a:off x="245745" y="746760"/>
            <a:ext cx="11405235" cy="1076325"/>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3.87】</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向供电局</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仓库的物资视图</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s1_stock</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中插入一个新的物资记录，其中物资编号为“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m022”</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，物资名称为“护套绝缘电线”， 规格为“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BVV-150”</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，数量为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，单价为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14.5</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57380" name="Rectangle 4"/>
          <p:cNvSpPr/>
          <p:nvPr/>
        </p:nvSpPr>
        <p:spPr>
          <a:xfrm>
            <a:off x="796290" y="2171700"/>
            <a:ext cx="10598785" cy="160020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INSERT</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INTO s1_stock</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VALUES('m022',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护套绝缘电线</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'BVV-150', 100,14.5);</a:t>
            </a:r>
          </a:p>
        </p:txBody>
      </p:sp>
      <p:pic>
        <p:nvPicPr>
          <p:cNvPr id="2" name="图片 -2147482573"/>
          <p:cNvPicPr>
            <a:picLocks noChangeAspect="1"/>
          </p:cNvPicPr>
          <p:nvPr/>
        </p:nvPicPr>
        <p:blipFill>
          <a:blip r:embed="rId3"/>
          <a:stretch>
            <a:fillRect/>
          </a:stretch>
        </p:blipFill>
        <p:spPr>
          <a:xfrm>
            <a:off x="5174615" y="3620770"/>
            <a:ext cx="6476365" cy="2755900"/>
          </a:xfrm>
          <a:prstGeom prst="rect">
            <a:avLst/>
          </a:prstGeom>
          <a:noFill/>
          <a:ln w="9525">
            <a:no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3.5.3 </a:t>
            </a:r>
            <a:r>
              <a:rPr lang="zh-CN" altLang="en-US" sz="2800" b="1" dirty="0">
                <a:solidFill>
                  <a:schemeClr val="bg1"/>
                </a:solidFill>
                <a:latin typeface="微软雅黑" panose="020B0503020204020204" pitchFamily="34" charset="-122"/>
                <a:ea typeface="微软雅黑" panose="020B0503020204020204" pitchFamily="34" charset="-122"/>
              </a:rPr>
              <a:t>更新</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3"/>
          <p:cNvSpPr/>
          <p:nvPr/>
        </p:nvSpPr>
        <p:spPr>
          <a:xfrm>
            <a:off x="498475" y="1057275"/>
            <a:ext cx="11111865" cy="1076325"/>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若向供电局</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仓库的物资视图</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s2_stock</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中插入一个新的物资记录，分析结果。</a:t>
            </a:r>
          </a:p>
        </p:txBody>
      </p:sp>
      <p:sp>
        <p:nvSpPr>
          <p:cNvPr id="6" name="Rectangle 4"/>
          <p:cNvSpPr/>
          <p:nvPr/>
        </p:nvSpPr>
        <p:spPr>
          <a:xfrm>
            <a:off x="788670" y="1857693"/>
            <a:ext cx="7848600" cy="160020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INSERT</a:t>
            </a: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INTO</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s2_stock</a:t>
            </a:r>
            <a:endPar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VALUES('m023',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护套绝缘电线</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'BVV-150', 100,13.5);</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670" y="3676333"/>
            <a:ext cx="10145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3.5.3 </a:t>
            </a:r>
            <a:r>
              <a:rPr lang="zh-CN" altLang="en-US" sz="2800" b="1" dirty="0">
                <a:solidFill>
                  <a:schemeClr val="bg1"/>
                </a:solidFill>
                <a:latin typeface="微软雅黑" panose="020B0503020204020204" pitchFamily="34" charset="-122"/>
                <a:ea typeface="微软雅黑" panose="020B0503020204020204" pitchFamily="34" charset="-122"/>
              </a:rPr>
              <a:t>更新</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58403" name="Rectangle 3"/>
          <p:cNvSpPr/>
          <p:nvPr/>
        </p:nvSpPr>
        <p:spPr>
          <a:xfrm>
            <a:off x="245745" y="853440"/>
            <a:ext cx="11313795" cy="838200"/>
          </a:xfrm>
          <a:prstGeom prst="rect">
            <a:avLst/>
          </a:prstGeom>
          <a:noFill/>
          <a:ln w="9525">
            <a:noFill/>
          </a:ln>
        </p:spPr>
        <p:txBody>
          <a:bodyPr anchor="t" anchorCtr="0"/>
          <a:lstStyle/>
          <a:p>
            <a:pPr marL="342900" indent="0"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3.88】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删除供电局</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仓库的物资视图</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s1_stock</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中编号为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m001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的物资的记录。</a:t>
            </a:r>
          </a:p>
          <a:p>
            <a:pPr marL="342900" indent="-342900">
              <a:spcBef>
                <a:spcPct val="20000"/>
              </a:spcBef>
            </a:pPr>
            <a:endPar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8404" name="Rectangle 4"/>
          <p:cNvSpPr/>
          <p:nvPr/>
        </p:nvSpPr>
        <p:spPr>
          <a:xfrm>
            <a:off x="626745" y="1691640"/>
            <a:ext cx="8627110" cy="1600200"/>
          </a:xfrm>
          <a:prstGeom prst="rect">
            <a:avLst/>
          </a:prstGeom>
          <a:noFill/>
          <a:ln w="9525">
            <a:noFill/>
          </a:ln>
        </p:spPr>
        <p:txBody>
          <a:bodyPr anchor="t" anchorCtr="0"/>
          <a:lstStyle/>
          <a:p>
            <a:pPr marL="342900" indent="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DELETE </a:t>
            </a:r>
          </a:p>
          <a:p>
            <a:pPr marL="342900" indent="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FROM s1_stock</a:t>
            </a:r>
          </a:p>
          <a:p>
            <a:pPr marL="342900" indent="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rPr>
              <a:t>  WHERE mat_num = 'm001';</a:t>
            </a:r>
          </a:p>
        </p:txBody>
      </p:sp>
      <p:sp>
        <p:nvSpPr>
          <p:cNvPr id="358405" name="Rectangle 5"/>
          <p:cNvSpPr/>
          <p:nvPr/>
        </p:nvSpPr>
        <p:spPr>
          <a:xfrm>
            <a:off x="496570" y="3431540"/>
            <a:ext cx="10953750" cy="2514600"/>
          </a:xfrm>
          <a:prstGeom prst="rect">
            <a:avLst/>
          </a:prstGeom>
          <a:noFill/>
          <a:ln w="9525">
            <a:noFill/>
          </a:ln>
        </p:spPr>
        <p:txBody>
          <a:bodyPr anchor="t" anchorCtr="0"/>
          <a:lstStyle/>
          <a:p>
            <a:pPr marL="742950" lvl="1" indent="0" eaLnBrk="1" latinLnBrk="0" hangingPunct="1">
              <a:lnSpc>
                <a:spcPct val="125000"/>
              </a:lnSpc>
              <a:spcBef>
                <a:spcPts val="0"/>
              </a:spcBef>
              <a:buClr>
                <a:schemeClr val="hlink"/>
              </a:buClr>
              <a:buSzPct val="55000"/>
              <a:buFont typeface="Wingdings" panose="05000000000000000000" pitchFamily="2" charset="2"/>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转换后的语句：</a:t>
            </a:r>
          </a:p>
          <a:p>
            <a:pPr marL="342900" indent="0" eaLnBrk="1" latinLnBrk="0" hangingPunct="1">
              <a:lnSpc>
                <a:spcPct val="125000"/>
              </a:lnSpc>
              <a:spcBef>
                <a:spcPts val="0"/>
              </a:spcBef>
            </a:pP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DELETE </a:t>
            </a:r>
          </a:p>
          <a:p>
            <a:pPr marL="342900" indent="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FROM Stock</a:t>
            </a:r>
          </a:p>
          <a:p>
            <a:pPr marL="342900" indent="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WHERE warehouse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供电局</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仓库</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p>
          <a:p>
            <a:pPr marL="342900" indent="0" eaLnBrk="1" latinLnBrk="0" hangingPunct="1">
              <a:lnSpc>
                <a:spcPct val="125000"/>
              </a:lnSpc>
              <a:spcBef>
                <a:spcPts val="0"/>
              </a:spcBef>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AND mat_num = 'm001';</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04"/>
                                        </p:tgtEl>
                                        <p:attrNameLst>
                                          <p:attrName>style.visibility</p:attrName>
                                        </p:attrNameLst>
                                      </p:cBhvr>
                                      <p:to>
                                        <p:strVal val="visible"/>
                                      </p:to>
                                    </p:set>
                                    <p:animEffect transition="in" filter="blinds(horizontal)">
                                      <p:cBhvr>
                                        <p:cTn id="7" dur="500"/>
                                        <p:tgtEl>
                                          <p:spTgt spid="3584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05"/>
                                        </p:tgtEl>
                                        <p:attrNameLst>
                                          <p:attrName>style.visibility</p:attrName>
                                        </p:attrNameLst>
                                      </p:cBhvr>
                                      <p:to>
                                        <p:strVal val="visible"/>
                                      </p:to>
                                    </p:set>
                                    <p:animEffect transition="in" filter="blinds(horizontal)">
                                      <p:cBhvr>
                                        <p:cTn id="12" dur="500"/>
                                        <p:tgtEl>
                                          <p:spTgt spid="358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4" grpId="0"/>
      <p:bldP spid="358404" grpId="1"/>
      <p:bldP spid="358405" grpId="0"/>
      <p:bldP spid="358405"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3.5.3 </a:t>
            </a:r>
            <a:r>
              <a:rPr lang="zh-CN" altLang="en-US" sz="2800" b="1" dirty="0">
                <a:solidFill>
                  <a:schemeClr val="bg1"/>
                </a:solidFill>
                <a:latin typeface="微软雅黑" panose="020B0503020204020204" pitchFamily="34" charset="-122"/>
                <a:ea typeface="微软雅黑" panose="020B0503020204020204" pitchFamily="34" charset="-122"/>
              </a:rPr>
              <a:t>更新</a:t>
            </a:r>
            <a:r>
              <a:rPr lang="zh-CN" sz="2800" b="1" dirty="0">
                <a:solidFill>
                  <a:schemeClr val="bg1"/>
                </a:solidFill>
                <a:latin typeface="微软雅黑" panose="020B0503020204020204" pitchFamily="34" charset="-122"/>
                <a:ea typeface="微软雅黑" panose="020B0503020204020204" pitchFamily="34" charset="-122"/>
              </a:rPr>
              <a:t>视图</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89442" name="Rectangle 3"/>
          <p:cNvSpPr/>
          <p:nvPr/>
        </p:nvSpPr>
        <p:spPr>
          <a:xfrm>
            <a:off x="483235" y="775335"/>
            <a:ext cx="10948670" cy="3784600"/>
          </a:xfrm>
          <a:prstGeom prst="rect">
            <a:avLst/>
          </a:prstGeom>
          <a:noFill/>
          <a:ln w="22225">
            <a:noFill/>
          </a:ln>
        </p:spPr>
        <p:txBody>
          <a:bodyPr wrap="square" anchor="t" anchorCtr="0">
            <a:spAutoFit/>
          </a:bodyPr>
          <a:lstStyle/>
          <a:p>
            <a:pPr eaLnBrk="1" latinLnBrk="0" hangingPunct="1">
              <a:lnSpc>
                <a:spcPct val="125000"/>
              </a:lnSpc>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在关系数据库中，并不是所有视图都可用于更新操作，因为</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有些视图的更新操作不能唯一有意义地转换成为相对应基本表的更新操作</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SQL SERVER</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中规定</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以下视图无法更新</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25000"/>
              </a:lnSpc>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视图的字段来自聚集函数；</a:t>
            </a:r>
          </a:p>
          <a:p>
            <a:pPr eaLnBrk="1" latinLnBrk="0" hangingPunct="1">
              <a:lnSpc>
                <a:spcPct val="125000"/>
              </a:lnSpc>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视图定义中含有</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GROUP BY</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子句；</a:t>
            </a:r>
          </a:p>
          <a:p>
            <a:pPr eaLnBrk="1" latinLnBrk="0" hangingPunct="1">
              <a:lnSpc>
                <a:spcPct val="125000"/>
              </a:lnSpc>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视图定义中含有</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DISTINCT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短语</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一个不允许更新的视图上定义的视图也不允许更新。</a:t>
            </a:r>
            <a:endPar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3.5.4 </a:t>
            </a:r>
            <a:r>
              <a:rPr lang="zh-CN" sz="2800" b="1" dirty="0">
                <a:solidFill>
                  <a:schemeClr val="bg1"/>
                </a:solidFill>
                <a:latin typeface="微软雅黑" panose="020B0503020204020204" pitchFamily="34" charset="-122"/>
                <a:ea typeface="微软雅黑" panose="020B0503020204020204" pitchFamily="34" charset="-122"/>
              </a:rPr>
              <a:t>视图的作用</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90466" name="Rectangle 3"/>
          <p:cNvSpPr/>
          <p:nvPr/>
        </p:nvSpPr>
        <p:spPr>
          <a:xfrm>
            <a:off x="372110" y="803275"/>
            <a:ext cx="11065510" cy="533400"/>
          </a:xfrm>
          <a:prstGeom prst="rect">
            <a:avLst/>
          </a:prstGeom>
          <a:noFill/>
          <a:ln w="9525">
            <a:noFill/>
          </a:ln>
        </p:spPr>
        <p:txBody>
          <a:bodyPr anchor="t" anchorCtr="0"/>
          <a:lstStyle/>
          <a:p>
            <a:pPr marL="342900" indent="-342900" latinLnBrk="0">
              <a:lnSpc>
                <a:spcPct val="125000"/>
              </a:lnSpc>
              <a:spcBef>
                <a:spcPts val="0"/>
              </a:spcBef>
              <a:buClr>
                <a:srgbClr val="FFFF66"/>
              </a:buClr>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能够简化用户的操作</a:t>
            </a:r>
          </a:p>
        </p:txBody>
      </p:sp>
      <p:sp>
        <p:nvSpPr>
          <p:cNvPr id="360452" name="Rectangle 4"/>
          <p:cNvSpPr/>
          <p:nvPr/>
        </p:nvSpPr>
        <p:spPr>
          <a:xfrm>
            <a:off x="523240" y="1328420"/>
            <a:ext cx="10763250" cy="1014730"/>
          </a:xfrm>
          <a:prstGeom prst="rect">
            <a:avLst/>
          </a:prstGeom>
          <a:noFill/>
          <a:ln w="22225">
            <a:noFill/>
          </a:ln>
        </p:spPr>
        <p:txBody>
          <a:bodyPr wrap="square" anchor="t" anchorCtr="0">
            <a:spAutoFit/>
          </a:bodyPr>
          <a:lstStyle/>
          <a:p>
            <a:pPr latinLnBrk="0">
              <a:lnSpc>
                <a:spcPct val="125000"/>
              </a:lnSpc>
              <a:spcBef>
                <a:spcPts val="0"/>
              </a:spcBef>
              <a:buClr>
                <a:schemeClr val="folHlink"/>
              </a:buClr>
              <a:buSzPct val="60000"/>
              <a:buFont typeface="Wingdings" panose="05000000000000000000" pitchFamily="2" charset="2"/>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当视图中的数据不是直接来自某个基本表，而是基于多张表的连接而形成的视图，定义视图能够简化用户的数据查询操作。</a:t>
            </a:r>
          </a:p>
        </p:txBody>
      </p:sp>
      <p:sp>
        <p:nvSpPr>
          <p:cNvPr id="360453" name="Rectangle 5"/>
          <p:cNvSpPr/>
          <p:nvPr/>
        </p:nvSpPr>
        <p:spPr>
          <a:xfrm>
            <a:off x="245745" y="2358390"/>
            <a:ext cx="11065510" cy="533400"/>
          </a:xfrm>
          <a:prstGeom prst="rect">
            <a:avLst/>
          </a:prstGeom>
          <a:noFill/>
          <a:ln w="9525">
            <a:noFill/>
          </a:ln>
        </p:spPr>
        <p:txBody>
          <a:bodyPr anchor="t" anchorCtr="0"/>
          <a:lstStyle/>
          <a:p>
            <a:pPr marL="342900" indent="-342900" latinLnBrk="0">
              <a:lnSpc>
                <a:spcPct val="125000"/>
              </a:lnSpc>
              <a:spcBef>
                <a:spcPts val="0"/>
              </a:spcBef>
              <a:buClr>
                <a:srgbClr val="FFFF66"/>
              </a:buClr>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能够使用户以多种角度看待同一数据</a:t>
            </a:r>
          </a:p>
        </p:txBody>
      </p:sp>
      <p:sp>
        <p:nvSpPr>
          <p:cNvPr id="360454" name="Rectangle 6"/>
          <p:cNvSpPr/>
          <p:nvPr/>
        </p:nvSpPr>
        <p:spPr>
          <a:xfrm>
            <a:off x="548005" y="3007995"/>
            <a:ext cx="10763250" cy="553085"/>
          </a:xfrm>
          <a:prstGeom prst="rect">
            <a:avLst/>
          </a:prstGeom>
          <a:noFill/>
          <a:ln w="22225">
            <a:noFill/>
          </a:ln>
        </p:spPr>
        <p:txBody>
          <a:bodyPr wrap="square" anchor="t" anchorCtr="0">
            <a:spAutoFit/>
          </a:bodyPr>
          <a:lstStyle/>
          <a:p>
            <a:pPr eaLnBrk="0" latinLnBrk="0" hangingPunct="0">
              <a:lnSpc>
                <a:spcPct val="125000"/>
              </a:lnSpc>
              <a:spcBef>
                <a:spcPts val="0"/>
              </a:spcBef>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视图机制能使不同用户以不同方式看待同一数据，适应数据库共享的需要。</a:t>
            </a:r>
          </a:p>
        </p:txBody>
      </p:sp>
      <p:sp>
        <p:nvSpPr>
          <p:cNvPr id="360455" name="Rectangle 7"/>
          <p:cNvSpPr/>
          <p:nvPr/>
        </p:nvSpPr>
        <p:spPr>
          <a:xfrm>
            <a:off x="372110" y="3561080"/>
            <a:ext cx="11065510" cy="838200"/>
          </a:xfrm>
          <a:prstGeom prst="rect">
            <a:avLst/>
          </a:prstGeom>
          <a:noFill/>
          <a:ln w="9525">
            <a:noFill/>
          </a:ln>
        </p:spPr>
        <p:txBody>
          <a:bodyPr anchor="t" anchorCtr="0"/>
          <a:lstStyle/>
          <a:p>
            <a:pPr marL="342900" indent="-342900" latinLnBrk="0">
              <a:lnSpc>
                <a:spcPct val="125000"/>
              </a:lnSpc>
              <a:spcBef>
                <a:spcPts val="0"/>
              </a:spcBef>
              <a:buClr>
                <a:srgbClr val="FFFF66"/>
              </a:buClr>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能够对机密数据提供安全保护</a:t>
            </a:r>
          </a:p>
        </p:txBody>
      </p:sp>
      <p:sp>
        <p:nvSpPr>
          <p:cNvPr id="360456" name="Rectangle 8"/>
          <p:cNvSpPr/>
          <p:nvPr/>
        </p:nvSpPr>
        <p:spPr>
          <a:xfrm>
            <a:off x="497205" y="4142105"/>
            <a:ext cx="10562590" cy="553085"/>
          </a:xfrm>
          <a:prstGeom prst="rect">
            <a:avLst/>
          </a:prstGeom>
          <a:noFill/>
          <a:ln w="22225">
            <a:noFill/>
          </a:ln>
        </p:spPr>
        <p:txBody>
          <a:bodyPr wrap="square" anchor="t" anchorCtr="0">
            <a:spAutoFit/>
          </a:bodyPr>
          <a:lstStyle/>
          <a:p>
            <a:pPr latinLnBrk="0">
              <a:lnSpc>
                <a:spcPct val="125000"/>
              </a:lnSpc>
              <a:spcBef>
                <a:spcPts val="0"/>
              </a:spcBef>
              <a:buClr>
                <a:schemeClr val="folHlink"/>
              </a:buClr>
              <a:buSzPct val="60000"/>
              <a:buFont typeface="Wingdings" panose="05000000000000000000" pitchFamily="2" charset="2"/>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对不同用户定义不同视图，使每个用户只能看到他有权看到的数据；</a:t>
            </a:r>
          </a:p>
        </p:txBody>
      </p:sp>
      <p:sp>
        <p:nvSpPr>
          <p:cNvPr id="191490" name="Rectangle 3"/>
          <p:cNvSpPr/>
          <p:nvPr/>
        </p:nvSpPr>
        <p:spPr>
          <a:xfrm>
            <a:off x="372110" y="4908550"/>
            <a:ext cx="9636760" cy="838200"/>
          </a:xfrm>
          <a:prstGeom prst="rect">
            <a:avLst/>
          </a:prstGeom>
          <a:noFill/>
          <a:ln w="9525">
            <a:noFill/>
          </a:ln>
        </p:spPr>
        <p:txBody>
          <a:bodyPr anchor="t" anchorCtr="0"/>
          <a:lstStyle/>
          <a:p>
            <a:pPr marL="342900" indent="-342900">
              <a:spcBef>
                <a:spcPct val="20000"/>
              </a:spcBef>
              <a:buClr>
                <a:srgbClr val="FFFF66"/>
              </a:buClr>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对数据库的重构提供了一定程度的逻辑独立性</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0452"/>
                                        </p:tgtEl>
                                        <p:attrNameLst>
                                          <p:attrName>style.visibility</p:attrName>
                                        </p:attrNameLst>
                                      </p:cBhvr>
                                      <p:to>
                                        <p:strVal val="visible"/>
                                      </p:to>
                                    </p:set>
                                    <p:animEffect transition="in" filter="blinds(horizontal)">
                                      <p:cBhvr>
                                        <p:cTn id="7" dur="500"/>
                                        <p:tgtEl>
                                          <p:spTgt spid="3604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60453"/>
                                        </p:tgtEl>
                                        <p:attrNameLst>
                                          <p:attrName>style.visibility</p:attrName>
                                        </p:attrNameLst>
                                      </p:cBhvr>
                                      <p:to>
                                        <p:strVal val="visible"/>
                                      </p:to>
                                    </p:set>
                                    <p:anim calcmode="lin" valueType="num">
                                      <p:cBhvr additive="base">
                                        <p:cTn id="12" dur="500" fill="hold"/>
                                        <p:tgtEl>
                                          <p:spTgt spid="360453"/>
                                        </p:tgtEl>
                                        <p:attrNameLst>
                                          <p:attrName>ppt_x</p:attrName>
                                        </p:attrNameLst>
                                      </p:cBhvr>
                                      <p:tavLst>
                                        <p:tav tm="0">
                                          <p:val>
                                            <p:strVal val="0-#ppt_w/2"/>
                                          </p:val>
                                        </p:tav>
                                        <p:tav tm="100000">
                                          <p:val>
                                            <p:strVal val="#ppt_x"/>
                                          </p:val>
                                        </p:tav>
                                      </p:tavLst>
                                    </p:anim>
                                    <p:anim calcmode="lin" valueType="num">
                                      <p:cBhvr additive="base">
                                        <p:cTn id="13" dur="500" fill="hold"/>
                                        <p:tgtEl>
                                          <p:spTgt spid="36045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60454"/>
                                        </p:tgtEl>
                                        <p:attrNameLst>
                                          <p:attrName>style.visibility</p:attrName>
                                        </p:attrNameLst>
                                      </p:cBhvr>
                                      <p:to>
                                        <p:strVal val="visible"/>
                                      </p:to>
                                    </p:set>
                                    <p:animEffect transition="in" filter="blinds(horizontal)">
                                      <p:cBhvr>
                                        <p:cTn id="18" dur="500"/>
                                        <p:tgtEl>
                                          <p:spTgt spid="36045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60455"/>
                                        </p:tgtEl>
                                        <p:attrNameLst>
                                          <p:attrName>style.visibility</p:attrName>
                                        </p:attrNameLst>
                                      </p:cBhvr>
                                      <p:to>
                                        <p:strVal val="visible"/>
                                      </p:to>
                                    </p:set>
                                    <p:animEffect transition="in" filter="blinds(horizontal)">
                                      <p:cBhvr>
                                        <p:cTn id="23" dur="500"/>
                                        <p:tgtEl>
                                          <p:spTgt spid="36045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60456"/>
                                        </p:tgtEl>
                                        <p:attrNameLst>
                                          <p:attrName>style.visibility</p:attrName>
                                        </p:attrNameLst>
                                      </p:cBhvr>
                                      <p:to>
                                        <p:strVal val="visible"/>
                                      </p:to>
                                    </p:set>
                                    <p:animEffect transition="in" filter="blinds(horizontal)">
                                      <p:cBhvr>
                                        <p:cTn id="28" dur="500"/>
                                        <p:tgtEl>
                                          <p:spTgt spid="36045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91490"/>
                                        </p:tgtEl>
                                        <p:attrNameLst>
                                          <p:attrName>style.visibility</p:attrName>
                                        </p:attrNameLst>
                                      </p:cBhvr>
                                      <p:to>
                                        <p:strVal val="visible"/>
                                      </p:to>
                                    </p:set>
                                    <p:animEffect transition="in" filter="blinds(horizontal)">
                                      <p:cBhvr>
                                        <p:cTn id="33" dur="500"/>
                                        <p:tgtEl>
                                          <p:spTgt spid="191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2" grpId="0"/>
      <p:bldP spid="360453" grpId="0"/>
      <p:bldP spid="360454" grpId="0"/>
      <p:bldP spid="360455" grpId="0"/>
      <p:bldP spid="360456" grpId="0"/>
      <p:bldP spid="191490" grpId="0"/>
      <p:bldP spid="191490"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 </a:t>
            </a:r>
            <a:r>
              <a:rPr lang="zh-CN" sz="2800" b="1" dirty="0">
                <a:solidFill>
                  <a:schemeClr val="bg1"/>
                </a:solidFill>
                <a:latin typeface="微软雅黑" panose="020B0503020204020204" pitchFamily="34" charset="-122"/>
                <a:ea typeface="微软雅黑" panose="020B0503020204020204" pitchFamily="34" charset="-122"/>
              </a:rPr>
              <a:t>视图</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3.5.4 </a:t>
            </a:r>
            <a:r>
              <a:rPr lang="zh-CN" sz="2800" b="1" dirty="0">
                <a:solidFill>
                  <a:schemeClr val="bg1"/>
                </a:solidFill>
                <a:latin typeface="微软雅黑" panose="020B0503020204020204" pitchFamily="34" charset="-122"/>
                <a:ea typeface="微软雅黑" panose="020B0503020204020204" pitchFamily="34" charset="-122"/>
              </a:rPr>
              <a:t>视图的作用</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61476" name="Rectangle 4"/>
          <p:cNvSpPr/>
          <p:nvPr/>
        </p:nvSpPr>
        <p:spPr>
          <a:xfrm>
            <a:off x="387350" y="739775"/>
            <a:ext cx="11052810" cy="2011680"/>
          </a:xfrm>
          <a:prstGeom prst="rect">
            <a:avLst/>
          </a:prstGeom>
          <a:noFill/>
          <a:ln w="22225">
            <a:noFill/>
          </a:ln>
        </p:spPr>
        <p:txBody>
          <a:bodyPr wrap="square" anchor="t" anchorCtr="0">
            <a:spAutoFit/>
          </a:bodyPr>
          <a:lstStyle/>
          <a:p>
            <a:pPr indent="0" eaLnBrk="1" latinLnBrk="0" hangingPunct="1">
              <a:lnSpc>
                <a:spcPct val="100000"/>
              </a:lnSpc>
              <a:spcBef>
                <a:spcPts val="0"/>
              </a:spcBef>
              <a:buClr>
                <a:schemeClr val="folHlink"/>
              </a:buClr>
              <a:buSzPct val="60000"/>
              <a:buFont typeface="Wingdings" panose="05000000000000000000" pitchFamily="2" charset="2"/>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配电物资库存记录表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Stock(mat_num,mat_name,speci,warehouse, amount,unit,total),</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垂直”地分成两个基本表</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a:t>
            </a:r>
          </a:p>
          <a:p>
            <a:pPr indent="0" eaLnBrk="1" latinLnBrk="0" hangingPunct="1">
              <a:lnSpc>
                <a:spcPct val="100000"/>
              </a:lnSpc>
              <a:spcBef>
                <a:spcPts val="0"/>
              </a:spcBef>
              <a:buClr>
                <a:schemeClr val="folHlink"/>
              </a:buClr>
              <a:buSzPct val="60000"/>
              <a:buFont typeface="Wingdings" panose="05000000000000000000" pitchFamily="2" charset="2"/>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s1(mat_num,mat_name,speci,warehouse)</a:t>
            </a:r>
          </a:p>
          <a:p>
            <a:pPr indent="0" eaLnBrk="1" latinLnBrk="0" hangingPunct="1">
              <a:lnSpc>
                <a:spcPct val="100000"/>
              </a:lnSpc>
              <a:spcBef>
                <a:spcPts val="0"/>
              </a:spcBef>
              <a:buClr>
                <a:schemeClr val="folHlink"/>
              </a:buClr>
              <a:buSzPct val="60000"/>
              <a:buFont typeface="Wingdings" panose="05000000000000000000" pitchFamily="2" charset="2"/>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s2(mat_num,amount,unit, total ) </a:t>
            </a:r>
          </a:p>
          <a:p>
            <a:pPr>
              <a:spcBef>
                <a:spcPct val="20000"/>
              </a:spcBef>
              <a:buClr>
                <a:schemeClr val="folHlink"/>
              </a:buClr>
              <a:buSzPct val="60000"/>
              <a:buFont typeface="Wingdings" panose="05000000000000000000" pitchFamily="2" charset="2"/>
            </a:pPr>
            <a:endPar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2514" name="Rectangle 3"/>
          <p:cNvSpPr>
            <a:spLocks noGrp="1"/>
          </p:cNvSpPr>
          <p:nvPr/>
        </p:nvSpPr>
        <p:spPr>
          <a:xfrm>
            <a:off x="245745" y="2385060"/>
            <a:ext cx="11194415" cy="41148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indent="0" eaLnBrk="1" latinLnBrk="0" hangingPunct="1">
              <a:lnSpc>
                <a:spcPct val="100000"/>
              </a:lnSpc>
              <a:spcBef>
                <a:spcPts val="0"/>
              </a:spcBef>
              <a:buNone/>
            </a:pP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通过建立一个视图</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a:t>
            </a:r>
          </a:p>
          <a:p>
            <a:pPr lvl="1" indent="0" eaLnBrk="1" latinLnBrk="0" hangingPunct="1">
              <a:lnSpc>
                <a:spcPct val="10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CREATE VIEW Stock(mat_num,mat_name,speci, warehouse, amount,unit,total)</a:t>
            </a:r>
          </a:p>
          <a:p>
            <a:pPr lvl="1" indent="0" eaLnBrk="1" latinLnBrk="0" hangingPunct="1">
              <a:lnSpc>
                <a:spcPct val="10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AS</a:t>
            </a:r>
          </a:p>
          <a:p>
            <a:pPr lvl="1" indent="0" eaLnBrk="1" latinLnBrk="0" hangingPunct="1">
              <a:lnSpc>
                <a:spcPct val="10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SELECT s1.mat_num, s1.mat_name, s1.speci, s1.warehouse, s2.amount, s2.unit, s2.total</a:t>
            </a:r>
          </a:p>
          <a:p>
            <a:pPr lvl="1" indent="0" eaLnBrk="1" latinLnBrk="0" hangingPunct="1">
              <a:lnSpc>
                <a:spcPct val="10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FROM s1, s2</a:t>
            </a:r>
          </a:p>
          <a:p>
            <a:pPr lvl="1" indent="0" eaLnBrk="1" latinLnBrk="0" hangingPunct="1">
              <a:lnSpc>
                <a:spcPct val="10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WHERE s1.mat_num =s2. mat_num </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p>
          <a:p>
            <a:pPr indent="0" eaLnBrk="1" latinLnBrk="0" hangingPunct="1">
              <a:lnSpc>
                <a:spcPct val="100000"/>
              </a:lnSpc>
              <a:spcBef>
                <a:spcPts val="0"/>
              </a:spcBef>
              <a:buNone/>
            </a:pP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p>
          <a:p>
            <a:pPr indent="0" eaLnBrk="1" latinLnBrk="0" hangingPunct="1">
              <a:lnSpc>
                <a:spcPct val="100000"/>
              </a:lnSpc>
              <a:spcBef>
                <a:spcPts val="0"/>
              </a:spcBef>
              <a:buNone/>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使用户的外模式保持不变，从而对原</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表的查询程序不必修改。</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2514"/>
                                        </p:tgtEl>
                                        <p:attrNameLst>
                                          <p:attrName>style.visibility</p:attrName>
                                        </p:attrNameLst>
                                      </p:cBhvr>
                                      <p:to>
                                        <p:strVal val="visible"/>
                                      </p:to>
                                    </p:set>
                                    <p:animEffect transition="in" filter="blinds(horizontal)">
                                      <p:cBhvr>
                                        <p:cTn id="7" dur="500"/>
                                        <p:tgtEl>
                                          <p:spTgt spid="192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p:bldP spid="192514"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小结</a:t>
            </a:r>
          </a:p>
        </p:txBody>
      </p:sp>
      <p:sp>
        <p:nvSpPr>
          <p:cNvPr id="5" name="圆角矩形 4"/>
          <p:cNvSpPr/>
          <p:nvPr/>
        </p:nvSpPr>
        <p:spPr>
          <a:xfrm>
            <a:off x="372110" y="859155"/>
            <a:ext cx="10984865" cy="232600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视图的定义与删除</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查询视图</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更新视图</a:t>
            </a: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视图的作用</a:t>
            </a:r>
          </a:p>
        </p:txBody>
      </p:sp>
      <p:sp>
        <p:nvSpPr>
          <p:cNvPr id="2" name="矩形 1"/>
          <p:cNvSpPr/>
          <p:nvPr/>
        </p:nvSpPr>
        <p:spPr>
          <a:xfrm>
            <a:off x="4313693" y="3600884"/>
            <a:ext cx="3695242"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谢谢观看！</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4CC2E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2405</Words>
  <Application>Microsoft Macintosh PowerPoint</Application>
  <PresentationFormat>宽屏</PresentationFormat>
  <Paragraphs>290</Paragraphs>
  <Slides>27</Slides>
  <Notes>27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宋体</vt:lpstr>
      <vt:lpstr>微软雅黑</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zhouping</dc:creator>
  <cp:lastModifiedBy>Qingting Xu</cp:lastModifiedBy>
  <cp:revision>1363</cp:revision>
  <dcterms:created xsi:type="dcterms:W3CDTF">2014-07-02T10:42:00Z</dcterms:created>
  <dcterms:modified xsi:type="dcterms:W3CDTF">2025-09-23T14:26:03Z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所有者">
    <vt:lpwstr>大同煤炭职业技术学院</vt:lpwstr>
  </property>
  <property fmtid="{D5CDD505-2E9C-101B-9397-08002B2CF9AE}" pid="3" name="KSOProductBuildVer">
    <vt:lpwstr>2052-11.1.0.10700</vt:lpwstr>
  </property>
  <property fmtid="{D5CDD505-2E9C-101B-9397-08002B2CF9AE}" pid="4" name="ICV">
    <vt:lpwstr>BA16732F245B4E5F952BB3F8A87DBEDA</vt:lpwstr>
  </property>
</Properties>
</file>