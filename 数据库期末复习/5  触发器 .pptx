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86" r:id="rId2"/>
    <p:sldId id="454" r:id="rId3"/>
    <p:sldId id="477" r:id="rId4"/>
    <p:sldId id="530" r:id="rId5"/>
    <p:sldId id="531" r:id="rId6"/>
    <p:sldId id="532" r:id="rId7"/>
    <p:sldId id="533" r:id="rId8"/>
    <p:sldId id="534" r:id="rId9"/>
    <p:sldId id="535" r:id="rId10"/>
    <p:sldId id="536" r:id="rId11"/>
    <p:sldId id="537" r:id="rId12"/>
    <p:sldId id="538" r:id="rId13"/>
    <p:sldId id="539" r:id="rId14"/>
    <p:sldId id="489" r:id="rId15"/>
    <p:sldId id="509" r:id="rId16"/>
    <p:sldId id="462" r:id="rId17"/>
    <p:sldId id="478" r:id="rId18"/>
    <p:sldId id="479" r:id="rId19"/>
    <p:sldId id="480" r:id="rId20"/>
    <p:sldId id="481" r:id="rId21"/>
    <p:sldId id="482" r:id="rId22"/>
    <p:sldId id="483" r:id="rId23"/>
    <p:sldId id="484" r:id="rId24"/>
    <p:sldId id="485" r:id="rId25"/>
    <p:sldId id="486" r:id="rId26"/>
    <p:sldId id="487" r:id="rId27"/>
    <p:sldId id="490" r:id="rId28"/>
    <p:sldId id="491" r:id="rId29"/>
    <p:sldId id="494" r:id="rId30"/>
    <p:sldId id="495" r:id="rId31"/>
    <p:sldId id="529" r:id="rId32"/>
    <p:sldId id="492" r:id="rId33"/>
    <p:sldId id="474" r:id="rId34"/>
    <p:sldId id="540" r:id="rId35"/>
    <p:sldId id="541" r:id="rId36"/>
    <p:sldId id="542" r:id="rId37"/>
    <p:sldId id="456" r:id="rId38"/>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8">
          <p15:clr>
            <a:srgbClr val="A4A3A4"/>
          </p15:clr>
        </p15:guide>
        <p15:guide id="2" orient="horz" pos="2850">
          <p15:clr>
            <a:srgbClr val="A4A3A4"/>
          </p15:clr>
        </p15:guide>
        <p15:guide id="3" orient="horz" pos="1308">
          <p15:clr>
            <a:srgbClr val="A4A3A4"/>
          </p15:clr>
        </p15:guide>
        <p15:guide id="4" pos="3867">
          <p15:clr>
            <a:srgbClr val="A4A3A4"/>
          </p15:clr>
        </p15:guide>
        <p15:guide id="5" pos="1272">
          <p15:clr>
            <a:srgbClr val="A4A3A4"/>
          </p15:clr>
        </p15:guide>
      </p15:sldGuideLst>
    </p:ext>
    <p:ext uri="{2D200454-40CA-4A62-9FC3-DE9A4176ACB9}">
      <p15:notesGuideLst xmlns:p15="http://schemas.microsoft.com/office/powerpoint/2012/main">
        <p15:guide id="1" orient="horz" pos="2190">
          <p15:clr>
            <a:srgbClr val="A4A3A4"/>
          </p15:clr>
        </p15:guide>
        <p15:guide id="2" orient="horz" pos="2872">
          <p15:clr>
            <a:srgbClr val="A4A3A4"/>
          </p15:clr>
        </p15:guide>
        <p15:guide id="3" pos="2900">
          <p15:clr>
            <a:srgbClr val="A4A3A4"/>
          </p15:clr>
        </p15:guide>
        <p15:guide id="4" pos="2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9AD0"/>
    <a:srgbClr val="002060"/>
    <a:srgbClr val="009900"/>
    <a:srgbClr val="1569F0"/>
    <a:srgbClr val="F79646"/>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72438" autoAdjust="0"/>
  </p:normalViewPr>
  <p:slideViewPr>
    <p:cSldViewPr snapToGrid="0">
      <p:cViewPr varScale="1">
        <p:scale>
          <a:sx n="78" d="100"/>
          <a:sy n="78" d="100"/>
        </p:scale>
        <p:origin x="1912" y="184"/>
      </p:cViewPr>
      <p:guideLst>
        <p:guide orient="horz" pos="2118"/>
        <p:guide orient="horz" pos="2850"/>
        <p:guide orient="horz" pos="1308"/>
        <p:guide pos="3867"/>
        <p:guide pos="1272"/>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90"/>
        <p:guide orient="horz" pos="2872"/>
        <p:guide pos="2900"/>
        <p:guide pos="22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2025/9/26</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2089373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2025/9/26</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22466126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pPr latinLnBrk="0">
              <a:lnSpc>
                <a:spcPct val="125000"/>
              </a:lnSpc>
              <a:spcBef>
                <a:spcPts val="0"/>
              </a:spcBef>
            </a:pPr>
            <a:endParaRPr lang="zh-CN" altLang="zh-CN"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pPr marL="342900" marR="0" lvl="0" indent="-342900" algn="l" defTabSz="914400" rtl="0" eaLnBrk="1" latinLnBrk="0" hangingPunct="1">
              <a:lnSpc>
                <a:spcPct val="125000"/>
              </a:lnSpc>
              <a:spcBef>
                <a:spcPts val="0"/>
              </a:spcBef>
              <a:spcAft>
                <a:spcPct val="0"/>
              </a:spcAft>
              <a:buClrTx/>
              <a:buSzTx/>
              <a:buFontTx/>
              <a:buNone/>
              <a:defRPr/>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latinLnBrk="0" hangingPunct="1">
              <a:lnSpc>
                <a:spcPct val="125000"/>
              </a:lnSpc>
              <a:spcBef>
                <a:spcPts val="0"/>
              </a:spcBef>
            </a:pPr>
            <a:endParaRPr lang="en-US" altLang="zh-CN" sz="1200" kern="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latinLnBrk="0" hangingPunct="1">
              <a:lnSpc>
                <a:spcPct val="125000"/>
              </a:lnSpc>
              <a:spcBef>
                <a:spcPts val="0"/>
              </a:spcBef>
              <a:spcAft>
                <a:spcPct val="0"/>
              </a:spcAft>
            </a:pPr>
            <a:endParaRPr lang="en-US" altLang="zh-CN" sz="1200" i="0"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latinLnBrk="0" hangingPunct="1">
              <a:lnSpc>
                <a:spcPct val="125000"/>
              </a:lnSpc>
              <a:spcBef>
                <a:spcPts val="0"/>
              </a:spcBef>
              <a:spcAft>
                <a:spcPct val="0"/>
              </a:spcAft>
            </a:pPr>
            <a:endParaRPr lang="en-US" altLang="zh-CN" sz="1200" i="0"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96523" y="6437085"/>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468"/>
            <a:ext cx="1716196" cy="5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flipV="1">
            <a:off x="-1" y="6857999"/>
            <a:ext cx="12204000" cy="45719"/>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223710" y="6450629"/>
            <a:ext cx="1968290" cy="366871"/>
          </a:xfrm>
          <a:prstGeom prst="rect">
            <a:avLst/>
          </a:prstGeom>
        </p:spPr>
      </p:pic>
      <p:pic>
        <p:nvPicPr>
          <p:cNvPr id="17"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125"/>
            <a:ext cx="21066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pic>
        <p:nvPicPr>
          <p:cNvPr id="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32895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9"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296303"/>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209" y="6497747"/>
            <a:ext cx="1968290" cy="366871"/>
          </a:xfrm>
          <a:prstGeom prst="rect">
            <a:avLst/>
          </a:prstGeom>
        </p:spPr>
      </p:pic>
      <p:pic>
        <p:nvPicPr>
          <p:cNvPr id="7" name="Picture 2" descr="https://www.shiep.edu.cn/_upload/article/images/ae/f5/a315f22e46eba7886e93c3942349/e87d7fad-391a-42bc-b0b3-a522274164b9.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90" y="6063"/>
            <a:ext cx="1647588" cy="39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539261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148" name="Picture 4"/>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descr="logo.jpg"/>
          <p:cNvPicPr>
            <a:picLocks noChangeAspect="1"/>
          </p:cNvPicPr>
          <p:nvPr userDrawn="1"/>
        </p:nvPicPr>
        <p:blipFill>
          <a:blip r:embed="rId9" cstate="print"/>
          <a:stretch>
            <a:fillRect/>
          </a:stretch>
        </p:blipFill>
        <p:spPr>
          <a:xfrm>
            <a:off x="10196523" y="6437085"/>
            <a:ext cx="1968290" cy="3668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sp>
        <p:nvSpPr>
          <p:cNvPr id="9" name="TextBox 1"/>
          <p:cNvSpPr>
            <a:spLocks noChangeArrowheads="1"/>
          </p:cNvSpPr>
          <p:nvPr/>
        </p:nvSpPr>
        <p:spPr bwMode="auto">
          <a:xfrm>
            <a:off x="2218540" y="975521"/>
            <a:ext cx="7345184" cy="1754326"/>
          </a:xfrm>
          <a:prstGeom prst="rect">
            <a:avLst/>
          </a:prstGeom>
          <a:noFill/>
          <a:ln w="9525">
            <a:noFill/>
            <a:miter lim="800000"/>
          </a:ln>
        </p:spPr>
        <p:txBody>
          <a:bodyPr wrap="square" lIns="0" rIns="0">
            <a:spAutoFit/>
          </a:bodyPr>
          <a:lstStyle/>
          <a:p>
            <a:pPr algn="ctr"/>
            <a:endParaRPr lang="en-US" altLang="zh-CN" sz="5400" b="1" dirty="0">
              <a:solidFill>
                <a:srgbClr val="00589A"/>
              </a:solidFill>
              <a:latin typeface="微软雅黑" panose="020B0503020204020204" pitchFamily="34" charset="-122"/>
              <a:ea typeface="微软雅黑" panose="020B0503020204020204" pitchFamily="34" charset="-122"/>
              <a:sym typeface="方正细圆简体"/>
            </a:endParaRPr>
          </a:p>
          <a:p>
            <a:pPr algn="ctr"/>
            <a:r>
              <a:rPr lang="zh-CN" altLang="en-US" sz="5400" b="1" dirty="0">
                <a:solidFill>
                  <a:srgbClr val="00589A"/>
                </a:solidFill>
                <a:latin typeface="微软雅黑" panose="020B0503020204020204" pitchFamily="34" charset="-122"/>
                <a:ea typeface="微软雅黑" panose="020B0503020204020204" pitchFamily="34" charset="-122"/>
                <a:sym typeface="方正细圆简体"/>
              </a:rPr>
              <a:t>数据库原理</a:t>
            </a:r>
          </a:p>
        </p:txBody>
      </p:sp>
      <p:pic>
        <p:nvPicPr>
          <p:cNvPr id="4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1226185" y="1015365"/>
            <a:ext cx="1045591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第五章    </a:t>
            </a:r>
            <a:r>
              <a:rPr lang="zh-CN" sz="4000" b="1" dirty="0">
                <a:solidFill>
                  <a:srgbClr val="003300"/>
                </a:solidFill>
              </a:rPr>
              <a:t>触发器和数据库完整性</a:t>
            </a:r>
          </a:p>
          <a:p>
            <a:pPr eaLnBrk="1" hangingPunct="1">
              <a:spcBef>
                <a:spcPct val="40000"/>
              </a:spcBef>
            </a:pPr>
            <a:endParaRPr lang="zh-CN" altLang="en-US" sz="4000" b="1" dirty="0">
              <a:solidFill>
                <a:srgbClr val="FF6600"/>
              </a:solidFill>
            </a:endParaRPr>
          </a:p>
          <a:p>
            <a:pPr eaLnBrk="1" hangingPunct="1">
              <a:spcBef>
                <a:spcPct val="50000"/>
              </a:spcBef>
            </a:pPr>
            <a:r>
              <a:rPr lang="en-US" altLang="zh-CN" sz="3200" b="1" dirty="0">
                <a:solidFill>
                  <a:schemeClr val="tx1"/>
                </a:solidFill>
              </a:rPr>
              <a:t>	</a:t>
            </a:r>
            <a:r>
              <a:rPr lang="en-US" altLang="zh-CN" sz="3200" b="1" dirty="0">
                <a:solidFill>
                  <a:srgbClr val="FF0000"/>
                </a:solidFill>
              </a:rPr>
              <a:t>5.1 </a:t>
            </a:r>
            <a:r>
              <a:rPr lang="zh-CN" altLang="en-US" sz="3200" b="1" dirty="0">
                <a:solidFill>
                  <a:srgbClr val="FF0000"/>
                </a:solidFill>
              </a:rPr>
              <a:t>触发器</a:t>
            </a:r>
            <a:r>
              <a:rPr lang="en-US" altLang="zh-CN" sz="3200" dirty="0">
                <a:solidFill>
                  <a:schemeClr val="tx1"/>
                </a:solidFill>
              </a:rPr>
              <a:t> </a:t>
            </a:r>
            <a:r>
              <a:rPr lang="en-US" altLang="zh-CN" sz="3200" dirty="0"/>
              <a:t>      </a:t>
            </a:r>
            <a:r>
              <a:rPr lang="en-US" altLang="zh-CN" sz="3200" dirty="0">
                <a:solidFill>
                  <a:srgbClr val="FF0000"/>
                </a:solidFill>
              </a:rPr>
              <a:t> </a:t>
            </a:r>
          </a:p>
          <a:p>
            <a:pPr eaLnBrk="1" hangingPunct="1">
              <a:spcBef>
                <a:spcPct val="50000"/>
              </a:spcBef>
            </a:pPr>
            <a:r>
              <a:rPr lang="en-US" altLang="zh-CN" sz="3200" dirty="0">
                <a:solidFill>
                  <a:srgbClr val="FF0000"/>
                </a:solidFill>
              </a:rPr>
              <a:t>        </a:t>
            </a:r>
            <a:r>
              <a:rPr lang="en-US" altLang="zh-CN" sz="3200" b="1" dirty="0">
                <a:solidFill>
                  <a:schemeClr val="tx1"/>
                </a:solidFill>
                <a:sym typeface="+mn-ea"/>
              </a:rPr>
              <a:t>5.2 </a:t>
            </a:r>
            <a:r>
              <a:rPr lang="zh-CN" altLang="en-US" sz="3200" b="1" dirty="0">
                <a:solidFill>
                  <a:schemeClr val="tx1"/>
                </a:solidFill>
                <a:sym typeface="+mn-ea"/>
              </a:rPr>
              <a:t>数据库的完整性</a:t>
            </a:r>
            <a:endParaRPr lang="zh-CN" altLang="en-US" sz="3200" b="1" dirty="0"/>
          </a:p>
          <a:p>
            <a:pPr eaLnBrk="1" hangingPunct="1">
              <a:spcBef>
                <a:spcPct val="50000"/>
              </a:spcBef>
            </a:pPr>
            <a:endParaRPr lang="zh-CN" altLang="en-US" sz="3200" b="1"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5.1.1 </a:t>
            </a:r>
            <a:r>
              <a:rPr lang="zh-CN" sz="2800" b="1" dirty="0">
                <a:solidFill>
                  <a:schemeClr val="bg1"/>
                </a:solidFill>
                <a:latin typeface="微软雅黑" panose="020B0503020204020204" pitchFamily="34" charset="-122"/>
                <a:ea typeface="微软雅黑" panose="020B0503020204020204" pitchFamily="34" charset="-122"/>
              </a:rPr>
              <a:t>触发器的基本概念</a:t>
            </a:r>
          </a:p>
        </p:txBody>
      </p:sp>
      <p:sp>
        <p:nvSpPr>
          <p:cNvPr id="361475" name="Rectangle 3"/>
          <p:cNvSpPr/>
          <p:nvPr/>
        </p:nvSpPr>
        <p:spPr>
          <a:xfrm>
            <a:off x="395605" y="765175"/>
            <a:ext cx="11204575" cy="56165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用户定义在关系表上的</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一类由事件驱动的特殊过程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，是一种保证数据完整性的方法</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也可看作是</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一类特殊的存储过程，一旦定义，无须用户调用，任何对表的修改操作均</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由服务器自动激活</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相应的触发器。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buNone/>
            </a:pP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主要作用：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实现主键和外键所不能保证的复杂的参照完整性和数据一致性。除此之外还有以下几个功能：</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．强化约束</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．跟踪变化</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．级联运行</a:t>
            </a:r>
          </a:p>
          <a:p>
            <a:pPr eaLnBrk="1" latinLnBrk="0" hangingPunct="1">
              <a:lnSpc>
                <a:spcPct val="125000"/>
              </a:lnSpc>
              <a:spcBef>
                <a:spcPts val="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．存储过程的调用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1475">
                                            <p:txEl>
                                              <p:pRg st="2" end="2"/>
                                            </p:txEl>
                                          </p:spTgt>
                                        </p:tgtEl>
                                        <p:attrNameLst>
                                          <p:attrName>style.visibility</p:attrName>
                                        </p:attrNameLst>
                                      </p:cBhvr>
                                      <p:to>
                                        <p:strVal val="visible"/>
                                      </p:to>
                                    </p:set>
                                    <p:animEffect transition="in" filter="blinds(horizontal)">
                                      <p:cBhvr>
                                        <p:cTn id="7" dur="500"/>
                                        <p:tgtEl>
                                          <p:spTgt spid="36147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1475">
                                            <p:txEl>
                                              <p:pRg st="3" end="3"/>
                                            </p:txEl>
                                          </p:spTgt>
                                        </p:tgtEl>
                                        <p:attrNameLst>
                                          <p:attrName>style.visibility</p:attrName>
                                        </p:attrNameLst>
                                      </p:cBhvr>
                                      <p:to>
                                        <p:strVal val="visible"/>
                                      </p:to>
                                    </p:set>
                                    <p:animEffect transition="in" filter="blinds(horizontal)">
                                      <p:cBhvr>
                                        <p:cTn id="12" dur="500"/>
                                        <p:tgtEl>
                                          <p:spTgt spid="361475">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61475">
                                            <p:txEl>
                                              <p:pRg st="4" end="4"/>
                                            </p:txEl>
                                          </p:spTgt>
                                        </p:tgtEl>
                                        <p:attrNameLst>
                                          <p:attrName>style.visibility</p:attrName>
                                        </p:attrNameLst>
                                      </p:cBhvr>
                                      <p:to>
                                        <p:strVal val="visible"/>
                                      </p:to>
                                    </p:set>
                                    <p:animEffect transition="in" filter="blinds(horizontal)">
                                      <p:cBhvr>
                                        <p:cTn id="15" dur="500"/>
                                        <p:tgtEl>
                                          <p:spTgt spid="361475">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61475">
                                            <p:txEl>
                                              <p:pRg st="5" end="5"/>
                                            </p:txEl>
                                          </p:spTgt>
                                        </p:tgtEl>
                                        <p:attrNameLst>
                                          <p:attrName>style.visibility</p:attrName>
                                        </p:attrNameLst>
                                      </p:cBhvr>
                                      <p:to>
                                        <p:strVal val="visible"/>
                                      </p:to>
                                    </p:set>
                                    <p:animEffect transition="in" filter="blinds(horizontal)">
                                      <p:cBhvr>
                                        <p:cTn id="18" dur="500"/>
                                        <p:tgtEl>
                                          <p:spTgt spid="361475">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61475">
                                            <p:txEl>
                                              <p:pRg st="6" end="6"/>
                                            </p:txEl>
                                          </p:spTgt>
                                        </p:tgtEl>
                                        <p:attrNameLst>
                                          <p:attrName>style.visibility</p:attrName>
                                        </p:attrNameLst>
                                      </p:cBhvr>
                                      <p:to>
                                        <p:strVal val="visible"/>
                                      </p:to>
                                    </p:set>
                                    <p:animEffect transition="in" filter="blinds(horizontal)">
                                      <p:cBhvr>
                                        <p:cTn id="21" dur="500"/>
                                        <p:tgtEl>
                                          <p:spTgt spid="3614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61475" name="Rectangle 3"/>
          <p:cNvSpPr/>
          <p:nvPr/>
        </p:nvSpPr>
        <p:spPr>
          <a:xfrm>
            <a:off x="344805" y="1240790"/>
            <a:ext cx="11493500" cy="56165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触发器是指对某一个表执行某种数据操作时（INSERT、UPDATE、DELETE等）自动完成的一段程序，用以完成这些操作在引起数据变化后的完善工作。</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buNone/>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nvSpPr>
        <p:spPr>
          <a:xfrm>
            <a:off x="344805" y="2882900"/>
            <a:ext cx="11544300" cy="28670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latinLnBrk="0">
              <a:lnSpc>
                <a:spcPct val="125000"/>
              </a:lnSpc>
              <a:spcBef>
                <a:spcPts val="0"/>
              </a:spcBef>
              <a:spcAft>
                <a:spcPct val="0"/>
              </a:spcAft>
              <a:buClrTx/>
              <a:buSzTx/>
              <a:buFontTx/>
              <a:buChar char="•"/>
              <a:defRPr/>
            </a:pPr>
            <a:r>
              <a:rPr kumimoji="0"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NEW表</a:t>
            </a:r>
            <a:r>
              <a:rPr kumimoji="0" altLang="zh-CN" sz="24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：对于INSERT操作来说，NEW表里存放的是将要（BEFORE）或已经（AFTER）插入的新数据；而对于UPDATE操作来说，NEW表里存放的是将要或已经更新的新数据（即更新后的新值）。</a:t>
            </a:r>
            <a:endPar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latinLnBrk="0">
              <a:lnSpc>
                <a:spcPct val="125000"/>
              </a:lnSpc>
              <a:spcBef>
                <a:spcPts val="0"/>
              </a:spcBef>
              <a:spcAft>
                <a:spcPct val="0"/>
              </a:spcAft>
              <a:buClrTx/>
              <a:buSzTx/>
              <a:buFontTx/>
              <a:buChar char="•"/>
              <a:defRPr/>
            </a:pPr>
            <a:r>
              <a:rPr kumimoji="0"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OLD表</a:t>
            </a:r>
            <a:r>
              <a:rPr kumimoji="0" altLang="zh-CN" sz="240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：对于DELETE操作来说，OLD表里存放的是将要或已经被删除的数据；而对于UPDATE操作来说，OLD表里存放的将要或已经更新前的原数据。</a:t>
            </a:r>
          </a:p>
        </p:txBody>
      </p:sp>
      <p:sp>
        <p:nvSpPr>
          <p:cNvPr id="2" name="标题 1"/>
          <p:cNvSpPr>
            <a:spLocks noGrp="1"/>
          </p:cNvSpPr>
          <p:nvPr/>
        </p:nvSpPr>
        <p:spPr>
          <a:xfrm>
            <a:off x="505460" y="2299335"/>
            <a:ext cx="10740390" cy="6686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两个特殊的表:  触发器的实现离不开两张特定的表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390525" y="5365750"/>
            <a:ext cx="11309350" cy="460375"/>
          </a:xfrm>
          <a:prstGeom prst="rect">
            <a:avLst/>
          </a:prstGeom>
          <a:noFill/>
          <a:ln w="9525">
            <a:noFill/>
          </a:ln>
        </p:spPr>
        <p:txBody>
          <a:bodyPr wrap="square">
            <a:spAutoFit/>
          </a:bodyPr>
          <a:lstStyle/>
          <a:p>
            <a:pPr marL="0" indent="269875"/>
            <a:r>
              <a:rPr altLang="zh-CN" sz="2400" b="0" kern="0" noProof="0" dirty="0">
                <a:latin typeface="微软雅黑" panose="020B0503020204020204" pitchFamily="34" charset="-122"/>
                <a:ea typeface="微软雅黑" panose="020B0503020204020204" pitchFamily="34" charset="-122"/>
                <a:cs typeface="微软雅黑" panose="020B0503020204020204" pitchFamily="34" charset="-122"/>
              </a:rPr>
              <a:t>使用方法： </a:t>
            </a:r>
            <a:r>
              <a:rPr altLang="zh-CN" sz="2400" b="0" kern="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NEW.columnName </a:t>
            </a:r>
            <a:r>
              <a:rPr altLang="zh-CN" sz="2400" b="0" kern="0" noProof="0" dirty="0">
                <a:latin typeface="微软雅黑" panose="020B0503020204020204" pitchFamily="34" charset="-122"/>
                <a:ea typeface="微软雅黑" panose="020B0503020204020204" pitchFamily="34" charset="-122"/>
                <a:cs typeface="微软雅黑" panose="020B0503020204020204" pitchFamily="34" charset="-122"/>
              </a:rPr>
              <a:t>（columnName 为相应数据表某一列名）</a:t>
            </a:r>
          </a:p>
        </p:txBody>
      </p:sp>
      <p:sp>
        <p:nvSpPr>
          <p:cNvPr id="5" name="文本框 4"/>
          <p:cNvSpPr txBox="1"/>
          <p:nvPr/>
        </p:nvSpPr>
        <p:spPr>
          <a:xfrm>
            <a:off x="505460" y="6003290"/>
            <a:ext cx="10878185" cy="460375"/>
          </a:xfrm>
          <a:prstGeom prst="rect">
            <a:avLst/>
          </a:prstGeom>
          <a:noFill/>
          <a:ln w="9525">
            <a:noFill/>
          </a:ln>
        </p:spPr>
        <p:txBody>
          <a:bodyPr wrap="square">
            <a:spAutoFit/>
          </a:bodyPr>
          <a:lstStyle/>
          <a:p>
            <a:pPr marL="0" indent="269875"/>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注意：OLD 表是只读的，而 NEW表则可以在触发器中使用 SET 赋值。</a:t>
            </a:r>
          </a:p>
        </p:txBody>
      </p:sp>
      <p:sp>
        <p:nvSpPr>
          <p:cNvPr id="28674" name="Rectangle 2"/>
          <p:cNvSpPr/>
          <p:nvPr/>
        </p:nvSpPr>
        <p:spPr>
          <a:xfrm>
            <a:off x="299085" y="679450"/>
            <a:ext cx="8229600" cy="56134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MySQL</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触发器的工作原理</a:t>
            </a:r>
          </a:p>
        </p:txBody>
      </p:sp>
    </p:spTree>
    <p:extLst>
      <p:ext uri="{BB962C8B-B14F-4D97-AF65-F5344CB8AC3E}">
        <p14:creationId xmlns:p14="http://schemas.microsoft.com/office/powerpoint/2010/main" val="1745568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blinds(horizontal)">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0"/>
      <p:bldP spid="2" grpId="1"/>
      <p:bldP spid="100" grpId="0"/>
      <p:bldP spid="100" grpId="1"/>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8915" name="Rectangle 3"/>
          <p:cNvSpPr/>
          <p:nvPr/>
        </p:nvSpPr>
        <p:spPr>
          <a:xfrm>
            <a:off x="843915" y="678815"/>
            <a:ext cx="10346690" cy="45243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50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定义触发器的语句：</a:t>
            </a:r>
          </a:p>
          <a:p>
            <a:pPr eaLnBrk="1" latinLnBrk="0" hangingPunct="1">
              <a:lnSpc>
                <a:spcPct val="150000"/>
              </a:lnSpc>
              <a:spcBef>
                <a:spcPts val="0"/>
              </a:spcBef>
              <a:buNone/>
            </a:pP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a:t>
            </a:r>
            <a:r>
              <a:rPr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&lt;触发器名&gt;</a:t>
            </a:r>
            <a:endPar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50000"/>
              </a:lnSpc>
              <a:spcBef>
                <a:spcPts val="0"/>
              </a:spcBef>
              <a:buNone/>
            </a:pPr>
            <a:r>
              <a:rPr 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BEFORE | AFTER </a:t>
            </a:r>
          </a:p>
          <a:p>
            <a:pPr eaLnBrk="1" latinLnBrk="0" hangingPunct="1">
              <a:lnSpc>
                <a:spcPct val="150000"/>
              </a:lnSpc>
              <a:spcBef>
                <a:spcPts val="0"/>
              </a:spcBef>
              <a:buNone/>
            </a:pPr>
            <a:r>
              <a:rPr 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INSERT | UPDATE | DELETE </a:t>
            </a:r>
          </a:p>
          <a:p>
            <a:pPr eaLnBrk="1" latinLnBrk="0" hangingPunct="1">
              <a:lnSpc>
                <a:spcPct val="150000"/>
              </a:lnSpc>
              <a:spcBef>
                <a:spcPts val="0"/>
              </a:spcBef>
              <a:buNone/>
            </a:pPr>
            <a:r>
              <a:rPr 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ON  </a:t>
            </a:r>
            <a:r>
              <a:rP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表名</a:t>
            </a: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FOR EACH ROW</a:t>
            </a:r>
          </a:p>
          <a:p>
            <a:pPr eaLnBrk="1" latinLnBrk="0" hangingPunct="1">
              <a:lnSpc>
                <a:spcPct val="150000"/>
              </a:lnSpc>
              <a:spcBef>
                <a:spcPts val="0"/>
              </a:spcBef>
              <a:buNone/>
            </a:pPr>
            <a:r>
              <a:rPr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SQL语句 </a:t>
            </a:r>
          </a:p>
        </p:txBody>
      </p:sp>
      <p:sp>
        <p:nvSpPr>
          <p:cNvPr id="2" name="矩形 1"/>
          <p:cNvSpPr/>
          <p:nvPr/>
        </p:nvSpPr>
        <p:spPr>
          <a:xfrm>
            <a:off x="913130" y="5332095"/>
            <a:ext cx="7258685" cy="553085"/>
          </a:xfrm>
          <a:prstGeom prst="rect">
            <a:avLst/>
          </a:prstGeom>
          <a:solidFill>
            <a:schemeClr val="bg1"/>
          </a:solidFill>
          <a:ln w="9525">
            <a:solidFill>
              <a:schemeClr val="accent1"/>
            </a:solidFill>
          </a:ln>
        </p:spPr>
        <p:txBody>
          <a:bodyPr wrap="square">
            <a:spAutoFit/>
          </a:bodyPr>
          <a:lstStyle/>
          <a:p>
            <a:pPr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注：</a:t>
            </a:r>
            <a:r>
              <a:rPr altLang="zh-CN" sz="2400" i="0" dirty="0">
                <a:latin typeface="微软雅黑" panose="020B0503020204020204" pitchFamily="34" charset="-122"/>
                <a:ea typeface="微软雅黑" panose="020B0503020204020204" pitchFamily="34" charset="-122"/>
                <a:cs typeface="微软雅黑" panose="020B0503020204020204" pitchFamily="34" charset="-122"/>
              </a:rPr>
              <a:t>不能同时在一个表上建立2个相同类型的触发器</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 name="对话气泡: 圆角矩形 3"/>
          <p:cNvSpPr/>
          <p:nvPr/>
        </p:nvSpPr>
        <p:spPr>
          <a:xfrm>
            <a:off x="6541770" y="943610"/>
            <a:ext cx="2001520" cy="538480"/>
          </a:xfrm>
          <a:prstGeom prst="wedgeRoundRectCallout">
            <a:avLst>
              <a:gd name="adj1" fmla="val -117512"/>
              <a:gd name="adj2" fmla="val 75943"/>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触发器名称</a:t>
            </a:r>
          </a:p>
        </p:txBody>
      </p:sp>
      <p:sp>
        <p:nvSpPr>
          <p:cNvPr id="5" name="对话气泡: 圆角矩形 4"/>
          <p:cNvSpPr/>
          <p:nvPr/>
        </p:nvSpPr>
        <p:spPr>
          <a:xfrm>
            <a:off x="4255135" y="3656011"/>
            <a:ext cx="2743200" cy="538480"/>
          </a:xfrm>
          <a:prstGeom prst="wedgeRoundRectCallout">
            <a:avLst>
              <a:gd name="adj1" fmla="val -126111"/>
              <a:gd name="adj2" fmla="val -89209"/>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触发器所依存的表</a:t>
            </a:r>
          </a:p>
        </p:txBody>
      </p:sp>
      <p:sp>
        <p:nvSpPr>
          <p:cNvPr id="6" name="对话气泡: 圆角矩形 5"/>
          <p:cNvSpPr/>
          <p:nvPr/>
        </p:nvSpPr>
        <p:spPr>
          <a:xfrm>
            <a:off x="6678295" y="1631315"/>
            <a:ext cx="4656455" cy="990600"/>
          </a:xfrm>
          <a:prstGeom prst="wedgeRoundRectCallout">
            <a:avLst>
              <a:gd name="adj1" fmla="val -111223"/>
              <a:gd name="adj2" fmla="val -2476"/>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标识触发时机，表示触发器是在激活它的语句之前或之后触发</a:t>
            </a:r>
          </a:p>
        </p:txBody>
      </p:sp>
      <p:sp>
        <p:nvSpPr>
          <p:cNvPr id="7" name="对话气泡: 圆角矩形 6"/>
          <p:cNvSpPr/>
          <p:nvPr/>
        </p:nvSpPr>
        <p:spPr>
          <a:xfrm>
            <a:off x="2921635" y="4293870"/>
            <a:ext cx="4930775" cy="560070"/>
          </a:xfrm>
          <a:prstGeom prst="wedgeRoundRectCallout">
            <a:avLst>
              <a:gd name="adj1" fmla="val -70471"/>
              <a:gd name="adj2" fmla="val -87753"/>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触发器所要执行的一组</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语句</a:t>
            </a:r>
          </a:p>
        </p:txBody>
      </p:sp>
      <p:sp>
        <p:nvSpPr>
          <p:cNvPr id="16" name="对话气泡: 圆角矩形 5"/>
          <p:cNvSpPr/>
          <p:nvPr/>
        </p:nvSpPr>
        <p:spPr>
          <a:xfrm>
            <a:off x="7519035" y="2726055"/>
            <a:ext cx="2187575" cy="543560"/>
          </a:xfrm>
          <a:prstGeom prst="wedgeRoundRectCallout">
            <a:avLst>
              <a:gd name="adj1" fmla="val -158650"/>
              <a:gd name="adj2" fmla="val -44042"/>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标识触发事件</a:t>
            </a:r>
          </a:p>
        </p:txBody>
      </p:sp>
      <p:sp>
        <p:nvSpPr>
          <p:cNvPr id="17" name="对话气泡: 圆角矩形 4"/>
          <p:cNvSpPr/>
          <p:nvPr/>
        </p:nvSpPr>
        <p:spPr>
          <a:xfrm>
            <a:off x="7241540" y="3373755"/>
            <a:ext cx="4237355" cy="713740"/>
          </a:xfrm>
          <a:prstGeom prst="wedgeRoundRectCallout">
            <a:avLst>
              <a:gd name="adj1" fmla="val -118559"/>
              <a:gd name="adj2" fmla="val -46708"/>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表示任何一条记录上的操作满足触发事件都会触发该触发器</a:t>
            </a:r>
          </a:p>
        </p:txBody>
      </p:sp>
    </p:spTree>
    <p:extLst>
      <p:ext uri="{BB962C8B-B14F-4D97-AF65-F5344CB8AC3E}">
        <p14:creationId xmlns:p14="http://schemas.microsoft.com/office/powerpoint/2010/main" val="942222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5" grpId="0" bldLvl="0" animBg="1"/>
      <p:bldP spid="6" grpId="0" bldLvl="0" animBg="1"/>
      <p:bldP spid="7" grpId="0" bldLvl="0" animBg="1"/>
      <p:bldP spid="16" grpId="0" bldLvl="0" animBg="1"/>
      <p:bldP spid="17"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674" name="Rectangle 2"/>
          <p:cNvSpPr/>
          <p:nvPr/>
        </p:nvSpPr>
        <p:spPr>
          <a:xfrm>
            <a:off x="299085" y="679450"/>
            <a:ext cx="8229600" cy="56134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事件触发器</a:t>
            </a:r>
          </a:p>
        </p:txBody>
      </p:sp>
      <p:sp>
        <p:nvSpPr>
          <p:cNvPr id="5" name="文本框 4"/>
          <p:cNvSpPr txBox="1"/>
          <p:nvPr/>
        </p:nvSpPr>
        <p:spPr>
          <a:xfrm>
            <a:off x="352425" y="1256665"/>
            <a:ext cx="11551285" cy="1420495"/>
          </a:xfrm>
          <a:prstGeom prst="rect">
            <a:avLst/>
          </a:prstGeom>
          <a:noFill/>
          <a:ln w="9525">
            <a:noFill/>
          </a:ln>
        </p:spPr>
        <p:txBody>
          <a:bodyPr wrap="square">
            <a:spAutoFit/>
          </a:bodyPr>
          <a:lstStyle/>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每次向基本表插入数据时触发执行，该数据被复制到NEW表中。</a:t>
            </a:r>
          </a:p>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可用来检验要输入的数据是否符合规则、在插入的数据中增加数据、级联改变数据库中其他的数据表。</a:t>
            </a:r>
          </a:p>
        </p:txBody>
      </p:sp>
      <p:sp>
        <p:nvSpPr>
          <p:cNvPr id="53250" name="Rectangle 2"/>
          <p:cNvSpPr/>
          <p:nvPr/>
        </p:nvSpPr>
        <p:spPr>
          <a:xfrm>
            <a:off x="245745" y="2638425"/>
            <a:ext cx="11732895"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5.1】</a:t>
            </a:r>
            <a:r>
              <a:rPr sz="2400" dirty="0">
                <a:latin typeface="微软雅黑" panose="020B0503020204020204" pitchFamily="34" charset="-122"/>
                <a:ea typeface="微软雅黑" panose="020B0503020204020204" pitchFamily="34" charset="-122"/>
                <a:cs typeface="微软雅黑" panose="020B0503020204020204" pitchFamily="34" charset="-122"/>
              </a:rPr>
              <a:t>创建一个INSERT事件触发器，在对表stock插入一条物资记录前，对新插入的amount字段值进行求和计算。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6868" name="矩形 1"/>
          <p:cNvSpPr/>
          <p:nvPr/>
        </p:nvSpPr>
        <p:spPr>
          <a:xfrm>
            <a:off x="299085" y="3468370"/>
            <a:ext cx="10702290" cy="2306320"/>
          </a:xfrm>
          <a:prstGeom prst="rect">
            <a:avLst/>
          </a:prstGeom>
          <a:noFill/>
          <a:ln w="9525">
            <a:noFill/>
          </a:ln>
        </p:spPr>
        <p:txBody>
          <a:bodyPr wrap="square">
            <a:spAutoFit/>
          </a:bodyPr>
          <a:lstStyle/>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DELIMITER &amp;&amp;</a:t>
            </a:r>
          </a:p>
          <a:p>
            <a:pPr marL="0" indent="0" eaLnBrk="1" latinLnBrk="0" hangingPunct="1">
              <a:lnSpc>
                <a:spcPct val="120000"/>
              </a:lnSpc>
            </a:pPr>
            <a:r>
              <a:rPr lang="en-US" altLang="zh-CN" sz="2400" i="0" dirty="0">
                <a:solidFill>
                  <a:srgbClr val="FF0000"/>
                </a:solidFill>
                <a:latin typeface="微软雅黑" panose="020B0503020204020204" pitchFamily="34" charset="-122"/>
                <a:ea typeface="微软雅黑" panose="020B0503020204020204" pitchFamily="34" charset="-122"/>
              </a:rPr>
              <a:t>CREATE TRIGGER tr1_stock </a:t>
            </a:r>
          </a:p>
          <a:p>
            <a:pPr marL="0" indent="0" eaLnBrk="1" latinLnBrk="0" hangingPunct="1">
              <a:lnSpc>
                <a:spcPct val="120000"/>
              </a:lnSpc>
            </a:pP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BEFORE INSERT</a:t>
            </a:r>
          </a:p>
          <a:p>
            <a:pPr marL="0" indent="0" eaLnBrk="1" latinLnBrk="0" hangingPunct="1">
              <a:lnSpc>
                <a:spcPct val="120000"/>
              </a:lnSpc>
            </a:pP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stock FOR EACH ROW</a:t>
            </a:r>
          </a:p>
          <a:p>
            <a:pPr marL="0" indent="0" eaLnBrk="1" latinLnBrk="0" hangingPunct="1">
              <a:lnSpc>
                <a:spcPct val="120000"/>
              </a:lnSpc>
            </a:pPr>
            <a:r>
              <a:rPr lang="en-US" altLang="zh-CN" sz="2400" i="0" dirty="0">
                <a:solidFill>
                  <a:srgbClr val="FF0000"/>
                </a:solidFill>
                <a:latin typeface="微软雅黑" panose="020B0503020204020204" pitchFamily="34" charset="-122"/>
                <a:ea typeface="微软雅黑" panose="020B0503020204020204" pitchFamily="34" charset="-122"/>
              </a:rPr>
              <a:t>  SET @sum=@sum+NEW.amount;</a:t>
            </a:r>
          </a:p>
        </p:txBody>
      </p:sp>
      <p:sp>
        <p:nvSpPr>
          <p:cNvPr id="366594" name="Rectangle 2"/>
          <p:cNvSpPr>
            <a:spLocks noGrp="1" noChangeArrowheads="1"/>
          </p:cNvSpPr>
          <p:nvPr/>
        </p:nvSpPr>
        <p:spPr bwMode="auto">
          <a:xfrm>
            <a:off x="4908550" y="3394075"/>
            <a:ext cx="7241540" cy="1936750"/>
          </a:xfrm>
          <a:prstGeom prst="rect">
            <a:avLst/>
          </a:prstGeom>
          <a:ln>
            <a:solidFill>
              <a:srgbClr val="FF0000"/>
            </a:solid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zh-CN" altLang="en-US"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若在stock表中执行如下插入语句，则触发该触发器：</a:t>
            </a:r>
          </a:p>
          <a:p>
            <a:pPr marL="342900" marR="0" lvl="0" indent="0" algn="l" defTabSz="914400" rtl="0" eaLnBrk="1" latinLnBrk="0" hangingPunct="1">
              <a:lnSpc>
                <a:spcPct val="125000"/>
              </a:lnSpc>
              <a:spcBef>
                <a:spcPts val="0"/>
              </a:spcBef>
              <a:spcAft>
                <a:spcPct val="0"/>
              </a:spcAft>
              <a:buClrTx/>
              <a:buSzTx/>
              <a:buNone/>
              <a:defRPr/>
            </a:pP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set @sum=0; </a:t>
            </a:r>
          </a:p>
          <a:p>
            <a:pPr marL="342900" marR="0" lvl="0" indent="0" algn="l" defTabSz="914400" rtl="0" eaLnBrk="1" latinLnBrk="0" hangingPunct="1">
              <a:lnSpc>
                <a:spcPct val="125000"/>
              </a:lnSpc>
              <a:spcBef>
                <a:spcPts val="0"/>
              </a:spcBef>
              <a:spcAft>
                <a:spcPct val="0"/>
              </a:spcAft>
              <a:buClrTx/>
              <a:buSzTx/>
              <a:buNone/>
              <a:defRPr/>
            </a:pP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 into stock(mat_num,mat_name,speci,warehouse,amount,unit) </a:t>
            </a:r>
          </a:p>
          <a:p>
            <a:pPr marL="342900" marR="0" lvl="0" indent="0" algn="l" defTabSz="914400" rtl="0" eaLnBrk="1" latinLnBrk="0" hangingPunct="1">
              <a:lnSpc>
                <a:spcPct val="125000"/>
              </a:lnSpc>
              <a:spcBef>
                <a:spcPts val="0"/>
              </a:spcBef>
              <a:spcAft>
                <a:spcPct val="0"/>
              </a:spcAft>
              <a:buClrTx/>
              <a:buSzTx/>
              <a:buNone/>
              <a:defRPr/>
            </a:pP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values('m030','护套绝缘电线','BVV-120','供电局1#仓库',10,100),</a:t>
            </a:r>
          </a:p>
          <a:p>
            <a:pPr marL="342900" marR="0" lvl="0" indent="0" algn="l" defTabSz="914400" rtl="0" eaLnBrk="1" latinLnBrk="0" hangingPunct="1">
              <a:lnSpc>
                <a:spcPct val="125000"/>
              </a:lnSpc>
              <a:spcBef>
                <a:spcPts val="0"/>
              </a:spcBef>
              <a:spcAft>
                <a:spcPct val="0"/>
              </a:spcAft>
              <a:buClrTx/>
              <a:buSzTx/>
              <a:buNone/>
              <a:defRPr/>
            </a:pP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('m031','护套绝缘电线','BVV-150','供电局1#仓库',20,100);</a:t>
            </a:r>
          </a:p>
          <a:p>
            <a:pPr marL="342900" marR="0" lvl="0" indent="0" algn="l" defTabSz="914400" rtl="0" eaLnBrk="1" latinLnBrk="0" hangingPunct="1">
              <a:lnSpc>
                <a:spcPct val="125000"/>
              </a:lnSpc>
              <a:spcBef>
                <a:spcPts val="0"/>
              </a:spcBef>
              <a:spcAft>
                <a:spcPct val="0"/>
              </a:spcAft>
              <a:buClrTx/>
              <a:buSzTx/>
              <a:buNone/>
              <a:defRPr/>
            </a:pPr>
            <a:r>
              <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select @sum;</a:t>
            </a: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16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147482614"/>
          <p:cNvPicPr>
            <a:picLocks noChangeAspect="1"/>
          </p:cNvPicPr>
          <p:nvPr/>
        </p:nvPicPr>
        <p:blipFill>
          <a:blip r:embed="rId3"/>
          <a:stretch>
            <a:fillRect/>
          </a:stretch>
        </p:blipFill>
        <p:spPr>
          <a:xfrm>
            <a:off x="8299450" y="5499735"/>
            <a:ext cx="1422400" cy="798195"/>
          </a:xfrm>
          <a:prstGeom prst="rect">
            <a:avLst/>
          </a:prstGeom>
          <a:noFill/>
          <a:ln w="9525">
            <a:noFill/>
          </a:ln>
        </p:spPr>
      </p:pic>
    </p:spTree>
    <p:extLst>
      <p:ext uri="{BB962C8B-B14F-4D97-AF65-F5344CB8AC3E}">
        <p14:creationId xmlns:p14="http://schemas.microsoft.com/office/powerpoint/2010/main" val="42308324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linds(horizontal)">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Effect transition="in" filter="blinds(horizontal)">
                                      <p:cBhvr>
                                        <p:cTn id="12" dur="500"/>
                                        <p:tgtEl>
                                          <p:spTgt spid="368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6594"/>
                                        </p:tgtEl>
                                        <p:attrNameLst>
                                          <p:attrName>style.visibility</p:attrName>
                                        </p:attrNameLst>
                                      </p:cBhvr>
                                      <p:to>
                                        <p:strVal val="visible"/>
                                      </p:to>
                                    </p:set>
                                    <p:animEffect transition="in" filter="blinds(horizontal)">
                                      <p:cBhvr>
                                        <p:cTn id="17" dur="500"/>
                                        <p:tgtEl>
                                          <p:spTgt spid="3665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0" grpId="1"/>
      <p:bldP spid="36868" grpId="0"/>
      <p:bldP spid="36868" grpId="1"/>
      <p:bldP spid="366594" grpId="0" animBg="1"/>
      <p:bldP spid="36659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3250" name="Rectangle 2"/>
          <p:cNvSpPr/>
          <p:nvPr/>
        </p:nvSpPr>
        <p:spPr>
          <a:xfrm>
            <a:off x="194945" y="843280"/>
            <a:ext cx="11732895"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5.2】</a:t>
            </a:r>
            <a:r>
              <a:rPr sz="2400" dirty="0">
                <a:latin typeface="微软雅黑" panose="020B0503020204020204" pitchFamily="34" charset="-122"/>
                <a:ea typeface="微软雅黑" panose="020B0503020204020204" pitchFamily="34" charset="-122"/>
                <a:cs typeface="微软雅黑" panose="020B0503020204020204" pitchFamily="34" charset="-122"/>
              </a:rPr>
              <a:t>创建一个INSERT事件触发器，在对表salvaging插入一条抢修项目前，如果项目开始日期和项目结束日期相同，则将项目结束日期设为开始日期三天后。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6868" name="矩形 1"/>
          <p:cNvSpPr/>
          <p:nvPr/>
        </p:nvSpPr>
        <p:spPr>
          <a:xfrm>
            <a:off x="481965" y="1706880"/>
            <a:ext cx="10702290" cy="4078605"/>
          </a:xfrm>
          <a:prstGeom prst="rect">
            <a:avLst/>
          </a:prstGeom>
          <a:noFill/>
          <a:ln w="9525">
            <a:noFill/>
          </a:ln>
        </p:spPr>
        <p:txBody>
          <a:bodyPr wrap="square">
            <a:spAutoFit/>
          </a:bodyPr>
          <a:lstStyle/>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DELIMITER &amp;&amp;</a:t>
            </a:r>
          </a:p>
          <a:p>
            <a:pPr marL="0" indent="0" eaLnBrk="1" latinLnBrk="0" hangingPunct="1">
              <a:lnSpc>
                <a:spcPct val="120000"/>
              </a:lnSpc>
            </a:pPr>
            <a:r>
              <a:rPr lang="en-US" altLang="zh-CN" sz="2400" i="0" dirty="0">
                <a:solidFill>
                  <a:srgbClr val="FF0000"/>
                </a:solidFill>
                <a:latin typeface="微软雅黑" panose="020B0503020204020204" pitchFamily="34" charset="-122"/>
                <a:ea typeface="微软雅黑" panose="020B0503020204020204" pitchFamily="34" charset="-122"/>
              </a:rPr>
              <a:t>CREATE TRIGGER tr1_salvaging </a:t>
            </a:r>
          </a:p>
          <a:p>
            <a:pPr marL="0" indent="0" eaLnBrk="1" latinLnBrk="0" hangingPunct="1">
              <a:lnSpc>
                <a:spcPct val="120000"/>
              </a:lnSpc>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BEFORE INSERT</a:t>
            </a:r>
          </a:p>
          <a:p>
            <a:pPr marL="0" indent="0" eaLnBrk="1" latinLnBrk="0" hangingPunct="1">
              <a:lnSpc>
                <a:spcPct val="120000"/>
              </a:lnSpc>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salvaging FOR EACH ROW</a:t>
            </a:r>
          </a:p>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BEGIN</a:t>
            </a:r>
          </a:p>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  if(NEW.end_date=NEW.start_date) then</a:t>
            </a:r>
          </a:p>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    set NEW.end_date=ADDDATE(NEW.start_date,3);</a:t>
            </a:r>
          </a:p>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  end if;</a:t>
            </a:r>
          </a:p>
          <a:p>
            <a:pPr marL="0" indent="0" eaLnBrk="1" latinLnBrk="0" hangingPunct="1">
              <a:lnSpc>
                <a:spcPct val="120000"/>
              </a:lnSpc>
            </a:pPr>
            <a:r>
              <a:rPr lang="en-US" altLang="zh-CN" sz="2400" i="0" dirty="0">
                <a:solidFill>
                  <a:schemeClr val="tx1"/>
                </a:solidFill>
                <a:latin typeface="微软雅黑" panose="020B0503020204020204" pitchFamily="34" charset="-122"/>
                <a:ea typeface="微软雅黑" panose="020B0503020204020204" pitchFamily="34" charset="-122"/>
              </a:rPr>
              <a:t>END;</a:t>
            </a:r>
          </a:p>
        </p:txBody>
      </p:sp>
      <p:sp>
        <p:nvSpPr>
          <p:cNvPr id="366594" name="Rectangle 2"/>
          <p:cNvSpPr>
            <a:spLocks noGrp="1" noChangeArrowheads="1"/>
          </p:cNvSpPr>
          <p:nvPr/>
        </p:nvSpPr>
        <p:spPr bwMode="auto">
          <a:xfrm>
            <a:off x="5198110" y="1886585"/>
            <a:ext cx="6993890" cy="1693545"/>
          </a:xfrm>
          <a:prstGeom prst="rect">
            <a:avLst/>
          </a:prstGeom>
          <a:ln>
            <a:solidFill>
              <a:srgbClr val="FF0000"/>
            </a:solid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zh-CN" altLang="en-US"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若在stock表中执行如下插入语句：</a:t>
            </a:r>
          </a:p>
          <a:p>
            <a:pPr marL="342900" marR="0" lvl="0" indent="0" algn="l" defTabSz="914400" rtl="0" eaLnBrk="1" latinLnBrk="0" hangingPunct="1">
              <a:lnSpc>
                <a:spcPct val="125000"/>
              </a:lnSpc>
              <a:spcBef>
                <a:spcPts val="0"/>
              </a:spcBef>
              <a:spcAft>
                <a:spcPct val="0"/>
              </a:spcAft>
              <a:buClrTx/>
              <a:buSz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 into salvaging</a:t>
            </a:r>
          </a:p>
          <a:p>
            <a:pPr marL="342900" marR="0" lvl="0" indent="0" algn="l" defTabSz="914400" rtl="0" eaLnBrk="1" latinLnBrk="0" hangingPunct="1">
              <a:lnSpc>
                <a:spcPct val="125000"/>
              </a:lnSpc>
              <a:spcBef>
                <a:spcPts val="0"/>
              </a:spcBef>
              <a:spcAft>
                <a:spcPct val="0"/>
              </a:spcAft>
              <a:buClrTx/>
              <a:buSz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values('20190001','抢修项目1','2019-6-1','2019-6-1',0),</a:t>
            </a:r>
          </a:p>
          <a:p>
            <a:pPr marL="342900" marR="0" lvl="0" indent="0" algn="l" defTabSz="914400" rtl="0" eaLnBrk="1" latinLnBrk="0" hangingPunct="1">
              <a:lnSpc>
                <a:spcPct val="125000"/>
              </a:lnSpc>
              <a:spcBef>
                <a:spcPts val="0"/>
              </a:spcBef>
              <a:spcAft>
                <a:spcPct val="0"/>
              </a:spcAft>
              <a:buClrTx/>
              <a:buSz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('20190002','抢修项目2','2019-6-1','2019-6-2',0);</a:t>
            </a:r>
          </a:p>
        </p:txBody>
      </p:sp>
      <p:pic>
        <p:nvPicPr>
          <p:cNvPr id="2" name="图片 1"/>
          <p:cNvPicPr>
            <a:picLocks noChangeAspect="1"/>
          </p:cNvPicPr>
          <p:nvPr/>
        </p:nvPicPr>
        <p:blipFill>
          <a:blip r:embed="rId3"/>
          <a:stretch>
            <a:fillRect/>
          </a:stretch>
        </p:blipFill>
        <p:spPr>
          <a:xfrm>
            <a:off x="3828415" y="5033645"/>
            <a:ext cx="8549005" cy="595630"/>
          </a:xfrm>
          <a:prstGeom prst="rect">
            <a:avLst/>
          </a:prstGeom>
          <a:noFill/>
          <a:ln w="9525">
            <a:noFill/>
          </a:ln>
        </p:spPr>
      </p:pic>
    </p:spTree>
    <p:extLst>
      <p:ext uri="{BB962C8B-B14F-4D97-AF65-F5344CB8AC3E}">
        <p14:creationId xmlns:p14="http://schemas.microsoft.com/office/powerpoint/2010/main" val="40643430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linds(horizontal)">
                                      <p:cBhvr>
                                        <p:cTn id="7" dur="500"/>
                                        <p:tgtEl>
                                          <p:spTgt spid="368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6594"/>
                                        </p:tgtEl>
                                        <p:attrNameLst>
                                          <p:attrName>style.visibility</p:attrName>
                                        </p:attrNameLst>
                                      </p:cBhvr>
                                      <p:to>
                                        <p:strVal val="visible"/>
                                      </p:to>
                                    </p:set>
                                    <p:animEffect transition="in" filter="blinds(horizontal)">
                                      <p:cBhvr>
                                        <p:cTn id="12" dur="500"/>
                                        <p:tgtEl>
                                          <p:spTgt spid="3665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8" grpId="1"/>
      <p:bldP spid="366594" grpId="0" animBg="1"/>
      <p:bldP spid="36659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3250" name="Rectangle 2"/>
          <p:cNvSpPr/>
          <p:nvPr/>
        </p:nvSpPr>
        <p:spPr>
          <a:xfrm>
            <a:off x="149225" y="753745"/>
            <a:ext cx="11732895"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5.3】</a:t>
            </a:r>
            <a:r>
              <a:rPr sz="2400" dirty="0">
                <a:latin typeface="微软雅黑" panose="020B0503020204020204" pitchFamily="34" charset="-122"/>
                <a:ea typeface="微软雅黑" panose="020B0503020204020204" pitchFamily="34" charset="-122"/>
                <a:cs typeface="微软雅黑" panose="020B0503020204020204" pitchFamily="34" charset="-122"/>
              </a:rPr>
              <a:t>创建一个INSERT事件触发器，在对表Out_stock插入一条记录后，更改对应物资在Stock表中的库存数量，完成级联更改操作。</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6868" name="矩形 1"/>
          <p:cNvSpPr/>
          <p:nvPr/>
        </p:nvSpPr>
        <p:spPr>
          <a:xfrm>
            <a:off x="431165" y="1559560"/>
            <a:ext cx="10702290" cy="4892675"/>
          </a:xfrm>
          <a:prstGeom prst="rect">
            <a:avLst/>
          </a:prstGeom>
          <a:noFill/>
          <a:ln w="9525">
            <a:noFill/>
          </a:ln>
        </p:spPr>
        <p:txBody>
          <a:bodyPr wrap="square">
            <a:spAutoFit/>
          </a:bodyPr>
          <a:lstStyle/>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DELIMITER &amp;&amp;</a:t>
            </a:r>
          </a:p>
          <a:p>
            <a:pPr marL="0" indent="0" eaLnBrk="1" latinLnBrk="0" hangingPunct="1">
              <a:lnSpc>
                <a:spcPct val="120000"/>
              </a:lnSpc>
            </a:pPr>
            <a:r>
              <a:rPr lang="en-US" altLang="zh-CN" sz="2000" i="0" dirty="0">
                <a:solidFill>
                  <a:srgbClr val="FF0000"/>
                </a:solidFill>
                <a:latin typeface="微软雅黑" panose="020B0503020204020204" pitchFamily="34" charset="-122"/>
                <a:ea typeface="微软雅黑" panose="020B0503020204020204" pitchFamily="34" charset="-122"/>
              </a:rPr>
              <a:t>CREATE TRIGGER tr1_outstock </a:t>
            </a:r>
          </a:p>
          <a:p>
            <a:pPr marL="0" algn="l" eaLnBrk="1" latinLnBrk="0" hangingPunct="1">
              <a:lnSpc>
                <a:spcPct val="120000"/>
              </a:lnSpc>
              <a:buClrTx/>
              <a:buSzTx/>
              <a:buNone/>
            </a:pPr>
            <a:r>
              <a:rPr lang="en-US" altLang="zh-CN" sz="20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AFTER INSERT</a:t>
            </a:r>
          </a:p>
          <a:p>
            <a:pPr marL="0" algn="l" eaLnBrk="1" latinLnBrk="0" hangingPunct="1">
              <a:lnSpc>
                <a:spcPct val="120000"/>
              </a:lnSpc>
              <a:buClrTx/>
              <a:buSzTx/>
              <a:buNone/>
            </a:pPr>
            <a:r>
              <a:rPr lang="en-US" altLang="zh-CN" sz="20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out_stock FOR EACH ROW</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BEGIN</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declare m_amout int(11);</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select amount INTO m_amout</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from out_stock</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where prj_num=NEW.prj_num and mat_num=NEW.mat_num;    </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update stock</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set amount=amount-m_amout</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where mat_num=NEW.mat_num;        </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END</a:t>
            </a:r>
          </a:p>
        </p:txBody>
      </p:sp>
    </p:spTree>
    <p:extLst>
      <p:ext uri="{BB962C8B-B14F-4D97-AF65-F5344CB8AC3E}">
        <p14:creationId xmlns:p14="http://schemas.microsoft.com/office/powerpoint/2010/main" val="2380690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linds(horizontal)">
                                      <p:cBhvr>
                                        <p:cTn id="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angle 3"/>
          <p:cNvSpPr/>
          <p:nvPr/>
        </p:nvSpPr>
        <p:spPr>
          <a:xfrm>
            <a:off x="1092835" y="894715"/>
            <a:ext cx="10807700" cy="2768600"/>
          </a:xfrm>
          <a:prstGeom prst="rect">
            <a:avLst/>
          </a:prstGeom>
          <a:noFill/>
          <a:ln w="9525">
            <a:noFill/>
          </a:ln>
        </p:spPr>
        <p:txBody>
          <a:bodyPr wrap="square" anchor="ctr" anchorCtr="0">
            <a:spAutoFit/>
          </a:bodyPr>
          <a:lstStyle/>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若在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表中执行如下插入语句，则</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表中对应字段前后对比如下图所示。</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insert </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into Out_stock    </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values('20110006','</a:t>
            </a: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m003</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,'2011-3-8','</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工程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p>
          <a:p>
            <a:pPr indent="269875" eaLnBrk="0" hangingPunct="0"/>
            <a:endParaRPr lang="en-US" altLang="zh-CN" sz="2400" i="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5"/>
          <p:cNvSpPr/>
          <p:nvPr/>
        </p:nvSpPr>
        <p:spPr>
          <a:xfrm>
            <a:off x="1158875" y="4393883"/>
            <a:ext cx="9690100" cy="437515"/>
          </a:xfrm>
          <a:prstGeom prst="rect">
            <a:avLst/>
          </a:prstGeom>
          <a:noFill/>
          <a:ln w="9525">
            <a:noFill/>
          </a:ln>
        </p:spPr>
        <p:txBody>
          <a:bodyPr wrap="square" anchor="ctr" anchorCtr="0">
            <a:spAutoFit/>
          </a:bodyPr>
          <a:lstStyle/>
          <a:p>
            <a:pPr indent="269875" eaLnBrk="0" latinLnBrk="0" hangingPunct="0">
              <a:lnSpc>
                <a:spcPct val="125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）执行插入语句之前的</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表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）执行插入语句之后的</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表</a:t>
            </a:r>
          </a:p>
        </p:txBody>
      </p:sp>
      <p:pic>
        <p:nvPicPr>
          <p:cNvPr id="3" name="图片 1"/>
          <p:cNvPicPr>
            <a:picLocks noChangeAspect="1"/>
          </p:cNvPicPr>
          <p:nvPr/>
        </p:nvPicPr>
        <p:blipFill>
          <a:blip r:embed="rId3"/>
          <a:stretch>
            <a:fillRect/>
          </a:stretch>
        </p:blipFill>
        <p:spPr>
          <a:xfrm>
            <a:off x="925830" y="3663315"/>
            <a:ext cx="4834890" cy="512445"/>
          </a:xfrm>
          <a:prstGeom prst="rect">
            <a:avLst/>
          </a:prstGeom>
          <a:noFill/>
          <a:ln w="9525">
            <a:noFill/>
          </a:ln>
        </p:spPr>
      </p:pic>
      <p:pic>
        <p:nvPicPr>
          <p:cNvPr id="5" name="图片 -2147482613"/>
          <p:cNvPicPr>
            <a:picLocks noChangeAspect="1"/>
          </p:cNvPicPr>
          <p:nvPr/>
        </p:nvPicPr>
        <p:blipFill>
          <a:blip r:embed="rId4"/>
          <a:stretch>
            <a:fillRect/>
          </a:stretch>
        </p:blipFill>
        <p:spPr>
          <a:xfrm>
            <a:off x="5989955" y="3663315"/>
            <a:ext cx="4482465" cy="448310"/>
          </a:xfrm>
          <a:prstGeom prst="rect">
            <a:avLst/>
          </a:prstGeom>
          <a:noFill/>
          <a:ln w="9525">
            <a:noFill/>
          </a:ln>
        </p:spPr>
      </p:pic>
    </p:spTree>
    <p:extLst>
      <p:ext uri="{BB962C8B-B14F-4D97-AF65-F5344CB8AC3E}">
        <p14:creationId xmlns:p14="http://schemas.microsoft.com/office/powerpoint/2010/main" val="3556169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par>
                                <p:cTn id="12" presetID="3" presetClass="entr" presetSubtype="1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674" name="Rectangle 2"/>
          <p:cNvSpPr/>
          <p:nvPr/>
        </p:nvSpPr>
        <p:spPr>
          <a:xfrm>
            <a:off x="299085" y="600075"/>
            <a:ext cx="8229600" cy="56134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事件触发器</a:t>
            </a:r>
          </a:p>
        </p:txBody>
      </p:sp>
      <p:sp>
        <p:nvSpPr>
          <p:cNvPr id="5" name="文本框 4"/>
          <p:cNvSpPr txBox="1"/>
          <p:nvPr/>
        </p:nvSpPr>
        <p:spPr>
          <a:xfrm>
            <a:off x="352425" y="1080770"/>
            <a:ext cx="11551285" cy="1420495"/>
          </a:xfrm>
          <a:prstGeom prst="rect">
            <a:avLst/>
          </a:prstGeom>
          <a:noFill/>
          <a:ln w="9525">
            <a:noFill/>
          </a:ln>
        </p:spPr>
        <p:txBody>
          <a:bodyPr wrap="square">
            <a:spAutoFit/>
          </a:bodyPr>
          <a:lstStyle/>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从基本表中删除数据时触发执行，在用户执行了DELETE触发器后，将删除的数据行保存在OLD表中，即数据行并没有消失，还可在SQL语句中引用。</a:t>
            </a:r>
          </a:p>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主要用于：防止删除数据库中的某些数据行、级联删除数据库中其他表中的数据行。</a:t>
            </a:r>
          </a:p>
        </p:txBody>
      </p:sp>
      <p:sp>
        <p:nvSpPr>
          <p:cNvPr id="53250" name="Rectangle 2"/>
          <p:cNvSpPr/>
          <p:nvPr/>
        </p:nvSpPr>
        <p:spPr>
          <a:xfrm>
            <a:off x="172085" y="2565400"/>
            <a:ext cx="12404090"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5.4】</a:t>
            </a:r>
            <a:r>
              <a:rPr sz="2400" dirty="0">
                <a:latin typeface="微软雅黑" panose="020B0503020204020204" pitchFamily="34" charset="-122"/>
                <a:ea typeface="微软雅黑" panose="020B0503020204020204" pitchFamily="34" charset="-122"/>
                <a:cs typeface="微软雅黑" panose="020B0503020204020204" pitchFamily="34" charset="-122"/>
              </a:rPr>
              <a:t>创建一个DELETE触发器，当用户从stock表中删除数据时，同时将out_stock</a:t>
            </a: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p>
          <a:p>
            <a:pPr eaLnBrk="1" hangingPunct="1">
              <a:buNone/>
            </a:pPr>
            <a:r>
              <a:rPr sz="2400" dirty="0">
                <a:latin typeface="微软雅黑" panose="020B0503020204020204" pitchFamily="34" charset="-122"/>
                <a:ea typeface="微软雅黑" panose="020B0503020204020204" pitchFamily="34" charset="-122"/>
                <a:cs typeface="微软雅黑" panose="020B0503020204020204" pitchFamily="34" charset="-122"/>
              </a:rPr>
              <a:t>表中相关物资的出库情况一并删除。</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6868" name="矩形 1"/>
          <p:cNvSpPr/>
          <p:nvPr/>
        </p:nvSpPr>
        <p:spPr>
          <a:xfrm>
            <a:off x="640080" y="3429000"/>
            <a:ext cx="10702290" cy="3446145"/>
          </a:xfrm>
          <a:prstGeom prst="rect">
            <a:avLst/>
          </a:prstGeom>
          <a:noFill/>
          <a:ln w="9525">
            <a:noFill/>
          </a:ln>
        </p:spPr>
        <p:txBody>
          <a:bodyPr wrap="square">
            <a:spAutoFit/>
          </a:bodyPr>
          <a:lstStyle/>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DELIMITER &amp;&amp;</a:t>
            </a:r>
          </a:p>
          <a:p>
            <a:pPr marL="0" indent="0" eaLnBrk="1" latinLnBrk="0" hangingPunct="1">
              <a:lnSpc>
                <a:spcPct val="120000"/>
              </a:lnSpc>
            </a:pPr>
            <a:r>
              <a:rPr lang="en-US" altLang="zh-CN" sz="2000" i="0" dirty="0">
                <a:solidFill>
                  <a:srgbClr val="FF0000"/>
                </a:solidFill>
                <a:latin typeface="微软雅黑" panose="020B0503020204020204" pitchFamily="34" charset="-122"/>
                <a:ea typeface="微软雅黑" panose="020B0503020204020204" pitchFamily="34" charset="-122"/>
              </a:rPr>
              <a:t>CREATE TRIGGER tr2_stock </a:t>
            </a:r>
            <a:endParaRPr lang="en-US" altLang="zh-CN" sz="2000" i="0" dirty="0">
              <a:solidFill>
                <a:schemeClr val="tx1"/>
              </a:solidFill>
              <a:latin typeface="微软雅黑" panose="020B0503020204020204" pitchFamily="34" charset="-122"/>
              <a:ea typeface="微软雅黑" panose="020B0503020204020204" pitchFamily="34" charset="-122"/>
            </a:endParaRPr>
          </a:p>
          <a:p>
            <a:pPr marL="0" algn="l" eaLnBrk="1" latinLnBrk="0" hangingPunct="1">
              <a:lnSpc>
                <a:spcPct val="125000"/>
              </a:lnSpc>
              <a:spcBef>
                <a:spcPts val="0"/>
              </a:spcBef>
              <a:buClrTx/>
              <a:buSzTx/>
              <a:buFontTx/>
            </a:pPr>
            <a:r>
              <a:rPr lang="en-US" altLang="zh-CN" sz="20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AFTER DELETE</a:t>
            </a:r>
          </a:p>
          <a:p>
            <a:pPr marL="0" algn="l" eaLnBrk="1" latinLnBrk="0" hangingPunct="1">
              <a:lnSpc>
                <a:spcPct val="125000"/>
              </a:lnSpc>
              <a:spcBef>
                <a:spcPts val="0"/>
              </a:spcBef>
              <a:buClrTx/>
              <a:buSzTx/>
              <a:buFontTx/>
            </a:pPr>
            <a:r>
              <a:rPr lang="en-US" altLang="zh-CN" sz="20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stock FOR EACH ROW</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BEGIN</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delete </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from out_stock</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   where mat_num=OLD.mat_num;       </a:t>
            </a:r>
          </a:p>
          <a:p>
            <a:pPr marL="0" indent="0" eaLnBrk="1" latinLnBrk="0" hangingPunct="1">
              <a:lnSpc>
                <a:spcPct val="120000"/>
              </a:lnSpc>
            </a:pPr>
            <a:r>
              <a:rPr lang="en-US" altLang="zh-CN" sz="2000" i="0" dirty="0">
                <a:solidFill>
                  <a:schemeClr val="tx1"/>
                </a:solidFill>
                <a:latin typeface="微软雅黑" panose="020B0503020204020204" pitchFamily="34" charset="-122"/>
                <a:ea typeface="微软雅黑" panose="020B0503020204020204" pitchFamily="34" charset="-122"/>
              </a:rPr>
              <a:t>END</a:t>
            </a:r>
          </a:p>
        </p:txBody>
      </p:sp>
      <p:sp>
        <p:nvSpPr>
          <p:cNvPr id="368643" name="Rectangle 3"/>
          <p:cNvSpPr/>
          <p:nvPr/>
        </p:nvSpPr>
        <p:spPr>
          <a:xfrm>
            <a:off x="5731510" y="5148580"/>
            <a:ext cx="6171565" cy="860425"/>
          </a:xfrm>
          <a:prstGeom prst="rect">
            <a:avLst/>
          </a:prstGeom>
          <a:solidFill>
            <a:srgbClr val="FFFF00"/>
          </a:solidFill>
          <a:ln w="9525">
            <a:noFill/>
          </a:ln>
        </p:spPr>
        <p:txBody>
          <a:bodyPr wrap="square">
            <a:spAutoFit/>
          </a:bodyPr>
          <a:lstStyle/>
          <a:p>
            <a:pPr eaLnBrk="1" latinLnBrk="0" hangingPunct="1">
              <a:lnSpc>
                <a:spcPct val="125000"/>
              </a:lnSpc>
              <a:spcBef>
                <a:spcPts val="0"/>
              </a:spcBef>
            </a:pP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注意：使用触发器作级联删除</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前提是</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表没有定义和</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表相关的外键。</a:t>
            </a:r>
          </a:p>
        </p:txBody>
      </p:sp>
    </p:spTree>
    <p:extLst>
      <p:ext uri="{BB962C8B-B14F-4D97-AF65-F5344CB8AC3E}">
        <p14:creationId xmlns:p14="http://schemas.microsoft.com/office/powerpoint/2010/main" val="856802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linds(horizontal)">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Effect transition="in" filter="blinds(horizontal)">
                                      <p:cBhvr>
                                        <p:cTn id="12" dur="500"/>
                                        <p:tgtEl>
                                          <p:spTgt spid="368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43"/>
                                        </p:tgtEl>
                                        <p:attrNameLst>
                                          <p:attrName>style.visibility</p:attrName>
                                        </p:attrNameLst>
                                      </p:cBhvr>
                                      <p:to>
                                        <p:strVal val="visible"/>
                                      </p:to>
                                    </p:set>
                                    <p:animEffect transition="in" filter="blinds(horizontal)">
                                      <p:cBhvr>
                                        <p:cTn id="17" dur="500"/>
                                        <p:tgtEl>
                                          <p:spTgt spid="368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0" grpId="1"/>
      <p:bldP spid="36868" grpId="0"/>
      <p:bldP spid="36868" grpId="1"/>
      <p:bldP spid="36864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angle 2"/>
          <p:cNvSpPr/>
          <p:nvPr/>
        </p:nvSpPr>
        <p:spPr>
          <a:xfrm>
            <a:off x="299085" y="916940"/>
            <a:ext cx="8229600" cy="56134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latinLnBrk="0" hangingPunct="1">
              <a:lnSpc>
                <a:spcPct val="125000"/>
              </a:lnSpc>
              <a:spcBef>
                <a:spcPts val="0"/>
              </a:spcBef>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UPDATE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事件触发器</a:t>
            </a:r>
          </a:p>
        </p:txBody>
      </p:sp>
      <p:sp>
        <p:nvSpPr>
          <p:cNvPr id="5" name="文本框 4"/>
          <p:cNvSpPr txBox="1"/>
          <p:nvPr/>
        </p:nvSpPr>
        <p:spPr>
          <a:xfrm>
            <a:off x="352425" y="1516380"/>
            <a:ext cx="11251565" cy="2749550"/>
          </a:xfrm>
          <a:prstGeom prst="rect">
            <a:avLst/>
          </a:prstGeom>
          <a:noFill/>
          <a:ln w="9525">
            <a:noFill/>
          </a:ln>
        </p:spPr>
        <p:txBody>
          <a:bodyPr wrap="square">
            <a:spAutoFit/>
          </a:bodyPr>
          <a:lstStyle/>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UPDATE触发器在用户发出UPDATE语句后触发执行，即为用户修改数据行增加限制规则。</a:t>
            </a:r>
          </a:p>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UPDATE触发器合并了DELETE触发器和INSERT触发器的作用。</a:t>
            </a:r>
          </a:p>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在用户执行了UPDATE语句后，原来的数据行从基本表中删除，但保存在OLD表中，同时基本表更新后的新数据行也在NEW表中保存了一个副本。</a:t>
            </a:r>
          </a:p>
          <a:p>
            <a:pPr marL="342900" indent="-342900" eaLnBrk="1" latinLnBrk="0" hangingPunct="1">
              <a:lnSpc>
                <a:spcPct val="120000"/>
              </a:lnSpc>
              <a:buFont typeface="Arial" panose="020B0604020202020204" pitchFamily="34" charset="0"/>
              <a:buChar char="•"/>
            </a:pPr>
            <a:r>
              <a:rPr altLang="zh-CN" sz="2400" b="0" kern="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rPr>
              <a:t>可利用OLD表和NEW表获取更新前后的数据行，完成比较操作。</a:t>
            </a:r>
          </a:p>
        </p:txBody>
      </p:sp>
    </p:spTree>
    <p:extLst>
      <p:ext uri="{BB962C8B-B14F-4D97-AF65-F5344CB8AC3E}">
        <p14:creationId xmlns:p14="http://schemas.microsoft.com/office/powerpoint/2010/main" val="19418739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3250" name="Rectangle 2"/>
          <p:cNvSpPr/>
          <p:nvPr/>
        </p:nvSpPr>
        <p:spPr>
          <a:xfrm>
            <a:off x="128905" y="880745"/>
            <a:ext cx="10915650"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5.5】</a:t>
            </a:r>
            <a:r>
              <a:rPr sz="2400" dirty="0">
                <a:latin typeface="微软雅黑" panose="020B0503020204020204" pitchFamily="34" charset="-122"/>
                <a:ea typeface="微软雅黑" panose="020B0503020204020204" pitchFamily="34" charset="-122"/>
                <a:cs typeface="微软雅黑" panose="020B0503020204020204" pitchFamily="34" charset="-122"/>
              </a:rPr>
              <a:t>定义一个数据表modify_amount，用于存储领料出库表out_stock中领取数量发生变化的情况。</a:t>
            </a:r>
          </a:p>
        </p:txBody>
      </p:sp>
      <p:sp>
        <p:nvSpPr>
          <p:cNvPr id="6" name="矩形 5"/>
          <p:cNvSpPr/>
          <p:nvPr/>
        </p:nvSpPr>
        <p:spPr>
          <a:xfrm>
            <a:off x="742950" y="1764665"/>
            <a:ext cx="9615805" cy="4246245"/>
          </a:xfrm>
          <a:prstGeom prst="rect">
            <a:avLst/>
          </a:prstGeom>
          <a:noFill/>
          <a:ln w="9525">
            <a:noFill/>
          </a:ln>
        </p:spPr>
        <p:txBody>
          <a:bodyPr wrap="square">
            <a:spAutoFit/>
          </a:bodyPr>
          <a:lstStyle/>
          <a:p>
            <a:pPr>
              <a:lnSpc>
                <a:spcPct val="125000"/>
              </a:lnSpc>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Modify_amount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的创建语句如下：</a:t>
            </a:r>
          </a:p>
          <a:p>
            <a:pPr>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CREATE TABLE modify_amount</a:t>
            </a:r>
            <a:endParaRPr lang="zh-CN"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prj_num     char(8),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被修改的工程项目号</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mat_num     char(8),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被修改的抢修物资号</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username   char(6) ,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修改人</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updatetime datetime,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修改时间</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amount_old   int,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修改前的领取数量</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amount_new  int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修改后的领取数量</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extLst>
      <p:ext uri="{BB962C8B-B14F-4D97-AF65-F5344CB8AC3E}">
        <p14:creationId xmlns:p14="http://schemas.microsoft.com/office/powerpoint/2010/main" val="3033649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5.1.2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MySQL</a:t>
            </a:r>
            <a:r>
              <a:rPr lang="zh-CN" altLang="en-US" sz="2800" b="1" dirty="0">
                <a:solidFill>
                  <a:schemeClr val="bg1"/>
                </a:solidFill>
                <a:latin typeface="微软雅黑" panose="020B0503020204020204" pitchFamily="34" charset="-122"/>
                <a:ea typeface="微软雅黑" panose="020B0503020204020204" pitchFamily="34" charset="-122"/>
              </a:rPr>
              <a:t>触发器</a:t>
            </a: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19430" y="1028065"/>
            <a:ext cx="11524615" cy="3743960"/>
          </a:xfrm>
          <a:prstGeom prst="rect">
            <a:avLst/>
          </a:prstGeom>
          <a:noFill/>
          <a:ln w="9525">
            <a:noFill/>
          </a:ln>
        </p:spPr>
        <p:txBody>
          <a:bodyPr wrap="square">
            <a:spAutoFit/>
          </a:bodyPr>
          <a:lstStyle/>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DELIMITER &amp;&amp;</a:t>
            </a:r>
          </a:p>
          <a:p>
            <a:pPr eaLnBrk="1" latinLnBrk="0" hangingPunct="1">
              <a:lnSpc>
                <a:spcPct val="110000"/>
              </a:lnSpc>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CREATE TRIGGER tr2_outstock </a:t>
            </a:r>
          </a:p>
          <a:p>
            <a:pPr eaLnBrk="1" latinLnBrk="0" hangingPunct="1">
              <a:lnSpc>
                <a:spcPct val="110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AFTER UPDATE</a:t>
            </a:r>
          </a:p>
          <a:p>
            <a:pPr eaLnBrk="1" latinLnBrk="0" hangingPunct="1">
              <a:lnSpc>
                <a:spcPct val="110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out_stock FOR EACH ROW</a:t>
            </a:r>
          </a:p>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BEGIN</a:t>
            </a:r>
          </a:p>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insert </a:t>
            </a:r>
          </a:p>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into modify_amount</a:t>
            </a:r>
          </a:p>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values(OLD.prj_num,OLD.mat_num,USER(),NOW(),OLD.amount,NEW.amount);</a:t>
            </a:r>
          </a:p>
          <a:p>
            <a:pPr eaLnBrk="1" latinLnBrk="0" hangingPunct="1">
              <a:lnSpc>
                <a:spcPct val="110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END</a:t>
            </a:r>
          </a:p>
        </p:txBody>
      </p:sp>
      <p:sp>
        <p:nvSpPr>
          <p:cNvPr id="100" name="文本框 99"/>
          <p:cNvSpPr txBox="1"/>
          <p:nvPr/>
        </p:nvSpPr>
        <p:spPr>
          <a:xfrm>
            <a:off x="5299710" y="1256030"/>
            <a:ext cx="6811645" cy="1014730"/>
          </a:xfrm>
          <a:prstGeom prst="rect">
            <a:avLst/>
          </a:prstGeom>
          <a:noFill/>
          <a:ln w="9525">
            <a:solidFill>
              <a:schemeClr val="accent1"/>
            </a:solidFill>
          </a:ln>
        </p:spPr>
        <p:txBody>
          <a:bodyPr wrap="square">
            <a:spAutoFit/>
          </a:bodyPr>
          <a:lstStyle/>
          <a:p>
            <a:pPr marL="0" indent="269875"/>
            <a:r>
              <a:rPr lang="en-US" sz="2000">
                <a:latin typeface="微软雅黑" panose="020B0503020204020204" pitchFamily="34" charset="-122"/>
                <a:ea typeface="微软雅黑" panose="020B0503020204020204" pitchFamily="34" charset="-122"/>
                <a:cs typeface="Comic Sans MS" panose="030F0702030302020204" charset="0"/>
              </a:rPr>
              <a:t>UPDATE Out_stock</a:t>
            </a:r>
          </a:p>
          <a:p>
            <a:pPr marL="0" indent="269875"/>
            <a:r>
              <a:rPr lang="en-US" sz="2000">
                <a:latin typeface="微软雅黑" panose="020B0503020204020204" pitchFamily="34" charset="-122"/>
                <a:ea typeface="微软雅黑" panose="020B0503020204020204" pitchFamily="34" charset="-122"/>
                <a:cs typeface="Comic Sans MS" panose="030F0702030302020204" charset="0"/>
              </a:rPr>
              <a:t>SET amount=8</a:t>
            </a:r>
          </a:p>
          <a:p>
            <a:pPr marL="0" indent="269875"/>
            <a:r>
              <a:rPr lang="en-US" sz="2000">
                <a:latin typeface="微软雅黑" panose="020B0503020204020204" pitchFamily="34" charset="-122"/>
                <a:ea typeface="微软雅黑" panose="020B0503020204020204" pitchFamily="34" charset="-122"/>
                <a:cs typeface="Comic Sans MS" panose="030F0702030302020204" charset="0"/>
              </a:rPr>
              <a:t>WHERE prj_num='20110005' and mat_num='m006'</a:t>
            </a:r>
          </a:p>
        </p:txBody>
      </p:sp>
      <p:pic>
        <p:nvPicPr>
          <p:cNvPr id="3" name="图片 1"/>
          <p:cNvPicPr>
            <a:picLocks noChangeAspect="1"/>
          </p:cNvPicPr>
          <p:nvPr/>
        </p:nvPicPr>
        <p:blipFill>
          <a:blip r:embed="rId3"/>
          <a:stretch>
            <a:fillRect/>
          </a:stretch>
        </p:blipFill>
        <p:spPr>
          <a:xfrm>
            <a:off x="4362450" y="2786380"/>
            <a:ext cx="7294245" cy="578485"/>
          </a:xfrm>
          <a:prstGeom prst="rect">
            <a:avLst/>
          </a:prstGeom>
          <a:noFill/>
          <a:ln w="9525">
            <a:noFill/>
          </a:ln>
        </p:spPr>
      </p:pic>
    </p:spTree>
    <p:extLst>
      <p:ext uri="{BB962C8B-B14F-4D97-AF65-F5344CB8AC3E}">
        <p14:creationId xmlns:p14="http://schemas.microsoft.com/office/powerpoint/2010/main" val="1148092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0"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7556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8915" name="Rectangle 3"/>
          <p:cNvSpPr/>
          <p:nvPr/>
        </p:nvSpPr>
        <p:spPr>
          <a:xfrm>
            <a:off x="843915" y="678815"/>
            <a:ext cx="10346690" cy="45243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50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定义触发器的语句：</a:t>
            </a:r>
          </a:p>
          <a:p>
            <a:pPr eaLnBrk="1" latinLnBrk="0" hangingPunct="1">
              <a:lnSpc>
                <a:spcPct val="150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&lt;</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触发器名</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a:t>
            </a:r>
          </a:p>
          <a:p>
            <a:pPr eaLnBrk="1" latinLnBrk="0" hangingPunct="1">
              <a:lnSpc>
                <a:spcPct val="150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ON</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表名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视图名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5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WITH ENCRYPTION ] </a:t>
            </a:r>
          </a:p>
          <a:p>
            <a:pPr eaLnBrk="1" latinLnBrk="0" hangingPunct="1">
              <a:lnSpc>
                <a:spcPct val="15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AFTER|INSTEAD OF</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INSERT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UPDATE</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DELETE</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5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NOT FOR REPLICATION ]</a:t>
            </a:r>
          </a:p>
          <a:p>
            <a:pPr eaLnBrk="1" latinLnBrk="0" hangingPunct="1">
              <a:lnSpc>
                <a:spcPct val="150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b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 SQL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2" name="矩形 1"/>
          <p:cNvSpPr/>
          <p:nvPr/>
        </p:nvSpPr>
        <p:spPr>
          <a:xfrm>
            <a:off x="765810" y="5449570"/>
            <a:ext cx="10843260" cy="1014730"/>
          </a:xfrm>
          <a:prstGeom prst="rect">
            <a:avLst/>
          </a:prstGeom>
          <a:solidFill>
            <a:schemeClr val="bg1"/>
          </a:solidFill>
          <a:ln w="9525">
            <a:solidFill>
              <a:schemeClr val="accent1"/>
            </a:solidFill>
          </a:ln>
        </p:spPr>
        <p:txBody>
          <a:bodyPr wrap="square">
            <a:spAutoFit/>
          </a:bodyPr>
          <a:lstStyle/>
          <a:p>
            <a:pPr eaLnBrk="1" latinLnBrk="0" hangingPunct="1">
              <a:lnSpc>
                <a:spcPct val="125000"/>
              </a:lnSpc>
              <a:spcBef>
                <a:spcPts val="0"/>
              </a:spcBef>
            </a:pP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注：</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一</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个触发器只能应用在一个表上，但一个触发器可以包含很多动作，执行很多功能，触发器可以建立在基本表上，也可以建立在视图上。</a:t>
            </a:r>
          </a:p>
        </p:txBody>
      </p:sp>
      <p:sp>
        <p:nvSpPr>
          <p:cNvPr id="3" name="对话气泡: 圆角矩形 3"/>
          <p:cNvSpPr/>
          <p:nvPr/>
        </p:nvSpPr>
        <p:spPr>
          <a:xfrm>
            <a:off x="6541770" y="943610"/>
            <a:ext cx="2001520" cy="538480"/>
          </a:xfrm>
          <a:prstGeom prst="wedgeRoundRectCallout">
            <a:avLst>
              <a:gd name="adj1" fmla="val -117512"/>
              <a:gd name="adj2" fmla="val 75943"/>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latin typeface="微软雅黑" panose="020B0503020204020204" pitchFamily="34" charset="-122"/>
                <a:ea typeface="微软雅黑" panose="020B0503020204020204" pitchFamily="34" charset="-122"/>
              </a:rPr>
              <a:t>触发器名称</a:t>
            </a:r>
          </a:p>
        </p:txBody>
      </p:sp>
      <p:sp>
        <p:nvSpPr>
          <p:cNvPr id="5" name="对话气泡: 圆角矩形 4"/>
          <p:cNvSpPr/>
          <p:nvPr/>
        </p:nvSpPr>
        <p:spPr>
          <a:xfrm>
            <a:off x="6170930" y="1798636"/>
            <a:ext cx="2743200" cy="538480"/>
          </a:xfrm>
          <a:prstGeom prst="wedgeRoundRectCallout">
            <a:avLst>
              <a:gd name="adj1" fmla="val -129004"/>
              <a:gd name="adj2" fmla="val 21403"/>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latin typeface="微软雅黑" panose="020B0503020204020204" pitchFamily="34" charset="-122"/>
                <a:ea typeface="微软雅黑" panose="020B0503020204020204" pitchFamily="34" charset="-122"/>
              </a:rPr>
              <a:t>触发器所依存的表</a:t>
            </a:r>
          </a:p>
        </p:txBody>
      </p:sp>
      <p:sp>
        <p:nvSpPr>
          <p:cNvPr id="6" name="对话气泡: 圆角矩形 5"/>
          <p:cNvSpPr/>
          <p:nvPr/>
        </p:nvSpPr>
        <p:spPr>
          <a:xfrm>
            <a:off x="7108551" y="3623945"/>
            <a:ext cx="3555004" cy="538480"/>
          </a:xfrm>
          <a:prstGeom prst="wedgeRoundRectCallout">
            <a:avLst>
              <a:gd name="adj1" fmla="val -79536"/>
              <a:gd name="adj2" fmla="val -66627"/>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latin typeface="微软雅黑" panose="020B0503020204020204" pitchFamily="34" charset="-122"/>
                <a:ea typeface="微软雅黑" panose="020B0503020204020204" pitchFamily="34" charset="-122"/>
              </a:rPr>
              <a:t>激活触发器的触发条件</a:t>
            </a:r>
          </a:p>
        </p:txBody>
      </p:sp>
      <p:sp>
        <p:nvSpPr>
          <p:cNvPr id="7" name="对话气泡: 圆角矩形 6"/>
          <p:cNvSpPr/>
          <p:nvPr/>
        </p:nvSpPr>
        <p:spPr>
          <a:xfrm>
            <a:off x="5606415" y="4368800"/>
            <a:ext cx="4398010" cy="937895"/>
          </a:xfrm>
          <a:prstGeom prst="wedgeRoundRectCallout">
            <a:avLst>
              <a:gd name="adj1" fmla="val -98030"/>
              <a:gd name="adj2" fmla="val 8774"/>
              <a:gd name="adj3" fmla="val 16667"/>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触发器所要执行的一组</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语句，可以包含流程控制语句</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ldLvl="0" animBg="1"/>
      <p:bldP spid="5" grpId="0" bldLvl="0" animBg="1"/>
      <p:bldP spid="6" grpId="0" bldLvl="0" animBg="1"/>
      <p:bldP spid="7"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3795" name="内容占位符 2"/>
          <p:cNvSpPr>
            <a:spLocks noGrp="1"/>
          </p:cNvSpPr>
          <p:nvPr/>
        </p:nvSpPr>
        <p:spPr>
          <a:xfrm>
            <a:off x="499745" y="923290"/>
            <a:ext cx="11192510" cy="169164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After</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表示触发器在SQL语句中指定操作成功执行后才激活。</a:t>
            </a:r>
          </a:p>
          <a:p>
            <a:pPr latinLnBrk="0">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表示在表或视图上执行增、删、改操作时，用该触发器中的SQL语句代替原语句。</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nvSpPr>
        <p:spPr>
          <a:xfrm>
            <a:off x="387985" y="3115310"/>
            <a:ext cx="11544300" cy="320675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latinLnBrk="0">
              <a:lnSpc>
                <a:spcPct val="125000"/>
              </a:lnSpc>
              <a:spcBef>
                <a:spcPts val="0"/>
              </a:spcBef>
              <a:spcAft>
                <a:spcPct val="0"/>
              </a:spcAft>
              <a:buClrTx/>
              <a:buSzTx/>
              <a:buFontTx/>
              <a:buChar char="•"/>
              <a:defRPr/>
            </a:pP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INSERTED</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：对于</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操作来说，</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INSERTED</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表里存放的是要插入的数据；对于</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UPDATE</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操作来说，</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INSERTED</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表里存放的是要更新的记录（即更新后的值）。</a:t>
            </a:r>
          </a:p>
          <a:p>
            <a:pPr marL="342900" marR="0" lvl="0" indent="-342900" algn="l" defTabSz="914400" rtl="0" latinLnBrk="0">
              <a:lnSpc>
                <a:spcPct val="125000"/>
              </a:lnSpc>
              <a:spcBef>
                <a:spcPts val="0"/>
              </a:spcBef>
              <a:spcAft>
                <a:spcPct val="0"/>
              </a:spcAft>
              <a:buClrTx/>
              <a:buSzTx/>
              <a:buFontTx/>
              <a:buChar char="•"/>
              <a:defRPr/>
            </a:pPr>
            <a:endPar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latinLnBrk="0">
              <a:lnSpc>
                <a:spcPct val="125000"/>
              </a:lnSpc>
              <a:spcBef>
                <a:spcPts val="0"/>
              </a:spcBef>
              <a:spcAft>
                <a:spcPct val="0"/>
              </a:spcAft>
              <a:buClrTx/>
              <a:buSzTx/>
              <a:buFontTx/>
              <a:buChar char="•"/>
              <a:defRPr/>
            </a:pP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DELETED</a:t>
            </a:r>
            <a:r>
              <a:rPr kumimoji="0" lang="zh-CN"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：对于</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DELETE</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操作来说，</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DELETED</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表里存放的是被删除的记录；而对于</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UPDATE</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操作来说，</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DELETED</a:t>
            </a:r>
            <a:r>
              <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表里存放的是更新前的记录（更新完毕后即被删除）。</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nvSpPr>
        <p:spPr>
          <a:xfrm>
            <a:off x="499745" y="2446655"/>
            <a:ext cx="10740390" cy="6686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两个特殊的表:  触发器的实现离不开两张特定的表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63522" name="Rectangle 2"/>
          <p:cNvSpPr/>
          <p:nvPr/>
        </p:nvSpPr>
        <p:spPr>
          <a:xfrm>
            <a:off x="245745" y="865505"/>
            <a:ext cx="11344910" cy="413385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609600" indent="-609600" eaLnBrk="1" latinLnBrk="0" hangingPunct="1">
              <a:lnSpc>
                <a:spcPct val="150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1. AFTER INSERT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触发器</a:t>
            </a:r>
          </a:p>
          <a:p>
            <a:pPr marL="609600" indent="-609600" eaLnBrk="1" latinLnBrk="0" hangingPunct="1">
              <a:lnSpc>
                <a:spcPct val="15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该触发器在每次往基本表中插入数据时触发执行，该数据同时复制到基本表和内存中的</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a:t>
            </a:r>
          </a:p>
          <a:p>
            <a:pPr marL="609600" indent="-609600" eaLnBrk="1" latinLnBrk="0" hangingPunct="1">
              <a:lnSpc>
                <a:spcPct val="150000"/>
              </a:lnSpc>
              <a:spcBef>
                <a:spcPts val="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触发器主要有三个作用：检验要输入的数据是否符合规则、在插入的数据中增加数据、级联改变数据库中其他的数据表。</a:t>
            </a:r>
          </a:p>
          <a:p>
            <a:pPr marL="609600" indent="-609600" eaLnBrk="1" latinLnBrk="0" hangingPunct="1">
              <a:lnSpc>
                <a:spcPct val="150000"/>
              </a:lnSpc>
              <a:spcBef>
                <a:spcPts val="0"/>
              </a:spcBef>
              <a:buFont typeface="Wingdings" panose="05000000000000000000" pitchFamily="2" charset="2"/>
              <a:buChar char="l"/>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表用于存储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语句所影响的行的复本，执行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语句时，新的数据行被添加到基本表中，同时这些数据行的备份被复制到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临时表中。</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3522">
                                            <p:txEl>
                                              <p:pRg st="1" end="1"/>
                                            </p:txEl>
                                          </p:spTgt>
                                        </p:tgtEl>
                                        <p:attrNameLst>
                                          <p:attrName>style.visibility</p:attrName>
                                        </p:attrNameLst>
                                      </p:cBhvr>
                                      <p:to>
                                        <p:strVal val="visible"/>
                                      </p:to>
                                    </p:set>
                                    <p:animEffect transition="in" filter="blinds(horizontal)">
                                      <p:cBhvr>
                                        <p:cTn id="7" dur="500"/>
                                        <p:tgtEl>
                                          <p:spTgt spid="36352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3522">
                                            <p:txEl>
                                              <p:pRg st="2" end="2"/>
                                            </p:txEl>
                                          </p:spTgt>
                                        </p:tgtEl>
                                        <p:attrNameLst>
                                          <p:attrName>style.visibility</p:attrName>
                                        </p:attrNameLst>
                                      </p:cBhvr>
                                      <p:to>
                                        <p:strVal val="visible"/>
                                      </p:to>
                                    </p:set>
                                    <p:animEffect transition="in" filter="blinds(horizontal)">
                                      <p:cBhvr>
                                        <p:cTn id="12" dur="500"/>
                                        <p:tgtEl>
                                          <p:spTgt spid="3635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3522">
                                            <p:txEl>
                                              <p:pRg st="3" end="3"/>
                                            </p:txEl>
                                          </p:spTgt>
                                        </p:tgtEl>
                                        <p:attrNameLst>
                                          <p:attrName>style.visibility</p:attrName>
                                        </p:attrNameLst>
                                      </p:cBhvr>
                                      <p:to>
                                        <p:strVal val="visible"/>
                                      </p:to>
                                    </p:set>
                                    <p:animEffect transition="in" filter="blinds(horizontal)">
                                      <p:cBhvr>
                                        <p:cTn id="17" dur="500"/>
                                        <p:tgtEl>
                                          <p:spTgt spid="3635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3250" name="Rectangle 2"/>
          <p:cNvSpPr/>
          <p:nvPr/>
        </p:nvSpPr>
        <p:spPr>
          <a:xfrm>
            <a:off x="245745" y="905510"/>
            <a:ext cx="10685145" cy="863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4.12】</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创建一个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触发器，在对表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进行插入后验证库存量的大小，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若</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库存量小于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，则撤销该插入操作。</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6868" name="矩形 1"/>
          <p:cNvSpPr/>
          <p:nvPr/>
        </p:nvSpPr>
        <p:spPr>
          <a:xfrm>
            <a:off x="606425" y="1769110"/>
            <a:ext cx="10702290" cy="4523105"/>
          </a:xfrm>
          <a:prstGeom prst="rect">
            <a:avLst/>
          </a:prstGeom>
          <a:noFill/>
          <a:ln w="9525">
            <a:noFill/>
          </a:ln>
        </p:spPr>
        <p:txBody>
          <a:bodyPr wrap="square">
            <a:spAutoFit/>
          </a:bodyPr>
          <a:lstStyle/>
          <a:p>
            <a:r>
              <a:rPr lang="en-US" altLang="zh-CN" sz="2400" i="0" dirty="0">
                <a:solidFill>
                  <a:srgbClr val="FF0000"/>
                </a:solidFill>
                <a:latin typeface="微软雅黑" panose="020B0503020204020204" pitchFamily="34" charset="-122"/>
                <a:ea typeface="微软雅黑" panose="020B0503020204020204" pitchFamily="34" charset="-122"/>
              </a:rPr>
              <a:t>CREATE TRIGGER tr1_stock</a:t>
            </a:r>
            <a:endParaRPr lang="zh-CN" altLang="zh-CN" sz="2400" i="0" dirty="0">
              <a:solidFill>
                <a:srgbClr val="FF0000"/>
              </a:solidFill>
              <a:latin typeface="微软雅黑" panose="020B0503020204020204" pitchFamily="34" charset="-122"/>
              <a:ea typeface="微软雅黑" panose="020B0503020204020204" pitchFamily="34" charset="-122"/>
            </a:endParaRPr>
          </a:p>
          <a:p>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ON Stock</a:t>
            </a:r>
          </a:p>
          <a:p>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AFTER INSERT</a:t>
            </a:r>
          </a:p>
          <a:p>
            <a:r>
              <a:rPr lang="en-US" altLang="zh-CN" sz="2400" i="0" dirty="0">
                <a:solidFill>
                  <a:srgbClr val="FF0000"/>
                </a:solidFill>
                <a:latin typeface="微软雅黑" panose="020B0503020204020204" pitchFamily="34" charset="-122"/>
                <a:ea typeface="微软雅黑" panose="020B0503020204020204" pitchFamily="34" charset="-122"/>
              </a:rPr>
              <a:t>AS  </a:t>
            </a:r>
            <a:endParaRPr lang="zh-CN" altLang="zh-CN" sz="2400" i="0" dirty="0">
              <a:solidFill>
                <a:srgbClr val="FF0000"/>
              </a:solidFill>
              <a:latin typeface="微软雅黑" panose="020B0503020204020204" pitchFamily="34" charset="-122"/>
              <a:ea typeface="微软雅黑" panose="020B0503020204020204" pitchFamily="34" charset="-122"/>
            </a:endParaRPr>
          </a:p>
          <a:p>
            <a:r>
              <a:rPr lang="en-US" altLang="zh-CN" sz="2400" i="0" dirty="0">
                <a:solidFill>
                  <a:srgbClr val="FF0000"/>
                </a:solidFill>
                <a:latin typeface="微软雅黑" panose="020B0503020204020204" pitchFamily="34" charset="-122"/>
                <a:ea typeface="微软雅黑" panose="020B0503020204020204" pitchFamily="34" charset="-122"/>
              </a:rPr>
              <a:t>  </a:t>
            </a:r>
            <a:r>
              <a:rPr lang="en-US" altLang="zh-CN" sz="2400" i="0" dirty="0">
                <a:solidFill>
                  <a:schemeClr val="tx1"/>
                </a:solidFill>
                <a:latin typeface="微软雅黑" panose="020B0503020204020204" pitchFamily="34" charset="-122"/>
                <a:ea typeface="微软雅黑" panose="020B0503020204020204" pitchFamily="34" charset="-122"/>
              </a:rPr>
              <a:t>declare @amount int</a:t>
            </a:r>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rgbClr val="FF0000"/>
                </a:solidFill>
                <a:latin typeface="微软雅黑" panose="020B0503020204020204" pitchFamily="34" charset="-122"/>
                <a:ea typeface="微软雅黑" panose="020B0503020204020204" pitchFamily="34" charset="-122"/>
              </a:rPr>
              <a:t>  select @amount=amount   from INSERTED</a:t>
            </a:r>
          </a:p>
          <a:p>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chemeClr val="tx1"/>
                </a:solidFill>
                <a:latin typeface="微软雅黑" panose="020B0503020204020204" pitchFamily="34" charset="-122"/>
                <a:ea typeface="微软雅黑" panose="020B0503020204020204" pitchFamily="34" charset="-122"/>
              </a:rPr>
              <a:t>  if @amount&lt;1</a:t>
            </a:r>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chemeClr val="tx1"/>
                </a:solidFill>
                <a:latin typeface="微软雅黑" panose="020B0503020204020204" pitchFamily="34" charset="-122"/>
                <a:ea typeface="微软雅黑" panose="020B0503020204020204" pitchFamily="34" charset="-122"/>
              </a:rPr>
              <a:t>  BEGIN </a:t>
            </a:r>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chemeClr val="tx1"/>
                </a:solidFill>
                <a:latin typeface="微软雅黑" panose="020B0503020204020204" pitchFamily="34" charset="-122"/>
                <a:ea typeface="微软雅黑" panose="020B0503020204020204" pitchFamily="34" charset="-122"/>
              </a:rPr>
              <a:t>    </a:t>
            </a:r>
            <a:r>
              <a:rPr lang="en-US" altLang="zh-CN" sz="2400" i="0" dirty="0">
                <a:solidFill>
                  <a:srgbClr val="FF0000"/>
                </a:solidFill>
                <a:latin typeface="微软雅黑" panose="020B0503020204020204" pitchFamily="34" charset="-122"/>
                <a:ea typeface="微软雅黑" panose="020B0503020204020204" pitchFamily="34" charset="-122"/>
              </a:rPr>
              <a:t>ROLLBACK TRAN</a:t>
            </a:r>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chemeClr val="tx1"/>
                </a:solidFill>
                <a:latin typeface="微软雅黑" panose="020B0503020204020204" pitchFamily="34" charset="-122"/>
                <a:ea typeface="微软雅黑" panose="020B0503020204020204" pitchFamily="34" charset="-122"/>
              </a:rPr>
              <a:t>    RAISERROR('Amount must be greater than 1!',16,10)</a:t>
            </a:r>
            <a:endParaRPr lang="zh-CN" altLang="zh-CN" sz="2400" i="0" dirty="0">
              <a:solidFill>
                <a:schemeClr val="tx1"/>
              </a:solidFill>
              <a:latin typeface="微软雅黑" panose="020B0503020204020204" pitchFamily="34" charset="-122"/>
              <a:ea typeface="微软雅黑" panose="020B0503020204020204" pitchFamily="34" charset="-122"/>
            </a:endParaRPr>
          </a:p>
          <a:p>
            <a:r>
              <a:rPr lang="en-US" altLang="zh-CN" sz="2400" i="0" dirty="0">
                <a:solidFill>
                  <a:schemeClr val="tx1"/>
                </a:solidFill>
                <a:latin typeface="微软雅黑" panose="020B0503020204020204" pitchFamily="34" charset="-122"/>
                <a:ea typeface="微软雅黑" panose="020B0503020204020204" pitchFamily="34" charset="-122"/>
              </a:rPr>
              <a:t> END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animEffect transition="in" filter="barn(inVertical)">
                                      <p:cBhvr>
                                        <p:cTn id="7" dur="500"/>
                                        <p:tgtEl>
                                          <p:spTgt spid="36868">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6868">
                                            <p:txEl>
                                              <p:pRg st="1" end="1"/>
                                            </p:txEl>
                                          </p:spTgt>
                                        </p:tgtEl>
                                        <p:attrNameLst>
                                          <p:attrName>style.visibility</p:attrName>
                                        </p:attrNameLst>
                                      </p:cBhvr>
                                      <p:to>
                                        <p:strVal val="visible"/>
                                      </p:to>
                                    </p:set>
                                    <p:animEffect transition="in" filter="barn(inVertical)">
                                      <p:cBhvr>
                                        <p:cTn id="10" dur="500"/>
                                        <p:tgtEl>
                                          <p:spTgt spid="36868">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6868">
                                            <p:txEl>
                                              <p:pRg st="2" end="2"/>
                                            </p:txEl>
                                          </p:spTgt>
                                        </p:tgtEl>
                                        <p:attrNameLst>
                                          <p:attrName>style.visibility</p:attrName>
                                        </p:attrNameLst>
                                      </p:cBhvr>
                                      <p:to>
                                        <p:strVal val="visible"/>
                                      </p:to>
                                    </p:set>
                                    <p:animEffect transition="in" filter="barn(inVertical)">
                                      <p:cBhvr>
                                        <p:cTn id="13" dur="500"/>
                                        <p:tgtEl>
                                          <p:spTgt spid="36868">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6868">
                                            <p:txEl>
                                              <p:pRg st="3" end="3"/>
                                            </p:txEl>
                                          </p:spTgt>
                                        </p:tgtEl>
                                        <p:attrNameLst>
                                          <p:attrName>style.visibility</p:attrName>
                                        </p:attrNameLst>
                                      </p:cBhvr>
                                      <p:to>
                                        <p:strVal val="visible"/>
                                      </p:to>
                                    </p:set>
                                    <p:animEffect transition="in" filter="barn(inVertical)">
                                      <p:cBhvr>
                                        <p:cTn id="16" dur="500"/>
                                        <p:tgtEl>
                                          <p:spTgt spid="3686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36868">
                                            <p:txEl>
                                              <p:pRg st="4" end="4"/>
                                            </p:txEl>
                                          </p:spTgt>
                                        </p:tgtEl>
                                        <p:attrNameLst>
                                          <p:attrName>style.visibility</p:attrName>
                                        </p:attrNameLst>
                                      </p:cBhvr>
                                      <p:to>
                                        <p:strVal val="visible"/>
                                      </p:to>
                                    </p:set>
                                    <p:animEffect transition="in" filter="circle(in)">
                                      <p:cBhvr>
                                        <p:cTn id="21" dur="2000"/>
                                        <p:tgtEl>
                                          <p:spTgt spid="36868">
                                            <p:txEl>
                                              <p:pRg st="4" end="4"/>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36868">
                                            <p:txEl>
                                              <p:pRg st="5" end="5"/>
                                            </p:txEl>
                                          </p:spTgt>
                                        </p:tgtEl>
                                        <p:attrNameLst>
                                          <p:attrName>style.visibility</p:attrName>
                                        </p:attrNameLst>
                                      </p:cBhvr>
                                      <p:to>
                                        <p:strVal val="visible"/>
                                      </p:to>
                                    </p:set>
                                    <p:animEffect transition="in" filter="circle(in)">
                                      <p:cBhvr>
                                        <p:cTn id="24" dur="2000"/>
                                        <p:tgtEl>
                                          <p:spTgt spid="36868">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6868">
                                            <p:txEl>
                                              <p:pRg st="7" end="7"/>
                                            </p:txEl>
                                          </p:spTgt>
                                        </p:tgtEl>
                                        <p:attrNameLst>
                                          <p:attrName>style.visibility</p:attrName>
                                        </p:attrNameLst>
                                      </p:cBhvr>
                                      <p:to>
                                        <p:strVal val="visible"/>
                                      </p:to>
                                    </p:set>
                                    <p:animEffect transition="in" filter="barn(inVertical)">
                                      <p:cBhvr>
                                        <p:cTn id="29" dur="500"/>
                                        <p:tgtEl>
                                          <p:spTgt spid="36868">
                                            <p:txEl>
                                              <p:pRg st="7" end="7"/>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36868">
                                            <p:txEl>
                                              <p:pRg st="8" end="8"/>
                                            </p:txEl>
                                          </p:spTgt>
                                        </p:tgtEl>
                                        <p:attrNameLst>
                                          <p:attrName>style.visibility</p:attrName>
                                        </p:attrNameLst>
                                      </p:cBhvr>
                                      <p:to>
                                        <p:strVal val="visible"/>
                                      </p:to>
                                    </p:set>
                                    <p:animEffect transition="in" filter="barn(inVertical)">
                                      <p:cBhvr>
                                        <p:cTn id="32" dur="500"/>
                                        <p:tgtEl>
                                          <p:spTgt spid="36868">
                                            <p:txEl>
                                              <p:pRg st="8" end="8"/>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36868">
                                            <p:txEl>
                                              <p:pRg st="9" end="9"/>
                                            </p:txEl>
                                          </p:spTgt>
                                        </p:tgtEl>
                                        <p:attrNameLst>
                                          <p:attrName>style.visibility</p:attrName>
                                        </p:attrNameLst>
                                      </p:cBhvr>
                                      <p:to>
                                        <p:strVal val="visible"/>
                                      </p:to>
                                    </p:set>
                                    <p:animEffect transition="in" filter="barn(inVertical)">
                                      <p:cBhvr>
                                        <p:cTn id="35" dur="500"/>
                                        <p:tgtEl>
                                          <p:spTgt spid="36868">
                                            <p:txEl>
                                              <p:pRg st="9" end="9"/>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36868">
                                            <p:txEl>
                                              <p:pRg st="10" end="10"/>
                                            </p:txEl>
                                          </p:spTgt>
                                        </p:tgtEl>
                                        <p:attrNameLst>
                                          <p:attrName>style.visibility</p:attrName>
                                        </p:attrNameLst>
                                      </p:cBhvr>
                                      <p:to>
                                        <p:strVal val="visible"/>
                                      </p:to>
                                    </p:set>
                                    <p:animEffect transition="in" filter="barn(inVertical)">
                                      <p:cBhvr>
                                        <p:cTn id="38" dur="500"/>
                                        <p:tgtEl>
                                          <p:spTgt spid="36868">
                                            <p:txEl>
                                              <p:pRg st="10" end="10"/>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36868">
                                            <p:txEl>
                                              <p:pRg st="11" end="11"/>
                                            </p:txEl>
                                          </p:spTgt>
                                        </p:tgtEl>
                                        <p:attrNameLst>
                                          <p:attrName>style.visibility</p:attrName>
                                        </p:attrNameLst>
                                      </p:cBhvr>
                                      <p:to>
                                        <p:strVal val="visible"/>
                                      </p:to>
                                    </p:set>
                                    <p:animEffect transition="in" filter="barn(inVertical)">
                                      <p:cBhvr>
                                        <p:cTn id="41" dur="500"/>
                                        <p:tgtEl>
                                          <p:spTgt spid="3686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66594" name="Rectangle 2"/>
          <p:cNvSpPr>
            <a:spLocks noGrp="1" noChangeArrowheads="1"/>
          </p:cNvSpPr>
          <p:nvPr/>
        </p:nvSpPr>
        <p:spPr bwMode="auto">
          <a:xfrm>
            <a:off x="395605" y="692785"/>
            <a:ext cx="11149965" cy="5793105"/>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触发该触发器的语句：</a:t>
            </a:r>
          </a:p>
          <a:p>
            <a:pPr marL="342900" marR="0" lvl="0" indent="0" algn="l" defTabSz="914400" rtl="0" eaLnBrk="1" latinLnBrk="0" hangingPunct="1">
              <a:lnSpc>
                <a:spcPct val="125000"/>
              </a:lnSpc>
              <a:spcBef>
                <a:spcPts val="0"/>
              </a:spcBef>
              <a:spcAft>
                <a:spcPct val="0"/>
              </a:spcAft>
              <a:buClrTx/>
              <a:buSzTx/>
              <a:buFont typeface="Wingdings" panose="05000000000000000000" pitchFamily="2" charset="2"/>
              <a:buChar char="l"/>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  </a:t>
            </a:r>
          </a:p>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INTO stock(</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mat_num,mat_name,speci,warehouse</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amount, unit) </a:t>
            </a:r>
          </a:p>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VALUES('m030','</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护套绝缘电线</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','BVV-120','</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供电局</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仓库</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a:t>
            </a:r>
          </a:p>
          <a:p>
            <a:pPr marL="342900" marR="0" lvl="0" indent="0" algn="l" defTabSz="914400" rtl="0" eaLnBrk="1" latinLnBrk="0" hangingPunct="1">
              <a:lnSpc>
                <a:spcPct val="125000"/>
              </a:lnSpc>
              <a:spcBef>
                <a:spcPts val="0"/>
              </a:spcBef>
              <a:spcAft>
                <a:spcPct val="0"/>
              </a:spcAft>
              <a:buClrTx/>
              <a:buSzTx/>
              <a:buFontTx/>
              <a:buNone/>
              <a:defRPr/>
            </a:pP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由于库存量</a:t>
            </a:r>
            <a:r>
              <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&gt;=1</a:t>
            </a: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符合规则，可以正常插入执行。</a:t>
            </a:r>
            <a:endPar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0" algn="l" defTabSz="914400" rtl="0" eaLnBrk="1" latinLnBrk="0" hangingPunct="1">
              <a:lnSpc>
                <a:spcPct val="125000"/>
              </a:lnSpc>
              <a:spcBef>
                <a:spcPts val="0"/>
              </a:spcBef>
              <a:spcAft>
                <a:spcPct val="0"/>
              </a:spcAft>
              <a:buClrTx/>
              <a:buSzTx/>
              <a:buFontTx/>
              <a:buNone/>
              <a:defRPr/>
            </a:pPr>
            <a:endPar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0" algn="l" defTabSz="914400" rtl="0" eaLnBrk="1" latinLnBrk="0" hangingPunct="1">
              <a:lnSpc>
                <a:spcPct val="125000"/>
              </a:lnSpc>
              <a:spcBef>
                <a:spcPts val="0"/>
              </a:spcBef>
              <a:spcAft>
                <a:spcPct val="0"/>
              </a:spcAft>
              <a:buClrTx/>
              <a:buSzTx/>
              <a:buFont typeface="Wingdings" panose="05000000000000000000" pitchFamily="2" charset="2"/>
              <a:buChar char="l"/>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  </a:t>
            </a:r>
          </a:p>
          <a:p>
            <a:pPr marL="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INTO stock(</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mat_num,mat_name,speci,warehouse</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amount,unit</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VALUES('m031','</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护套绝缘电线</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','BVV-120','</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供电局</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仓库</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,100)</a:t>
            </a:r>
          </a:p>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由于库存量</a:t>
            </a:r>
            <a:r>
              <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&lt;1</a:t>
            </a: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不符合规则，将撤销表的插入操作：</a:t>
            </a: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7892" name="Picture 5"/>
          <p:cNvPicPr>
            <a:picLocks noChangeAspect="1"/>
          </p:cNvPicPr>
          <p:nvPr/>
        </p:nvPicPr>
        <p:blipFill>
          <a:blip r:embed="rId3"/>
          <a:stretch>
            <a:fillRect/>
          </a:stretch>
        </p:blipFill>
        <p:spPr>
          <a:xfrm>
            <a:off x="2159635" y="5379085"/>
            <a:ext cx="7621905" cy="815975"/>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6594">
                                            <p:txEl>
                                              <p:pRg st="4" end="4"/>
                                            </p:txEl>
                                          </p:spTgt>
                                        </p:tgtEl>
                                        <p:attrNameLst>
                                          <p:attrName>style.visibility</p:attrName>
                                        </p:attrNameLst>
                                      </p:cBhvr>
                                      <p:to>
                                        <p:strVal val="visible"/>
                                      </p:to>
                                    </p:set>
                                    <p:animEffect transition="in" filter="blinds(horizontal)">
                                      <p:cBhvr>
                                        <p:cTn id="7" dur="500"/>
                                        <p:tgtEl>
                                          <p:spTgt spid="36659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6594">
                                            <p:txEl>
                                              <p:pRg st="6" end="6"/>
                                            </p:txEl>
                                          </p:spTgt>
                                        </p:tgtEl>
                                        <p:attrNameLst>
                                          <p:attrName>style.visibility</p:attrName>
                                        </p:attrNameLst>
                                      </p:cBhvr>
                                      <p:to>
                                        <p:strVal val="visible"/>
                                      </p:to>
                                    </p:set>
                                    <p:animEffect transition="in" filter="blinds(horizontal)">
                                      <p:cBhvr>
                                        <p:cTn id="12" dur="500"/>
                                        <p:tgtEl>
                                          <p:spTgt spid="366594">
                                            <p:txEl>
                                              <p:pRg st="6" end="6"/>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66594">
                                            <p:txEl>
                                              <p:pRg st="7" end="7"/>
                                            </p:txEl>
                                          </p:spTgt>
                                        </p:tgtEl>
                                        <p:attrNameLst>
                                          <p:attrName>style.visibility</p:attrName>
                                        </p:attrNameLst>
                                      </p:cBhvr>
                                      <p:to>
                                        <p:strVal val="visible"/>
                                      </p:to>
                                    </p:set>
                                    <p:animEffect transition="in" filter="blinds(horizontal)">
                                      <p:cBhvr>
                                        <p:cTn id="15" dur="500"/>
                                        <p:tgtEl>
                                          <p:spTgt spid="366594">
                                            <p:txEl>
                                              <p:pRg st="7" end="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66594">
                                            <p:txEl>
                                              <p:pRg st="8" end="8"/>
                                            </p:txEl>
                                          </p:spTgt>
                                        </p:tgtEl>
                                        <p:attrNameLst>
                                          <p:attrName>style.visibility</p:attrName>
                                        </p:attrNameLst>
                                      </p:cBhvr>
                                      <p:to>
                                        <p:strVal val="visible"/>
                                      </p:to>
                                    </p:set>
                                    <p:animEffect transition="in" filter="blinds(horizontal)">
                                      <p:cBhvr>
                                        <p:cTn id="18" dur="500"/>
                                        <p:tgtEl>
                                          <p:spTgt spid="366594">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66594">
                                            <p:txEl>
                                              <p:pRg st="9" end="9"/>
                                            </p:txEl>
                                          </p:spTgt>
                                        </p:tgtEl>
                                        <p:attrNameLst>
                                          <p:attrName>style.visibility</p:attrName>
                                        </p:attrNameLst>
                                      </p:cBhvr>
                                      <p:to>
                                        <p:strVal val="visible"/>
                                      </p:to>
                                    </p:set>
                                    <p:animEffect transition="in" filter="blinds(horizontal)">
                                      <p:cBhvr>
                                        <p:cTn id="23" dur="500"/>
                                        <p:tgtEl>
                                          <p:spTgt spid="366594">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7892"/>
                                        </p:tgtEl>
                                        <p:attrNameLst>
                                          <p:attrName>style.visibility</p:attrName>
                                        </p:attrNameLst>
                                      </p:cBhvr>
                                      <p:to>
                                        <p:strVal val="visible"/>
                                      </p:to>
                                    </p:set>
                                    <p:animEffect transition="in" filter="blinds(horizontal)">
                                      <p:cBhvr>
                                        <p:cTn id="28"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 name="Rectangle 2"/>
          <p:cNvSpPr txBox="1">
            <a:spLocks noChangeArrowheads="1"/>
          </p:cNvSpPr>
          <p:nvPr/>
        </p:nvSpPr>
        <p:spPr bwMode="auto">
          <a:xfrm>
            <a:off x="518795" y="597535"/>
            <a:ext cx="11403330" cy="6048375"/>
          </a:xfrm>
          <a:prstGeom prst="rect">
            <a:avLst/>
          </a:prstGeom>
          <a:noFill/>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0" algn="l" defTabSz="914400" rtl="0" eaLnBrk="1" latinLnBrk="0" hangingPunct="1">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4.13 】</a:t>
            </a:r>
            <a:r>
              <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INSERT</a:t>
            </a:r>
            <a:r>
              <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触发器，在对表</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Out_stock</a:t>
            </a:r>
            <a:r>
              <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插入一条记录后，更改对应物资在</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Stock</a:t>
            </a:r>
            <a:r>
              <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表中的库存数量，完成级联更改操作。</a:t>
            </a:r>
            <a:endParaRPr kumimoji="0" lang="zh-CN" altLang="en-US"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CREATE TRIGGER tr1_outstock </a:t>
            </a:r>
            <a:endParaRPr kumimoji="0" lang="zh-CN"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ON Out_stock</a:t>
            </a:r>
          </a:p>
          <a:p>
            <a:pPr marL="0" marR="0" lvl="0" indent="0" algn="l" defTabSz="914400" rtl="0" eaLnBrk="0" latinLnBrk="0" hangingPunct="0">
              <a:lnSpc>
                <a:spcPct val="125000"/>
              </a:lnSpc>
              <a:spcBef>
                <a:spcPts val="0"/>
              </a:spcBef>
              <a:spcAft>
                <a:spcPct val="0"/>
              </a:spcAft>
              <a:buClrTx/>
              <a:buSzTx/>
              <a:buFontTx/>
              <a:buNone/>
              <a:defRPr/>
            </a:pPr>
            <a:r>
              <a:rPr kumimoji="0" lang="zh-CN" altLang="en-US" sz="24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AFTER INSERT</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AS </a:t>
            </a:r>
            <a:r>
              <a:rPr kumimoji="0" lang="en-US" altLang="zh-CN" sz="240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BEGIN</a:t>
            </a:r>
            <a:endPar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declare @</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m_num</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char(8), @</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m_amount</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int</a:t>
            </a:r>
            <a:endPar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select @</a:t>
            </a:r>
            <a:r>
              <a:rPr kumimoji="0" lang="en-US" altLang="zh-CN" sz="240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m_num</a:t>
            </a: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a:t>
            </a:r>
            <a:r>
              <a:rPr kumimoji="0" lang="en-US" altLang="zh-CN" sz="240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num</a:t>
            </a: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i="0" u="none" strike="noStrike" kern="120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m_amount</a:t>
            </a: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=amount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INSERTED </a:t>
            </a:r>
            <a:endPar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update Stock  set amount=amount-@</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m_amount</a:t>
            </a:r>
            <a:endParaRPr kumimoji="0" lang="zh-CN"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where </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m_num</a:t>
            </a: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a:p>
            <a:pPr marL="0" marR="0" lvl="0" indent="0" algn="l" defTabSz="914400" rtl="0" eaLnBrk="0" latinLnBrk="0" hangingPunct="0">
              <a:lnSpc>
                <a:spcPct val="125000"/>
              </a:lnSpc>
              <a:spcBef>
                <a:spcPts val="0"/>
              </a:spcBef>
              <a:spcAft>
                <a:spcPct val="0"/>
              </a:spcAft>
              <a:buClrTx/>
              <a:buSzTx/>
              <a:buFontTx/>
              <a:buNone/>
              <a:defRPr/>
            </a:pPr>
            <a:r>
              <a:rPr kumimoji="0" lang="en-US" altLang="zh-CN"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END</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linds(horizontal)">
                                      <p:cBhvr>
                                        <p:cTn id="10" dur="500"/>
                                        <p:tgtEl>
                                          <p:spTgt spid="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linds(horizontal)">
                                      <p:cBhvr>
                                        <p:cTn id="13" dur="500"/>
                                        <p:tgtEl>
                                          <p:spTgt spid="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blinds(horizontal)">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blinds(horizontal)">
                                      <p:cBhvr>
                                        <p:cTn id="21" dur="500"/>
                                        <p:tgtEl>
                                          <p:spTgt spid="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blinds(horizontal)">
                                      <p:cBhvr>
                                        <p:cTn id="26" dur="500"/>
                                        <p:tgtEl>
                                          <p:spTgt spid="5">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blinds(horizontal)">
                                      <p:cBhvr>
                                        <p:cTn id="31" dur="500"/>
                                        <p:tgtEl>
                                          <p:spTgt spid="5">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blinds(horizontal)">
                                      <p:cBhvr>
                                        <p:cTn id="34" dur="500"/>
                                        <p:tgtEl>
                                          <p:spTgt spid="5">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animEffect transition="in" filter="blinds(horizontal)">
                                      <p:cBhvr>
                                        <p:cTn id="39" dur="500"/>
                                        <p:tgtEl>
                                          <p:spTgt spid="5">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blinds(horizontal)">
                                      <p:cBhvr>
                                        <p:cTn id="4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pic>
        <p:nvPicPr>
          <p:cNvPr id="97282" name="Picture 2"/>
          <p:cNvPicPr>
            <a:picLocks noChangeAspect="1"/>
          </p:cNvPicPr>
          <p:nvPr/>
        </p:nvPicPr>
        <p:blipFill>
          <a:blip r:embed="rId3"/>
          <a:stretch>
            <a:fillRect/>
          </a:stretch>
        </p:blipFill>
        <p:spPr>
          <a:xfrm>
            <a:off x="1707515" y="3663315"/>
            <a:ext cx="4090988" cy="863600"/>
          </a:xfrm>
          <a:prstGeom prst="rect">
            <a:avLst/>
          </a:prstGeom>
          <a:noFill/>
          <a:ln w="9525">
            <a:noFill/>
          </a:ln>
        </p:spPr>
      </p:pic>
      <p:pic>
        <p:nvPicPr>
          <p:cNvPr id="97281" name="Picture 1"/>
          <p:cNvPicPr>
            <a:picLocks noChangeAspect="1"/>
          </p:cNvPicPr>
          <p:nvPr/>
        </p:nvPicPr>
        <p:blipFill>
          <a:blip r:embed="rId4"/>
          <a:stretch>
            <a:fillRect/>
          </a:stretch>
        </p:blipFill>
        <p:spPr>
          <a:xfrm>
            <a:off x="6028690" y="3602990"/>
            <a:ext cx="4117975" cy="923925"/>
          </a:xfrm>
          <a:prstGeom prst="rect">
            <a:avLst/>
          </a:prstGeom>
          <a:noFill/>
          <a:ln w="9525">
            <a:noFill/>
          </a:ln>
        </p:spPr>
      </p:pic>
      <p:sp>
        <p:nvSpPr>
          <p:cNvPr id="2" name="Rectangle 3"/>
          <p:cNvSpPr/>
          <p:nvPr/>
        </p:nvSpPr>
        <p:spPr>
          <a:xfrm>
            <a:off x="1092835" y="894715"/>
            <a:ext cx="10807700" cy="2768600"/>
          </a:xfrm>
          <a:prstGeom prst="rect">
            <a:avLst/>
          </a:prstGeom>
          <a:noFill/>
          <a:ln w="9525">
            <a:noFill/>
          </a:ln>
        </p:spPr>
        <p:txBody>
          <a:bodyPr wrap="square" anchor="ctr" anchorCtr="0">
            <a:spAutoFit/>
          </a:bodyPr>
          <a:lstStyle/>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若在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表中执行如下插入语句，则</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表中对应字段前后对比如下图所示。</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insert </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into Out_stock    </a:t>
            </a:r>
          </a:p>
          <a:p>
            <a:pPr indent="269875" eaLnBrk="0" latinLnBrk="0" hangingPunct="0">
              <a:lnSpc>
                <a:spcPct val="125000"/>
              </a:lnSpc>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values('20110006','</a:t>
            </a: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m001</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,'2011-3-8','</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工程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p>
          <a:p>
            <a:pPr indent="269875" eaLnBrk="0" hangingPunct="0"/>
            <a:endParaRPr lang="en-US" altLang="zh-CN" sz="2400" i="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5"/>
          <p:cNvSpPr/>
          <p:nvPr/>
        </p:nvSpPr>
        <p:spPr>
          <a:xfrm>
            <a:off x="1617028" y="4744721"/>
            <a:ext cx="8569325" cy="437515"/>
          </a:xfrm>
          <a:prstGeom prst="rect">
            <a:avLst/>
          </a:prstGeom>
          <a:noFill/>
          <a:ln w="9525">
            <a:noFill/>
          </a:ln>
        </p:spPr>
        <p:txBody>
          <a:bodyPr anchor="ctr" anchorCtr="0">
            <a:spAutoFit/>
          </a:bodyPr>
          <a:lstStyle/>
          <a:p>
            <a:pPr indent="269875" eaLnBrk="0" latinLnBrk="0" hangingPunct="0">
              <a:lnSpc>
                <a:spcPct val="125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）执行插入语句之前的</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表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）执行插入语句之后的</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表</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2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7346" name="Rectangle 2"/>
          <p:cNvSpPr/>
          <p:nvPr/>
        </p:nvSpPr>
        <p:spPr>
          <a:xfrm>
            <a:off x="245745" y="879475"/>
            <a:ext cx="4017645" cy="720725"/>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AFTER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DELETE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p>
        </p:txBody>
      </p:sp>
      <p:sp>
        <p:nvSpPr>
          <p:cNvPr id="367619" name="Rectangle 3"/>
          <p:cNvSpPr/>
          <p:nvPr/>
        </p:nvSpPr>
        <p:spPr>
          <a:xfrm>
            <a:off x="494665" y="1405890"/>
            <a:ext cx="11202670" cy="452628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50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该触发器在从基本表中删除数据时触发执行，在用户执行了</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SQL Server</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将删除的数据行保存在</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中，即数据行并没有消失，还可在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语句中引用。</a:t>
            </a:r>
          </a:p>
          <a:p>
            <a:pPr eaLnBrk="1" latinLnBrk="0" hangingPunct="1">
              <a:lnSpc>
                <a:spcPct val="150000"/>
              </a:lnSpc>
              <a:spcBef>
                <a:spcPts val="0"/>
              </a:spcBef>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触发器主要用于以下两种情况：防止删除数据库中的某些数据行；级联删除数据库中其他表中的数据行。</a:t>
            </a:r>
          </a:p>
          <a:p>
            <a:pPr eaLnBrk="1" latinLnBrk="0" hangingPunct="1">
              <a:lnSpc>
                <a:spcPct val="150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用于存储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语句所影响的行的复本。在执行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语句时，行从触发器表中删除，并传输到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表和原数据表通常没有相同的行。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blinds(horizontal)">
                                      <p:cBhvr>
                                        <p:cTn id="7" dur="500"/>
                                        <p:tgtEl>
                                          <p:spTgt spid="367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blinds(horizontal)">
                                      <p:cBhvr>
                                        <p:cTn id="12" dur="500"/>
                                        <p:tgtEl>
                                          <p:spTgt spid="3676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7619">
                                            <p:txEl>
                                              <p:pRg st="2" end="2"/>
                                            </p:txEl>
                                          </p:spTgt>
                                        </p:tgtEl>
                                        <p:attrNameLst>
                                          <p:attrName>style.visibility</p:attrName>
                                        </p:attrNameLst>
                                      </p:cBhvr>
                                      <p:to>
                                        <p:strVal val="visible"/>
                                      </p:to>
                                    </p:set>
                                    <p:animEffect transition="in" filter="blinds(horizontal)">
                                      <p:cBhvr>
                                        <p:cTn id="17" dur="500"/>
                                        <p:tgtEl>
                                          <p:spTgt spid="3676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68642" name="Rectangle 2"/>
          <p:cNvSpPr>
            <a:spLocks noGrp="1" noChangeArrowheads="1"/>
          </p:cNvSpPr>
          <p:nvPr/>
        </p:nvSpPr>
        <p:spPr bwMode="auto">
          <a:xfrm>
            <a:off x="323850" y="658495"/>
            <a:ext cx="11868150" cy="5793105"/>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4.14】</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创建一个</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DELETE</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触发器，当用户从</a:t>
            </a:r>
            <a:r>
              <a:rPr kumimoji="0" lang="en-US" altLang="zh-CN"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Stock</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表中删除数据时，同时将</a:t>
            </a:r>
            <a:r>
              <a:rPr kumimoji="0" lang="en-US" altLang="zh-CN" sz="24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Out_stock</a:t>
            </a: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表中相关物资的出库情况一并删除。</a:t>
            </a:r>
            <a:endParaRPr kumimoji="0" lang="en-US" altLang="zh-CN" sz="2000"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CREATE TRIGGER tr2_stock</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ON Stock</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AFTER DELETE</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AS</a:t>
            </a: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BEGIN TRANSACTION </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DECLARE @</a:t>
            </a:r>
            <a:r>
              <a:rPr kumimoji="0" lang="en-US" altLang="zh-CN" sz="20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char(8)</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SELECT @</a:t>
            </a:r>
            <a:r>
              <a:rPr kumimoji="0" lang="en-US" altLang="zh-CN" sz="2000" i="0" u="none" strike="noStrike" kern="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r>
              <a:rPr kumimoji="0" lang="en-US" altLang="zh-CN" sz="20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i="0" u="none" strike="noStrike" kern="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r>
              <a:rPr kumimoji="0" lang="en-US" altLang="zh-CN" sz="200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DELETED</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DELETE   </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FROM </a:t>
            </a:r>
            <a:r>
              <a:rPr kumimoji="0" lang="en-US" altLang="zh-CN" sz="20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Out_stock</a:t>
            </a: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WHERE </a:t>
            </a:r>
            <a:r>
              <a:rPr kumimoji="0" lang="en-US" altLang="zh-CN" sz="20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mat_num</a:t>
            </a:r>
            <a:endPar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latinLnBrk="0" hangingPunct="1">
              <a:lnSpc>
                <a:spcPct val="125000"/>
              </a:lnSpc>
              <a:spcBef>
                <a:spcPts val="0"/>
              </a:spcBef>
              <a:spcAft>
                <a:spcPct val="0"/>
              </a:spcAft>
              <a:buClrTx/>
              <a:buSzTx/>
              <a:buFontTx/>
              <a:buNone/>
              <a:defRPr/>
            </a:pPr>
            <a:r>
              <a:rPr kumimoji="0" lang="en-US" altLang="zh-CN" sz="20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COMMIT TRANSACTION</a:t>
            </a:r>
          </a:p>
        </p:txBody>
      </p:sp>
      <p:sp>
        <p:nvSpPr>
          <p:cNvPr id="368643" name="Rectangle 3"/>
          <p:cNvSpPr/>
          <p:nvPr/>
        </p:nvSpPr>
        <p:spPr>
          <a:xfrm>
            <a:off x="323850" y="5819775"/>
            <a:ext cx="9399270" cy="475615"/>
          </a:xfrm>
          <a:prstGeom prst="rect">
            <a:avLst/>
          </a:prstGeom>
          <a:solidFill>
            <a:srgbClr val="FFFF00"/>
          </a:solidFill>
          <a:ln w="9525">
            <a:noFill/>
          </a:ln>
        </p:spPr>
        <p:txBody>
          <a:bodyPr wrap="square">
            <a:spAutoFit/>
          </a:bodyPr>
          <a:lstStyle/>
          <a:p>
            <a:pPr eaLnBrk="1" latinLnBrk="0" hangingPunct="1">
              <a:lnSpc>
                <a:spcPct val="125000"/>
              </a:lnSpc>
              <a:spcBef>
                <a:spcPts val="0"/>
              </a:spcBef>
            </a:pP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注意：使用触发器作级联删除</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前提是</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表没有定义和</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000" i="0" dirty="0">
                <a:latin typeface="微软雅黑" panose="020B0503020204020204" pitchFamily="34" charset="-122"/>
                <a:ea typeface="微软雅黑" panose="020B0503020204020204" pitchFamily="34" charset="-122"/>
                <a:cs typeface="微软雅黑" panose="020B0503020204020204" pitchFamily="34" charset="-122"/>
              </a:rPr>
              <a:t>表相关的外键。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42">
                                            <p:txEl>
                                              <p:pRg st="1" end="1"/>
                                            </p:txEl>
                                          </p:spTgt>
                                        </p:tgtEl>
                                        <p:attrNameLst>
                                          <p:attrName>style.visibility</p:attrName>
                                        </p:attrNameLst>
                                      </p:cBhvr>
                                      <p:to>
                                        <p:strVal val="visible"/>
                                      </p:to>
                                    </p:set>
                                    <p:animEffect transition="in" filter="blinds(horizontal)">
                                      <p:cBhvr>
                                        <p:cTn id="7" dur="500"/>
                                        <p:tgtEl>
                                          <p:spTgt spid="36864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8642">
                                            <p:txEl>
                                              <p:pRg st="2" end="2"/>
                                            </p:txEl>
                                          </p:spTgt>
                                        </p:tgtEl>
                                        <p:attrNameLst>
                                          <p:attrName>style.visibility</p:attrName>
                                        </p:attrNameLst>
                                      </p:cBhvr>
                                      <p:to>
                                        <p:strVal val="visible"/>
                                      </p:to>
                                    </p:set>
                                    <p:animEffect transition="in" filter="blinds(horizontal)">
                                      <p:cBhvr>
                                        <p:cTn id="10" dur="500"/>
                                        <p:tgtEl>
                                          <p:spTgt spid="368642">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68642">
                                            <p:txEl>
                                              <p:pRg st="3" end="3"/>
                                            </p:txEl>
                                          </p:spTgt>
                                        </p:tgtEl>
                                        <p:attrNameLst>
                                          <p:attrName>style.visibility</p:attrName>
                                        </p:attrNameLst>
                                      </p:cBhvr>
                                      <p:to>
                                        <p:strVal val="visible"/>
                                      </p:to>
                                    </p:set>
                                    <p:animEffect transition="in" filter="blinds(horizontal)">
                                      <p:cBhvr>
                                        <p:cTn id="13" dur="500"/>
                                        <p:tgtEl>
                                          <p:spTgt spid="368642">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68642">
                                            <p:txEl>
                                              <p:pRg st="4" end="4"/>
                                            </p:txEl>
                                          </p:spTgt>
                                        </p:tgtEl>
                                        <p:attrNameLst>
                                          <p:attrName>style.visibility</p:attrName>
                                        </p:attrNameLst>
                                      </p:cBhvr>
                                      <p:to>
                                        <p:strVal val="visible"/>
                                      </p:to>
                                    </p:set>
                                    <p:animEffect transition="in" filter="blinds(horizontal)">
                                      <p:cBhvr>
                                        <p:cTn id="16" dur="500"/>
                                        <p:tgtEl>
                                          <p:spTgt spid="36864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68642">
                                            <p:txEl>
                                              <p:pRg st="5" end="5"/>
                                            </p:txEl>
                                          </p:spTgt>
                                        </p:tgtEl>
                                        <p:attrNameLst>
                                          <p:attrName>style.visibility</p:attrName>
                                        </p:attrNameLst>
                                      </p:cBhvr>
                                      <p:to>
                                        <p:strVal val="visible"/>
                                      </p:to>
                                    </p:set>
                                    <p:animEffect transition="in" filter="blinds(horizontal)">
                                      <p:cBhvr>
                                        <p:cTn id="21" dur="500"/>
                                        <p:tgtEl>
                                          <p:spTgt spid="368642">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68642">
                                            <p:txEl>
                                              <p:pRg st="11" end="11"/>
                                            </p:txEl>
                                          </p:spTgt>
                                        </p:tgtEl>
                                        <p:attrNameLst>
                                          <p:attrName>style.visibility</p:attrName>
                                        </p:attrNameLst>
                                      </p:cBhvr>
                                      <p:to>
                                        <p:strVal val="visible"/>
                                      </p:to>
                                    </p:set>
                                    <p:animEffect transition="in" filter="blinds(horizontal)">
                                      <p:cBhvr>
                                        <p:cTn id="26" dur="500"/>
                                        <p:tgtEl>
                                          <p:spTgt spid="368642">
                                            <p:txEl>
                                              <p:pRg st="11" end="1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68642">
                                            <p:txEl>
                                              <p:pRg st="6" end="6"/>
                                            </p:txEl>
                                          </p:spTgt>
                                        </p:tgtEl>
                                        <p:attrNameLst>
                                          <p:attrName>style.visibility</p:attrName>
                                        </p:attrNameLst>
                                      </p:cBhvr>
                                      <p:to>
                                        <p:strVal val="visible"/>
                                      </p:to>
                                    </p:set>
                                    <p:animEffect transition="in" filter="blinds(horizontal)">
                                      <p:cBhvr>
                                        <p:cTn id="31" dur="500"/>
                                        <p:tgtEl>
                                          <p:spTgt spid="36864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68642">
                                            <p:txEl>
                                              <p:pRg st="7" end="7"/>
                                            </p:txEl>
                                          </p:spTgt>
                                        </p:tgtEl>
                                        <p:attrNameLst>
                                          <p:attrName>style.visibility</p:attrName>
                                        </p:attrNameLst>
                                      </p:cBhvr>
                                      <p:to>
                                        <p:strVal val="visible"/>
                                      </p:to>
                                    </p:set>
                                    <p:animEffect transition="in" filter="blinds(horizontal)">
                                      <p:cBhvr>
                                        <p:cTn id="36" dur="500"/>
                                        <p:tgtEl>
                                          <p:spTgt spid="368642">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68642">
                                            <p:txEl>
                                              <p:pRg st="8" end="8"/>
                                            </p:txEl>
                                          </p:spTgt>
                                        </p:tgtEl>
                                        <p:attrNameLst>
                                          <p:attrName>style.visibility</p:attrName>
                                        </p:attrNameLst>
                                      </p:cBhvr>
                                      <p:to>
                                        <p:strVal val="visible"/>
                                      </p:to>
                                    </p:set>
                                    <p:animEffect transition="in" filter="blinds(horizontal)">
                                      <p:cBhvr>
                                        <p:cTn id="41" dur="500"/>
                                        <p:tgtEl>
                                          <p:spTgt spid="368642">
                                            <p:txEl>
                                              <p:pRg st="8" end="8"/>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368642">
                                            <p:txEl>
                                              <p:pRg st="9" end="9"/>
                                            </p:txEl>
                                          </p:spTgt>
                                        </p:tgtEl>
                                        <p:attrNameLst>
                                          <p:attrName>style.visibility</p:attrName>
                                        </p:attrNameLst>
                                      </p:cBhvr>
                                      <p:to>
                                        <p:strVal val="visible"/>
                                      </p:to>
                                    </p:set>
                                    <p:animEffect transition="in" filter="blinds(horizontal)">
                                      <p:cBhvr>
                                        <p:cTn id="44" dur="500"/>
                                        <p:tgtEl>
                                          <p:spTgt spid="368642">
                                            <p:txEl>
                                              <p:pRg st="9" end="9"/>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368642">
                                            <p:txEl>
                                              <p:pRg st="10" end="10"/>
                                            </p:txEl>
                                          </p:spTgt>
                                        </p:tgtEl>
                                        <p:attrNameLst>
                                          <p:attrName>style.visibility</p:attrName>
                                        </p:attrNameLst>
                                      </p:cBhvr>
                                      <p:to>
                                        <p:strVal val="visible"/>
                                      </p:to>
                                    </p:set>
                                    <p:animEffect transition="in" filter="blinds(horizontal)">
                                      <p:cBhvr>
                                        <p:cTn id="47" dur="500"/>
                                        <p:tgtEl>
                                          <p:spTgt spid="368642">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68643"/>
                                        </p:tgtEl>
                                        <p:attrNameLst>
                                          <p:attrName>style.visibility</p:attrName>
                                        </p:attrNameLst>
                                      </p:cBhvr>
                                      <p:to>
                                        <p:strVal val="visible"/>
                                      </p:to>
                                    </p:set>
                                    <p:animEffect transition="in" filter="blinds(horizontal)">
                                      <p:cBhvr>
                                        <p:cTn id="52" dur="500"/>
                                        <p:tgtEl>
                                          <p:spTgt spid="368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48130" name="Rectangle 2"/>
          <p:cNvSpPr/>
          <p:nvPr/>
        </p:nvSpPr>
        <p:spPr>
          <a:xfrm>
            <a:off x="-1270" y="981710"/>
            <a:ext cx="438023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AFTER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UPDATE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p>
        </p:txBody>
      </p:sp>
      <p:sp>
        <p:nvSpPr>
          <p:cNvPr id="369667" name="Rectangle 3"/>
          <p:cNvSpPr/>
          <p:nvPr/>
        </p:nvSpPr>
        <p:spPr>
          <a:xfrm>
            <a:off x="424180" y="1629410"/>
            <a:ext cx="10944225" cy="452564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50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该触发器在用户发出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语句后触发执行，即为用户修改数据行增加限制规则。</a:t>
            </a:r>
          </a:p>
          <a:p>
            <a:pPr eaLnBrk="1" latinLnBrk="0" hangingPunct="1">
              <a:lnSpc>
                <a:spcPct val="150000"/>
              </a:lnSpc>
              <a:spcBef>
                <a:spcPts val="0"/>
              </a:spcBef>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触发器合并了</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触发器的作用。</a:t>
            </a:r>
          </a:p>
          <a:p>
            <a:pPr eaLnBrk="1" latinLnBrk="0" hangingPunct="1">
              <a:lnSpc>
                <a:spcPct val="150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在用户执行了</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语句后，原来的数据行从基本表中删除，但保存在</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中，同时基本表更新后的新数据行也在</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中保存了一个副本。可利用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表，获取更新前后的数据行，完成比较操作。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9667">
                                            <p:txEl>
                                              <p:pRg st="0" end="0"/>
                                            </p:txEl>
                                          </p:spTgt>
                                        </p:tgtEl>
                                        <p:attrNameLst>
                                          <p:attrName>style.visibility</p:attrName>
                                        </p:attrNameLst>
                                      </p:cBhvr>
                                      <p:to>
                                        <p:strVal val="visible"/>
                                      </p:to>
                                    </p:set>
                                    <p:animEffect transition="in" filter="blinds(horizontal)">
                                      <p:cBhvr>
                                        <p:cTn id="7" dur="500"/>
                                        <p:tgtEl>
                                          <p:spTgt spid="369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9667">
                                            <p:txEl>
                                              <p:pRg st="1" end="1"/>
                                            </p:txEl>
                                          </p:spTgt>
                                        </p:tgtEl>
                                        <p:attrNameLst>
                                          <p:attrName>style.visibility</p:attrName>
                                        </p:attrNameLst>
                                      </p:cBhvr>
                                      <p:to>
                                        <p:strVal val="visible"/>
                                      </p:to>
                                    </p:set>
                                    <p:animEffect transition="in" filter="blinds(horizontal)">
                                      <p:cBhvr>
                                        <p:cTn id="12" dur="500"/>
                                        <p:tgtEl>
                                          <p:spTgt spid="369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9667">
                                            <p:txEl>
                                              <p:pRg st="2" end="2"/>
                                            </p:txEl>
                                          </p:spTgt>
                                        </p:tgtEl>
                                        <p:attrNameLst>
                                          <p:attrName>style.visibility</p:attrName>
                                        </p:attrNameLst>
                                      </p:cBhvr>
                                      <p:to>
                                        <p:strVal val="visible"/>
                                      </p:to>
                                    </p:set>
                                    <p:animEffect transition="in" filter="blinds(horizontal)">
                                      <p:cBhvr>
                                        <p:cTn id="17" dur="500"/>
                                        <p:tgtEl>
                                          <p:spTgt spid="369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6114"/>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6286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47106" name="Rectangle 2"/>
          <p:cNvSpPr/>
          <p:nvPr/>
        </p:nvSpPr>
        <p:spPr>
          <a:xfrm>
            <a:off x="0" y="734695"/>
            <a:ext cx="3526155" cy="475170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4.15】</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创建一个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UPDATE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触发器，当用户更新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表中的数据时，从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INSERTED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表中读取修改的新的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amount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值，如果该值小于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，将撤销更新操作，即触发器从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DELETED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表中查询中修改前的值，将其重新更新到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表中。</a:t>
            </a:r>
          </a:p>
        </p:txBody>
      </p:sp>
      <p:sp>
        <p:nvSpPr>
          <p:cNvPr id="2" name="Rectangle 2"/>
          <p:cNvSpPr/>
          <p:nvPr/>
        </p:nvSpPr>
        <p:spPr>
          <a:xfrm>
            <a:off x="4003675" y="734695"/>
            <a:ext cx="8214360" cy="554482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00000"/>
              </a:lnSpc>
              <a:spcBef>
                <a:spcPts val="0"/>
              </a:spcBef>
              <a:buNone/>
            </a:pPr>
            <a:r>
              <a:rPr lang="en-US" altLang="zh-CN" sz="2300" dirty="0">
                <a:solidFill>
                  <a:srgbClr val="FF3300"/>
                </a:solidFill>
                <a:latin typeface="微软雅黑" panose="020B0503020204020204" pitchFamily="34" charset="-122"/>
                <a:ea typeface="微软雅黑" panose="020B0503020204020204" pitchFamily="34" charset="-122"/>
              </a:rPr>
              <a:t>CREATE TRIGGER tr3_stock</a:t>
            </a:r>
          </a:p>
          <a:p>
            <a:pPr algn="l" eaLnBrk="1" latinLnBrk="0" hangingPunct="1">
              <a:lnSpc>
                <a:spcPct val="100000"/>
              </a:lnSpc>
              <a:spcBef>
                <a:spcPts val="0"/>
              </a:spcBef>
              <a:buClrTx/>
              <a:buSzTx/>
              <a:buNone/>
            </a:pPr>
            <a:r>
              <a:rPr lang="en-US" altLang="zh-CN" sz="2300" dirty="0">
                <a:solidFill>
                  <a:srgbClr val="0000FF"/>
                </a:solidFill>
                <a:latin typeface="微软雅黑" panose="020B0503020204020204" pitchFamily="34" charset="-122"/>
                <a:ea typeface="微软雅黑" panose="020B0503020204020204" pitchFamily="34" charset="-122"/>
              </a:rPr>
              <a:t>   ON Stock</a:t>
            </a:r>
          </a:p>
          <a:p>
            <a:pPr algn="l" eaLnBrk="1" latinLnBrk="0" hangingPunct="1">
              <a:lnSpc>
                <a:spcPct val="100000"/>
              </a:lnSpc>
              <a:spcBef>
                <a:spcPts val="0"/>
              </a:spcBef>
              <a:buClrTx/>
              <a:buSzTx/>
              <a:buNone/>
            </a:pPr>
            <a:r>
              <a:rPr lang="en-US" altLang="zh-CN" sz="2300" dirty="0">
                <a:solidFill>
                  <a:srgbClr val="0000FF"/>
                </a:solidFill>
                <a:latin typeface="微软雅黑" panose="020B0503020204020204" pitchFamily="34" charset="-122"/>
                <a:ea typeface="微软雅黑" panose="020B0503020204020204" pitchFamily="34" charset="-122"/>
              </a:rPr>
              <a:t>   AFTER UPDATE</a:t>
            </a:r>
          </a:p>
          <a:p>
            <a:pPr eaLnBrk="1" latinLnBrk="0" hangingPunct="1">
              <a:lnSpc>
                <a:spcPct val="100000"/>
              </a:lnSpc>
              <a:spcBef>
                <a:spcPts val="0"/>
              </a:spcBef>
              <a:buNone/>
            </a:pPr>
            <a:r>
              <a:rPr lang="en-US" altLang="zh-CN" sz="2300" dirty="0">
                <a:solidFill>
                  <a:srgbClr val="FF3300"/>
                </a:solidFill>
                <a:latin typeface="微软雅黑" panose="020B0503020204020204" pitchFamily="34" charset="-122"/>
                <a:ea typeface="微软雅黑" panose="020B0503020204020204" pitchFamily="34" charset="-122"/>
              </a:rPr>
              <a:t>AS </a:t>
            </a:r>
          </a:p>
          <a:p>
            <a:pPr eaLnBrk="1" latinLnBrk="0" hangingPunct="1">
              <a:lnSpc>
                <a:spcPct val="100000"/>
              </a:lnSpc>
              <a:spcBef>
                <a:spcPts val="0"/>
              </a:spcBef>
              <a:buNone/>
            </a:pPr>
            <a:r>
              <a:rPr lang="en-US" altLang="zh-CN" sz="2300" dirty="0">
                <a:latin typeface="微软雅黑" panose="020B0503020204020204" pitchFamily="34" charset="-122"/>
                <a:ea typeface="微软雅黑" panose="020B0503020204020204" pitchFamily="34" charset="-122"/>
              </a:rPr>
              <a:t>  DECLARE @amount_new int,@amount_old int,</a:t>
            </a:r>
          </a:p>
          <a:p>
            <a:pPr eaLnBrk="1" latinLnBrk="0" hangingPunct="1">
              <a:lnSpc>
                <a:spcPct val="100000"/>
              </a:lnSpc>
              <a:spcBef>
                <a:spcPts val="0"/>
              </a:spcBef>
              <a:buNone/>
            </a:pPr>
            <a:r>
              <a:rPr lang="en-US" altLang="zh-CN" sz="2300" dirty="0">
                <a:latin typeface="微软雅黑" panose="020B0503020204020204" pitchFamily="34" charset="-122"/>
                <a:ea typeface="微软雅黑" panose="020B0503020204020204" pitchFamily="34" charset="-122"/>
              </a:rPr>
              <a:t>                    @mat_num char(10)</a:t>
            </a:r>
          </a:p>
          <a:p>
            <a:pPr eaLnBrk="1" latinLnBrk="0" hangingPunct="1">
              <a:lnSpc>
                <a:spcPct val="100000"/>
              </a:lnSpc>
              <a:spcBef>
                <a:spcPts val="0"/>
              </a:spcBef>
              <a:buNone/>
            </a:pPr>
            <a:r>
              <a:rPr lang="en-US" altLang="zh-CN" sz="2300" dirty="0">
                <a:solidFill>
                  <a:srgbClr val="FF0000"/>
                </a:solidFill>
                <a:latin typeface="微软雅黑" panose="020B0503020204020204" pitchFamily="34" charset="-122"/>
                <a:ea typeface="微软雅黑" panose="020B0503020204020204" pitchFamily="34" charset="-122"/>
              </a:rPr>
              <a:t>  SELECT @amount_new=amount, @mat_num=mat_num</a:t>
            </a:r>
          </a:p>
          <a:p>
            <a:pPr eaLnBrk="1" latinLnBrk="0" hangingPunct="1">
              <a:lnSpc>
                <a:spcPct val="100000"/>
              </a:lnSpc>
              <a:spcBef>
                <a:spcPts val="0"/>
              </a:spcBef>
              <a:buNone/>
            </a:pPr>
            <a:r>
              <a:rPr lang="en-US" altLang="zh-CN" sz="2300" dirty="0">
                <a:solidFill>
                  <a:srgbClr val="FF0000"/>
                </a:solidFill>
                <a:latin typeface="微软雅黑" panose="020B0503020204020204" pitchFamily="34" charset="-122"/>
                <a:ea typeface="微软雅黑" panose="020B0503020204020204" pitchFamily="34" charset="-122"/>
              </a:rPr>
              <a:t>  FROM INSERTED</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IF @amount_new&lt;1</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BEGIN </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a:t>
            </a:r>
            <a:r>
              <a:rPr lang="en-US" altLang="zh-CN" sz="2300" dirty="0">
                <a:solidFill>
                  <a:srgbClr val="FF0000"/>
                </a:solidFill>
                <a:latin typeface="微软雅黑" panose="020B0503020204020204" pitchFamily="34" charset="-122"/>
                <a:ea typeface="微软雅黑" panose="020B0503020204020204" pitchFamily="34" charset="-122"/>
              </a:rPr>
              <a:t>SELECT @amount_old=amount   FROM DELETED</a:t>
            </a:r>
            <a:r>
              <a:rPr lang="en-US" altLang="zh-CN" sz="2300" dirty="0">
                <a:solidFill>
                  <a:schemeClr val="tx1"/>
                </a:solidFill>
                <a:latin typeface="微软雅黑" panose="020B0503020204020204" pitchFamily="34" charset="-122"/>
                <a:ea typeface="微软雅黑" panose="020B0503020204020204" pitchFamily="34" charset="-122"/>
              </a:rPr>
              <a:t>   </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UPDATE Stock      </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SET amount=@amount_old</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WHERE mat_num=@mat_num        </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PRINT 'the row can not be UPDATED!'</a:t>
            </a:r>
          </a:p>
          <a:p>
            <a:pPr eaLnBrk="1" latinLnBrk="0" hangingPunct="1">
              <a:lnSpc>
                <a:spcPct val="100000"/>
              </a:lnSpc>
              <a:spcBef>
                <a:spcPts val="0"/>
              </a:spcBef>
              <a:buNone/>
            </a:pPr>
            <a:r>
              <a:rPr lang="en-US" altLang="zh-CN" sz="2300" dirty="0">
                <a:solidFill>
                  <a:schemeClr val="tx1"/>
                </a:solidFill>
                <a:latin typeface="微软雅黑" panose="020B0503020204020204" pitchFamily="34" charset="-122"/>
                <a:ea typeface="微软雅黑" panose="020B0503020204020204" pitchFamily="34" charset="-122"/>
              </a:rPr>
              <a:t>  END </a:t>
            </a:r>
          </a:p>
        </p:txBody>
      </p:sp>
      <p:cxnSp>
        <p:nvCxnSpPr>
          <p:cNvPr id="5" name="直接连接符 4"/>
          <p:cNvCxnSpPr/>
          <p:nvPr/>
        </p:nvCxnSpPr>
        <p:spPr>
          <a:xfrm>
            <a:off x="3740150" y="693420"/>
            <a:ext cx="48895" cy="6115050"/>
          </a:xfrm>
          <a:prstGeom prst="line">
            <a:avLst/>
          </a:prstGeom>
          <a:ln>
            <a:solidFill>
              <a:srgbClr val="4CC2EA"/>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719320" y="4287520"/>
            <a:ext cx="6907530" cy="1383665"/>
          </a:xfrm>
          <a:prstGeom prst="rect">
            <a:avLst/>
          </a:prstGeom>
          <a:solidFill>
            <a:schemeClr val="bg2"/>
          </a:solidFill>
        </p:spPr>
        <p:txBody>
          <a:bodyPr wrap="square" rtlCol="0" anchor="t">
            <a:spAutoFit/>
          </a:bodyPr>
          <a:lstStyle/>
          <a:p>
            <a:r>
              <a:rPr lang="en-US" altLang="zh-CN" sz="2400" dirty="0">
                <a:latin typeface="微软雅黑" panose="020B0503020204020204" pitchFamily="34" charset="-122"/>
                <a:ea typeface="微软雅黑" panose="020B0503020204020204" pitchFamily="34" charset="-122"/>
                <a:sym typeface="+mn-ea"/>
              </a:rPr>
              <a:t> </a:t>
            </a:r>
            <a:endParaRPr lang="en-US" altLang="zh-CN" sz="2400" dirty="0">
              <a:solidFill>
                <a:srgbClr val="FF0000"/>
              </a:solidFill>
              <a:latin typeface="微软雅黑" panose="020B0503020204020204" pitchFamily="34" charset="-122"/>
              <a:ea typeface="微软雅黑" panose="020B0503020204020204" pitchFamily="34" charset="-122"/>
              <a:sym typeface="+mn-ea"/>
            </a:endParaRPr>
          </a:p>
          <a:p>
            <a:r>
              <a:rPr lang="en-US" altLang="zh-CN" sz="2400" dirty="0">
                <a:solidFill>
                  <a:srgbClr val="FF0000"/>
                </a:solidFill>
                <a:latin typeface="微软雅黑" panose="020B0503020204020204" pitchFamily="34" charset="-122"/>
                <a:ea typeface="微软雅黑" panose="020B0503020204020204" pitchFamily="34" charset="-122"/>
                <a:sym typeface="+mn-ea"/>
              </a:rPr>
              <a:t>ROLLBACK TRAN</a:t>
            </a:r>
          </a:p>
          <a:p>
            <a:endParaRPr lang="en-US" altLang="zh-CN" sz="900" dirty="0">
              <a:solidFill>
                <a:srgbClr val="FF0000"/>
              </a:solidFill>
              <a:latin typeface="微软雅黑" panose="020B0503020204020204" pitchFamily="34" charset="-122"/>
              <a:ea typeface="微软雅黑" panose="020B0503020204020204" pitchFamily="34" charset="-122"/>
              <a:sym typeface="+mn-ea"/>
            </a:endParaRPr>
          </a:p>
          <a:p>
            <a:endParaRPr lang="en-US" altLang="zh-CN" sz="900" dirty="0">
              <a:solidFill>
                <a:srgbClr val="FF0000"/>
              </a:solidFill>
              <a:latin typeface="微软雅黑" panose="020B0503020204020204" pitchFamily="34" charset="-122"/>
              <a:ea typeface="微软雅黑" panose="020B0503020204020204" pitchFamily="34" charset="-122"/>
              <a:sym typeface="+mn-ea"/>
            </a:endParaRPr>
          </a:p>
          <a:p>
            <a:endParaRPr lang="en-US" altLang="zh-CN" sz="900" dirty="0">
              <a:solidFill>
                <a:srgbClr val="FF0000"/>
              </a:solidFill>
              <a:latin typeface="微软雅黑" panose="020B0503020204020204" pitchFamily="34" charset="-122"/>
              <a:ea typeface="微软雅黑" panose="020B0503020204020204" pitchFamily="34" charset="-122"/>
              <a:sym typeface="+mn-ea"/>
            </a:endParaRPr>
          </a:p>
          <a:p>
            <a:endParaRPr lang="en-US" altLang="zh-CN" sz="90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blinds(horizontal)">
                                      <p:cBhvr>
                                        <p:cTn id="24" dur="5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blinds(horizontal)">
                                      <p:cBhvr>
                                        <p:cTn id="29" dur="500"/>
                                        <p:tgtEl>
                                          <p:spTgt spid="2">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blinds(horizontal)">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15" end="15"/>
                                            </p:txEl>
                                          </p:spTgt>
                                        </p:tgtEl>
                                        <p:attrNameLst>
                                          <p:attrName>style.visibility</p:attrName>
                                        </p:attrNameLst>
                                      </p:cBhvr>
                                      <p:to>
                                        <p:strVal val="visible"/>
                                      </p:to>
                                    </p:set>
                                    <p:animEffect transition="in" filter="blinds(horizontal)">
                                      <p:cBhvr>
                                        <p:cTn id="42" dur="500"/>
                                        <p:tgtEl>
                                          <p:spTgt spid="2">
                                            <p:txEl>
                                              <p:pRg st="15" end="15"/>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2">
                                            <p:txEl>
                                              <p:pRg st="9" end="9"/>
                                            </p:txEl>
                                          </p:spTgt>
                                        </p:tgtEl>
                                        <p:attrNameLst>
                                          <p:attrName>style.visibility</p:attrName>
                                        </p:attrNameLst>
                                      </p:cBhvr>
                                      <p:to>
                                        <p:strVal val="visible"/>
                                      </p:to>
                                    </p:set>
                                    <p:animEffect transition="in" filter="blinds(horizontal)">
                                      <p:cBhvr>
                                        <p:cTn id="45" dur="500"/>
                                        <p:tgtEl>
                                          <p:spTgt spid="2">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blinds(horizontal)">
                                      <p:cBhvr>
                                        <p:cTn id="50" dur="500"/>
                                        <p:tgtEl>
                                          <p:spTgt spid="2">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animEffect transition="in" filter="blinds(horizontal)">
                                      <p:cBhvr>
                                        <p:cTn id="55" dur="500"/>
                                        <p:tgtEl>
                                          <p:spTgt spid="2">
                                            <p:txEl>
                                              <p:pRg st="11" end="11"/>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2">
                                            <p:txEl>
                                              <p:pRg st="12" end="12"/>
                                            </p:txEl>
                                          </p:spTgt>
                                        </p:tgtEl>
                                        <p:attrNameLst>
                                          <p:attrName>style.visibility</p:attrName>
                                        </p:attrNameLst>
                                      </p:cBhvr>
                                      <p:to>
                                        <p:strVal val="visible"/>
                                      </p:to>
                                    </p:set>
                                    <p:animEffect transition="in" filter="blinds(horizontal)">
                                      <p:cBhvr>
                                        <p:cTn id="58" dur="500"/>
                                        <p:tgtEl>
                                          <p:spTgt spid="2">
                                            <p:txEl>
                                              <p:pRg st="12" end="12"/>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2">
                                            <p:txEl>
                                              <p:pRg st="13" end="13"/>
                                            </p:txEl>
                                          </p:spTgt>
                                        </p:tgtEl>
                                        <p:attrNameLst>
                                          <p:attrName>style.visibility</p:attrName>
                                        </p:attrNameLst>
                                      </p:cBhvr>
                                      <p:to>
                                        <p:strVal val="visible"/>
                                      </p:to>
                                    </p:set>
                                    <p:animEffect transition="in" filter="blinds(horizontal)">
                                      <p:cBhvr>
                                        <p:cTn id="61" dur="500"/>
                                        <p:tgtEl>
                                          <p:spTgt spid="2">
                                            <p:txEl>
                                              <p:pRg st="13" end="13"/>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2">
                                            <p:txEl>
                                              <p:pRg st="14" end="14"/>
                                            </p:txEl>
                                          </p:spTgt>
                                        </p:tgtEl>
                                        <p:attrNameLst>
                                          <p:attrName>style.visibility</p:attrName>
                                        </p:attrNameLst>
                                      </p:cBhvr>
                                      <p:to>
                                        <p:strVal val="visible"/>
                                      </p:to>
                                    </p:set>
                                    <p:animEffect transition="in" filter="blinds(horizontal)">
                                      <p:cBhvr>
                                        <p:cTn id="64" dur="500"/>
                                        <p:tgtEl>
                                          <p:spTgt spid="2">
                                            <p:txEl>
                                              <p:pRg st="14" end="1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blinds(horizontal)">
                                      <p:cBhvr>
                                        <p:cTn id="6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49154" name="Rectangle 2"/>
          <p:cNvSpPr/>
          <p:nvPr/>
        </p:nvSpPr>
        <p:spPr>
          <a:xfrm>
            <a:off x="0" y="742950"/>
            <a:ext cx="3838575" cy="470979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例4.16】修改前面创建的UPDATE触发器，使其先检测更新的列，当更新warehouse列时，禁止更新；当更新库存量amount列时，设置更新规则，若更新后的值小于1，则撤销该更新操作。 </a:t>
            </a:r>
          </a:p>
        </p:txBody>
      </p:sp>
      <p:sp>
        <p:nvSpPr>
          <p:cNvPr id="38914" name="Rectangle 2"/>
          <p:cNvSpPr/>
          <p:nvPr/>
        </p:nvSpPr>
        <p:spPr>
          <a:xfrm>
            <a:off x="4293870" y="670560"/>
            <a:ext cx="7720965" cy="594169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80000"/>
              </a:lnSpc>
              <a:buNone/>
            </a:pPr>
            <a:r>
              <a:rPr lang="en-US" altLang="zh-CN" sz="21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tr4_stock  </a:t>
            </a:r>
          </a:p>
          <a:p>
            <a:pPr algn="l" eaLnBrk="1" hangingPunct="1">
              <a:lnSpc>
                <a:spcPct val="100000"/>
              </a:lnSpc>
              <a:spcBef>
                <a:spcPts val="0"/>
              </a:spcBef>
              <a:buClrTx/>
              <a:buSzTx/>
              <a:buNone/>
            </a:pPr>
            <a:r>
              <a:rPr lang="en-US" altLang="zh-CN" sz="2100" dirty="0">
                <a:solidFill>
                  <a:srgbClr val="0000FF"/>
                </a:solidFill>
                <a:latin typeface="微软雅黑" panose="020B0503020204020204" pitchFamily="34" charset="-122"/>
                <a:ea typeface="微软雅黑" panose="020B0503020204020204" pitchFamily="34" charset="-122"/>
              </a:rPr>
              <a:t>ON Stock   </a:t>
            </a:r>
          </a:p>
          <a:p>
            <a:pPr algn="l" eaLnBrk="1" hangingPunct="1">
              <a:lnSpc>
                <a:spcPct val="100000"/>
              </a:lnSpc>
              <a:spcBef>
                <a:spcPts val="0"/>
              </a:spcBef>
              <a:buClrTx/>
              <a:buSzTx/>
              <a:buNone/>
            </a:pPr>
            <a:r>
              <a:rPr lang="en-US" altLang="zh-CN" sz="2100" dirty="0">
                <a:solidFill>
                  <a:srgbClr val="0000FF"/>
                </a:solidFill>
                <a:latin typeface="微软雅黑" panose="020B0503020204020204" pitchFamily="34" charset="-122"/>
                <a:ea typeface="微软雅黑" panose="020B0503020204020204" pitchFamily="34" charset="-122"/>
              </a:rPr>
              <a:t>AFTER UPDATE</a:t>
            </a:r>
          </a:p>
          <a:p>
            <a:pPr eaLnBrk="1" hangingPunct="1">
              <a:lnSpc>
                <a:spcPct val="80000"/>
              </a:lnSpc>
              <a:buNone/>
            </a:pPr>
            <a:r>
              <a:rPr lang="en-US" altLang="zh-CN" sz="21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r>
              <a:rPr lang="en-US" altLang="zh-CN" sz="21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100" dirty="0">
              <a:solidFill>
                <a:srgbClr val="0000FF"/>
              </a:solidFill>
              <a:latin typeface="微软雅黑" panose="020B0503020204020204" pitchFamily="34" charset="-122"/>
              <a:ea typeface="微软雅黑" panose="020B0503020204020204" pitchFamily="34" charset="-122"/>
            </a:endParaRPr>
          </a:p>
          <a:p>
            <a:pPr eaLnBrk="1" hangingPunct="1">
              <a:lnSpc>
                <a:spcPct val="80000"/>
              </a:lnSpc>
              <a:buNone/>
            </a:pPr>
            <a:r>
              <a:rPr lang="en-US" altLang="zh-CN" sz="21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DECLARE @amount int</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100" dirty="0">
                <a:solidFill>
                  <a:srgbClr val="0000FF"/>
                </a:solidFill>
                <a:latin typeface="微软雅黑" panose="020B0503020204020204" pitchFamily="34" charset="-122"/>
                <a:ea typeface="微软雅黑" panose="020B0503020204020204" pitchFamily="34" charset="-122"/>
              </a:rPr>
              <a:t> IF UPDATE(warehouse)</a:t>
            </a:r>
            <a:endPar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BEGIN </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ROLLBACK TRAN</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PRINT '</a:t>
            </a:r>
            <a:r>
              <a:rPr lang="zh-CN" altLang="en-US"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不允许修改物资存放仓库！</a:t>
            </a: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a:t>
            </a:r>
          </a:p>
          <a:p>
            <a:pPr eaLnBrk="1" hangingPunct="1">
              <a:lnSpc>
                <a:spcPct val="80000"/>
              </a:lnSpc>
              <a:buNone/>
            </a:pPr>
            <a:r>
              <a:rPr lang="en-US" altLang="zh-CN" sz="2100" dirty="0">
                <a:solidFill>
                  <a:srgbClr val="0000FF"/>
                </a:solidFill>
                <a:latin typeface="微软雅黑" panose="020B0503020204020204" pitchFamily="34" charset="-122"/>
                <a:ea typeface="微软雅黑" panose="020B0503020204020204" pitchFamily="34" charset="-122"/>
              </a:rPr>
              <a:t> else  IF UPDATE(amount)</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BEGIN </a:t>
            </a:r>
            <a:endParaRPr lang="en-US" altLang="zh-CN" sz="2100" dirty="0">
              <a:solidFill>
                <a:srgbClr val="0000FF"/>
              </a:solidFill>
              <a:latin typeface="微软雅黑" panose="020B0503020204020204" pitchFamily="34" charset="-122"/>
              <a:ea typeface="微软雅黑" panose="020B0503020204020204" pitchFamily="34" charset="-122"/>
            </a:endParaRP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1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@amount=amount  FROM INSERTED</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IF @amount&lt;1</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BEGIN </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ROLLBACK TRAN</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PRINT  '</a:t>
            </a:r>
            <a:r>
              <a:rPr lang="zh-CN" altLang="en-US"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库存量小于</a:t>
            </a: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，不允许更新！</a:t>
            </a: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a:t>
            </a:r>
          </a:p>
          <a:p>
            <a:pPr eaLnBrk="1" hangingPunct="1">
              <a:lnSpc>
                <a:spcPct val="80000"/>
              </a:lnSpc>
              <a:buNone/>
            </a:pPr>
            <a:r>
              <a:rPr lang="en-US" altLang="zh-CN" sz="2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 </a:t>
            </a:r>
          </a:p>
        </p:txBody>
      </p:sp>
      <p:cxnSp>
        <p:nvCxnSpPr>
          <p:cNvPr id="5" name="直接连接符 4"/>
          <p:cNvCxnSpPr/>
          <p:nvPr/>
        </p:nvCxnSpPr>
        <p:spPr>
          <a:xfrm>
            <a:off x="3947160" y="742950"/>
            <a:ext cx="48895" cy="6115050"/>
          </a:xfrm>
          <a:prstGeom prst="line">
            <a:avLst/>
          </a:prstGeom>
          <a:ln>
            <a:solidFill>
              <a:srgbClr val="4CC2EA"/>
            </a:solidFill>
            <a:prstDash val="dash"/>
          </a:ln>
        </p:spPr>
        <p:style>
          <a:lnRef idx="1">
            <a:schemeClr val="accent1"/>
          </a:lnRef>
          <a:fillRef idx="0">
            <a:schemeClr val="accent1"/>
          </a:fillRef>
          <a:effectRef idx="0">
            <a:schemeClr val="accent1"/>
          </a:effectRef>
          <a:fontRef idx="minor">
            <a:schemeClr val="tx1"/>
          </a:fontRef>
        </p:style>
      </p:cxnSp>
      <p:sp>
        <p:nvSpPr>
          <p:cNvPr id="368643" name="Rectangle 3"/>
          <p:cNvSpPr/>
          <p:nvPr/>
        </p:nvSpPr>
        <p:spPr>
          <a:xfrm>
            <a:off x="389890" y="4784725"/>
            <a:ext cx="3259455" cy="1014730"/>
          </a:xfrm>
          <a:prstGeom prst="rect">
            <a:avLst/>
          </a:prstGeom>
          <a:solidFill>
            <a:srgbClr val="FFFF00"/>
          </a:solidFill>
          <a:ln w="9525">
            <a:noFill/>
          </a:ln>
        </p:spPr>
        <p:txBody>
          <a:bodyPr wrap="square">
            <a:spAutoFit/>
          </a:bodyPr>
          <a:lstStyle/>
          <a:p>
            <a:pPr eaLnBrk="1" latinLnBrk="0" hangingPunct="1">
              <a:lnSpc>
                <a:spcPct val="125000"/>
              </a:lnSpc>
              <a:spcBef>
                <a:spcPts val="0"/>
              </a:spcBef>
            </a:pPr>
            <a:r>
              <a:rPr lang="zh-CN" altLang="en-US"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注意：</a:t>
            </a:r>
            <a:r>
              <a:rPr lang="en-US" altLang="zh-CN" sz="2400" dirty="0">
                <a:solidFill>
                  <a:schemeClr val="tx1"/>
                </a:solidFill>
                <a:latin typeface="微软雅黑" panose="020B0503020204020204" pitchFamily="34" charset="-122"/>
                <a:ea typeface="微软雅黑" panose="020B0503020204020204" pitchFamily="34" charset="-122"/>
                <a:sym typeface="+mn-ea"/>
              </a:rPr>
              <a:t>UPDATE函数可以检测到一个列的更新</a:t>
            </a:r>
            <a:r>
              <a:rPr lang="zh-CN" altLang="en-US" sz="2400" dirty="0">
                <a:solidFill>
                  <a:schemeClr val="tx1"/>
                </a:solidFill>
                <a:latin typeface="微软雅黑" panose="020B0503020204020204" pitchFamily="34" charset="-122"/>
                <a:ea typeface="微软雅黑" panose="020B0503020204020204" pitchFamily="34" charset="-122"/>
                <a:sym typeface="+mn-ea"/>
              </a:rPr>
              <a:t>。</a:t>
            </a:r>
            <a:endParaRPr lang="zh-CN" altLang="en-US"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transition="in" filter="blinds(horizontal)">
                                      <p:cBhvr>
                                        <p:cTn id="7" dur="500"/>
                                        <p:tgtEl>
                                          <p:spTgt spid="3891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8914">
                                            <p:txEl>
                                              <p:pRg st="1" end="1"/>
                                            </p:txEl>
                                          </p:spTgt>
                                        </p:tgtEl>
                                        <p:attrNameLst>
                                          <p:attrName>style.visibility</p:attrName>
                                        </p:attrNameLst>
                                      </p:cBhvr>
                                      <p:to>
                                        <p:strVal val="visible"/>
                                      </p:to>
                                    </p:set>
                                    <p:animEffect transition="in" filter="blinds(horizontal)">
                                      <p:cBhvr>
                                        <p:cTn id="10" dur="500"/>
                                        <p:tgtEl>
                                          <p:spTgt spid="3891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8914">
                                            <p:txEl>
                                              <p:pRg st="2" end="2"/>
                                            </p:txEl>
                                          </p:spTgt>
                                        </p:tgtEl>
                                        <p:attrNameLst>
                                          <p:attrName>style.visibility</p:attrName>
                                        </p:attrNameLst>
                                      </p:cBhvr>
                                      <p:to>
                                        <p:strVal val="visible"/>
                                      </p:to>
                                    </p:set>
                                    <p:animEffect transition="in" filter="blinds(horizontal)">
                                      <p:cBhvr>
                                        <p:cTn id="13" dur="500"/>
                                        <p:tgtEl>
                                          <p:spTgt spid="3891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8914">
                                            <p:txEl>
                                              <p:pRg st="3" end="3"/>
                                            </p:txEl>
                                          </p:spTgt>
                                        </p:tgtEl>
                                        <p:attrNameLst>
                                          <p:attrName>style.visibility</p:attrName>
                                        </p:attrNameLst>
                                      </p:cBhvr>
                                      <p:to>
                                        <p:strVal val="visible"/>
                                      </p:to>
                                    </p:set>
                                    <p:animEffect transition="in" filter="blinds(horizontal)">
                                      <p:cBhvr>
                                        <p:cTn id="16" dur="500"/>
                                        <p:tgtEl>
                                          <p:spTgt spid="3891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68643"/>
                                        </p:tgtEl>
                                        <p:attrNameLst>
                                          <p:attrName>style.visibility</p:attrName>
                                        </p:attrNameLst>
                                      </p:cBhvr>
                                      <p:to>
                                        <p:strVal val="visible"/>
                                      </p:to>
                                    </p:set>
                                    <p:animEffect transition="in" filter="blinds(horizontal)">
                                      <p:cBhvr>
                                        <p:cTn id="21" dur="500"/>
                                        <p:tgtEl>
                                          <p:spTgt spid="36864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8914">
                                            <p:txEl>
                                              <p:pRg st="4" end="4"/>
                                            </p:txEl>
                                          </p:spTgt>
                                        </p:tgtEl>
                                        <p:attrNameLst>
                                          <p:attrName>style.visibility</p:attrName>
                                        </p:attrNameLst>
                                      </p:cBhvr>
                                      <p:to>
                                        <p:strVal val="visible"/>
                                      </p:to>
                                    </p:set>
                                    <p:animEffect transition="in" filter="blinds(horizontal)">
                                      <p:cBhvr>
                                        <p:cTn id="26" dur="500"/>
                                        <p:tgtEl>
                                          <p:spTgt spid="3891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8914">
                                            <p:txEl>
                                              <p:pRg st="5" end="5"/>
                                            </p:txEl>
                                          </p:spTgt>
                                        </p:tgtEl>
                                        <p:attrNameLst>
                                          <p:attrName>style.visibility</p:attrName>
                                        </p:attrNameLst>
                                      </p:cBhvr>
                                      <p:to>
                                        <p:strVal val="visible"/>
                                      </p:to>
                                    </p:set>
                                    <p:animEffect transition="in" filter="blinds(horizontal)">
                                      <p:cBhvr>
                                        <p:cTn id="31" dur="500"/>
                                        <p:tgtEl>
                                          <p:spTgt spid="38914">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8914">
                                            <p:txEl>
                                              <p:pRg st="6" end="6"/>
                                            </p:txEl>
                                          </p:spTgt>
                                        </p:tgtEl>
                                        <p:attrNameLst>
                                          <p:attrName>style.visibility</p:attrName>
                                        </p:attrNameLst>
                                      </p:cBhvr>
                                      <p:to>
                                        <p:strVal val="visible"/>
                                      </p:to>
                                    </p:set>
                                    <p:animEffect transition="in" filter="blinds(horizontal)">
                                      <p:cBhvr>
                                        <p:cTn id="34" dur="500"/>
                                        <p:tgtEl>
                                          <p:spTgt spid="38914">
                                            <p:txEl>
                                              <p:pRg st="6" end="6"/>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8914">
                                            <p:txEl>
                                              <p:pRg st="7" end="7"/>
                                            </p:txEl>
                                          </p:spTgt>
                                        </p:tgtEl>
                                        <p:attrNameLst>
                                          <p:attrName>style.visibility</p:attrName>
                                        </p:attrNameLst>
                                      </p:cBhvr>
                                      <p:to>
                                        <p:strVal val="visible"/>
                                      </p:to>
                                    </p:set>
                                    <p:animEffect transition="in" filter="blinds(horizontal)">
                                      <p:cBhvr>
                                        <p:cTn id="37" dur="500"/>
                                        <p:tgtEl>
                                          <p:spTgt spid="38914">
                                            <p:txEl>
                                              <p:pRg st="7" end="7"/>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8914">
                                            <p:txEl>
                                              <p:pRg st="8" end="8"/>
                                            </p:txEl>
                                          </p:spTgt>
                                        </p:tgtEl>
                                        <p:attrNameLst>
                                          <p:attrName>style.visibility</p:attrName>
                                        </p:attrNameLst>
                                      </p:cBhvr>
                                      <p:to>
                                        <p:strVal val="visible"/>
                                      </p:to>
                                    </p:set>
                                    <p:animEffect transition="in" filter="blinds(horizontal)">
                                      <p:cBhvr>
                                        <p:cTn id="40" dur="500"/>
                                        <p:tgtEl>
                                          <p:spTgt spid="38914">
                                            <p:txEl>
                                              <p:pRg st="8" end="8"/>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8914">
                                            <p:txEl>
                                              <p:pRg st="9" end="9"/>
                                            </p:txEl>
                                          </p:spTgt>
                                        </p:tgtEl>
                                        <p:attrNameLst>
                                          <p:attrName>style.visibility</p:attrName>
                                        </p:attrNameLst>
                                      </p:cBhvr>
                                      <p:to>
                                        <p:strVal val="visible"/>
                                      </p:to>
                                    </p:set>
                                    <p:animEffect transition="in" filter="blinds(horizontal)">
                                      <p:cBhvr>
                                        <p:cTn id="43" dur="500"/>
                                        <p:tgtEl>
                                          <p:spTgt spid="38914">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8914">
                                            <p:txEl>
                                              <p:pRg st="10" end="10"/>
                                            </p:txEl>
                                          </p:spTgt>
                                        </p:tgtEl>
                                        <p:attrNameLst>
                                          <p:attrName>style.visibility</p:attrName>
                                        </p:attrNameLst>
                                      </p:cBhvr>
                                      <p:to>
                                        <p:strVal val="visible"/>
                                      </p:to>
                                    </p:set>
                                    <p:animEffect transition="in" filter="blinds(horizontal)">
                                      <p:cBhvr>
                                        <p:cTn id="48" dur="500"/>
                                        <p:tgtEl>
                                          <p:spTgt spid="38914">
                                            <p:txEl>
                                              <p:pRg st="10" end="10"/>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38914">
                                            <p:txEl>
                                              <p:pRg st="11" end="11"/>
                                            </p:txEl>
                                          </p:spTgt>
                                        </p:tgtEl>
                                        <p:attrNameLst>
                                          <p:attrName>style.visibility</p:attrName>
                                        </p:attrNameLst>
                                      </p:cBhvr>
                                      <p:to>
                                        <p:strVal val="visible"/>
                                      </p:to>
                                    </p:set>
                                    <p:animEffect transition="in" filter="blinds(horizontal)">
                                      <p:cBhvr>
                                        <p:cTn id="51" dur="500"/>
                                        <p:tgtEl>
                                          <p:spTgt spid="38914">
                                            <p:txEl>
                                              <p:pRg st="11" end="11"/>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38914">
                                            <p:txEl>
                                              <p:pRg st="12" end="12"/>
                                            </p:txEl>
                                          </p:spTgt>
                                        </p:tgtEl>
                                        <p:attrNameLst>
                                          <p:attrName>style.visibility</p:attrName>
                                        </p:attrNameLst>
                                      </p:cBhvr>
                                      <p:to>
                                        <p:strVal val="visible"/>
                                      </p:to>
                                    </p:set>
                                    <p:animEffect transition="in" filter="blinds(horizontal)">
                                      <p:cBhvr>
                                        <p:cTn id="54" dur="500"/>
                                        <p:tgtEl>
                                          <p:spTgt spid="38914">
                                            <p:txEl>
                                              <p:pRg st="12" end="12"/>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38914">
                                            <p:txEl>
                                              <p:pRg st="13" end="13"/>
                                            </p:txEl>
                                          </p:spTgt>
                                        </p:tgtEl>
                                        <p:attrNameLst>
                                          <p:attrName>style.visibility</p:attrName>
                                        </p:attrNameLst>
                                      </p:cBhvr>
                                      <p:to>
                                        <p:strVal val="visible"/>
                                      </p:to>
                                    </p:set>
                                    <p:animEffect transition="in" filter="blinds(horizontal)">
                                      <p:cBhvr>
                                        <p:cTn id="57" dur="500"/>
                                        <p:tgtEl>
                                          <p:spTgt spid="38914">
                                            <p:txEl>
                                              <p:pRg st="13" end="13"/>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38914">
                                            <p:txEl>
                                              <p:pRg st="14" end="14"/>
                                            </p:txEl>
                                          </p:spTgt>
                                        </p:tgtEl>
                                        <p:attrNameLst>
                                          <p:attrName>style.visibility</p:attrName>
                                        </p:attrNameLst>
                                      </p:cBhvr>
                                      <p:to>
                                        <p:strVal val="visible"/>
                                      </p:to>
                                    </p:set>
                                    <p:animEffect transition="in" filter="blinds(horizontal)">
                                      <p:cBhvr>
                                        <p:cTn id="60" dur="500"/>
                                        <p:tgtEl>
                                          <p:spTgt spid="38914">
                                            <p:txEl>
                                              <p:pRg st="14" end="14"/>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38914">
                                            <p:txEl>
                                              <p:pRg st="15" end="15"/>
                                            </p:txEl>
                                          </p:spTgt>
                                        </p:tgtEl>
                                        <p:attrNameLst>
                                          <p:attrName>style.visibility</p:attrName>
                                        </p:attrNameLst>
                                      </p:cBhvr>
                                      <p:to>
                                        <p:strVal val="visible"/>
                                      </p:to>
                                    </p:set>
                                    <p:animEffect transition="in" filter="blinds(horizontal)">
                                      <p:cBhvr>
                                        <p:cTn id="63" dur="500"/>
                                        <p:tgtEl>
                                          <p:spTgt spid="38914">
                                            <p:txEl>
                                              <p:pRg st="15" end="15"/>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38914">
                                            <p:txEl>
                                              <p:pRg st="16" end="16"/>
                                            </p:txEl>
                                          </p:spTgt>
                                        </p:tgtEl>
                                        <p:attrNameLst>
                                          <p:attrName>style.visibility</p:attrName>
                                        </p:attrNameLst>
                                      </p:cBhvr>
                                      <p:to>
                                        <p:strVal val="visible"/>
                                      </p:to>
                                    </p:set>
                                    <p:animEffect transition="in" filter="blinds(horizontal)">
                                      <p:cBhvr>
                                        <p:cTn id="66" dur="500"/>
                                        <p:tgtEl>
                                          <p:spTgt spid="38914">
                                            <p:txEl>
                                              <p:pRg st="16" end="16"/>
                                            </p:txEl>
                                          </p:spTgt>
                                        </p:tgtEl>
                                      </p:cBhvr>
                                    </p:animEffect>
                                  </p:childTnLst>
                                </p:cTn>
                              </p:par>
                              <p:par>
                                <p:cTn id="67" presetID="3" presetClass="entr" presetSubtype="10" fill="hold" nodeType="withEffect">
                                  <p:stCondLst>
                                    <p:cond delay="0"/>
                                  </p:stCondLst>
                                  <p:childTnLst>
                                    <p:set>
                                      <p:cBhvr>
                                        <p:cTn id="68" dur="1" fill="hold">
                                          <p:stCondLst>
                                            <p:cond delay="0"/>
                                          </p:stCondLst>
                                        </p:cTn>
                                        <p:tgtEl>
                                          <p:spTgt spid="38914">
                                            <p:txEl>
                                              <p:pRg st="17" end="17"/>
                                            </p:txEl>
                                          </p:spTgt>
                                        </p:tgtEl>
                                        <p:attrNameLst>
                                          <p:attrName>style.visibility</p:attrName>
                                        </p:attrNameLst>
                                      </p:cBhvr>
                                      <p:to>
                                        <p:strVal val="visible"/>
                                      </p:to>
                                    </p:set>
                                    <p:animEffect transition="in" filter="blinds(horizontal)">
                                      <p:cBhvr>
                                        <p:cTn id="69" dur="500"/>
                                        <p:tgtEl>
                                          <p:spTgt spid="38914">
                                            <p:txEl>
                                              <p:pRg st="17" end="17"/>
                                            </p:txEl>
                                          </p:spTgt>
                                        </p:tgtEl>
                                      </p:cBhvr>
                                    </p:animEffect>
                                  </p:childTnLst>
                                </p:cTn>
                              </p:par>
                              <p:par>
                                <p:cTn id="70" presetID="3" presetClass="entr" presetSubtype="10" fill="hold" nodeType="withEffect">
                                  <p:stCondLst>
                                    <p:cond delay="0"/>
                                  </p:stCondLst>
                                  <p:childTnLst>
                                    <p:set>
                                      <p:cBhvr>
                                        <p:cTn id="71" dur="1" fill="hold">
                                          <p:stCondLst>
                                            <p:cond delay="0"/>
                                          </p:stCondLst>
                                        </p:cTn>
                                        <p:tgtEl>
                                          <p:spTgt spid="38914">
                                            <p:txEl>
                                              <p:pRg st="18" end="18"/>
                                            </p:txEl>
                                          </p:spTgt>
                                        </p:tgtEl>
                                        <p:attrNameLst>
                                          <p:attrName>style.visibility</p:attrName>
                                        </p:attrNameLst>
                                      </p:cBhvr>
                                      <p:to>
                                        <p:strVal val="visible"/>
                                      </p:to>
                                    </p:set>
                                    <p:animEffect transition="in" filter="blinds(horizontal)">
                                      <p:cBhvr>
                                        <p:cTn id="72" dur="500"/>
                                        <p:tgtEl>
                                          <p:spTgt spid="3891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1203" name="Rectangle 2"/>
          <p:cNvSpPr txBox="1"/>
          <p:nvPr/>
        </p:nvSpPr>
        <p:spPr>
          <a:xfrm>
            <a:off x="245745" y="663575"/>
            <a:ext cx="11340465" cy="1657350"/>
          </a:xfrm>
          <a:prstGeom prst="rect">
            <a:avLst/>
          </a:prstGeom>
          <a:noFill/>
          <a:ln w="9525">
            <a:noFill/>
          </a:ln>
        </p:spPr>
        <p:txBody>
          <a:bodyPr/>
          <a:lstStyle/>
          <a:p>
            <a:pPr marL="342900" indent="-342900">
              <a:lnSpc>
                <a:spcPct val="125000"/>
              </a:lnSpc>
              <a:spcBef>
                <a:spcPct val="2000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4.17】</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定义一个数据表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Modify_amount</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，用于存储领料出库表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中领取数量发生变化的情况。</a:t>
            </a: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742950" y="1764665"/>
            <a:ext cx="9615805" cy="4246245"/>
          </a:xfrm>
          <a:prstGeom prst="rect">
            <a:avLst/>
          </a:prstGeom>
          <a:noFill/>
          <a:ln w="9525">
            <a:noFill/>
          </a:ln>
        </p:spPr>
        <p:txBody>
          <a:bodyPr wrap="square">
            <a:spAutoFit/>
          </a:bodyPr>
          <a:lstStyle/>
          <a:p>
            <a:pPr>
              <a:lnSpc>
                <a:spcPct val="125000"/>
              </a:lnSpc>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Modify_amount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的创建语句如下：</a:t>
            </a:r>
          </a:p>
          <a:p>
            <a:pPr>
              <a:lnSpc>
                <a:spcPct val="125000"/>
              </a:lnSpc>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CREATE TABLE Modify_amount</a:t>
            </a:r>
            <a:endParaRPr lang="zh-CN"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prj_num     char(8),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被修改的工程项目号</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mat_num     char(8),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被修改的抢修物资号</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username   char(6) ,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修改人</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updatetime datetime,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修改时间</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amount_old   int,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修改前的领取数量</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amount_new  int             /*</a:t>
            </a:r>
            <a:r>
              <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修改后的领取数量</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2" name="矩形 1"/>
          <p:cNvSpPr/>
          <p:nvPr/>
        </p:nvSpPr>
        <p:spPr>
          <a:xfrm>
            <a:off x="418465" y="767715"/>
            <a:ext cx="10446385" cy="5846445"/>
          </a:xfrm>
          <a:prstGeom prst="rect">
            <a:avLst/>
          </a:prstGeom>
          <a:noFill/>
          <a:ln w="9525">
            <a:noFill/>
          </a:ln>
        </p:spPr>
        <p:txBody>
          <a:bodyPr wrap="square">
            <a:spAutoFit/>
          </a:bodyPr>
          <a:lstStyle/>
          <a:p>
            <a:pPr eaLnBrk="1" latinLnBrk="0" hangingPunct="1">
              <a:lnSpc>
                <a:spcPct val="110000"/>
              </a:lnSpc>
            </a:pP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CREATE TRIGGER  tr2_outstock  </a:t>
            </a:r>
            <a:endParaRPr lang="zh-CN"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zh-CN"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Out_stock</a:t>
            </a:r>
          </a:p>
          <a:p>
            <a:pPr eaLnBrk="1" latinLnBrk="0" hangingPunct="1">
              <a:lnSpc>
                <a:spcPct val="110000"/>
              </a:lnSpc>
            </a:pPr>
            <a:r>
              <a:rPr lang="en-US" altLang="zh-CN" sz="2000" dirty="0">
                <a:solidFill>
                  <a:srgbClr val="0000FF"/>
                </a:solidFill>
                <a:latin typeface="微软雅黑" panose="020B0503020204020204" pitchFamily="34" charset="-122"/>
                <a:ea typeface="微软雅黑" panose="020B0503020204020204" pitchFamily="34" charset="-122"/>
                <a:sym typeface="+mn-ea"/>
              </a:rPr>
              <a:t>AFTER </a:t>
            </a:r>
            <a:r>
              <a:rPr lang="zh-CN"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UPDATE</a:t>
            </a:r>
            <a:endParaRPr lang="zh-CN"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As  </a:t>
            </a:r>
            <a:endParaRPr lang="zh-CN"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rgbClr val="0000FF"/>
                </a:solidFill>
                <a:latin typeface="微软雅黑" panose="020B0503020204020204" pitchFamily="34" charset="-122"/>
                <a:ea typeface="微软雅黑" panose="020B0503020204020204" pitchFamily="34" charset="-122"/>
              </a:rPr>
              <a:t>If update(amount)</a:t>
            </a: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Begin</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declare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amount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_old int,@amount_new  int</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declare @prj_no char(8),@mat_no char(8)</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@prj_no=(select prj_num from DELETED)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被修改的项目号</a:t>
            </a: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select @mat_no=(select mat_num from DELETED)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被修改的物资号</a:t>
            </a: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@amount_old=(select amount from DELETED)</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修改前的领取数量</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@amount_new=(select amount from INSERTED)</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修改后的领取数量</a:t>
            </a: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insert </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into Modify_amount</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values(@prj_no,@mat_no,USER_NAME(),GETDATE(),@amount_old,  @amount_new)</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End</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10000"/>
              </a:lnSpc>
            </a:pP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9330" name="Picture 2"/>
          <p:cNvPicPr>
            <a:picLocks noChangeAspect="1"/>
          </p:cNvPicPr>
          <p:nvPr/>
        </p:nvPicPr>
        <p:blipFill>
          <a:blip r:embed="rId3"/>
          <a:stretch>
            <a:fillRect/>
          </a:stretch>
        </p:blipFill>
        <p:spPr>
          <a:xfrm>
            <a:off x="3596005" y="1760855"/>
            <a:ext cx="8247380" cy="776605"/>
          </a:xfrm>
          <a:prstGeom prst="rect">
            <a:avLst/>
          </a:prstGeom>
          <a:noFill/>
          <a:ln w="9525">
            <a:noFill/>
          </a:ln>
        </p:spPr>
      </p:pic>
      <p:sp>
        <p:nvSpPr>
          <p:cNvPr id="100" name="文本框 99"/>
          <p:cNvSpPr txBox="1"/>
          <p:nvPr/>
        </p:nvSpPr>
        <p:spPr>
          <a:xfrm>
            <a:off x="4737735" y="746125"/>
            <a:ext cx="7105650" cy="1014730"/>
          </a:xfrm>
          <a:prstGeom prst="rect">
            <a:avLst/>
          </a:prstGeom>
          <a:noFill/>
          <a:ln w="9525">
            <a:solidFill>
              <a:schemeClr val="accent1"/>
            </a:solidFill>
          </a:ln>
        </p:spPr>
        <p:txBody>
          <a:bodyPr wrap="square">
            <a:spAutoFit/>
          </a:bodyPr>
          <a:lstStyle/>
          <a:p>
            <a:pPr marL="0" indent="269875"/>
            <a:r>
              <a:rPr lang="en-US" sz="2000">
                <a:latin typeface="微软雅黑" panose="020B0503020204020204" pitchFamily="34" charset="-122"/>
                <a:ea typeface="微软雅黑" panose="020B0503020204020204" pitchFamily="34" charset="-122"/>
                <a:cs typeface="Comic Sans MS" panose="030F0702030302020204" charset="0"/>
              </a:rPr>
              <a:t>UPDATE Out_stock</a:t>
            </a:r>
          </a:p>
          <a:p>
            <a:pPr marL="0" indent="269875"/>
            <a:r>
              <a:rPr lang="en-US" sz="2000">
                <a:latin typeface="微软雅黑" panose="020B0503020204020204" pitchFamily="34" charset="-122"/>
                <a:ea typeface="微软雅黑" panose="020B0503020204020204" pitchFamily="34" charset="-122"/>
                <a:cs typeface="Comic Sans MS" panose="030F0702030302020204" charset="0"/>
              </a:rPr>
              <a:t>    SET amount=8</a:t>
            </a:r>
          </a:p>
          <a:p>
            <a:pPr marL="0" indent="269875"/>
            <a:r>
              <a:rPr lang="en-US" sz="2000">
                <a:latin typeface="微软雅黑" panose="020B0503020204020204" pitchFamily="34" charset="-122"/>
                <a:ea typeface="微软雅黑" panose="020B0503020204020204" pitchFamily="34" charset="-122"/>
                <a:cs typeface="Comic Sans MS" panose="030F0702030302020204" charset="0"/>
              </a:rPr>
              <a:t>    WHERE prj_num='20110005' and mat_num='m006'</a:t>
            </a:r>
            <a:endParaRPr lang="en-US" altLang="en-US" sz="2000">
              <a:latin typeface="微软雅黑" panose="020B0503020204020204" pitchFamily="34" charset="-122"/>
              <a:ea typeface="微软雅黑" panose="020B0503020204020204" pitchFamily="34" charset="-122"/>
              <a:cs typeface="Comic Sans MS" panose="030F070203030202020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charRg st="44" end="5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charRg st="58" end="6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charRg st="63" end="8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charRg st="81" end="8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charRg st="87" end="13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charRg st="131" end="17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charRg st="174" end="23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charRg st="238" end="30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charRg st="302" end="37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xEl>
                                              <p:charRg st="377" end="44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charRg st="440" end="45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xEl>
                                              <p:charRg st="451" end="47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
                                            <p:txEl>
                                              <p:charRg st="473" end="54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0"/>
                                        </p:tgtEl>
                                        <p:attrNameLst>
                                          <p:attrName>style.visibility</p:attrName>
                                        </p:attrNameLst>
                                      </p:cBhvr>
                                      <p:to>
                                        <p:strVal val="visible"/>
                                      </p:to>
                                    </p:set>
                                    <p:animEffect transition="in" filter="blinds(horizontal)">
                                      <p:cBhvr>
                                        <p:cTn id="57" dur="500"/>
                                        <p:tgtEl>
                                          <p:spTgt spid="10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99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0"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64514" name="Rectangle 2"/>
          <p:cNvSpPr/>
          <p:nvPr/>
        </p:nvSpPr>
        <p:spPr>
          <a:xfrm>
            <a:off x="491490" y="805180"/>
            <a:ext cx="3888105" cy="70612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 INSTEAD OF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p>
        </p:txBody>
      </p:sp>
      <p:sp>
        <p:nvSpPr>
          <p:cNvPr id="41987" name="Rectangle 3"/>
          <p:cNvSpPr/>
          <p:nvPr/>
        </p:nvSpPr>
        <p:spPr>
          <a:xfrm>
            <a:off x="401955" y="1375410"/>
            <a:ext cx="11388090" cy="452564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50000"/>
              </a:lnSpc>
              <a:spcBef>
                <a:spcPts val="0"/>
              </a:spcBef>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触发器为</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替代操作触发器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，用于视图操作。因为视图有时显示的是表中的部分列，因此用视图修改基本表中的数据行时有可能导致失败。解决方法之一就是针对视图建立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触发器，通过触发器插入所缺的列值，完成更新。</a:t>
            </a:r>
          </a:p>
          <a:p>
            <a:pPr eaLnBrk="1" latinLnBrk="0" hangingPunct="1">
              <a:lnSpc>
                <a:spcPct val="150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当视图执行到对基本表的插入、删除和更新操作时，用触发器的操作替代视图的操作。</a:t>
            </a:r>
          </a:p>
          <a:p>
            <a:pPr eaLnBrk="1" latinLnBrk="0" hangingPunct="1">
              <a:lnSpc>
                <a:spcPct val="150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注意：</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视图只能使用</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触发器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，而不能使用</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AFTER</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4275" name="矩形 2"/>
          <p:cNvSpPr/>
          <p:nvPr/>
        </p:nvSpPr>
        <p:spPr>
          <a:xfrm>
            <a:off x="245745" y="575945"/>
            <a:ext cx="11292205" cy="1014730"/>
          </a:xfrm>
          <a:prstGeom prst="rect">
            <a:avLst/>
          </a:prstGeom>
          <a:no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4.18</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表创建一个</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触发器，确保插入的抢修工程项目号在</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Salvaging</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表中存在。</a:t>
            </a: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442595" y="1590675"/>
            <a:ext cx="11095355" cy="4707890"/>
          </a:xfrm>
          <a:prstGeom prst="rect">
            <a:avLst/>
          </a:prstGeom>
          <a:noFill/>
          <a:ln w="9525">
            <a:noFill/>
          </a:ln>
        </p:spPr>
        <p:txBody>
          <a:bodyPr wrap="square">
            <a:spAutoFit/>
          </a:bodyPr>
          <a:lstStyle/>
          <a:p>
            <a:pPr eaLnBrk="1" latinLnBrk="0" hangingPunct="1">
              <a:lnSpc>
                <a:spcPct val="125000"/>
              </a:lnSpc>
            </a:pP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tr3_outstock  </a:t>
            </a:r>
            <a:endParaRPr lang="zh-CN"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algn="l" eaLnBrk="1" latinLnBrk="0" hangingPunct="1">
              <a:lnSpc>
                <a:spcPct val="125000"/>
              </a:lnSpc>
              <a:buClrTx/>
              <a:buSzTx/>
              <a:buNone/>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Out_stock</a:t>
            </a:r>
          </a:p>
          <a:p>
            <a:pPr algn="l" eaLnBrk="1" latinLnBrk="0" hangingPunct="1">
              <a:lnSpc>
                <a:spcPct val="125000"/>
              </a:lnSpc>
              <a:buClrTx/>
              <a:buSzTx/>
              <a:buNone/>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INSTEAD OF INSERT</a:t>
            </a:r>
            <a:endParaRPr lang="zh-CN"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endParaRPr lang="zh-CN"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if exists( select * from INSERTED </a:t>
            </a:r>
            <a:endParaRPr lang="zh-CN"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where prj_num not in (select prj_num from salvaging))</a:t>
            </a:r>
            <a:endParaRPr lang="zh-CN"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print  '</a:t>
            </a:r>
            <a:r>
              <a:rPr lang="zh-CN"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对不起，有抢修工程项目号不在工程项目表中，不能正确插入！</a:t>
            </a: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else</a:t>
            </a:r>
            <a:endParaRPr lang="zh-CN"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insert into Out_stock</a:t>
            </a:r>
            <a:endParaRPr lang="zh-CN"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400"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select * from INSERTED</a:t>
            </a:r>
          </a:p>
        </p:txBody>
      </p:sp>
      <p:sp>
        <p:nvSpPr>
          <p:cNvPr id="5" name="矩形 4"/>
          <p:cNvSpPr/>
          <p:nvPr/>
        </p:nvSpPr>
        <p:spPr>
          <a:xfrm>
            <a:off x="5618480" y="1311275"/>
            <a:ext cx="6402705" cy="1630045"/>
          </a:xfrm>
          <a:prstGeom prst="rect">
            <a:avLst/>
          </a:prstGeom>
          <a:solidFill>
            <a:schemeClr val="bg1"/>
          </a:solidFill>
          <a:ln w="9525">
            <a:solidFill>
              <a:schemeClr val="accent1"/>
            </a:solidFill>
          </a:ln>
        </p:spPr>
        <p:txBody>
          <a:bodyPr wrap="square">
            <a:spAutoFit/>
          </a:bodyPr>
          <a:lstStyle/>
          <a:p>
            <a:pPr eaLnBrk="1" latinLnBrk="0" hangingPunct="1">
              <a:lnSpc>
                <a:spcPct val="125000"/>
              </a:lnSpc>
            </a:pP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INSERT </a:t>
            </a:r>
            <a:endParaRPr lang="zh-CN" altLang="zh-CN" sz="2000" i="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INTO out_stock</a:t>
            </a:r>
            <a:endParaRPr lang="zh-CN" altLang="zh-CN" sz="2000" i="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VALUES ('20110006','m001',2,'2011-3-9','</a:t>
            </a:r>
            <a:r>
              <a:rPr lang="zh-CN" altLang="zh-CN" sz="2000" i="0" dirty="0">
                <a:latin typeface="微软雅黑" panose="020B0503020204020204" pitchFamily="34" charset="-122"/>
                <a:ea typeface="微软雅黑" panose="020B0503020204020204" pitchFamily="34" charset="-122"/>
                <a:cs typeface="微软雅黑" panose="020B0503020204020204" pitchFamily="34" charset="-122"/>
              </a:rPr>
              <a:t>工程</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zh-CN" sz="2000" i="0" dirty="0">
                <a:latin typeface="微软雅黑" panose="020B0503020204020204" pitchFamily="34" charset="-122"/>
                <a:ea typeface="微软雅黑" panose="020B0503020204020204" pitchFamily="34" charset="-122"/>
                <a:cs typeface="微软雅黑" panose="020B0503020204020204" pitchFamily="34" charset="-122"/>
              </a:rPr>
              <a:t>部</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000" i="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               ('20110007','m002',3,'2011-3-9','</a:t>
            </a:r>
            <a:r>
              <a:rPr lang="zh-CN" altLang="zh-CN" sz="2000" i="0" dirty="0">
                <a:latin typeface="微软雅黑" panose="020B0503020204020204" pitchFamily="34" charset="-122"/>
                <a:ea typeface="微软雅黑" panose="020B0503020204020204" pitchFamily="34" charset="-122"/>
                <a:cs typeface="微软雅黑" panose="020B0503020204020204" pitchFamily="34" charset="-122"/>
              </a:rPr>
              <a:t>工程</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zh-CN" sz="2000" i="0" dirty="0">
                <a:latin typeface="微软雅黑" panose="020B0503020204020204" pitchFamily="34" charset="-122"/>
                <a:ea typeface="微软雅黑" panose="020B0503020204020204" pitchFamily="34" charset="-122"/>
                <a:cs typeface="微软雅黑" panose="020B0503020204020204" pitchFamily="34" charset="-122"/>
              </a:rPr>
              <a:t>部</a:t>
            </a:r>
            <a:r>
              <a:rPr lang="en-US" altLang="zh-CN" sz="2000" i="0" dirty="0">
                <a:latin typeface="微软雅黑" panose="020B0503020204020204" pitchFamily="34" charset="-122"/>
                <a:ea typeface="微软雅黑" panose="020B0503020204020204" pitchFamily="34" charset="-122"/>
                <a:cs typeface="微软雅黑" panose="020B0503020204020204" pitchFamily="34" charset="-122"/>
              </a:rPr>
              <a:t>');</a:t>
            </a:r>
          </a:p>
        </p:txBody>
      </p:sp>
      <p:pic>
        <p:nvPicPr>
          <p:cNvPr id="52232" name="Picture 8"/>
          <p:cNvPicPr>
            <a:picLocks noChangeAspect="1"/>
          </p:cNvPicPr>
          <p:nvPr/>
        </p:nvPicPr>
        <p:blipFill>
          <a:blip r:embed="rId3"/>
          <a:stretch>
            <a:fillRect/>
          </a:stretch>
        </p:blipFill>
        <p:spPr>
          <a:xfrm>
            <a:off x="6373178" y="3187700"/>
            <a:ext cx="4248150" cy="482600"/>
          </a:xfrm>
          <a:prstGeom prst="rect">
            <a:avLst/>
          </a:prstGeom>
          <a:noFill/>
          <a:ln w="9525">
            <a:noFill/>
          </a:ln>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blinds(horizontal)">
                                      <p:cBhvr>
                                        <p:cTn id="24" dur="500"/>
                                        <p:tgtEl>
                                          <p:spTgt spid="2">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linds(horizontal)">
                                      <p:cBhvr>
                                        <p:cTn id="32" dur="500"/>
                                        <p:tgtEl>
                                          <p:spTgt spid="2">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blinds(horizontal)">
                                      <p:cBhvr>
                                        <p:cTn id="35" dur="500"/>
                                        <p:tgtEl>
                                          <p:spTgt spid="2">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blinds(horizontal)">
                                      <p:cBhvr>
                                        <p:cTn id="38" dur="500"/>
                                        <p:tgtEl>
                                          <p:spTgt spid="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52232"/>
                                        </p:tgtEl>
                                        <p:attrNameLst>
                                          <p:attrName>style.visibility</p:attrName>
                                        </p:attrNameLst>
                                      </p:cBhvr>
                                      <p:to>
                                        <p:strVal val="visible"/>
                                      </p:to>
                                    </p:set>
                                    <p:animEffect transition="in" filter="blinds(horizontal)">
                                      <p:cBhvr>
                                        <p:cTn id="48" dur="500"/>
                                        <p:tgtEl>
                                          <p:spTgt spid="52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 name="矩形 2"/>
          <p:cNvSpPr/>
          <p:nvPr/>
        </p:nvSpPr>
        <p:spPr>
          <a:xfrm>
            <a:off x="373380" y="728980"/>
            <a:ext cx="11444605" cy="1476375"/>
          </a:xfrm>
          <a:prstGeom prst="rect">
            <a:avLst/>
          </a:prstGeom>
          <a:noFill/>
          <a:ln w="9525">
            <a:noFill/>
          </a:ln>
        </p:spPr>
        <p:txBody>
          <a:bodyPr wrap="square">
            <a:spAutoFit/>
          </a:bodyPr>
          <a:lstStyle/>
          <a:p>
            <a:pPr eaLnBrk="1" latinLnBrk="0" hangingPunct="1">
              <a:lnSpc>
                <a:spcPct val="125000"/>
              </a:lnSpc>
            </a:pP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4.19</a:t>
            </a:r>
            <a:r>
              <a:rPr lang="zh-CN"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创建一个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INSTEAD OF</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触发器，在视图往基本表中插入数据行时，补充</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sym typeface="+mn-ea"/>
              </a:rPr>
              <a:t>speci</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的列值。</a:t>
            </a:r>
            <a:endParaRPr lang="zh-CN" altLang="zh-CN" sz="2400" i="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pPr>
            <a:endParaRPr lang="en-US" altLang="zh-CN" sz="2400"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5812" name="Rectangle 4"/>
          <p:cNvSpPr>
            <a:spLocks noChangeArrowheads="1"/>
          </p:cNvSpPr>
          <p:nvPr/>
        </p:nvSpPr>
        <p:spPr bwMode="auto">
          <a:xfrm>
            <a:off x="327025" y="1771095"/>
            <a:ext cx="799592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spcAft>
                <a:spcPct val="0"/>
              </a:spcAft>
            </a:pP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首先生成基于</a:t>
            </a: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表的视图</a:t>
            </a:r>
            <a:r>
              <a:rPr lang="en-US" altLang="zh-CN" sz="2400" i="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view_stock</a:t>
            </a: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，代码如下：</a:t>
            </a:r>
          </a:p>
          <a:p>
            <a:pPr eaLnBrk="1" latinLnBrk="0" hangingPunct="1">
              <a:lnSpc>
                <a:spcPct val="125000"/>
              </a:lnSpc>
              <a:spcBef>
                <a:spcPts val="0"/>
              </a:spcBef>
              <a:spcAft>
                <a:spcPct val="0"/>
              </a:spcAft>
            </a:pP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VIEW </a:t>
            </a:r>
            <a:r>
              <a:rPr lang="en-US" altLang="zh-CN" sz="2400" i="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view_stock</a:t>
            </a:r>
            <a:endPar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spcAft>
                <a:spcPct val="0"/>
              </a:spcAft>
            </a:pPr>
            <a:r>
              <a:rPr lang="en-US" altLang="zh-CN" sz="2400" i="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p>
          <a:p>
            <a:pPr eaLnBrk="1" latinLnBrk="0" hangingPunct="1">
              <a:lnSpc>
                <a:spcPct val="125000"/>
              </a:lnSpc>
              <a:spcBef>
                <a:spcPts val="0"/>
              </a:spcBef>
              <a:spcAft>
                <a:spcPct val="0"/>
              </a:spcAft>
            </a:pP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SELECT </a:t>
            </a:r>
            <a:r>
              <a:rPr lang="en-US" altLang="zh-CN" sz="2400" i="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mat_num,mat_name,warehouse,amount,unit</a:t>
            </a:r>
            <a:endPar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spcAft>
                <a:spcPct val="0"/>
              </a:spcAft>
            </a:pP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FROM stock</a:t>
            </a:r>
          </a:p>
          <a:p>
            <a:pPr eaLnBrk="1" latinLnBrk="0" hangingPunct="1">
              <a:lnSpc>
                <a:spcPct val="125000"/>
              </a:lnSpc>
              <a:spcBef>
                <a:spcPts val="0"/>
              </a:spcBef>
              <a:spcAft>
                <a:spcPct val="0"/>
              </a:spcAft>
            </a:pP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75813" name="Rectangle 5"/>
          <p:cNvSpPr>
            <a:spLocks noChangeArrowheads="1"/>
          </p:cNvSpPr>
          <p:nvPr/>
        </p:nvSpPr>
        <p:spPr bwMode="auto">
          <a:xfrm>
            <a:off x="560070" y="4111785"/>
            <a:ext cx="8625840" cy="114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spcAft>
                <a:spcPct val="0"/>
              </a:spcAft>
            </a:pP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若通过下面的语句向基本表中插入数据</a:t>
            </a: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spcAft>
                <a:spcPct val="0"/>
              </a:spcAft>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INSERT INTO </a:t>
            </a:r>
            <a:r>
              <a:rPr lang="en-US" altLang="zh-CN" sz="2400" i="0" dirty="0" err="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view_stock</a:t>
            </a:r>
            <a:endPar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spcAft>
                <a:spcPct val="0"/>
              </a:spcAft>
            </a:pP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VALUES(‘m100’,'</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i="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',10,110)</a:t>
            </a:r>
          </a:p>
          <a:p>
            <a:pPr eaLnBrk="1" latinLnBrk="0" hangingPunct="1">
              <a:lnSpc>
                <a:spcPct val="125000"/>
              </a:lnSpc>
              <a:spcBef>
                <a:spcPts val="0"/>
              </a:spcBef>
              <a:spcAft>
                <a:spcPct val="0"/>
              </a:spcAft>
            </a:pP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75815" name="Rectangle 7"/>
          <p:cNvSpPr>
            <a:spLocks noChangeArrowheads="1"/>
          </p:cNvSpPr>
          <p:nvPr/>
        </p:nvSpPr>
        <p:spPr bwMode="auto">
          <a:xfrm>
            <a:off x="-40863" y="5508864"/>
            <a:ext cx="1180741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spcAft>
                <a:spcPct val="0"/>
              </a:spcAft>
            </a:pPr>
            <a:r>
              <a:rPr lang="en-US" altLang="zh-CN"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由于视图中不包括</a:t>
            </a:r>
            <a:r>
              <a:rPr lang="en-US" altLang="zh-CN" sz="2400" i="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speci</a:t>
            </a: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列，而基本表中</a:t>
            </a:r>
            <a:r>
              <a:rPr lang="en-US" altLang="zh-CN" sz="2400" i="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speci</a:t>
            </a:r>
            <a:r>
              <a:rPr lang="zh-CN" altLang="en-US" sz="240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列不能为空，则该语句会出错。</a:t>
            </a:r>
          </a:p>
        </p:txBody>
      </p:sp>
      <p:pic>
        <p:nvPicPr>
          <p:cNvPr id="5" name="图片 4"/>
          <p:cNvPicPr>
            <a:picLocks noChangeAspect="1"/>
          </p:cNvPicPr>
          <p:nvPr/>
        </p:nvPicPr>
        <p:blipFill>
          <a:blip r:embed="rId3"/>
          <a:stretch>
            <a:fillRect/>
          </a:stretch>
        </p:blipFill>
        <p:spPr>
          <a:xfrm>
            <a:off x="8322945" y="1351915"/>
            <a:ext cx="3758565" cy="2072005"/>
          </a:xfrm>
          <a:prstGeom prst="rect">
            <a:avLst/>
          </a:prstGeom>
        </p:spPr>
      </p:pic>
      <p:cxnSp>
        <p:nvCxnSpPr>
          <p:cNvPr id="6" name="直接连接符 5"/>
          <p:cNvCxnSpPr>
            <a:stCxn id="5" idx="1"/>
          </p:cNvCxnSpPr>
          <p:nvPr/>
        </p:nvCxnSpPr>
        <p:spPr>
          <a:xfrm flipV="1">
            <a:off x="8322945" y="2373630"/>
            <a:ext cx="3703955" cy="14605"/>
          </a:xfrm>
          <a:prstGeom prst="line">
            <a:avLst/>
          </a:prstGeom>
          <a:ln w="28575">
            <a:solidFill>
              <a:srgbClr val="0000CC"/>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5812"/>
                                        </p:tgtEl>
                                        <p:attrNameLst>
                                          <p:attrName>style.visibility</p:attrName>
                                        </p:attrNameLst>
                                      </p:cBhvr>
                                      <p:to>
                                        <p:strVal val="visible"/>
                                      </p:to>
                                    </p:set>
                                    <p:animEffect transition="in" filter="blinds(horizontal)">
                                      <p:cBhvr>
                                        <p:cTn id="7" dur="500"/>
                                        <p:tgtEl>
                                          <p:spTgt spid="3758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5813"/>
                                        </p:tgtEl>
                                        <p:attrNameLst>
                                          <p:attrName>style.visibility</p:attrName>
                                        </p:attrNameLst>
                                      </p:cBhvr>
                                      <p:to>
                                        <p:strVal val="visible"/>
                                      </p:to>
                                    </p:set>
                                    <p:animEffect transition="in" filter="blinds(horizontal)">
                                      <p:cBhvr>
                                        <p:cTn id="12" dur="500"/>
                                        <p:tgtEl>
                                          <p:spTgt spid="3758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75815"/>
                                        </p:tgtEl>
                                        <p:attrNameLst>
                                          <p:attrName>style.visibility</p:attrName>
                                        </p:attrNameLst>
                                      </p:cBhvr>
                                      <p:to>
                                        <p:strVal val="visible"/>
                                      </p:to>
                                    </p:set>
                                    <p:animEffect transition="in" filter="blinds(horizontal)">
                                      <p:cBhvr>
                                        <p:cTn id="25" dur="500"/>
                                        <p:tgtEl>
                                          <p:spTgt spid="375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2" grpId="0"/>
      <p:bldP spid="375813" grpId="0"/>
      <p:bldP spid="3758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76834" name="Rectangle 2"/>
          <p:cNvSpPr>
            <a:spLocks noGrp="1" noChangeArrowheads="1"/>
          </p:cNvSpPr>
          <p:nvPr/>
        </p:nvSpPr>
        <p:spPr bwMode="auto">
          <a:xfrm>
            <a:off x="245745" y="639807"/>
            <a:ext cx="11649710" cy="586549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lvl1pPr marL="228600" indent="-228600" algn="l" defTabSz="914400" rtl="0" eaLnBrk="1" latinLnBrk="0" hangingPunct="1">
              <a:lnSpc>
                <a:spcPts val="3200"/>
              </a:lnSpc>
              <a:spcBef>
                <a:spcPts val="0"/>
              </a:spcBef>
              <a:buFont typeface="Wingdings" panose="05000000000000000000" pitchFamily="2" charset="2"/>
              <a:buChar char="Ø"/>
              <a:defRPr sz="2800" kern="1200">
                <a:solidFill>
                  <a:schemeClr val="tx1"/>
                </a:solidFill>
                <a:latin typeface="+mn-lt"/>
                <a:ea typeface="+mn-ea"/>
                <a:cs typeface="+mn-cs"/>
              </a:defRPr>
            </a:lvl1pPr>
            <a:lvl2pPr marL="685800" indent="-228600" algn="l" defTabSz="914400" rtl="0" eaLnBrk="1" latinLnBrk="0" hangingPunct="1">
              <a:lnSpc>
                <a:spcPts val="3200"/>
              </a:lnSpc>
              <a:spcBef>
                <a:spcPts val="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ts val="3200"/>
              </a:lnSpc>
              <a:spcBef>
                <a:spcPts val="0"/>
              </a:spcBef>
              <a:buFont typeface="Wingdings" panose="05000000000000000000" pitchFamily="2" charset="2"/>
              <a:buChar char="Ø"/>
              <a:defRPr sz="2000" kern="1200">
                <a:solidFill>
                  <a:schemeClr val="tx1"/>
                </a:solidFill>
                <a:latin typeface="+mn-lt"/>
                <a:ea typeface="+mn-ea"/>
                <a:cs typeface="+mn-cs"/>
              </a:defRPr>
            </a:lvl3pPr>
            <a:lvl4pPr marL="1600200" indent="-228600" algn="l" defTabSz="914400" rtl="0" eaLnBrk="1" latinLnBrk="0" hangingPunct="1">
              <a:lnSpc>
                <a:spcPts val="3200"/>
              </a:lnSpc>
              <a:spcBef>
                <a:spcPts val="0"/>
              </a:spcBef>
              <a:buFont typeface="Wingdings" panose="05000000000000000000" pitchFamily="2" charset="2"/>
              <a:buChar char="Ø"/>
              <a:defRPr sz="1800" kern="1200">
                <a:solidFill>
                  <a:schemeClr val="tx1"/>
                </a:solidFill>
                <a:latin typeface="+mn-lt"/>
                <a:ea typeface="+mn-ea"/>
                <a:cs typeface="+mn-cs"/>
              </a:defRPr>
            </a:lvl4pPr>
            <a:lvl5pPr marL="2057400" indent="-228600" algn="l" defTabSz="914400" rtl="0" eaLnBrk="1" latinLnBrk="0" hangingPunct="1">
              <a:lnSpc>
                <a:spcPts val="3200"/>
              </a:lnSpc>
              <a:spcBef>
                <a:spcPts val="0"/>
              </a:spcBef>
              <a:buFont typeface="Wingdings" panose="05000000000000000000" pitchFamily="2" charset="2"/>
              <a:buChar char="Ø"/>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5000"/>
              </a:lnSpc>
              <a:buFontTx/>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解决办法： 创建一个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INSTEAD OF</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触发器，在通过视图往基本表中插入数据时，补充</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speci</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列的值。</a:t>
            </a:r>
          </a:p>
          <a:p>
            <a:pPr indent="0">
              <a:lnSpc>
                <a:spcPct val="125000"/>
              </a:lnSpc>
              <a:buFontTx/>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tr_viewstock</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p>
          <a:p>
            <a:pPr marL="342900" indent="0" algn="l">
              <a:lnSpc>
                <a:spcPct val="125000"/>
              </a:lnSpc>
              <a:buClrTx/>
              <a:buSzTx/>
              <a:buFontTx/>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ON </a:t>
            </a:r>
            <a:r>
              <a:rPr lang="en-US" altLang="zh-CN" sz="2400" dirty="0" err="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view_stock</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INSTEAD OF INSERT  </a:t>
            </a:r>
          </a:p>
          <a:p>
            <a:pPr indent="0">
              <a:lnSpc>
                <a:spcPct val="125000"/>
              </a:lnSpc>
              <a:buFontTx/>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endParaRPr lang="pt-BR"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25000"/>
              </a:lnSpc>
              <a:buFontTx/>
              <a:buNone/>
            </a:pPr>
            <a:r>
              <a:rPr lang="pt-BR" altLang="zh-CN"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pt-BR"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DECLARE   @mat_num char(10),@mat_name   char(50),@speci char(50),</a:t>
            </a:r>
            <a:r>
              <a:rPr lang="en-US" altLang="pt-B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indent="0">
              <a:lnSpc>
                <a:spcPct val="125000"/>
              </a:lnSpc>
              <a:buFontTx/>
              <a:buNone/>
            </a:pPr>
            <a:r>
              <a:rPr lang="en-US" altLang="pt-B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pt-BR"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@warehouse char(50), @amount int,</a:t>
            </a:r>
            <a:r>
              <a:rPr lang="en-US" altLang="pt-B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pt-BR"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@unit decimal(18,2)</a:t>
            </a:r>
          </a:p>
          <a:p>
            <a:pPr indent="0">
              <a:lnSpc>
                <a:spcPct val="125000"/>
              </a:lnSpc>
              <a:buFontTx/>
              <a:buNone/>
            </a:pPr>
            <a:r>
              <a:rPr lang="pt-BR"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mat_num</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=mat_num,@</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mat_name</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mat_name</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a:p>
            <a:pPr indent="0">
              <a:lnSpc>
                <a:spcPct val="125000"/>
              </a:lnSpc>
              <a:buFontTx/>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@warehouse=</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warehouse,@amount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amount,@unit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=unit</a:t>
            </a:r>
          </a:p>
          <a:p>
            <a:pPr indent="0">
              <a:lnSpc>
                <a:spcPct val="125000"/>
              </a:lnSpc>
              <a:buFontTx/>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FROM INSERTED</a:t>
            </a:r>
          </a:p>
          <a:p>
            <a:pPr indent="0">
              <a:lnSpc>
                <a:spcPct val="12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SET  @</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speci</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未知</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indent="0">
              <a:lnSpc>
                <a:spcPct val="12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INSERT   INTO stock(</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mat_num,mat_name,speci,warehouse,amount,unit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a:p>
            <a:pPr indent="0">
              <a:lnSpc>
                <a:spcPct val="12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VALUES(@mat_num,@mat_name,@</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speci</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warehouse,@amount,@unit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6834">
                                            <p:txEl>
                                              <p:pRg st="0" end="0"/>
                                            </p:txEl>
                                          </p:spTgt>
                                        </p:tgtEl>
                                        <p:attrNameLst>
                                          <p:attrName>style.visibility</p:attrName>
                                        </p:attrNameLst>
                                      </p:cBhvr>
                                      <p:to>
                                        <p:strVal val="visible"/>
                                      </p:to>
                                    </p:set>
                                    <p:animEffect transition="in" filter="blinds(horizontal)">
                                      <p:cBhvr>
                                        <p:cTn id="7" dur="500"/>
                                        <p:tgtEl>
                                          <p:spTgt spid="3768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6834">
                                            <p:txEl>
                                              <p:pRg st="1" end="1"/>
                                            </p:txEl>
                                          </p:spTgt>
                                        </p:tgtEl>
                                        <p:attrNameLst>
                                          <p:attrName>style.visibility</p:attrName>
                                        </p:attrNameLst>
                                      </p:cBhvr>
                                      <p:to>
                                        <p:strVal val="visible"/>
                                      </p:to>
                                    </p:set>
                                    <p:animEffect transition="in" filter="blinds(horizontal)">
                                      <p:cBhvr>
                                        <p:cTn id="12" dur="500"/>
                                        <p:tgtEl>
                                          <p:spTgt spid="376834">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76834">
                                            <p:txEl>
                                              <p:pRg st="2" end="2"/>
                                            </p:txEl>
                                          </p:spTgt>
                                        </p:tgtEl>
                                        <p:attrNameLst>
                                          <p:attrName>style.visibility</p:attrName>
                                        </p:attrNameLst>
                                      </p:cBhvr>
                                      <p:to>
                                        <p:strVal val="visible"/>
                                      </p:to>
                                    </p:set>
                                    <p:animEffect transition="in" filter="blinds(horizontal)">
                                      <p:cBhvr>
                                        <p:cTn id="15" dur="500"/>
                                        <p:tgtEl>
                                          <p:spTgt spid="37683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76834">
                                            <p:txEl>
                                              <p:pRg st="3" end="3"/>
                                            </p:txEl>
                                          </p:spTgt>
                                        </p:tgtEl>
                                        <p:attrNameLst>
                                          <p:attrName>style.visibility</p:attrName>
                                        </p:attrNameLst>
                                      </p:cBhvr>
                                      <p:to>
                                        <p:strVal val="visible"/>
                                      </p:to>
                                    </p:set>
                                    <p:animEffect transition="in" filter="blinds(horizontal)">
                                      <p:cBhvr>
                                        <p:cTn id="18" dur="500"/>
                                        <p:tgtEl>
                                          <p:spTgt spid="37683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76834">
                                            <p:txEl>
                                              <p:pRg st="4" end="4"/>
                                            </p:txEl>
                                          </p:spTgt>
                                        </p:tgtEl>
                                        <p:attrNameLst>
                                          <p:attrName>style.visibility</p:attrName>
                                        </p:attrNameLst>
                                      </p:cBhvr>
                                      <p:to>
                                        <p:strVal val="visible"/>
                                      </p:to>
                                    </p:set>
                                    <p:animEffect transition="in" filter="blinds(horizontal)">
                                      <p:cBhvr>
                                        <p:cTn id="23" dur="500"/>
                                        <p:tgtEl>
                                          <p:spTgt spid="376834">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76834">
                                            <p:txEl>
                                              <p:pRg st="5" end="5"/>
                                            </p:txEl>
                                          </p:spTgt>
                                        </p:tgtEl>
                                        <p:attrNameLst>
                                          <p:attrName>style.visibility</p:attrName>
                                        </p:attrNameLst>
                                      </p:cBhvr>
                                      <p:to>
                                        <p:strVal val="visible"/>
                                      </p:to>
                                    </p:set>
                                    <p:animEffect transition="in" filter="blinds(horizontal)">
                                      <p:cBhvr>
                                        <p:cTn id="26" dur="500"/>
                                        <p:tgtEl>
                                          <p:spTgt spid="37683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76834">
                                            <p:txEl>
                                              <p:pRg st="6" end="6"/>
                                            </p:txEl>
                                          </p:spTgt>
                                        </p:tgtEl>
                                        <p:attrNameLst>
                                          <p:attrName>style.visibility</p:attrName>
                                        </p:attrNameLst>
                                      </p:cBhvr>
                                      <p:to>
                                        <p:strVal val="visible"/>
                                      </p:to>
                                    </p:set>
                                    <p:animEffect transition="in" filter="blinds(horizontal)">
                                      <p:cBhvr>
                                        <p:cTn id="31" dur="500"/>
                                        <p:tgtEl>
                                          <p:spTgt spid="376834">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76834">
                                            <p:txEl>
                                              <p:pRg st="7" end="7"/>
                                            </p:txEl>
                                          </p:spTgt>
                                        </p:tgtEl>
                                        <p:attrNameLst>
                                          <p:attrName>style.visibility</p:attrName>
                                        </p:attrNameLst>
                                      </p:cBhvr>
                                      <p:to>
                                        <p:strVal val="visible"/>
                                      </p:to>
                                    </p:set>
                                    <p:animEffect transition="in" filter="blinds(horizontal)">
                                      <p:cBhvr>
                                        <p:cTn id="34" dur="500"/>
                                        <p:tgtEl>
                                          <p:spTgt spid="376834">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76834">
                                            <p:txEl>
                                              <p:pRg st="8" end="8"/>
                                            </p:txEl>
                                          </p:spTgt>
                                        </p:tgtEl>
                                        <p:attrNameLst>
                                          <p:attrName>style.visibility</p:attrName>
                                        </p:attrNameLst>
                                      </p:cBhvr>
                                      <p:to>
                                        <p:strVal val="visible"/>
                                      </p:to>
                                    </p:set>
                                    <p:animEffect transition="in" filter="blinds(horizontal)">
                                      <p:cBhvr>
                                        <p:cTn id="37" dur="500"/>
                                        <p:tgtEl>
                                          <p:spTgt spid="37683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6834">
                                            <p:txEl>
                                              <p:pRg st="9" end="9"/>
                                            </p:txEl>
                                          </p:spTgt>
                                        </p:tgtEl>
                                        <p:attrNameLst>
                                          <p:attrName>style.visibility</p:attrName>
                                        </p:attrNameLst>
                                      </p:cBhvr>
                                      <p:to>
                                        <p:strVal val="visible"/>
                                      </p:to>
                                    </p:set>
                                    <p:animEffect transition="in" filter="blinds(horizontal)">
                                      <p:cBhvr>
                                        <p:cTn id="42" dur="500"/>
                                        <p:tgtEl>
                                          <p:spTgt spid="376834">
                                            <p:txEl>
                                              <p:pRg st="9" end="9"/>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76834">
                                            <p:txEl>
                                              <p:pRg st="10" end="10"/>
                                            </p:txEl>
                                          </p:spTgt>
                                        </p:tgtEl>
                                        <p:attrNameLst>
                                          <p:attrName>style.visibility</p:attrName>
                                        </p:attrNameLst>
                                      </p:cBhvr>
                                      <p:to>
                                        <p:strVal val="visible"/>
                                      </p:to>
                                    </p:set>
                                    <p:animEffect transition="in" filter="blinds(horizontal)">
                                      <p:cBhvr>
                                        <p:cTn id="45" dur="500"/>
                                        <p:tgtEl>
                                          <p:spTgt spid="376834">
                                            <p:txEl>
                                              <p:pRg st="10" end="10"/>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376834">
                                            <p:txEl>
                                              <p:pRg st="11" end="11"/>
                                            </p:txEl>
                                          </p:spTgt>
                                        </p:tgtEl>
                                        <p:attrNameLst>
                                          <p:attrName>style.visibility</p:attrName>
                                        </p:attrNameLst>
                                      </p:cBhvr>
                                      <p:to>
                                        <p:strVal val="visible"/>
                                      </p:to>
                                    </p:set>
                                    <p:animEffect transition="in" filter="blinds(horizontal)">
                                      <p:cBhvr>
                                        <p:cTn id="48" dur="500"/>
                                        <p:tgtEl>
                                          <p:spTgt spid="37683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56322" name="Rectangle 2"/>
          <p:cNvSpPr/>
          <p:nvPr/>
        </p:nvSpPr>
        <p:spPr>
          <a:xfrm>
            <a:off x="323215" y="685800"/>
            <a:ext cx="2626360" cy="647700"/>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latinLnBrk="0" hangingPunct="1">
              <a:lnSpc>
                <a:spcPct val="125000"/>
              </a:lnSpc>
              <a:spcBef>
                <a:spcPts val="0"/>
              </a:spcBef>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复合触发器</a:t>
            </a:r>
          </a:p>
        </p:txBody>
      </p:sp>
      <p:sp>
        <p:nvSpPr>
          <p:cNvPr id="56323" name="Rectangle 3"/>
          <p:cNvSpPr/>
          <p:nvPr/>
        </p:nvSpPr>
        <p:spPr>
          <a:xfrm>
            <a:off x="394018" y="1129030"/>
            <a:ext cx="8675687" cy="576263"/>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多个触发器可以组合在一起形成复合触发器。</a:t>
            </a:r>
          </a:p>
          <a:p>
            <a:pPr eaLnBrk="1" hangingPunct="1">
              <a:lnSpc>
                <a:spcPct val="80000"/>
              </a:lnSpc>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Rectangle 2"/>
          <p:cNvSpPr txBox="1"/>
          <p:nvPr/>
        </p:nvSpPr>
        <p:spPr>
          <a:xfrm>
            <a:off x="86360" y="1622425"/>
            <a:ext cx="12105640" cy="615950"/>
          </a:xfrm>
          <a:prstGeom prst="rect">
            <a:avLst/>
          </a:prstGeom>
          <a:noFill/>
          <a:ln w="9525">
            <a:noFill/>
          </a:ln>
        </p:spPr>
        <p:txBody>
          <a:bodyPr/>
          <a:lstStyle/>
          <a:p>
            <a:pPr marL="342900" indent="-342900" eaLnBrk="1" latinLnBrk="0" hangingPunct="1">
              <a:lnSpc>
                <a:spcPct val="125000"/>
              </a:lnSpc>
              <a:spcBef>
                <a:spcPts val="0"/>
              </a:spcBef>
            </a:pP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i="0"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0" dirty="0">
                <a:latin typeface="微软雅黑" panose="020B0503020204020204" pitchFamily="34" charset="-122"/>
                <a:ea typeface="微软雅黑" panose="020B0503020204020204" pitchFamily="34" charset="-122"/>
                <a:cs typeface="微软雅黑" panose="020B0503020204020204" pitchFamily="34" charset="-122"/>
              </a:rPr>
              <a:t>4.20】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创建一个复合触发器，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不允许修改或删除</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存储在供电局1#仓库的物资信息。</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eaLnBrk="1" latinLnBrk="0" hangingPunct="1">
              <a:lnSpc>
                <a:spcPct val="125000"/>
              </a:lnSpc>
              <a:spcBef>
                <a:spcPts val="0"/>
              </a:spcBef>
            </a:pPr>
            <a:endParaRPr lang="zh-CN" altLang="en-US" sz="2400" i="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7859" name="Rectangle 3"/>
          <p:cNvSpPr>
            <a:spLocks noGrp="1" noChangeArrowheads="1"/>
          </p:cNvSpPr>
          <p:nvPr/>
        </p:nvSpPr>
        <p:spPr bwMode="auto">
          <a:xfrm>
            <a:off x="301763" y="2171065"/>
            <a:ext cx="11674834" cy="52943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lvl1pPr marL="228600" indent="-228600" algn="l" defTabSz="914400" rtl="0" eaLnBrk="1" latinLnBrk="0" hangingPunct="1">
              <a:lnSpc>
                <a:spcPts val="3200"/>
              </a:lnSpc>
              <a:spcBef>
                <a:spcPts val="0"/>
              </a:spcBef>
              <a:buFont typeface="Wingdings" panose="05000000000000000000" pitchFamily="2" charset="2"/>
              <a:buChar char="Ø"/>
              <a:defRPr sz="2800" kern="1200">
                <a:solidFill>
                  <a:schemeClr val="tx1"/>
                </a:solidFill>
                <a:latin typeface="+mn-lt"/>
                <a:ea typeface="+mn-ea"/>
                <a:cs typeface="+mn-cs"/>
              </a:defRPr>
            </a:lvl1pPr>
            <a:lvl2pPr marL="685800" indent="-228600" algn="l" defTabSz="914400" rtl="0" eaLnBrk="1" latinLnBrk="0" hangingPunct="1">
              <a:lnSpc>
                <a:spcPts val="3200"/>
              </a:lnSpc>
              <a:spcBef>
                <a:spcPts val="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ts val="3200"/>
              </a:lnSpc>
              <a:spcBef>
                <a:spcPts val="0"/>
              </a:spcBef>
              <a:buFont typeface="Wingdings" panose="05000000000000000000" pitchFamily="2" charset="2"/>
              <a:buChar char="Ø"/>
              <a:defRPr sz="2000" kern="1200">
                <a:solidFill>
                  <a:schemeClr val="tx1"/>
                </a:solidFill>
                <a:latin typeface="+mn-lt"/>
                <a:ea typeface="+mn-ea"/>
                <a:cs typeface="+mn-cs"/>
              </a:defRPr>
            </a:lvl3pPr>
            <a:lvl4pPr marL="1600200" indent="-228600" algn="l" defTabSz="914400" rtl="0" eaLnBrk="1" latinLnBrk="0" hangingPunct="1">
              <a:lnSpc>
                <a:spcPts val="3200"/>
              </a:lnSpc>
              <a:spcBef>
                <a:spcPts val="0"/>
              </a:spcBef>
              <a:buFont typeface="Wingdings" panose="05000000000000000000" pitchFamily="2" charset="2"/>
              <a:buChar char="Ø"/>
              <a:defRPr sz="1800" kern="1200">
                <a:solidFill>
                  <a:schemeClr val="tx1"/>
                </a:solidFill>
                <a:latin typeface="+mn-lt"/>
                <a:ea typeface="+mn-ea"/>
                <a:cs typeface="+mn-cs"/>
              </a:defRPr>
            </a:lvl4pPr>
            <a:lvl5pPr marL="2057400" indent="-228600" algn="l" defTabSz="914400" rtl="0" eaLnBrk="1" latinLnBrk="0" hangingPunct="1">
              <a:lnSpc>
                <a:spcPts val="3200"/>
              </a:lnSpc>
              <a:spcBef>
                <a:spcPts val="0"/>
              </a:spcBef>
              <a:buFont typeface="Wingdings" panose="05000000000000000000" pitchFamily="2" charset="2"/>
              <a:buChar char="Ø"/>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buFontTx/>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CREATE TRIGGER tr6_stock      </a:t>
            </a:r>
          </a:p>
          <a:p>
            <a:pPr marL="342900" algn="l">
              <a:lnSpc>
                <a:spcPct val="105000"/>
              </a:lnSpc>
              <a:buClrTx/>
              <a:buSzTx/>
              <a:buFontTx/>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ON stock</a:t>
            </a:r>
          </a:p>
          <a:p>
            <a:pPr marL="342900" algn="l">
              <a:lnSpc>
                <a:spcPct val="105000"/>
              </a:lnSpc>
              <a:buClrTx/>
              <a:buSzTx/>
              <a:buFontTx/>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AFTERT DELETE,UPDATE </a:t>
            </a:r>
          </a:p>
          <a:p>
            <a:pPr>
              <a:lnSpc>
                <a:spcPct val="105000"/>
              </a:lnSpc>
              <a:buFontTx/>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   </a:t>
            </a:r>
          </a:p>
          <a:p>
            <a:pPr>
              <a:lnSpc>
                <a:spcPct val="10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DECLARE @warehouse char(50)</a:t>
            </a:r>
          </a:p>
          <a:p>
            <a:pPr>
              <a:lnSpc>
                <a:spcPct val="10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@warehouse=warehouse    FROM  DELETED</a:t>
            </a:r>
          </a:p>
          <a:p>
            <a:pPr>
              <a:lnSpc>
                <a:spcPct val="105000"/>
              </a:lnSpc>
              <a:buFontTx/>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IF @warehouse=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供电局</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仓库</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05000"/>
              </a:lnSpc>
              <a:buFontTx/>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BEGIN </a:t>
            </a:r>
          </a:p>
          <a:p>
            <a:pPr>
              <a:lnSpc>
                <a:spcPct val="105000"/>
              </a:lnSpc>
              <a:buFontTx/>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ROLLBACK TRAN</a:t>
            </a:r>
          </a:p>
          <a:p>
            <a:pPr>
              <a:lnSpc>
                <a:spcPct val="105000"/>
              </a:lnSpc>
              <a:buFontTx/>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PRINT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不允许修改或删除供电局</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仓库的物资信息！</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05000"/>
              </a:lnSpc>
              <a:buFontTx/>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7859">
                                            <p:txEl>
                                              <p:pRg st="0" end="0"/>
                                            </p:txEl>
                                          </p:spTgt>
                                        </p:tgtEl>
                                        <p:attrNameLst>
                                          <p:attrName>style.visibility</p:attrName>
                                        </p:attrNameLst>
                                      </p:cBhvr>
                                      <p:to>
                                        <p:strVal val="visible"/>
                                      </p:to>
                                    </p:set>
                                    <p:animEffect transition="in" filter="blinds(horizontal)">
                                      <p:cBhvr>
                                        <p:cTn id="7" dur="500"/>
                                        <p:tgtEl>
                                          <p:spTgt spid="37785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7859">
                                            <p:txEl>
                                              <p:pRg st="1" end="1"/>
                                            </p:txEl>
                                          </p:spTgt>
                                        </p:tgtEl>
                                        <p:attrNameLst>
                                          <p:attrName>style.visibility</p:attrName>
                                        </p:attrNameLst>
                                      </p:cBhvr>
                                      <p:to>
                                        <p:strVal val="visible"/>
                                      </p:to>
                                    </p:set>
                                    <p:animEffect transition="in" filter="blinds(horizontal)">
                                      <p:cBhvr>
                                        <p:cTn id="10" dur="500"/>
                                        <p:tgtEl>
                                          <p:spTgt spid="37785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7859">
                                            <p:txEl>
                                              <p:pRg st="2" end="2"/>
                                            </p:txEl>
                                          </p:spTgt>
                                        </p:tgtEl>
                                        <p:attrNameLst>
                                          <p:attrName>style.visibility</p:attrName>
                                        </p:attrNameLst>
                                      </p:cBhvr>
                                      <p:to>
                                        <p:strVal val="visible"/>
                                      </p:to>
                                    </p:set>
                                    <p:animEffect transition="in" filter="blinds(horizontal)">
                                      <p:cBhvr>
                                        <p:cTn id="13" dur="500"/>
                                        <p:tgtEl>
                                          <p:spTgt spid="37785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7859">
                                            <p:txEl>
                                              <p:pRg st="3" end="3"/>
                                            </p:txEl>
                                          </p:spTgt>
                                        </p:tgtEl>
                                        <p:attrNameLst>
                                          <p:attrName>style.visibility</p:attrName>
                                        </p:attrNameLst>
                                      </p:cBhvr>
                                      <p:to>
                                        <p:strVal val="visible"/>
                                      </p:to>
                                    </p:set>
                                    <p:animEffect transition="in" filter="blinds(horizontal)">
                                      <p:cBhvr>
                                        <p:cTn id="16" dur="500"/>
                                        <p:tgtEl>
                                          <p:spTgt spid="37785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77859">
                                            <p:txEl>
                                              <p:pRg st="4" end="4"/>
                                            </p:txEl>
                                          </p:spTgt>
                                        </p:tgtEl>
                                        <p:attrNameLst>
                                          <p:attrName>style.visibility</p:attrName>
                                        </p:attrNameLst>
                                      </p:cBhvr>
                                      <p:to>
                                        <p:strVal val="visible"/>
                                      </p:to>
                                    </p:set>
                                    <p:animEffect transition="in" filter="blinds(horizontal)">
                                      <p:cBhvr>
                                        <p:cTn id="21" dur="500"/>
                                        <p:tgtEl>
                                          <p:spTgt spid="377859">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77859">
                                            <p:txEl>
                                              <p:pRg st="5" end="5"/>
                                            </p:txEl>
                                          </p:spTgt>
                                        </p:tgtEl>
                                        <p:attrNameLst>
                                          <p:attrName>style.visibility</p:attrName>
                                        </p:attrNameLst>
                                      </p:cBhvr>
                                      <p:to>
                                        <p:strVal val="visible"/>
                                      </p:to>
                                    </p:set>
                                    <p:animEffect transition="in" filter="blinds(horizontal)">
                                      <p:cBhvr>
                                        <p:cTn id="24" dur="500"/>
                                        <p:tgtEl>
                                          <p:spTgt spid="37785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77859">
                                            <p:txEl>
                                              <p:pRg st="6" end="6"/>
                                            </p:txEl>
                                          </p:spTgt>
                                        </p:tgtEl>
                                        <p:attrNameLst>
                                          <p:attrName>style.visibility</p:attrName>
                                        </p:attrNameLst>
                                      </p:cBhvr>
                                      <p:to>
                                        <p:strVal val="visible"/>
                                      </p:to>
                                    </p:set>
                                    <p:animEffect transition="in" filter="blinds(horizontal)">
                                      <p:cBhvr>
                                        <p:cTn id="29" dur="500"/>
                                        <p:tgtEl>
                                          <p:spTgt spid="37785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77859">
                                            <p:txEl>
                                              <p:pRg st="7" end="7"/>
                                            </p:txEl>
                                          </p:spTgt>
                                        </p:tgtEl>
                                        <p:attrNameLst>
                                          <p:attrName>style.visibility</p:attrName>
                                        </p:attrNameLst>
                                      </p:cBhvr>
                                      <p:to>
                                        <p:strVal val="visible"/>
                                      </p:to>
                                    </p:set>
                                    <p:animEffect transition="in" filter="blinds(horizontal)">
                                      <p:cBhvr>
                                        <p:cTn id="34" dur="500"/>
                                        <p:tgtEl>
                                          <p:spTgt spid="377859">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77859">
                                            <p:txEl>
                                              <p:pRg st="8" end="8"/>
                                            </p:txEl>
                                          </p:spTgt>
                                        </p:tgtEl>
                                        <p:attrNameLst>
                                          <p:attrName>style.visibility</p:attrName>
                                        </p:attrNameLst>
                                      </p:cBhvr>
                                      <p:to>
                                        <p:strVal val="visible"/>
                                      </p:to>
                                    </p:set>
                                    <p:animEffect transition="in" filter="blinds(horizontal)">
                                      <p:cBhvr>
                                        <p:cTn id="37" dur="500"/>
                                        <p:tgtEl>
                                          <p:spTgt spid="377859">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77859">
                                            <p:txEl>
                                              <p:pRg st="9" end="9"/>
                                            </p:txEl>
                                          </p:spTgt>
                                        </p:tgtEl>
                                        <p:attrNameLst>
                                          <p:attrName>style.visibility</p:attrName>
                                        </p:attrNameLst>
                                      </p:cBhvr>
                                      <p:to>
                                        <p:strVal val="visible"/>
                                      </p:to>
                                    </p:set>
                                    <p:animEffect transition="in" filter="blinds(horizontal)">
                                      <p:cBhvr>
                                        <p:cTn id="40" dur="500"/>
                                        <p:tgtEl>
                                          <p:spTgt spid="377859">
                                            <p:txEl>
                                              <p:pRg st="9" end="9"/>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77859">
                                            <p:txEl>
                                              <p:pRg st="10" end="10"/>
                                            </p:txEl>
                                          </p:spTgt>
                                        </p:tgtEl>
                                        <p:attrNameLst>
                                          <p:attrName>style.visibility</p:attrName>
                                        </p:attrNameLst>
                                      </p:cBhvr>
                                      <p:to>
                                        <p:strVal val="visible"/>
                                      </p:to>
                                    </p:set>
                                    <p:animEffect transition="in" filter="blinds(horizontal)">
                                      <p:cBhvr>
                                        <p:cTn id="43" dur="500"/>
                                        <p:tgtEl>
                                          <p:spTgt spid="3778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 </a:t>
            </a:r>
            <a:r>
              <a:rPr 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5.1.3 </a:t>
            </a:r>
            <a:r>
              <a:rPr lang="zh-CN" altLang="en-US" sz="2800" b="1" dirty="0">
                <a:solidFill>
                  <a:schemeClr val="bg1"/>
                </a:solidFill>
                <a:latin typeface="微软雅黑" panose="020B0503020204020204" pitchFamily="34" charset="-122"/>
                <a:ea typeface="微软雅黑" panose="020B0503020204020204" pitchFamily="34" charset="-122"/>
              </a:rPr>
              <a:t>创建</a:t>
            </a:r>
            <a:r>
              <a:rPr lang="en-US" altLang="zh-CN" sz="2800" b="1" dirty="0">
                <a:solidFill>
                  <a:schemeClr val="bg1"/>
                </a:solidFill>
                <a:latin typeface="微软雅黑" panose="020B0503020204020204" pitchFamily="34" charset="-122"/>
                <a:ea typeface="微软雅黑" panose="020B0503020204020204" pitchFamily="34" charset="-122"/>
              </a:rPr>
              <a:t>SQL Server</a:t>
            </a:r>
            <a:r>
              <a:rPr lang="zh-CN" altLang="zh-CN" sz="2800" b="1" dirty="0">
                <a:solidFill>
                  <a:schemeClr val="bg1"/>
                </a:solidFill>
                <a:latin typeface="微软雅黑" panose="020B0503020204020204" pitchFamily="34" charset="-122"/>
                <a:ea typeface="微软雅黑" panose="020B0503020204020204" pitchFamily="34" charset="-122"/>
              </a:rPr>
              <a:t>触发器</a:t>
            </a:r>
          </a:p>
        </p:txBody>
      </p:sp>
      <p:sp>
        <p:nvSpPr>
          <p:cNvPr id="378883" name="Rectangle 3"/>
          <p:cNvSpPr/>
          <p:nvPr/>
        </p:nvSpPr>
        <p:spPr>
          <a:xfrm>
            <a:off x="551815" y="663575"/>
            <a:ext cx="10751185" cy="540067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只有数据库所有者才能修改触发器，修改触发器的语句是：</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ALTER TRIGGER &lt;</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触发器名</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&gt;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ON  {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表名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视图名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WITH ENCRYPTION ]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{AFTER | INSTEAD OF } { [ INSERT ] [ , ] [ UPDATE ] [ , ] [ DELETE ]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NOT FOR REPLICATION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AS</a:t>
            </a:r>
            <a:b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 SQL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语句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删除触发器的语句是：</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DROP TRIGGER   </a:t>
            </a:r>
            <a:r>
              <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触发器名</a:t>
            </a:r>
          </a:p>
          <a:p>
            <a:pPr eaLnBrk="1" latinLnBrk="0" hangingPunct="1">
              <a:lnSpc>
                <a:spcPct val="125000"/>
              </a:lnSpc>
              <a:spcBef>
                <a:spcPts val="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注意：在删除表时，依存于该表的触发器也将同时被删除。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883">
                                            <p:txEl>
                                              <p:pRg st="8" end="8"/>
                                            </p:txEl>
                                          </p:spTgt>
                                        </p:tgtEl>
                                        <p:attrNameLst>
                                          <p:attrName>style.visibility</p:attrName>
                                        </p:attrNameLst>
                                      </p:cBhvr>
                                      <p:to>
                                        <p:strVal val="visible"/>
                                      </p:to>
                                    </p:set>
                                    <p:animEffect transition="in" filter="blinds(horizontal)">
                                      <p:cBhvr>
                                        <p:cTn id="7" dur="500"/>
                                        <p:tgtEl>
                                          <p:spTgt spid="378883">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8883">
                                            <p:txEl>
                                              <p:pRg st="9" end="9"/>
                                            </p:txEl>
                                          </p:spTgt>
                                        </p:tgtEl>
                                        <p:attrNameLst>
                                          <p:attrName>style.visibility</p:attrName>
                                        </p:attrNameLst>
                                      </p:cBhvr>
                                      <p:to>
                                        <p:strVal val="visible"/>
                                      </p:to>
                                    </p:set>
                                    <p:animEffect transition="in" filter="blinds(horizontal)">
                                      <p:cBhvr>
                                        <p:cTn id="10" dur="500"/>
                                        <p:tgtEl>
                                          <p:spTgt spid="378883">
                                            <p:txEl>
                                              <p:pRg st="9" end="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8883">
                                            <p:txEl>
                                              <p:pRg st="10" end="10"/>
                                            </p:txEl>
                                          </p:spTgt>
                                        </p:tgtEl>
                                        <p:attrNameLst>
                                          <p:attrName>style.visibility</p:attrName>
                                        </p:attrNameLst>
                                      </p:cBhvr>
                                      <p:to>
                                        <p:strVal val="visible"/>
                                      </p:to>
                                    </p:set>
                                    <p:animEffect transition="in" filter="blinds(horizontal)">
                                      <p:cBhvr>
                                        <p:cTn id="13" dur="500"/>
                                        <p:tgtEl>
                                          <p:spTgt spid="3788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7" name="Rectangle 3"/>
          <p:cNvSpPr>
            <a:spLocks noGrp="1"/>
          </p:cNvSpPr>
          <p:nvPr>
            <p:ph idx="1"/>
          </p:nvPr>
        </p:nvSpPr>
        <p:spPr>
          <a:xfrm>
            <a:off x="675005" y="963295"/>
            <a:ext cx="10972800" cy="5375275"/>
          </a:xfrm>
          <a:noFill/>
          <a:ln>
            <a:noFill/>
          </a:ln>
        </p:spPr>
        <p:txBody>
          <a:bodyPr/>
          <a:lstStyle/>
          <a:p>
            <a:pPr eaLnBrk="1" hangingPunct="1">
              <a:lnSpc>
                <a:spcPct val="115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数据库的完整性是数据的正确性和相容性。</a:t>
            </a:r>
          </a:p>
          <a:p>
            <a:pPr eaLnBrk="1" hangingPunct="1">
              <a:lnSpc>
                <a:spcPct val="115000"/>
              </a:lnSpc>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为了维护数据库的完整性，DBMS必须提供一种机制来检查数据库的完整性。现代数据库技术采用对数据完整性予以约束和检查的方式来保护数据库的完整性。</a:t>
            </a:r>
          </a:p>
          <a:p>
            <a:pPr eaLnBrk="1" hangingPunct="1">
              <a:lnSpc>
                <a:spcPct val="115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事实上，除了实体完整性约束和参照完整性约束，其他与数据完整性有关的内容都是用户定义的数据完整性范畴。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15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实现用户定义的完整性规则，除了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CreateTable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命令中的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Check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约束，更多的是使用触发器来实现灵活、复杂的数据完整性要求。</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5.2 </a:t>
            </a:r>
            <a:r>
              <a:rPr lang="zh-CN" sz="2800" b="1" dirty="0">
                <a:solidFill>
                  <a:schemeClr val="bg1"/>
                </a:solidFill>
                <a:latin typeface="微软雅黑" panose="020B0503020204020204" pitchFamily="34" charset="-122"/>
                <a:ea typeface="微软雅黑" panose="020B0503020204020204" pitchFamily="34" charset="-122"/>
              </a:rPr>
              <a:t>数据库完整性</a:t>
            </a:r>
          </a:p>
        </p:txBody>
      </p:sp>
    </p:spTree>
    <p:extLst>
      <p:ext uri="{BB962C8B-B14F-4D97-AF65-F5344CB8AC3E}">
        <p14:creationId xmlns:p14="http://schemas.microsoft.com/office/powerpoint/2010/main" val="325817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animEffect transition="in" filter="blinds(horizontal)">
                                      <p:cBhvr>
                                        <p:cTn id="7" dur="500"/>
                                        <p:tgtEl>
                                          <p:spTgt spid="390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0147">
                                            <p:txEl>
                                              <p:pRg st="1" end="1"/>
                                            </p:txEl>
                                          </p:spTgt>
                                        </p:tgtEl>
                                        <p:attrNameLst>
                                          <p:attrName>style.visibility</p:attrName>
                                        </p:attrNameLst>
                                      </p:cBhvr>
                                      <p:to>
                                        <p:strVal val="visible"/>
                                      </p:to>
                                    </p:set>
                                    <p:animEffect transition="in" filter="blinds(horizontal)">
                                      <p:cBhvr>
                                        <p:cTn id="12" dur="500"/>
                                        <p:tgtEl>
                                          <p:spTgt spid="390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0147">
                                            <p:txEl>
                                              <p:pRg st="2" end="2"/>
                                            </p:txEl>
                                          </p:spTgt>
                                        </p:tgtEl>
                                        <p:attrNameLst>
                                          <p:attrName>style.visibility</p:attrName>
                                        </p:attrNameLst>
                                      </p:cBhvr>
                                      <p:to>
                                        <p:strVal val="visible"/>
                                      </p:to>
                                    </p:set>
                                    <p:animEffect transition="in" filter="blinds(horizontal)">
                                      <p:cBhvr>
                                        <p:cTn id="17" dur="500"/>
                                        <p:tgtEl>
                                          <p:spTgt spid="390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0147">
                                            <p:txEl>
                                              <p:pRg st="3" end="3"/>
                                            </p:txEl>
                                          </p:spTgt>
                                        </p:tgtEl>
                                        <p:attrNameLst>
                                          <p:attrName>style.visibility</p:attrName>
                                        </p:attrNameLst>
                                      </p:cBhvr>
                                      <p:to>
                                        <p:strVal val="visible"/>
                                      </p:to>
                                    </p:set>
                                    <p:animEffect transition="in" filter="blinds(horizontal)">
                                      <p:cBhvr>
                                        <p:cTn id="22" dur="500"/>
                                        <p:tgtEl>
                                          <p:spTgt spid="390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P spid="390147" grpI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p:cNvSpPr>
          <p:nvPr>
            <p:ph idx="1"/>
          </p:nvPr>
        </p:nvSpPr>
        <p:spPr>
          <a:xfrm>
            <a:off x="658495" y="981075"/>
            <a:ext cx="11032490" cy="4895850"/>
          </a:xfrm>
          <a:noFill/>
          <a:ln>
            <a:noFill/>
          </a:ln>
        </p:spPr>
        <p:txBody>
          <a:bodyPr/>
          <a:lstStyle/>
          <a:p>
            <a:pPr eaLnBrk="1" latinLnBrk="0" hangingPunct="1">
              <a:lnSpc>
                <a:spcPct val="10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在电力抢修工程数据库中</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00000"/>
              </a:lnSpc>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Salvaging</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prj_num, prj_name, start_date, end_date, prj_status</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00000"/>
              </a:lnSpc>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prj_num, mat_num, amount, get_date, department</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00000"/>
              </a:lnSpc>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Stock</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mat_num, mat_name, speci, warehouse, amount, unit, total</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a:p>
            <a:pPr eaLnBrk="1" latinLnBrk="0" hangingPunct="1">
              <a:lnSpc>
                <a:spcPct val="120000"/>
              </a:lnSpc>
              <a:buNone/>
            </a:pPr>
            <a:r>
              <a:rPr lang="zh-CN" altLang="en-US" sz="2400" dirty="0">
                <a:solidFill>
                  <a:srgbClr val="0066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Out_stock</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表中的</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prj_num</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属性是外键，参照</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Salvaging</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表中</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prj_num</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属性，并且要求对于某一项抢修工程，其</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Out_stock</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表中的领料日期</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get_date</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的值必须介于</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Salvaging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表中该工程的</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start_date</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end_date</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值之间</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0000"/>
              </a:lnSpc>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prj_num为20110006的抢修工程的开始日期为2011-03-08，结束日期为2011-03-10，则out_stock表中prj_num为20110006的记录的get_date值必须介于2011-03-08和2011-03-10之间。</a:t>
            </a:r>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5.2 </a:t>
            </a:r>
            <a:r>
              <a:rPr lang="zh-CN" sz="2800" b="1" dirty="0">
                <a:solidFill>
                  <a:schemeClr val="bg1"/>
                </a:solidFill>
                <a:latin typeface="微软雅黑" panose="020B0503020204020204" pitchFamily="34" charset="-122"/>
                <a:ea typeface="微软雅黑" panose="020B0503020204020204" pitchFamily="34" charset="-122"/>
              </a:rPr>
              <a:t>数据库完整性</a:t>
            </a:r>
          </a:p>
        </p:txBody>
      </p:sp>
    </p:spTree>
    <p:extLst>
      <p:ext uri="{BB962C8B-B14F-4D97-AF65-F5344CB8AC3E}">
        <p14:creationId xmlns:p14="http://schemas.microsoft.com/office/powerpoint/2010/main" val="326508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1170">
                                            <p:txEl>
                                              <p:charRg st="198" end="336"/>
                                            </p:txEl>
                                          </p:spTgt>
                                        </p:tgtEl>
                                        <p:attrNameLst>
                                          <p:attrName>style.visibility</p:attrName>
                                        </p:attrNameLst>
                                      </p:cBhvr>
                                      <p:to>
                                        <p:strVal val="visible"/>
                                      </p:to>
                                    </p:set>
                                    <p:animEffect transition="in" filter="blinds(horizontal)">
                                      <p:cBhvr>
                                        <p:cTn id="7" dur="500"/>
                                        <p:tgtEl>
                                          <p:spTgt spid="391170">
                                            <p:txEl>
                                              <p:charRg st="198" end="3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1170">
                                            <p:txEl>
                                              <p:charRg st="336" end="474"/>
                                            </p:txEl>
                                          </p:spTgt>
                                        </p:tgtEl>
                                        <p:attrNameLst>
                                          <p:attrName>style.visibility</p:attrName>
                                        </p:attrNameLst>
                                      </p:cBhvr>
                                      <p:to>
                                        <p:strVal val="visible"/>
                                      </p:to>
                                    </p:set>
                                    <p:animEffect transition="in" filter="blinds(horizontal)">
                                      <p:cBhvr>
                                        <p:cTn id="12" dur="500"/>
                                        <p:tgtEl>
                                          <p:spTgt spid="391170">
                                            <p:txEl>
                                              <p:charRg st="336" end="4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p:cNvSpPr>
          <p:nvPr>
            <p:ph idx="1"/>
          </p:nvPr>
        </p:nvSpPr>
        <p:spPr>
          <a:xfrm>
            <a:off x="533400" y="675640"/>
            <a:ext cx="11485245" cy="5516880"/>
          </a:xfrm>
          <a:solidFill>
            <a:srgbClr val="FFFFFF"/>
          </a:solidFill>
          <a:ln>
            <a:noFill/>
          </a:ln>
        </p:spPr>
        <p:txBody>
          <a:bodyPr/>
          <a:lstStyle/>
          <a:p>
            <a:pPr eaLnBrk="1" latinLnBrk="0" hangingPunct="1">
              <a:lnSpc>
                <a:spcPct val="90000"/>
              </a:lnSpc>
              <a:spcBef>
                <a:spcPts val="40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CREATE TRIGGER tr3_outstock </a:t>
            </a:r>
          </a:p>
          <a:p>
            <a:pPr eaLnBrk="1" latinLnBrk="0" hangingPunct="1">
              <a:lnSpc>
                <a:spcPct val="90000"/>
              </a:lnSpc>
              <a:spcBef>
                <a:spcPts val="40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BEFORE INSERT</a:t>
            </a:r>
          </a:p>
          <a:p>
            <a:pPr eaLnBrk="1" latinLnBrk="0" hangingPunct="1">
              <a:lnSpc>
                <a:spcPct val="90000"/>
              </a:lnSpc>
              <a:spcBef>
                <a:spcPts val="40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ON out_stock FOR EACH ROW</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BEGIN</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declare s_date datetime;</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declare e_date datetime; </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DECLARE msg varchar(50);  </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select start_date,end_date into s_date,e_date</a:t>
            </a:r>
          </a:p>
          <a:p>
            <a:pPr eaLnBrk="1" latinLnBrk="0" hangingPunct="1">
              <a:lnSpc>
                <a:spcPct val="90000"/>
              </a:lnSpc>
              <a:spcBef>
                <a:spcPts val="40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from salvaging</a:t>
            </a:r>
          </a:p>
          <a:p>
            <a:pPr eaLnBrk="1" latinLnBrk="0" hangingPunct="1">
              <a:lnSpc>
                <a:spcPct val="90000"/>
              </a:lnSpc>
              <a:spcBef>
                <a:spcPts val="400"/>
              </a:spcBef>
              <a:buNone/>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where prj_num=NEW.prj_num;</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if(</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NEW.get_date&lt;s_date</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)or(</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NEW.get_date&gt;e_date</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then</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set msg=CONCAT(NEW.prj_num,'项目领取的',NEW.mat_num,'物资领料日期有误！');</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signal sqlstate 'HY000' set message_text=msg;</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end if;</a:t>
            </a:r>
          </a:p>
          <a:p>
            <a:pPr eaLnBrk="1" latinLnBrk="0" hangingPunct="1">
              <a:lnSpc>
                <a:spcPct val="90000"/>
              </a:lnSpc>
              <a:spcBef>
                <a:spcPts val="400"/>
              </a:spcBef>
              <a:buNone/>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END</a:t>
            </a:r>
          </a:p>
        </p:txBody>
      </p:sp>
      <p:sp>
        <p:nvSpPr>
          <p:cNvPr id="2" name="矩形 1"/>
          <p:cNvSpPr/>
          <p:nvPr/>
        </p:nvSpPr>
        <p:spPr>
          <a:xfrm>
            <a:off x="5780405" y="902335"/>
            <a:ext cx="6138545" cy="706755"/>
          </a:xfrm>
          <a:prstGeom prst="rect">
            <a:avLst/>
          </a:prstGeom>
          <a:solidFill>
            <a:srgbClr val="FFFF00"/>
          </a:solidFill>
          <a:ln w="9525">
            <a:noFill/>
          </a:ln>
        </p:spPr>
        <p:txBody>
          <a:bodyPr wrap="square">
            <a:spAutoFit/>
          </a:bodyPr>
          <a:lstStyle/>
          <a:p>
            <a:pPr eaLnBrk="1" latinLnBrk="0" hangingPunct="1">
              <a:lnSpc>
                <a:spcPct val="100000"/>
              </a:lnSpc>
            </a:pPr>
            <a:r>
              <a:rPr lang="en-US" altLang="zh-CN" sz="2000" i="0" dirty="0">
                <a:solidFill>
                  <a:srgbClr val="7030A0"/>
                </a:solidFill>
                <a:latin typeface="微软雅黑" panose="020B0503020204020204" pitchFamily="34" charset="-122"/>
                <a:ea typeface="微软雅黑" panose="020B0503020204020204" pitchFamily="34" charset="-122"/>
              </a:rPr>
              <a:t>insert into out_stock</a:t>
            </a:r>
          </a:p>
          <a:p>
            <a:pPr eaLnBrk="1" latinLnBrk="0" hangingPunct="1">
              <a:lnSpc>
                <a:spcPct val="100000"/>
              </a:lnSpc>
            </a:pPr>
            <a:r>
              <a:rPr lang="en-US" altLang="zh-CN" sz="2000" i="0" dirty="0">
                <a:solidFill>
                  <a:srgbClr val="7030A0"/>
                </a:solidFill>
                <a:latin typeface="微软雅黑" panose="020B0503020204020204" pitchFamily="34" charset="-122"/>
                <a:ea typeface="微软雅黑" panose="020B0503020204020204" pitchFamily="34" charset="-122"/>
              </a:rPr>
              <a:t>values('20110006','m005',10,'2019-6-8','工程1部');</a:t>
            </a:r>
          </a:p>
        </p:txBody>
      </p:sp>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3826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745" y="53975"/>
            <a:ext cx="4133215"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5.2 </a:t>
            </a:r>
            <a:r>
              <a:rPr lang="zh-CN" sz="2800" b="1" dirty="0">
                <a:solidFill>
                  <a:schemeClr val="bg1"/>
                </a:solidFill>
                <a:latin typeface="微软雅黑" panose="020B0503020204020204" pitchFamily="34" charset="-122"/>
                <a:ea typeface="微软雅黑" panose="020B0503020204020204" pitchFamily="34" charset="-122"/>
              </a:rPr>
              <a:t>数据库完整性</a:t>
            </a:r>
          </a:p>
        </p:txBody>
      </p:sp>
      <p:pic>
        <p:nvPicPr>
          <p:cNvPr id="3" name="图片 1"/>
          <p:cNvPicPr>
            <a:picLocks noChangeAspect="1"/>
          </p:cNvPicPr>
          <p:nvPr/>
        </p:nvPicPr>
        <p:blipFill>
          <a:blip r:embed="rId3"/>
          <a:stretch>
            <a:fillRect/>
          </a:stretch>
        </p:blipFill>
        <p:spPr>
          <a:xfrm>
            <a:off x="6251575" y="1952625"/>
            <a:ext cx="4644390" cy="636270"/>
          </a:xfrm>
          <a:prstGeom prst="rect">
            <a:avLst/>
          </a:prstGeom>
          <a:noFill/>
          <a:ln w="9525">
            <a:noFill/>
          </a:ln>
        </p:spPr>
      </p:pic>
    </p:spTree>
    <p:extLst>
      <p:ext uri="{BB962C8B-B14F-4D97-AF65-F5344CB8AC3E}">
        <p14:creationId xmlns:p14="http://schemas.microsoft.com/office/powerpoint/2010/main" val="381913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93065" y="746125"/>
            <a:ext cx="10984865" cy="18903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sz="2000" dirty="0">
                <a:solidFill>
                  <a:schemeClr val="tx1"/>
                </a:solidFill>
                <a:latin typeface="微软雅黑" panose="020B0503020204020204" pitchFamily="34" charset="-122"/>
                <a:ea typeface="微软雅黑" panose="020B0503020204020204" pitchFamily="34" charset="-122"/>
              </a:rPr>
              <a:t>触发器的基本概念</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创建触发器</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修改和删除触发器</a:t>
            </a: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4162</Words>
  <Application>Microsoft Macintosh PowerPoint</Application>
  <PresentationFormat>宽屏</PresentationFormat>
  <Paragraphs>480</Paragraphs>
  <Slides>37</Slides>
  <Notes>37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宋体</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1437</cp:revision>
  <dcterms:created xsi:type="dcterms:W3CDTF">2014-07-02T10:42:00Z</dcterms:created>
  <dcterms:modified xsi:type="dcterms:W3CDTF">2025-09-26T01:04:08Z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2052-11.1.0.10700</vt:lpwstr>
  </property>
  <property fmtid="{D5CDD505-2E9C-101B-9397-08002B2CF9AE}" pid="4" name="ICV">
    <vt:lpwstr>DEBD6426F6A24413AD835B35AD588AC5</vt:lpwstr>
  </property>
</Properties>
</file>