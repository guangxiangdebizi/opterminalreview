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4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5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86" r:id="rId2"/>
    <p:sldId id="454" r:id="rId3"/>
    <p:sldId id="483" r:id="rId4"/>
    <p:sldId id="455" r:id="rId5"/>
    <p:sldId id="458" r:id="rId6"/>
    <p:sldId id="522" r:id="rId7"/>
    <p:sldId id="523" r:id="rId8"/>
    <p:sldId id="524" r:id="rId9"/>
    <p:sldId id="459" r:id="rId10"/>
    <p:sldId id="503" r:id="rId11"/>
    <p:sldId id="504" r:id="rId12"/>
    <p:sldId id="557" r:id="rId13"/>
    <p:sldId id="558" r:id="rId14"/>
    <p:sldId id="556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44" r:id="rId30"/>
    <p:sldId id="545" r:id="rId31"/>
    <p:sldId id="546" r:id="rId32"/>
    <p:sldId id="559" r:id="rId33"/>
    <p:sldId id="547" r:id="rId34"/>
    <p:sldId id="548" r:id="rId35"/>
    <p:sldId id="565" r:id="rId36"/>
    <p:sldId id="566" r:id="rId37"/>
    <p:sldId id="567" r:id="rId38"/>
    <p:sldId id="568" r:id="rId39"/>
    <p:sldId id="549" r:id="rId40"/>
    <p:sldId id="550" r:id="rId41"/>
    <p:sldId id="551" r:id="rId42"/>
    <p:sldId id="561" r:id="rId43"/>
    <p:sldId id="562" r:id="rId44"/>
    <p:sldId id="569" r:id="rId45"/>
    <p:sldId id="570" r:id="rId46"/>
    <p:sldId id="571" r:id="rId47"/>
    <p:sldId id="456" r:id="rId48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orient="horz" pos="2877">
          <p15:clr>
            <a:srgbClr val="A4A3A4"/>
          </p15:clr>
        </p15:guide>
        <p15:guide id="3" orient="horz" pos="1349">
          <p15:clr>
            <a:srgbClr val="A4A3A4"/>
          </p15:clr>
        </p15:guide>
        <p15:guide id="4" pos="3840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95">
          <p15:clr>
            <a:srgbClr val="A4A3A4"/>
          </p15:clr>
        </p15:guide>
        <p15:guide id="2" orient="horz" pos="2917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0000"/>
    <a:srgbClr val="009AD0"/>
    <a:srgbClr val="009900"/>
    <a:srgbClr val="1569F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66901" autoAdjust="0"/>
  </p:normalViewPr>
  <p:slideViewPr>
    <p:cSldViewPr snapToGrid="0">
      <p:cViewPr varScale="1">
        <p:scale>
          <a:sx n="80" d="100"/>
          <a:sy n="80" d="100"/>
        </p:scale>
        <p:origin x="1856" y="184"/>
      </p:cViewPr>
      <p:guideLst>
        <p:guide orient="horz" pos="2152"/>
        <p:guide orient="horz" pos="2877"/>
        <p:guide orient="horz" pos="1349"/>
        <p:guide pos="3840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095"/>
        <p:guide orient="horz" pos="2917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2025/10/21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539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316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indent="0" eaLnBrk="1" latinLnBrk="0" hangingPunct="1">
              <a:lnSpc>
                <a:spcPct val="125000"/>
              </a:lnSpc>
              <a:buNone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lvl="1" indent="-190500" defTabSz="914400" eaLnBrk="1" latinLnBrk="0" hangingPunct="1">
              <a:lnSpc>
                <a:spcPct val="125000"/>
              </a:lnSpc>
              <a:spcBef>
                <a:spcPts val="0"/>
              </a:spcBef>
              <a:tabLst>
                <a:tab pos="1047750" algn="l"/>
              </a:tabLst>
            </a:pPr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46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3.1 SQL</a:t>
            </a:r>
            <a:r>
              <a:rPr lang="zh-CN" altLang="en-US" sz="3200" b="1" dirty="0">
                <a:solidFill>
                  <a:schemeClr val="tx1"/>
                </a:solidFill>
              </a:rPr>
              <a:t>概述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chemeClr val="tx1"/>
                </a:solidFill>
              </a:rPr>
              <a:t>3.2 </a:t>
            </a:r>
            <a:r>
              <a:rPr lang="zh-CN" altLang="en-US" sz="3200" b="1" dirty="0">
                <a:solidFill>
                  <a:schemeClr val="tx1"/>
                </a:solidFill>
              </a:rPr>
              <a:t>数据定义语句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3.3 </a:t>
            </a:r>
            <a:r>
              <a:rPr lang="zh-CN" altLang="en-US" sz="3200" b="1" dirty="0">
                <a:solidFill>
                  <a:srgbClr val="FF0000"/>
                </a:solidFill>
              </a:rPr>
              <a:t>查询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 </a:t>
            </a:r>
            <a:r>
              <a:rPr lang="en-US" altLang="zh-CN" sz="3200" b="1" dirty="0">
                <a:sym typeface="+mn-ea"/>
              </a:rPr>
              <a:t>3.4 </a:t>
            </a:r>
            <a:r>
              <a:rPr lang="zh-CN" altLang="en-US" sz="3200" b="1" dirty="0"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7650" name="Rectangle 3"/>
          <p:cNvSpPr/>
          <p:nvPr/>
        </p:nvSpPr>
        <p:spPr>
          <a:xfrm>
            <a:off x="447675" y="1050290"/>
            <a:ext cx="10620375" cy="1295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查询是对现有的基本表和视图进行数据查询，并不改变数据本身，是数据库的核心操作。</a:t>
            </a:r>
          </a:p>
        </p:txBody>
      </p:sp>
      <p:sp>
        <p:nvSpPr>
          <p:cNvPr id="148484" name="Rectangle 4"/>
          <p:cNvSpPr>
            <a:spLocks noGrp="1"/>
          </p:cNvSpPr>
          <p:nvPr/>
        </p:nvSpPr>
        <p:spPr>
          <a:xfrm>
            <a:off x="619125" y="2205355"/>
            <a:ext cx="10448925" cy="3276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一般格式：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SELECT [ALL|DISTINCT]&lt;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目标列表表达式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表名或视图名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[WHERE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[GROUP BY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1&gt;[HAVING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&gt;]]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[ORDER BY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2&gt;[ASC|DESC]];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3574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28674" name="Rectangle 3"/>
          <p:cNvSpPr>
            <a:spLocks noGrp="1"/>
          </p:cNvSpPr>
          <p:nvPr/>
        </p:nvSpPr>
        <p:spPr>
          <a:xfrm>
            <a:off x="477520" y="1047115"/>
            <a:ext cx="10227310" cy="6858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执行过程：</a:t>
            </a:r>
          </a:p>
        </p:txBody>
      </p:sp>
      <p:sp>
        <p:nvSpPr>
          <p:cNvPr id="149511" name="Rectangle 7"/>
          <p:cNvSpPr/>
          <p:nvPr/>
        </p:nvSpPr>
        <p:spPr>
          <a:xfrm>
            <a:off x="789305" y="1522095"/>
            <a:ext cx="10613390" cy="533590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子句中基本表、视图的数据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执行笛卡儿积操作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选取满足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WHERE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子句中给出的条件表达式的元组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(3)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GROUP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子句中指定列的值分组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同时提取满足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HAVING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子句中组条件表达式的那些组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(4)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子句中给出的列名或列表达式求值输出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(5) ORDER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子句对输出的目标表进行排序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可选择升序或降序。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745" y="65405"/>
            <a:ext cx="360997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150531" name="Rectangle 3"/>
          <p:cNvSpPr>
            <a:spLocks noGrp="1"/>
          </p:cNvSpPr>
          <p:nvPr/>
        </p:nvSpPr>
        <p:spPr>
          <a:xfrm>
            <a:off x="304800" y="1676400"/>
            <a:ext cx="11118215" cy="3200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语句的含义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子句中的各关系，作笛卡儿积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(×);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子句中的逻辑表达式进行选择（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σ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）运算，找出符合条件的元组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子句中的属性列表，对上述结果作投影（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π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）操作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</a:p>
        </p:txBody>
      </p:sp>
      <p:sp>
        <p:nvSpPr>
          <p:cNvPr id="150532" name="Rectangle 4"/>
          <p:cNvSpPr/>
          <p:nvPr/>
        </p:nvSpPr>
        <p:spPr>
          <a:xfrm>
            <a:off x="606425" y="4067175"/>
            <a:ext cx="11043285" cy="175323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FFFF66"/>
              </a:buClr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结果集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Char char="–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查询操作的对象是关系，结果还是一个关系，是一个结果集，而且是一个动态数据集。</a:t>
            </a:r>
          </a:p>
        </p:txBody>
      </p:sp>
      <p:sp>
        <p:nvSpPr>
          <p:cNvPr id="29700" name="Rectangle 5"/>
          <p:cNvSpPr/>
          <p:nvPr/>
        </p:nvSpPr>
        <p:spPr>
          <a:xfrm>
            <a:off x="1069975" y="895350"/>
            <a:ext cx="11002010" cy="64516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  <a:r>
              <a:rPr lang="zh-CN" altLang="en-US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∏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… , 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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))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uiExpand="1" build="p"/>
      <p:bldP spid="1505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150531" name="Rectangle 3"/>
          <p:cNvSpPr>
            <a:spLocks noGrp="1"/>
          </p:cNvSpPr>
          <p:nvPr/>
        </p:nvSpPr>
        <p:spPr>
          <a:xfrm>
            <a:off x="304800" y="1676400"/>
            <a:ext cx="11118215" cy="3200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语句的含义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子句中的各关系，作笛卡儿积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(×);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子句中的逻辑表达式进行选择（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σ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）运算，找出符合条件的元组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子句中的属性列表，对上述结果作投影（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π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）操作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</a:p>
        </p:txBody>
      </p:sp>
      <p:sp>
        <p:nvSpPr>
          <p:cNvPr id="150532" name="Rectangle 4"/>
          <p:cNvSpPr/>
          <p:nvPr/>
        </p:nvSpPr>
        <p:spPr>
          <a:xfrm>
            <a:off x="606425" y="4067175"/>
            <a:ext cx="11043285" cy="175323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FFFF66"/>
              </a:buClr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结果集</a:t>
            </a:r>
          </a:p>
          <a:p>
            <a:pPr lvl="1" indent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Char char="–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查询操作的对象是关系，结果还是一个关系，是一个结果集，而且是一个动态数据集。</a:t>
            </a:r>
          </a:p>
        </p:txBody>
      </p:sp>
      <p:sp>
        <p:nvSpPr>
          <p:cNvPr id="29700" name="Rectangle 5"/>
          <p:cNvSpPr/>
          <p:nvPr/>
        </p:nvSpPr>
        <p:spPr>
          <a:xfrm>
            <a:off x="1069975" y="895350"/>
            <a:ext cx="11002010" cy="64516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indent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  <a:r>
              <a:rPr lang="zh-CN" altLang="en-US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∏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… , a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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 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2400" i="1" baseline="-160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altLang="zh-CN" sz="2400" i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))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  <p:bldP spid="1505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36865" name="Rectangle 2"/>
          <p:cNvSpPr/>
          <p:nvPr/>
        </p:nvSpPr>
        <p:spPr>
          <a:xfrm>
            <a:off x="468630" y="908050"/>
            <a:ext cx="11139805" cy="54991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我们以电力抢修工程数据库为例说明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语句的各种用法。</a:t>
            </a:r>
          </a:p>
        </p:txBody>
      </p:sp>
      <p:sp>
        <p:nvSpPr>
          <p:cNvPr id="36867" name="Text Box 4"/>
          <p:cNvSpPr txBox="1"/>
          <p:nvPr/>
        </p:nvSpPr>
        <p:spPr>
          <a:xfrm>
            <a:off x="1188085" y="5379085"/>
            <a:ext cx="17678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(a) 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</a:p>
        </p:txBody>
      </p:sp>
      <p:sp>
        <p:nvSpPr>
          <p:cNvPr id="37890" name="Text Box 3"/>
          <p:cNvSpPr txBox="1"/>
          <p:nvPr/>
        </p:nvSpPr>
        <p:spPr>
          <a:xfrm>
            <a:off x="7633653" y="5381943"/>
            <a:ext cx="27368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(b) 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</a:p>
        </p:txBody>
      </p:sp>
      <p:pic>
        <p:nvPicPr>
          <p:cNvPr id="2" name="图片 -2147482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" y="1876425"/>
            <a:ext cx="5675630" cy="3268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130" y="1876425"/>
            <a:ext cx="6272530" cy="3268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38914" name="Text Box 3"/>
          <p:cNvSpPr txBox="1"/>
          <p:nvPr/>
        </p:nvSpPr>
        <p:spPr>
          <a:xfrm>
            <a:off x="4187508" y="5465445"/>
            <a:ext cx="35274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(c) out_stock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</a:p>
        </p:txBody>
      </p:sp>
      <p:pic>
        <p:nvPicPr>
          <p:cNvPr id="2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1495" y="1139190"/>
            <a:ext cx="8147685" cy="4326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54627" name="Rectangle 3"/>
          <p:cNvSpPr/>
          <p:nvPr/>
        </p:nvSpPr>
        <p:spPr>
          <a:xfrm>
            <a:off x="412750" y="2359660"/>
            <a:ext cx="11159490" cy="19431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3.12】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查询所有配电物资的物资编号、物资名称、规格。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 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 </a:t>
            </a:r>
          </a:p>
        </p:txBody>
      </p:sp>
      <p:sp>
        <p:nvSpPr>
          <p:cNvPr id="30723" name="Rectangle 4"/>
          <p:cNvSpPr/>
          <p:nvPr/>
        </p:nvSpPr>
        <p:spPr>
          <a:xfrm>
            <a:off x="323850" y="862330"/>
            <a:ext cx="882015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0" indent="0">
              <a:spcBef>
                <a:spcPct val="20000"/>
              </a:spcBef>
              <a:buClr>
                <a:srgbClr val="FFFF66"/>
              </a:buClr>
              <a:buNone/>
            </a:pPr>
            <a:r>
              <a:rPr lang="en-US" altLang="zh-CN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选择表中若干列</a:t>
            </a:r>
          </a:p>
          <a:p>
            <a:pPr marL="609600" indent="-609600">
              <a:spcBef>
                <a:spcPct val="20000"/>
              </a:spcBef>
              <a:buClr>
                <a:srgbClr val="FFFF66"/>
              </a:buClr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选择表中的全部列或部分列，即关系代数的投影运算。</a:t>
            </a:r>
          </a:p>
        </p:txBody>
      </p:sp>
      <p:sp>
        <p:nvSpPr>
          <p:cNvPr id="154629" name="Rectangle 5"/>
          <p:cNvSpPr/>
          <p:nvPr/>
        </p:nvSpPr>
        <p:spPr>
          <a:xfrm>
            <a:off x="250825" y="1825943"/>
            <a:ext cx="83820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查询指定的列</a:t>
            </a:r>
          </a:p>
        </p:txBody>
      </p:sp>
      <p:sp>
        <p:nvSpPr>
          <p:cNvPr id="154630" name="Rectangle 6"/>
          <p:cNvSpPr/>
          <p:nvPr/>
        </p:nvSpPr>
        <p:spPr>
          <a:xfrm>
            <a:off x="412750" y="3878580"/>
            <a:ext cx="1171511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3.13】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查询所有配电物资的物资名称、物资编号、规格和所在仓库名称。</a:t>
            </a:r>
          </a:p>
          <a:p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</a:p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Stock;</a:t>
            </a:r>
          </a:p>
        </p:txBody>
      </p:sp>
      <p:sp>
        <p:nvSpPr>
          <p:cNvPr id="154631" name="Rectangle 7"/>
          <p:cNvSpPr/>
          <p:nvPr/>
        </p:nvSpPr>
        <p:spPr>
          <a:xfrm>
            <a:off x="412750" y="5419090"/>
            <a:ext cx="736854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目标列表达式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中各个列的先后顺序可以与表中的顺序不一致，用户可以根据应用的需要改变列的显示顺序。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06912" y="2754922"/>
            <a:ext cx="451485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mat_num, mat_name, speci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Stock;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94510" y="4247515"/>
            <a:ext cx="58788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mat_name, mat_num, speci, warehouse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965" y="1205230"/>
            <a:ext cx="3595195" cy="267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483" y="4306082"/>
            <a:ext cx="4314825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2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4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4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charRg st="6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4630">
                                            <p:txEl>
                                              <p:charRg st="6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/>
      <p:bldP spid="154631" grpId="0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55650" name="Rectangle 2"/>
          <p:cNvSpPr/>
          <p:nvPr/>
        </p:nvSpPr>
        <p:spPr>
          <a:xfrm>
            <a:off x="636270" y="1733550"/>
            <a:ext cx="10598150" cy="339026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3.14】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查询所有配电物资的记录。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*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hangingPunct="1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mat_num, mat_name, speci, warehouse, amount, unit, total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</a:t>
            </a:r>
          </a:p>
        </p:txBody>
      </p:sp>
      <p:sp>
        <p:nvSpPr>
          <p:cNvPr id="31747" name="Rectangle 4"/>
          <p:cNvSpPr/>
          <p:nvPr/>
        </p:nvSpPr>
        <p:spPr>
          <a:xfrm>
            <a:off x="971550" y="981075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查询全部列</a:t>
            </a:r>
          </a:p>
        </p:txBody>
      </p:sp>
      <p:sp>
        <p:nvSpPr>
          <p:cNvPr id="155653" name="Text Box 5"/>
          <p:cNvSpPr txBox="1"/>
          <p:nvPr/>
        </p:nvSpPr>
        <p:spPr>
          <a:xfrm>
            <a:off x="395288" y="5516563"/>
            <a:ext cx="8229600" cy="39878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：用*，则列的显示顺序与基本表一致。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56674" name="Rectangle 2"/>
          <p:cNvSpPr/>
          <p:nvPr/>
        </p:nvSpPr>
        <p:spPr>
          <a:xfrm>
            <a:off x="395605" y="1494790"/>
            <a:ext cx="11139805" cy="38862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3.15】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查询所有抢修工程的抢修天数。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prj_name, start_date, end_date,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end_date,start_date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Salvaging;</a:t>
            </a:r>
          </a:p>
          <a:p>
            <a:pPr eaLnBrk="1" hangingPunct="1"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771" name="Rectangle 4"/>
          <p:cNvSpPr/>
          <p:nvPr/>
        </p:nvSpPr>
        <p:spPr>
          <a:xfrm>
            <a:off x="468630" y="96139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3)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查询经过计算的值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3" y="3437890"/>
            <a:ext cx="10160207" cy="2197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43009" name="Rectangle 2"/>
          <p:cNvSpPr/>
          <p:nvPr/>
        </p:nvSpPr>
        <p:spPr>
          <a:xfrm>
            <a:off x="539750" y="981075"/>
            <a:ext cx="10848975" cy="11430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MySQL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提供时间函数，可以对日期和时间输入值执行操作，并返回一个字符串、数字或日期和时间值，如下表所示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  <p:graphicFrame>
        <p:nvGraphicFramePr>
          <p:cNvPr id="157725" name="Group 2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5749494"/>
              </p:ext>
            </p:extLst>
          </p:nvPr>
        </p:nvGraphicFramePr>
        <p:xfrm>
          <a:off x="680720" y="2006112"/>
          <a:ext cx="10708005" cy="4895850"/>
        </p:xfrm>
        <a:graphic>
          <a:graphicData uri="http://schemas.openxmlformats.org/drawingml/2006/table">
            <a:tbl>
              <a:tblPr/>
              <a:tblGrid>
                <a:gridCol w="459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函</a:t>
                      </a:r>
                      <a:r>
                        <a:rPr lang="en-US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</a:t>
                      </a:r>
                      <a:r>
                        <a:rPr lang="en-US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sz="24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17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now()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返回系统当前的日期和时间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77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year(d)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返回日期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中的年份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007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month(d)</a:t>
                      </a:r>
                      <a:endParaRPr lang="zh-CN" sz="2400" kern="120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返回日期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中的月份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254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dayofmonth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(d)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计算日期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是本月的第几天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916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datediff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(d1,d2)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d1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和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d2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之间相隔的天数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423">
                <a:tc>
                  <a:txBody>
                    <a:bodyPr/>
                    <a:lstStyle/>
                    <a:p>
                      <a:pPr indent="17145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adddate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d,n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8260" algn="l" rtl="0" eaLnBrk="1" fontAlgn="base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返回起始日期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加上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天的日期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331">
                <a:tc>
                  <a:txBody>
                    <a:bodyPr/>
                    <a:lstStyle/>
                    <a:p>
                      <a:pPr marL="0" indent="4826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subdate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d,n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zh-CN" sz="2400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4826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返回起始日期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d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减去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sz="2400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微软雅黑" panose="020B0503020204020204" pitchFamily="34" charset="-122"/>
                        </a:rPr>
                        <a:t>天的日期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58722" name="Rectangle 2"/>
          <p:cNvSpPr/>
          <p:nvPr/>
        </p:nvSpPr>
        <p:spPr>
          <a:xfrm>
            <a:off x="245745" y="1874520"/>
            <a:ext cx="11276965" cy="36004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3.16】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查询所有抢修工程的抢修天数，并在实际抢修天数列前加入一个列，此列的每行数据均为‘抢修天数’常量值。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prj_name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项目名称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start_date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开始日期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end_date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结束日期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,'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抢修天数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end_date,start_date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抢修天数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Salvaging;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</a:p>
        </p:txBody>
      </p:sp>
      <p:sp>
        <p:nvSpPr>
          <p:cNvPr id="156677" name="Text Box 5"/>
          <p:cNvSpPr txBox="1"/>
          <p:nvPr/>
        </p:nvSpPr>
        <p:spPr>
          <a:xfrm>
            <a:off x="330200" y="876935"/>
            <a:ext cx="11108690" cy="82994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&lt;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目标表达式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&gt;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不仅可以是属性列，也可以是算术表达式，还可以是字符串常量、函数等。 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185" y="4570095"/>
            <a:ext cx="8814483" cy="2138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367618" name="Rectangle 2"/>
          <p:cNvSpPr/>
          <p:nvPr/>
        </p:nvSpPr>
        <p:spPr>
          <a:xfrm>
            <a:off x="245745" y="814705"/>
            <a:ext cx="11040110" cy="33845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用户可以通过指定别名来改变查询结果的列标题，语法格式为：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[AS]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列标题    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或：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列标题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prj_name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项目名称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start_date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开始日期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end_date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结束日期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end_date,start_date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抢修天数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58" y="3792050"/>
            <a:ext cx="9003474" cy="252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67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67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67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59747" name="Rectangle 3"/>
          <p:cNvSpPr/>
          <p:nvPr/>
        </p:nvSpPr>
        <p:spPr>
          <a:xfrm>
            <a:off x="323215" y="2142490"/>
            <a:ext cx="8229600" cy="28257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3.17】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在配电物资库存记录表中查询出所有的仓库名称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并去掉结果表中的重复行。</a:t>
            </a:r>
            <a:endParaRPr lang="en-US" altLang="zh-CN" sz="2400" b="1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warehouse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Stock;</a:t>
            </a:r>
          </a:p>
        </p:txBody>
      </p:sp>
      <p:sp>
        <p:nvSpPr>
          <p:cNvPr id="36867" name="Rectangle 5"/>
          <p:cNvSpPr/>
          <p:nvPr/>
        </p:nvSpPr>
        <p:spPr>
          <a:xfrm>
            <a:off x="394653" y="876300"/>
            <a:ext cx="838200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选择表中若干元组</a:t>
            </a:r>
          </a:p>
        </p:txBody>
      </p:sp>
      <p:sp>
        <p:nvSpPr>
          <p:cNvPr id="36868" name="Rectangle 7"/>
          <p:cNvSpPr/>
          <p:nvPr/>
        </p:nvSpPr>
        <p:spPr>
          <a:xfrm>
            <a:off x="394653" y="1483043"/>
            <a:ext cx="83820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）消除取值重复的行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3923983" y="3186748"/>
            <a:ext cx="4267200" cy="460375"/>
            <a:chOff x="2016" y="1968"/>
            <a:chExt cx="2688" cy="290"/>
          </a:xfrm>
        </p:grpSpPr>
        <p:sp>
          <p:nvSpPr>
            <p:cNvPr id="36870" name="Line 9"/>
            <p:cNvSpPr/>
            <p:nvPr/>
          </p:nvSpPr>
          <p:spPr>
            <a:xfrm>
              <a:off x="2016" y="2112"/>
              <a:ext cx="384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1" name="Text Box 10"/>
            <p:cNvSpPr txBox="1"/>
            <p:nvPr/>
          </p:nvSpPr>
          <p:spPr>
            <a:xfrm>
              <a:off x="2544" y="1968"/>
              <a:ext cx="2160" cy="290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保留表中取值重复行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 </a:t>
              </a:r>
            </a:p>
          </p:txBody>
        </p:sp>
      </p:grpSp>
      <p:grpSp>
        <p:nvGrpSpPr>
          <p:cNvPr id="3" name="Group 11"/>
          <p:cNvGrpSpPr/>
          <p:nvPr/>
        </p:nvGrpSpPr>
        <p:grpSpPr>
          <a:xfrm>
            <a:off x="3962400" y="4743133"/>
            <a:ext cx="4267200" cy="460375"/>
            <a:chOff x="2064" y="3168"/>
            <a:chExt cx="2688" cy="290"/>
          </a:xfrm>
        </p:grpSpPr>
        <p:sp>
          <p:nvSpPr>
            <p:cNvPr id="36873" name="Line 12"/>
            <p:cNvSpPr/>
            <p:nvPr/>
          </p:nvSpPr>
          <p:spPr>
            <a:xfrm>
              <a:off x="2064" y="3312"/>
              <a:ext cx="384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4" name="Text Box 13"/>
            <p:cNvSpPr txBox="1"/>
            <p:nvPr/>
          </p:nvSpPr>
          <p:spPr>
            <a:xfrm>
              <a:off x="2592" y="3168"/>
              <a:ext cx="2160" cy="290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删除表中取值重复行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 </a:t>
              </a:r>
            </a:p>
          </p:txBody>
        </p:sp>
      </p:grpSp>
      <p:sp>
        <p:nvSpPr>
          <p:cNvPr id="159758" name="Rectangle 14"/>
          <p:cNvSpPr/>
          <p:nvPr/>
        </p:nvSpPr>
        <p:spPr>
          <a:xfrm>
            <a:off x="323850" y="4373880"/>
            <a:ext cx="54006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SELECT DISTINCT warehouse</a:t>
            </a:r>
          </a:p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FROM stock;</a:t>
            </a:r>
          </a:p>
        </p:txBody>
      </p:sp>
      <p:sp>
        <p:nvSpPr>
          <p:cNvPr id="155653" name="Text Box 5"/>
          <p:cNvSpPr txBox="1"/>
          <p:nvPr/>
        </p:nvSpPr>
        <p:spPr>
          <a:xfrm>
            <a:off x="470853" y="5462588"/>
            <a:ext cx="8229600" cy="70675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如果没有指定DISTINCT短语，则默认为ALL，即保留结果表中取值重复的行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。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644" y="892810"/>
            <a:ext cx="1690517" cy="3111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643" y="4434839"/>
            <a:ext cx="1997109" cy="149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8" grpId="0"/>
      <p:bldP spid="1556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47132" name="Rectangle 30"/>
          <p:cNvSpPr/>
          <p:nvPr/>
        </p:nvSpPr>
        <p:spPr>
          <a:xfrm>
            <a:off x="381000" y="1143000"/>
            <a:ext cx="10387965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查询满足条件的元组（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828800"/>
          <a:ext cx="9820910" cy="4143375"/>
        </p:xfrm>
        <a:graphic>
          <a:graphicData uri="http://schemas.openxmlformats.org/drawingml/2006/table">
            <a:tbl>
              <a:tblPr/>
              <a:tblGrid>
                <a:gridCol w="196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59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15"/>
          <p:cNvGrpSpPr/>
          <p:nvPr/>
        </p:nvGrpSpPr>
        <p:grpSpPr>
          <a:xfrm>
            <a:off x="838200" y="1981200"/>
            <a:ext cx="9726930" cy="3813175"/>
            <a:chOff x="576" y="1488"/>
            <a:chExt cx="4944" cy="2402"/>
          </a:xfrm>
        </p:grpSpPr>
        <p:sp>
          <p:nvSpPr>
            <p:cNvPr id="37902" name="Text Box 16"/>
            <p:cNvSpPr txBox="1"/>
            <p:nvPr/>
          </p:nvSpPr>
          <p:spPr>
            <a:xfrm>
              <a:off x="576" y="1488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查询条件</a:t>
              </a:r>
            </a:p>
          </p:txBody>
        </p:sp>
        <p:sp>
          <p:nvSpPr>
            <p:cNvPr id="37903" name="Text Box 17"/>
            <p:cNvSpPr txBox="1"/>
            <p:nvPr/>
          </p:nvSpPr>
          <p:spPr>
            <a:xfrm>
              <a:off x="576" y="2016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比较</a:t>
              </a:r>
            </a:p>
          </p:txBody>
        </p:sp>
        <p:sp>
          <p:nvSpPr>
            <p:cNvPr id="37904" name="Text Box 18"/>
            <p:cNvSpPr txBox="1"/>
            <p:nvPr/>
          </p:nvSpPr>
          <p:spPr>
            <a:xfrm>
              <a:off x="624" y="2352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确定范围</a:t>
              </a:r>
            </a:p>
          </p:txBody>
        </p:sp>
        <p:sp>
          <p:nvSpPr>
            <p:cNvPr id="37905" name="Text Box 19"/>
            <p:cNvSpPr txBox="1"/>
            <p:nvPr/>
          </p:nvSpPr>
          <p:spPr>
            <a:xfrm>
              <a:off x="624" y="2688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确定集合</a:t>
              </a:r>
            </a:p>
          </p:txBody>
        </p:sp>
        <p:sp>
          <p:nvSpPr>
            <p:cNvPr id="37906" name="Text Box 20"/>
            <p:cNvSpPr txBox="1"/>
            <p:nvPr/>
          </p:nvSpPr>
          <p:spPr>
            <a:xfrm>
              <a:off x="624" y="2976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字符匹配</a:t>
              </a:r>
            </a:p>
          </p:txBody>
        </p:sp>
        <p:sp>
          <p:nvSpPr>
            <p:cNvPr id="37907" name="Text Box 21"/>
            <p:cNvSpPr txBox="1"/>
            <p:nvPr/>
          </p:nvSpPr>
          <p:spPr>
            <a:xfrm>
              <a:off x="624" y="3312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空值</a:t>
              </a:r>
            </a:p>
          </p:txBody>
        </p:sp>
        <p:sp>
          <p:nvSpPr>
            <p:cNvPr id="37908" name="Text Box 22"/>
            <p:cNvSpPr txBox="1"/>
            <p:nvPr/>
          </p:nvSpPr>
          <p:spPr>
            <a:xfrm>
              <a:off x="624" y="3600"/>
              <a:ext cx="9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多重条件</a:t>
              </a:r>
            </a:p>
          </p:txBody>
        </p:sp>
        <p:sp>
          <p:nvSpPr>
            <p:cNvPr id="37909" name="Text Box 23"/>
            <p:cNvSpPr txBox="1"/>
            <p:nvPr/>
          </p:nvSpPr>
          <p:spPr>
            <a:xfrm>
              <a:off x="3264" y="1488"/>
              <a:ext cx="6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谓词</a:t>
              </a:r>
            </a:p>
          </p:txBody>
        </p:sp>
        <p:sp>
          <p:nvSpPr>
            <p:cNvPr id="37910" name="Text Box 24"/>
            <p:cNvSpPr txBox="1"/>
            <p:nvPr/>
          </p:nvSpPr>
          <p:spPr>
            <a:xfrm>
              <a:off x="1584" y="2016"/>
              <a:ext cx="39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=,&gt;,&lt;,&gt;=,&lt;=,!=,&lt;&gt;,!&gt;,!&lt;, NOT+</a:t>
              </a:r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上述比较运算</a:t>
              </a:r>
            </a:p>
          </p:txBody>
        </p:sp>
        <p:sp>
          <p:nvSpPr>
            <p:cNvPr id="37911" name="Text Box 25"/>
            <p:cNvSpPr txBox="1"/>
            <p:nvPr/>
          </p:nvSpPr>
          <p:spPr>
            <a:xfrm>
              <a:off x="1680" y="2352"/>
              <a:ext cx="384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BETWEEN AND, NOT BETWEEN AND</a:t>
              </a:r>
            </a:p>
          </p:txBody>
        </p:sp>
        <p:sp>
          <p:nvSpPr>
            <p:cNvPr id="37912" name="Text Box 26"/>
            <p:cNvSpPr txBox="1"/>
            <p:nvPr/>
          </p:nvSpPr>
          <p:spPr>
            <a:xfrm>
              <a:off x="1680" y="2688"/>
              <a:ext cx="384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IN, NOT IN</a:t>
              </a:r>
            </a:p>
          </p:txBody>
        </p:sp>
        <p:sp>
          <p:nvSpPr>
            <p:cNvPr id="37913" name="Text Box 27"/>
            <p:cNvSpPr txBox="1"/>
            <p:nvPr/>
          </p:nvSpPr>
          <p:spPr>
            <a:xfrm>
              <a:off x="1680" y="2976"/>
              <a:ext cx="384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LIKE, NOT LIKE</a:t>
              </a:r>
            </a:p>
          </p:txBody>
        </p:sp>
        <p:sp>
          <p:nvSpPr>
            <p:cNvPr id="37914" name="Text Box 28"/>
            <p:cNvSpPr txBox="1"/>
            <p:nvPr/>
          </p:nvSpPr>
          <p:spPr>
            <a:xfrm>
              <a:off x="1680" y="3264"/>
              <a:ext cx="379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 NULL, IS NOT NULL</a:t>
              </a:r>
            </a:p>
          </p:txBody>
        </p:sp>
        <p:sp>
          <p:nvSpPr>
            <p:cNvPr id="37915" name="Text Box 29"/>
            <p:cNvSpPr txBox="1"/>
            <p:nvPr/>
          </p:nvSpPr>
          <p:spPr>
            <a:xfrm>
              <a:off x="1632" y="3600"/>
              <a:ext cx="37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AND, OR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1794" name="Rectangle 2"/>
          <p:cNvSpPr/>
          <p:nvPr/>
        </p:nvSpPr>
        <p:spPr>
          <a:xfrm>
            <a:off x="380365" y="1677035"/>
            <a:ext cx="10848975" cy="38862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3.18】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仓库存放的所有物资编号、物资名称、规格以及数量。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mat_num, mat_name, speci,amount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</p:txBody>
      </p:sp>
      <p:sp>
        <p:nvSpPr>
          <p:cNvPr id="48131" name="Rectangle 4"/>
          <p:cNvSpPr/>
          <p:nvPr/>
        </p:nvSpPr>
        <p:spPr>
          <a:xfrm>
            <a:off x="380365" y="991235"/>
            <a:ext cx="10245725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）比较大小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227" y="3885101"/>
            <a:ext cx="5907065" cy="1381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2818" name="Rectangle 2"/>
          <p:cNvSpPr/>
          <p:nvPr/>
        </p:nvSpPr>
        <p:spPr>
          <a:xfrm>
            <a:off x="374650" y="1040130"/>
            <a:ext cx="11014710" cy="51847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3.19】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查询所有单价小于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的物资名称、数量及其单价。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SELECT mat_name, amount,unit      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                 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 &lt;80;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</a:t>
            </a:r>
          </a:p>
          <a:p>
            <a:pPr eaLnBrk="1" hangingPunct="1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或：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amount,unit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NOT unit &gt;=80;</a:t>
            </a:r>
          </a:p>
          <a:p>
            <a:pPr eaLnBrk="1" hangingPunct="1"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96" y="1922219"/>
            <a:ext cx="4106833" cy="2210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3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8">
                                            <p:txEl>
                                              <p:charRg st="31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2818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9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2818">
                                            <p:txEl>
                                              <p:charRg st="9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143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2818">
                                            <p:txEl>
                                              <p:charRg st="143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173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2818">
                                            <p:txEl>
                                              <p:charRg st="173" end="1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185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2818">
                                            <p:txEl>
                                              <p:charRg st="185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3843" name="Rectangle 3"/>
          <p:cNvSpPr/>
          <p:nvPr/>
        </p:nvSpPr>
        <p:spPr>
          <a:xfrm>
            <a:off x="395605" y="1773555"/>
            <a:ext cx="10438765" cy="452564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3.20】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查询单价在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50~100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之间的物资名称、数量及其单价。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amount, unit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 BETWEEN 50 AND 100;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amount, unit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 &gt;=50 AND unit &lt;=100; </a:t>
            </a:r>
          </a:p>
        </p:txBody>
      </p:sp>
      <p:sp>
        <p:nvSpPr>
          <p:cNvPr id="50179" name="Rectangle 5"/>
          <p:cNvSpPr/>
          <p:nvPr/>
        </p:nvSpPr>
        <p:spPr>
          <a:xfrm>
            <a:off x="395605" y="981075"/>
            <a:ext cx="11889105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）确定范围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(between… and…, not between… and…)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376" y="2543175"/>
            <a:ext cx="4976215" cy="211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4866" name="Rectangle 2"/>
          <p:cNvSpPr/>
          <p:nvPr/>
        </p:nvSpPr>
        <p:spPr>
          <a:xfrm>
            <a:off x="323850" y="1026795"/>
            <a:ext cx="11085830" cy="38862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3.21】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查询单价不在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50~100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之间的物资名称、数量及其单价。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amount, unit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 NOT BETWEEN 50 AND 100;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amount, unit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unit&lt;50 OR unit &gt;100;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4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4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4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4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5891" name="Rectangle 3"/>
          <p:cNvSpPr/>
          <p:nvPr/>
        </p:nvSpPr>
        <p:spPr>
          <a:xfrm>
            <a:off x="245745" y="1536065"/>
            <a:ext cx="11619865" cy="496697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3.22】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仓库和供电局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仓库的物资名称、规格及其数量。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warehouse IN('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warehouse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OR warehouse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</p:txBody>
      </p:sp>
      <p:sp>
        <p:nvSpPr>
          <p:cNvPr id="52227" name="Rectangle 6"/>
          <p:cNvSpPr/>
          <p:nvPr/>
        </p:nvSpPr>
        <p:spPr>
          <a:xfrm>
            <a:off x="375920" y="969010"/>
            <a:ext cx="10155555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）确定集合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(in, not in)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41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charRg st="41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72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5891">
                                            <p:txEl>
                                              <p:charRg st="72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8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891">
                                            <p:txEl>
                                              <p:charRg st="83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130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5891">
                                            <p:txEl>
                                              <p:charRg st="130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161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5891">
                                            <p:txEl>
                                              <p:charRg st="161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172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5891">
                                            <p:txEl>
                                              <p:charRg st="172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203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5891">
                                            <p:txEl>
                                              <p:charRg st="203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6914" name="Rectangle 2"/>
          <p:cNvSpPr/>
          <p:nvPr/>
        </p:nvSpPr>
        <p:spPr>
          <a:xfrm>
            <a:off x="323850" y="1125855"/>
            <a:ext cx="10868025" cy="502856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3.23】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查询既没有存放在供电局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仓库，也没有存放在供电局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仓库的物资名称、规格及其数量。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warehouse NOT IN ('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warehouse !='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AND warehouse !='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4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6914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92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6914">
                                            <p:txEl>
                                              <p:charRg st="92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144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6914">
                                            <p:txEl>
                                              <p:charRg st="144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175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6914">
                                            <p:txEl>
                                              <p:charRg st="175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186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6914">
                                            <p:txEl>
                                              <p:charRg st="186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6914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54274" name="Rectangle 3"/>
          <p:cNvSpPr>
            <a:spLocks noGrp="1"/>
          </p:cNvSpPr>
          <p:nvPr/>
        </p:nvSpPr>
        <p:spPr>
          <a:xfrm>
            <a:off x="381000" y="990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）字符匹配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(like,not like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，模糊查询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232452" name="Rectangle 4"/>
          <p:cNvSpPr/>
          <p:nvPr/>
        </p:nvSpPr>
        <p:spPr>
          <a:xfrm>
            <a:off x="381000" y="1447800"/>
            <a:ext cx="8534400" cy="101473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FFFF66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找出满足给定匹配条件的字符串，其格式为：</a:t>
            </a:r>
          </a:p>
          <a:p>
            <a:pPr>
              <a:spcBef>
                <a:spcPct val="50000"/>
              </a:spcBef>
              <a:buClr>
                <a:srgbClr val="FFFF66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[NOT] LIKE  ‘&lt;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匹配串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&gt;’[ESCAPE ‘&lt;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换码字符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&gt;’]</a:t>
            </a:r>
          </a:p>
        </p:txBody>
      </p:sp>
      <p:sp>
        <p:nvSpPr>
          <p:cNvPr id="232453" name="Rectangle 5"/>
          <p:cNvSpPr/>
          <p:nvPr/>
        </p:nvSpPr>
        <p:spPr>
          <a:xfrm>
            <a:off x="381000" y="2545715"/>
            <a:ext cx="11054715" cy="359981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FFFF66"/>
              </a:buClr>
              <a:buSzPct val="105000"/>
              <a:buFont typeface="Wingdings" panose="05000000000000000000" pitchFamily="2" charset="2"/>
              <a:buChar char="§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匹配规则：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0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“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%”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：代表任意长度（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个或多个）字符串。例如a%b表示以a开头，以b结尾的任意长度的字符串。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0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“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_”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：代表任意单个字符。例如a_b表示以a开头，以b结尾的长度为3的任意字符串。</a:t>
            </a:r>
          </a:p>
          <a:p>
            <a:pPr>
              <a:spcBef>
                <a:spcPct val="50000"/>
              </a:spcBef>
              <a:buClr>
                <a:srgbClr val="FFFF66"/>
              </a:buClr>
              <a:buSzPct val="10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escape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：定义换码字符，以去掉特殊字符的特定含义，使其被作为普通字符看待。如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escape ‘\’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，定义了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作为换码字符，则可用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\%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去匹配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＿去匹配＿，用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 \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去匹配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/>
      <p:bldP spid="2324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8962" name="Rectangle 2"/>
          <p:cNvSpPr/>
          <p:nvPr/>
        </p:nvSpPr>
        <p:spPr>
          <a:xfrm>
            <a:off x="323850" y="811530"/>
            <a:ext cx="11204575" cy="49688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3.24】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仓库的物资的详细情况。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SELECT *             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warehouse LIKE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等价于：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warehouse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</p:txBody>
      </p:sp>
      <p:sp>
        <p:nvSpPr>
          <p:cNvPr id="155653" name="Text Box 5"/>
          <p:cNvSpPr txBox="1"/>
          <p:nvPr/>
        </p:nvSpPr>
        <p:spPr>
          <a:xfrm>
            <a:off x="422275" y="5281295"/>
            <a:ext cx="11008360" cy="70675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如果LIKE后面的匹配串中不含通配符，则可以用“=”（等于）运算符取代LIKE谓词，用“!=”或“&lt;&gt;”（不等于）运算符取代NOT LIKE 谓词。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8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8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8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69986" name="Rectangle 2"/>
          <p:cNvSpPr/>
          <p:nvPr/>
        </p:nvSpPr>
        <p:spPr>
          <a:xfrm>
            <a:off x="395605" y="981075"/>
            <a:ext cx="11107420" cy="56165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3.25】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查询所有绝缘电线的物资编号、名称和规格。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mat_num , mat_name, speci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mat_name LIKE '%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3.26】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查询物资名称中第三、四个字为“绝缘”的物资编号、名称和规格。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mat_num , mat_name, speci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mat_name LIKE '__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绝缘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%'</a:t>
            </a:r>
          </a:p>
        </p:txBody>
      </p:sp>
      <p:pic>
        <p:nvPicPr>
          <p:cNvPr id="2" name="图片 -21474825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65" y="3923030"/>
            <a:ext cx="3037840" cy="2341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2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86">
                                            <p:txEl>
                                              <p:charRg st="28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61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9986">
                                            <p:txEl>
                                              <p:charRg st="61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90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9986">
                                            <p:txEl>
                                              <p:charRg st="90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11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9986">
                                            <p:txEl>
                                              <p:charRg st="119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157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9986">
                                            <p:txEl>
                                              <p:charRg st="157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190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9986">
                                            <p:txEl>
                                              <p:charRg st="190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charRg st="219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9986">
                                            <p:txEl>
                                              <p:charRg st="219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1010" name="Rectangle 2"/>
          <p:cNvSpPr/>
          <p:nvPr/>
        </p:nvSpPr>
        <p:spPr>
          <a:xfrm>
            <a:off x="0" y="798830"/>
            <a:ext cx="12021185" cy="61658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3.27】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查询所有不带绝缘两个字的物资编号、名称和规格。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mat_num , mat_name, speci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mat_name NOT LIKE '%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绝缘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%'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3.28】</a:t>
            </a:r>
            <a:r>
              <a:rPr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查询物资名称含有“户外_真空”字样的物资信息。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mat_name LIKE '%户外/_真空%' ESCAPE '/';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ESCAPE’\’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短语表示“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为换码字符，这样匹配串中紧跟在“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后面的字符“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不再具有通配符的含义，转义为普通的“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1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1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1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10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2035" name="Rectangle 3"/>
          <p:cNvSpPr/>
          <p:nvPr/>
        </p:nvSpPr>
        <p:spPr>
          <a:xfrm>
            <a:off x="593090" y="1676400"/>
            <a:ext cx="10180955" cy="46164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判断取值为空的语句格式为： 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 NULL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判断取值不为空的语句格式为：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 NOT NULL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3.29】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查询无库存单价的物资编号及其名称。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mat_num , mat_name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unit IS NULL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注意：这里的“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不能用等号（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）代替。</a:t>
            </a:r>
          </a:p>
        </p:txBody>
      </p:sp>
      <p:sp>
        <p:nvSpPr>
          <p:cNvPr id="58370" name="Rectangle 4"/>
          <p:cNvSpPr/>
          <p:nvPr/>
        </p:nvSpPr>
        <p:spPr>
          <a:xfrm>
            <a:off x="381000" y="9906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）涉及空值的查询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(is null, is not null)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3059" name="Rectangle 3"/>
          <p:cNvSpPr/>
          <p:nvPr/>
        </p:nvSpPr>
        <p:spPr>
          <a:xfrm>
            <a:off x="381000" y="2632075"/>
            <a:ext cx="11539220" cy="297243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3.30】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查询规格为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BVV-120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的护套绝缘电线的物资编号、库存数量及库存地点。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mat_num,warehouse,amount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mat_name='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AND speci='BVV-120'</a:t>
            </a:r>
          </a:p>
        </p:txBody>
      </p:sp>
      <p:sp>
        <p:nvSpPr>
          <p:cNvPr id="59395" name="Rectangle 5"/>
          <p:cNvSpPr/>
          <p:nvPr/>
        </p:nvSpPr>
        <p:spPr>
          <a:xfrm>
            <a:off x="381000" y="990600"/>
            <a:ext cx="10897870" cy="1641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）多重条件查询</a:t>
            </a:r>
            <a:r>
              <a:rPr lang="en-US" altLang="zh-CN" sz="20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(and, or)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 AND的优先级高于OR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 可以用括号改变优先级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4083" name="Rectangle 3"/>
          <p:cNvSpPr/>
          <p:nvPr/>
        </p:nvSpPr>
        <p:spPr>
          <a:xfrm>
            <a:off x="244475" y="2454910"/>
            <a:ext cx="11703050" cy="32924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3.31】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查询“护套绝缘电线”的物资编号及其单价，查询结果按单价降序排列。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SELECT mat_name,unit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FROM stock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WHERE mat_name='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ORDER BY unit DESC</a:t>
            </a:r>
          </a:p>
        </p:txBody>
      </p:sp>
      <p:sp>
        <p:nvSpPr>
          <p:cNvPr id="60418" name="Rectangle 4"/>
          <p:cNvSpPr/>
          <p:nvPr/>
        </p:nvSpPr>
        <p:spPr>
          <a:xfrm>
            <a:off x="380365" y="913765"/>
            <a:ext cx="10196195" cy="15405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对查询结果排序</a:t>
            </a: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(order by &lt;</a:t>
            </a:r>
            <a:r>
              <a:rPr lang="zh-CN" altLang="en-US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&gt;[ASC|DESC])</a:t>
            </a: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 可以按一个或多个属性列排序</a:t>
            </a: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 ASC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表示升序，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DESC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缺省值为升序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5107" name="Rectangle 3"/>
          <p:cNvSpPr/>
          <p:nvPr/>
        </p:nvSpPr>
        <p:spPr>
          <a:xfrm>
            <a:off x="427990" y="749300"/>
            <a:ext cx="11486515" cy="5805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3.32】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查询所有物资的信息，查询结果按所在仓库名降序排列，同一仓库的物资按库存量升序排列。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*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ORDER BY warehouse DESC , amount</a:t>
            </a:r>
          </a:p>
        </p:txBody>
      </p:sp>
      <p:sp>
        <p:nvSpPr>
          <p:cNvPr id="175110" name="Rectangle 6"/>
          <p:cNvSpPr/>
          <p:nvPr/>
        </p:nvSpPr>
        <p:spPr>
          <a:xfrm>
            <a:off x="427990" y="3083560"/>
            <a:ext cx="558673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当指定多个排序列时，首先按最前面的列进行排序，如果排序后存在两个或两个以上列值相同的记录，则对这些值相同的记录再按排在第二位的列进行排序，依次类推。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）空值是最小的。</a:t>
            </a:r>
          </a:p>
        </p:txBody>
      </p:sp>
      <p:pic>
        <p:nvPicPr>
          <p:cNvPr id="2" name="图片 -21474826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707515"/>
            <a:ext cx="5761355" cy="31807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62466" name="Rectangle 4"/>
          <p:cNvSpPr/>
          <p:nvPr/>
        </p:nvSpPr>
        <p:spPr>
          <a:xfrm>
            <a:off x="762000" y="908050"/>
            <a:ext cx="838200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LIMIT</a:t>
            </a:r>
            <a:r>
              <a:rPr lang="zh-CN" altLang="en-US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子句的用法</a:t>
            </a:r>
          </a:p>
        </p:txBody>
      </p:sp>
      <p:sp>
        <p:nvSpPr>
          <p:cNvPr id="9" name="Rectangle 3"/>
          <p:cNvSpPr/>
          <p:nvPr/>
        </p:nvSpPr>
        <p:spPr>
          <a:xfrm>
            <a:off x="323849" y="1593850"/>
            <a:ext cx="11466635" cy="452564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LIMIT 显示记录数量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从第一条记录开始，显示指定条数的记录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LIMIT 初始位置，显示记录数量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从指定的初始位置开始显示指定条数的记录。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3.33】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表中库存量最大的两条记录。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*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FROM Stock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ORDER BY amount DESC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LIMIT 2;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7154" name="Rectangle 2"/>
          <p:cNvSpPr/>
          <p:nvPr/>
        </p:nvSpPr>
        <p:spPr>
          <a:xfrm>
            <a:off x="250825" y="1700530"/>
            <a:ext cx="11667490" cy="38862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3.34】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表中的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条记录，指定从第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条记录开始显示。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SELECT *  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FROM Stock 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LIMIT 3,5;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7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64514" name="Rectangle 3"/>
          <p:cNvSpPr>
            <a:spLocks noGrp="1"/>
          </p:cNvSpPr>
          <p:nvPr/>
        </p:nvSpPr>
        <p:spPr>
          <a:xfrm>
            <a:off x="304800" y="914400"/>
            <a:ext cx="10103485" cy="7620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None/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聚集函数 </a:t>
            </a:r>
          </a:p>
        </p:txBody>
      </p:sp>
      <p:sp>
        <p:nvSpPr>
          <p:cNvPr id="233476" name="Rectangle 4"/>
          <p:cNvSpPr/>
          <p:nvPr/>
        </p:nvSpPr>
        <p:spPr>
          <a:xfrm>
            <a:off x="381000" y="1550035"/>
            <a:ext cx="10961370" cy="341503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COUNT([DISTINCT|ALL] *)     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统计元组个数 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COUNT([DISTINCT|ALL]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&gt;)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统计一列中值的个数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SUM([DISTINCT|ALL]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&gt;)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计算一列值的总和（此列必须是数值型）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AVG([DISTINCT|ALL]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&gt;)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计算一列值的平均（此列必须是数值型）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MAX([DISTINCT|ALL]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&gt;)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求一列值中的最大值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MIN([DISTINCT|ALL]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&gt;)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求一列值中的最小值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  <p:sp>
        <p:nvSpPr>
          <p:cNvPr id="233477" name="Rectangle 5"/>
          <p:cNvSpPr/>
          <p:nvPr/>
        </p:nvSpPr>
        <p:spPr>
          <a:xfrm>
            <a:off x="304800" y="5197475"/>
            <a:ext cx="1096137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如果指定DISTINCT，表示计算时取消该列中的重复值；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缺省为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，即计算时不取消重复值。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33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3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33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33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33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build="p"/>
      <p:bldP spid="23347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79202" name="Rectangle 2"/>
          <p:cNvSpPr/>
          <p:nvPr/>
        </p:nvSpPr>
        <p:spPr>
          <a:xfrm>
            <a:off x="366395" y="709295"/>
            <a:ext cx="11458575" cy="56959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3.35】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统计领取了物资的抢修工程项目数。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COUNT (DISTINCT prj_num)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3.36】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查询使用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号物资的抢修工程的最高领取数量、最低领取数量以及平均领取数量。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MAX(amount), MIN(amount), AVG(amount)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mat_num = 'm001';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注意：聚集函数中除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外，其他函数在计算过程中均忽略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值；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WHERE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子句中是不能使用聚集函数作为条件表达式的。</a:t>
            </a:r>
          </a:p>
        </p:txBody>
      </p:sp>
      <p:pic>
        <p:nvPicPr>
          <p:cNvPr id="2" name="图片 -2147482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220" y="3921125"/>
            <a:ext cx="3263900" cy="977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9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9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9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9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9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62466" name="Rectangle 4"/>
          <p:cNvSpPr/>
          <p:nvPr/>
        </p:nvSpPr>
        <p:spPr>
          <a:xfrm>
            <a:off x="762000" y="793115"/>
            <a:ext cx="838200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 </a:t>
            </a:r>
            <a:r>
              <a:rPr lang="zh-CN" altLang="en-US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开窗函数</a:t>
            </a:r>
          </a:p>
        </p:txBody>
      </p:sp>
      <p:sp>
        <p:nvSpPr>
          <p:cNvPr id="3" name="Rectangle 3"/>
          <p:cNvSpPr/>
          <p:nvPr/>
        </p:nvSpPr>
        <p:spPr>
          <a:xfrm>
            <a:off x="459740" y="1339215"/>
            <a:ext cx="11159490" cy="308165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数据分析和统计中经常需要用到开窗函数，通常和聚集函数联合使用。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开窗函数：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满足某种条件的记录集合上执行的特殊函数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对于每条记录都要在此窗口内执行函数，有的函数随着记录不同，窗口大小都是固定的，这种属于静态窗口；有的函数则相反，不同的记录对应着不同的窗口，这种动态变化的窗口叫滑动窗口。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开窗函数的本质还是聚合运算，只不过它更具灵活性，它对数据的每一行，都使用与该行相关的行进行计算并返回计算结果。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聚合函数是将多条记录聚合为一条；而开窗函数是每条记录都会执行，有几条记录执行完还是几条。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3658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31079" name="Text Box 7"/>
          <p:cNvSpPr txBox="1"/>
          <p:nvPr/>
        </p:nvSpPr>
        <p:spPr>
          <a:xfrm>
            <a:off x="300355" y="871855"/>
            <a:ext cx="11352530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【例3.3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】查询每种物资按时间顺序的累计订单金额。</a:t>
            </a:r>
          </a:p>
        </p:txBody>
      </p:sp>
      <p:sp>
        <p:nvSpPr>
          <p:cNvPr id="131080" name="Text Box 8"/>
          <p:cNvSpPr txBox="1"/>
          <p:nvPr/>
        </p:nvSpPr>
        <p:spPr>
          <a:xfrm>
            <a:off x="511175" y="1606550"/>
            <a:ext cx="11933555" cy="119888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*,sum(amount) over(partition by mat_num order by get_date) sum_amount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out_stock;</a:t>
            </a:r>
          </a:p>
        </p:txBody>
      </p:sp>
      <p:pic>
        <p:nvPicPr>
          <p:cNvPr id="2" name="图片 -21474825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0" y="2420620"/>
            <a:ext cx="5648325" cy="32473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3742899" name="矩形 1073742898"/>
          <p:cNvSpPr/>
          <p:nvPr/>
        </p:nvSpPr>
        <p:spPr>
          <a:xfrm>
            <a:off x="9570085" y="2458085"/>
            <a:ext cx="1024890" cy="32099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891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374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/>
      <p:bldP spid="1073742899" grpId="0" animBg="1"/>
      <p:bldP spid="107374289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13485" y="1033780"/>
          <a:ext cx="9904730" cy="5242560"/>
        </p:xfrm>
        <a:graphic>
          <a:graphicData uri="http://schemas.openxmlformats.org/drawingml/2006/table">
            <a:tbl>
              <a:tblPr/>
              <a:tblGrid>
                <a:gridCol w="225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400" b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函数名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400" b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函数功能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CUME_DIST()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计算一组值中一个值的累计分布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DENSE_RANK()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根据该order by 子句为分区中的每一行分配一个等级，它将相同的等级分配给具有相等值得行。如果两行或更多行具有相同得排名，则排名值序列中将没有间隙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FIRST_VALUE()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返回相对于窗口框架第一行得指定表达式得值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LAG()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返回分区中当前行之前的第N行得值。如果不存在前一行，则返回NULL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LAST_VALUE()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返回相对于窗口框架最后一行得指定表达式得值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LEAD()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返回分区中当前行之后的第N行得值。如果不存在后续行，则返回NULL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NTH_VALUE()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从窗口框架的第N行返回参数的值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NTILE()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将每个窗口分区的行分配到指定数量的排名组中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PERCENT_RANK()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计算分区或结果集中行的百分数等级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RANK()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与DENSE_RANK()相似，不同之处在于当两行或多行具有相同的等级时，等级值序列中存在间隙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ROW_NUMBER()</a:t>
                      </a:r>
                      <a:endParaRPr lang="en-US" altLang="en-US" sz="20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为分区中的每一行分配一个顺序整数</a:t>
                      </a:r>
                      <a:endParaRPr lang="en-US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44416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31079" name="Text Box 7"/>
          <p:cNvSpPr txBox="1"/>
          <p:nvPr/>
        </p:nvSpPr>
        <p:spPr>
          <a:xfrm>
            <a:off x="300355" y="871855"/>
            <a:ext cx="11352530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【例3.3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】查询每种物资使用数量最高的前2条出库情况。</a:t>
            </a:r>
          </a:p>
        </p:txBody>
      </p:sp>
      <p:sp>
        <p:nvSpPr>
          <p:cNvPr id="131080" name="Text Box 8"/>
          <p:cNvSpPr txBox="1"/>
          <p:nvPr/>
        </p:nvSpPr>
        <p:spPr>
          <a:xfrm>
            <a:off x="511175" y="1448435"/>
            <a:ext cx="11933555" cy="193802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( select *,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row_number() over(partition by mat_num order by amount desc) as row_num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from out_stock) as t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row_num&lt;=2;</a:t>
            </a:r>
          </a:p>
        </p:txBody>
      </p:sp>
      <p:pic>
        <p:nvPicPr>
          <p:cNvPr id="2" name="图片 -21474825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195" y="3250565"/>
            <a:ext cx="6887210" cy="282003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3629705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57346" name="Rectangle 3"/>
          <p:cNvSpPr>
            <a:spLocks noGrp="1"/>
          </p:cNvSpPr>
          <p:nvPr/>
        </p:nvSpPr>
        <p:spPr>
          <a:xfrm>
            <a:off x="381000" y="990600"/>
            <a:ext cx="10396220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buClr>
                <a:srgbClr val="FFFF66"/>
              </a:buClr>
              <a:buNone/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对查询结果分组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(group by) </a:t>
            </a:r>
          </a:p>
        </p:txBody>
      </p:sp>
      <p:sp>
        <p:nvSpPr>
          <p:cNvPr id="57347" name="Rectangle 4"/>
          <p:cNvSpPr/>
          <p:nvPr/>
        </p:nvSpPr>
        <p:spPr>
          <a:xfrm>
            <a:off x="609600" y="1676400"/>
            <a:ext cx="10804525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子句可以将查询结果表按一列或多列取值相等的原则进行分组。</a:t>
            </a:r>
          </a:p>
          <a:p>
            <a:pPr eaLnBrk="1" latinLnBrk="0" hangingPunct="1">
              <a:lnSpc>
                <a:spcPct val="125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　</a:t>
            </a:r>
          </a:p>
        </p:txBody>
      </p:sp>
      <p:sp>
        <p:nvSpPr>
          <p:cNvPr id="234501" name="Rectangle 5"/>
          <p:cNvSpPr/>
          <p:nvPr/>
        </p:nvSpPr>
        <p:spPr>
          <a:xfrm>
            <a:off x="533400" y="3200400"/>
            <a:ext cx="10906125" cy="1476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分组的目的：为了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细化集函数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的作用对象。如果未对查询结果分组，集函数将作用于整个查询结果，即整个查询结果只有一个函数值。如果用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分了组，集函数将作用于每一个组，即每一组都有一个函数值。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81250" name="Rectangle 2"/>
          <p:cNvSpPr/>
          <p:nvPr/>
        </p:nvSpPr>
        <p:spPr>
          <a:xfrm>
            <a:off x="504190" y="1007745"/>
            <a:ext cx="11365865" cy="269049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3.39】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查询每个抢修工程项目号及使用的物资种类。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prj_num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项目号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COUNT(*)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物资种类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 prj_num;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802" y="1829899"/>
            <a:ext cx="3445287" cy="2372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1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68610" name="Rectangle 3"/>
          <p:cNvSpPr>
            <a:spLocks noGrp="1"/>
          </p:cNvSpPr>
          <p:nvPr/>
        </p:nvSpPr>
        <p:spPr>
          <a:xfrm>
            <a:off x="586740" y="843915"/>
            <a:ext cx="10695305" cy="160274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90500" indent="-190500" defTabSz="914400" eaLnBrk="1" latinLnBrk="0" hangingPunct="1">
              <a:lnSpc>
                <a:spcPct val="125000"/>
              </a:lnSpc>
              <a:spcBef>
                <a:spcPts val="0"/>
              </a:spcBef>
              <a:buNone/>
              <a:tabLst>
                <a:tab pos="1047750" algn="l"/>
              </a:tabLst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HAVING</a:t>
            </a:r>
          </a:p>
          <a:p>
            <a:pPr marL="571500" lvl="1" indent="-190500" defTabSz="914400" eaLnBrk="1" latinLnBrk="0" hangingPunct="1">
              <a:lnSpc>
                <a:spcPct val="125000"/>
              </a:lnSpc>
              <a:spcBef>
                <a:spcPts val="0"/>
              </a:spcBef>
              <a:tabLst>
                <a:tab pos="1047750" algn="l"/>
              </a:tabLs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可以针对集函数的结果值进行筛选，它是作用于分组计算的结果集；</a:t>
            </a:r>
          </a:p>
          <a:p>
            <a:pPr marL="571500" lvl="1" indent="-190500" defTabSz="914400" eaLnBrk="1" latinLnBrk="0" hangingPunct="1">
              <a:lnSpc>
                <a:spcPct val="125000"/>
              </a:lnSpc>
              <a:spcBef>
                <a:spcPts val="0"/>
              </a:spcBef>
              <a:tabLst>
                <a:tab pos="1047750" algn="l"/>
              </a:tabLs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跟在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子句的后面，有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才有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HAVING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35524" name="Rectangle 4"/>
          <p:cNvSpPr/>
          <p:nvPr/>
        </p:nvSpPr>
        <p:spPr>
          <a:xfrm>
            <a:off x="280035" y="2446655"/>
            <a:ext cx="1236599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3.40】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查询使用了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种以上物资的抢修工程项目号。</a:t>
            </a:r>
          </a:p>
        </p:txBody>
      </p:sp>
      <p:sp>
        <p:nvSpPr>
          <p:cNvPr id="235525" name="Rectangle 5"/>
          <p:cNvSpPr/>
          <p:nvPr/>
        </p:nvSpPr>
        <p:spPr>
          <a:xfrm>
            <a:off x="659130" y="2950845"/>
            <a:ext cx="11414760" cy="2209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prj_num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项目号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COUNT(*)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物资种类</a:t>
            </a:r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 prj_num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HAVING COUNT(*)&gt;=2;</a:t>
            </a:r>
          </a:p>
          <a:p>
            <a:pPr marL="342900" indent="-342900">
              <a:spcBef>
                <a:spcPct val="20000"/>
              </a:spcBef>
            </a:pPr>
            <a:endParaRPr lang="en-US" altLang="zh-CN" sz="24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5526" name="Rectangle 6"/>
          <p:cNvSpPr/>
          <p:nvPr/>
        </p:nvSpPr>
        <p:spPr>
          <a:xfrm>
            <a:off x="245745" y="4902835"/>
            <a:ext cx="121666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作用于基本表或视图，从中选择满足条件的元组；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HAVING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作用于组，从中选择满足条件的组。</a:t>
            </a: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429" y="3037741"/>
            <a:ext cx="3773168" cy="2255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/>
      <p:bldP spid="235525" grpId="0"/>
      <p:bldP spid="2355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5" name="矩形 4"/>
          <p:cNvSpPr/>
          <p:nvPr/>
        </p:nvSpPr>
        <p:spPr>
          <a:xfrm>
            <a:off x="250825" y="1243965"/>
            <a:ext cx="110420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3.41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】按工程部门及物资编号统计其抢修的项目个数以及对应的领取总量。</a:t>
            </a:r>
          </a:p>
        </p:txBody>
      </p:sp>
      <p:sp>
        <p:nvSpPr>
          <p:cNvPr id="6" name="矩形 5"/>
          <p:cNvSpPr/>
          <p:nvPr/>
        </p:nvSpPr>
        <p:spPr>
          <a:xfrm>
            <a:off x="245745" y="1797050"/>
            <a:ext cx="1069467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department, mat_num, count(distinct prj_num)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项目个数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sum(amount)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领取总量</a:t>
            </a: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 department,mat_num</a:t>
            </a:r>
          </a:p>
        </p:txBody>
      </p:sp>
      <p:sp>
        <p:nvSpPr>
          <p:cNvPr id="61444" name="矩形 6"/>
          <p:cNvSpPr/>
          <p:nvPr/>
        </p:nvSpPr>
        <p:spPr>
          <a:xfrm>
            <a:off x="423863" y="695960"/>
            <a:ext cx="8720137" cy="5530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子句的分组字段也可包含多个属性列名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2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4180" y="3735070"/>
            <a:ext cx="5563870" cy="2954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577" y="2992804"/>
            <a:ext cx="4825876" cy="3337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3" name="矩形 2"/>
          <p:cNvSpPr/>
          <p:nvPr/>
        </p:nvSpPr>
        <p:spPr>
          <a:xfrm>
            <a:off x="245745" y="861695"/>
            <a:ext cx="1069022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3.42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】按工程部门及物资编号统计其抢修的项目个数以及对应的领取总量，要求带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ROLLUP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关键字。</a:t>
            </a: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department, mat_num,count(distinct prj_num)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项目个数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, sum(amount) 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领取总量</a:t>
            </a: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BY department,mat_num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WITH ROLLUP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  <p:sp>
        <p:nvSpPr>
          <p:cNvPr id="5" name="矩形 1"/>
          <p:cNvSpPr/>
          <p:nvPr/>
        </p:nvSpPr>
        <p:spPr>
          <a:xfrm>
            <a:off x="272415" y="4725035"/>
            <a:ext cx="65900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ROLLUP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按照分组顺序，先对第一个分组字段分组，在组内进行统计，最后给出合计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35" y="2857867"/>
            <a:ext cx="5099822" cy="3903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62466" name="Rectangle 4"/>
          <p:cNvSpPr/>
          <p:nvPr/>
        </p:nvSpPr>
        <p:spPr>
          <a:xfrm>
            <a:off x="762000" y="908050"/>
            <a:ext cx="8382000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 </a:t>
            </a:r>
            <a:r>
              <a:rPr lang="zh-CN" altLang="en-US" sz="2400" dirty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正则表达式查询</a:t>
            </a:r>
          </a:p>
        </p:txBody>
      </p:sp>
      <p:sp>
        <p:nvSpPr>
          <p:cNvPr id="3" name="Rectangle 3"/>
          <p:cNvSpPr/>
          <p:nvPr/>
        </p:nvSpPr>
        <p:spPr>
          <a:xfrm>
            <a:off x="459740" y="1339215"/>
            <a:ext cx="11159490" cy="308165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正则表达式通常用于检索或替换那些符合某个模式的文本内容，根据指定的匹配模式匹配文本中符合要求的特殊字符串。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查询能力比通配字符的查询能力更强，而且更加灵活。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在MySQL中可以使用REGEXP关键字指定正则表达式的字符串匹配模式，基本语法如下：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列名   REGEXP  '匹配方式'</a:t>
            </a: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Tx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其中：列名表示需要查询的字段名称；匹配方式表示以哪种方式进行匹配查询。</a:t>
            </a:r>
          </a:p>
        </p:txBody>
      </p:sp>
    </p:spTree>
    <p:extLst>
      <p:ext uri="{BB962C8B-B14F-4D97-AF65-F5344CB8AC3E}">
        <p14:creationId xmlns:p14="http://schemas.microsoft.com/office/powerpoint/2010/main" val="3326424658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1681797" y="1592580"/>
          <a:ext cx="8917940" cy="4023360"/>
        </p:xfrm>
        <a:graphic>
          <a:graphicData uri="http://schemas.openxmlformats.org/drawingml/2006/table">
            <a:tbl>
              <a:tblPr/>
              <a:tblGrid>
                <a:gridCol w="2077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模式字符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^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匹配字符串开始的部分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匹配字符串结束的部分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代表字符串中的任意一个字符，包括回车和换行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[字符集合]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匹配“字符集合”中的任何一个字符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[^字符集合]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匹配除了“字符集合”以外的任何一个字符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S1|S2|S3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匹配S1、S2、S3中的任意一个字符串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匹配0个或多个在它前面的字符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匹配前面的字符1次或多次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字符串{N}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字符串出现N次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字符串{M,N}</a:t>
                      </a:r>
                      <a:endParaRPr lang="en-US" altLang="en-US" sz="2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字符串出现至少M次，最多N次</a:t>
                      </a:r>
                      <a:endParaRPr lang="en-US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411220" y="94615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ctr"/>
            <a:r>
              <a:rPr lang="zh-CN" sz="2800" b="0">
                <a:latin typeface="Arial" panose="020B0604020202020204" pitchFamily="34" charset="0"/>
                <a:ea typeface="黑体" panose="02010609060101010101" charset="-122"/>
              </a:rPr>
              <a:t>正则表达式的模式字符</a:t>
            </a:r>
            <a:endParaRPr lang="zh-CN" altLang="en-US" sz="28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49571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23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单表查询</a:t>
            </a: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297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31079" name="Text Box 7"/>
          <p:cNvSpPr txBox="1"/>
          <p:nvPr>
            <p:custDataLst>
              <p:tags r:id="rId1"/>
            </p:custDataLst>
          </p:nvPr>
        </p:nvSpPr>
        <p:spPr>
          <a:xfrm>
            <a:off x="300355" y="871855"/>
            <a:ext cx="11352530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【例3.</a:t>
            </a:r>
            <a:r>
              <a:rPr 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43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】查询项目名称中包含“西丽”、“明珠”的项目信息。</a:t>
            </a:r>
          </a:p>
        </p:txBody>
      </p:sp>
      <p:sp>
        <p:nvSpPr>
          <p:cNvPr id="131080" name="Text Box 8"/>
          <p:cNvSpPr txBox="1"/>
          <p:nvPr>
            <p:custDataLst>
              <p:tags r:id="rId2"/>
            </p:custDataLst>
          </p:nvPr>
        </p:nvSpPr>
        <p:spPr>
          <a:xfrm>
            <a:off x="550545" y="1448435"/>
            <a:ext cx="11933555" cy="119888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Salvaging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prj_name REGEXP '西丽|明珠'</a:t>
            </a:r>
          </a:p>
        </p:txBody>
      </p:sp>
      <p:pic>
        <p:nvPicPr>
          <p:cNvPr id="2" name="图片 -21474825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19980" y="2653665"/>
            <a:ext cx="6858000" cy="92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7"/>
          <p:cNvSpPr txBox="1"/>
          <p:nvPr>
            <p:custDataLst>
              <p:tags r:id="rId4"/>
            </p:custDataLst>
          </p:nvPr>
        </p:nvSpPr>
        <p:spPr>
          <a:xfrm>
            <a:off x="300355" y="3839845"/>
            <a:ext cx="11352530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【例3.</a:t>
            </a:r>
            <a:r>
              <a:rPr 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44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】查询项目名称中包含“2”至少1次，最多2次的项目信息。</a:t>
            </a:r>
          </a:p>
        </p:txBody>
      </p:sp>
      <p:sp>
        <p:nvSpPr>
          <p:cNvPr id="5" name="Text Box 8"/>
          <p:cNvSpPr txBox="1"/>
          <p:nvPr>
            <p:custDataLst>
              <p:tags r:id="rId5"/>
            </p:custDataLst>
          </p:nvPr>
        </p:nvSpPr>
        <p:spPr>
          <a:xfrm>
            <a:off x="652145" y="4429760"/>
            <a:ext cx="11933555" cy="119888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Salvaging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prj_name REGEXP '2{1,2}'</a:t>
            </a:r>
          </a:p>
        </p:txBody>
      </p:sp>
    </p:spTree>
    <p:extLst>
      <p:ext uri="{BB962C8B-B14F-4D97-AF65-F5344CB8AC3E}">
        <p14:creationId xmlns:p14="http://schemas.microsoft.com/office/powerpoint/2010/main" val="1031854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/>
      <p:bldP spid="3" grpId="0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45745" y="663575"/>
            <a:ext cx="10984865" cy="34531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选择表中若干列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选择表中若干元祖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对查询结果排序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子句的用法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聚集函数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对查询结果分组</a:t>
            </a:r>
          </a:p>
        </p:txBody>
      </p:sp>
      <p:sp>
        <p:nvSpPr>
          <p:cNvPr id="2" name="矩形 1"/>
          <p:cNvSpPr/>
          <p:nvPr/>
        </p:nvSpPr>
        <p:spPr>
          <a:xfrm>
            <a:off x="4346078" y="446321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9be54be-313e-4ffb-bde4-e2a40031189a}"/>
  <p:tag name="TABLE_ENDDRAG_ORIGIN_RECT" val="843*318"/>
  <p:tag name="TABLE_ENDDRAG_RECT" val="60*155*843*3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c83dea5-72e2-45bd-8961-f6f675cdf9ff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4*262"/>
  <p:tag name="TABLE_ENDDRAG_RECT" val="269*180*554*26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3.65,&quot;top&quot;:68.65,&quot;width&quot;:967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3.65,&quot;top&quot;:68.65,&quot;width&quot;:967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3.65,&quot;top&quot;:68.65,&quot;width&quot;:967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3.65,&quot;top&quot;:68.65,&quot;width&quot;:967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3.65,&quot;top&quot;:68.65,&quot;width&quot;:967.3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3921</Words>
  <Application>Microsoft Macintosh PowerPoint</Application>
  <PresentationFormat>宽屏</PresentationFormat>
  <Paragraphs>527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楷体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1367</cp:revision>
  <dcterms:created xsi:type="dcterms:W3CDTF">2014-07-02T10:42:00Z</dcterms:created>
  <dcterms:modified xsi:type="dcterms:W3CDTF">2025-10-21T11:17:30Z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275A9F7894B446E0A12ACD269B99F531</vt:lpwstr>
  </property>
</Properties>
</file>