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86" r:id="rId2"/>
    <p:sldId id="650" r:id="rId3"/>
    <p:sldId id="634" r:id="rId4"/>
    <p:sldId id="652" r:id="rId5"/>
    <p:sldId id="635" r:id="rId6"/>
    <p:sldId id="636" r:id="rId7"/>
    <p:sldId id="637" r:id="rId8"/>
    <p:sldId id="651" r:id="rId9"/>
    <p:sldId id="638" r:id="rId10"/>
    <p:sldId id="639" r:id="rId11"/>
    <p:sldId id="640" r:id="rId12"/>
    <p:sldId id="641" r:id="rId13"/>
    <p:sldId id="642" r:id="rId14"/>
    <p:sldId id="643" r:id="rId15"/>
    <p:sldId id="456" r:id="rId16"/>
  </p:sldIdLst>
  <p:sldSz cx="12192000" cy="6858000"/>
  <p:notesSz cx="7010400" cy="92964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orient="horz" pos="2876">
          <p15:clr>
            <a:srgbClr val="A4A3A4"/>
          </p15:clr>
        </p15:guide>
        <p15:guide id="3" orient="horz" pos="1298">
          <p15:clr>
            <a:srgbClr val="A4A3A4"/>
          </p15:clr>
        </p15:guide>
        <p15:guide id="4" pos="3871">
          <p15:clr>
            <a:srgbClr val="A4A3A4"/>
          </p15:clr>
        </p15:guide>
        <p15:guide id="5" pos="1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924">
          <p15:clr>
            <a:srgbClr val="A4A3A4"/>
          </p15:clr>
        </p15:guide>
        <p15:guide id="4" pos="22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1569F0"/>
    <a:srgbClr val="002060"/>
    <a:srgbClr val="009900"/>
    <a:srgbClr val="F79646"/>
    <a:srgbClr val="009AD0"/>
    <a:srgbClr val="245D60"/>
    <a:srgbClr val="DD4633"/>
    <a:srgbClr val="CCCC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4" autoAdjust="0"/>
    <p:restoredTop sz="83851" autoAdjust="0"/>
  </p:normalViewPr>
  <p:slideViewPr>
    <p:cSldViewPr snapToGrid="0">
      <p:cViewPr varScale="1">
        <p:scale>
          <a:sx n="92" d="100"/>
          <a:sy n="92" d="100"/>
        </p:scale>
        <p:origin x="1376" y="184"/>
      </p:cViewPr>
      <p:guideLst>
        <p:guide orient="horz" pos="2205"/>
        <p:guide orient="horz" pos="2876"/>
        <p:guide orient="horz" pos="1298"/>
        <p:guide pos="3871"/>
        <p:guide pos="123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-2790" y="-78"/>
      </p:cViewPr>
      <p:guideLst>
        <p:guide orient="horz" pos="2160"/>
        <p:guide pos="2880"/>
        <p:guide orient="horz" pos="2924"/>
        <p:guide pos="22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915CCEA-4D12-4250-ABBC-1F15DE901CBC}" type="datetimeFigureOut">
              <a:rPr lang="zh-CN" altLang="en-US"/>
              <a:t>2025/9/26</a:t>
            </a:fld>
            <a:endParaRPr lang="en-US" altLang="zh-CN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A76C4A-4CA1-4C6A-946C-E26A5534DC9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8476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1344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FAF2163-2CD8-43A9-AAB8-953EE3B200FA}" type="datetimeFigureOut">
              <a:rPr lang="zh-CN" altLang="en-US"/>
              <a:t>2025/9/26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1040" y="4473894"/>
            <a:ext cx="5608320" cy="366045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1344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798234E-E7EE-4FBE-B288-F5A88D0BAAD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4179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876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900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331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416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799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911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9720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899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223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8695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7433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2998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448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gi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65479" y="6370882"/>
            <a:ext cx="1968290" cy="366871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-1" y="6817500"/>
            <a:ext cx="12204000" cy="40500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8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0"/>
            <a:ext cx="1886757" cy="550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 descr="https://gimg2.baidu.com/image_search/src=http%3A%2F%2Fscibit.com%2Fwp-content%2Fuploads%2Fsites%2F29%2F2016%2F12%2Fmysql.jpg&amp;refer=http%3A%2F%2Fscibit.com&amp;app=2002&amp;size=f9999,10000&amp;q=a80&amp;n=0&amp;g=0n&amp;fmt=jpeg?sec=1617097019&amp;t=50d79522f2407f4e27c19386f4a66441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16356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14"/>
          <p:cNvGrpSpPr/>
          <p:nvPr userDrawn="1"/>
        </p:nvGrpSpPr>
        <p:grpSpPr>
          <a:xfrm>
            <a:off x="-1" y="6817500"/>
            <a:ext cx="12204000" cy="40500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15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46161" y="6470879"/>
            <a:ext cx="1968290" cy="36687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0"/>
            <a:ext cx="1886757" cy="550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5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19178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17716" y="6491129"/>
            <a:ext cx="1968290" cy="366871"/>
          </a:xfrm>
          <a:prstGeom prst="rect">
            <a:avLst/>
          </a:prstGeom>
        </p:spPr>
      </p:pic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48551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T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7"/>
          <p:cNvSpPr>
            <a:spLocks noChangeArrowheads="1"/>
          </p:cNvSpPr>
          <p:nvPr userDrawn="1"/>
        </p:nvSpPr>
        <p:spPr bwMode="auto">
          <a:xfrm>
            <a:off x="5298013" y="6807215"/>
            <a:ext cx="4318041" cy="54000"/>
          </a:xfrm>
          <a:prstGeom prst="rect">
            <a:avLst/>
          </a:prstGeom>
          <a:solidFill>
            <a:srgbClr val="317FB7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矩形 8"/>
          <p:cNvSpPr>
            <a:spLocks noChangeArrowheads="1"/>
          </p:cNvSpPr>
          <p:nvPr userDrawn="1"/>
        </p:nvSpPr>
        <p:spPr bwMode="auto">
          <a:xfrm flipH="1">
            <a:off x="-1" y="6807215"/>
            <a:ext cx="3429017" cy="54000"/>
          </a:xfrm>
          <a:prstGeom prst="rect">
            <a:avLst/>
          </a:prstGeom>
          <a:solidFill>
            <a:srgbClr val="92D050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 userDrawn="1"/>
        </p:nvSpPr>
        <p:spPr bwMode="auto">
          <a:xfrm flipH="1">
            <a:off x="3428982" y="6807215"/>
            <a:ext cx="1873285" cy="54000"/>
          </a:xfrm>
          <a:prstGeom prst="rect">
            <a:avLst/>
          </a:prstGeom>
          <a:solidFill>
            <a:srgbClr val="F49022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" name="矩形 12"/>
          <p:cNvSpPr>
            <a:spLocks noChangeArrowheads="1"/>
          </p:cNvSpPr>
          <p:nvPr userDrawn="1"/>
        </p:nvSpPr>
        <p:spPr bwMode="auto">
          <a:xfrm flipH="1">
            <a:off x="9620274" y="6807215"/>
            <a:ext cx="2571725" cy="54000"/>
          </a:xfrm>
          <a:prstGeom prst="rect">
            <a:avLst/>
          </a:prstGeom>
          <a:solidFill>
            <a:srgbClr val="EE3636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8" name="图片 7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709" y="6440344"/>
            <a:ext cx="1968290" cy="366871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297039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710" y="6491129"/>
            <a:ext cx="1968290" cy="366871"/>
          </a:xfrm>
          <a:prstGeom prst="rect">
            <a:avLst/>
          </a:prstGeom>
        </p:spPr>
      </p:pic>
      <p:pic>
        <p:nvPicPr>
          <p:cNvPr id="4" name="图片 8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0"/>
            <a:ext cx="1886757" cy="550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360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7143" y="1"/>
            <a:ext cx="564856" cy="62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图片 2" descr="logo.jpg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0223709" y="6491129"/>
            <a:ext cx="1968290" cy="366871"/>
          </a:xfrm>
          <a:prstGeom prst="rect">
            <a:avLst/>
          </a:prstGeom>
        </p:spPr>
      </p:pic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48551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7" r:id="rId5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448763" y="15"/>
            <a:ext cx="27262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                                    </a:t>
            </a:r>
          </a:p>
          <a:p>
            <a:endParaRPr lang="zh-CN" altLang="en-US" dirty="0"/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833" y="15"/>
            <a:ext cx="5515227" cy="481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444074" y="620454"/>
            <a:ext cx="8128000" cy="5139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zh-CN" altLang="en-US" sz="4000" b="1" dirty="0">
                <a:solidFill>
                  <a:srgbClr val="003300"/>
                </a:solidFill>
              </a:rPr>
              <a:t>第八章    数据库设计</a:t>
            </a:r>
            <a:endParaRPr lang="en-US" altLang="zh-CN" sz="4000" b="1" dirty="0">
              <a:solidFill>
                <a:srgbClr val="0033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8.1 </a:t>
            </a:r>
            <a:r>
              <a:rPr lang="zh-CN" altLang="en-US" sz="3200" b="1" dirty="0"/>
              <a:t>数据库设计概述</a:t>
            </a:r>
            <a:endParaRPr lang="en-US" altLang="zh-CN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8.2 </a:t>
            </a:r>
            <a:r>
              <a:rPr lang="zh-CN" altLang="en-US" sz="3200" b="1" dirty="0"/>
              <a:t>需求分析</a:t>
            </a:r>
            <a:endParaRPr lang="en-US" altLang="zh-CN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8.3 </a:t>
            </a:r>
            <a:r>
              <a:rPr lang="zh-CN" altLang="en-US" sz="3200" b="1" dirty="0"/>
              <a:t>概念设计</a:t>
            </a:r>
            <a:endParaRPr lang="en-US" altLang="zh-CN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        8.4 </a:t>
            </a:r>
            <a:r>
              <a:rPr lang="zh-CN" altLang="en-US" sz="3200" b="1" dirty="0"/>
              <a:t>逻辑设计</a:t>
            </a:r>
            <a:endParaRPr lang="en-US" altLang="zh-CN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        8.5 </a:t>
            </a:r>
            <a:r>
              <a:rPr lang="zh-CN" altLang="en-US" sz="3200" b="1" dirty="0"/>
              <a:t>物理设计</a:t>
            </a:r>
            <a:endParaRPr lang="en-US" altLang="zh-CN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</a:rPr>
              <a:t>        8.6 </a:t>
            </a:r>
            <a:r>
              <a:rPr lang="zh-CN" altLang="en-US" sz="3200" b="1" dirty="0">
                <a:solidFill>
                  <a:srgbClr val="FF0000"/>
                </a:solidFill>
              </a:rPr>
              <a:t>数据库实施、运行与维护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34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1871807" y="2420938"/>
            <a:ext cx="8208963" cy="4005262"/>
            <a:chOff x="432" y="768"/>
            <a:chExt cx="4896" cy="3264"/>
          </a:xfrm>
        </p:grpSpPr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1288" y="768"/>
              <a:ext cx="3142" cy="2514"/>
            </a:xfrm>
            <a:prstGeom prst="rect">
              <a:avLst/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24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数据库实施</a:t>
              </a:r>
              <a:endParaRPr kumimoji="1" lang="zh-CN" altLang="en-US" sz="10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791" y="2085"/>
              <a:ext cx="718" cy="0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1536" y="1738"/>
              <a:ext cx="762" cy="847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000" b="1" i="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定义数据库结构</a:t>
              </a:r>
              <a:endParaRPr kumimoji="1" lang="zh-CN" altLang="en-US" sz="1200" b="1" i="0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 flipV="1">
              <a:off x="2112" y="1562"/>
              <a:ext cx="301" cy="261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Oval 8"/>
            <p:cNvSpPr>
              <a:spLocks noChangeArrowheads="1"/>
            </p:cNvSpPr>
            <p:nvPr/>
          </p:nvSpPr>
          <p:spPr bwMode="auto">
            <a:xfrm>
              <a:off x="2431" y="1145"/>
              <a:ext cx="857" cy="846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000" b="1" i="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</a:t>
              </a:r>
            </a:p>
            <a:p>
              <a:pPr algn="ctr" eaLnBrk="1" hangingPunct="1"/>
              <a:r>
                <a:rPr kumimoji="1" lang="zh-CN" altLang="en-US" sz="2000" b="1" i="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装载</a:t>
              </a:r>
              <a:endParaRPr kumimoji="1" lang="zh-CN" altLang="en-US" i="0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3312" y="1518"/>
              <a:ext cx="342" cy="306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Oval 10"/>
            <p:cNvSpPr>
              <a:spLocks noChangeArrowheads="1"/>
            </p:cNvSpPr>
            <p:nvPr/>
          </p:nvSpPr>
          <p:spPr bwMode="auto">
            <a:xfrm>
              <a:off x="3456" y="1782"/>
              <a:ext cx="761" cy="847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kumimoji="1" lang="en-US" altLang="zh-CN" sz="1000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kumimoji="1" lang="en-US" altLang="zh-CN" sz="1000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数据库试运行</a:t>
              </a:r>
              <a:endParaRPr kumimoji="1" lang="zh-CN" altLang="en-US" sz="1000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4249" y="2173"/>
              <a:ext cx="539" cy="0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4608" y="2079"/>
              <a:ext cx="0" cy="189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1104" y="1994"/>
              <a:ext cx="1" cy="188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432" y="2179"/>
              <a:ext cx="71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数据库物</a:t>
              </a:r>
            </a:p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理设计</a:t>
              </a:r>
              <a:endParaRPr kumimoji="1" lang="zh-CN" altLang="en-US" sz="10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Text Box 15"/>
            <p:cNvSpPr txBox="1">
              <a:spLocks noChangeArrowheads="1"/>
            </p:cNvSpPr>
            <p:nvPr/>
          </p:nvSpPr>
          <p:spPr bwMode="auto">
            <a:xfrm>
              <a:off x="4608" y="2268"/>
              <a:ext cx="72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数据库运</a:t>
              </a:r>
            </a:p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行和维护</a:t>
              </a:r>
            </a:p>
            <a:p>
              <a:pPr algn="just" eaLnBrk="1" hangingPunct="1"/>
              <a:endParaRPr kumimoji="1" lang="en-US" altLang="zh-CN" sz="16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AutoShape 16"/>
            <p:cNvSpPr>
              <a:spLocks noChangeArrowheads="1"/>
            </p:cNvSpPr>
            <p:nvPr/>
          </p:nvSpPr>
          <p:spPr bwMode="auto">
            <a:xfrm>
              <a:off x="720" y="3414"/>
              <a:ext cx="449" cy="486"/>
            </a:xfrm>
            <a:prstGeom prst="octagon">
              <a:avLst>
                <a:gd name="adj" fmla="val 29287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物理</a:t>
              </a:r>
            </a:p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模型</a:t>
              </a:r>
              <a:endParaRPr kumimoji="1" lang="zh-CN" altLang="en-US" sz="10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AutoShape 17"/>
            <p:cNvSpPr>
              <a:spLocks noChangeArrowheads="1"/>
            </p:cNvSpPr>
            <p:nvPr/>
          </p:nvSpPr>
          <p:spPr bwMode="auto">
            <a:xfrm rot="4214242">
              <a:off x="263" y="2882"/>
              <a:ext cx="838" cy="124"/>
            </a:xfrm>
            <a:prstGeom prst="rightArrow">
              <a:avLst>
                <a:gd name="adj1" fmla="val 50000"/>
                <a:gd name="adj2" fmla="val 168952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" name="AutoShape 18"/>
            <p:cNvSpPr>
              <a:spLocks noChangeArrowheads="1"/>
            </p:cNvSpPr>
            <p:nvPr/>
          </p:nvSpPr>
          <p:spPr bwMode="auto">
            <a:xfrm rot="4014648">
              <a:off x="3697" y="2960"/>
              <a:ext cx="890" cy="109"/>
            </a:xfrm>
            <a:prstGeom prst="rightArrow">
              <a:avLst>
                <a:gd name="adj1" fmla="val 50000"/>
                <a:gd name="adj2" fmla="val 204128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" name="AutoShape 19"/>
            <p:cNvSpPr>
              <a:spLocks noChangeArrowheads="1"/>
            </p:cNvSpPr>
            <p:nvPr/>
          </p:nvSpPr>
          <p:spPr bwMode="auto">
            <a:xfrm rot="-3531503">
              <a:off x="886" y="2870"/>
              <a:ext cx="1009" cy="94"/>
            </a:xfrm>
            <a:prstGeom prst="rightArrow">
              <a:avLst>
                <a:gd name="adj1" fmla="val 50000"/>
                <a:gd name="adj2" fmla="val 268351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3196" y="1302"/>
              <a:ext cx="535" cy="499"/>
            </a:xfrm>
            <a:custGeom>
              <a:avLst/>
              <a:gdLst>
                <a:gd name="T0" fmla="*/ 535 w 535"/>
                <a:gd name="T1" fmla="*/ 543 h 543"/>
                <a:gd name="T2" fmla="*/ 381 w 535"/>
                <a:gd name="T3" fmla="*/ 178 h 543"/>
                <a:gd name="T4" fmla="*/ 251 w 535"/>
                <a:gd name="T5" fmla="*/ 74 h 543"/>
                <a:gd name="T6" fmla="*/ 164 w 535"/>
                <a:gd name="T7" fmla="*/ 6 h 543"/>
                <a:gd name="T8" fmla="*/ 16 w 535"/>
                <a:gd name="T9" fmla="*/ 35 h 543"/>
                <a:gd name="T10" fmla="*/ 68 w 535"/>
                <a:gd name="T11" fmla="*/ 61 h 543"/>
                <a:gd name="T12" fmla="*/ 68 w 535"/>
                <a:gd name="T13" fmla="*/ 61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35"/>
                <a:gd name="T22" fmla="*/ 0 h 543"/>
                <a:gd name="T23" fmla="*/ 535 w 535"/>
                <a:gd name="T24" fmla="*/ 543 h 5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35" h="543">
                  <a:moveTo>
                    <a:pt x="535" y="543"/>
                  </a:moveTo>
                  <a:cubicBezTo>
                    <a:pt x="509" y="482"/>
                    <a:pt x="428" y="256"/>
                    <a:pt x="381" y="178"/>
                  </a:cubicBezTo>
                  <a:cubicBezTo>
                    <a:pt x="334" y="100"/>
                    <a:pt x="287" y="103"/>
                    <a:pt x="251" y="74"/>
                  </a:cubicBezTo>
                  <a:cubicBezTo>
                    <a:pt x="215" y="45"/>
                    <a:pt x="203" y="12"/>
                    <a:pt x="164" y="6"/>
                  </a:cubicBezTo>
                  <a:cubicBezTo>
                    <a:pt x="125" y="0"/>
                    <a:pt x="32" y="26"/>
                    <a:pt x="16" y="35"/>
                  </a:cubicBezTo>
                  <a:cubicBezTo>
                    <a:pt x="0" y="44"/>
                    <a:pt x="59" y="57"/>
                    <a:pt x="68" y="61"/>
                  </a:cubicBezTo>
                  <a:cubicBezTo>
                    <a:pt x="77" y="65"/>
                    <a:pt x="68" y="61"/>
                    <a:pt x="68" y="61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816" y="850"/>
              <a:ext cx="3204" cy="1197"/>
            </a:xfrm>
            <a:custGeom>
              <a:avLst/>
              <a:gdLst>
                <a:gd name="T0" fmla="*/ 3204 w 3204"/>
                <a:gd name="T1" fmla="*/ 1049 h 1303"/>
                <a:gd name="T2" fmla="*/ 3087 w 3204"/>
                <a:gd name="T3" fmla="*/ 618 h 1303"/>
                <a:gd name="T4" fmla="*/ 2878 w 3204"/>
                <a:gd name="T5" fmla="*/ 331 h 1303"/>
                <a:gd name="T6" fmla="*/ 2574 w 3204"/>
                <a:gd name="T7" fmla="*/ 135 h 1303"/>
                <a:gd name="T8" fmla="*/ 2308 w 3204"/>
                <a:gd name="T9" fmla="*/ 47 h 1303"/>
                <a:gd name="T10" fmla="*/ 2222 w 3204"/>
                <a:gd name="T11" fmla="*/ 31 h 1303"/>
                <a:gd name="T12" fmla="*/ 2039 w 3204"/>
                <a:gd name="T13" fmla="*/ 3 h 1303"/>
                <a:gd name="T14" fmla="*/ 1379 w 3204"/>
                <a:gd name="T15" fmla="*/ 47 h 1303"/>
                <a:gd name="T16" fmla="*/ 880 w 3204"/>
                <a:gd name="T17" fmla="*/ 257 h 1303"/>
                <a:gd name="T18" fmla="*/ 375 w 3204"/>
                <a:gd name="T19" fmla="*/ 693 h 1303"/>
                <a:gd name="T20" fmla="*/ 0 w 3204"/>
                <a:gd name="T21" fmla="*/ 1303 h 130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204"/>
                <a:gd name="T34" fmla="*/ 0 h 1303"/>
                <a:gd name="T35" fmla="*/ 3204 w 3204"/>
                <a:gd name="T36" fmla="*/ 1303 h 130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204" h="1303">
                  <a:moveTo>
                    <a:pt x="3204" y="1049"/>
                  </a:moveTo>
                  <a:cubicBezTo>
                    <a:pt x="3182" y="977"/>
                    <a:pt x="3141" y="738"/>
                    <a:pt x="3087" y="618"/>
                  </a:cubicBezTo>
                  <a:cubicBezTo>
                    <a:pt x="3033" y="498"/>
                    <a:pt x="2964" y="411"/>
                    <a:pt x="2878" y="331"/>
                  </a:cubicBezTo>
                  <a:cubicBezTo>
                    <a:pt x="2792" y="251"/>
                    <a:pt x="2669" y="182"/>
                    <a:pt x="2574" y="135"/>
                  </a:cubicBezTo>
                  <a:cubicBezTo>
                    <a:pt x="2479" y="88"/>
                    <a:pt x="2366" y="64"/>
                    <a:pt x="2308" y="47"/>
                  </a:cubicBezTo>
                  <a:cubicBezTo>
                    <a:pt x="2250" y="30"/>
                    <a:pt x="2266" y="38"/>
                    <a:pt x="2222" y="31"/>
                  </a:cubicBezTo>
                  <a:cubicBezTo>
                    <a:pt x="2177" y="24"/>
                    <a:pt x="2180" y="0"/>
                    <a:pt x="2039" y="3"/>
                  </a:cubicBezTo>
                  <a:cubicBezTo>
                    <a:pt x="1899" y="6"/>
                    <a:pt x="1573" y="6"/>
                    <a:pt x="1379" y="47"/>
                  </a:cubicBezTo>
                  <a:cubicBezTo>
                    <a:pt x="1186" y="87"/>
                    <a:pt x="1047" y="148"/>
                    <a:pt x="880" y="257"/>
                  </a:cubicBezTo>
                  <a:cubicBezTo>
                    <a:pt x="713" y="365"/>
                    <a:pt x="522" y="521"/>
                    <a:pt x="375" y="693"/>
                  </a:cubicBezTo>
                  <a:cubicBezTo>
                    <a:pt x="227" y="866"/>
                    <a:pt x="77" y="1178"/>
                    <a:pt x="0" y="1303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" name="Oval 22"/>
            <p:cNvSpPr>
              <a:spLocks noChangeArrowheads="1"/>
            </p:cNvSpPr>
            <p:nvPr/>
          </p:nvSpPr>
          <p:spPr bwMode="auto">
            <a:xfrm>
              <a:off x="2448" y="2356"/>
              <a:ext cx="857" cy="846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编制与调试应用程序</a:t>
              </a:r>
              <a:endParaRPr kumimoji="1" lang="zh-CN" altLang="en-US" sz="2000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2160" y="2444"/>
              <a:ext cx="288" cy="309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 flipV="1">
              <a:off x="3312" y="2444"/>
              <a:ext cx="240" cy="309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1" name="AutoShape 25"/>
            <p:cNvSpPr>
              <a:spLocks noChangeArrowheads="1"/>
            </p:cNvSpPr>
            <p:nvPr/>
          </p:nvSpPr>
          <p:spPr bwMode="auto">
            <a:xfrm>
              <a:off x="4080" y="3414"/>
              <a:ext cx="768" cy="618"/>
            </a:xfrm>
            <a:prstGeom prst="star16">
              <a:avLst>
                <a:gd name="adj" fmla="val 37500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</a:t>
              </a:r>
            </a:p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系统</a:t>
              </a:r>
              <a:endParaRPr kumimoji="1" lang="zh-CN" altLang="en-US" sz="24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" name="Freeform 26"/>
            <p:cNvSpPr>
              <a:spLocks/>
            </p:cNvSpPr>
            <p:nvPr/>
          </p:nvSpPr>
          <p:spPr bwMode="auto">
            <a:xfrm>
              <a:off x="1872" y="1033"/>
              <a:ext cx="2031" cy="769"/>
            </a:xfrm>
            <a:custGeom>
              <a:avLst/>
              <a:gdLst>
                <a:gd name="T0" fmla="*/ 2031 w 2031"/>
                <a:gd name="T1" fmla="*/ 837 h 837"/>
                <a:gd name="T2" fmla="*/ 1927 w 2031"/>
                <a:gd name="T3" fmla="*/ 523 h 837"/>
                <a:gd name="T4" fmla="*/ 1835 w 2031"/>
                <a:gd name="T5" fmla="*/ 341 h 837"/>
                <a:gd name="T6" fmla="*/ 1651 w 2031"/>
                <a:gd name="T7" fmla="*/ 207 h 837"/>
                <a:gd name="T8" fmla="*/ 1476 w 2031"/>
                <a:gd name="T9" fmla="*/ 85 h 837"/>
                <a:gd name="T10" fmla="*/ 1324 w 2031"/>
                <a:gd name="T11" fmla="*/ 29 h 837"/>
                <a:gd name="T12" fmla="*/ 1274 w 2031"/>
                <a:gd name="T13" fmla="*/ 19 h 837"/>
                <a:gd name="T14" fmla="*/ 1169 w 2031"/>
                <a:gd name="T15" fmla="*/ 2 h 837"/>
                <a:gd name="T16" fmla="*/ 791 w 2031"/>
                <a:gd name="T17" fmla="*/ 29 h 837"/>
                <a:gd name="T18" fmla="*/ 505 w 2031"/>
                <a:gd name="T19" fmla="*/ 161 h 837"/>
                <a:gd name="T20" fmla="*/ 215 w 2031"/>
                <a:gd name="T21" fmla="*/ 434 h 837"/>
                <a:gd name="T22" fmla="*/ 0 w 2031"/>
                <a:gd name="T23" fmla="*/ 816 h 83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31"/>
                <a:gd name="T37" fmla="*/ 0 h 837"/>
                <a:gd name="T38" fmla="*/ 2031 w 2031"/>
                <a:gd name="T39" fmla="*/ 837 h 83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31" h="837">
                  <a:moveTo>
                    <a:pt x="2031" y="837"/>
                  </a:moveTo>
                  <a:cubicBezTo>
                    <a:pt x="2014" y="785"/>
                    <a:pt x="1960" y="606"/>
                    <a:pt x="1927" y="523"/>
                  </a:cubicBezTo>
                  <a:cubicBezTo>
                    <a:pt x="1894" y="440"/>
                    <a:pt x="1881" y="394"/>
                    <a:pt x="1835" y="341"/>
                  </a:cubicBezTo>
                  <a:cubicBezTo>
                    <a:pt x="1789" y="288"/>
                    <a:pt x="1711" y="250"/>
                    <a:pt x="1651" y="207"/>
                  </a:cubicBezTo>
                  <a:cubicBezTo>
                    <a:pt x="1591" y="164"/>
                    <a:pt x="1531" y="114"/>
                    <a:pt x="1476" y="85"/>
                  </a:cubicBezTo>
                  <a:cubicBezTo>
                    <a:pt x="1422" y="55"/>
                    <a:pt x="1357" y="40"/>
                    <a:pt x="1324" y="29"/>
                  </a:cubicBezTo>
                  <a:cubicBezTo>
                    <a:pt x="1290" y="19"/>
                    <a:pt x="1300" y="24"/>
                    <a:pt x="1274" y="19"/>
                  </a:cubicBezTo>
                  <a:cubicBezTo>
                    <a:pt x="1249" y="15"/>
                    <a:pt x="1250" y="0"/>
                    <a:pt x="1169" y="2"/>
                  </a:cubicBezTo>
                  <a:cubicBezTo>
                    <a:pt x="1089" y="4"/>
                    <a:pt x="902" y="4"/>
                    <a:pt x="791" y="29"/>
                  </a:cubicBezTo>
                  <a:cubicBezTo>
                    <a:pt x="680" y="54"/>
                    <a:pt x="600" y="93"/>
                    <a:pt x="505" y="161"/>
                  </a:cubicBezTo>
                  <a:cubicBezTo>
                    <a:pt x="409" y="229"/>
                    <a:pt x="299" y="326"/>
                    <a:pt x="215" y="434"/>
                  </a:cubicBezTo>
                  <a:cubicBezTo>
                    <a:pt x="130" y="542"/>
                    <a:pt x="44" y="738"/>
                    <a:pt x="0" y="816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" name="Freeform 27"/>
            <p:cNvSpPr>
              <a:spLocks/>
            </p:cNvSpPr>
            <p:nvPr/>
          </p:nvSpPr>
          <p:spPr bwMode="auto">
            <a:xfrm>
              <a:off x="3264" y="2629"/>
              <a:ext cx="496" cy="360"/>
            </a:xfrm>
            <a:custGeom>
              <a:avLst/>
              <a:gdLst>
                <a:gd name="T0" fmla="*/ 496 w 496"/>
                <a:gd name="T1" fmla="*/ 0 h 392"/>
                <a:gd name="T2" fmla="*/ 443 w 496"/>
                <a:gd name="T3" fmla="*/ 130 h 392"/>
                <a:gd name="T4" fmla="*/ 313 w 496"/>
                <a:gd name="T5" fmla="*/ 274 h 392"/>
                <a:gd name="T6" fmla="*/ 96 w 496"/>
                <a:gd name="T7" fmla="*/ 375 h 392"/>
                <a:gd name="T8" fmla="*/ 0 w 496"/>
                <a:gd name="T9" fmla="*/ 375 h 3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6"/>
                <a:gd name="T16" fmla="*/ 0 h 392"/>
                <a:gd name="T17" fmla="*/ 496 w 496"/>
                <a:gd name="T18" fmla="*/ 392 h 3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6" h="392">
                  <a:moveTo>
                    <a:pt x="496" y="0"/>
                  </a:moveTo>
                  <a:cubicBezTo>
                    <a:pt x="487" y="22"/>
                    <a:pt x="473" y="84"/>
                    <a:pt x="443" y="130"/>
                  </a:cubicBezTo>
                  <a:cubicBezTo>
                    <a:pt x="413" y="176"/>
                    <a:pt x="371" y="233"/>
                    <a:pt x="313" y="274"/>
                  </a:cubicBezTo>
                  <a:cubicBezTo>
                    <a:pt x="255" y="315"/>
                    <a:pt x="148" y="358"/>
                    <a:pt x="96" y="375"/>
                  </a:cubicBezTo>
                  <a:cubicBezTo>
                    <a:pt x="44" y="392"/>
                    <a:pt x="16" y="375"/>
                    <a:pt x="0" y="375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4" name="Rectangle 28"/>
          <p:cNvSpPr>
            <a:spLocks noChangeArrowheads="1"/>
          </p:cNvSpPr>
          <p:nvPr/>
        </p:nvSpPr>
        <p:spPr bwMode="auto">
          <a:xfrm>
            <a:off x="421459" y="773938"/>
            <a:ext cx="7850187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i="0" dirty="0">
                <a:solidFill>
                  <a:srgbClr val="CC3300"/>
                </a:solidFill>
              </a:rPr>
              <a:t>数据库实施的工作内容</a:t>
            </a:r>
            <a:r>
              <a:rPr lang="zh-CN" altLang="en-US" sz="2400" b="1" i="0" dirty="0">
                <a:solidFill>
                  <a:srgbClr val="000066"/>
                </a:solidFill>
              </a:rPr>
              <a:t>：</a:t>
            </a:r>
          </a:p>
          <a:p>
            <a:pPr lvl="1" eaLnBrk="1" hangingPunct="1">
              <a:buFontTx/>
              <a:buAutoNum type="arabicPeriod"/>
            </a:pPr>
            <a:r>
              <a:rPr lang="zh-CN" altLang="en-US" sz="2400" b="1" i="0" dirty="0">
                <a:solidFill>
                  <a:srgbClr val="000066"/>
                </a:solidFill>
              </a:rPr>
              <a:t>用</a:t>
            </a:r>
            <a:r>
              <a:rPr lang="en-US" altLang="zh-CN" sz="2400" b="1" i="0" dirty="0">
                <a:solidFill>
                  <a:srgbClr val="000066"/>
                </a:solidFill>
              </a:rPr>
              <a:t>DDL</a:t>
            </a:r>
            <a:r>
              <a:rPr lang="zh-CN" altLang="en-US" sz="2400" b="1" i="0" dirty="0">
                <a:solidFill>
                  <a:srgbClr val="000066"/>
                </a:solidFill>
              </a:rPr>
              <a:t>定义数据库结构；     </a:t>
            </a:r>
            <a:r>
              <a:rPr lang="en-US" altLang="zh-CN" sz="2400" b="1" i="0" dirty="0">
                <a:solidFill>
                  <a:srgbClr val="000066"/>
                </a:solidFill>
              </a:rPr>
              <a:t>2. </a:t>
            </a:r>
            <a:r>
              <a:rPr lang="zh-CN" altLang="en-US" sz="2400" b="1" i="0" dirty="0">
                <a:solidFill>
                  <a:srgbClr val="000066"/>
                </a:solidFill>
              </a:rPr>
              <a:t>组织数据入库；</a:t>
            </a:r>
          </a:p>
          <a:p>
            <a:pPr eaLnBrk="1" hangingPunct="1"/>
            <a:r>
              <a:rPr lang="zh-CN" altLang="en-US" sz="2400" b="1" i="0" dirty="0">
                <a:solidFill>
                  <a:srgbClr val="000066"/>
                </a:solidFill>
              </a:rPr>
              <a:t>      </a:t>
            </a:r>
            <a:r>
              <a:rPr lang="en-US" altLang="zh-CN" sz="2400" b="1" i="0" dirty="0">
                <a:solidFill>
                  <a:srgbClr val="000066"/>
                </a:solidFill>
              </a:rPr>
              <a:t>3. </a:t>
            </a:r>
            <a:r>
              <a:rPr lang="zh-CN" altLang="en-US" sz="2400" b="1" i="0" dirty="0">
                <a:solidFill>
                  <a:srgbClr val="000066"/>
                </a:solidFill>
              </a:rPr>
              <a:t>编制与调试应用程序；        </a:t>
            </a:r>
            <a:r>
              <a:rPr lang="en-US" altLang="zh-CN" sz="2400" b="1" i="0" dirty="0">
                <a:solidFill>
                  <a:srgbClr val="000066"/>
                </a:solidFill>
              </a:rPr>
              <a:t>4.</a:t>
            </a:r>
            <a:r>
              <a:rPr lang="zh-CN" altLang="en-US" sz="2400" b="1" i="0" dirty="0">
                <a:solidFill>
                  <a:srgbClr val="000066"/>
                </a:solidFill>
              </a:rPr>
              <a:t>数据库试运行。</a:t>
            </a:r>
          </a:p>
        </p:txBody>
      </p:sp>
      <p:sp>
        <p:nvSpPr>
          <p:cNvPr id="35" name="矩形 34"/>
          <p:cNvSpPr/>
          <p:nvPr/>
        </p:nvSpPr>
        <p:spPr>
          <a:xfrm>
            <a:off x="-45343" y="11564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36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98648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实施、运行与维护</a:t>
            </a:r>
          </a:p>
        </p:txBody>
      </p:sp>
      <p:sp>
        <p:nvSpPr>
          <p:cNvPr id="37" name="文本框 94"/>
          <p:cNvSpPr txBox="1">
            <a:spLocks noChangeArrowheads="1"/>
          </p:cNvSpPr>
          <p:nvPr/>
        </p:nvSpPr>
        <p:spPr bwMode="auto">
          <a:xfrm>
            <a:off x="6414417" y="65515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数据库实施</a:t>
            </a:r>
          </a:p>
        </p:txBody>
      </p:sp>
      <p:cxnSp>
        <p:nvCxnSpPr>
          <p:cNvPr id="38" name="直接连接符 37"/>
          <p:cNvCxnSpPr/>
          <p:nvPr/>
        </p:nvCxnSpPr>
        <p:spPr>
          <a:xfrm rot="5400000">
            <a:off x="6058107" y="279268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14613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0804" y="11564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30" name="文本框 94"/>
          <p:cNvSpPr txBox="1">
            <a:spLocks noChangeArrowheads="1"/>
          </p:cNvSpPr>
          <p:nvPr/>
        </p:nvSpPr>
        <p:spPr bwMode="auto">
          <a:xfrm>
            <a:off x="302017" y="65515"/>
            <a:ext cx="598648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实施、运行与维护</a:t>
            </a:r>
          </a:p>
        </p:txBody>
      </p:sp>
      <p:sp>
        <p:nvSpPr>
          <p:cNvPr id="31" name="文本框 94"/>
          <p:cNvSpPr txBox="1">
            <a:spLocks noChangeArrowheads="1"/>
          </p:cNvSpPr>
          <p:nvPr/>
        </p:nvSpPr>
        <p:spPr bwMode="auto">
          <a:xfrm>
            <a:off x="6470564" y="65515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数据库实施</a:t>
            </a:r>
          </a:p>
        </p:txBody>
      </p:sp>
      <p:cxnSp>
        <p:nvCxnSpPr>
          <p:cNvPr id="32" name="直接连接符 31"/>
          <p:cNvCxnSpPr/>
          <p:nvPr/>
        </p:nvCxnSpPr>
        <p:spPr>
          <a:xfrm rot="5400000">
            <a:off x="6114254" y="279268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9600" y="1106905"/>
            <a:ext cx="549720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第一步：定义数据库结构</a:t>
            </a:r>
          </a:p>
        </p:txBody>
      </p:sp>
      <p:grpSp>
        <p:nvGrpSpPr>
          <p:cNvPr id="36" name="Group 3"/>
          <p:cNvGrpSpPr>
            <a:grpSpLocks/>
          </p:cNvGrpSpPr>
          <p:nvPr/>
        </p:nvGrpSpPr>
        <p:grpSpPr bwMode="auto">
          <a:xfrm>
            <a:off x="302017" y="2683538"/>
            <a:ext cx="8208963" cy="4005262"/>
            <a:chOff x="432" y="768"/>
            <a:chExt cx="4896" cy="3264"/>
          </a:xfrm>
        </p:grpSpPr>
        <p:sp>
          <p:nvSpPr>
            <p:cNvPr id="37" name="Rectangle 4"/>
            <p:cNvSpPr>
              <a:spLocks noChangeArrowheads="1"/>
            </p:cNvSpPr>
            <p:nvPr/>
          </p:nvSpPr>
          <p:spPr bwMode="auto">
            <a:xfrm>
              <a:off x="1288" y="768"/>
              <a:ext cx="3142" cy="2514"/>
            </a:xfrm>
            <a:prstGeom prst="rect">
              <a:avLst/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24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数据库实施</a:t>
              </a:r>
              <a:endParaRPr kumimoji="1" lang="zh-CN" altLang="en-US" sz="10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" name="Line 5"/>
            <p:cNvSpPr>
              <a:spLocks noChangeShapeType="1"/>
            </p:cNvSpPr>
            <p:nvPr/>
          </p:nvSpPr>
          <p:spPr bwMode="auto">
            <a:xfrm>
              <a:off x="791" y="2085"/>
              <a:ext cx="718" cy="0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Oval 6"/>
            <p:cNvSpPr>
              <a:spLocks noChangeArrowheads="1"/>
            </p:cNvSpPr>
            <p:nvPr/>
          </p:nvSpPr>
          <p:spPr bwMode="auto">
            <a:xfrm>
              <a:off x="1536" y="1738"/>
              <a:ext cx="762" cy="847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000" b="1" i="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定义数据库结构</a:t>
              </a:r>
              <a:endParaRPr kumimoji="1" lang="zh-CN" altLang="en-US" sz="1200" b="1" i="0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" name="Line 7"/>
            <p:cNvSpPr>
              <a:spLocks noChangeShapeType="1"/>
            </p:cNvSpPr>
            <p:nvPr/>
          </p:nvSpPr>
          <p:spPr bwMode="auto">
            <a:xfrm flipV="1">
              <a:off x="2112" y="1562"/>
              <a:ext cx="301" cy="261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Oval 8"/>
            <p:cNvSpPr>
              <a:spLocks noChangeArrowheads="1"/>
            </p:cNvSpPr>
            <p:nvPr/>
          </p:nvSpPr>
          <p:spPr bwMode="auto">
            <a:xfrm>
              <a:off x="2431" y="1145"/>
              <a:ext cx="857" cy="846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000" b="1" i="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</a:t>
              </a:r>
            </a:p>
            <a:p>
              <a:pPr algn="ctr" eaLnBrk="1" hangingPunct="1"/>
              <a:r>
                <a:rPr kumimoji="1" lang="zh-CN" altLang="en-US" sz="2000" b="1" i="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装载</a:t>
              </a:r>
              <a:endParaRPr kumimoji="1" lang="zh-CN" altLang="en-US" i="0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" name="Line 9"/>
            <p:cNvSpPr>
              <a:spLocks noChangeShapeType="1"/>
            </p:cNvSpPr>
            <p:nvPr/>
          </p:nvSpPr>
          <p:spPr bwMode="auto">
            <a:xfrm>
              <a:off x="3312" y="1518"/>
              <a:ext cx="342" cy="306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Oval 10"/>
            <p:cNvSpPr>
              <a:spLocks noChangeArrowheads="1"/>
            </p:cNvSpPr>
            <p:nvPr/>
          </p:nvSpPr>
          <p:spPr bwMode="auto">
            <a:xfrm>
              <a:off x="3456" y="1782"/>
              <a:ext cx="761" cy="847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kumimoji="1" lang="en-US" altLang="zh-CN" sz="1000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kumimoji="1" lang="en-US" altLang="zh-CN" sz="1000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数据库试运行</a:t>
              </a:r>
              <a:endParaRPr kumimoji="1" lang="zh-CN" altLang="en-US" sz="1000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" name="Line 11"/>
            <p:cNvSpPr>
              <a:spLocks noChangeShapeType="1"/>
            </p:cNvSpPr>
            <p:nvPr/>
          </p:nvSpPr>
          <p:spPr bwMode="auto">
            <a:xfrm>
              <a:off x="4249" y="2173"/>
              <a:ext cx="539" cy="0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12"/>
            <p:cNvSpPr>
              <a:spLocks noChangeShapeType="1"/>
            </p:cNvSpPr>
            <p:nvPr/>
          </p:nvSpPr>
          <p:spPr bwMode="auto">
            <a:xfrm>
              <a:off x="4608" y="2079"/>
              <a:ext cx="0" cy="189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13"/>
            <p:cNvSpPr>
              <a:spLocks noChangeShapeType="1"/>
            </p:cNvSpPr>
            <p:nvPr/>
          </p:nvSpPr>
          <p:spPr bwMode="auto">
            <a:xfrm>
              <a:off x="1104" y="1994"/>
              <a:ext cx="1" cy="188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14"/>
            <p:cNvSpPr txBox="1">
              <a:spLocks noChangeArrowheads="1"/>
            </p:cNvSpPr>
            <p:nvPr/>
          </p:nvSpPr>
          <p:spPr bwMode="auto">
            <a:xfrm>
              <a:off x="432" y="2179"/>
              <a:ext cx="71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数据库物</a:t>
              </a:r>
            </a:p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理设计</a:t>
              </a:r>
              <a:endParaRPr kumimoji="1" lang="zh-CN" altLang="en-US" sz="10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4608" y="2268"/>
              <a:ext cx="72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数据库运</a:t>
              </a:r>
            </a:p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行和维护</a:t>
              </a:r>
            </a:p>
            <a:p>
              <a:pPr algn="just" eaLnBrk="1" hangingPunct="1"/>
              <a:endParaRPr kumimoji="1" lang="en-US" altLang="zh-CN" sz="16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AutoShape 16"/>
            <p:cNvSpPr>
              <a:spLocks noChangeArrowheads="1"/>
            </p:cNvSpPr>
            <p:nvPr/>
          </p:nvSpPr>
          <p:spPr bwMode="auto">
            <a:xfrm>
              <a:off x="720" y="3414"/>
              <a:ext cx="449" cy="486"/>
            </a:xfrm>
            <a:prstGeom prst="octagon">
              <a:avLst>
                <a:gd name="adj" fmla="val 29287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物理</a:t>
              </a:r>
            </a:p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模型</a:t>
              </a:r>
              <a:endParaRPr kumimoji="1" lang="zh-CN" altLang="en-US" sz="10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" name="AutoShape 17"/>
            <p:cNvSpPr>
              <a:spLocks noChangeArrowheads="1"/>
            </p:cNvSpPr>
            <p:nvPr/>
          </p:nvSpPr>
          <p:spPr bwMode="auto">
            <a:xfrm rot="4214242">
              <a:off x="263" y="2882"/>
              <a:ext cx="838" cy="124"/>
            </a:xfrm>
            <a:prstGeom prst="rightArrow">
              <a:avLst>
                <a:gd name="adj1" fmla="val 50000"/>
                <a:gd name="adj2" fmla="val 168952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" name="AutoShape 18"/>
            <p:cNvSpPr>
              <a:spLocks noChangeArrowheads="1"/>
            </p:cNvSpPr>
            <p:nvPr/>
          </p:nvSpPr>
          <p:spPr bwMode="auto">
            <a:xfrm rot="4014648">
              <a:off x="3697" y="2960"/>
              <a:ext cx="890" cy="109"/>
            </a:xfrm>
            <a:prstGeom prst="rightArrow">
              <a:avLst>
                <a:gd name="adj1" fmla="val 50000"/>
                <a:gd name="adj2" fmla="val 204128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2" name="AutoShape 19"/>
            <p:cNvSpPr>
              <a:spLocks noChangeArrowheads="1"/>
            </p:cNvSpPr>
            <p:nvPr/>
          </p:nvSpPr>
          <p:spPr bwMode="auto">
            <a:xfrm rot="-3531503">
              <a:off x="886" y="2870"/>
              <a:ext cx="1009" cy="94"/>
            </a:xfrm>
            <a:prstGeom prst="rightArrow">
              <a:avLst>
                <a:gd name="adj1" fmla="val 50000"/>
                <a:gd name="adj2" fmla="val 268351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3" name="Freeform 20"/>
            <p:cNvSpPr>
              <a:spLocks/>
            </p:cNvSpPr>
            <p:nvPr/>
          </p:nvSpPr>
          <p:spPr bwMode="auto">
            <a:xfrm>
              <a:off x="3196" y="1302"/>
              <a:ext cx="535" cy="499"/>
            </a:xfrm>
            <a:custGeom>
              <a:avLst/>
              <a:gdLst>
                <a:gd name="T0" fmla="*/ 535 w 535"/>
                <a:gd name="T1" fmla="*/ 543 h 543"/>
                <a:gd name="T2" fmla="*/ 381 w 535"/>
                <a:gd name="T3" fmla="*/ 178 h 543"/>
                <a:gd name="T4" fmla="*/ 251 w 535"/>
                <a:gd name="T5" fmla="*/ 74 h 543"/>
                <a:gd name="T6" fmla="*/ 164 w 535"/>
                <a:gd name="T7" fmla="*/ 6 h 543"/>
                <a:gd name="T8" fmla="*/ 16 w 535"/>
                <a:gd name="T9" fmla="*/ 35 h 543"/>
                <a:gd name="T10" fmla="*/ 68 w 535"/>
                <a:gd name="T11" fmla="*/ 61 h 543"/>
                <a:gd name="T12" fmla="*/ 68 w 535"/>
                <a:gd name="T13" fmla="*/ 61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35"/>
                <a:gd name="T22" fmla="*/ 0 h 543"/>
                <a:gd name="T23" fmla="*/ 535 w 535"/>
                <a:gd name="T24" fmla="*/ 543 h 5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35" h="543">
                  <a:moveTo>
                    <a:pt x="535" y="543"/>
                  </a:moveTo>
                  <a:cubicBezTo>
                    <a:pt x="509" y="482"/>
                    <a:pt x="428" y="256"/>
                    <a:pt x="381" y="178"/>
                  </a:cubicBezTo>
                  <a:cubicBezTo>
                    <a:pt x="334" y="100"/>
                    <a:pt x="287" y="103"/>
                    <a:pt x="251" y="74"/>
                  </a:cubicBezTo>
                  <a:cubicBezTo>
                    <a:pt x="215" y="45"/>
                    <a:pt x="203" y="12"/>
                    <a:pt x="164" y="6"/>
                  </a:cubicBezTo>
                  <a:cubicBezTo>
                    <a:pt x="125" y="0"/>
                    <a:pt x="32" y="26"/>
                    <a:pt x="16" y="35"/>
                  </a:cubicBezTo>
                  <a:cubicBezTo>
                    <a:pt x="0" y="44"/>
                    <a:pt x="59" y="57"/>
                    <a:pt x="68" y="61"/>
                  </a:cubicBezTo>
                  <a:cubicBezTo>
                    <a:pt x="77" y="65"/>
                    <a:pt x="68" y="61"/>
                    <a:pt x="68" y="61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4" name="Freeform 21"/>
            <p:cNvSpPr>
              <a:spLocks/>
            </p:cNvSpPr>
            <p:nvPr/>
          </p:nvSpPr>
          <p:spPr bwMode="auto">
            <a:xfrm>
              <a:off x="816" y="850"/>
              <a:ext cx="3204" cy="1197"/>
            </a:xfrm>
            <a:custGeom>
              <a:avLst/>
              <a:gdLst>
                <a:gd name="T0" fmla="*/ 3204 w 3204"/>
                <a:gd name="T1" fmla="*/ 1049 h 1303"/>
                <a:gd name="T2" fmla="*/ 3087 w 3204"/>
                <a:gd name="T3" fmla="*/ 618 h 1303"/>
                <a:gd name="T4" fmla="*/ 2878 w 3204"/>
                <a:gd name="T5" fmla="*/ 331 h 1303"/>
                <a:gd name="T6" fmla="*/ 2574 w 3204"/>
                <a:gd name="T7" fmla="*/ 135 h 1303"/>
                <a:gd name="T8" fmla="*/ 2308 w 3204"/>
                <a:gd name="T9" fmla="*/ 47 h 1303"/>
                <a:gd name="T10" fmla="*/ 2222 w 3204"/>
                <a:gd name="T11" fmla="*/ 31 h 1303"/>
                <a:gd name="T12" fmla="*/ 2039 w 3204"/>
                <a:gd name="T13" fmla="*/ 3 h 1303"/>
                <a:gd name="T14" fmla="*/ 1379 w 3204"/>
                <a:gd name="T15" fmla="*/ 47 h 1303"/>
                <a:gd name="T16" fmla="*/ 880 w 3204"/>
                <a:gd name="T17" fmla="*/ 257 h 1303"/>
                <a:gd name="T18" fmla="*/ 375 w 3204"/>
                <a:gd name="T19" fmla="*/ 693 h 1303"/>
                <a:gd name="T20" fmla="*/ 0 w 3204"/>
                <a:gd name="T21" fmla="*/ 1303 h 130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204"/>
                <a:gd name="T34" fmla="*/ 0 h 1303"/>
                <a:gd name="T35" fmla="*/ 3204 w 3204"/>
                <a:gd name="T36" fmla="*/ 1303 h 130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204" h="1303">
                  <a:moveTo>
                    <a:pt x="3204" y="1049"/>
                  </a:moveTo>
                  <a:cubicBezTo>
                    <a:pt x="3182" y="977"/>
                    <a:pt x="3141" y="738"/>
                    <a:pt x="3087" y="618"/>
                  </a:cubicBezTo>
                  <a:cubicBezTo>
                    <a:pt x="3033" y="498"/>
                    <a:pt x="2964" y="411"/>
                    <a:pt x="2878" y="331"/>
                  </a:cubicBezTo>
                  <a:cubicBezTo>
                    <a:pt x="2792" y="251"/>
                    <a:pt x="2669" y="182"/>
                    <a:pt x="2574" y="135"/>
                  </a:cubicBezTo>
                  <a:cubicBezTo>
                    <a:pt x="2479" y="88"/>
                    <a:pt x="2366" y="64"/>
                    <a:pt x="2308" y="47"/>
                  </a:cubicBezTo>
                  <a:cubicBezTo>
                    <a:pt x="2250" y="30"/>
                    <a:pt x="2266" y="38"/>
                    <a:pt x="2222" y="31"/>
                  </a:cubicBezTo>
                  <a:cubicBezTo>
                    <a:pt x="2177" y="24"/>
                    <a:pt x="2180" y="0"/>
                    <a:pt x="2039" y="3"/>
                  </a:cubicBezTo>
                  <a:cubicBezTo>
                    <a:pt x="1899" y="6"/>
                    <a:pt x="1573" y="6"/>
                    <a:pt x="1379" y="47"/>
                  </a:cubicBezTo>
                  <a:cubicBezTo>
                    <a:pt x="1186" y="87"/>
                    <a:pt x="1047" y="148"/>
                    <a:pt x="880" y="257"/>
                  </a:cubicBezTo>
                  <a:cubicBezTo>
                    <a:pt x="713" y="365"/>
                    <a:pt x="522" y="521"/>
                    <a:pt x="375" y="693"/>
                  </a:cubicBezTo>
                  <a:cubicBezTo>
                    <a:pt x="227" y="866"/>
                    <a:pt x="77" y="1178"/>
                    <a:pt x="0" y="1303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5" name="Oval 22"/>
            <p:cNvSpPr>
              <a:spLocks noChangeArrowheads="1"/>
            </p:cNvSpPr>
            <p:nvPr/>
          </p:nvSpPr>
          <p:spPr bwMode="auto">
            <a:xfrm>
              <a:off x="2448" y="2356"/>
              <a:ext cx="857" cy="846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编制与调试应用程序</a:t>
              </a:r>
              <a:endParaRPr kumimoji="1" lang="zh-CN" altLang="en-US" sz="2000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" name="Line 23"/>
            <p:cNvSpPr>
              <a:spLocks noChangeShapeType="1"/>
            </p:cNvSpPr>
            <p:nvPr/>
          </p:nvSpPr>
          <p:spPr bwMode="auto">
            <a:xfrm>
              <a:off x="2160" y="2444"/>
              <a:ext cx="288" cy="309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7" name="Line 24"/>
            <p:cNvSpPr>
              <a:spLocks noChangeShapeType="1"/>
            </p:cNvSpPr>
            <p:nvPr/>
          </p:nvSpPr>
          <p:spPr bwMode="auto">
            <a:xfrm flipV="1">
              <a:off x="3312" y="2444"/>
              <a:ext cx="240" cy="309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8" name="AutoShape 25"/>
            <p:cNvSpPr>
              <a:spLocks noChangeArrowheads="1"/>
            </p:cNvSpPr>
            <p:nvPr/>
          </p:nvSpPr>
          <p:spPr bwMode="auto">
            <a:xfrm>
              <a:off x="4080" y="3414"/>
              <a:ext cx="768" cy="618"/>
            </a:xfrm>
            <a:prstGeom prst="star16">
              <a:avLst>
                <a:gd name="adj" fmla="val 37500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</a:t>
              </a:r>
            </a:p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系统</a:t>
              </a:r>
              <a:endParaRPr kumimoji="1" lang="zh-CN" altLang="en-US" sz="24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Freeform 26"/>
            <p:cNvSpPr>
              <a:spLocks/>
            </p:cNvSpPr>
            <p:nvPr/>
          </p:nvSpPr>
          <p:spPr bwMode="auto">
            <a:xfrm>
              <a:off x="1872" y="1033"/>
              <a:ext cx="2031" cy="769"/>
            </a:xfrm>
            <a:custGeom>
              <a:avLst/>
              <a:gdLst>
                <a:gd name="T0" fmla="*/ 2031 w 2031"/>
                <a:gd name="T1" fmla="*/ 837 h 837"/>
                <a:gd name="T2" fmla="*/ 1927 w 2031"/>
                <a:gd name="T3" fmla="*/ 523 h 837"/>
                <a:gd name="T4" fmla="*/ 1835 w 2031"/>
                <a:gd name="T5" fmla="*/ 341 h 837"/>
                <a:gd name="T6" fmla="*/ 1651 w 2031"/>
                <a:gd name="T7" fmla="*/ 207 h 837"/>
                <a:gd name="T8" fmla="*/ 1476 w 2031"/>
                <a:gd name="T9" fmla="*/ 85 h 837"/>
                <a:gd name="T10" fmla="*/ 1324 w 2031"/>
                <a:gd name="T11" fmla="*/ 29 h 837"/>
                <a:gd name="T12" fmla="*/ 1274 w 2031"/>
                <a:gd name="T13" fmla="*/ 19 h 837"/>
                <a:gd name="T14" fmla="*/ 1169 w 2031"/>
                <a:gd name="T15" fmla="*/ 2 h 837"/>
                <a:gd name="T16" fmla="*/ 791 w 2031"/>
                <a:gd name="T17" fmla="*/ 29 h 837"/>
                <a:gd name="T18" fmla="*/ 505 w 2031"/>
                <a:gd name="T19" fmla="*/ 161 h 837"/>
                <a:gd name="T20" fmla="*/ 215 w 2031"/>
                <a:gd name="T21" fmla="*/ 434 h 837"/>
                <a:gd name="T22" fmla="*/ 0 w 2031"/>
                <a:gd name="T23" fmla="*/ 816 h 83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31"/>
                <a:gd name="T37" fmla="*/ 0 h 837"/>
                <a:gd name="T38" fmla="*/ 2031 w 2031"/>
                <a:gd name="T39" fmla="*/ 837 h 83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31" h="837">
                  <a:moveTo>
                    <a:pt x="2031" y="837"/>
                  </a:moveTo>
                  <a:cubicBezTo>
                    <a:pt x="2014" y="785"/>
                    <a:pt x="1960" y="606"/>
                    <a:pt x="1927" y="523"/>
                  </a:cubicBezTo>
                  <a:cubicBezTo>
                    <a:pt x="1894" y="440"/>
                    <a:pt x="1881" y="394"/>
                    <a:pt x="1835" y="341"/>
                  </a:cubicBezTo>
                  <a:cubicBezTo>
                    <a:pt x="1789" y="288"/>
                    <a:pt x="1711" y="250"/>
                    <a:pt x="1651" y="207"/>
                  </a:cubicBezTo>
                  <a:cubicBezTo>
                    <a:pt x="1591" y="164"/>
                    <a:pt x="1531" y="114"/>
                    <a:pt x="1476" y="85"/>
                  </a:cubicBezTo>
                  <a:cubicBezTo>
                    <a:pt x="1422" y="55"/>
                    <a:pt x="1357" y="40"/>
                    <a:pt x="1324" y="29"/>
                  </a:cubicBezTo>
                  <a:cubicBezTo>
                    <a:pt x="1290" y="19"/>
                    <a:pt x="1300" y="24"/>
                    <a:pt x="1274" y="19"/>
                  </a:cubicBezTo>
                  <a:cubicBezTo>
                    <a:pt x="1249" y="15"/>
                    <a:pt x="1250" y="0"/>
                    <a:pt x="1169" y="2"/>
                  </a:cubicBezTo>
                  <a:cubicBezTo>
                    <a:pt x="1089" y="4"/>
                    <a:pt x="902" y="4"/>
                    <a:pt x="791" y="29"/>
                  </a:cubicBezTo>
                  <a:cubicBezTo>
                    <a:pt x="680" y="54"/>
                    <a:pt x="600" y="93"/>
                    <a:pt x="505" y="161"/>
                  </a:cubicBezTo>
                  <a:cubicBezTo>
                    <a:pt x="409" y="229"/>
                    <a:pt x="299" y="326"/>
                    <a:pt x="215" y="434"/>
                  </a:cubicBezTo>
                  <a:cubicBezTo>
                    <a:pt x="130" y="542"/>
                    <a:pt x="44" y="738"/>
                    <a:pt x="0" y="816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0" name="Freeform 27"/>
            <p:cNvSpPr>
              <a:spLocks/>
            </p:cNvSpPr>
            <p:nvPr/>
          </p:nvSpPr>
          <p:spPr bwMode="auto">
            <a:xfrm>
              <a:off x="3264" y="2629"/>
              <a:ext cx="496" cy="360"/>
            </a:xfrm>
            <a:custGeom>
              <a:avLst/>
              <a:gdLst>
                <a:gd name="T0" fmla="*/ 496 w 496"/>
                <a:gd name="T1" fmla="*/ 0 h 392"/>
                <a:gd name="T2" fmla="*/ 443 w 496"/>
                <a:gd name="T3" fmla="*/ 130 h 392"/>
                <a:gd name="T4" fmla="*/ 313 w 496"/>
                <a:gd name="T5" fmla="*/ 274 h 392"/>
                <a:gd name="T6" fmla="*/ 96 w 496"/>
                <a:gd name="T7" fmla="*/ 375 h 392"/>
                <a:gd name="T8" fmla="*/ 0 w 496"/>
                <a:gd name="T9" fmla="*/ 375 h 3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6"/>
                <a:gd name="T16" fmla="*/ 0 h 392"/>
                <a:gd name="T17" fmla="*/ 496 w 496"/>
                <a:gd name="T18" fmla="*/ 392 h 3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6" h="392">
                  <a:moveTo>
                    <a:pt x="496" y="0"/>
                  </a:moveTo>
                  <a:cubicBezTo>
                    <a:pt x="487" y="22"/>
                    <a:pt x="473" y="84"/>
                    <a:pt x="443" y="130"/>
                  </a:cubicBezTo>
                  <a:cubicBezTo>
                    <a:pt x="413" y="176"/>
                    <a:pt x="371" y="233"/>
                    <a:pt x="313" y="274"/>
                  </a:cubicBezTo>
                  <a:cubicBezTo>
                    <a:pt x="255" y="315"/>
                    <a:pt x="148" y="358"/>
                    <a:pt x="96" y="375"/>
                  </a:cubicBezTo>
                  <a:cubicBezTo>
                    <a:pt x="44" y="392"/>
                    <a:pt x="16" y="375"/>
                    <a:pt x="0" y="375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1" name="椭圆 60"/>
          <p:cNvSpPr/>
          <p:nvPr/>
        </p:nvSpPr>
        <p:spPr>
          <a:xfrm>
            <a:off x="2159708" y="3876259"/>
            <a:ext cx="1277619" cy="103935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7212348" y="1746904"/>
            <a:ext cx="4596064" cy="36933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1.create  table  stocks(</a:t>
            </a:r>
          </a:p>
          <a:p>
            <a:r>
              <a:rPr lang="en-US" altLang="zh-CN" sz="2400" dirty="0"/>
              <a:t>   </a:t>
            </a:r>
            <a:r>
              <a:rPr lang="en-US" altLang="zh-CN" sz="2400" dirty="0" err="1"/>
              <a:t>mat_no</a:t>
            </a:r>
            <a:r>
              <a:rPr lang="en-US" altLang="zh-CN" sz="2400" dirty="0"/>
              <a:t>  char(8) </a:t>
            </a:r>
            <a:r>
              <a:rPr lang="en-US" altLang="zh-CN" sz="2400" dirty="0">
                <a:solidFill>
                  <a:srgbClr val="FF0000"/>
                </a:solidFill>
              </a:rPr>
              <a:t>primary key</a:t>
            </a:r>
            <a:r>
              <a:rPr lang="en-US" altLang="zh-CN" sz="2400" dirty="0"/>
              <a:t>,</a:t>
            </a:r>
          </a:p>
          <a:p>
            <a:r>
              <a:rPr lang="en-US" altLang="zh-CN" sz="2400" dirty="0"/>
              <a:t>  ……….</a:t>
            </a:r>
            <a:r>
              <a:rPr lang="en-US" altLang="zh-CN" sz="2400" dirty="0">
                <a:solidFill>
                  <a:srgbClr val="FF0000"/>
                </a:solidFill>
              </a:rPr>
              <a:t>check</a:t>
            </a:r>
            <a:r>
              <a:rPr lang="en-US" altLang="zh-CN" sz="2400" dirty="0"/>
              <a:t>…….</a:t>
            </a:r>
          </a:p>
          <a:p>
            <a:r>
              <a:rPr lang="en-US" altLang="zh-CN" sz="2400" dirty="0"/>
              <a:t>);</a:t>
            </a:r>
          </a:p>
          <a:p>
            <a:r>
              <a:rPr lang="en-US" altLang="zh-CN" sz="2400" dirty="0"/>
              <a:t>………..</a:t>
            </a:r>
          </a:p>
          <a:p>
            <a:r>
              <a:rPr lang="en-US" altLang="zh-CN" sz="2400" dirty="0"/>
              <a:t>2.create view  view1(………);</a:t>
            </a:r>
          </a:p>
          <a:p>
            <a:r>
              <a:rPr lang="en-US" altLang="zh-CN" sz="2400" dirty="0"/>
              <a:t>…………</a:t>
            </a:r>
          </a:p>
          <a:p>
            <a:r>
              <a:rPr lang="en-US" altLang="zh-CN" sz="2400" dirty="0"/>
              <a:t>3.create index  ……..</a:t>
            </a:r>
          </a:p>
          <a:p>
            <a:r>
              <a:rPr lang="en-US" altLang="zh-CN" sz="2400" dirty="0"/>
              <a:t>………</a:t>
            </a:r>
            <a:endParaRPr lang="zh-CN" altLang="en-US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72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10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98648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实施、运行与维护</a:t>
            </a:r>
          </a:p>
        </p:txBody>
      </p:sp>
      <p:sp>
        <p:nvSpPr>
          <p:cNvPr id="11" name="文本框 94"/>
          <p:cNvSpPr txBox="1">
            <a:spLocks noChangeArrowheads="1"/>
          </p:cNvSpPr>
          <p:nvPr/>
        </p:nvSpPr>
        <p:spPr bwMode="auto">
          <a:xfrm>
            <a:off x="6414417" y="65515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数据库实施</a:t>
            </a:r>
          </a:p>
        </p:txBody>
      </p:sp>
      <p:cxnSp>
        <p:nvCxnSpPr>
          <p:cNvPr id="12" name="直接连接符 11"/>
          <p:cNvCxnSpPr/>
          <p:nvPr/>
        </p:nvCxnSpPr>
        <p:spPr>
          <a:xfrm rot="5400000">
            <a:off x="6058107" y="279268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9600" y="1106905"/>
            <a:ext cx="856648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第二步：数据装载（</a:t>
            </a:r>
            <a:r>
              <a:rPr kumimoji="1" lang="en-US" altLang="zh-CN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ETL</a:t>
            </a:r>
            <a:r>
              <a:rPr kumimoji="1" lang="zh-CN" altLang="en-US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）</a:t>
            </a:r>
          </a:p>
        </p:txBody>
      </p:sp>
      <p:grpSp>
        <p:nvGrpSpPr>
          <p:cNvPr id="14" name="Group 3"/>
          <p:cNvGrpSpPr>
            <a:grpSpLocks/>
          </p:cNvGrpSpPr>
          <p:nvPr/>
        </p:nvGrpSpPr>
        <p:grpSpPr bwMode="auto">
          <a:xfrm>
            <a:off x="302017" y="2683538"/>
            <a:ext cx="8208963" cy="4005262"/>
            <a:chOff x="432" y="768"/>
            <a:chExt cx="4896" cy="3264"/>
          </a:xfrm>
        </p:grpSpPr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1288" y="768"/>
              <a:ext cx="3142" cy="2514"/>
            </a:xfrm>
            <a:prstGeom prst="rect">
              <a:avLst/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24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数据库实施</a:t>
              </a:r>
              <a:endParaRPr kumimoji="1" lang="zh-CN" altLang="en-US" sz="10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Line 5"/>
            <p:cNvSpPr>
              <a:spLocks noChangeShapeType="1"/>
            </p:cNvSpPr>
            <p:nvPr/>
          </p:nvSpPr>
          <p:spPr bwMode="auto">
            <a:xfrm>
              <a:off x="791" y="2085"/>
              <a:ext cx="718" cy="0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Oval 6"/>
            <p:cNvSpPr>
              <a:spLocks noChangeArrowheads="1"/>
            </p:cNvSpPr>
            <p:nvPr/>
          </p:nvSpPr>
          <p:spPr bwMode="auto">
            <a:xfrm>
              <a:off x="1536" y="1738"/>
              <a:ext cx="762" cy="847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000" b="1" i="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定义数据库结构</a:t>
              </a:r>
              <a:endParaRPr kumimoji="1" lang="zh-CN" altLang="en-US" sz="1200" b="1" i="0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" name="Line 7"/>
            <p:cNvSpPr>
              <a:spLocks noChangeShapeType="1"/>
            </p:cNvSpPr>
            <p:nvPr/>
          </p:nvSpPr>
          <p:spPr bwMode="auto">
            <a:xfrm flipV="1">
              <a:off x="2112" y="1562"/>
              <a:ext cx="301" cy="261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Oval 8"/>
            <p:cNvSpPr>
              <a:spLocks noChangeArrowheads="1"/>
            </p:cNvSpPr>
            <p:nvPr/>
          </p:nvSpPr>
          <p:spPr bwMode="auto">
            <a:xfrm>
              <a:off x="2431" y="1145"/>
              <a:ext cx="857" cy="846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000" b="1" i="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</a:t>
              </a:r>
            </a:p>
            <a:p>
              <a:pPr algn="ctr" eaLnBrk="1" hangingPunct="1"/>
              <a:r>
                <a:rPr kumimoji="1" lang="zh-CN" altLang="en-US" sz="2000" b="1" i="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装载</a:t>
              </a:r>
              <a:endParaRPr kumimoji="1" lang="zh-CN" altLang="en-US" i="0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Line 9"/>
            <p:cNvSpPr>
              <a:spLocks noChangeShapeType="1"/>
            </p:cNvSpPr>
            <p:nvPr/>
          </p:nvSpPr>
          <p:spPr bwMode="auto">
            <a:xfrm>
              <a:off x="3312" y="1518"/>
              <a:ext cx="342" cy="306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Oval 10"/>
            <p:cNvSpPr>
              <a:spLocks noChangeArrowheads="1"/>
            </p:cNvSpPr>
            <p:nvPr/>
          </p:nvSpPr>
          <p:spPr bwMode="auto">
            <a:xfrm>
              <a:off x="3456" y="1782"/>
              <a:ext cx="761" cy="847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kumimoji="1" lang="en-US" altLang="zh-CN" sz="1000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kumimoji="1" lang="en-US" altLang="zh-CN" sz="1000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数据库试运行</a:t>
              </a:r>
              <a:endParaRPr kumimoji="1" lang="zh-CN" altLang="en-US" sz="1000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Line 11"/>
            <p:cNvSpPr>
              <a:spLocks noChangeShapeType="1"/>
            </p:cNvSpPr>
            <p:nvPr/>
          </p:nvSpPr>
          <p:spPr bwMode="auto">
            <a:xfrm>
              <a:off x="4249" y="2173"/>
              <a:ext cx="539" cy="0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2"/>
            <p:cNvSpPr>
              <a:spLocks noChangeShapeType="1"/>
            </p:cNvSpPr>
            <p:nvPr/>
          </p:nvSpPr>
          <p:spPr bwMode="auto">
            <a:xfrm>
              <a:off x="4608" y="2079"/>
              <a:ext cx="0" cy="189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3"/>
            <p:cNvSpPr>
              <a:spLocks noChangeShapeType="1"/>
            </p:cNvSpPr>
            <p:nvPr/>
          </p:nvSpPr>
          <p:spPr bwMode="auto">
            <a:xfrm>
              <a:off x="1104" y="1994"/>
              <a:ext cx="1" cy="188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Box 14"/>
            <p:cNvSpPr txBox="1">
              <a:spLocks noChangeArrowheads="1"/>
            </p:cNvSpPr>
            <p:nvPr/>
          </p:nvSpPr>
          <p:spPr bwMode="auto">
            <a:xfrm>
              <a:off x="432" y="2179"/>
              <a:ext cx="71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数据库物</a:t>
              </a:r>
            </a:p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理设计</a:t>
              </a:r>
              <a:endParaRPr kumimoji="1" lang="zh-CN" altLang="en-US" sz="10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" name="Text Box 15"/>
            <p:cNvSpPr txBox="1">
              <a:spLocks noChangeArrowheads="1"/>
            </p:cNvSpPr>
            <p:nvPr/>
          </p:nvSpPr>
          <p:spPr bwMode="auto">
            <a:xfrm>
              <a:off x="4608" y="2268"/>
              <a:ext cx="72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数据库运</a:t>
              </a:r>
            </a:p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行和维护</a:t>
              </a:r>
            </a:p>
            <a:p>
              <a:pPr algn="just" eaLnBrk="1" hangingPunct="1"/>
              <a:endParaRPr kumimoji="1" lang="en-US" altLang="zh-CN" sz="16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" name="AutoShape 16"/>
            <p:cNvSpPr>
              <a:spLocks noChangeArrowheads="1"/>
            </p:cNvSpPr>
            <p:nvPr/>
          </p:nvSpPr>
          <p:spPr bwMode="auto">
            <a:xfrm>
              <a:off x="720" y="3414"/>
              <a:ext cx="449" cy="486"/>
            </a:xfrm>
            <a:prstGeom prst="octagon">
              <a:avLst>
                <a:gd name="adj" fmla="val 29287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物理</a:t>
              </a:r>
            </a:p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模型</a:t>
              </a:r>
              <a:endParaRPr kumimoji="1" lang="zh-CN" altLang="en-US" sz="10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AutoShape 17"/>
            <p:cNvSpPr>
              <a:spLocks noChangeArrowheads="1"/>
            </p:cNvSpPr>
            <p:nvPr/>
          </p:nvSpPr>
          <p:spPr bwMode="auto">
            <a:xfrm rot="4214242">
              <a:off x="263" y="2882"/>
              <a:ext cx="838" cy="124"/>
            </a:xfrm>
            <a:prstGeom prst="rightArrow">
              <a:avLst>
                <a:gd name="adj1" fmla="val 50000"/>
                <a:gd name="adj2" fmla="val 168952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" name="AutoShape 18"/>
            <p:cNvSpPr>
              <a:spLocks noChangeArrowheads="1"/>
            </p:cNvSpPr>
            <p:nvPr/>
          </p:nvSpPr>
          <p:spPr bwMode="auto">
            <a:xfrm rot="4014648">
              <a:off x="3697" y="2960"/>
              <a:ext cx="890" cy="109"/>
            </a:xfrm>
            <a:prstGeom prst="rightArrow">
              <a:avLst>
                <a:gd name="adj1" fmla="val 50000"/>
                <a:gd name="adj2" fmla="val 204128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AutoShape 19"/>
            <p:cNvSpPr>
              <a:spLocks noChangeArrowheads="1"/>
            </p:cNvSpPr>
            <p:nvPr/>
          </p:nvSpPr>
          <p:spPr bwMode="auto">
            <a:xfrm rot="-3531503">
              <a:off x="886" y="2870"/>
              <a:ext cx="1009" cy="94"/>
            </a:xfrm>
            <a:prstGeom prst="rightArrow">
              <a:avLst>
                <a:gd name="adj1" fmla="val 50000"/>
                <a:gd name="adj2" fmla="val 268351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" name="Freeform 20"/>
            <p:cNvSpPr>
              <a:spLocks/>
            </p:cNvSpPr>
            <p:nvPr/>
          </p:nvSpPr>
          <p:spPr bwMode="auto">
            <a:xfrm>
              <a:off x="3196" y="1302"/>
              <a:ext cx="535" cy="499"/>
            </a:xfrm>
            <a:custGeom>
              <a:avLst/>
              <a:gdLst>
                <a:gd name="T0" fmla="*/ 535 w 535"/>
                <a:gd name="T1" fmla="*/ 543 h 543"/>
                <a:gd name="T2" fmla="*/ 381 w 535"/>
                <a:gd name="T3" fmla="*/ 178 h 543"/>
                <a:gd name="T4" fmla="*/ 251 w 535"/>
                <a:gd name="T5" fmla="*/ 74 h 543"/>
                <a:gd name="T6" fmla="*/ 164 w 535"/>
                <a:gd name="T7" fmla="*/ 6 h 543"/>
                <a:gd name="T8" fmla="*/ 16 w 535"/>
                <a:gd name="T9" fmla="*/ 35 h 543"/>
                <a:gd name="T10" fmla="*/ 68 w 535"/>
                <a:gd name="T11" fmla="*/ 61 h 543"/>
                <a:gd name="T12" fmla="*/ 68 w 535"/>
                <a:gd name="T13" fmla="*/ 61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35"/>
                <a:gd name="T22" fmla="*/ 0 h 543"/>
                <a:gd name="T23" fmla="*/ 535 w 535"/>
                <a:gd name="T24" fmla="*/ 543 h 5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35" h="543">
                  <a:moveTo>
                    <a:pt x="535" y="543"/>
                  </a:moveTo>
                  <a:cubicBezTo>
                    <a:pt x="509" y="482"/>
                    <a:pt x="428" y="256"/>
                    <a:pt x="381" y="178"/>
                  </a:cubicBezTo>
                  <a:cubicBezTo>
                    <a:pt x="334" y="100"/>
                    <a:pt x="287" y="103"/>
                    <a:pt x="251" y="74"/>
                  </a:cubicBezTo>
                  <a:cubicBezTo>
                    <a:pt x="215" y="45"/>
                    <a:pt x="203" y="12"/>
                    <a:pt x="164" y="6"/>
                  </a:cubicBezTo>
                  <a:cubicBezTo>
                    <a:pt x="125" y="0"/>
                    <a:pt x="32" y="26"/>
                    <a:pt x="16" y="35"/>
                  </a:cubicBezTo>
                  <a:cubicBezTo>
                    <a:pt x="0" y="44"/>
                    <a:pt x="59" y="57"/>
                    <a:pt x="68" y="61"/>
                  </a:cubicBezTo>
                  <a:cubicBezTo>
                    <a:pt x="77" y="65"/>
                    <a:pt x="68" y="61"/>
                    <a:pt x="68" y="61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" name="Freeform 21"/>
            <p:cNvSpPr>
              <a:spLocks/>
            </p:cNvSpPr>
            <p:nvPr/>
          </p:nvSpPr>
          <p:spPr bwMode="auto">
            <a:xfrm>
              <a:off x="816" y="850"/>
              <a:ext cx="3204" cy="1197"/>
            </a:xfrm>
            <a:custGeom>
              <a:avLst/>
              <a:gdLst>
                <a:gd name="T0" fmla="*/ 3204 w 3204"/>
                <a:gd name="T1" fmla="*/ 1049 h 1303"/>
                <a:gd name="T2" fmla="*/ 3087 w 3204"/>
                <a:gd name="T3" fmla="*/ 618 h 1303"/>
                <a:gd name="T4" fmla="*/ 2878 w 3204"/>
                <a:gd name="T5" fmla="*/ 331 h 1303"/>
                <a:gd name="T6" fmla="*/ 2574 w 3204"/>
                <a:gd name="T7" fmla="*/ 135 h 1303"/>
                <a:gd name="T8" fmla="*/ 2308 w 3204"/>
                <a:gd name="T9" fmla="*/ 47 h 1303"/>
                <a:gd name="T10" fmla="*/ 2222 w 3204"/>
                <a:gd name="T11" fmla="*/ 31 h 1303"/>
                <a:gd name="T12" fmla="*/ 2039 w 3204"/>
                <a:gd name="T13" fmla="*/ 3 h 1303"/>
                <a:gd name="T14" fmla="*/ 1379 w 3204"/>
                <a:gd name="T15" fmla="*/ 47 h 1303"/>
                <a:gd name="T16" fmla="*/ 880 w 3204"/>
                <a:gd name="T17" fmla="*/ 257 h 1303"/>
                <a:gd name="T18" fmla="*/ 375 w 3204"/>
                <a:gd name="T19" fmla="*/ 693 h 1303"/>
                <a:gd name="T20" fmla="*/ 0 w 3204"/>
                <a:gd name="T21" fmla="*/ 1303 h 130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204"/>
                <a:gd name="T34" fmla="*/ 0 h 1303"/>
                <a:gd name="T35" fmla="*/ 3204 w 3204"/>
                <a:gd name="T36" fmla="*/ 1303 h 130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204" h="1303">
                  <a:moveTo>
                    <a:pt x="3204" y="1049"/>
                  </a:moveTo>
                  <a:cubicBezTo>
                    <a:pt x="3182" y="977"/>
                    <a:pt x="3141" y="738"/>
                    <a:pt x="3087" y="618"/>
                  </a:cubicBezTo>
                  <a:cubicBezTo>
                    <a:pt x="3033" y="498"/>
                    <a:pt x="2964" y="411"/>
                    <a:pt x="2878" y="331"/>
                  </a:cubicBezTo>
                  <a:cubicBezTo>
                    <a:pt x="2792" y="251"/>
                    <a:pt x="2669" y="182"/>
                    <a:pt x="2574" y="135"/>
                  </a:cubicBezTo>
                  <a:cubicBezTo>
                    <a:pt x="2479" y="88"/>
                    <a:pt x="2366" y="64"/>
                    <a:pt x="2308" y="47"/>
                  </a:cubicBezTo>
                  <a:cubicBezTo>
                    <a:pt x="2250" y="30"/>
                    <a:pt x="2266" y="38"/>
                    <a:pt x="2222" y="31"/>
                  </a:cubicBezTo>
                  <a:cubicBezTo>
                    <a:pt x="2177" y="24"/>
                    <a:pt x="2180" y="0"/>
                    <a:pt x="2039" y="3"/>
                  </a:cubicBezTo>
                  <a:cubicBezTo>
                    <a:pt x="1899" y="6"/>
                    <a:pt x="1573" y="6"/>
                    <a:pt x="1379" y="47"/>
                  </a:cubicBezTo>
                  <a:cubicBezTo>
                    <a:pt x="1186" y="87"/>
                    <a:pt x="1047" y="148"/>
                    <a:pt x="880" y="257"/>
                  </a:cubicBezTo>
                  <a:cubicBezTo>
                    <a:pt x="713" y="365"/>
                    <a:pt x="522" y="521"/>
                    <a:pt x="375" y="693"/>
                  </a:cubicBezTo>
                  <a:cubicBezTo>
                    <a:pt x="227" y="866"/>
                    <a:pt x="77" y="1178"/>
                    <a:pt x="0" y="1303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" name="Oval 22"/>
            <p:cNvSpPr>
              <a:spLocks noChangeArrowheads="1"/>
            </p:cNvSpPr>
            <p:nvPr/>
          </p:nvSpPr>
          <p:spPr bwMode="auto">
            <a:xfrm>
              <a:off x="2448" y="2356"/>
              <a:ext cx="857" cy="846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编制与调试应用程序</a:t>
              </a:r>
              <a:endParaRPr kumimoji="1" lang="zh-CN" altLang="en-US" sz="2000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" name="Line 23"/>
            <p:cNvSpPr>
              <a:spLocks noChangeShapeType="1"/>
            </p:cNvSpPr>
            <p:nvPr/>
          </p:nvSpPr>
          <p:spPr bwMode="auto">
            <a:xfrm>
              <a:off x="2160" y="2444"/>
              <a:ext cx="288" cy="309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6" name="Line 24"/>
            <p:cNvSpPr>
              <a:spLocks noChangeShapeType="1"/>
            </p:cNvSpPr>
            <p:nvPr/>
          </p:nvSpPr>
          <p:spPr bwMode="auto">
            <a:xfrm flipV="1">
              <a:off x="3312" y="2444"/>
              <a:ext cx="240" cy="309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7" name="AutoShape 25"/>
            <p:cNvSpPr>
              <a:spLocks noChangeArrowheads="1"/>
            </p:cNvSpPr>
            <p:nvPr/>
          </p:nvSpPr>
          <p:spPr bwMode="auto">
            <a:xfrm>
              <a:off x="4080" y="3414"/>
              <a:ext cx="768" cy="618"/>
            </a:xfrm>
            <a:prstGeom prst="star16">
              <a:avLst>
                <a:gd name="adj" fmla="val 37500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</a:t>
              </a:r>
            </a:p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系统</a:t>
              </a:r>
              <a:endParaRPr kumimoji="1" lang="zh-CN" altLang="en-US" sz="24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" name="Freeform 26"/>
            <p:cNvSpPr>
              <a:spLocks/>
            </p:cNvSpPr>
            <p:nvPr/>
          </p:nvSpPr>
          <p:spPr bwMode="auto">
            <a:xfrm>
              <a:off x="1872" y="1033"/>
              <a:ext cx="2031" cy="769"/>
            </a:xfrm>
            <a:custGeom>
              <a:avLst/>
              <a:gdLst>
                <a:gd name="T0" fmla="*/ 2031 w 2031"/>
                <a:gd name="T1" fmla="*/ 837 h 837"/>
                <a:gd name="T2" fmla="*/ 1927 w 2031"/>
                <a:gd name="T3" fmla="*/ 523 h 837"/>
                <a:gd name="T4" fmla="*/ 1835 w 2031"/>
                <a:gd name="T5" fmla="*/ 341 h 837"/>
                <a:gd name="T6" fmla="*/ 1651 w 2031"/>
                <a:gd name="T7" fmla="*/ 207 h 837"/>
                <a:gd name="T8" fmla="*/ 1476 w 2031"/>
                <a:gd name="T9" fmla="*/ 85 h 837"/>
                <a:gd name="T10" fmla="*/ 1324 w 2031"/>
                <a:gd name="T11" fmla="*/ 29 h 837"/>
                <a:gd name="T12" fmla="*/ 1274 w 2031"/>
                <a:gd name="T13" fmla="*/ 19 h 837"/>
                <a:gd name="T14" fmla="*/ 1169 w 2031"/>
                <a:gd name="T15" fmla="*/ 2 h 837"/>
                <a:gd name="T16" fmla="*/ 791 w 2031"/>
                <a:gd name="T17" fmla="*/ 29 h 837"/>
                <a:gd name="T18" fmla="*/ 505 w 2031"/>
                <a:gd name="T19" fmla="*/ 161 h 837"/>
                <a:gd name="T20" fmla="*/ 215 w 2031"/>
                <a:gd name="T21" fmla="*/ 434 h 837"/>
                <a:gd name="T22" fmla="*/ 0 w 2031"/>
                <a:gd name="T23" fmla="*/ 816 h 83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31"/>
                <a:gd name="T37" fmla="*/ 0 h 837"/>
                <a:gd name="T38" fmla="*/ 2031 w 2031"/>
                <a:gd name="T39" fmla="*/ 837 h 83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31" h="837">
                  <a:moveTo>
                    <a:pt x="2031" y="837"/>
                  </a:moveTo>
                  <a:cubicBezTo>
                    <a:pt x="2014" y="785"/>
                    <a:pt x="1960" y="606"/>
                    <a:pt x="1927" y="523"/>
                  </a:cubicBezTo>
                  <a:cubicBezTo>
                    <a:pt x="1894" y="440"/>
                    <a:pt x="1881" y="394"/>
                    <a:pt x="1835" y="341"/>
                  </a:cubicBezTo>
                  <a:cubicBezTo>
                    <a:pt x="1789" y="288"/>
                    <a:pt x="1711" y="250"/>
                    <a:pt x="1651" y="207"/>
                  </a:cubicBezTo>
                  <a:cubicBezTo>
                    <a:pt x="1591" y="164"/>
                    <a:pt x="1531" y="114"/>
                    <a:pt x="1476" y="85"/>
                  </a:cubicBezTo>
                  <a:cubicBezTo>
                    <a:pt x="1422" y="55"/>
                    <a:pt x="1357" y="40"/>
                    <a:pt x="1324" y="29"/>
                  </a:cubicBezTo>
                  <a:cubicBezTo>
                    <a:pt x="1290" y="19"/>
                    <a:pt x="1300" y="24"/>
                    <a:pt x="1274" y="19"/>
                  </a:cubicBezTo>
                  <a:cubicBezTo>
                    <a:pt x="1249" y="15"/>
                    <a:pt x="1250" y="0"/>
                    <a:pt x="1169" y="2"/>
                  </a:cubicBezTo>
                  <a:cubicBezTo>
                    <a:pt x="1089" y="4"/>
                    <a:pt x="902" y="4"/>
                    <a:pt x="791" y="29"/>
                  </a:cubicBezTo>
                  <a:cubicBezTo>
                    <a:pt x="680" y="54"/>
                    <a:pt x="600" y="93"/>
                    <a:pt x="505" y="161"/>
                  </a:cubicBezTo>
                  <a:cubicBezTo>
                    <a:pt x="409" y="229"/>
                    <a:pt x="299" y="326"/>
                    <a:pt x="215" y="434"/>
                  </a:cubicBezTo>
                  <a:cubicBezTo>
                    <a:pt x="130" y="542"/>
                    <a:pt x="44" y="738"/>
                    <a:pt x="0" y="816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" name="Freeform 27"/>
            <p:cNvSpPr>
              <a:spLocks/>
            </p:cNvSpPr>
            <p:nvPr/>
          </p:nvSpPr>
          <p:spPr bwMode="auto">
            <a:xfrm>
              <a:off x="3264" y="2629"/>
              <a:ext cx="496" cy="360"/>
            </a:xfrm>
            <a:custGeom>
              <a:avLst/>
              <a:gdLst>
                <a:gd name="T0" fmla="*/ 496 w 496"/>
                <a:gd name="T1" fmla="*/ 0 h 392"/>
                <a:gd name="T2" fmla="*/ 443 w 496"/>
                <a:gd name="T3" fmla="*/ 130 h 392"/>
                <a:gd name="T4" fmla="*/ 313 w 496"/>
                <a:gd name="T5" fmla="*/ 274 h 392"/>
                <a:gd name="T6" fmla="*/ 96 w 496"/>
                <a:gd name="T7" fmla="*/ 375 h 392"/>
                <a:gd name="T8" fmla="*/ 0 w 496"/>
                <a:gd name="T9" fmla="*/ 375 h 3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6"/>
                <a:gd name="T16" fmla="*/ 0 h 392"/>
                <a:gd name="T17" fmla="*/ 496 w 496"/>
                <a:gd name="T18" fmla="*/ 392 h 3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6" h="392">
                  <a:moveTo>
                    <a:pt x="496" y="0"/>
                  </a:moveTo>
                  <a:cubicBezTo>
                    <a:pt x="487" y="22"/>
                    <a:pt x="473" y="84"/>
                    <a:pt x="443" y="130"/>
                  </a:cubicBezTo>
                  <a:cubicBezTo>
                    <a:pt x="413" y="176"/>
                    <a:pt x="371" y="233"/>
                    <a:pt x="313" y="274"/>
                  </a:cubicBezTo>
                  <a:cubicBezTo>
                    <a:pt x="255" y="315"/>
                    <a:pt x="148" y="358"/>
                    <a:pt x="96" y="375"/>
                  </a:cubicBezTo>
                  <a:cubicBezTo>
                    <a:pt x="44" y="392"/>
                    <a:pt x="16" y="375"/>
                    <a:pt x="0" y="375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0" name="椭圆 39"/>
          <p:cNvSpPr/>
          <p:nvPr/>
        </p:nvSpPr>
        <p:spPr>
          <a:xfrm>
            <a:off x="3682178" y="3160090"/>
            <a:ext cx="1408401" cy="103935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Rectangle 3"/>
          <p:cNvSpPr txBox="1">
            <a:spLocks noChangeArrowheads="1"/>
          </p:cNvSpPr>
          <p:nvPr/>
        </p:nvSpPr>
        <p:spPr bwMode="auto">
          <a:xfrm>
            <a:off x="6648203" y="1157630"/>
            <a:ext cx="5543797" cy="48924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b="1" dirty="0">
                <a:solidFill>
                  <a:srgbClr val="000066"/>
                </a:solidFill>
              </a:rPr>
              <a:t>数据库结构建立好后，就可以向数据库中装载数据了。</a:t>
            </a:r>
            <a:r>
              <a:rPr lang="zh-CN" altLang="en-US" b="1" dirty="0">
                <a:solidFill>
                  <a:srgbClr val="CC3300"/>
                </a:solidFill>
              </a:rPr>
              <a:t>转载数据和应用程序的编码、调试</a:t>
            </a:r>
            <a:r>
              <a:rPr lang="zh-CN" altLang="en-US" b="1" dirty="0">
                <a:solidFill>
                  <a:srgbClr val="000066"/>
                </a:solidFill>
              </a:rPr>
              <a:t>是数据库实施阶段最主要的工作。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b="1" dirty="0">
                <a:solidFill>
                  <a:srgbClr val="000066"/>
                </a:solidFill>
              </a:rPr>
              <a:t>数据装载（</a:t>
            </a:r>
            <a:r>
              <a:rPr lang="en-US" altLang="zh-CN" b="1" dirty="0">
                <a:solidFill>
                  <a:srgbClr val="000066"/>
                </a:solidFill>
              </a:rPr>
              <a:t>ETL</a:t>
            </a:r>
            <a:r>
              <a:rPr lang="zh-CN" altLang="en-US" b="1" dirty="0">
                <a:solidFill>
                  <a:srgbClr val="000066"/>
                </a:solidFill>
              </a:rPr>
              <a:t>）方法：</a:t>
            </a:r>
          </a:p>
          <a:p>
            <a:pPr marL="742950" lvl="1" indent="-285750" eaLnBrk="1" hangingPunct="1">
              <a:lnSpc>
                <a:spcPct val="105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kumimoji="1" lang="zh-CN" altLang="en-US" b="1" dirty="0">
                <a:solidFill>
                  <a:srgbClr val="000066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人工方法：适用于</a:t>
            </a:r>
            <a:r>
              <a:rPr lang="zh-CN" altLang="en-US" sz="2800" b="1" dirty="0">
                <a:solidFill>
                  <a:srgbClr val="CC3300"/>
                </a:solidFill>
              </a:rPr>
              <a:t>小型系统</a:t>
            </a:r>
          </a:p>
          <a:p>
            <a:pPr marL="742950" lvl="1" indent="-285750" eaLnBrk="1" hangingPunct="1">
              <a:lnSpc>
                <a:spcPct val="105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kumimoji="1" lang="zh-CN" altLang="en-US" b="1" dirty="0">
                <a:solidFill>
                  <a:srgbClr val="000066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计算机辅助数据入库：</a:t>
            </a:r>
            <a:r>
              <a:rPr lang="zh-CN" altLang="en-US" sz="2800" b="1" dirty="0">
                <a:solidFill>
                  <a:srgbClr val="CC3300"/>
                </a:solidFill>
              </a:rPr>
              <a:t>适用于中大型系统</a:t>
            </a:r>
          </a:p>
        </p:txBody>
      </p:sp>
    </p:spTree>
    <p:extLst>
      <p:ext uri="{BB962C8B-B14F-4D97-AF65-F5344CB8AC3E}">
        <p14:creationId xmlns:p14="http://schemas.microsoft.com/office/powerpoint/2010/main" val="11216530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605590" y="852111"/>
            <a:ext cx="81534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第三步：应用程序的设计、调试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98648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实施、运行与维护</a:t>
            </a:r>
          </a:p>
        </p:txBody>
      </p:sp>
      <p:sp>
        <p:nvSpPr>
          <p:cNvPr id="13" name="文本框 94"/>
          <p:cNvSpPr txBox="1">
            <a:spLocks noChangeArrowheads="1"/>
          </p:cNvSpPr>
          <p:nvPr/>
        </p:nvSpPr>
        <p:spPr bwMode="auto">
          <a:xfrm>
            <a:off x="6414417" y="65515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数据库实施</a:t>
            </a:r>
          </a:p>
        </p:txBody>
      </p:sp>
      <p:cxnSp>
        <p:nvCxnSpPr>
          <p:cNvPr id="14" name="直接连接符 13"/>
          <p:cNvCxnSpPr/>
          <p:nvPr/>
        </p:nvCxnSpPr>
        <p:spPr>
          <a:xfrm rot="5400000">
            <a:off x="6058107" y="279268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3"/>
          <p:cNvGrpSpPr>
            <a:grpSpLocks/>
          </p:cNvGrpSpPr>
          <p:nvPr/>
        </p:nvGrpSpPr>
        <p:grpSpPr bwMode="auto">
          <a:xfrm>
            <a:off x="339739" y="2640588"/>
            <a:ext cx="8208963" cy="4005262"/>
            <a:chOff x="432" y="768"/>
            <a:chExt cx="4896" cy="3264"/>
          </a:xfrm>
        </p:grpSpPr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>
              <a:off x="1288" y="768"/>
              <a:ext cx="3142" cy="2514"/>
            </a:xfrm>
            <a:prstGeom prst="rect">
              <a:avLst/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24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数据库实施</a:t>
              </a:r>
              <a:endParaRPr kumimoji="1" lang="zh-CN" altLang="en-US" sz="10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" name="Line 5"/>
            <p:cNvSpPr>
              <a:spLocks noChangeShapeType="1"/>
            </p:cNvSpPr>
            <p:nvPr/>
          </p:nvSpPr>
          <p:spPr bwMode="auto">
            <a:xfrm>
              <a:off x="791" y="2085"/>
              <a:ext cx="718" cy="0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Oval 6"/>
            <p:cNvSpPr>
              <a:spLocks noChangeArrowheads="1"/>
            </p:cNvSpPr>
            <p:nvPr/>
          </p:nvSpPr>
          <p:spPr bwMode="auto">
            <a:xfrm>
              <a:off x="1536" y="1738"/>
              <a:ext cx="762" cy="847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000" b="1" i="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定义数据库结构</a:t>
              </a:r>
              <a:endParaRPr kumimoji="1" lang="zh-CN" altLang="en-US" sz="1200" b="1" i="0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Line 7"/>
            <p:cNvSpPr>
              <a:spLocks noChangeShapeType="1"/>
            </p:cNvSpPr>
            <p:nvPr/>
          </p:nvSpPr>
          <p:spPr bwMode="auto">
            <a:xfrm flipV="1">
              <a:off x="2112" y="1562"/>
              <a:ext cx="301" cy="261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Oval 8"/>
            <p:cNvSpPr>
              <a:spLocks noChangeArrowheads="1"/>
            </p:cNvSpPr>
            <p:nvPr/>
          </p:nvSpPr>
          <p:spPr bwMode="auto">
            <a:xfrm>
              <a:off x="2431" y="1145"/>
              <a:ext cx="857" cy="846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000" b="1" i="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</a:t>
              </a:r>
            </a:p>
            <a:p>
              <a:pPr algn="ctr" eaLnBrk="1" hangingPunct="1"/>
              <a:r>
                <a:rPr kumimoji="1" lang="zh-CN" altLang="en-US" sz="2000" b="1" i="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装载</a:t>
              </a:r>
              <a:endParaRPr kumimoji="1" lang="zh-CN" altLang="en-US" i="0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Line 9"/>
            <p:cNvSpPr>
              <a:spLocks noChangeShapeType="1"/>
            </p:cNvSpPr>
            <p:nvPr/>
          </p:nvSpPr>
          <p:spPr bwMode="auto">
            <a:xfrm>
              <a:off x="3312" y="1518"/>
              <a:ext cx="342" cy="306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Oval 10"/>
            <p:cNvSpPr>
              <a:spLocks noChangeArrowheads="1"/>
            </p:cNvSpPr>
            <p:nvPr/>
          </p:nvSpPr>
          <p:spPr bwMode="auto">
            <a:xfrm>
              <a:off x="3456" y="1782"/>
              <a:ext cx="761" cy="847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kumimoji="1" lang="en-US" altLang="zh-CN" sz="1000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kumimoji="1" lang="en-US" altLang="zh-CN" sz="1000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数据库试运行</a:t>
              </a:r>
              <a:endParaRPr kumimoji="1" lang="zh-CN" altLang="en-US" sz="1000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Line 11"/>
            <p:cNvSpPr>
              <a:spLocks noChangeShapeType="1"/>
            </p:cNvSpPr>
            <p:nvPr/>
          </p:nvSpPr>
          <p:spPr bwMode="auto">
            <a:xfrm>
              <a:off x="4249" y="2173"/>
              <a:ext cx="539" cy="0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2"/>
            <p:cNvSpPr>
              <a:spLocks noChangeShapeType="1"/>
            </p:cNvSpPr>
            <p:nvPr/>
          </p:nvSpPr>
          <p:spPr bwMode="auto">
            <a:xfrm>
              <a:off x="4608" y="2079"/>
              <a:ext cx="0" cy="189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1104" y="1994"/>
              <a:ext cx="1" cy="188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14"/>
            <p:cNvSpPr txBox="1">
              <a:spLocks noChangeArrowheads="1"/>
            </p:cNvSpPr>
            <p:nvPr/>
          </p:nvSpPr>
          <p:spPr bwMode="auto">
            <a:xfrm>
              <a:off x="432" y="2179"/>
              <a:ext cx="71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数据库物</a:t>
              </a:r>
            </a:p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理设计</a:t>
              </a:r>
              <a:endParaRPr kumimoji="1" lang="zh-CN" altLang="en-US" sz="10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" name="Text Box 15"/>
            <p:cNvSpPr txBox="1">
              <a:spLocks noChangeArrowheads="1"/>
            </p:cNvSpPr>
            <p:nvPr/>
          </p:nvSpPr>
          <p:spPr bwMode="auto">
            <a:xfrm>
              <a:off x="4608" y="2268"/>
              <a:ext cx="72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数据库运</a:t>
              </a:r>
            </a:p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行和维护</a:t>
              </a:r>
            </a:p>
            <a:p>
              <a:pPr algn="just" eaLnBrk="1" hangingPunct="1"/>
              <a:endParaRPr kumimoji="1" lang="en-US" altLang="zh-CN" sz="16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AutoShape 16"/>
            <p:cNvSpPr>
              <a:spLocks noChangeArrowheads="1"/>
            </p:cNvSpPr>
            <p:nvPr/>
          </p:nvSpPr>
          <p:spPr bwMode="auto">
            <a:xfrm>
              <a:off x="720" y="3414"/>
              <a:ext cx="449" cy="486"/>
            </a:xfrm>
            <a:prstGeom prst="octagon">
              <a:avLst>
                <a:gd name="adj" fmla="val 29287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物理</a:t>
              </a:r>
            </a:p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模型</a:t>
              </a:r>
              <a:endParaRPr kumimoji="1" lang="zh-CN" altLang="en-US" sz="10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AutoShape 17"/>
            <p:cNvSpPr>
              <a:spLocks noChangeArrowheads="1"/>
            </p:cNvSpPr>
            <p:nvPr/>
          </p:nvSpPr>
          <p:spPr bwMode="auto">
            <a:xfrm rot="4214242">
              <a:off x="263" y="2882"/>
              <a:ext cx="838" cy="124"/>
            </a:xfrm>
            <a:prstGeom prst="rightArrow">
              <a:avLst>
                <a:gd name="adj1" fmla="val 50000"/>
                <a:gd name="adj2" fmla="val 168952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AutoShape 18"/>
            <p:cNvSpPr>
              <a:spLocks noChangeArrowheads="1"/>
            </p:cNvSpPr>
            <p:nvPr/>
          </p:nvSpPr>
          <p:spPr bwMode="auto">
            <a:xfrm rot="4014648">
              <a:off x="3697" y="2960"/>
              <a:ext cx="890" cy="109"/>
            </a:xfrm>
            <a:prstGeom prst="rightArrow">
              <a:avLst>
                <a:gd name="adj1" fmla="val 50000"/>
                <a:gd name="adj2" fmla="val 204128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" name="AutoShape 19"/>
            <p:cNvSpPr>
              <a:spLocks noChangeArrowheads="1"/>
            </p:cNvSpPr>
            <p:nvPr/>
          </p:nvSpPr>
          <p:spPr bwMode="auto">
            <a:xfrm rot="-3531503">
              <a:off x="886" y="2870"/>
              <a:ext cx="1009" cy="94"/>
            </a:xfrm>
            <a:prstGeom prst="rightArrow">
              <a:avLst>
                <a:gd name="adj1" fmla="val 50000"/>
                <a:gd name="adj2" fmla="val 268351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" name="Freeform 20"/>
            <p:cNvSpPr>
              <a:spLocks/>
            </p:cNvSpPr>
            <p:nvPr/>
          </p:nvSpPr>
          <p:spPr bwMode="auto">
            <a:xfrm>
              <a:off x="3196" y="1302"/>
              <a:ext cx="535" cy="499"/>
            </a:xfrm>
            <a:custGeom>
              <a:avLst/>
              <a:gdLst>
                <a:gd name="T0" fmla="*/ 535 w 535"/>
                <a:gd name="T1" fmla="*/ 543 h 543"/>
                <a:gd name="T2" fmla="*/ 381 w 535"/>
                <a:gd name="T3" fmla="*/ 178 h 543"/>
                <a:gd name="T4" fmla="*/ 251 w 535"/>
                <a:gd name="T5" fmla="*/ 74 h 543"/>
                <a:gd name="T6" fmla="*/ 164 w 535"/>
                <a:gd name="T7" fmla="*/ 6 h 543"/>
                <a:gd name="T8" fmla="*/ 16 w 535"/>
                <a:gd name="T9" fmla="*/ 35 h 543"/>
                <a:gd name="T10" fmla="*/ 68 w 535"/>
                <a:gd name="T11" fmla="*/ 61 h 543"/>
                <a:gd name="T12" fmla="*/ 68 w 535"/>
                <a:gd name="T13" fmla="*/ 61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35"/>
                <a:gd name="T22" fmla="*/ 0 h 543"/>
                <a:gd name="T23" fmla="*/ 535 w 535"/>
                <a:gd name="T24" fmla="*/ 543 h 5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35" h="543">
                  <a:moveTo>
                    <a:pt x="535" y="543"/>
                  </a:moveTo>
                  <a:cubicBezTo>
                    <a:pt x="509" y="482"/>
                    <a:pt x="428" y="256"/>
                    <a:pt x="381" y="178"/>
                  </a:cubicBezTo>
                  <a:cubicBezTo>
                    <a:pt x="334" y="100"/>
                    <a:pt x="287" y="103"/>
                    <a:pt x="251" y="74"/>
                  </a:cubicBezTo>
                  <a:cubicBezTo>
                    <a:pt x="215" y="45"/>
                    <a:pt x="203" y="12"/>
                    <a:pt x="164" y="6"/>
                  </a:cubicBezTo>
                  <a:cubicBezTo>
                    <a:pt x="125" y="0"/>
                    <a:pt x="32" y="26"/>
                    <a:pt x="16" y="35"/>
                  </a:cubicBezTo>
                  <a:cubicBezTo>
                    <a:pt x="0" y="44"/>
                    <a:pt x="59" y="57"/>
                    <a:pt x="68" y="61"/>
                  </a:cubicBezTo>
                  <a:cubicBezTo>
                    <a:pt x="77" y="65"/>
                    <a:pt x="68" y="61"/>
                    <a:pt x="68" y="61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" name="Freeform 21"/>
            <p:cNvSpPr>
              <a:spLocks/>
            </p:cNvSpPr>
            <p:nvPr/>
          </p:nvSpPr>
          <p:spPr bwMode="auto">
            <a:xfrm>
              <a:off x="816" y="850"/>
              <a:ext cx="3204" cy="1197"/>
            </a:xfrm>
            <a:custGeom>
              <a:avLst/>
              <a:gdLst>
                <a:gd name="T0" fmla="*/ 3204 w 3204"/>
                <a:gd name="T1" fmla="*/ 1049 h 1303"/>
                <a:gd name="T2" fmla="*/ 3087 w 3204"/>
                <a:gd name="T3" fmla="*/ 618 h 1303"/>
                <a:gd name="T4" fmla="*/ 2878 w 3204"/>
                <a:gd name="T5" fmla="*/ 331 h 1303"/>
                <a:gd name="T6" fmla="*/ 2574 w 3204"/>
                <a:gd name="T7" fmla="*/ 135 h 1303"/>
                <a:gd name="T8" fmla="*/ 2308 w 3204"/>
                <a:gd name="T9" fmla="*/ 47 h 1303"/>
                <a:gd name="T10" fmla="*/ 2222 w 3204"/>
                <a:gd name="T11" fmla="*/ 31 h 1303"/>
                <a:gd name="T12" fmla="*/ 2039 w 3204"/>
                <a:gd name="T13" fmla="*/ 3 h 1303"/>
                <a:gd name="T14" fmla="*/ 1379 w 3204"/>
                <a:gd name="T15" fmla="*/ 47 h 1303"/>
                <a:gd name="T16" fmla="*/ 880 w 3204"/>
                <a:gd name="T17" fmla="*/ 257 h 1303"/>
                <a:gd name="T18" fmla="*/ 375 w 3204"/>
                <a:gd name="T19" fmla="*/ 693 h 1303"/>
                <a:gd name="T20" fmla="*/ 0 w 3204"/>
                <a:gd name="T21" fmla="*/ 1303 h 130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204"/>
                <a:gd name="T34" fmla="*/ 0 h 1303"/>
                <a:gd name="T35" fmla="*/ 3204 w 3204"/>
                <a:gd name="T36" fmla="*/ 1303 h 130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204" h="1303">
                  <a:moveTo>
                    <a:pt x="3204" y="1049"/>
                  </a:moveTo>
                  <a:cubicBezTo>
                    <a:pt x="3182" y="977"/>
                    <a:pt x="3141" y="738"/>
                    <a:pt x="3087" y="618"/>
                  </a:cubicBezTo>
                  <a:cubicBezTo>
                    <a:pt x="3033" y="498"/>
                    <a:pt x="2964" y="411"/>
                    <a:pt x="2878" y="331"/>
                  </a:cubicBezTo>
                  <a:cubicBezTo>
                    <a:pt x="2792" y="251"/>
                    <a:pt x="2669" y="182"/>
                    <a:pt x="2574" y="135"/>
                  </a:cubicBezTo>
                  <a:cubicBezTo>
                    <a:pt x="2479" y="88"/>
                    <a:pt x="2366" y="64"/>
                    <a:pt x="2308" y="47"/>
                  </a:cubicBezTo>
                  <a:cubicBezTo>
                    <a:pt x="2250" y="30"/>
                    <a:pt x="2266" y="38"/>
                    <a:pt x="2222" y="31"/>
                  </a:cubicBezTo>
                  <a:cubicBezTo>
                    <a:pt x="2177" y="24"/>
                    <a:pt x="2180" y="0"/>
                    <a:pt x="2039" y="3"/>
                  </a:cubicBezTo>
                  <a:cubicBezTo>
                    <a:pt x="1899" y="6"/>
                    <a:pt x="1573" y="6"/>
                    <a:pt x="1379" y="47"/>
                  </a:cubicBezTo>
                  <a:cubicBezTo>
                    <a:pt x="1186" y="87"/>
                    <a:pt x="1047" y="148"/>
                    <a:pt x="880" y="257"/>
                  </a:cubicBezTo>
                  <a:cubicBezTo>
                    <a:pt x="713" y="365"/>
                    <a:pt x="522" y="521"/>
                    <a:pt x="375" y="693"/>
                  </a:cubicBezTo>
                  <a:cubicBezTo>
                    <a:pt x="227" y="866"/>
                    <a:pt x="77" y="1178"/>
                    <a:pt x="0" y="1303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" name="Oval 22"/>
            <p:cNvSpPr>
              <a:spLocks noChangeArrowheads="1"/>
            </p:cNvSpPr>
            <p:nvPr/>
          </p:nvSpPr>
          <p:spPr bwMode="auto">
            <a:xfrm>
              <a:off x="2448" y="2356"/>
              <a:ext cx="857" cy="846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编制与调试应用程序</a:t>
              </a:r>
              <a:endParaRPr kumimoji="1" lang="zh-CN" altLang="en-US" sz="2000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" name="Line 23"/>
            <p:cNvSpPr>
              <a:spLocks noChangeShapeType="1"/>
            </p:cNvSpPr>
            <p:nvPr/>
          </p:nvSpPr>
          <p:spPr bwMode="auto">
            <a:xfrm>
              <a:off x="2160" y="2444"/>
              <a:ext cx="288" cy="309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7" name="Line 24"/>
            <p:cNvSpPr>
              <a:spLocks noChangeShapeType="1"/>
            </p:cNvSpPr>
            <p:nvPr/>
          </p:nvSpPr>
          <p:spPr bwMode="auto">
            <a:xfrm flipV="1">
              <a:off x="3312" y="2444"/>
              <a:ext cx="240" cy="309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8" name="AutoShape 25"/>
            <p:cNvSpPr>
              <a:spLocks noChangeArrowheads="1"/>
            </p:cNvSpPr>
            <p:nvPr/>
          </p:nvSpPr>
          <p:spPr bwMode="auto">
            <a:xfrm>
              <a:off x="4080" y="3414"/>
              <a:ext cx="768" cy="618"/>
            </a:xfrm>
            <a:prstGeom prst="star16">
              <a:avLst>
                <a:gd name="adj" fmla="val 37500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</a:t>
              </a:r>
            </a:p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系统</a:t>
              </a:r>
              <a:endParaRPr kumimoji="1" lang="zh-CN" altLang="en-US" sz="24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" name="Freeform 26"/>
            <p:cNvSpPr>
              <a:spLocks/>
            </p:cNvSpPr>
            <p:nvPr/>
          </p:nvSpPr>
          <p:spPr bwMode="auto">
            <a:xfrm>
              <a:off x="1872" y="1033"/>
              <a:ext cx="2031" cy="769"/>
            </a:xfrm>
            <a:custGeom>
              <a:avLst/>
              <a:gdLst>
                <a:gd name="T0" fmla="*/ 2031 w 2031"/>
                <a:gd name="T1" fmla="*/ 837 h 837"/>
                <a:gd name="T2" fmla="*/ 1927 w 2031"/>
                <a:gd name="T3" fmla="*/ 523 h 837"/>
                <a:gd name="T4" fmla="*/ 1835 w 2031"/>
                <a:gd name="T5" fmla="*/ 341 h 837"/>
                <a:gd name="T6" fmla="*/ 1651 w 2031"/>
                <a:gd name="T7" fmla="*/ 207 h 837"/>
                <a:gd name="T8" fmla="*/ 1476 w 2031"/>
                <a:gd name="T9" fmla="*/ 85 h 837"/>
                <a:gd name="T10" fmla="*/ 1324 w 2031"/>
                <a:gd name="T11" fmla="*/ 29 h 837"/>
                <a:gd name="T12" fmla="*/ 1274 w 2031"/>
                <a:gd name="T13" fmla="*/ 19 h 837"/>
                <a:gd name="T14" fmla="*/ 1169 w 2031"/>
                <a:gd name="T15" fmla="*/ 2 h 837"/>
                <a:gd name="T16" fmla="*/ 791 w 2031"/>
                <a:gd name="T17" fmla="*/ 29 h 837"/>
                <a:gd name="T18" fmla="*/ 505 w 2031"/>
                <a:gd name="T19" fmla="*/ 161 h 837"/>
                <a:gd name="T20" fmla="*/ 215 w 2031"/>
                <a:gd name="T21" fmla="*/ 434 h 837"/>
                <a:gd name="T22" fmla="*/ 0 w 2031"/>
                <a:gd name="T23" fmla="*/ 816 h 83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31"/>
                <a:gd name="T37" fmla="*/ 0 h 837"/>
                <a:gd name="T38" fmla="*/ 2031 w 2031"/>
                <a:gd name="T39" fmla="*/ 837 h 83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31" h="837">
                  <a:moveTo>
                    <a:pt x="2031" y="837"/>
                  </a:moveTo>
                  <a:cubicBezTo>
                    <a:pt x="2014" y="785"/>
                    <a:pt x="1960" y="606"/>
                    <a:pt x="1927" y="523"/>
                  </a:cubicBezTo>
                  <a:cubicBezTo>
                    <a:pt x="1894" y="440"/>
                    <a:pt x="1881" y="394"/>
                    <a:pt x="1835" y="341"/>
                  </a:cubicBezTo>
                  <a:cubicBezTo>
                    <a:pt x="1789" y="288"/>
                    <a:pt x="1711" y="250"/>
                    <a:pt x="1651" y="207"/>
                  </a:cubicBezTo>
                  <a:cubicBezTo>
                    <a:pt x="1591" y="164"/>
                    <a:pt x="1531" y="114"/>
                    <a:pt x="1476" y="85"/>
                  </a:cubicBezTo>
                  <a:cubicBezTo>
                    <a:pt x="1422" y="55"/>
                    <a:pt x="1357" y="40"/>
                    <a:pt x="1324" y="29"/>
                  </a:cubicBezTo>
                  <a:cubicBezTo>
                    <a:pt x="1290" y="19"/>
                    <a:pt x="1300" y="24"/>
                    <a:pt x="1274" y="19"/>
                  </a:cubicBezTo>
                  <a:cubicBezTo>
                    <a:pt x="1249" y="15"/>
                    <a:pt x="1250" y="0"/>
                    <a:pt x="1169" y="2"/>
                  </a:cubicBezTo>
                  <a:cubicBezTo>
                    <a:pt x="1089" y="4"/>
                    <a:pt x="902" y="4"/>
                    <a:pt x="791" y="29"/>
                  </a:cubicBezTo>
                  <a:cubicBezTo>
                    <a:pt x="680" y="54"/>
                    <a:pt x="600" y="93"/>
                    <a:pt x="505" y="161"/>
                  </a:cubicBezTo>
                  <a:cubicBezTo>
                    <a:pt x="409" y="229"/>
                    <a:pt x="299" y="326"/>
                    <a:pt x="215" y="434"/>
                  </a:cubicBezTo>
                  <a:cubicBezTo>
                    <a:pt x="130" y="542"/>
                    <a:pt x="44" y="738"/>
                    <a:pt x="0" y="816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" name="Freeform 27"/>
            <p:cNvSpPr>
              <a:spLocks/>
            </p:cNvSpPr>
            <p:nvPr/>
          </p:nvSpPr>
          <p:spPr bwMode="auto">
            <a:xfrm>
              <a:off x="3264" y="2629"/>
              <a:ext cx="496" cy="360"/>
            </a:xfrm>
            <a:custGeom>
              <a:avLst/>
              <a:gdLst>
                <a:gd name="T0" fmla="*/ 496 w 496"/>
                <a:gd name="T1" fmla="*/ 0 h 392"/>
                <a:gd name="T2" fmla="*/ 443 w 496"/>
                <a:gd name="T3" fmla="*/ 130 h 392"/>
                <a:gd name="T4" fmla="*/ 313 w 496"/>
                <a:gd name="T5" fmla="*/ 274 h 392"/>
                <a:gd name="T6" fmla="*/ 96 w 496"/>
                <a:gd name="T7" fmla="*/ 375 h 392"/>
                <a:gd name="T8" fmla="*/ 0 w 496"/>
                <a:gd name="T9" fmla="*/ 375 h 3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6"/>
                <a:gd name="T16" fmla="*/ 0 h 392"/>
                <a:gd name="T17" fmla="*/ 496 w 496"/>
                <a:gd name="T18" fmla="*/ 392 h 3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6" h="392">
                  <a:moveTo>
                    <a:pt x="496" y="0"/>
                  </a:moveTo>
                  <a:cubicBezTo>
                    <a:pt x="487" y="22"/>
                    <a:pt x="473" y="84"/>
                    <a:pt x="443" y="130"/>
                  </a:cubicBezTo>
                  <a:cubicBezTo>
                    <a:pt x="413" y="176"/>
                    <a:pt x="371" y="233"/>
                    <a:pt x="313" y="274"/>
                  </a:cubicBezTo>
                  <a:cubicBezTo>
                    <a:pt x="255" y="315"/>
                    <a:pt x="148" y="358"/>
                    <a:pt x="96" y="375"/>
                  </a:cubicBezTo>
                  <a:cubicBezTo>
                    <a:pt x="44" y="392"/>
                    <a:pt x="16" y="375"/>
                    <a:pt x="0" y="375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1" name="椭圆 40"/>
          <p:cNvSpPr/>
          <p:nvPr/>
        </p:nvSpPr>
        <p:spPr>
          <a:xfrm>
            <a:off x="3734151" y="4589226"/>
            <a:ext cx="1408401" cy="103935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Rectangle 3"/>
          <p:cNvSpPr txBox="1">
            <a:spLocks noChangeArrowheads="1"/>
          </p:cNvSpPr>
          <p:nvPr/>
        </p:nvSpPr>
        <p:spPr bwMode="auto">
          <a:xfrm>
            <a:off x="6235141" y="1487906"/>
            <a:ext cx="5785731" cy="42792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000066"/>
                </a:solidFill>
              </a:rPr>
              <a:t>数据库应用程序的设计应与数据库设计同时进行。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000066"/>
                </a:solidFill>
              </a:rPr>
              <a:t>在数据库实施阶段，当数据库结构建立好后，就可以开始编制与调试数据库的应用程序。调试应用程序时由于数据入库尚未完成，可先使用模拟数据。</a:t>
            </a:r>
          </a:p>
        </p:txBody>
      </p:sp>
    </p:spTree>
    <p:extLst>
      <p:ext uri="{BB962C8B-B14F-4D97-AF65-F5344CB8AC3E}">
        <p14:creationId xmlns:p14="http://schemas.microsoft.com/office/powerpoint/2010/main" val="6879668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98648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实施、运行与维护</a:t>
            </a:r>
          </a:p>
        </p:txBody>
      </p:sp>
      <p:sp>
        <p:nvSpPr>
          <p:cNvPr id="13" name="文本框 94"/>
          <p:cNvSpPr txBox="1">
            <a:spLocks noChangeArrowheads="1"/>
          </p:cNvSpPr>
          <p:nvPr/>
        </p:nvSpPr>
        <p:spPr bwMode="auto">
          <a:xfrm>
            <a:off x="6414417" y="65515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数据库实施</a:t>
            </a:r>
          </a:p>
        </p:txBody>
      </p:sp>
      <p:cxnSp>
        <p:nvCxnSpPr>
          <p:cNvPr id="14" name="直接连接符 13"/>
          <p:cNvCxnSpPr/>
          <p:nvPr/>
        </p:nvCxnSpPr>
        <p:spPr>
          <a:xfrm rot="5400000">
            <a:off x="6058107" y="279268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3"/>
          <p:cNvGrpSpPr>
            <a:grpSpLocks/>
          </p:cNvGrpSpPr>
          <p:nvPr/>
        </p:nvGrpSpPr>
        <p:grpSpPr bwMode="auto">
          <a:xfrm>
            <a:off x="3983037" y="2193310"/>
            <a:ext cx="8208963" cy="4005262"/>
            <a:chOff x="432" y="768"/>
            <a:chExt cx="4896" cy="3264"/>
          </a:xfrm>
        </p:grpSpPr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>
              <a:off x="1288" y="768"/>
              <a:ext cx="3142" cy="2514"/>
            </a:xfrm>
            <a:prstGeom prst="rect">
              <a:avLst/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24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数据库实施</a:t>
              </a:r>
              <a:endParaRPr kumimoji="1" lang="zh-CN" altLang="en-US" sz="10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" name="Line 5"/>
            <p:cNvSpPr>
              <a:spLocks noChangeShapeType="1"/>
            </p:cNvSpPr>
            <p:nvPr/>
          </p:nvSpPr>
          <p:spPr bwMode="auto">
            <a:xfrm>
              <a:off x="791" y="2085"/>
              <a:ext cx="718" cy="0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Oval 6"/>
            <p:cNvSpPr>
              <a:spLocks noChangeArrowheads="1"/>
            </p:cNvSpPr>
            <p:nvPr/>
          </p:nvSpPr>
          <p:spPr bwMode="auto">
            <a:xfrm>
              <a:off x="1536" y="1738"/>
              <a:ext cx="762" cy="847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000" b="1" i="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定义数据库结构</a:t>
              </a:r>
              <a:endParaRPr kumimoji="1" lang="zh-CN" altLang="en-US" sz="1200" b="1" i="0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Line 7"/>
            <p:cNvSpPr>
              <a:spLocks noChangeShapeType="1"/>
            </p:cNvSpPr>
            <p:nvPr/>
          </p:nvSpPr>
          <p:spPr bwMode="auto">
            <a:xfrm flipV="1">
              <a:off x="2112" y="1562"/>
              <a:ext cx="301" cy="261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Oval 8"/>
            <p:cNvSpPr>
              <a:spLocks noChangeArrowheads="1"/>
            </p:cNvSpPr>
            <p:nvPr/>
          </p:nvSpPr>
          <p:spPr bwMode="auto">
            <a:xfrm>
              <a:off x="2431" y="1145"/>
              <a:ext cx="857" cy="846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000" b="1" i="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</a:t>
              </a:r>
            </a:p>
            <a:p>
              <a:pPr algn="ctr" eaLnBrk="1" hangingPunct="1"/>
              <a:r>
                <a:rPr kumimoji="1" lang="zh-CN" altLang="en-US" sz="2000" b="1" i="0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装载</a:t>
              </a:r>
              <a:endParaRPr kumimoji="1" lang="zh-CN" altLang="en-US" i="0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Line 9"/>
            <p:cNvSpPr>
              <a:spLocks noChangeShapeType="1"/>
            </p:cNvSpPr>
            <p:nvPr/>
          </p:nvSpPr>
          <p:spPr bwMode="auto">
            <a:xfrm>
              <a:off x="3312" y="1518"/>
              <a:ext cx="342" cy="306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Oval 10"/>
            <p:cNvSpPr>
              <a:spLocks noChangeArrowheads="1"/>
            </p:cNvSpPr>
            <p:nvPr/>
          </p:nvSpPr>
          <p:spPr bwMode="auto">
            <a:xfrm>
              <a:off x="3456" y="1782"/>
              <a:ext cx="761" cy="847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kumimoji="1" lang="en-US" altLang="zh-CN" sz="1000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kumimoji="1" lang="en-US" altLang="zh-CN" sz="1000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数据库试运行</a:t>
              </a:r>
              <a:endParaRPr kumimoji="1" lang="zh-CN" altLang="en-US" sz="1000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Line 11"/>
            <p:cNvSpPr>
              <a:spLocks noChangeShapeType="1"/>
            </p:cNvSpPr>
            <p:nvPr/>
          </p:nvSpPr>
          <p:spPr bwMode="auto">
            <a:xfrm>
              <a:off x="4249" y="2173"/>
              <a:ext cx="539" cy="0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2"/>
            <p:cNvSpPr>
              <a:spLocks noChangeShapeType="1"/>
            </p:cNvSpPr>
            <p:nvPr/>
          </p:nvSpPr>
          <p:spPr bwMode="auto">
            <a:xfrm>
              <a:off x="4608" y="2079"/>
              <a:ext cx="0" cy="189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1104" y="1994"/>
              <a:ext cx="1" cy="188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14"/>
            <p:cNvSpPr txBox="1">
              <a:spLocks noChangeArrowheads="1"/>
            </p:cNvSpPr>
            <p:nvPr/>
          </p:nvSpPr>
          <p:spPr bwMode="auto">
            <a:xfrm>
              <a:off x="432" y="2179"/>
              <a:ext cx="71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数据库物</a:t>
              </a:r>
            </a:p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理设计</a:t>
              </a:r>
              <a:endParaRPr kumimoji="1" lang="zh-CN" altLang="en-US" sz="10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" name="Text Box 15"/>
            <p:cNvSpPr txBox="1">
              <a:spLocks noChangeArrowheads="1"/>
            </p:cNvSpPr>
            <p:nvPr/>
          </p:nvSpPr>
          <p:spPr bwMode="auto">
            <a:xfrm>
              <a:off x="4608" y="2268"/>
              <a:ext cx="72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数据库运</a:t>
              </a:r>
            </a:p>
            <a:p>
              <a:pPr algn="just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行和维护</a:t>
              </a:r>
            </a:p>
            <a:p>
              <a:pPr algn="just" eaLnBrk="1" hangingPunct="1"/>
              <a:endParaRPr kumimoji="1" lang="en-US" altLang="zh-CN" sz="16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AutoShape 16"/>
            <p:cNvSpPr>
              <a:spLocks noChangeArrowheads="1"/>
            </p:cNvSpPr>
            <p:nvPr/>
          </p:nvSpPr>
          <p:spPr bwMode="auto">
            <a:xfrm>
              <a:off x="720" y="3414"/>
              <a:ext cx="449" cy="486"/>
            </a:xfrm>
            <a:prstGeom prst="octagon">
              <a:avLst>
                <a:gd name="adj" fmla="val 29287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物理</a:t>
              </a:r>
            </a:p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模型</a:t>
              </a:r>
              <a:endParaRPr kumimoji="1" lang="zh-CN" altLang="en-US" sz="10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AutoShape 17"/>
            <p:cNvSpPr>
              <a:spLocks noChangeArrowheads="1"/>
            </p:cNvSpPr>
            <p:nvPr/>
          </p:nvSpPr>
          <p:spPr bwMode="auto">
            <a:xfrm rot="4214242">
              <a:off x="263" y="2882"/>
              <a:ext cx="838" cy="124"/>
            </a:xfrm>
            <a:prstGeom prst="rightArrow">
              <a:avLst>
                <a:gd name="adj1" fmla="val 50000"/>
                <a:gd name="adj2" fmla="val 168952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AutoShape 18"/>
            <p:cNvSpPr>
              <a:spLocks noChangeArrowheads="1"/>
            </p:cNvSpPr>
            <p:nvPr/>
          </p:nvSpPr>
          <p:spPr bwMode="auto">
            <a:xfrm rot="4014648">
              <a:off x="3697" y="2960"/>
              <a:ext cx="890" cy="109"/>
            </a:xfrm>
            <a:prstGeom prst="rightArrow">
              <a:avLst>
                <a:gd name="adj1" fmla="val 50000"/>
                <a:gd name="adj2" fmla="val 204128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" name="AutoShape 19"/>
            <p:cNvSpPr>
              <a:spLocks noChangeArrowheads="1"/>
            </p:cNvSpPr>
            <p:nvPr/>
          </p:nvSpPr>
          <p:spPr bwMode="auto">
            <a:xfrm rot="-3531503">
              <a:off x="886" y="2870"/>
              <a:ext cx="1009" cy="94"/>
            </a:xfrm>
            <a:prstGeom prst="rightArrow">
              <a:avLst>
                <a:gd name="adj1" fmla="val 50000"/>
                <a:gd name="adj2" fmla="val 268351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" name="Freeform 20"/>
            <p:cNvSpPr>
              <a:spLocks/>
            </p:cNvSpPr>
            <p:nvPr/>
          </p:nvSpPr>
          <p:spPr bwMode="auto">
            <a:xfrm>
              <a:off x="3196" y="1302"/>
              <a:ext cx="535" cy="499"/>
            </a:xfrm>
            <a:custGeom>
              <a:avLst/>
              <a:gdLst>
                <a:gd name="T0" fmla="*/ 535 w 535"/>
                <a:gd name="T1" fmla="*/ 543 h 543"/>
                <a:gd name="T2" fmla="*/ 381 w 535"/>
                <a:gd name="T3" fmla="*/ 178 h 543"/>
                <a:gd name="T4" fmla="*/ 251 w 535"/>
                <a:gd name="T5" fmla="*/ 74 h 543"/>
                <a:gd name="T6" fmla="*/ 164 w 535"/>
                <a:gd name="T7" fmla="*/ 6 h 543"/>
                <a:gd name="T8" fmla="*/ 16 w 535"/>
                <a:gd name="T9" fmla="*/ 35 h 543"/>
                <a:gd name="T10" fmla="*/ 68 w 535"/>
                <a:gd name="T11" fmla="*/ 61 h 543"/>
                <a:gd name="T12" fmla="*/ 68 w 535"/>
                <a:gd name="T13" fmla="*/ 61 h 5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35"/>
                <a:gd name="T22" fmla="*/ 0 h 543"/>
                <a:gd name="T23" fmla="*/ 535 w 535"/>
                <a:gd name="T24" fmla="*/ 543 h 54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35" h="543">
                  <a:moveTo>
                    <a:pt x="535" y="543"/>
                  </a:moveTo>
                  <a:cubicBezTo>
                    <a:pt x="509" y="482"/>
                    <a:pt x="428" y="256"/>
                    <a:pt x="381" y="178"/>
                  </a:cubicBezTo>
                  <a:cubicBezTo>
                    <a:pt x="334" y="100"/>
                    <a:pt x="287" y="103"/>
                    <a:pt x="251" y="74"/>
                  </a:cubicBezTo>
                  <a:cubicBezTo>
                    <a:pt x="215" y="45"/>
                    <a:pt x="203" y="12"/>
                    <a:pt x="164" y="6"/>
                  </a:cubicBezTo>
                  <a:cubicBezTo>
                    <a:pt x="125" y="0"/>
                    <a:pt x="32" y="26"/>
                    <a:pt x="16" y="35"/>
                  </a:cubicBezTo>
                  <a:cubicBezTo>
                    <a:pt x="0" y="44"/>
                    <a:pt x="59" y="57"/>
                    <a:pt x="68" y="61"/>
                  </a:cubicBezTo>
                  <a:cubicBezTo>
                    <a:pt x="77" y="65"/>
                    <a:pt x="68" y="61"/>
                    <a:pt x="68" y="61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" name="Freeform 21"/>
            <p:cNvSpPr>
              <a:spLocks/>
            </p:cNvSpPr>
            <p:nvPr/>
          </p:nvSpPr>
          <p:spPr bwMode="auto">
            <a:xfrm>
              <a:off x="816" y="850"/>
              <a:ext cx="3204" cy="1197"/>
            </a:xfrm>
            <a:custGeom>
              <a:avLst/>
              <a:gdLst>
                <a:gd name="T0" fmla="*/ 3204 w 3204"/>
                <a:gd name="T1" fmla="*/ 1049 h 1303"/>
                <a:gd name="T2" fmla="*/ 3087 w 3204"/>
                <a:gd name="T3" fmla="*/ 618 h 1303"/>
                <a:gd name="T4" fmla="*/ 2878 w 3204"/>
                <a:gd name="T5" fmla="*/ 331 h 1303"/>
                <a:gd name="T6" fmla="*/ 2574 w 3204"/>
                <a:gd name="T7" fmla="*/ 135 h 1303"/>
                <a:gd name="T8" fmla="*/ 2308 w 3204"/>
                <a:gd name="T9" fmla="*/ 47 h 1303"/>
                <a:gd name="T10" fmla="*/ 2222 w 3204"/>
                <a:gd name="T11" fmla="*/ 31 h 1303"/>
                <a:gd name="T12" fmla="*/ 2039 w 3204"/>
                <a:gd name="T13" fmla="*/ 3 h 1303"/>
                <a:gd name="T14" fmla="*/ 1379 w 3204"/>
                <a:gd name="T15" fmla="*/ 47 h 1303"/>
                <a:gd name="T16" fmla="*/ 880 w 3204"/>
                <a:gd name="T17" fmla="*/ 257 h 1303"/>
                <a:gd name="T18" fmla="*/ 375 w 3204"/>
                <a:gd name="T19" fmla="*/ 693 h 1303"/>
                <a:gd name="T20" fmla="*/ 0 w 3204"/>
                <a:gd name="T21" fmla="*/ 1303 h 130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204"/>
                <a:gd name="T34" fmla="*/ 0 h 1303"/>
                <a:gd name="T35" fmla="*/ 3204 w 3204"/>
                <a:gd name="T36" fmla="*/ 1303 h 130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204" h="1303">
                  <a:moveTo>
                    <a:pt x="3204" y="1049"/>
                  </a:moveTo>
                  <a:cubicBezTo>
                    <a:pt x="3182" y="977"/>
                    <a:pt x="3141" y="738"/>
                    <a:pt x="3087" y="618"/>
                  </a:cubicBezTo>
                  <a:cubicBezTo>
                    <a:pt x="3033" y="498"/>
                    <a:pt x="2964" y="411"/>
                    <a:pt x="2878" y="331"/>
                  </a:cubicBezTo>
                  <a:cubicBezTo>
                    <a:pt x="2792" y="251"/>
                    <a:pt x="2669" y="182"/>
                    <a:pt x="2574" y="135"/>
                  </a:cubicBezTo>
                  <a:cubicBezTo>
                    <a:pt x="2479" y="88"/>
                    <a:pt x="2366" y="64"/>
                    <a:pt x="2308" y="47"/>
                  </a:cubicBezTo>
                  <a:cubicBezTo>
                    <a:pt x="2250" y="30"/>
                    <a:pt x="2266" y="38"/>
                    <a:pt x="2222" y="31"/>
                  </a:cubicBezTo>
                  <a:cubicBezTo>
                    <a:pt x="2177" y="24"/>
                    <a:pt x="2180" y="0"/>
                    <a:pt x="2039" y="3"/>
                  </a:cubicBezTo>
                  <a:cubicBezTo>
                    <a:pt x="1899" y="6"/>
                    <a:pt x="1573" y="6"/>
                    <a:pt x="1379" y="47"/>
                  </a:cubicBezTo>
                  <a:cubicBezTo>
                    <a:pt x="1186" y="87"/>
                    <a:pt x="1047" y="148"/>
                    <a:pt x="880" y="257"/>
                  </a:cubicBezTo>
                  <a:cubicBezTo>
                    <a:pt x="713" y="365"/>
                    <a:pt x="522" y="521"/>
                    <a:pt x="375" y="693"/>
                  </a:cubicBezTo>
                  <a:cubicBezTo>
                    <a:pt x="227" y="866"/>
                    <a:pt x="77" y="1178"/>
                    <a:pt x="0" y="1303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" name="Oval 22"/>
            <p:cNvSpPr>
              <a:spLocks noChangeArrowheads="1"/>
            </p:cNvSpPr>
            <p:nvPr/>
          </p:nvSpPr>
          <p:spPr bwMode="auto">
            <a:xfrm>
              <a:off x="2448" y="2356"/>
              <a:ext cx="857" cy="846"/>
            </a:xfrm>
            <a:prstGeom prst="ellips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000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编制与调试应用程序</a:t>
              </a:r>
              <a:endParaRPr kumimoji="1" lang="zh-CN" altLang="en-US" sz="2000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" name="Line 23"/>
            <p:cNvSpPr>
              <a:spLocks noChangeShapeType="1"/>
            </p:cNvSpPr>
            <p:nvPr/>
          </p:nvSpPr>
          <p:spPr bwMode="auto">
            <a:xfrm>
              <a:off x="2160" y="2444"/>
              <a:ext cx="288" cy="309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7" name="Line 24"/>
            <p:cNvSpPr>
              <a:spLocks noChangeShapeType="1"/>
            </p:cNvSpPr>
            <p:nvPr/>
          </p:nvSpPr>
          <p:spPr bwMode="auto">
            <a:xfrm flipV="1">
              <a:off x="3312" y="2444"/>
              <a:ext cx="240" cy="309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8" name="AutoShape 25"/>
            <p:cNvSpPr>
              <a:spLocks noChangeArrowheads="1"/>
            </p:cNvSpPr>
            <p:nvPr/>
          </p:nvSpPr>
          <p:spPr bwMode="auto">
            <a:xfrm>
              <a:off x="4080" y="3414"/>
              <a:ext cx="768" cy="618"/>
            </a:xfrm>
            <a:prstGeom prst="star16">
              <a:avLst>
                <a:gd name="adj" fmla="val 37500"/>
              </a:avLst>
            </a:prstGeom>
            <a:noFill/>
            <a:ln w="2222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数据库</a:t>
              </a:r>
            </a:p>
            <a:p>
              <a:pPr algn="ctr" eaLnBrk="1" hangingPunct="1"/>
              <a:r>
                <a:rPr kumimoji="1" lang="zh-CN" altLang="en-US" b="1" i="0">
                  <a:solidFill>
                    <a:srgbClr val="000066"/>
                  </a:solidFill>
                  <a:latin typeface="Times New Roman" panose="02020603050405020304" pitchFamily="18" charset="0"/>
                </a:rPr>
                <a:t>系统</a:t>
              </a:r>
              <a:endParaRPr kumimoji="1" lang="zh-CN" altLang="en-US" sz="2400" b="1" i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" name="Freeform 26"/>
            <p:cNvSpPr>
              <a:spLocks/>
            </p:cNvSpPr>
            <p:nvPr/>
          </p:nvSpPr>
          <p:spPr bwMode="auto">
            <a:xfrm>
              <a:off x="1872" y="1033"/>
              <a:ext cx="2031" cy="769"/>
            </a:xfrm>
            <a:custGeom>
              <a:avLst/>
              <a:gdLst>
                <a:gd name="T0" fmla="*/ 2031 w 2031"/>
                <a:gd name="T1" fmla="*/ 837 h 837"/>
                <a:gd name="T2" fmla="*/ 1927 w 2031"/>
                <a:gd name="T3" fmla="*/ 523 h 837"/>
                <a:gd name="T4" fmla="*/ 1835 w 2031"/>
                <a:gd name="T5" fmla="*/ 341 h 837"/>
                <a:gd name="T6" fmla="*/ 1651 w 2031"/>
                <a:gd name="T7" fmla="*/ 207 h 837"/>
                <a:gd name="T8" fmla="*/ 1476 w 2031"/>
                <a:gd name="T9" fmla="*/ 85 h 837"/>
                <a:gd name="T10" fmla="*/ 1324 w 2031"/>
                <a:gd name="T11" fmla="*/ 29 h 837"/>
                <a:gd name="T12" fmla="*/ 1274 w 2031"/>
                <a:gd name="T13" fmla="*/ 19 h 837"/>
                <a:gd name="T14" fmla="*/ 1169 w 2031"/>
                <a:gd name="T15" fmla="*/ 2 h 837"/>
                <a:gd name="T16" fmla="*/ 791 w 2031"/>
                <a:gd name="T17" fmla="*/ 29 h 837"/>
                <a:gd name="T18" fmla="*/ 505 w 2031"/>
                <a:gd name="T19" fmla="*/ 161 h 837"/>
                <a:gd name="T20" fmla="*/ 215 w 2031"/>
                <a:gd name="T21" fmla="*/ 434 h 837"/>
                <a:gd name="T22" fmla="*/ 0 w 2031"/>
                <a:gd name="T23" fmla="*/ 816 h 83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31"/>
                <a:gd name="T37" fmla="*/ 0 h 837"/>
                <a:gd name="T38" fmla="*/ 2031 w 2031"/>
                <a:gd name="T39" fmla="*/ 837 h 83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31" h="837">
                  <a:moveTo>
                    <a:pt x="2031" y="837"/>
                  </a:moveTo>
                  <a:cubicBezTo>
                    <a:pt x="2014" y="785"/>
                    <a:pt x="1960" y="606"/>
                    <a:pt x="1927" y="523"/>
                  </a:cubicBezTo>
                  <a:cubicBezTo>
                    <a:pt x="1894" y="440"/>
                    <a:pt x="1881" y="394"/>
                    <a:pt x="1835" y="341"/>
                  </a:cubicBezTo>
                  <a:cubicBezTo>
                    <a:pt x="1789" y="288"/>
                    <a:pt x="1711" y="250"/>
                    <a:pt x="1651" y="207"/>
                  </a:cubicBezTo>
                  <a:cubicBezTo>
                    <a:pt x="1591" y="164"/>
                    <a:pt x="1531" y="114"/>
                    <a:pt x="1476" y="85"/>
                  </a:cubicBezTo>
                  <a:cubicBezTo>
                    <a:pt x="1422" y="55"/>
                    <a:pt x="1357" y="40"/>
                    <a:pt x="1324" y="29"/>
                  </a:cubicBezTo>
                  <a:cubicBezTo>
                    <a:pt x="1290" y="19"/>
                    <a:pt x="1300" y="24"/>
                    <a:pt x="1274" y="19"/>
                  </a:cubicBezTo>
                  <a:cubicBezTo>
                    <a:pt x="1249" y="15"/>
                    <a:pt x="1250" y="0"/>
                    <a:pt x="1169" y="2"/>
                  </a:cubicBezTo>
                  <a:cubicBezTo>
                    <a:pt x="1089" y="4"/>
                    <a:pt x="902" y="4"/>
                    <a:pt x="791" y="29"/>
                  </a:cubicBezTo>
                  <a:cubicBezTo>
                    <a:pt x="680" y="54"/>
                    <a:pt x="600" y="93"/>
                    <a:pt x="505" y="161"/>
                  </a:cubicBezTo>
                  <a:cubicBezTo>
                    <a:pt x="409" y="229"/>
                    <a:pt x="299" y="326"/>
                    <a:pt x="215" y="434"/>
                  </a:cubicBezTo>
                  <a:cubicBezTo>
                    <a:pt x="130" y="542"/>
                    <a:pt x="44" y="738"/>
                    <a:pt x="0" y="816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" name="Freeform 27"/>
            <p:cNvSpPr>
              <a:spLocks/>
            </p:cNvSpPr>
            <p:nvPr/>
          </p:nvSpPr>
          <p:spPr bwMode="auto">
            <a:xfrm>
              <a:off x="3264" y="2629"/>
              <a:ext cx="496" cy="360"/>
            </a:xfrm>
            <a:custGeom>
              <a:avLst/>
              <a:gdLst>
                <a:gd name="T0" fmla="*/ 496 w 496"/>
                <a:gd name="T1" fmla="*/ 0 h 392"/>
                <a:gd name="T2" fmla="*/ 443 w 496"/>
                <a:gd name="T3" fmla="*/ 130 h 392"/>
                <a:gd name="T4" fmla="*/ 313 w 496"/>
                <a:gd name="T5" fmla="*/ 274 h 392"/>
                <a:gd name="T6" fmla="*/ 96 w 496"/>
                <a:gd name="T7" fmla="*/ 375 h 392"/>
                <a:gd name="T8" fmla="*/ 0 w 496"/>
                <a:gd name="T9" fmla="*/ 375 h 3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6"/>
                <a:gd name="T16" fmla="*/ 0 h 392"/>
                <a:gd name="T17" fmla="*/ 496 w 496"/>
                <a:gd name="T18" fmla="*/ 392 h 3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6" h="392">
                  <a:moveTo>
                    <a:pt x="496" y="0"/>
                  </a:moveTo>
                  <a:cubicBezTo>
                    <a:pt x="487" y="22"/>
                    <a:pt x="473" y="84"/>
                    <a:pt x="443" y="130"/>
                  </a:cubicBezTo>
                  <a:cubicBezTo>
                    <a:pt x="413" y="176"/>
                    <a:pt x="371" y="233"/>
                    <a:pt x="313" y="274"/>
                  </a:cubicBezTo>
                  <a:cubicBezTo>
                    <a:pt x="255" y="315"/>
                    <a:pt x="148" y="358"/>
                    <a:pt x="96" y="375"/>
                  </a:cubicBezTo>
                  <a:cubicBezTo>
                    <a:pt x="44" y="392"/>
                    <a:pt x="16" y="375"/>
                    <a:pt x="0" y="375"/>
                  </a:cubicBezTo>
                </a:path>
              </a:pathLst>
            </a:custGeom>
            <a:noFill/>
            <a:ln w="22225">
              <a:solidFill>
                <a:schemeClr val="hlink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1" name="Rectangle 3"/>
          <p:cNvSpPr txBox="1">
            <a:spLocks noChangeArrowheads="1"/>
          </p:cNvSpPr>
          <p:nvPr/>
        </p:nvSpPr>
        <p:spPr bwMode="auto">
          <a:xfrm>
            <a:off x="0" y="1590144"/>
            <a:ext cx="8811839" cy="51036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35000"/>
              </a:spcBef>
            </a:pPr>
            <a:r>
              <a:rPr lang="zh-CN" altLang="en-US" b="1" dirty="0">
                <a:solidFill>
                  <a:srgbClr val="000066"/>
                </a:solidFill>
              </a:rPr>
              <a:t>应用程序调试完成，并且已有一小部分数据入库后，就可以开始数据库的试运行。</a:t>
            </a:r>
          </a:p>
          <a:p>
            <a:pPr eaLnBrk="1" hangingPunct="1">
              <a:lnSpc>
                <a:spcPct val="125000"/>
              </a:lnSpc>
              <a:spcBef>
                <a:spcPct val="35000"/>
              </a:spcBef>
            </a:pPr>
            <a:r>
              <a:rPr lang="zh-CN" altLang="en-US" b="1" dirty="0">
                <a:solidFill>
                  <a:srgbClr val="000066"/>
                </a:solidFill>
              </a:rPr>
              <a:t>数据库试运行也称为联合调试，其主要工作包括：</a:t>
            </a:r>
          </a:p>
          <a:p>
            <a:pPr lvl="1" eaLnBrk="1" hangingPunct="1">
              <a:lnSpc>
                <a:spcPct val="125000"/>
              </a:lnSpc>
              <a:spcBef>
                <a:spcPct val="35000"/>
              </a:spcBef>
              <a:buClr>
                <a:srgbClr val="FFFF66"/>
              </a:buClr>
              <a:buFontTx/>
              <a:buNone/>
            </a:pPr>
            <a:r>
              <a:rPr lang="en-US" altLang="zh-CN" b="1" dirty="0">
                <a:solidFill>
                  <a:srgbClr val="000066"/>
                </a:solidFill>
              </a:rPr>
              <a:t>1) </a:t>
            </a:r>
            <a:r>
              <a:rPr lang="zh-CN" altLang="en-US" b="1" dirty="0">
                <a:solidFill>
                  <a:srgbClr val="CC3300"/>
                </a:solidFill>
              </a:rPr>
              <a:t>功能测试</a:t>
            </a:r>
            <a:r>
              <a:rPr lang="zh-CN" altLang="en-US" b="1" dirty="0">
                <a:solidFill>
                  <a:srgbClr val="000066"/>
                </a:solidFill>
              </a:rPr>
              <a:t>：实际运行应用程序，执行对数据库的各种操作，测试应用程序的各种功能。</a:t>
            </a:r>
          </a:p>
          <a:p>
            <a:pPr lvl="1" eaLnBrk="1" hangingPunct="1">
              <a:lnSpc>
                <a:spcPct val="125000"/>
              </a:lnSpc>
              <a:spcBef>
                <a:spcPct val="35000"/>
              </a:spcBef>
              <a:buClr>
                <a:srgbClr val="FFFF66"/>
              </a:buClr>
              <a:buFontTx/>
              <a:buNone/>
            </a:pPr>
            <a:r>
              <a:rPr lang="en-US" altLang="zh-CN" b="1" dirty="0">
                <a:solidFill>
                  <a:srgbClr val="000066"/>
                </a:solidFill>
              </a:rPr>
              <a:t>2) </a:t>
            </a:r>
            <a:r>
              <a:rPr lang="zh-CN" altLang="en-US" b="1" dirty="0">
                <a:solidFill>
                  <a:srgbClr val="CC3300"/>
                </a:solidFill>
              </a:rPr>
              <a:t>性能测试</a:t>
            </a:r>
            <a:r>
              <a:rPr lang="zh-CN" altLang="en-US" b="1" dirty="0">
                <a:solidFill>
                  <a:srgbClr val="000066"/>
                </a:solidFill>
              </a:rPr>
              <a:t>：测试系统的性能指标，分析是否符合设计目标。</a:t>
            </a:r>
            <a:endParaRPr lang="en-US" altLang="zh-CN" b="1" dirty="0">
              <a:solidFill>
                <a:srgbClr val="000066"/>
              </a:solidFill>
            </a:endParaRPr>
          </a:p>
          <a:p>
            <a:pPr lvl="1" eaLnBrk="1" hangingPunct="1">
              <a:lnSpc>
                <a:spcPct val="125000"/>
              </a:lnSpc>
              <a:spcBef>
                <a:spcPct val="35000"/>
              </a:spcBef>
              <a:buClr>
                <a:srgbClr val="FFFF66"/>
              </a:buClr>
              <a:buFontTx/>
              <a:buNone/>
            </a:pPr>
            <a:r>
              <a:rPr lang="en-US" altLang="zh-CN" sz="2000" b="1" dirty="0">
                <a:solidFill>
                  <a:srgbClr val="000066"/>
                </a:solidFill>
              </a:rPr>
              <a:t>             </a:t>
            </a:r>
            <a:r>
              <a:rPr lang="zh-CN" altLang="en-US" b="1" dirty="0">
                <a:solidFill>
                  <a:srgbClr val="000066"/>
                </a:solidFill>
              </a:rPr>
              <a:t>如果结果不符合设计目标，则需要返回物理设计阶段， 调整物理结构，修改参数；有时甚至需要返回逻辑设计 阶段，调整逻辑结构。 </a:t>
            </a:r>
          </a:p>
        </p:txBody>
      </p:sp>
      <p:sp>
        <p:nvSpPr>
          <p:cNvPr id="42" name="Rectangle 4"/>
          <p:cNvSpPr>
            <a:spLocks noChangeArrowheads="1"/>
          </p:cNvSpPr>
          <p:nvPr/>
        </p:nvSpPr>
        <p:spPr bwMode="auto">
          <a:xfrm>
            <a:off x="605590" y="852111"/>
            <a:ext cx="81534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ct val="200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第四步：数据库试运行</a:t>
            </a:r>
          </a:p>
        </p:txBody>
      </p:sp>
      <p:sp>
        <p:nvSpPr>
          <p:cNvPr id="43" name="椭圆 42"/>
          <p:cNvSpPr/>
          <p:nvPr/>
        </p:nvSpPr>
        <p:spPr>
          <a:xfrm>
            <a:off x="9053279" y="3460907"/>
            <a:ext cx="1315527" cy="103935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2768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615035" y="1061301"/>
            <a:ext cx="11054484" cy="4008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lvl="1" indent="-457200" eaLnBrk="1" hangingPunct="1">
              <a:lnSpc>
                <a:spcPct val="90000"/>
              </a:lnSpc>
              <a:spcBef>
                <a:spcPct val="200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3200" b="1" i="0" dirty="0">
                <a:solidFill>
                  <a:srgbClr val="FF0000"/>
                </a:solidFill>
                <a:latin typeface="Tahoma" panose="020B0604030504040204" pitchFamily="34" charset="0"/>
              </a:rPr>
              <a:t>数据库实施过程中注意事项</a:t>
            </a:r>
          </a:p>
          <a:p>
            <a:pPr marL="800100" lvl="1" indent="-342900" eaLnBrk="1" hangingPunct="1">
              <a:lnSpc>
                <a:spcPct val="105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 i="0" dirty="0">
                <a:solidFill>
                  <a:srgbClr val="000066"/>
                </a:solidFill>
                <a:latin typeface="Tahoma" panose="020B0604030504040204" pitchFamily="34" charset="0"/>
              </a:rPr>
              <a:t>组织数据分批分期入库，先输入小批量数据做调试使用，待试运行基本合格后，再大批量输入数据。</a:t>
            </a:r>
          </a:p>
          <a:p>
            <a:pPr marL="800100" lvl="1" indent="-342900" eaLnBrk="1" hangingPunct="1">
              <a:lnSpc>
                <a:spcPct val="105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l"/>
            </a:pPr>
            <a:r>
              <a:rPr kumimoji="1" lang="zh-CN" altLang="en-US" sz="2400" b="1" i="0" dirty="0">
                <a:solidFill>
                  <a:srgbClr val="000066"/>
                </a:solidFill>
                <a:latin typeface="Tahoma" panose="020B0604030504040204" pitchFamily="34" charset="0"/>
              </a:rPr>
              <a:t>要首先调试运行</a:t>
            </a:r>
            <a:r>
              <a:rPr kumimoji="1" lang="en-US" altLang="zh-CN" sz="2400" b="1" i="0" dirty="0">
                <a:solidFill>
                  <a:srgbClr val="000066"/>
                </a:solidFill>
                <a:latin typeface="Tahoma" panose="020B0604030504040204" pitchFamily="34" charset="0"/>
              </a:rPr>
              <a:t>DBMS</a:t>
            </a:r>
            <a:r>
              <a:rPr kumimoji="1" lang="zh-CN" altLang="en-US" sz="2400" b="1" i="0" dirty="0">
                <a:solidFill>
                  <a:srgbClr val="000066"/>
                </a:solidFill>
                <a:latin typeface="Tahoma" panose="020B0604030504040204" pitchFamily="34" charset="0"/>
              </a:rPr>
              <a:t>的恢复功能，做好数据库的转储和恢复工作。</a:t>
            </a:r>
            <a:endParaRPr kumimoji="1" lang="en-US" altLang="zh-CN" sz="2400" b="1" i="0" dirty="0">
              <a:solidFill>
                <a:srgbClr val="000066"/>
              </a:solidFill>
              <a:latin typeface="Tahoma" panose="020B0604030504040204" pitchFamily="34" charset="0"/>
            </a:endParaRPr>
          </a:p>
          <a:p>
            <a:pPr lvl="2" eaLnBrk="1" hangingPunct="1">
              <a:lnSpc>
                <a:spcPct val="105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kumimoji="1" lang="zh-CN" altLang="en-US" sz="2400" b="1" i="0" dirty="0">
                <a:solidFill>
                  <a:srgbClr val="000066"/>
                </a:solidFill>
                <a:latin typeface="Tahoma" panose="020B0604030504040204" pitchFamily="34" charset="0"/>
              </a:rPr>
              <a:t>在数据库试运行阶段，系统还不稳定，硬、软件故障随时都可能发生；</a:t>
            </a:r>
            <a:endParaRPr kumimoji="1" lang="en-US" altLang="zh-CN" sz="2400" b="1" i="0" dirty="0">
              <a:solidFill>
                <a:srgbClr val="000066"/>
              </a:solidFill>
              <a:latin typeface="Tahoma" panose="020B0604030504040204" pitchFamily="34" charset="0"/>
            </a:endParaRPr>
          </a:p>
          <a:p>
            <a:pPr lvl="2" eaLnBrk="1" hangingPunct="1">
              <a:lnSpc>
                <a:spcPct val="105000"/>
              </a:lnSpc>
              <a:spcBef>
                <a:spcPct val="20000"/>
              </a:spcBef>
              <a:buClr>
                <a:schemeClr val="hlink"/>
              </a:buClr>
              <a:buFontTx/>
              <a:buChar char="–"/>
            </a:pPr>
            <a:r>
              <a:rPr kumimoji="1" lang="zh-CN" altLang="en-US" sz="2400" b="1" i="0" dirty="0">
                <a:solidFill>
                  <a:srgbClr val="000066"/>
                </a:solidFill>
                <a:latin typeface="Tahoma" panose="020B0604030504040204" pitchFamily="34" charset="0"/>
              </a:rPr>
              <a:t>系统的操作人员对新系统还不熟悉，误操作也不可避免；</a:t>
            </a:r>
            <a:endParaRPr kumimoji="1" lang="en-US" altLang="zh-CN" sz="2400" b="1" i="0" dirty="0">
              <a:solidFill>
                <a:srgbClr val="000066"/>
              </a:solidFill>
              <a:latin typeface="Tahoma" panose="020B0604030504040204" pitchFamily="34" charset="0"/>
            </a:endParaRPr>
          </a:p>
          <a:p>
            <a:pPr marL="457200" lvl="1" indent="0" eaLnBrk="1" hangingPunct="1">
              <a:lnSpc>
                <a:spcPct val="105000"/>
              </a:lnSpc>
              <a:spcBef>
                <a:spcPct val="20000"/>
              </a:spcBef>
              <a:buClr>
                <a:schemeClr val="hlink"/>
              </a:buClr>
            </a:pPr>
            <a:endParaRPr lang="en-US" altLang="zh-CN" sz="2000" i="0" dirty="0"/>
          </a:p>
          <a:p>
            <a:pPr marL="457200" lvl="1" indent="0" eaLnBrk="1" hangingPunct="1">
              <a:lnSpc>
                <a:spcPct val="105000"/>
              </a:lnSpc>
              <a:spcBef>
                <a:spcPct val="20000"/>
              </a:spcBef>
              <a:buClr>
                <a:schemeClr val="hlink"/>
              </a:buClr>
            </a:pPr>
            <a:endParaRPr kumimoji="1" lang="zh-CN" altLang="en-US" sz="2400" b="1" i="0" dirty="0">
              <a:solidFill>
                <a:srgbClr val="000066"/>
              </a:solidFill>
              <a:latin typeface="Tahoma" panose="020B060403050404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98648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实施、运行与维护</a:t>
            </a:r>
          </a:p>
        </p:txBody>
      </p:sp>
      <p:sp>
        <p:nvSpPr>
          <p:cNvPr id="5" name="文本框 94"/>
          <p:cNvSpPr txBox="1">
            <a:spLocks noChangeArrowheads="1"/>
          </p:cNvSpPr>
          <p:nvPr/>
        </p:nvSpPr>
        <p:spPr bwMode="auto">
          <a:xfrm>
            <a:off x="6414417" y="65515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数据库实施</a:t>
            </a:r>
          </a:p>
        </p:txBody>
      </p:sp>
      <p:cxnSp>
        <p:nvCxnSpPr>
          <p:cNvPr id="6" name="直接连接符 5"/>
          <p:cNvCxnSpPr/>
          <p:nvPr/>
        </p:nvCxnSpPr>
        <p:spPr>
          <a:xfrm rot="5400000">
            <a:off x="6058107" y="279268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932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2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79387" y="1125538"/>
            <a:ext cx="11084357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1" hangingPunct="1">
              <a:spcBef>
                <a:spcPct val="200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1" lang="zh-CN" altLang="en-US" sz="32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整理文档</a:t>
            </a:r>
          </a:p>
          <a:p>
            <a:pPr lvl="1" algn="just" eaLnBrk="1" hangingPunct="1">
              <a:lnSpc>
                <a:spcPct val="105000"/>
              </a:lnSpc>
              <a:spcBef>
                <a:spcPct val="55000"/>
              </a:spcBef>
            </a:pPr>
            <a:r>
              <a:rPr lang="zh-CN" altLang="en-US" b="1" dirty="0"/>
              <a:t>在应用程序编制调试及试运行时，应该随时将发现的问题的解决方案记录下来，整理成文档，以备运行维护和改进时参考。</a:t>
            </a:r>
            <a:endParaRPr lang="en-US" altLang="zh-CN" b="1" dirty="0"/>
          </a:p>
          <a:p>
            <a:pPr lvl="1" algn="just" eaLnBrk="1" hangingPunct="1">
              <a:lnSpc>
                <a:spcPct val="105000"/>
              </a:lnSpc>
              <a:spcBef>
                <a:spcPct val="55000"/>
              </a:spcBef>
            </a:pPr>
            <a:r>
              <a:rPr lang="zh-CN" altLang="en-US" b="1" dirty="0"/>
              <a:t>试运行成功后，还应编写测试报告、应用系统的技术说明书和使用说明书，在正式使用时一并交给用户。</a:t>
            </a:r>
          </a:p>
          <a:p>
            <a:pPr lvl="1" algn="just" eaLnBrk="1" hangingPunct="1">
              <a:lnSpc>
                <a:spcPct val="105000"/>
              </a:lnSpc>
              <a:spcBef>
                <a:spcPct val="55000"/>
              </a:spcBef>
            </a:pPr>
            <a:r>
              <a:rPr lang="zh-CN" altLang="en-US" b="1" dirty="0"/>
              <a:t>完整的文档是应用系统的重要组成部分，这一点容易被忽略，应该引起设计人员的充分重视。</a:t>
            </a:r>
          </a:p>
        </p:txBody>
      </p:sp>
      <p:sp>
        <p:nvSpPr>
          <p:cNvPr id="5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98648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实施、运行与维护</a:t>
            </a:r>
          </a:p>
        </p:txBody>
      </p:sp>
      <p:sp>
        <p:nvSpPr>
          <p:cNvPr id="6" name="文本框 94"/>
          <p:cNvSpPr txBox="1">
            <a:spLocks noChangeArrowheads="1"/>
          </p:cNvSpPr>
          <p:nvPr/>
        </p:nvSpPr>
        <p:spPr bwMode="auto">
          <a:xfrm>
            <a:off x="6414417" y="65515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8.6.1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数据库实施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6058107" y="279268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4662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33398" y="910121"/>
            <a:ext cx="10969337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zh-CN" b="1" dirty="0">
                <a:solidFill>
                  <a:srgbClr val="000066"/>
                </a:solidFill>
              </a:rPr>
              <a:t>        </a:t>
            </a:r>
            <a:r>
              <a:rPr lang="zh-CN" altLang="en-US" b="1" dirty="0">
                <a:solidFill>
                  <a:srgbClr val="000066"/>
                </a:solidFill>
              </a:rPr>
              <a:t>在数据库运行阶段，对数据库经常性的维护工作主要是由</a:t>
            </a:r>
            <a:r>
              <a:rPr lang="en-US" altLang="zh-CN" b="1" dirty="0" err="1">
                <a:solidFill>
                  <a:srgbClr val="000066"/>
                </a:solidFill>
              </a:rPr>
              <a:t>DBA</a:t>
            </a:r>
            <a:r>
              <a:rPr lang="zh-CN" altLang="en-US" b="1" dirty="0">
                <a:solidFill>
                  <a:srgbClr val="000066"/>
                </a:solidFill>
              </a:rPr>
              <a:t>完成的，包括：</a:t>
            </a:r>
          </a:p>
          <a:p>
            <a:pPr lvl="2" eaLnBrk="1" hangingPunct="1">
              <a:lnSpc>
                <a:spcPct val="125000"/>
              </a:lnSpc>
              <a:buFontTx/>
              <a:buNone/>
            </a:pPr>
            <a:r>
              <a:rPr lang="zh-CN" altLang="en-US" sz="2800" b="1" dirty="0">
                <a:solidFill>
                  <a:srgbClr val="000066"/>
                </a:solidFill>
              </a:rPr>
              <a:t>   </a:t>
            </a:r>
            <a:endParaRPr lang="zh-CN" altLang="en-US" b="1" dirty="0">
              <a:solidFill>
                <a:srgbClr val="000066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33399" y="2299854"/>
            <a:ext cx="1066881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20000"/>
              </a:spcBef>
              <a:buClr>
                <a:schemeClr val="accent1"/>
              </a:buClr>
            </a:pPr>
            <a:r>
              <a:rPr kumimoji="1" lang="en-US" altLang="zh-CN" sz="2800" b="1" i="0" dirty="0">
                <a:solidFill>
                  <a:srgbClr val="FF3300"/>
                </a:solidFill>
                <a:latin typeface="Tahoma" panose="020B0604030504040204" pitchFamily="34" charset="0"/>
              </a:rPr>
              <a:t>⒈</a:t>
            </a:r>
            <a:r>
              <a:rPr kumimoji="1" lang="zh-CN" altLang="en-US" sz="2800" b="1" i="0" dirty="0">
                <a:solidFill>
                  <a:srgbClr val="FF3300"/>
                </a:solidFill>
                <a:latin typeface="Tahoma" panose="020B0604030504040204" pitchFamily="34" charset="0"/>
              </a:rPr>
              <a:t>数据库的转储和恢复</a:t>
            </a:r>
          </a:p>
          <a:p>
            <a:pPr lvl="1" eaLnBrk="1" hangingPunct="1">
              <a:lnSpc>
                <a:spcPct val="125000"/>
              </a:lnSpc>
              <a:spcBef>
                <a:spcPct val="30000"/>
              </a:spcBef>
              <a:buClr>
                <a:schemeClr val="hlink"/>
              </a:buClr>
              <a:buFontTx/>
              <a:buChar char="–"/>
            </a:pPr>
            <a:r>
              <a:rPr kumimoji="1" lang="zh-CN" altLang="en-US" sz="2800" b="1" i="0" dirty="0">
                <a:solidFill>
                  <a:srgbClr val="000066"/>
                </a:solidFill>
                <a:latin typeface="Tahoma" panose="020B0604030504040204" pitchFamily="34" charset="0"/>
              </a:rPr>
              <a:t>转储和恢复是系统正式运行后最重要的维护工作之一。</a:t>
            </a:r>
          </a:p>
          <a:p>
            <a:pPr lvl="1" eaLnBrk="1" hangingPunct="1">
              <a:lnSpc>
                <a:spcPct val="125000"/>
              </a:lnSpc>
              <a:spcBef>
                <a:spcPct val="30000"/>
              </a:spcBef>
              <a:buClr>
                <a:schemeClr val="hlink"/>
              </a:buClr>
              <a:buFontTx/>
              <a:buChar char="–"/>
            </a:pPr>
            <a:r>
              <a:rPr kumimoji="1" lang="en-US" altLang="zh-CN" sz="2800" b="1" i="0" dirty="0">
                <a:solidFill>
                  <a:srgbClr val="000066"/>
                </a:solidFill>
                <a:latin typeface="Tahoma" panose="020B0604030504040204" pitchFamily="34" charset="0"/>
              </a:rPr>
              <a:t>DBA</a:t>
            </a:r>
            <a:r>
              <a:rPr kumimoji="1" lang="zh-CN" altLang="en-US" sz="2800" b="1" i="0" dirty="0">
                <a:solidFill>
                  <a:srgbClr val="000066"/>
                </a:solidFill>
                <a:latin typeface="Tahoma" panose="020B0604030504040204" pitchFamily="34" charset="0"/>
              </a:rPr>
              <a:t>要针对不同的应用要求制定不同的转储计划，定期对数据库和日志文件进行备份。</a:t>
            </a:r>
          </a:p>
          <a:p>
            <a:pPr lvl="1" eaLnBrk="1" hangingPunct="1">
              <a:lnSpc>
                <a:spcPct val="125000"/>
              </a:lnSpc>
              <a:spcBef>
                <a:spcPct val="30000"/>
              </a:spcBef>
              <a:buClr>
                <a:schemeClr val="hlink"/>
              </a:buClr>
              <a:buFontTx/>
              <a:buChar char="–"/>
            </a:pPr>
            <a:r>
              <a:rPr kumimoji="1" lang="zh-CN" altLang="en-US" sz="2800" b="1" i="0" dirty="0">
                <a:solidFill>
                  <a:srgbClr val="000066"/>
                </a:solidFill>
                <a:latin typeface="Tahoma" panose="020B0604030504040204" pitchFamily="34" charset="0"/>
              </a:rPr>
              <a:t>一旦发生介质故障，即利用数据库备份及日志文件备份，尽快将数据库恢复到某种一致性状态。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98648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实施、运行与维护</a:t>
            </a:r>
          </a:p>
        </p:txBody>
      </p:sp>
      <p:sp>
        <p:nvSpPr>
          <p:cNvPr id="9" name="文本框 94"/>
          <p:cNvSpPr txBox="1">
            <a:spLocks noChangeArrowheads="1"/>
          </p:cNvSpPr>
          <p:nvPr/>
        </p:nvSpPr>
        <p:spPr bwMode="auto">
          <a:xfrm>
            <a:off x="6414417" y="65515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数据库运行与维护</a:t>
            </a:r>
          </a:p>
        </p:txBody>
      </p:sp>
      <p:cxnSp>
        <p:nvCxnSpPr>
          <p:cNvPr id="10" name="直接连接符 9"/>
          <p:cNvCxnSpPr/>
          <p:nvPr/>
        </p:nvCxnSpPr>
        <p:spPr>
          <a:xfrm rot="5400000">
            <a:off x="6058107" y="279268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0267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33399" y="1143000"/>
            <a:ext cx="10491355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zh-CN" b="1">
                <a:solidFill>
                  <a:srgbClr val="FF3300"/>
                </a:solidFill>
              </a:rPr>
              <a:t>⒉ </a:t>
            </a:r>
            <a:r>
              <a:rPr lang="zh-CN" altLang="en-US" b="1">
                <a:solidFill>
                  <a:srgbClr val="FF3300"/>
                </a:solidFill>
              </a:rPr>
              <a:t>数据库的安全性、完整性控制</a:t>
            </a:r>
          </a:p>
          <a:p>
            <a:pPr lvl="1" eaLnBrk="1" hangingPunct="1">
              <a:lnSpc>
                <a:spcPct val="125000"/>
              </a:lnSpc>
              <a:spcBef>
                <a:spcPct val="60000"/>
              </a:spcBef>
            </a:pPr>
            <a:r>
              <a:rPr lang="en-US" altLang="zh-CN" b="1">
                <a:solidFill>
                  <a:srgbClr val="000066"/>
                </a:solidFill>
              </a:rPr>
              <a:t>DBA</a:t>
            </a:r>
            <a:r>
              <a:rPr lang="zh-CN" altLang="en-US" b="1">
                <a:solidFill>
                  <a:srgbClr val="000066"/>
                </a:solidFill>
              </a:rPr>
              <a:t>必须根据用户的实际需要授予不同的操作权限。</a:t>
            </a:r>
          </a:p>
          <a:p>
            <a:pPr lvl="1" eaLnBrk="1" hangingPunct="1">
              <a:lnSpc>
                <a:spcPct val="125000"/>
              </a:lnSpc>
              <a:spcBef>
                <a:spcPct val="60000"/>
              </a:spcBef>
            </a:pPr>
            <a:r>
              <a:rPr lang="zh-CN" altLang="en-US" b="1">
                <a:solidFill>
                  <a:srgbClr val="000066"/>
                </a:solidFill>
              </a:rPr>
              <a:t>在数据库运行过程中，由于应用环境的变化，对安全性的要求也会发生变化，</a:t>
            </a:r>
            <a:r>
              <a:rPr lang="en-US" altLang="zh-CN" b="1">
                <a:solidFill>
                  <a:srgbClr val="000066"/>
                </a:solidFill>
              </a:rPr>
              <a:t>DBA</a:t>
            </a:r>
            <a:r>
              <a:rPr lang="zh-CN" altLang="en-US" b="1">
                <a:solidFill>
                  <a:srgbClr val="000066"/>
                </a:solidFill>
              </a:rPr>
              <a:t>需要根据实际情况修改原有的安全性控制。</a:t>
            </a:r>
          </a:p>
          <a:p>
            <a:pPr lvl="1" eaLnBrk="1" hangingPunct="1">
              <a:lnSpc>
                <a:spcPct val="125000"/>
              </a:lnSpc>
              <a:spcBef>
                <a:spcPct val="60000"/>
              </a:spcBef>
            </a:pPr>
            <a:r>
              <a:rPr lang="zh-CN" altLang="en-US" b="1">
                <a:solidFill>
                  <a:srgbClr val="000066"/>
                </a:solidFill>
              </a:rPr>
              <a:t>由于应用环境的变化，数据库的完整性约束条件也会变化，也需要</a:t>
            </a:r>
            <a:r>
              <a:rPr lang="en-US" altLang="zh-CN" b="1">
                <a:solidFill>
                  <a:srgbClr val="000066"/>
                </a:solidFill>
              </a:rPr>
              <a:t>DBA</a:t>
            </a:r>
            <a:r>
              <a:rPr lang="zh-CN" altLang="en-US" b="1">
                <a:solidFill>
                  <a:srgbClr val="000066"/>
                </a:solidFill>
              </a:rPr>
              <a:t>不断修正，以满足用户要求。</a:t>
            </a:r>
          </a:p>
        </p:txBody>
      </p:sp>
      <p:sp>
        <p:nvSpPr>
          <p:cNvPr id="5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98648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实施、运行与维护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6414417" y="65515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数据库运行与维护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6058107" y="279268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6536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59377" y="786419"/>
            <a:ext cx="11073245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zh-CN" b="1">
                <a:solidFill>
                  <a:srgbClr val="FF3300"/>
                </a:solidFill>
              </a:rPr>
              <a:t>⒊</a:t>
            </a:r>
            <a:r>
              <a:rPr lang="zh-CN" altLang="en-US" b="1">
                <a:solidFill>
                  <a:srgbClr val="FF3300"/>
                </a:solidFill>
              </a:rPr>
              <a:t>数据库性能的监督、分析和改进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b="1">
                <a:solidFill>
                  <a:srgbClr val="000066"/>
                </a:solidFill>
              </a:rPr>
              <a:t>在数据库运行过程中， </a:t>
            </a:r>
            <a:r>
              <a:rPr lang="en-US" altLang="zh-CN" b="1">
                <a:solidFill>
                  <a:srgbClr val="000066"/>
                </a:solidFill>
              </a:rPr>
              <a:t>DBA</a:t>
            </a:r>
            <a:r>
              <a:rPr lang="zh-CN" altLang="en-US" b="1">
                <a:solidFill>
                  <a:srgbClr val="000066"/>
                </a:solidFill>
              </a:rPr>
              <a:t>必须监督系统运行，对监测数据进行分析，找出改进系统性能的方法。</a:t>
            </a:r>
          </a:p>
          <a:p>
            <a:pPr lvl="2" eaLnBrk="1" hangingPunct="1">
              <a:lnSpc>
                <a:spcPct val="125000"/>
              </a:lnSpc>
            </a:pPr>
            <a:r>
              <a:rPr lang="zh-CN" altLang="en-US" sz="2800" b="1">
                <a:solidFill>
                  <a:srgbClr val="000066"/>
                </a:solidFill>
              </a:rPr>
              <a:t>利用监测工具获取系统运行过程中一系列性能参数的值；</a:t>
            </a:r>
          </a:p>
          <a:p>
            <a:pPr lvl="2" eaLnBrk="1" hangingPunct="1">
              <a:lnSpc>
                <a:spcPct val="125000"/>
              </a:lnSpc>
            </a:pPr>
            <a:r>
              <a:rPr lang="zh-CN" altLang="en-US" sz="2800" b="1">
                <a:solidFill>
                  <a:srgbClr val="000066"/>
                </a:solidFill>
              </a:rPr>
              <a:t>通过仔细分析这些数据，判断当前系统是否处于最佳运行状态；</a:t>
            </a:r>
          </a:p>
          <a:p>
            <a:pPr lvl="2" eaLnBrk="1" hangingPunct="1">
              <a:lnSpc>
                <a:spcPct val="125000"/>
              </a:lnSpc>
            </a:pPr>
            <a:r>
              <a:rPr lang="zh-CN" altLang="en-US" sz="2800" b="1">
                <a:solidFill>
                  <a:srgbClr val="000066"/>
                </a:solidFill>
              </a:rPr>
              <a:t>如果不是，则需要通过调整某些参数来进一步改进数据库性能。</a:t>
            </a:r>
            <a:endParaRPr lang="zh-CN" altLang="en-US" b="1">
              <a:solidFill>
                <a:srgbClr val="000066"/>
              </a:solidFill>
            </a:endParaRPr>
          </a:p>
        </p:txBody>
      </p:sp>
      <p:sp>
        <p:nvSpPr>
          <p:cNvPr id="5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98648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实施、运行与维护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6414417" y="65515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数据库运行与维护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6058107" y="279268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18782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04800" y="1066800"/>
            <a:ext cx="111252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40000"/>
              </a:spcBef>
              <a:buFontTx/>
              <a:buNone/>
            </a:pPr>
            <a:r>
              <a:rPr lang="en-US" altLang="zh-CN" b="1">
                <a:solidFill>
                  <a:srgbClr val="FF3300"/>
                </a:solidFill>
              </a:rPr>
              <a:t>⒋</a:t>
            </a:r>
            <a:r>
              <a:rPr lang="zh-CN" altLang="en-US" b="1">
                <a:solidFill>
                  <a:srgbClr val="FF3300"/>
                </a:solidFill>
              </a:rPr>
              <a:t>数据库的重组织和重构造</a:t>
            </a:r>
          </a:p>
          <a:p>
            <a:pPr eaLnBrk="1" hangingPunct="1">
              <a:lnSpc>
                <a:spcPct val="125000"/>
              </a:lnSpc>
              <a:spcBef>
                <a:spcPct val="40000"/>
              </a:spcBef>
              <a:buFontTx/>
              <a:buNone/>
            </a:pPr>
            <a:r>
              <a:rPr lang="en-US" altLang="zh-CN" b="1">
                <a:solidFill>
                  <a:srgbClr val="000066"/>
                </a:solidFill>
              </a:rPr>
              <a:t>1</a:t>
            </a:r>
            <a:r>
              <a:rPr lang="zh-CN" altLang="en-US" b="1">
                <a:solidFill>
                  <a:srgbClr val="000066"/>
                </a:solidFill>
              </a:rPr>
              <a:t>）数据库的重组织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b="1">
                <a:solidFill>
                  <a:srgbClr val="CC3300"/>
                </a:solidFill>
              </a:rPr>
              <a:t>重组织形式</a:t>
            </a:r>
            <a:r>
              <a:rPr lang="zh-CN" altLang="en-US" b="1">
                <a:solidFill>
                  <a:srgbClr val="000066"/>
                </a:solidFill>
              </a:rPr>
              <a:t>：</a:t>
            </a:r>
          </a:p>
          <a:p>
            <a:pPr lvl="2" eaLnBrk="1" hangingPunct="1">
              <a:lnSpc>
                <a:spcPct val="125000"/>
              </a:lnSpc>
            </a:pPr>
            <a:r>
              <a:rPr lang="zh-CN" altLang="en-US" sz="2800" b="1">
                <a:solidFill>
                  <a:srgbClr val="000066"/>
                </a:solidFill>
              </a:rPr>
              <a:t>全部重组织</a:t>
            </a:r>
          </a:p>
          <a:p>
            <a:pPr lvl="2" eaLnBrk="1" hangingPunct="1">
              <a:lnSpc>
                <a:spcPct val="125000"/>
              </a:lnSpc>
            </a:pPr>
            <a:r>
              <a:rPr lang="zh-CN" altLang="en-US" sz="2800" b="1">
                <a:solidFill>
                  <a:srgbClr val="000066"/>
                </a:solidFill>
              </a:rPr>
              <a:t>部分重组织（只对频繁增、删的表进行重组织）</a:t>
            </a:r>
          </a:p>
          <a:p>
            <a:pPr lvl="1" eaLnBrk="1" hangingPunct="1">
              <a:lnSpc>
                <a:spcPct val="125000"/>
              </a:lnSpc>
              <a:spcBef>
                <a:spcPct val="30000"/>
              </a:spcBef>
            </a:pPr>
            <a:r>
              <a:rPr lang="zh-CN" altLang="en-US" b="1">
                <a:solidFill>
                  <a:srgbClr val="CC3300"/>
                </a:solidFill>
              </a:rPr>
              <a:t>重组织工作</a:t>
            </a:r>
            <a:r>
              <a:rPr lang="zh-CN" altLang="en-US" b="1">
                <a:solidFill>
                  <a:srgbClr val="000066"/>
                </a:solidFill>
              </a:rPr>
              <a:t>：按原设计要求重新安排存储位置、回收垃圾、减少指针链等，以提高系统性能。</a:t>
            </a:r>
          </a:p>
          <a:p>
            <a:pPr lvl="1" eaLnBrk="1" hangingPunct="1">
              <a:lnSpc>
                <a:spcPct val="125000"/>
              </a:lnSpc>
              <a:spcBef>
                <a:spcPct val="30000"/>
              </a:spcBef>
            </a:pPr>
            <a:r>
              <a:rPr lang="zh-CN" altLang="en-US" b="1">
                <a:solidFill>
                  <a:srgbClr val="CC3300"/>
                </a:solidFill>
              </a:rPr>
              <a:t>重组织实质</a:t>
            </a:r>
            <a:r>
              <a:rPr lang="zh-CN" altLang="en-US" b="1">
                <a:solidFill>
                  <a:srgbClr val="000066"/>
                </a:solidFill>
              </a:rPr>
              <a:t>：不会修改原设计的逻辑和物理结构。</a:t>
            </a:r>
            <a:endParaRPr lang="zh-CN" altLang="en-US" b="1" dirty="0">
              <a:solidFill>
                <a:srgbClr val="000066"/>
              </a:solidFill>
            </a:endParaRPr>
          </a:p>
        </p:txBody>
      </p:sp>
      <p:sp>
        <p:nvSpPr>
          <p:cNvPr id="5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98648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实施、运行与维护</a:t>
            </a:r>
          </a:p>
        </p:txBody>
      </p:sp>
      <p:sp>
        <p:nvSpPr>
          <p:cNvPr id="6" name="文本框 94"/>
          <p:cNvSpPr txBox="1">
            <a:spLocks noChangeArrowheads="1"/>
          </p:cNvSpPr>
          <p:nvPr/>
        </p:nvSpPr>
        <p:spPr bwMode="auto">
          <a:xfrm>
            <a:off x="6414417" y="65515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数据库运行与维护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6058107" y="279268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0573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bldLvl="2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50824" y="1125538"/>
            <a:ext cx="11064875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zh-CN" b="1" dirty="0">
                <a:solidFill>
                  <a:srgbClr val="000066"/>
                </a:solidFill>
              </a:rPr>
              <a:t>2</a:t>
            </a:r>
            <a:r>
              <a:rPr lang="zh-CN" altLang="en-US" b="1" dirty="0">
                <a:solidFill>
                  <a:srgbClr val="000066"/>
                </a:solidFill>
              </a:rPr>
              <a:t>）数据库的重构造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b="1" dirty="0">
                <a:solidFill>
                  <a:srgbClr val="CC3300"/>
                </a:solidFill>
              </a:rPr>
              <a:t>重构造工作</a:t>
            </a:r>
            <a:r>
              <a:rPr lang="zh-CN" altLang="en-US" b="1" dirty="0">
                <a:solidFill>
                  <a:srgbClr val="000066"/>
                </a:solidFill>
              </a:rPr>
              <a:t>：根据新环境调整数据库的模式和内模式，比如：增加新的数据项、改变数据项的类型、改变数据库的容量、增加或删除索引、修改完整性约束条件。</a:t>
            </a:r>
          </a:p>
          <a:p>
            <a:pPr lvl="1" eaLnBrk="1" hangingPunct="1">
              <a:lnSpc>
                <a:spcPct val="125000"/>
              </a:lnSpc>
            </a:pPr>
            <a:r>
              <a:rPr lang="zh-CN" altLang="en-US" b="1" dirty="0">
                <a:solidFill>
                  <a:srgbClr val="FF3300"/>
                </a:solidFill>
              </a:rPr>
              <a:t>重构造实质：</a:t>
            </a:r>
            <a:r>
              <a:rPr lang="zh-CN" altLang="en-US" b="1" dirty="0">
                <a:solidFill>
                  <a:srgbClr val="000066"/>
                </a:solidFill>
              </a:rPr>
              <a:t>部分修改数据库的模式和内模式。</a:t>
            </a:r>
            <a:endParaRPr lang="en-US" altLang="zh-CN" b="1" dirty="0">
              <a:solidFill>
                <a:srgbClr val="000066"/>
              </a:solidFill>
            </a:endParaRPr>
          </a:p>
          <a:p>
            <a:pPr lvl="1" eaLnBrk="1" hangingPunct="1">
              <a:lnSpc>
                <a:spcPct val="125000"/>
              </a:lnSpc>
            </a:pPr>
            <a:r>
              <a:rPr lang="zh-CN" altLang="en-US" b="1" dirty="0">
                <a:solidFill>
                  <a:srgbClr val="CC3300"/>
                </a:solidFill>
              </a:rPr>
              <a:t>重构造局限：</a:t>
            </a:r>
            <a:r>
              <a:rPr lang="zh-CN" altLang="en-US" b="1" dirty="0">
                <a:solidFill>
                  <a:srgbClr val="000066"/>
                </a:solidFill>
              </a:rPr>
              <a:t>部分重构造。若变化太大，无法通过重构数据库来满足新的需求，或重构数据库 的代价太大，则表明现有</a:t>
            </a:r>
            <a:r>
              <a:rPr lang="zh-CN" altLang="en-US" b="1" dirty="0">
                <a:solidFill>
                  <a:srgbClr val="FF0000"/>
                </a:solidFill>
              </a:rPr>
              <a:t>数据库应用系统的生命周期 已经结束</a:t>
            </a:r>
            <a:r>
              <a:rPr lang="zh-CN" altLang="en-US" b="1" dirty="0">
                <a:solidFill>
                  <a:srgbClr val="000066"/>
                </a:solidFill>
              </a:rPr>
              <a:t>，</a:t>
            </a:r>
            <a:r>
              <a:rPr lang="zh-CN" altLang="en-US" b="1" dirty="0">
                <a:solidFill>
                  <a:srgbClr val="FF0000"/>
                </a:solidFill>
              </a:rPr>
              <a:t>应该重新设计新的数据库应用系统了</a:t>
            </a:r>
            <a:r>
              <a:rPr lang="zh-CN" altLang="en-US" b="1" dirty="0">
                <a:solidFill>
                  <a:srgbClr val="000066"/>
                </a:solidFill>
              </a:rPr>
              <a:t>。</a:t>
            </a:r>
            <a:endParaRPr lang="en-US" altLang="zh-CN" b="1" dirty="0">
              <a:solidFill>
                <a:srgbClr val="000066"/>
              </a:solidFill>
            </a:endParaRPr>
          </a:p>
          <a:p>
            <a:pPr marL="457200" lvl="1" indent="0" eaLnBrk="1" hangingPunct="1">
              <a:lnSpc>
                <a:spcPct val="125000"/>
              </a:lnSpc>
              <a:buNone/>
            </a:pPr>
            <a:endParaRPr lang="en-US" altLang="zh-CN" b="1" dirty="0">
              <a:solidFill>
                <a:srgbClr val="000066"/>
              </a:solidFill>
            </a:endParaRPr>
          </a:p>
          <a:p>
            <a:pPr lvl="1" eaLnBrk="1" hangingPunct="1">
              <a:lnSpc>
                <a:spcPct val="125000"/>
              </a:lnSpc>
            </a:pPr>
            <a:endParaRPr lang="zh-CN" altLang="en-US" b="1" dirty="0">
              <a:solidFill>
                <a:srgbClr val="000066"/>
              </a:solidFill>
            </a:endParaRPr>
          </a:p>
          <a:p>
            <a:pPr lvl="1" eaLnBrk="1" hangingPunct="1">
              <a:lnSpc>
                <a:spcPct val="125000"/>
              </a:lnSpc>
            </a:pPr>
            <a:endParaRPr lang="en-US" altLang="zh-CN" b="1" dirty="0">
              <a:solidFill>
                <a:srgbClr val="000066"/>
              </a:solidFill>
            </a:endParaRPr>
          </a:p>
        </p:txBody>
      </p:sp>
      <p:sp>
        <p:nvSpPr>
          <p:cNvPr id="5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98648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实施、运行与维护</a:t>
            </a:r>
          </a:p>
        </p:txBody>
      </p:sp>
      <p:sp>
        <p:nvSpPr>
          <p:cNvPr id="8" name="文本框 94"/>
          <p:cNvSpPr txBox="1">
            <a:spLocks noChangeArrowheads="1"/>
          </p:cNvSpPr>
          <p:nvPr/>
        </p:nvSpPr>
        <p:spPr bwMode="auto">
          <a:xfrm>
            <a:off x="6414417" y="65515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数据库运行与维护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>
            <a:off x="6058107" y="279268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3939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本章小结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71965" y="858982"/>
            <a:ext cx="10985119" cy="428645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/>
                </a:solidFill>
              </a:rPr>
              <a:t>介绍数据库设计的方法和步骤；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/>
                </a:solidFill>
              </a:rPr>
              <a:t>讲解了数据库设计各个阶段的目标、方法和技术；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/>
                </a:solidFill>
              </a:rPr>
              <a:t>重点是概念结构的设计和逻辑结构的设计 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1257300" lvl="2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ü"/>
            </a:pPr>
            <a:r>
              <a:rPr lang="en-US" altLang="zh-CN" sz="2000" b="1" dirty="0">
                <a:solidFill>
                  <a:schemeClr val="tx1"/>
                </a:solidFill>
              </a:rPr>
              <a:t>E-R</a:t>
            </a:r>
            <a:r>
              <a:rPr lang="zh-CN" altLang="en-US" sz="2000" b="1" dirty="0">
                <a:solidFill>
                  <a:schemeClr val="tx1"/>
                </a:solidFill>
              </a:rPr>
              <a:t>模型的设计方法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1257300" lvl="2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tx1"/>
                </a:solidFill>
              </a:rPr>
              <a:t>实体型、属性和联系的概念  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1257300" lvl="2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tx1"/>
                </a:solidFill>
              </a:rPr>
              <a:t>实体型之间的一对一、一对多和多对多联系  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1257300" lvl="2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tx1"/>
                </a:solidFill>
              </a:rPr>
              <a:t> 把</a:t>
            </a:r>
            <a:r>
              <a:rPr lang="en-US" altLang="zh-CN" sz="2000" b="1" dirty="0">
                <a:solidFill>
                  <a:schemeClr val="tx1"/>
                </a:solidFill>
              </a:rPr>
              <a:t>E-R</a:t>
            </a:r>
            <a:r>
              <a:rPr lang="zh-CN" altLang="en-US" sz="2000" b="1" dirty="0">
                <a:solidFill>
                  <a:schemeClr val="tx1"/>
                </a:solidFill>
              </a:rPr>
              <a:t>模型转换为关系模型的方法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20601" y="5437433"/>
            <a:ext cx="22910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38467827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4CC2E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2479</TotalTime>
  <Words>1351</Words>
  <Application>Microsoft Macintosh PowerPoint</Application>
  <PresentationFormat>宽屏</PresentationFormat>
  <Paragraphs>194</Paragraphs>
  <Slides>15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宋体</vt:lpstr>
      <vt:lpstr>微软雅黑</vt:lpstr>
      <vt:lpstr>Arial</vt:lpstr>
      <vt:lpstr>Calibri</vt:lpstr>
      <vt:lpstr>Calibri Light</vt:lpstr>
      <vt:lpstr>Tahoma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zhouping</dc:creator>
  <cp:lastModifiedBy>Qingting Xu</cp:lastModifiedBy>
  <cp:revision>1456</cp:revision>
  <dcterms:created xsi:type="dcterms:W3CDTF">2014-07-02T10:42:00Z</dcterms:created>
  <dcterms:modified xsi:type="dcterms:W3CDTF">2025-09-26T01:22:18Z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所有者">
    <vt:lpwstr>大同煤炭职业技术学院</vt:lpwstr>
  </property>
  <property fmtid="{D5CDD505-2E9C-101B-9397-08002B2CF9AE}" pid="3" name="KSOProductBuildVer">
    <vt:lpwstr>2052-11.1.0.8894</vt:lpwstr>
  </property>
</Properties>
</file>