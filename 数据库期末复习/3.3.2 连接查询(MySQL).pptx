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handoutMasterIdLst>
    <p:handoutMasterId r:id="rId21"/>
  </p:handoutMasterIdLst>
  <p:sldIdLst>
    <p:sldId id="286" r:id="rId2"/>
    <p:sldId id="454" r:id="rId3"/>
    <p:sldId id="506" r:id="rId4"/>
    <p:sldId id="507" r:id="rId5"/>
    <p:sldId id="508" r:id="rId6"/>
    <p:sldId id="509" r:id="rId7"/>
    <p:sldId id="522" r:id="rId8"/>
    <p:sldId id="510" r:id="rId9"/>
    <p:sldId id="511" r:id="rId10"/>
    <p:sldId id="515" r:id="rId11"/>
    <p:sldId id="523" r:id="rId12"/>
    <p:sldId id="525" r:id="rId13"/>
    <p:sldId id="526" r:id="rId14"/>
    <p:sldId id="527" r:id="rId15"/>
    <p:sldId id="528" r:id="rId16"/>
    <p:sldId id="529" r:id="rId17"/>
    <p:sldId id="530" r:id="rId18"/>
    <p:sldId id="456" r:id="rId19"/>
  </p:sldIdLst>
  <p:sldSz cx="12192000" cy="6858000"/>
  <p:notesSz cx="7010400" cy="92964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orient="horz" pos="2866">
          <p15:clr>
            <a:srgbClr val="A4A3A4"/>
          </p15:clr>
        </p15:guide>
        <p15:guide id="3" orient="horz" pos="1293">
          <p15:clr>
            <a:srgbClr val="A4A3A4"/>
          </p15:clr>
        </p15:guide>
        <p15:guide id="4" pos="3840">
          <p15:clr>
            <a:srgbClr val="A4A3A4"/>
          </p15:clr>
        </p15:guide>
        <p15:guide id="5" pos="1218">
          <p15:clr>
            <a:srgbClr val="A4A3A4"/>
          </p15:clr>
        </p15:guide>
      </p15:sldGuideLst>
    </p:ext>
    <p:ext uri="{2D200454-40CA-4A62-9FC3-DE9A4176ACB9}">
      <p15:notesGuideLst xmlns:p15="http://schemas.microsoft.com/office/powerpoint/2012/main">
        <p15:guide id="1" orient="horz" pos="2226">
          <p15:clr>
            <a:srgbClr val="A4A3A4"/>
          </p15:clr>
        </p15:guide>
        <p15:guide id="2" orient="horz" pos="2928">
          <p15:clr>
            <a:srgbClr val="A4A3A4"/>
          </p15:clr>
        </p15:guide>
        <p15:guide id="3" pos="2878">
          <p15:clr>
            <a:srgbClr val="A4A3A4"/>
          </p15:clr>
        </p15:guide>
        <p15:guide id="4"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69F0"/>
    <a:srgbClr val="FF0000"/>
    <a:srgbClr val="009AD0"/>
    <a:srgbClr val="002060"/>
    <a:srgbClr val="009900"/>
    <a:srgbClr val="F79646"/>
    <a:srgbClr val="245D60"/>
    <a:srgbClr val="DD4633"/>
    <a:srgbClr val="CCCC00"/>
    <a:srgbClr val="99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34" autoAdjust="0"/>
    <p:restoredTop sz="56599" autoAdjust="0"/>
  </p:normalViewPr>
  <p:slideViewPr>
    <p:cSldViewPr snapToGrid="0">
      <p:cViewPr varScale="1">
        <p:scale>
          <a:sx n="60" d="100"/>
          <a:sy n="60" d="100"/>
        </p:scale>
        <p:origin x="2608" y="168"/>
      </p:cViewPr>
      <p:guideLst>
        <p:guide orient="horz" pos="2160"/>
        <p:guide orient="horz" pos="2866"/>
        <p:guide orient="horz" pos="1293"/>
        <p:guide pos="3840"/>
        <p:guide pos="1218"/>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58" d="100"/>
          <a:sy n="58" d="100"/>
        </p:scale>
        <p:origin x="-2790" y="-78"/>
      </p:cViewPr>
      <p:guideLst>
        <p:guide orient="horz" pos="2226"/>
        <p:guide orient="horz" pos="2928"/>
        <p:guide pos="2878"/>
        <p:guide pos="220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Rectangle 2"/>
          <p:cNvSpPr>
            <a:spLocks noGrp="1" noChangeArrowheads="1"/>
          </p:cNvSpPr>
          <p:nvPr>
            <p:ph type="hdr" sz="quarter"/>
          </p:nvPr>
        </p:nvSpPr>
        <p:spPr bwMode="auto">
          <a:xfrm>
            <a:off x="0" y="0"/>
            <a:ext cx="3037840" cy="464820"/>
          </a:xfrm>
          <a:prstGeom prst="rect">
            <a:avLst/>
          </a:prstGeom>
          <a:noFill/>
          <a:ln w="9525">
            <a:noFill/>
            <a:miter lim="800000"/>
          </a:ln>
          <a:effectLst/>
        </p:spPr>
        <p:txBody>
          <a:bodyPr vert="horz" wrap="square" lIns="93177" tIns="46589" rIns="93177" bIns="46589" numCol="1" anchor="t" anchorCtr="0" compatLnSpc="1"/>
          <a:lstStyle>
            <a:lvl1pPr>
              <a:defRPr sz="1200" smtClean="0">
                <a:latin typeface="Calibri" panose="020F0502020204030204" pitchFamily="34" charset="0"/>
              </a:defRPr>
            </a:lvl1pPr>
          </a:lstStyle>
          <a:p>
            <a:pPr>
              <a:defRPr/>
            </a:pPr>
            <a:endParaRPr lang="zh-CN" altLang="en-US"/>
          </a:p>
        </p:txBody>
      </p:sp>
      <p:sp>
        <p:nvSpPr>
          <p:cNvPr id="33795" name="Rectangle 3"/>
          <p:cNvSpPr>
            <a:spLocks noGrp="1" noChangeArrowheads="1"/>
          </p:cNvSpPr>
          <p:nvPr>
            <p:ph type="dt" sz="quarter" idx="1"/>
          </p:nvPr>
        </p:nvSpPr>
        <p:spPr bwMode="auto">
          <a:xfrm>
            <a:off x="3971344" y="0"/>
            <a:ext cx="3037840" cy="464820"/>
          </a:xfrm>
          <a:prstGeom prst="rect">
            <a:avLst/>
          </a:prstGeom>
          <a:noFill/>
          <a:ln w="9525">
            <a:noFill/>
            <a:miter lim="800000"/>
          </a:ln>
          <a:effectLst/>
        </p:spPr>
        <p:txBody>
          <a:bodyPr vert="horz" wrap="square" lIns="93177" tIns="46589" rIns="93177" bIns="46589" numCol="1" anchor="t" anchorCtr="0" compatLnSpc="1"/>
          <a:lstStyle>
            <a:lvl1pPr algn="r">
              <a:defRPr sz="1200" smtClean="0">
                <a:latin typeface="Calibri" panose="020F0502020204030204" pitchFamily="34" charset="0"/>
              </a:defRPr>
            </a:lvl1pPr>
          </a:lstStyle>
          <a:p>
            <a:pPr>
              <a:defRPr/>
            </a:pPr>
            <a:fld id="{3915CCEA-4D12-4250-ABBC-1F15DE901CBC}" type="datetimeFigureOut">
              <a:rPr lang="zh-CN" altLang="en-US"/>
              <a:t>2025/9/23</a:t>
            </a:fld>
            <a:endParaRPr lang="en-US" altLang="zh-CN"/>
          </a:p>
        </p:txBody>
      </p:sp>
      <p:sp>
        <p:nvSpPr>
          <p:cNvPr id="33796" name="Rectangle 4"/>
          <p:cNvSpPr>
            <a:spLocks noGrp="1" noChangeArrowheads="1"/>
          </p:cNvSpPr>
          <p:nvPr>
            <p:ph type="ftr" sz="quarter" idx="2"/>
          </p:nvPr>
        </p:nvSpPr>
        <p:spPr bwMode="auto">
          <a:xfrm>
            <a:off x="0" y="8829429"/>
            <a:ext cx="3037840" cy="464820"/>
          </a:xfrm>
          <a:prstGeom prst="rect">
            <a:avLst/>
          </a:prstGeom>
          <a:noFill/>
          <a:ln w="9525">
            <a:noFill/>
            <a:miter lim="800000"/>
          </a:ln>
          <a:effectLst/>
        </p:spPr>
        <p:txBody>
          <a:bodyPr vert="horz" wrap="square" lIns="93177" tIns="46589" rIns="93177" bIns="46589" numCol="1" anchor="b" anchorCtr="0" compatLnSpc="1"/>
          <a:lstStyle>
            <a:lvl1pPr>
              <a:defRPr sz="1200" smtClean="0">
                <a:latin typeface="Calibri" panose="020F0502020204030204" pitchFamily="34" charset="0"/>
              </a:defRPr>
            </a:lvl1pPr>
          </a:lstStyle>
          <a:p>
            <a:pPr>
              <a:defRPr/>
            </a:pPr>
            <a:endParaRPr lang="en-US" altLang="zh-CN"/>
          </a:p>
        </p:txBody>
      </p:sp>
      <p:sp>
        <p:nvSpPr>
          <p:cNvPr id="33797" name="Rectangle 5"/>
          <p:cNvSpPr>
            <a:spLocks noGrp="1" noChangeArrowheads="1"/>
          </p:cNvSpPr>
          <p:nvPr>
            <p:ph type="sldNum" sz="quarter" idx="3"/>
          </p:nvPr>
        </p:nvSpPr>
        <p:spPr bwMode="auto">
          <a:xfrm>
            <a:off x="3971344" y="8829429"/>
            <a:ext cx="3037840" cy="464820"/>
          </a:xfrm>
          <a:prstGeom prst="rect">
            <a:avLst/>
          </a:prstGeom>
          <a:noFill/>
          <a:ln w="9525">
            <a:noFill/>
            <a:miter lim="800000"/>
          </a:ln>
          <a:effectLst/>
        </p:spPr>
        <p:txBody>
          <a:bodyPr vert="horz" wrap="square" lIns="93177" tIns="46589" rIns="93177" bIns="46589" numCol="1" anchor="b" anchorCtr="0" compatLnSpc="1"/>
          <a:lstStyle>
            <a:lvl1pPr algn="r">
              <a:defRPr sz="1200" smtClean="0">
                <a:latin typeface="Calibri" panose="020F0502020204030204" pitchFamily="34" charset="0"/>
              </a:defRPr>
            </a:lvl1pPr>
          </a:lstStyle>
          <a:p>
            <a:pPr>
              <a:defRPr/>
            </a:pPr>
            <a:fld id="{C6A76C4A-4CA1-4C6A-946C-E26A5534DC95}" type="slidenum">
              <a:rPr lang="zh-CN" altLang="en-US"/>
              <a:t>‹#›</a:t>
            </a:fld>
            <a:endParaRPr lang="en-US" altLang="zh-CN"/>
          </a:p>
        </p:txBody>
      </p:sp>
    </p:spTree>
    <p:extLst>
      <p:ext uri="{BB962C8B-B14F-4D97-AF65-F5344CB8AC3E}">
        <p14:creationId xmlns:p14="http://schemas.microsoft.com/office/powerpoint/2010/main" val="35637205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3037840" cy="466972"/>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971344" y="1"/>
            <a:ext cx="3037840" cy="466972"/>
          </a:xfrm>
          <a:prstGeom prst="rect">
            <a:avLst/>
          </a:prstGeom>
        </p:spPr>
        <p:txBody>
          <a:bodyPr vert="horz" lIns="93177" tIns="46589" rIns="93177" bIns="46589" rtlCol="0"/>
          <a:lstStyle>
            <a:lvl1pPr algn="r" fontAlgn="auto">
              <a:spcBef>
                <a:spcPts val="0"/>
              </a:spcBef>
              <a:spcAft>
                <a:spcPts val="0"/>
              </a:spcAft>
              <a:defRPr sz="1200">
                <a:latin typeface="+mn-lt"/>
                <a:ea typeface="+mn-ea"/>
              </a:defRPr>
            </a:lvl1pPr>
          </a:lstStyle>
          <a:p>
            <a:pPr>
              <a:defRPr/>
            </a:pPr>
            <a:fld id="{8FAF2163-2CD8-43A9-AAB8-953EE3B200FA}" type="datetimeFigureOut">
              <a:rPr lang="zh-CN" altLang="en-US"/>
              <a:t>2025/9/23</a:t>
            </a:fld>
            <a:endParaRPr lang="zh-CN" altLang="en-US"/>
          </a:p>
        </p:txBody>
      </p:sp>
      <p:sp>
        <p:nvSpPr>
          <p:cNvPr id="4" name="幻灯片图像占位符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pPr lvl="0"/>
            <a:endParaRPr lang="zh-CN" altLang="en-US" noProof="0"/>
          </a:p>
        </p:txBody>
      </p:sp>
      <p:sp>
        <p:nvSpPr>
          <p:cNvPr id="5" name="备注占位符 4"/>
          <p:cNvSpPr>
            <a:spLocks noGrp="1"/>
          </p:cNvSpPr>
          <p:nvPr>
            <p:ph type="body" sz="quarter" idx="3"/>
          </p:nvPr>
        </p:nvSpPr>
        <p:spPr>
          <a:xfrm>
            <a:off x="701040" y="4473894"/>
            <a:ext cx="5608320" cy="3660456"/>
          </a:xfrm>
          <a:prstGeom prst="rect">
            <a:avLst/>
          </a:prstGeom>
        </p:spPr>
        <p:txBody>
          <a:bodyPr vert="horz" lIns="93177" tIns="46589" rIns="93177" bIns="46589"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829429"/>
            <a:ext cx="3037840" cy="46697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971344" y="8829429"/>
            <a:ext cx="3037840" cy="466971"/>
          </a:xfrm>
          <a:prstGeom prst="rect">
            <a:avLst/>
          </a:prstGeom>
        </p:spPr>
        <p:txBody>
          <a:bodyPr vert="horz" lIns="93177" tIns="46589" rIns="93177" bIns="46589" rtlCol="0" anchor="b"/>
          <a:lstStyle>
            <a:lvl1pPr algn="r" fontAlgn="auto">
              <a:spcBef>
                <a:spcPts val="0"/>
              </a:spcBef>
              <a:spcAft>
                <a:spcPts val="0"/>
              </a:spcAft>
              <a:defRPr sz="1200">
                <a:latin typeface="+mn-lt"/>
                <a:ea typeface="+mn-ea"/>
              </a:defRPr>
            </a:lvl1pPr>
          </a:lstStyle>
          <a:p>
            <a:pPr>
              <a:defRPr/>
            </a:pPr>
            <a:fld id="{1798234E-E7EE-4FBE-B288-F5A88D0BAADF}" type="slidenum">
              <a:rPr lang="zh-CN" altLang="en-US"/>
              <a:t>‹#›</a:t>
            </a:fld>
            <a:endParaRPr lang="zh-CN" altLang="en-US"/>
          </a:p>
        </p:txBody>
      </p:sp>
    </p:spTree>
    <p:extLst>
      <p:ext uri="{BB962C8B-B14F-4D97-AF65-F5344CB8AC3E}">
        <p14:creationId xmlns:p14="http://schemas.microsoft.com/office/powerpoint/2010/main" val="45833366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sym typeface="+mn-ea"/>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solidFill>
                <a:srgbClr val="FF3300"/>
              </a:solidFill>
              <a:latin typeface="微软雅黑" panose="020B0503020204020204" pitchFamily="34" charset="-122"/>
              <a:ea typeface="微软雅黑" panose="020B0503020204020204" pitchFamily="34" charset="-122"/>
              <a:sym typeface="+mn-ea"/>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indent="0" defTabSz="1600200">
              <a:lnSpc>
                <a:spcPct val="150000"/>
              </a:lnSpc>
              <a:spcAft>
                <a:spcPct val="35000"/>
              </a:spcAft>
              <a:buFont typeface="Wingdings" panose="05000000000000000000" pitchFamily="2" charset="2"/>
              <a:buNone/>
            </a:pPr>
            <a:endParaRPr lang="zh-CN" altLang="en-US" dirty="0">
              <a:latin typeface="微软雅黑" panose="020B0503020204020204" pitchFamily="34" charset="-122"/>
              <a:ea typeface="微软雅黑" panose="020B0503020204020204" pitchFamily="34" charset="-122"/>
              <a:sym typeface="+mn-ea"/>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GI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4" name="图片 3" descr="logo.jpg"/>
          <p:cNvPicPr>
            <a:picLocks noChangeAspect="1"/>
          </p:cNvPicPr>
          <p:nvPr userDrawn="1"/>
        </p:nvPicPr>
        <p:blipFill>
          <a:blip r:embed="rId2" cstate="print"/>
          <a:stretch>
            <a:fillRect/>
          </a:stretch>
        </p:blipFill>
        <p:spPr>
          <a:xfrm>
            <a:off x="10196523" y="6437085"/>
            <a:ext cx="1968290" cy="366871"/>
          </a:xfrm>
          <a:prstGeom prst="rect">
            <a:avLst/>
          </a:prstGeom>
        </p:spPr>
      </p:pic>
      <p:grpSp>
        <p:nvGrpSpPr>
          <p:cNvPr id="15" name="组合 14"/>
          <p:cNvGrpSpPr/>
          <p:nvPr userDrawn="1"/>
        </p:nvGrpSpPr>
        <p:grpSpPr>
          <a:xfrm>
            <a:off x="-1" y="6817500"/>
            <a:ext cx="12204000" cy="40500"/>
            <a:chOff x="-1" y="6019811"/>
            <a:chExt cx="9144000" cy="40500"/>
          </a:xfrm>
        </p:grpSpPr>
        <p:sp>
          <p:nvSpPr>
            <p:cNvPr id="11" name="矩形 7"/>
            <p:cNvSpPr>
              <a:spLocks noChangeArrowheads="1"/>
            </p:cNvSpPr>
            <p:nvPr userDrawn="1"/>
          </p:nvSpPr>
          <p:spPr bwMode="auto">
            <a:xfrm>
              <a:off x="3973509" y="6019811"/>
              <a:ext cx="3238531" cy="40500"/>
            </a:xfrm>
            <a:prstGeom prst="rect">
              <a:avLst/>
            </a:prstGeom>
            <a:solidFill>
              <a:srgbClr val="317FB7"/>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矩形 8"/>
            <p:cNvSpPr>
              <a:spLocks noChangeArrowheads="1"/>
            </p:cNvSpPr>
            <p:nvPr userDrawn="1"/>
          </p:nvSpPr>
          <p:spPr bwMode="auto">
            <a:xfrm flipH="1">
              <a:off x="-1" y="6019811"/>
              <a:ext cx="2571763" cy="40500"/>
            </a:xfrm>
            <a:prstGeom prst="rect">
              <a:avLst/>
            </a:prstGeom>
            <a:solidFill>
              <a:srgbClr val="92D050"/>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矩形 12"/>
            <p:cNvSpPr>
              <a:spLocks noChangeArrowheads="1"/>
            </p:cNvSpPr>
            <p:nvPr userDrawn="1"/>
          </p:nvSpPr>
          <p:spPr bwMode="auto">
            <a:xfrm flipH="1">
              <a:off x="2571736" y="6019811"/>
              <a:ext cx="1404964" cy="40500"/>
            </a:xfrm>
            <a:prstGeom prst="rect">
              <a:avLst/>
            </a:prstGeom>
            <a:solidFill>
              <a:srgbClr val="F49022"/>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4" name="矩形 12"/>
            <p:cNvSpPr>
              <a:spLocks noChangeArrowheads="1"/>
            </p:cNvSpPr>
            <p:nvPr userDrawn="1"/>
          </p:nvSpPr>
          <p:spPr bwMode="auto">
            <a:xfrm flipH="1">
              <a:off x="7215205" y="6019811"/>
              <a:ext cx="1928794" cy="40500"/>
            </a:xfrm>
            <a:prstGeom prst="rect">
              <a:avLst/>
            </a:prstGeom>
            <a:solidFill>
              <a:srgbClr val="EE3636"/>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grpSp>
      <p:pic>
        <p:nvPicPr>
          <p:cNvPr id="16" name="图片 8"/>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9468"/>
            <a:ext cx="1716196" cy="500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 name="Picture 10" descr="https://gimg2.baidu.com/image_search/src=http%3A%2F%2Fscibit.com%2Fwp-content%2Fuploads%2Fsites%2F29%2F2016%2F12%2Fmysql.jpg&amp;refer=http%3A%2F%2Fscibit.com&amp;app=2002&amp;size=f9999,10000&amp;q=a80&amp;n=0&amp;g=0n&amp;fmt=jpeg?sec=1617097019&amp;t=50d79522f2407f4e27c19386f4a66441"/>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55575" y="-136525"/>
            <a:ext cx="38100" cy="76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grpSp>
        <p:nvGrpSpPr>
          <p:cNvPr id="10" name="组合 14"/>
          <p:cNvGrpSpPr/>
          <p:nvPr userDrawn="1"/>
        </p:nvGrpSpPr>
        <p:grpSpPr>
          <a:xfrm flipV="1">
            <a:off x="-1" y="6857999"/>
            <a:ext cx="12204000" cy="45719"/>
            <a:chOff x="-1" y="6019811"/>
            <a:chExt cx="9144000" cy="40500"/>
          </a:xfrm>
        </p:grpSpPr>
        <p:sp>
          <p:nvSpPr>
            <p:cNvPr id="11" name="矩形 7"/>
            <p:cNvSpPr>
              <a:spLocks noChangeArrowheads="1"/>
            </p:cNvSpPr>
            <p:nvPr userDrawn="1"/>
          </p:nvSpPr>
          <p:spPr bwMode="auto">
            <a:xfrm>
              <a:off x="3973509" y="6019811"/>
              <a:ext cx="3238531" cy="40500"/>
            </a:xfrm>
            <a:prstGeom prst="rect">
              <a:avLst/>
            </a:prstGeom>
            <a:solidFill>
              <a:srgbClr val="317FB7"/>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矩形 8"/>
            <p:cNvSpPr>
              <a:spLocks noChangeArrowheads="1"/>
            </p:cNvSpPr>
            <p:nvPr userDrawn="1"/>
          </p:nvSpPr>
          <p:spPr bwMode="auto">
            <a:xfrm flipH="1">
              <a:off x="-1" y="6019811"/>
              <a:ext cx="2571763" cy="40500"/>
            </a:xfrm>
            <a:prstGeom prst="rect">
              <a:avLst/>
            </a:prstGeom>
            <a:solidFill>
              <a:srgbClr val="92D050"/>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矩形 12"/>
            <p:cNvSpPr>
              <a:spLocks noChangeArrowheads="1"/>
            </p:cNvSpPr>
            <p:nvPr userDrawn="1"/>
          </p:nvSpPr>
          <p:spPr bwMode="auto">
            <a:xfrm flipH="1">
              <a:off x="2571736" y="6019811"/>
              <a:ext cx="1404964" cy="40500"/>
            </a:xfrm>
            <a:prstGeom prst="rect">
              <a:avLst/>
            </a:prstGeom>
            <a:solidFill>
              <a:srgbClr val="F49022"/>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4" name="矩形 12"/>
            <p:cNvSpPr>
              <a:spLocks noChangeArrowheads="1"/>
            </p:cNvSpPr>
            <p:nvPr userDrawn="1"/>
          </p:nvSpPr>
          <p:spPr bwMode="auto">
            <a:xfrm flipH="1">
              <a:off x="7215205" y="6019811"/>
              <a:ext cx="1928794" cy="40500"/>
            </a:xfrm>
            <a:prstGeom prst="rect">
              <a:avLst/>
            </a:prstGeom>
            <a:solidFill>
              <a:srgbClr val="EE3636"/>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grpSp>
      <p:pic>
        <p:nvPicPr>
          <p:cNvPr id="16" name="图片 15" descr="logo.jpg"/>
          <p:cNvPicPr>
            <a:picLocks noChangeAspect="1"/>
          </p:cNvPicPr>
          <p:nvPr userDrawn="1"/>
        </p:nvPicPr>
        <p:blipFill>
          <a:blip r:embed="rId2" cstate="print"/>
          <a:stretch>
            <a:fillRect/>
          </a:stretch>
        </p:blipFill>
        <p:spPr>
          <a:xfrm>
            <a:off x="10223710" y="6450629"/>
            <a:ext cx="1968290" cy="366871"/>
          </a:xfrm>
          <a:prstGeom prst="rect">
            <a:avLst/>
          </a:prstGeom>
        </p:spPr>
      </p:pic>
      <p:pic>
        <p:nvPicPr>
          <p:cNvPr id="17" name="图片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125"/>
            <a:ext cx="2106613"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5"/>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715" y="6348551"/>
            <a:ext cx="641405" cy="509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灯片编号占位符 4"/>
          <p:cNvSpPr>
            <a:spLocks noGrp="1"/>
          </p:cNvSpPr>
          <p:nvPr>
            <p:ph type="sldNum" sz="quarter" idx="12"/>
          </p:nvPr>
        </p:nvSpPr>
        <p:spPr>
          <a:xfrm>
            <a:off x="11208327" y="6356352"/>
            <a:ext cx="796637" cy="365125"/>
          </a:xfrm>
          <a:prstGeom prst="rect">
            <a:avLst/>
          </a:prstGeom>
        </p:spPr>
        <p:txBody>
          <a:bodyPr lIns="121917" tIns="60958" rIns="121917" bIns="60958"/>
          <a:lstStyle>
            <a:lvl1pPr algn="r">
              <a:defRPr sz="1400"/>
            </a:lvl1pPr>
          </a:lstStyle>
          <a:p>
            <a:fld id="{99FE38DD-D074-4D0B-A898-33F2288C0FC4}" type="slidenum">
              <a:rPr lang="zh-CN" altLang="en-US" smtClean="0"/>
              <a:t>‹#›</a:t>
            </a:fld>
            <a:endParaRPr lang="zh-CN" altLang="en-US" dirty="0"/>
          </a:p>
        </p:txBody>
      </p:sp>
      <p:pic>
        <p:nvPicPr>
          <p:cNvPr id="4" name="Picture 5"/>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715" y="6328958"/>
            <a:ext cx="641405" cy="509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TR">
    <p:bg>
      <p:bgPr>
        <a:solidFill>
          <a:schemeClr val="bg1">
            <a:lumMod val="95000"/>
          </a:schemeClr>
        </a:solidFill>
        <a:effectLst/>
      </p:bgPr>
    </p:bg>
    <p:spTree>
      <p:nvGrpSpPr>
        <p:cNvPr id="1" name=""/>
        <p:cNvGrpSpPr/>
        <p:nvPr/>
      </p:nvGrpSpPr>
      <p:grpSpPr>
        <a:xfrm>
          <a:off x="0" y="0"/>
          <a:ext cx="0" cy="0"/>
          <a:chOff x="0" y="0"/>
          <a:chExt cx="0" cy="0"/>
        </a:xfrm>
      </p:grpSpPr>
      <p:sp>
        <p:nvSpPr>
          <p:cNvPr id="10" name="灯片编号占位符 4"/>
          <p:cNvSpPr>
            <a:spLocks noGrp="1"/>
          </p:cNvSpPr>
          <p:nvPr>
            <p:ph type="sldNum" sz="quarter" idx="12"/>
          </p:nvPr>
        </p:nvSpPr>
        <p:spPr>
          <a:xfrm>
            <a:off x="11208327" y="6356352"/>
            <a:ext cx="796637" cy="365125"/>
          </a:xfrm>
          <a:prstGeom prst="rect">
            <a:avLst/>
          </a:prstGeom>
        </p:spPr>
        <p:txBody>
          <a:bodyPr lIns="121917" tIns="60958" rIns="121917" bIns="60958"/>
          <a:lstStyle>
            <a:lvl1pPr algn="r">
              <a:defRPr sz="1400"/>
            </a:lvl1pPr>
          </a:lstStyle>
          <a:p>
            <a:fld id="{99FE38DD-D074-4D0B-A898-33F2288C0FC4}" type="slidenum">
              <a:rPr lang="zh-CN" altLang="en-US" smtClean="0"/>
              <a:t>‹#›</a:t>
            </a:fld>
            <a:endParaRPr lang="zh-CN" altLang="en-US" dirty="0"/>
          </a:p>
        </p:txBody>
      </p:sp>
      <p:sp>
        <p:nvSpPr>
          <p:cNvPr id="11" name="矩形 7"/>
          <p:cNvSpPr>
            <a:spLocks noChangeArrowheads="1"/>
          </p:cNvSpPr>
          <p:nvPr userDrawn="1"/>
        </p:nvSpPr>
        <p:spPr bwMode="auto">
          <a:xfrm>
            <a:off x="5298013" y="6807215"/>
            <a:ext cx="4318041" cy="54000"/>
          </a:xfrm>
          <a:prstGeom prst="rect">
            <a:avLst/>
          </a:prstGeom>
          <a:solidFill>
            <a:srgbClr val="317FB7"/>
          </a:solidFill>
          <a:ln w="25400">
            <a:noFill/>
            <a:bevel/>
          </a:ln>
        </p:spPr>
        <p:txBody>
          <a:bodyPr lIns="121917" tIns="60958" rIns="121917" bIns="60958"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矩形 8"/>
          <p:cNvSpPr>
            <a:spLocks noChangeArrowheads="1"/>
          </p:cNvSpPr>
          <p:nvPr userDrawn="1"/>
        </p:nvSpPr>
        <p:spPr bwMode="auto">
          <a:xfrm flipH="1">
            <a:off x="-1" y="6807215"/>
            <a:ext cx="3429017" cy="54000"/>
          </a:xfrm>
          <a:prstGeom prst="rect">
            <a:avLst/>
          </a:prstGeom>
          <a:solidFill>
            <a:srgbClr val="92D050"/>
          </a:solidFill>
          <a:ln w="25400">
            <a:noFill/>
            <a:bevel/>
          </a:ln>
        </p:spPr>
        <p:txBody>
          <a:bodyPr lIns="121917" tIns="60958" rIns="121917" bIns="60958"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矩形 12"/>
          <p:cNvSpPr>
            <a:spLocks noChangeArrowheads="1"/>
          </p:cNvSpPr>
          <p:nvPr userDrawn="1"/>
        </p:nvSpPr>
        <p:spPr bwMode="auto">
          <a:xfrm flipH="1">
            <a:off x="3428982" y="6807215"/>
            <a:ext cx="1873285" cy="54000"/>
          </a:xfrm>
          <a:prstGeom prst="rect">
            <a:avLst/>
          </a:prstGeom>
          <a:solidFill>
            <a:srgbClr val="F49022"/>
          </a:solidFill>
          <a:ln w="25400">
            <a:noFill/>
            <a:bevel/>
          </a:ln>
        </p:spPr>
        <p:txBody>
          <a:bodyPr lIns="121917" tIns="60958" rIns="121917" bIns="60958"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4" name="矩形 12"/>
          <p:cNvSpPr>
            <a:spLocks noChangeArrowheads="1"/>
          </p:cNvSpPr>
          <p:nvPr userDrawn="1"/>
        </p:nvSpPr>
        <p:spPr bwMode="auto">
          <a:xfrm flipH="1">
            <a:off x="9620274" y="6807215"/>
            <a:ext cx="2571725" cy="54000"/>
          </a:xfrm>
          <a:prstGeom prst="rect">
            <a:avLst/>
          </a:prstGeom>
          <a:solidFill>
            <a:srgbClr val="EE3636"/>
          </a:solidFill>
          <a:ln w="25400">
            <a:noFill/>
            <a:bevel/>
          </a:ln>
        </p:spPr>
        <p:txBody>
          <a:bodyPr lIns="121917" tIns="60958" rIns="121917" bIns="60958"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pic>
        <p:nvPicPr>
          <p:cNvPr id="9" name="Picture 5"/>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715" y="6296303"/>
            <a:ext cx="641405" cy="509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大纲">
    <p:spTree>
      <p:nvGrpSpPr>
        <p:cNvPr id="1" name=""/>
        <p:cNvGrpSpPr/>
        <p:nvPr/>
      </p:nvGrpSpPr>
      <p:grpSpPr>
        <a:xfrm>
          <a:off x="0" y="0"/>
          <a:ext cx="0" cy="0"/>
          <a:chOff x="0" y="0"/>
          <a:chExt cx="0" cy="0"/>
        </a:xfrm>
      </p:grpSpPr>
      <p:pic>
        <p:nvPicPr>
          <p:cNvPr id="9" name="图片 8" descr="logo.jpg"/>
          <p:cNvPicPr>
            <a:picLocks noChangeAspect="1"/>
          </p:cNvPicPr>
          <p:nvPr userDrawn="1"/>
        </p:nvPicPr>
        <p:blipFill>
          <a:blip r:embed="rId2" cstate="print"/>
          <a:stretch>
            <a:fillRect/>
          </a:stretch>
        </p:blipFill>
        <p:spPr>
          <a:xfrm>
            <a:off x="10223209" y="6497747"/>
            <a:ext cx="1968290" cy="366871"/>
          </a:xfrm>
          <a:prstGeom prst="rect">
            <a:avLst/>
          </a:prstGeom>
        </p:spPr>
      </p:pic>
      <p:pic>
        <p:nvPicPr>
          <p:cNvPr id="7" name="Picture 2" descr="https://www.shiep.edu.cn/_upload/article/images/ae/f5/a315f22e46eba7886e93c3942349/e87d7fad-391a-42bc-b0b3-a522274164b9.jp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5290" y="6063"/>
            <a:ext cx="1647588" cy="3928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9"/>
            <a:ext cx="109728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00" y="1600202"/>
            <a:ext cx="109728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014800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6148" name="Picture 4"/>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1627143" y="1"/>
            <a:ext cx="564856" cy="620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图片 3" descr="logo.jpg"/>
          <p:cNvPicPr>
            <a:picLocks noChangeAspect="1"/>
          </p:cNvPicPr>
          <p:nvPr userDrawn="1"/>
        </p:nvPicPr>
        <p:blipFill>
          <a:blip r:embed="rId9" cstate="print"/>
          <a:stretch>
            <a:fillRect/>
          </a:stretch>
        </p:blipFill>
        <p:spPr>
          <a:xfrm>
            <a:off x="10196523" y="6437085"/>
            <a:ext cx="1968290" cy="36687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9448763" y="15"/>
            <a:ext cx="2726267" cy="1200329"/>
          </a:xfrm>
          <a:prstGeom prst="rect">
            <a:avLst/>
          </a:prstGeom>
          <a:solidFill>
            <a:schemeClr val="bg1"/>
          </a:solidFill>
        </p:spPr>
        <p:txBody>
          <a:bodyPr wrap="square" rtlCol="0">
            <a:spAutoFit/>
          </a:bodyPr>
          <a:lstStyle/>
          <a:p>
            <a:endParaRPr lang="en-US" altLang="zh-CN" dirty="0"/>
          </a:p>
          <a:p>
            <a:endParaRPr lang="en-US" altLang="zh-CN" dirty="0"/>
          </a:p>
          <a:p>
            <a:r>
              <a:rPr lang="en-US" altLang="zh-CN" dirty="0"/>
              <a:t>                                                    </a:t>
            </a:r>
          </a:p>
          <a:p>
            <a:endParaRPr lang="zh-CN" altLang="en-US" dirty="0"/>
          </a:p>
        </p:txBody>
      </p:sp>
      <p:sp>
        <p:nvSpPr>
          <p:cNvPr id="9" name="TextBox 1"/>
          <p:cNvSpPr>
            <a:spLocks noChangeArrowheads="1"/>
          </p:cNvSpPr>
          <p:nvPr/>
        </p:nvSpPr>
        <p:spPr bwMode="auto">
          <a:xfrm>
            <a:off x="2218540" y="975521"/>
            <a:ext cx="7345184" cy="1754326"/>
          </a:xfrm>
          <a:prstGeom prst="rect">
            <a:avLst/>
          </a:prstGeom>
          <a:noFill/>
          <a:ln w="9525">
            <a:noFill/>
            <a:miter lim="800000"/>
          </a:ln>
        </p:spPr>
        <p:txBody>
          <a:bodyPr wrap="square" lIns="0" rIns="0">
            <a:spAutoFit/>
          </a:bodyPr>
          <a:lstStyle/>
          <a:p>
            <a:pPr algn="ctr"/>
            <a:endParaRPr lang="en-US" altLang="zh-CN" sz="5400" b="1" dirty="0">
              <a:solidFill>
                <a:srgbClr val="00589A"/>
              </a:solidFill>
              <a:latin typeface="微软雅黑" panose="020B0503020204020204" pitchFamily="34" charset="-122"/>
              <a:ea typeface="微软雅黑" panose="020B0503020204020204" pitchFamily="34" charset="-122"/>
              <a:sym typeface="方正细圆简体"/>
            </a:endParaRPr>
          </a:p>
          <a:p>
            <a:pPr algn="ctr"/>
            <a:r>
              <a:rPr lang="zh-CN" altLang="en-US" sz="5400" b="1" dirty="0">
                <a:solidFill>
                  <a:srgbClr val="00589A"/>
                </a:solidFill>
                <a:latin typeface="微软雅黑" panose="020B0503020204020204" pitchFamily="34" charset="-122"/>
                <a:ea typeface="微软雅黑" panose="020B0503020204020204" pitchFamily="34" charset="-122"/>
                <a:sym typeface="方正细圆简体"/>
              </a:rPr>
              <a:t>数据库原理</a:t>
            </a:r>
          </a:p>
        </p:txBody>
      </p:sp>
      <p:pic>
        <p:nvPicPr>
          <p:cNvPr id="4104"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833" y="15"/>
            <a:ext cx="5515227" cy="4818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3"/>
          <p:cNvSpPr txBox="1">
            <a:spLocks noChangeArrowheads="1"/>
          </p:cNvSpPr>
          <p:nvPr/>
        </p:nvSpPr>
        <p:spPr bwMode="auto">
          <a:xfrm>
            <a:off x="2444074" y="1015661"/>
            <a:ext cx="8128000" cy="5262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40000"/>
              </a:spcBef>
            </a:pPr>
            <a:r>
              <a:rPr lang="zh-CN" altLang="en-US" sz="4000" b="1" dirty="0">
                <a:solidFill>
                  <a:srgbClr val="003300"/>
                </a:solidFill>
              </a:rPr>
              <a:t>第三章    </a:t>
            </a:r>
            <a:r>
              <a:rPr lang="zh-CN" sz="4000" b="1" dirty="0">
                <a:solidFill>
                  <a:srgbClr val="003300"/>
                </a:solidFill>
              </a:rPr>
              <a:t>结构化查询语言</a:t>
            </a:r>
            <a:r>
              <a:rPr lang="en-US" altLang="zh-CN" sz="4000" b="1" dirty="0">
                <a:solidFill>
                  <a:srgbClr val="003300"/>
                </a:solidFill>
              </a:rPr>
              <a:t>SQL</a:t>
            </a:r>
          </a:p>
          <a:p>
            <a:pPr eaLnBrk="1" hangingPunct="1">
              <a:spcBef>
                <a:spcPct val="40000"/>
              </a:spcBef>
            </a:pPr>
            <a:endParaRPr lang="zh-CN" altLang="en-US" sz="4000" b="1" dirty="0">
              <a:solidFill>
                <a:srgbClr val="FF6600"/>
              </a:solidFill>
            </a:endParaRPr>
          </a:p>
          <a:p>
            <a:pPr eaLnBrk="1" hangingPunct="1">
              <a:spcBef>
                <a:spcPct val="50000"/>
              </a:spcBef>
            </a:pPr>
            <a:r>
              <a:rPr lang="en-US" altLang="zh-CN" sz="3200" b="1" dirty="0">
                <a:solidFill>
                  <a:schemeClr val="tx1"/>
                </a:solidFill>
              </a:rPr>
              <a:t>	3.1 SQL</a:t>
            </a:r>
            <a:r>
              <a:rPr lang="zh-CN" altLang="en-US" sz="3200" b="1" dirty="0">
                <a:solidFill>
                  <a:schemeClr val="tx1"/>
                </a:solidFill>
              </a:rPr>
              <a:t>概述</a:t>
            </a:r>
            <a:endParaRPr lang="en-US" altLang="zh-CN" sz="3200" b="1" dirty="0">
              <a:solidFill>
                <a:schemeClr val="tx1"/>
              </a:solidFill>
            </a:endParaRPr>
          </a:p>
          <a:p>
            <a:pPr eaLnBrk="1" hangingPunct="1">
              <a:spcBef>
                <a:spcPct val="50000"/>
              </a:spcBef>
            </a:pPr>
            <a:r>
              <a:rPr lang="en-US" altLang="zh-CN" sz="3200" b="1" dirty="0"/>
              <a:t>	</a:t>
            </a:r>
            <a:r>
              <a:rPr lang="en-US" altLang="zh-CN" sz="3200" b="1" dirty="0">
                <a:solidFill>
                  <a:schemeClr val="tx1"/>
                </a:solidFill>
              </a:rPr>
              <a:t>3.2 </a:t>
            </a:r>
            <a:r>
              <a:rPr lang="zh-CN" altLang="en-US" sz="3200" b="1" dirty="0">
                <a:solidFill>
                  <a:schemeClr val="tx1"/>
                </a:solidFill>
              </a:rPr>
              <a:t>数据定义语句</a:t>
            </a:r>
            <a:endParaRPr lang="zh-CN" altLang="en-US" sz="3200" b="1" dirty="0"/>
          </a:p>
          <a:p>
            <a:pPr eaLnBrk="1" hangingPunct="1">
              <a:spcBef>
                <a:spcPct val="50000"/>
              </a:spcBef>
            </a:pPr>
            <a:r>
              <a:rPr lang="en-US" altLang="zh-CN" sz="3200" b="1" dirty="0"/>
              <a:t>	</a:t>
            </a:r>
            <a:r>
              <a:rPr lang="en-US" altLang="zh-CN" sz="3200" b="1" dirty="0">
                <a:solidFill>
                  <a:srgbClr val="FF0000"/>
                </a:solidFill>
              </a:rPr>
              <a:t>3.3 </a:t>
            </a:r>
            <a:r>
              <a:rPr lang="zh-CN" altLang="en-US" sz="3200" b="1" dirty="0">
                <a:solidFill>
                  <a:srgbClr val="FF0000"/>
                </a:solidFill>
              </a:rPr>
              <a:t>查询</a:t>
            </a:r>
            <a:endParaRPr lang="zh-CN" altLang="en-US" sz="3200" b="1" dirty="0"/>
          </a:p>
          <a:p>
            <a:pPr eaLnBrk="1" hangingPunct="1">
              <a:spcBef>
                <a:spcPct val="50000"/>
              </a:spcBef>
            </a:pPr>
            <a:r>
              <a:rPr lang="en-US" altLang="zh-CN" sz="3200" dirty="0"/>
              <a:t>       </a:t>
            </a:r>
            <a:r>
              <a:rPr lang="en-US" altLang="zh-CN" sz="3200" dirty="0">
                <a:solidFill>
                  <a:srgbClr val="FF0000"/>
                </a:solidFill>
              </a:rPr>
              <a:t> </a:t>
            </a:r>
            <a:r>
              <a:rPr lang="en-US" altLang="zh-CN" sz="3200" b="1" dirty="0">
                <a:solidFill>
                  <a:schemeClr val="tx1"/>
                </a:solidFill>
                <a:sym typeface="+mn-ea"/>
              </a:rPr>
              <a:t>3.4 </a:t>
            </a:r>
            <a:r>
              <a:rPr lang="zh-CN" altLang="en-US" sz="3200" b="1" dirty="0">
                <a:solidFill>
                  <a:schemeClr val="tx1"/>
                </a:solidFill>
                <a:sym typeface="+mn-ea"/>
              </a:rPr>
              <a:t>数据更新</a:t>
            </a:r>
            <a:endParaRPr lang="zh-CN" altLang="en-US" sz="3200" b="1" dirty="0"/>
          </a:p>
          <a:p>
            <a:pPr eaLnBrk="1" hangingPunct="1">
              <a:spcBef>
                <a:spcPct val="50000"/>
              </a:spcBef>
            </a:pPr>
            <a:r>
              <a:rPr lang="en-US" altLang="zh-CN" sz="3200" b="1" dirty="0">
                <a:sym typeface="+mn-ea"/>
              </a:rPr>
              <a:t>	3.5 </a:t>
            </a:r>
            <a:r>
              <a:rPr lang="zh-CN" altLang="en-US" sz="3200" b="1" dirty="0">
                <a:sym typeface="+mn-ea"/>
              </a:rPr>
              <a:t>视图</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3.3 </a:t>
            </a:r>
            <a:r>
              <a:rPr lang="zh-CN" sz="2800" b="1" dirty="0">
                <a:solidFill>
                  <a:schemeClr val="bg1"/>
                </a:solidFill>
                <a:latin typeface="微软雅黑" panose="020B0503020204020204" pitchFamily="34" charset="-122"/>
                <a:ea typeface="微软雅黑" panose="020B0503020204020204" pitchFamily="34" charset="-122"/>
              </a:rPr>
              <a:t>查询</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3.3.2 </a:t>
            </a:r>
            <a:r>
              <a:rPr lang="zh-CN" sz="2800" b="1" dirty="0">
                <a:solidFill>
                  <a:schemeClr val="bg1"/>
                </a:solidFill>
                <a:latin typeface="微软雅黑" panose="020B0503020204020204" pitchFamily="34" charset="-122"/>
                <a:ea typeface="微软雅黑" panose="020B0503020204020204" pitchFamily="34" charset="-122"/>
              </a:rPr>
              <a:t>连接查询</a:t>
            </a:r>
          </a:p>
        </p:txBody>
      </p:sp>
      <p:sp>
        <p:nvSpPr>
          <p:cNvPr id="78850" name="Rectangle 3"/>
          <p:cNvSpPr>
            <a:spLocks noGrp="1"/>
          </p:cNvSpPr>
          <p:nvPr/>
        </p:nvSpPr>
        <p:spPr>
          <a:xfrm>
            <a:off x="457200" y="1143000"/>
            <a:ext cx="11440795" cy="1250315"/>
          </a:xfrm>
          <a:prstGeom prst="rect">
            <a:avLst/>
          </a:prstGeom>
          <a:noFill/>
          <a:ln>
            <a:noFill/>
          </a:ln>
        </p:spPr>
        <p:txBody>
          <a:bodyPr anchor="t"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25000"/>
              </a:lnSpc>
              <a:spcBef>
                <a:spcPts val="0"/>
              </a:spcBef>
              <a:buClr>
                <a:srgbClr val="FFFF66"/>
              </a:buClr>
              <a:buFont typeface="Wingdings" panose="05000000000000000000" pitchFamily="2" charset="2"/>
              <a:buChar char="§"/>
            </a:pPr>
            <a:r>
              <a:rPr lang="zh-CN" altLang="en-US" sz="2400" dirty="0">
                <a:solidFill>
                  <a:schemeClr val="tx1"/>
                </a:solidFill>
                <a:latin typeface="微软雅黑" panose="020B0503020204020204" pitchFamily="34" charset="-122"/>
                <a:ea typeface="微软雅黑" panose="020B0503020204020204" pitchFamily="34" charset="-122"/>
              </a:rPr>
              <a:t>在查询中，同时涉及两个或两个以上的表，要根据表中数据的情况作连接查询。</a:t>
            </a:r>
          </a:p>
        </p:txBody>
      </p:sp>
      <p:sp>
        <p:nvSpPr>
          <p:cNvPr id="242692" name="Rectangle 4"/>
          <p:cNvSpPr/>
          <p:nvPr/>
        </p:nvSpPr>
        <p:spPr>
          <a:xfrm>
            <a:off x="457200" y="1867535"/>
            <a:ext cx="10363200" cy="609600"/>
          </a:xfrm>
          <a:prstGeom prst="rect">
            <a:avLst/>
          </a:prstGeom>
          <a:noFill/>
          <a:ln w="9525">
            <a:noFill/>
          </a:ln>
        </p:spPr>
        <p:txBody>
          <a:bodyPr anchor="t" anchorCtr="0"/>
          <a:lstStyle/>
          <a:p>
            <a:pPr marL="342900" indent="-342900" eaLnBrk="1" latinLnBrk="0" hangingPunct="1">
              <a:lnSpc>
                <a:spcPct val="125000"/>
              </a:lnSpc>
              <a:spcBef>
                <a:spcPts val="0"/>
              </a:spcBef>
              <a:buClr>
                <a:srgbClr val="FFFF66"/>
              </a:buClr>
              <a:buFont typeface="Wingdings" panose="05000000000000000000" pitchFamily="2" charset="2"/>
              <a:buChar char="§"/>
            </a:pPr>
            <a:r>
              <a:rPr lang="zh-CN" altLang="en-US" sz="2400" dirty="0">
                <a:solidFill>
                  <a:schemeClr val="tx1"/>
                </a:solidFill>
                <a:latin typeface="微软雅黑" panose="020B0503020204020204" pitchFamily="34" charset="-122"/>
                <a:ea typeface="微软雅黑" panose="020B0503020204020204" pitchFamily="34" charset="-122"/>
              </a:rPr>
              <a:t>连接两个表的条件称为连接条件或连接谓词。</a:t>
            </a:r>
          </a:p>
        </p:txBody>
      </p:sp>
      <p:sp>
        <p:nvSpPr>
          <p:cNvPr id="242693" name="Rectangle 5"/>
          <p:cNvSpPr/>
          <p:nvPr/>
        </p:nvSpPr>
        <p:spPr>
          <a:xfrm>
            <a:off x="469900" y="2613025"/>
            <a:ext cx="11428095" cy="1219200"/>
          </a:xfrm>
          <a:prstGeom prst="rect">
            <a:avLst/>
          </a:prstGeom>
          <a:noFill/>
          <a:ln w="9525">
            <a:noFill/>
          </a:ln>
        </p:spPr>
        <p:txBody>
          <a:bodyPr anchor="t" anchorCtr="0"/>
          <a:lstStyle/>
          <a:p>
            <a:pPr marL="342900" indent="-342900" eaLnBrk="1" latinLnBrk="0" hangingPunct="1">
              <a:lnSpc>
                <a:spcPct val="125000"/>
              </a:lnSpc>
              <a:spcBef>
                <a:spcPts val="0"/>
              </a:spcBef>
              <a:buClr>
                <a:srgbClr val="FFFF66"/>
              </a:buClr>
              <a:buFont typeface="Wingdings" panose="05000000000000000000" pitchFamily="2" charset="2"/>
              <a:buChar char="§"/>
            </a:pP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一般格式为：</a:t>
            </a:r>
          </a:p>
          <a:p>
            <a:pPr marL="342900" indent="-342900" eaLnBrk="1" latinLnBrk="0" hangingPunct="1">
              <a:lnSpc>
                <a:spcPct val="125000"/>
              </a:lnSpc>
              <a:spcBef>
                <a:spcPts val="0"/>
              </a:spcBef>
              <a:buClr>
                <a:srgbClr val="FFFF66"/>
              </a:buClr>
              <a:buFont typeface="Wingdings" panose="05000000000000000000" pitchFamily="2" charset="2"/>
            </a:pP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[&lt;</a:t>
            </a: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表名</a:t>
            </a: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1&gt;.]&lt;</a:t>
            </a: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列名</a:t>
            </a: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1&gt; &lt;</a:t>
            </a: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比较运算符</a:t>
            </a: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&gt; [&lt;</a:t>
            </a: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表名</a:t>
            </a: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2&gt;.]&lt;</a:t>
            </a: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列名</a:t>
            </a: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2&gt;</a:t>
            </a:r>
          </a:p>
        </p:txBody>
      </p:sp>
      <p:sp>
        <p:nvSpPr>
          <p:cNvPr id="242694" name="Rectangle 6"/>
          <p:cNvSpPr/>
          <p:nvPr/>
        </p:nvSpPr>
        <p:spPr>
          <a:xfrm>
            <a:off x="414655" y="3804920"/>
            <a:ext cx="11525250" cy="1676400"/>
          </a:xfrm>
          <a:prstGeom prst="rect">
            <a:avLst/>
          </a:prstGeom>
          <a:noFill/>
          <a:ln w="9525">
            <a:noFill/>
          </a:ln>
        </p:spPr>
        <p:txBody>
          <a:bodyPr anchor="t" anchorCtr="0"/>
          <a:lstStyle/>
          <a:p>
            <a:pPr marL="342900" indent="-342900" eaLnBrk="1" latinLnBrk="0" hangingPunct="1">
              <a:lnSpc>
                <a:spcPct val="125000"/>
              </a:lnSpc>
              <a:spcBef>
                <a:spcPts val="0"/>
              </a:spcBef>
              <a:buClr>
                <a:srgbClr val="FFFF66"/>
              </a:buClr>
              <a:buFont typeface="Wingdings" panose="05000000000000000000" pitchFamily="2" charset="2"/>
            </a:pP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或</a:t>
            </a:r>
          </a:p>
          <a:p>
            <a:pPr marL="342900" indent="-342900" eaLnBrk="1" latinLnBrk="0" hangingPunct="1">
              <a:lnSpc>
                <a:spcPct val="125000"/>
              </a:lnSpc>
              <a:spcBef>
                <a:spcPts val="0"/>
              </a:spcBef>
              <a:buClr>
                <a:srgbClr val="FFFF66"/>
              </a:buClr>
              <a:buFont typeface="Wingdings" panose="05000000000000000000" pitchFamily="2" charset="2"/>
            </a:pP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[&lt;</a:t>
            </a: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表名</a:t>
            </a: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1&gt;.]&lt;</a:t>
            </a: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列名</a:t>
            </a: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1&gt; BETWEEN [&lt;</a:t>
            </a: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表名</a:t>
            </a: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2&gt;.]&lt;</a:t>
            </a: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列名</a:t>
            </a: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2&gt; AND  [&lt;</a:t>
            </a: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表名</a:t>
            </a: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2&gt;.]&lt;</a:t>
            </a:r>
            <a:r>
              <a:rPr lang="zh-CN" altLang="en-US"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列名</a:t>
            </a:r>
            <a:r>
              <a:rPr lang="en-US" altLang="zh-CN" sz="2400"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3&gt; </a:t>
            </a:r>
          </a:p>
        </p:txBody>
      </p:sp>
      <p:sp>
        <p:nvSpPr>
          <p:cNvPr id="242695" name="Rectangle 7"/>
          <p:cNvSpPr/>
          <p:nvPr/>
        </p:nvSpPr>
        <p:spPr>
          <a:xfrm>
            <a:off x="245745" y="5481320"/>
            <a:ext cx="10411460" cy="553085"/>
          </a:xfrm>
          <a:prstGeom prst="rect">
            <a:avLst/>
          </a:prstGeom>
          <a:noFill/>
          <a:ln w="9525">
            <a:noFill/>
          </a:ln>
        </p:spPr>
        <p:txBody>
          <a:bodyPr wrap="square" anchor="t" anchorCtr="0">
            <a:spAutoFit/>
          </a:bodyPr>
          <a:lstStyle/>
          <a:p>
            <a:pPr eaLnBrk="1" latinLnBrk="0" hangingPunct="1">
              <a:lnSpc>
                <a:spcPct val="125000"/>
              </a:lnSpc>
              <a:spcBef>
                <a:spcPts val="0"/>
              </a:spcBef>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其中比较运算符主要有：</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&gt;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&lt;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&gt;=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&lt;=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（或</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&lt;&gt;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242692"/>
                                        </p:tgtEl>
                                        <p:attrNameLst>
                                          <p:attrName>style.visibility</p:attrName>
                                        </p:attrNameLst>
                                      </p:cBhvr>
                                      <p:to>
                                        <p:strVal val="visible"/>
                                      </p:to>
                                    </p:set>
                                    <p:animEffect transition="in" filter="barn(outHorizontal)">
                                      <p:cBhvr>
                                        <p:cTn id="7" dur="500"/>
                                        <p:tgtEl>
                                          <p:spTgt spid="24269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242693"/>
                                        </p:tgtEl>
                                        <p:attrNameLst>
                                          <p:attrName>style.visibility</p:attrName>
                                        </p:attrNameLst>
                                      </p:cBhvr>
                                      <p:to>
                                        <p:strVal val="visible"/>
                                      </p:to>
                                    </p:set>
                                    <p:animEffect transition="in" filter="barn(outHorizontal)">
                                      <p:cBhvr>
                                        <p:cTn id="12" dur="500"/>
                                        <p:tgtEl>
                                          <p:spTgt spid="24269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242694"/>
                                        </p:tgtEl>
                                        <p:attrNameLst>
                                          <p:attrName>style.visibility</p:attrName>
                                        </p:attrNameLst>
                                      </p:cBhvr>
                                      <p:to>
                                        <p:strVal val="visible"/>
                                      </p:to>
                                    </p:set>
                                    <p:animEffect transition="in" filter="barn(outHorizontal)">
                                      <p:cBhvr>
                                        <p:cTn id="17" dur="500"/>
                                        <p:tgtEl>
                                          <p:spTgt spid="24269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42695"/>
                                        </p:tgtEl>
                                        <p:attrNameLst>
                                          <p:attrName>style.visibility</p:attrName>
                                        </p:attrNameLst>
                                      </p:cBhvr>
                                      <p:to>
                                        <p:strVal val="visible"/>
                                      </p:to>
                                    </p:set>
                                    <p:animEffect transition="in" filter="blinds(horizontal)">
                                      <p:cBhvr>
                                        <p:cTn id="22" dur="500"/>
                                        <p:tgtEl>
                                          <p:spTgt spid="2426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2" grpId="0"/>
      <p:bldP spid="242693" grpId="0"/>
      <p:bldP spid="242694" grpId="0"/>
      <p:bldP spid="24269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3.3 </a:t>
            </a:r>
            <a:r>
              <a:rPr lang="zh-CN" sz="2800" b="1" dirty="0">
                <a:solidFill>
                  <a:schemeClr val="bg1"/>
                </a:solidFill>
                <a:latin typeface="微软雅黑" panose="020B0503020204020204" pitchFamily="34" charset="-122"/>
                <a:ea typeface="微软雅黑" panose="020B0503020204020204" pitchFamily="34" charset="-122"/>
              </a:rPr>
              <a:t>查询</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3.3.2 </a:t>
            </a:r>
            <a:r>
              <a:rPr lang="zh-CN" sz="2800" b="1" dirty="0">
                <a:solidFill>
                  <a:schemeClr val="bg1"/>
                </a:solidFill>
                <a:latin typeface="微软雅黑" panose="020B0503020204020204" pitchFamily="34" charset="-122"/>
                <a:ea typeface="微软雅黑" panose="020B0503020204020204" pitchFamily="34" charset="-122"/>
              </a:rPr>
              <a:t>连接查询</a:t>
            </a:r>
          </a:p>
        </p:txBody>
      </p:sp>
      <p:sp>
        <p:nvSpPr>
          <p:cNvPr id="243715" name="Rectangle 3"/>
          <p:cNvSpPr>
            <a:spLocks noGrp="1"/>
          </p:cNvSpPr>
          <p:nvPr/>
        </p:nvSpPr>
        <p:spPr>
          <a:xfrm>
            <a:off x="245745" y="843915"/>
            <a:ext cx="11162030" cy="4953000"/>
          </a:xfrm>
          <a:prstGeom prst="rect">
            <a:avLst/>
          </a:prstGeom>
          <a:noFill/>
          <a:ln>
            <a:noFill/>
          </a:ln>
        </p:spPr>
        <p:txBody>
          <a:bodyPr anchor="t"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indent="0" algn="just" eaLnBrk="1" latinLnBrk="0" hangingPunct="1">
              <a:lnSpc>
                <a:spcPct val="150000"/>
              </a:lnSpc>
              <a:spcBef>
                <a:spcPts val="0"/>
              </a:spcBef>
              <a:buNone/>
            </a:pPr>
            <a:r>
              <a:rPr lang="zh-CN" altLang="en-US" sz="240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rPr>
              <a:t>连接操作的执行过程：</a:t>
            </a:r>
          </a:p>
          <a:p>
            <a:pPr lvl="1" indent="0" algn="just" eaLnBrk="1" latinLnBrk="0" hangingPunct="1">
              <a:lnSpc>
                <a:spcPct val="150000"/>
              </a:lnSpc>
              <a:spcBef>
                <a:spcPts val="0"/>
              </a:spcBef>
            </a:pPr>
            <a:r>
              <a:rPr lang="en-US" altLang="zh-CN" sz="24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首先在表</a:t>
            </a:r>
            <a:r>
              <a:rPr lang="en-US" altLang="zh-CN" sz="24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中找到第一个元组，从头开始扫描表</a:t>
            </a:r>
            <a:r>
              <a:rPr lang="en-US" altLang="zh-CN" sz="24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，逐一查找满足连接条件的元组，找到后将表</a:t>
            </a:r>
            <a:r>
              <a:rPr lang="en-US" altLang="zh-CN" sz="24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中的第一个元组与该元组拼接起来，形成结果表中一个元组；</a:t>
            </a:r>
          </a:p>
          <a:p>
            <a:pPr lvl="1" indent="0" algn="just" eaLnBrk="1" latinLnBrk="0" hangingPunct="1">
              <a:lnSpc>
                <a:spcPct val="150000"/>
              </a:lnSpc>
              <a:spcBef>
                <a:spcPts val="0"/>
              </a:spcBef>
            </a:pPr>
            <a:r>
              <a:rPr lang="en-US" altLang="zh-CN" sz="24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表</a:t>
            </a:r>
            <a:r>
              <a:rPr lang="en-US" altLang="zh-CN" sz="24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全部查找完后，再找表</a:t>
            </a:r>
            <a:r>
              <a:rPr lang="en-US" altLang="zh-CN" sz="24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中第二个元组，然后再从头开始扫描表</a:t>
            </a:r>
            <a:r>
              <a:rPr lang="en-US" altLang="zh-CN" sz="24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，逐一查找满足连接条件的元组，找到后就将表</a:t>
            </a:r>
            <a:r>
              <a:rPr lang="en-US" altLang="zh-CN" sz="24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中的第二个元组与该元组拼接起来，形成结果表中一个元组；</a:t>
            </a:r>
          </a:p>
          <a:p>
            <a:pPr lvl="1" indent="0" algn="just" eaLnBrk="1" latinLnBrk="0" hangingPunct="1">
              <a:lnSpc>
                <a:spcPct val="150000"/>
              </a:lnSpc>
              <a:spcBef>
                <a:spcPts val="0"/>
              </a:spcBef>
            </a:pPr>
            <a:r>
              <a:rPr lang="en-US" altLang="zh-CN" sz="24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重复上述操作，直到表</a:t>
            </a:r>
            <a:r>
              <a:rPr lang="en-US" altLang="zh-CN" sz="24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中的全部元组都处理完毕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243715">
                                            <p:txEl>
                                              <p:pRg st="0" end="0"/>
                                            </p:txEl>
                                          </p:spTgt>
                                        </p:tgtEl>
                                        <p:attrNameLst>
                                          <p:attrName>style.visibility</p:attrName>
                                        </p:attrNameLst>
                                      </p:cBhvr>
                                      <p:to>
                                        <p:strVal val="visible"/>
                                      </p:to>
                                    </p:set>
                                    <p:animEffect transition="in" filter="strips(downLeft)">
                                      <p:cBhvr>
                                        <p:cTn id="7" dur="500"/>
                                        <p:tgtEl>
                                          <p:spTgt spid="2437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243715">
                                            <p:txEl>
                                              <p:pRg st="1" end="1"/>
                                            </p:txEl>
                                          </p:spTgt>
                                        </p:tgtEl>
                                        <p:attrNameLst>
                                          <p:attrName>style.visibility</p:attrName>
                                        </p:attrNameLst>
                                      </p:cBhvr>
                                      <p:to>
                                        <p:strVal val="visible"/>
                                      </p:to>
                                    </p:set>
                                    <p:animEffect transition="in" filter="strips(downLeft)">
                                      <p:cBhvr>
                                        <p:cTn id="12" dur="500"/>
                                        <p:tgtEl>
                                          <p:spTgt spid="2437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243715">
                                            <p:txEl>
                                              <p:pRg st="2" end="2"/>
                                            </p:txEl>
                                          </p:spTgt>
                                        </p:tgtEl>
                                        <p:attrNameLst>
                                          <p:attrName>style.visibility</p:attrName>
                                        </p:attrNameLst>
                                      </p:cBhvr>
                                      <p:to>
                                        <p:strVal val="visible"/>
                                      </p:to>
                                    </p:set>
                                    <p:animEffect transition="in" filter="strips(downLeft)">
                                      <p:cBhvr>
                                        <p:cTn id="17" dur="500"/>
                                        <p:tgtEl>
                                          <p:spTgt spid="2437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243715">
                                            <p:txEl>
                                              <p:pRg st="3" end="3"/>
                                            </p:txEl>
                                          </p:spTgt>
                                        </p:tgtEl>
                                        <p:attrNameLst>
                                          <p:attrName>style.visibility</p:attrName>
                                        </p:attrNameLst>
                                      </p:cBhvr>
                                      <p:to>
                                        <p:strVal val="visible"/>
                                      </p:to>
                                    </p:set>
                                    <p:animEffect transition="in" filter="strips(downLeft)">
                                      <p:cBhvr>
                                        <p:cTn id="22" dur="500"/>
                                        <p:tgtEl>
                                          <p:spTgt spid="2437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15" grpId="0" build="p" bldLvl="2"/>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3.3 </a:t>
            </a:r>
            <a:r>
              <a:rPr lang="zh-CN" sz="2800" b="1" dirty="0">
                <a:solidFill>
                  <a:schemeClr val="bg1"/>
                </a:solidFill>
                <a:latin typeface="微软雅黑" panose="020B0503020204020204" pitchFamily="34" charset="-122"/>
                <a:ea typeface="微软雅黑" panose="020B0503020204020204" pitchFamily="34" charset="-122"/>
              </a:rPr>
              <a:t>查询</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3.3.2 </a:t>
            </a:r>
            <a:r>
              <a:rPr lang="zh-CN" sz="2800" b="1" dirty="0">
                <a:solidFill>
                  <a:schemeClr val="bg1"/>
                </a:solidFill>
                <a:latin typeface="微软雅黑" panose="020B0503020204020204" pitchFamily="34" charset="-122"/>
                <a:ea typeface="微软雅黑" panose="020B0503020204020204" pitchFamily="34" charset="-122"/>
              </a:rPr>
              <a:t>连接查询</a:t>
            </a:r>
          </a:p>
        </p:txBody>
      </p:sp>
      <p:sp>
        <p:nvSpPr>
          <p:cNvPr id="76802" name="Rectangle 3"/>
          <p:cNvSpPr/>
          <p:nvPr/>
        </p:nvSpPr>
        <p:spPr>
          <a:xfrm>
            <a:off x="467678" y="663258"/>
            <a:ext cx="7772400" cy="685800"/>
          </a:xfrm>
          <a:prstGeom prst="rect">
            <a:avLst/>
          </a:prstGeom>
          <a:noFill/>
          <a:ln w="9525">
            <a:noFill/>
          </a:ln>
        </p:spPr>
        <p:txBody>
          <a:bodyPr anchor="t" anchorCtr="0"/>
          <a:lstStyle/>
          <a:p>
            <a:pPr marL="342900" indent="-342900">
              <a:spcBef>
                <a:spcPct val="20000"/>
              </a:spcBef>
            </a:pPr>
            <a:r>
              <a:rPr lang="en-US" altLang="zh-CN" sz="2400" dirty="0">
                <a:solidFill>
                  <a:srgbClr val="669900"/>
                </a:solidFill>
                <a:latin typeface="微软雅黑" panose="020B0503020204020204" pitchFamily="34" charset="-122"/>
                <a:ea typeface="微软雅黑" panose="020B0503020204020204" pitchFamily="34" charset="-122"/>
                <a:cs typeface="微软雅黑" panose="020B0503020204020204" pitchFamily="34" charset="-122"/>
              </a:rPr>
              <a:t>1. </a:t>
            </a:r>
            <a:r>
              <a:rPr lang="zh-CN" altLang="en-US" sz="2400" dirty="0">
                <a:solidFill>
                  <a:srgbClr val="669900"/>
                </a:solidFill>
                <a:latin typeface="微软雅黑" panose="020B0503020204020204" pitchFamily="34" charset="-122"/>
                <a:ea typeface="微软雅黑" panose="020B0503020204020204" pitchFamily="34" charset="-122"/>
                <a:cs typeface="微软雅黑" panose="020B0503020204020204" pitchFamily="34" charset="-122"/>
              </a:rPr>
              <a:t>等值与非等值连接查询</a:t>
            </a:r>
          </a:p>
        </p:txBody>
      </p:sp>
      <p:sp>
        <p:nvSpPr>
          <p:cNvPr id="76803" name="Rectangle 4"/>
          <p:cNvSpPr/>
          <p:nvPr/>
        </p:nvSpPr>
        <p:spPr>
          <a:xfrm>
            <a:off x="368300" y="1215390"/>
            <a:ext cx="8763000" cy="609600"/>
          </a:xfrm>
          <a:prstGeom prst="rect">
            <a:avLst/>
          </a:prstGeom>
          <a:noFill/>
          <a:ln w="9525">
            <a:noFill/>
          </a:ln>
        </p:spPr>
        <p:txBody>
          <a:bodyPr anchor="t" anchorCtr="0"/>
          <a:lstStyle/>
          <a:p>
            <a:pPr marL="342900" indent="-342900">
              <a:spcBef>
                <a:spcPct val="20000"/>
              </a:spcBef>
              <a:buClr>
                <a:srgbClr val="FFFF66"/>
              </a:buClr>
              <a:buFont typeface="Wingdings" panose="05000000000000000000" pitchFamily="2" charset="2"/>
              <a:buChar char="§"/>
            </a:pP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连接运算符为</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则为等值连接，其他为非等值连接。</a:t>
            </a:r>
          </a:p>
        </p:txBody>
      </p:sp>
      <p:sp>
        <p:nvSpPr>
          <p:cNvPr id="76804" name="Rectangle 5"/>
          <p:cNvSpPr/>
          <p:nvPr/>
        </p:nvSpPr>
        <p:spPr>
          <a:xfrm>
            <a:off x="368300" y="1688465"/>
            <a:ext cx="8763000" cy="609600"/>
          </a:xfrm>
          <a:prstGeom prst="rect">
            <a:avLst/>
          </a:prstGeom>
          <a:noFill/>
          <a:ln w="9525">
            <a:noFill/>
          </a:ln>
        </p:spPr>
        <p:txBody>
          <a:bodyPr anchor="t" anchorCtr="0"/>
          <a:lstStyle/>
          <a:p>
            <a:pPr marL="342900" indent="-342900">
              <a:spcBef>
                <a:spcPct val="20000"/>
              </a:spcBef>
              <a:buClr>
                <a:srgbClr val="FFFF66"/>
              </a:buClr>
              <a:buFont typeface="Wingdings" panose="05000000000000000000" pitchFamily="2" charset="2"/>
              <a:buChar char="§"/>
            </a:pPr>
            <a:r>
              <a:rPr lang="zh-CN" altLang="en-US" sz="2400" dirty="0">
                <a:solidFill>
                  <a:schemeClr val="tx1"/>
                </a:solidFill>
                <a:latin typeface="微软雅黑" panose="020B0503020204020204" pitchFamily="34" charset="-122"/>
                <a:ea typeface="微软雅黑" panose="020B0503020204020204" pitchFamily="34" charset="-122"/>
              </a:rPr>
              <a:t>连接条件中的连接字段类型必须可比，但不必相同。</a:t>
            </a:r>
          </a:p>
        </p:txBody>
      </p:sp>
      <p:sp>
        <p:nvSpPr>
          <p:cNvPr id="185346" name="Rectangle 2"/>
          <p:cNvSpPr/>
          <p:nvPr/>
        </p:nvSpPr>
        <p:spPr>
          <a:xfrm>
            <a:off x="245745" y="2112010"/>
            <a:ext cx="10011410" cy="2787015"/>
          </a:xfrm>
          <a:prstGeom prst="rect">
            <a:avLst/>
          </a:prstGeom>
          <a:noFill/>
          <a:ln>
            <a:noFill/>
          </a:ln>
        </p:spPr>
        <p:txBody>
          <a:bodyPr anchor="t"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25000"/>
              </a:lnSpc>
              <a:spcBef>
                <a:spcPts val="0"/>
              </a:spcBef>
              <a:buNone/>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3.45】</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查询每个抢修工程及其领料出库的情况。</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25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SELECT Salvaging.*, Out_stock.*</a:t>
            </a:r>
          </a:p>
          <a:p>
            <a:pPr eaLnBrk="1" latinLnBrk="0" hangingPunct="1">
              <a:lnSpc>
                <a:spcPct val="125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FROM Salvaging, Out_stock</a:t>
            </a:r>
          </a:p>
          <a:p>
            <a:pPr eaLnBrk="1" latinLnBrk="0" hangingPunct="1">
              <a:lnSpc>
                <a:spcPct val="125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WHERE Salvaging.prj_num=Out_stock.prj_num</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p>
        </p:txBody>
      </p:sp>
      <p:pic>
        <p:nvPicPr>
          <p:cNvPr id="2" name="图片 1"/>
          <p:cNvPicPr>
            <a:picLocks noChangeAspect="1"/>
          </p:cNvPicPr>
          <p:nvPr/>
        </p:nvPicPr>
        <p:blipFill>
          <a:blip r:embed="rId3"/>
          <a:stretch>
            <a:fillRect/>
          </a:stretch>
        </p:blipFill>
        <p:spPr>
          <a:xfrm>
            <a:off x="2388870" y="4032885"/>
            <a:ext cx="9669145" cy="2825115"/>
          </a:xfrm>
          <a:prstGeom prst="rect">
            <a:avLst/>
          </a:prstGeom>
          <a:noFill/>
          <a:ln w="9525">
            <a:noFill/>
          </a:ln>
        </p:spPr>
      </p:pic>
      <p:grpSp>
        <p:nvGrpSpPr>
          <p:cNvPr id="6" name="组合 5"/>
          <p:cNvGrpSpPr/>
          <p:nvPr/>
        </p:nvGrpSpPr>
        <p:grpSpPr>
          <a:xfrm>
            <a:off x="2428875" y="4026535"/>
            <a:ext cx="6253480" cy="2827020"/>
            <a:chOff x="3825" y="6341"/>
            <a:chExt cx="9848" cy="4452"/>
          </a:xfrm>
        </p:grpSpPr>
        <p:sp>
          <p:nvSpPr>
            <p:cNvPr id="3" name="矩形 2"/>
            <p:cNvSpPr/>
            <p:nvPr/>
          </p:nvSpPr>
          <p:spPr>
            <a:xfrm>
              <a:off x="3825" y="6341"/>
              <a:ext cx="917" cy="4453"/>
            </a:xfrm>
            <a:prstGeom prst="rect">
              <a:avLst/>
            </a:prstGeom>
            <a:noFill/>
            <a:ln>
              <a:gradFill>
                <a:gsLst>
                  <a:gs pos="0">
                    <a:srgbClr val="7B32B2"/>
                  </a:gs>
                  <a:gs pos="100000">
                    <a:srgbClr val="401A5D"/>
                  </a:gs>
                </a:gsLst>
              </a:gra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12757" y="6341"/>
              <a:ext cx="917" cy="4453"/>
            </a:xfrm>
            <a:prstGeom prst="rect">
              <a:avLst/>
            </a:prstGeom>
            <a:noFill/>
            <a:ln>
              <a:gradFill>
                <a:gsLst>
                  <a:gs pos="0">
                    <a:srgbClr val="7B32B2"/>
                  </a:gs>
                  <a:gs pos="100000">
                    <a:srgbClr val="401A5D"/>
                  </a:gs>
                </a:gsLst>
              </a:gra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5346">
                                            <p:txEl>
                                              <p:pRg st="0" end="0"/>
                                            </p:txEl>
                                          </p:spTgt>
                                        </p:tgtEl>
                                        <p:attrNameLst>
                                          <p:attrName>style.visibility</p:attrName>
                                        </p:attrNameLst>
                                      </p:cBhvr>
                                      <p:to>
                                        <p:strVal val="visible"/>
                                      </p:to>
                                    </p:set>
                                    <p:animEffect transition="in" filter="blinds(horizontal)">
                                      <p:cBhvr>
                                        <p:cTn id="7" dur="500"/>
                                        <p:tgtEl>
                                          <p:spTgt spid="1853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85346">
                                            <p:txEl>
                                              <p:pRg st="1" end="1"/>
                                            </p:txEl>
                                          </p:spTgt>
                                        </p:tgtEl>
                                        <p:attrNameLst>
                                          <p:attrName>style.visibility</p:attrName>
                                        </p:attrNameLst>
                                      </p:cBhvr>
                                      <p:to>
                                        <p:strVal val="visible"/>
                                      </p:to>
                                    </p:set>
                                    <p:animEffect transition="in" filter="blinds(horizontal)">
                                      <p:cBhvr>
                                        <p:cTn id="12" dur="500"/>
                                        <p:tgtEl>
                                          <p:spTgt spid="185346">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85346">
                                            <p:txEl>
                                              <p:pRg st="2" end="2"/>
                                            </p:txEl>
                                          </p:spTgt>
                                        </p:tgtEl>
                                        <p:attrNameLst>
                                          <p:attrName>style.visibility</p:attrName>
                                        </p:attrNameLst>
                                      </p:cBhvr>
                                      <p:to>
                                        <p:strVal val="visible"/>
                                      </p:to>
                                    </p:set>
                                    <p:animEffect transition="in" filter="blinds(horizontal)">
                                      <p:cBhvr>
                                        <p:cTn id="15" dur="500"/>
                                        <p:tgtEl>
                                          <p:spTgt spid="185346">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85346">
                                            <p:txEl>
                                              <p:pRg st="3" end="3"/>
                                            </p:txEl>
                                          </p:spTgt>
                                        </p:tgtEl>
                                        <p:attrNameLst>
                                          <p:attrName>style.visibility</p:attrName>
                                        </p:attrNameLst>
                                      </p:cBhvr>
                                      <p:to>
                                        <p:strVal val="visible"/>
                                      </p:to>
                                    </p:set>
                                    <p:animEffect transition="in" filter="blinds(horizontal)">
                                      <p:cBhvr>
                                        <p:cTn id="18" dur="500"/>
                                        <p:tgtEl>
                                          <p:spTgt spid="185346">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linds(horizontal)">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20" presetClass="entr" presetSubtype="0"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wedge">
                                      <p:cBhvr>
                                        <p:cTn id="28"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3.3 </a:t>
            </a:r>
            <a:r>
              <a:rPr lang="zh-CN" sz="2800" b="1" dirty="0">
                <a:solidFill>
                  <a:schemeClr val="bg1"/>
                </a:solidFill>
                <a:latin typeface="微软雅黑" panose="020B0503020204020204" pitchFamily="34" charset="-122"/>
                <a:ea typeface="微软雅黑" panose="020B0503020204020204" pitchFamily="34" charset="-122"/>
              </a:rPr>
              <a:t>查询</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3.3.2 </a:t>
            </a:r>
            <a:r>
              <a:rPr lang="zh-CN" sz="2800" b="1" dirty="0">
                <a:solidFill>
                  <a:schemeClr val="bg1"/>
                </a:solidFill>
                <a:latin typeface="微软雅黑" panose="020B0503020204020204" pitchFamily="34" charset="-122"/>
                <a:ea typeface="微软雅黑" panose="020B0503020204020204" pitchFamily="34" charset="-122"/>
              </a:rPr>
              <a:t>连接查询</a:t>
            </a:r>
          </a:p>
        </p:txBody>
      </p:sp>
      <p:sp>
        <p:nvSpPr>
          <p:cNvPr id="186370" name="Rectangle 2"/>
          <p:cNvSpPr/>
          <p:nvPr/>
        </p:nvSpPr>
        <p:spPr>
          <a:xfrm>
            <a:off x="245745" y="960755"/>
            <a:ext cx="11380470" cy="3886200"/>
          </a:xfrm>
          <a:prstGeom prst="rect">
            <a:avLst/>
          </a:prstGeom>
          <a:noFill/>
          <a:ln>
            <a:noFill/>
          </a:ln>
        </p:spPr>
        <p:txBody>
          <a:bodyPr anchor="t"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25000"/>
              </a:lnSpc>
              <a:spcBef>
                <a:spcPts val="0"/>
              </a:spcBef>
              <a:buNone/>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3.46】 </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对例</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3.45</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用自然连接完成。</a:t>
            </a:r>
          </a:p>
          <a:p>
            <a:pPr eaLnBrk="1" latinLnBrk="0" hangingPunct="1">
              <a:lnSpc>
                <a:spcPct val="125000"/>
              </a:lnSpc>
              <a:spcBef>
                <a:spcPts val="0"/>
              </a:spcBef>
              <a:buNone/>
            </a:pPr>
            <a:endParaRPr lang="zh-CN" alt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25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SELECT Salvaging.prj_num,prj_name,start_date, end_date,Prj_status, mat_num,amount,get_date, department</a:t>
            </a:r>
          </a:p>
          <a:p>
            <a:pPr eaLnBrk="1" latinLnBrk="0" hangingPunct="1">
              <a:lnSpc>
                <a:spcPct val="125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FROM Salvaging, Out_stock</a:t>
            </a:r>
          </a:p>
          <a:p>
            <a:pPr eaLnBrk="1" latinLnBrk="0" hangingPunct="1">
              <a:lnSpc>
                <a:spcPct val="125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WHERE Salvaging.prj_num=Out_stock.prj_num</a:t>
            </a:r>
          </a:p>
        </p:txBody>
      </p:sp>
      <p:sp>
        <p:nvSpPr>
          <p:cNvPr id="186372" name="Rectangle 4"/>
          <p:cNvSpPr/>
          <p:nvPr/>
        </p:nvSpPr>
        <p:spPr>
          <a:xfrm>
            <a:off x="245745" y="4203700"/>
            <a:ext cx="11338560" cy="1524000"/>
          </a:xfrm>
          <a:prstGeom prst="rect">
            <a:avLst/>
          </a:prstGeom>
          <a:noFill/>
          <a:ln w="9525">
            <a:noFill/>
          </a:ln>
        </p:spPr>
        <p:txBody>
          <a:bodyPr anchor="t" anchorCtr="0"/>
          <a:lstStyle/>
          <a:p>
            <a:pPr marL="342900" indent="-342900" eaLnBrk="1" latinLnBrk="0" hangingPunct="1">
              <a:lnSpc>
                <a:spcPct val="125000"/>
              </a:lnSpc>
              <a:spcBef>
                <a:spcPts val="0"/>
              </a:spcBef>
              <a:buClr>
                <a:schemeClr val="accent1"/>
              </a:buClr>
            </a:pP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注</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任何子句中引用表</a:t>
            </a: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和表</a:t>
            </a:r>
            <a:r>
              <a:rPr lang="en-US" altLang="zh-CN"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中同名属性时，都必须加表名前缀；若属性名在参加连接的表中是唯一的，则可以省略表名前缀。</a:t>
            </a:r>
          </a:p>
        </p:txBody>
      </p:sp>
      <p:sp>
        <p:nvSpPr>
          <p:cNvPr id="2" name="圆角矩形标注 1"/>
          <p:cNvSpPr/>
          <p:nvPr/>
        </p:nvSpPr>
        <p:spPr>
          <a:xfrm>
            <a:off x="7402195" y="2675255"/>
            <a:ext cx="2009140" cy="706755"/>
          </a:xfrm>
          <a:prstGeom prst="wedgeRoundRectCallout">
            <a:avLst>
              <a:gd name="adj1" fmla="val -127917"/>
              <a:gd name="adj2" fmla="val 48472"/>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gradFill>
                  <a:gsLst>
                    <a:gs pos="0">
                      <a:srgbClr val="7B32B2"/>
                    </a:gs>
                    <a:gs pos="100000">
                      <a:srgbClr val="401A5D"/>
                    </a:gs>
                  </a:gsLst>
                  <a:lin scaled="0"/>
                </a:gradFill>
                <a:latin typeface="微软雅黑" panose="020B0503020204020204" pitchFamily="34" charset="-122"/>
                <a:ea typeface="微软雅黑" panose="020B0503020204020204" pitchFamily="34" charset="-122"/>
              </a:rPr>
              <a:t>连接谓词</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6370">
                                            <p:txEl>
                                              <p:pRg st="2" end="2"/>
                                            </p:txEl>
                                          </p:spTgt>
                                        </p:tgtEl>
                                        <p:attrNameLst>
                                          <p:attrName>style.visibility</p:attrName>
                                        </p:attrNameLst>
                                      </p:cBhvr>
                                      <p:to>
                                        <p:strVal val="visible"/>
                                      </p:to>
                                    </p:set>
                                    <p:animEffect transition="in" filter="blinds(horizontal)">
                                      <p:cBhvr>
                                        <p:cTn id="7" dur="500"/>
                                        <p:tgtEl>
                                          <p:spTgt spid="186370">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86370">
                                            <p:txEl>
                                              <p:pRg st="3" end="3"/>
                                            </p:txEl>
                                          </p:spTgt>
                                        </p:tgtEl>
                                        <p:attrNameLst>
                                          <p:attrName>style.visibility</p:attrName>
                                        </p:attrNameLst>
                                      </p:cBhvr>
                                      <p:to>
                                        <p:strVal val="visible"/>
                                      </p:to>
                                    </p:set>
                                    <p:animEffect transition="in" filter="blinds(horizontal)">
                                      <p:cBhvr>
                                        <p:cTn id="10" dur="500"/>
                                        <p:tgtEl>
                                          <p:spTgt spid="186370">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86370">
                                            <p:txEl>
                                              <p:pRg st="4" end="4"/>
                                            </p:txEl>
                                          </p:spTgt>
                                        </p:tgtEl>
                                        <p:attrNameLst>
                                          <p:attrName>style.visibility</p:attrName>
                                        </p:attrNameLst>
                                      </p:cBhvr>
                                      <p:to>
                                        <p:strVal val="visible"/>
                                      </p:to>
                                    </p:set>
                                    <p:animEffect transition="in" filter="blinds(horizontal)">
                                      <p:cBhvr>
                                        <p:cTn id="13" dur="500"/>
                                        <p:tgtEl>
                                          <p:spTgt spid="186370">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7" presetClass="entr" presetSubtype="10" fill="hold" grpId="0" nodeType="clickEffect">
                                  <p:stCondLst>
                                    <p:cond delay="0"/>
                                  </p:stCondLst>
                                  <p:childTnLst>
                                    <p:set>
                                      <p:cBhvr>
                                        <p:cTn id="17" dur="1" fill="hold">
                                          <p:stCondLst>
                                            <p:cond delay="0"/>
                                          </p:stCondLst>
                                        </p:cTn>
                                        <p:tgtEl>
                                          <p:spTgt spid="186372"/>
                                        </p:tgtEl>
                                        <p:attrNameLst>
                                          <p:attrName>style.visibility</p:attrName>
                                        </p:attrNameLst>
                                      </p:cBhvr>
                                      <p:to>
                                        <p:strVal val="visible"/>
                                      </p:to>
                                    </p:set>
                                    <p:anim calcmode="lin" valueType="num">
                                      <p:cBhvr>
                                        <p:cTn id="18" dur="500" fill="hold"/>
                                        <p:tgtEl>
                                          <p:spTgt spid="186372"/>
                                        </p:tgtEl>
                                        <p:attrNameLst>
                                          <p:attrName>ppt_w</p:attrName>
                                        </p:attrNameLst>
                                      </p:cBhvr>
                                      <p:tavLst>
                                        <p:tav tm="0">
                                          <p:val>
                                            <p:fltVal val="0"/>
                                          </p:val>
                                        </p:tav>
                                        <p:tav tm="100000">
                                          <p:val>
                                            <p:strVal val="#ppt_w"/>
                                          </p:val>
                                        </p:tav>
                                      </p:tavLst>
                                    </p:anim>
                                    <p:anim calcmode="lin" valueType="num">
                                      <p:cBhvr>
                                        <p:cTn id="19" dur="500" fill="hold"/>
                                        <p:tgtEl>
                                          <p:spTgt spid="186372"/>
                                        </p:tgtEl>
                                        <p:attrNameLst>
                                          <p:attrName>ppt_h</p:attrName>
                                        </p:attrNameLst>
                                      </p:cBhvr>
                                      <p:tavLst>
                                        <p:tav tm="0">
                                          <p:val>
                                            <p:strVal val="#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box(in)">
                                      <p:cBhvr>
                                        <p:cTn id="24"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2" grpId="0"/>
      <p:bldP spid="2" grpId="0" animBg="1"/>
      <p:bldP spid="2"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3.3 </a:t>
            </a:r>
            <a:r>
              <a:rPr lang="zh-CN" sz="2800" b="1" dirty="0">
                <a:solidFill>
                  <a:schemeClr val="bg1"/>
                </a:solidFill>
                <a:latin typeface="微软雅黑" panose="020B0503020204020204" pitchFamily="34" charset="-122"/>
                <a:ea typeface="微软雅黑" panose="020B0503020204020204" pitchFamily="34" charset="-122"/>
              </a:rPr>
              <a:t>查询</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3.3.2 </a:t>
            </a:r>
            <a:r>
              <a:rPr lang="zh-CN" sz="2800" b="1" dirty="0">
                <a:solidFill>
                  <a:schemeClr val="bg1"/>
                </a:solidFill>
                <a:latin typeface="微软雅黑" panose="020B0503020204020204" pitchFamily="34" charset="-122"/>
                <a:ea typeface="微软雅黑" panose="020B0503020204020204" pitchFamily="34" charset="-122"/>
              </a:rPr>
              <a:t>连接查询</a:t>
            </a:r>
          </a:p>
        </p:txBody>
      </p:sp>
      <p:sp>
        <p:nvSpPr>
          <p:cNvPr id="2" name="Rectangle 2"/>
          <p:cNvSpPr/>
          <p:nvPr/>
        </p:nvSpPr>
        <p:spPr>
          <a:xfrm>
            <a:off x="245745" y="773430"/>
            <a:ext cx="11380470" cy="3886200"/>
          </a:xfrm>
          <a:prstGeom prst="rect">
            <a:avLst/>
          </a:prstGeom>
          <a:noFill/>
          <a:ln>
            <a:noFill/>
          </a:ln>
        </p:spPr>
        <p:txBody>
          <a:bodyPr anchor="t"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25000"/>
              </a:lnSpc>
              <a:spcBef>
                <a:spcPts val="0"/>
              </a:spcBef>
              <a:buNone/>
            </a:pP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广义笛卡尔积：</a:t>
            </a:r>
          </a:p>
          <a:p>
            <a:pPr eaLnBrk="1" latinLnBrk="0" hangingPunct="1">
              <a:lnSpc>
                <a:spcPct val="125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SELECT Salvaging.prj_num,prj_name,start_date, end_date,Prj_status, mat_num,amount,get_date, department</a:t>
            </a:r>
          </a:p>
          <a:p>
            <a:pPr eaLnBrk="1" latinLnBrk="0" hangingPunct="1">
              <a:lnSpc>
                <a:spcPct val="125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FROM Salvaging, Out_stock</a:t>
            </a:r>
          </a:p>
          <a:p>
            <a:pPr eaLnBrk="1" latinLnBrk="0" hangingPunct="1">
              <a:lnSpc>
                <a:spcPct val="125000"/>
              </a:lnSpc>
              <a:spcBef>
                <a:spcPts val="0"/>
              </a:spcBef>
              <a:buNone/>
            </a:pPr>
            <a:endPar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545" y="2870199"/>
            <a:ext cx="11574463" cy="383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椭圆形标注 4"/>
          <p:cNvSpPr/>
          <p:nvPr/>
        </p:nvSpPr>
        <p:spPr>
          <a:xfrm>
            <a:off x="8595360" y="1912620"/>
            <a:ext cx="1135380" cy="891540"/>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112</a:t>
            </a:r>
            <a:r>
              <a:rPr lang="zh-CN" altLang="en-US" dirty="0"/>
              <a:t>行记录</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blinds(horizontal)">
                                      <p:cBhvr>
                                        <p:cTn id="10"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3.3 </a:t>
            </a:r>
            <a:r>
              <a:rPr lang="zh-CN" sz="2800" b="1" dirty="0">
                <a:solidFill>
                  <a:schemeClr val="bg1"/>
                </a:solidFill>
                <a:latin typeface="微软雅黑" panose="020B0503020204020204" pitchFamily="34" charset="-122"/>
                <a:ea typeface="微软雅黑" panose="020B0503020204020204" pitchFamily="34" charset="-122"/>
              </a:rPr>
              <a:t>查询</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3.3.2 </a:t>
            </a:r>
            <a:r>
              <a:rPr lang="zh-CN" sz="2800" b="1" dirty="0">
                <a:solidFill>
                  <a:schemeClr val="bg1"/>
                </a:solidFill>
                <a:latin typeface="微软雅黑" panose="020B0503020204020204" pitchFamily="34" charset="-122"/>
                <a:ea typeface="微软雅黑" panose="020B0503020204020204" pitchFamily="34" charset="-122"/>
              </a:rPr>
              <a:t>连接查询</a:t>
            </a:r>
          </a:p>
        </p:txBody>
      </p:sp>
      <p:sp>
        <p:nvSpPr>
          <p:cNvPr id="76802" name="Rectangle 3"/>
          <p:cNvSpPr/>
          <p:nvPr/>
        </p:nvSpPr>
        <p:spPr>
          <a:xfrm>
            <a:off x="468313" y="836613"/>
            <a:ext cx="7772400" cy="685800"/>
          </a:xfrm>
          <a:prstGeom prst="rect">
            <a:avLst/>
          </a:prstGeom>
          <a:noFill/>
          <a:ln w="9525">
            <a:noFill/>
          </a:ln>
        </p:spPr>
        <p:txBody>
          <a:bodyPr anchor="t" anchorCtr="0"/>
          <a:lstStyle/>
          <a:p>
            <a:pPr marL="342900" indent="-342900">
              <a:spcBef>
                <a:spcPct val="20000"/>
              </a:spcBef>
            </a:pPr>
            <a:r>
              <a:rPr lang="en-US" altLang="zh-CN" sz="2400" dirty="0">
                <a:solidFill>
                  <a:srgbClr val="669900"/>
                </a:solidFill>
                <a:latin typeface="微软雅黑" panose="020B0503020204020204" pitchFamily="34" charset="-122"/>
                <a:ea typeface="微软雅黑" panose="020B0503020204020204" pitchFamily="34" charset="-122"/>
                <a:cs typeface="微软雅黑" panose="020B0503020204020204" pitchFamily="34" charset="-122"/>
              </a:rPr>
              <a:t>2. </a:t>
            </a:r>
            <a:r>
              <a:rPr lang="zh-CN" altLang="en-US" sz="2400" dirty="0">
                <a:solidFill>
                  <a:srgbClr val="669900"/>
                </a:solidFill>
                <a:latin typeface="微软雅黑" panose="020B0503020204020204" pitchFamily="34" charset="-122"/>
                <a:ea typeface="微软雅黑" panose="020B0503020204020204" pitchFamily="34" charset="-122"/>
                <a:cs typeface="微软雅黑" panose="020B0503020204020204" pitchFamily="34" charset="-122"/>
              </a:rPr>
              <a:t>内连接查询</a:t>
            </a:r>
          </a:p>
        </p:txBody>
      </p:sp>
      <p:sp>
        <p:nvSpPr>
          <p:cNvPr id="76803" name="Rectangle 4"/>
          <p:cNvSpPr/>
          <p:nvPr/>
        </p:nvSpPr>
        <p:spPr>
          <a:xfrm>
            <a:off x="381000" y="1377950"/>
            <a:ext cx="11554460" cy="609600"/>
          </a:xfrm>
          <a:prstGeom prst="rect">
            <a:avLst/>
          </a:prstGeom>
          <a:noFill/>
          <a:ln w="9525">
            <a:noFill/>
          </a:ln>
        </p:spPr>
        <p:txBody>
          <a:bodyPr anchor="t" anchorCtr="0"/>
          <a:lstStyle/>
          <a:p>
            <a:pPr marL="342900" indent="-342900">
              <a:spcBef>
                <a:spcPct val="20000"/>
              </a:spcBef>
              <a:buClr>
                <a:srgbClr val="FFFF66"/>
              </a:buClr>
              <a:buFont typeface="Wingdings" panose="05000000000000000000" pitchFamily="2" charset="2"/>
              <a:buChar char="§"/>
            </a:pPr>
            <a:r>
              <a:rPr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使用INNER JOIN</a:t>
            </a:r>
            <a:r>
              <a:rPr 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或者</a:t>
            </a:r>
            <a:r>
              <a:rPr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JOIN连接，重点是要有查询条件，条件使用ON引导</a:t>
            </a:r>
            <a:r>
              <a:rPr 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186370" name="Rectangle 2"/>
          <p:cNvSpPr/>
          <p:nvPr/>
        </p:nvSpPr>
        <p:spPr>
          <a:xfrm>
            <a:off x="245745" y="1819910"/>
            <a:ext cx="11689715" cy="3886200"/>
          </a:xfrm>
          <a:prstGeom prst="rect">
            <a:avLst/>
          </a:prstGeom>
          <a:noFill/>
          <a:ln>
            <a:noFill/>
          </a:ln>
        </p:spPr>
        <p:txBody>
          <a:bodyPr anchor="t"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25000"/>
              </a:lnSpc>
              <a:spcBef>
                <a:spcPts val="0"/>
              </a:spcBef>
              <a:buNone/>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3.47】 </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对例</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3.45</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用内连接完成。</a:t>
            </a:r>
            <a:endParaRPr lang="zh-CN" alt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25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SELECT salvaging.prj_num,prj_name,start_date,end_date,prj_status, mat_num,</a:t>
            </a:r>
          </a:p>
          <a:p>
            <a:pPr eaLnBrk="1" latinLnBrk="0" hangingPunct="1">
              <a:lnSpc>
                <a:spcPct val="125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amount,get_date,department</a:t>
            </a:r>
          </a:p>
          <a:p>
            <a:pPr eaLnBrk="1" latinLnBrk="0" hangingPunct="1">
              <a:lnSpc>
                <a:spcPct val="125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FROM salvaging</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INNER JOIN</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out_stock</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ON </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salvaging.prj_num=out_stock.prj_num</a:t>
            </a:r>
          </a:p>
        </p:txBody>
      </p:sp>
      <p:sp>
        <p:nvSpPr>
          <p:cNvPr id="2" name="文本框 1"/>
          <p:cNvSpPr txBox="1"/>
          <p:nvPr/>
        </p:nvSpPr>
        <p:spPr>
          <a:xfrm>
            <a:off x="299085" y="4154805"/>
            <a:ext cx="11554460" cy="2399665"/>
          </a:xfrm>
          <a:prstGeom prst="rect">
            <a:avLst/>
          </a:prstGeom>
          <a:noFill/>
          <a:ln w="9525">
            <a:noFill/>
          </a:ln>
        </p:spPr>
        <p:txBody>
          <a:bodyPr wrap="square">
            <a:spAutoFit/>
          </a:bodyPr>
          <a:lstStyle/>
          <a:p>
            <a:pPr marL="0" indent="266700" eaLnBrk="1" latinLnBrk="0" hangingPunct="1">
              <a:lnSpc>
                <a:spcPct val="125000"/>
              </a:lnSpc>
            </a:pPr>
            <a:r>
              <a:rPr lang="en-US" altLang="zh-CN"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隐性连接：在</a:t>
            </a:r>
            <a:r>
              <a:rPr 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FROM</a:t>
            </a:r>
            <a:r>
              <a:rPr lang="zh-CN"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过程中对所有表进行笛卡儿积，最终通过</a:t>
            </a:r>
            <a:r>
              <a:rPr 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WHERE</a:t>
            </a:r>
            <a:r>
              <a:rPr lang="zh-CN"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条件过滤。</a:t>
            </a:r>
          </a:p>
          <a:p>
            <a:pPr marL="0" indent="266700" eaLnBrk="1" latinLnBrk="0" hangingPunct="1">
              <a:lnSpc>
                <a:spcPct val="125000"/>
              </a:lnSpc>
            </a:pPr>
            <a:r>
              <a:rPr lang="en-US" altLang="zh-CN"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显性连接：在每一次表连接时通过</a:t>
            </a:r>
            <a:r>
              <a:rPr 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ON</a:t>
            </a:r>
            <a:r>
              <a:rPr lang="zh-CN"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过滤，筛选后的结果集再和下一个表做笛卡儿积，以此循环。</a:t>
            </a:r>
          </a:p>
          <a:p>
            <a:pPr marL="0" indent="266700" eaLnBrk="1" latinLnBrk="0" hangingPunct="1">
              <a:lnSpc>
                <a:spcPct val="125000"/>
              </a:lnSpc>
            </a:pPr>
            <a:r>
              <a:rPr lang="zh-CN"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即：显性连接最终得到笛卡儿积的数量可能会远远小于隐性连接所要扫描的数量，所以同样是等值连接，显性连接的效率更高。</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86370">
                                            <p:txEl>
                                              <p:pRg st="1" end="1"/>
                                            </p:txEl>
                                          </p:spTgt>
                                        </p:tgtEl>
                                        <p:attrNameLst>
                                          <p:attrName>style.visibility</p:attrName>
                                        </p:attrNameLst>
                                      </p:cBhvr>
                                      <p:to>
                                        <p:strVal val="visible"/>
                                      </p:to>
                                    </p:set>
                                    <p:animEffect transition="in" filter="box(in)">
                                      <p:cBhvr>
                                        <p:cTn id="7" dur="2000"/>
                                        <p:tgtEl>
                                          <p:spTgt spid="186370">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186370">
                                            <p:txEl>
                                              <p:pRg st="2" end="2"/>
                                            </p:txEl>
                                          </p:spTgt>
                                        </p:tgtEl>
                                        <p:attrNameLst>
                                          <p:attrName>style.visibility</p:attrName>
                                        </p:attrNameLst>
                                      </p:cBhvr>
                                      <p:to>
                                        <p:strVal val="visible"/>
                                      </p:to>
                                    </p:set>
                                    <p:animEffect transition="in" filter="box(in)">
                                      <p:cBhvr>
                                        <p:cTn id="10" dur="2000"/>
                                        <p:tgtEl>
                                          <p:spTgt spid="186370">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186370">
                                            <p:txEl>
                                              <p:pRg st="3" end="3"/>
                                            </p:txEl>
                                          </p:spTgt>
                                        </p:tgtEl>
                                        <p:attrNameLst>
                                          <p:attrName>style.visibility</p:attrName>
                                        </p:attrNameLst>
                                      </p:cBhvr>
                                      <p:to>
                                        <p:strVal val="visible"/>
                                      </p:to>
                                    </p:set>
                                    <p:animEffect transition="in" filter="box(in)">
                                      <p:cBhvr>
                                        <p:cTn id="13" dur="2000"/>
                                        <p:tgtEl>
                                          <p:spTgt spid="186370">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linds(horizontal)">
                                      <p:cBhvr>
                                        <p:cTn id="1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3.3 </a:t>
            </a:r>
            <a:r>
              <a:rPr lang="zh-CN" sz="2800" b="1" dirty="0">
                <a:solidFill>
                  <a:schemeClr val="bg1"/>
                </a:solidFill>
                <a:latin typeface="微软雅黑" panose="020B0503020204020204" pitchFamily="34" charset="-122"/>
                <a:ea typeface="微软雅黑" panose="020B0503020204020204" pitchFamily="34" charset="-122"/>
              </a:rPr>
              <a:t>查询</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3.3.2 </a:t>
            </a:r>
            <a:r>
              <a:rPr lang="zh-CN" sz="2800" b="1" dirty="0">
                <a:solidFill>
                  <a:schemeClr val="bg1"/>
                </a:solidFill>
                <a:latin typeface="微软雅黑" panose="020B0503020204020204" pitchFamily="34" charset="-122"/>
                <a:ea typeface="微软雅黑" panose="020B0503020204020204" pitchFamily="34" charset="-122"/>
              </a:rPr>
              <a:t>连接查询</a:t>
            </a:r>
          </a:p>
        </p:txBody>
      </p:sp>
      <p:sp>
        <p:nvSpPr>
          <p:cNvPr id="78850" name="Rectangle 3"/>
          <p:cNvSpPr>
            <a:spLocks noGrp="1"/>
          </p:cNvSpPr>
          <p:nvPr/>
        </p:nvSpPr>
        <p:spPr>
          <a:xfrm>
            <a:off x="408940" y="826770"/>
            <a:ext cx="10185400" cy="609600"/>
          </a:xfrm>
          <a:prstGeom prst="rect">
            <a:avLst/>
          </a:prstGeom>
          <a:noFill/>
          <a:ln>
            <a:noFill/>
          </a:ln>
        </p:spPr>
        <p:txBody>
          <a:bodyPr anchor="t"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hangingPunct="1">
              <a:lnSpc>
                <a:spcPct val="90000"/>
              </a:lnSpc>
              <a:buNone/>
            </a:pPr>
            <a:r>
              <a:rPr lang="en-US" altLang="zh-CN" sz="2400" dirty="0">
                <a:solidFill>
                  <a:srgbClr val="669900"/>
                </a:solidFill>
                <a:latin typeface="微软雅黑" panose="020B0503020204020204" pitchFamily="34" charset="-122"/>
                <a:ea typeface="微软雅黑" panose="020B0503020204020204" pitchFamily="34" charset="-122"/>
                <a:cs typeface="微软雅黑" panose="020B0503020204020204" pitchFamily="34" charset="-122"/>
              </a:rPr>
              <a:t>3. </a:t>
            </a:r>
            <a:r>
              <a:rPr lang="zh-CN" altLang="en-US" sz="2400" dirty="0">
                <a:solidFill>
                  <a:srgbClr val="669900"/>
                </a:solidFill>
                <a:latin typeface="微软雅黑" panose="020B0503020204020204" pitchFamily="34" charset="-122"/>
                <a:ea typeface="微软雅黑" panose="020B0503020204020204" pitchFamily="34" charset="-122"/>
                <a:cs typeface="微软雅黑" panose="020B0503020204020204" pitchFamily="34" charset="-122"/>
              </a:rPr>
              <a:t>外连接查询</a:t>
            </a:r>
          </a:p>
        </p:txBody>
      </p:sp>
      <p:sp>
        <p:nvSpPr>
          <p:cNvPr id="244740" name="Rectangle 4"/>
          <p:cNvSpPr/>
          <p:nvPr/>
        </p:nvSpPr>
        <p:spPr>
          <a:xfrm>
            <a:off x="408940" y="1315720"/>
            <a:ext cx="11732260" cy="1476375"/>
          </a:xfrm>
          <a:prstGeom prst="rect">
            <a:avLst/>
          </a:prstGeom>
          <a:noFill/>
          <a:ln w="22225">
            <a:noFill/>
          </a:ln>
        </p:spPr>
        <p:txBody>
          <a:bodyPr wrap="square" anchor="t" anchorCtr="0">
            <a:spAutoFit/>
          </a:bodyPr>
          <a:lstStyle/>
          <a:p>
            <a:pPr eaLnBrk="1" latinLnBrk="0" hangingPunct="1">
              <a:lnSpc>
                <a:spcPct val="125000"/>
              </a:lnSpc>
              <a:spcBef>
                <a:spcPts val="0"/>
              </a:spcBef>
              <a:buClr>
                <a:schemeClr val="folHlink"/>
              </a:buClr>
              <a:buSzPct val="60000"/>
              <a:buFont typeface="Wingdings" panose="05000000000000000000" pitchFamily="2" charset="2"/>
            </a:pP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与普通连接的区别</a:t>
            </a:r>
          </a:p>
          <a:p>
            <a:pPr lvl="1" indent="0" eaLnBrk="1" latinLnBrk="0" hangingPunct="1">
              <a:lnSpc>
                <a:spcPct val="125000"/>
              </a:lnSpc>
              <a:spcBef>
                <a:spcPts val="0"/>
              </a:spcBef>
              <a:buClr>
                <a:schemeClr val="hlink"/>
              </a:buClr>
              <a:buSzPct val="55000"/>
              <a:buFont typeface="Wingdings" panose="05000000000000000000" pitchFamily="2" charset="2"/>
              <a:buChar char="n"/>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普通连接操作只输出满足连接条件的元组；</a:t>
            </a:r>
            <a:endPar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lvl="1" indent="0" eaLnBrk="1" latinLnBrk="0" hangingPunct="1">
              <a:lnSpc>
                <a:spcPct val="125000"/>
              </a:lnSpc>
              <a:spcBef>
                <a:spcPts val="0"/>
              </a:spcBef>
              <a:buClr>
                <a:schemeClr val="hlink"/>
              </a:buClr>
              <a:buSzPct val="55000"/>
              <a:buFont typeface="Wingdings" panose="05000000000000000000" pitchFamily="2" charset="2"/>
              <a:buChar char="n"/>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外连接操作以指定某表为连接主体，将主体表中不满足连接条件的元组一并输出。</a:t>
            </a:r>
          </a:p>
        </p:txBody>
      </p:sp>
      <p:sp>
        <p:nvSpPr>
          <p:cNvPr id="80898" name="Rectangle 3"/>
          <p:cNvSpPr>
            <a:spLocks noGrp="1"/>
          </p:cNvSpPr>
          <p:nvPr/>
        </p:nvSpPr>
        <p:spPr>
          <a:xfrm>
            <a:off x="408940" y="3568065"/>
            <a:ext cx="11289665" cy="2571750"/>
          </a:xfrm>
          <a:prstGeom prst="rect">
            <a:avLst/>
          </a:prstGeom>
          <a:noFill/>
          <a:ln>
            <a:noFill/>
          </a:ln>
        </p:spPr>
        <p:txBody>
          <a:bodyPr anchor="t"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hangingPunct="1">
              <a:lnSpc>
                <a:spcPct val="90000"/>
              </a:lnSpc>
              <a:buClr>
                <a:srgbClr val="FFFF66"/>
              </a:buClr>
              <a:buNone/>
            </a:pP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分类：</a:t>
            </a:r>
          </a:p>
          <a:p>
            <a:pPr eaLnBrk="1" hangingPunct="1">
              <a:lnSpc>
                <a:spcPct val="90000"/>
              </a:lnSpc>
              <a:buNone/>
            </a:pP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左外连接</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LEFT OUTER JOIN … ON …</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，列出左边关系中所有元组。</a:t>
            </a:r>
          </a:p>
          <a:p>
            <a:pPr eaLnBrk="1" hangingPunct="1">
              <a:lnSpc>
                <a:spcPct val="90000"/>
              </a:lnSpc>
              <a:buNone/>
            </a:pP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p>
          <a:p>
            <a:pPr eaLnBrk="1" hangingPunct="1">
              <a:lnSpc>
                <a:spcPct val="90000"/>
              </a:lnSpc>
              <a:buNone/>
            </a:pP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右外连接：</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RIGHT OUTER JOIN … ON …</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，列出右边关系中所有元组。</a:t>
            </a:r>
          </a:p>
          <a:p>
            <a:pPr eaLnBrk="1" hangingPunct="1">
              <a:lnSpc>
                <a:spcPct val="90000"/>
              </a:lnSpc>
              <a:buNone/>
            </a:pPr>
            <a:endPar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lnSpc>
                <a:spcPct val="90000"/>
              </a:lnSpc>
              <a:buNone/>
            </a:pP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全外连接：</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FULL OUTER JOIN … ON …</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，列出左边关系和右边关系中所有元组。</a:t>
            </a:r>
          </a:p>
          <a:p>
            <a:pPr eaLnBrk="1" hangingPunct="1">
              <a:lnSpc>
                <a:spcPct val="90000"/>
              </a:lnSpc>
              <a:buNone/>
            </a:pPr>
            <a:endPar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8852" name="Rectangle 5"/>
          <p:cNvSpPr/>
          <p:nvPr/>
        </p:nvSpPr>
        <p:spPr>
          <a:xfrm>
            <a:off x="245745" y="2880995"/>
            <a:ext cx="11058525" cy="598170"/>
          </a:xfrm>
          <a:prstGeom prst="rect">
            <a:avLst/>
          </a:prstGeom>
          <a:noFill/>
          <a:ln w="9525">
            <a:noFill/>
          </a:ln>
        </p:spPr>
        <p:txBody>
          <a:bodyPr anchor="t" anchorCtr="0"/>
          <a:lstStyle/>
          <a:p>
            <a:pPr marL="342900" indent="-342900" eaLnBrk="1" latinLnBrk="0" hangingPunct="1">
              <a:spcBef>
                <a:spcPts val="0"/>
              </a:spcBef>
              <a:buClr>
                <a:srgbClr val="FFFF66"/>
              </a:buClr>
              <a:buFont typeface="Wingdings" panose="05000000000000000000" pitchFamily="2" charset="2"/>
              <a:buChar char="§"/>
            </a:pPr>
            <a:r>
              <a:rPr lang="zh-CN" altLang="en-US" sz="2400" dirty="0">
                <a:solidFill>
                  <a:schemeClr val="tx1"/>
                </a:solidFill>
                <a:latin typeface="微软雅黑" panose="020B0503020204020204" pitchFamily="34" charset="-122"/>
                <a:ea typeface="微软雅黑" panose="020B0503020204020204" pitchFamily="34" charset="-122"/>
              </a:rPr>
              <a:t>外连接：把舍弃的元组也保存在结果关系中，而在其他属性上填空值。</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244740">
                                            <p:txEl>
                                              <p:pRg st="0" end="0"/>
                                            </p:txEl>
                                          </p:spTgt>
                                        </p:tgtEl>
                                        <p:attrNameLst>
                                          <p:attrName>style.visibility</p:attrName>
                                        </p:attrNameLst>
                                      </p:cBhvr>
                                      <p:to>
                                        <p:strVal val="visible"/>
                                      </p:to>
                                    </p:set>
                                    <p:animEffect transition="in" filter="strips(downLeft)">
                                      <p:cBhvr>
                                        <p:cTn id="7" dur="500"/>
                                        <p:tgtEl>
                                          <p:spTgt spid="244740">
                                            <p:txEl>
                                              <p:pRg st="0" end="0"/>
                                            </p:txEl>
                                          </p:spTgt>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244740">
                                            <p:txEl>
                                              <p:pRg st="1" end="1"/>
                                            </p:txEl>
                                          </p:spTgt>
                                        </p:tgtEl>
                                        <p:attrNameLst>
                                          <p:attrName>style.visibility</p:attrName>
                                        </p:attrNameLst>
                                      </p:cBhvr>
                                      <p:to>
                                        <p:strVal val="visible"/>
                                      </p:to>
                                    </p:set>
                                    <p:animEffect transition="in" filter="strips(downLeft)">
                                      <p:cBhvr>
                                        <p:cTn id="10" dur="500"/>
                                        <p:tgtEl>
                                          <p:spTgt spid="244740">
                                            <p:txEl>
                                              <p:pRg st="1" end="1"/>
                                            </p:txEl>
                                          </p:spTgt>
                                        </p:tgtEl>
                                      </p:cBhvr>
                                    </p:animEffect>
                                  </p:childTnLst>
                                </p:cTn>
                              </p:par>
                              <p:par>
                                <p:cTn id="11" presetID="18" presetClass="entr" presetSubtype="12" fill="hold" grpId="0" nodeType="withEffect">
                                  <p:stCondLst>
                                    <p:cond delay="0"/>
                                  </p:stCondLst>
                                  <p:childTnLst>
                                    <p:set>
                                      <p:cBhvr>
                                        <p:cTn id="12" dur="1" fill="hold">
                                          <p:stCondLst>
                                            <p:cond delay="0"/>
                                          </p:stCondLst>
                                        </p:cTn>
                                        <p:tgtEl>
                                          <p:spTgt spid="244740">
                                            <p:txEl>
                                              <p:pRg st="2" end="2"/>
                                            </p:txEl>
                                          </p:spTgt>
                                        </p:tgtEl>
                                        <p:attrNameLst>
                                          <p:attrName>style.visibility</p:attrName>
                                        </p:attrNameLst>
                                      </p:cBhvr>
                                      <p:to>
                                        <p:strVal val="visible"/>
                                      </p:to>
                                    </p:set>
                                    <p:animEffect transition="in" filter="strips(downLeft)">
                                      <p:cBhvr>
                                        <p:cTn id="13" dur="500"/>
                                        <p:tgtEl>
                                          <p:spTgt spid="244740">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78852"/>
                                        </p:tgtEl>
                                        <p:attrNameLst>
                                          <p:attrName>style.visibility</p:attrName>
                                        </p:attrNameLst>
                                      </p:cBhvr>
                                      <p:to>
                                        <p:strVal val="visible"/>
                                      </p:to>
                                    </p:set>
                                    <p:animEffect transition="in" filter="blinds(horizontal)">
                                      <p:cBhvr>
                                        <p:cTn id="18" dur="500"/>
                                        <p:tgtEl>
                                          <p:spTgt spid="78852"/>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80898"/>
                                        </p:tgtEl>
                                        <p:attrNameLst>
                                          <p:attrName>style.visibility</p:attrName>
                                        </p:attrNameLst>
                                      </p:cBhvr>
                                      <p:to>
                                        <p:strVal val="visible"/>
                                      </p:to>
                                    </p:set>
                                    <p:animEffect transition="in" filter="blinds(horizontal)">
                                      <p:cBhvr>
                                        <p:cTn id="23" dur="500"/>
                                        <p:tgtEl>
                                          <p:spTgt spid="808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40" grpId="0" build="p"/>
      <p:bldP spid="80898" grpId="0"/>
      <p:bldP spid="80898" grpId="1"/>
      <p:bldP spid="78852" grpId="0"/>
      <p:bldP spid="78852"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3.3 </a:t>
            </a:r>
            <a:r>
              <a:rPr lang="zh-CN" sz="2800" b="1" dirty="0">
                <a:solidFill>
                  <a:schemeClr val="bg1"/>
                </a:solidFill>
                <a:latin typeface="微软雅黑" panose="020B0503020204020204" pitchFamily="34" charset="-122"/>
                <a:ea typeface="微软雅黑" panose="020B0503020204020204" pitchFamily="34" charset="-122"/>
              </a:rPr>
              <a:t>查询</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3.3.2 </a:t>
            </a:r>
            <a:r>
              <a:rPr lang="zh-CN" sz="2800" b="1" dirty="0">
                <a:solidFill>
                  <a:schemeClr val="bg1"/>
                </a:solidFill>
                <a:latin typeface="微软雅黑" panose="020B0503020204020204" pitchFamily="34" charset="-122"/>
                <a:ea typeface="微软雅黑" panose="020B0503020204020204" pitchFamily="34" charset="-122"/>
              </a:rPr>
              <a:t>连接查询</a:t>
            </a:r>
          </a:p>
        </p:txBody>
      </p:sp>
      <p:sp>
        <p:nvSpPr>
          <p:cNvPr id="81921" name="Rectangle 3"/>
          <p:cNvSpPr/>
          <p:nvPr/>
        </p:nvSpPr>
        <p:spPr>
          <a:xfrm>
            <a:off x="245745" y="663575"/>
            <a:ext cx="11473815" cy="3886200"/>
          </a:xfrm>
          <a:prstGeom prst="rect">
            <a:avLst/>
          </a:prstGeom>
          <a:noFill/>
          <a:ln>
            <a:noFill/>
          </a:ln>
        </p:spPr>
        <p:txBody>
          <a:bodyPr anchor="t"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25000"/>
              </a:lnSpc>
              <a:spcBef>
                <a:spcPts val="0"/>
              </a:spcBef>
              <a:buNone/>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3.48】</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把例</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3.45</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中的等值连接改为左外连接。</a:t>
            </a:r>
            <a:endParaRPr lang="zh-CN" altLang="en-US"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25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SELECT Salvaging.prj_num,prj_name,start_date, end_date,prj_status, mat_num,amount,get_date, department</a:t>
            </a:r>
          </a:p>
          <a:p>
            <a:pPr eaLnBrk="1" latinLnBrk="0" hangingPunct="1">
              <a:lnSpc>
                <a:spcPct val="125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FROM Salvaging </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LEFT OUTER JOIN</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Out_stock </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ON  </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Salvaging.prj_num = Out_stock.prj_num</a:t>
            </a:r>
          </a:p>
        </p:txBody>
      </p:sp>
      <p:pic>
        <p:nvPicPr>
          <p:cNvPr id="205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597" y="3101340"/>
            <a:ext cx="11200355" cy="3688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3.3 </a:t>
            </a:r>
            <a:r>
              <a:rPr lang="zh-CN" sz="2800" b="1" dirty="0">
                <a:solidFill>
                  <a:schemeClr val="bg1"/>
                </a:solidFill>
                <a:latin typeface="微软雅黑" panose="020B0503020204020204" pitchFamily="34" charset="-122"/>
                <a:ea typeface="微软雅黑" panose="020B0503020204020204" pitchFamily="34" charset="-122"/>
              </a:rPr>
              <a:t>查询</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3.3.2 </a:t>
            </a:r>
            <a:r>
              <a:rPr lang="zh-CN" sz="2800" b="1" dirty="0">
                <a:solidFill>
                  <a:schemeClr val="bg1"/>
                </a:solidFill>
                <a:latin typeface="微软雅黑" panose="020B0503020204020204" pitchFamily="34" charset="-122"/>
                <a:ea typeface="微软雅黑" panose="020B0503020204020204" pitchFamily="34" charset="-122"/>
              </a:rPr>
              <a:t>连接查询</a:t>
            </a:r>
          </a:p>
        </p:txBody>
      </p:sp>
      <p:sp>
        <p:nvSpPr>
          <p:cNvPr id="188419" name="Rectangle 3"/>
          <p:cNvSpPr/>
          <p:nvPr/>
        </p:nvSpPr>
        <p:spPr>
          <a:xfrm>
            <a:off x="245745" y="2064385"/>
            <a:ext cx="11132820" cy="4525645"/>
          </a:xfrm>
          <a:prstGeom prst="rect">
            <a:avLst/>
          </a:prstGeom>
          <a:noFill/>
          <a:ln>
            <a:noFill/>
          </a:ln>
        </p:spPr>
        <p:txBody>
          <a:bodyPr anchor="t"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25000"/>
              </a:lnSpc>
              <a:spcBef>
                <a:spcPts val="0"/>
              </a:spcBef>
              <a:buNone/>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3.49】 </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查询项目号为“</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20100015”</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抢修项目所使用的物资编号、物资名称、规格和使用数量。</a:t>
            </a:r>
          </a:p>
          <a:p>
            <a:pPr eaLnBrk="1" latinLnBrk="0" hangingPunct="1">
              <a:lnSpc>
                <a:spcPct val="125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SELECT Out_stock.mat_num, mat_name,speci, Out_stock.amount</a:t>
            </a:r>
          </a:p>
          <a:p>
            <a:pPr eaLnBrk="1" latinLnBrk="0" hangingPunct="1">
              <a:lnSpc>
                <a:spcPct val="125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FROM  Stock join </a:t>
            </a:r>
            <a:r>
              <a:rPr lang="en-US" altLang="zh-CN" sz="2400" dirty="0" err="1">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Out_stock</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on </a:t>
            </a:r>
          </a:p>
          <a:p>
            <a:pPr eaLnBrk="1" latinLnBrk="0" hangingPunct="1">
              <a:lnSpc>
                <a:spcPct val="125000"/>
              </a:lnSpc>
              <a:spcBef>
                <a:spcPts val="0"/>
              </a:spcBef>
              <a:buNone/>
            </a:pPr>
            <a:r>
              <a:rPr lang="en-US" altLang="zh-CN" sz="2400" dirty="0" err="1">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Stock.mat_num</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err="1">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Out_stock.mat_num</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a:t>
            </a:r>
          </a:p>
          <a:p>
            <a:pPr eaLnBrk="1" latinLnBrk="0" hangingPunct="1">
              <a:lnSpc>
                <a:spcPct val="125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Where  prj_num='20100015'</a:t>
            </a:r>
          </a:p>
        </p:txBody>
      </p:sp>
      <p:sp>
        <p:nvSpPr>
          <p:cNvPr id="82947" name="Rectangle 5"/>
          <p:cNvSpPr/>
          <p:nvPr/>
        </p:nvSpPr>
        <p:spPr>
          <a:xfrm>
            <a:off x="226695" y="830580"/>
            <a:ext cx="10926445" cy="1066800"/>
          </a:xfrm>
          <a:prstGeom prst="rect">
            <a:avLst/>
          </a:prstGeom>
          <a:noFill/>
          <a:ln w="9525">
            <a:noFill/>
          </a:ln>
        </p:spPr>
        <p:txBody>
          <a:bodyPr anchor="t" anchorCtr="0"/>
          <a:lstStyle/>
          <a:p>
            <a:pPr marL="342900" indent="-342900" eaLnBrk="1" latinLnBrk="0" hangingPunct="1">
              <a:lnSpc>
                <a:spcPct val="125000"/>
              </a:lnSpc>
              <a:spcBef>
                <a:spcPts val="0"/>
              </a:spcBef>
            </a:pPr>
            <a:r>
              <a:rPr lang="en-US" altLang="zh-CN" sz="2400" dirty="0">
                <a:solidFill>
                  <a:srgbClr val="669900"/>
                </a:solidFill>
                <a:latin typeface="微软雅黑" panose="020B0503020204020204" pitchFamily="34" charset="-122"/>
                <a:ea typeface="微软雅黑" panose="020B0503020204020204" pitchFamily="34" charset="-122"/>
                <a:cs typeface="微软雅黑" panose="020B0503020204020204" pitchFamily="34" charset="-122"/>
              </a:rPr>
              <a:t>4. </a:t>
            </a:r>
            <a:r>
              <a:rPr lang="zh-CN" altLang="en-US" sz="2400" dirty="0">
                <a:solidFill>
                  <a:srgbClr val="669900"/>
                </a:solidFill>
                <a:latin typeface="微软雅黑" panose="020B0503020204020204" pitchFamily="34" charset="-122"/>
                <a:ea typeface="微软雅黑" panose="020B0503020204020204" pitchFamily="34" charset="-122"/>
                <a:cs typeface="微软雅黑" panose="020B0503020204020204" pitchFamily="34" charset="-122"/>
              </a:rPr>
              <a:t>复合条件连接查询</a:t>
            </a:r>
          </a:p>
          <a:p>
            <a:pPr marL="342900" indent="-342900" eaLnBrk="1" latinLnBrk="0" hangingPunct="1">
              <a:lnSpc>
                <a:spcPct val="125000"/>
              </a:lnSpc>
              <a:spcBef>
                <a:spcPts val="0"/>
              </a:spcBef>
            </a:pPr>
            <a:r>
              <a:rPr lang="zh-CN" altLang="en-US" sz="2400" dirty="0">
                <a:solidFill>
                  <a:srgbClr val="6699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a:solidFill>
                  <a:srgbClr val="669900"/>
                </a:solidFill>
                <a:latin typeface="微软雅黑" panose="020B0503020204020204" pitchFamily="34" charset="-122"/>
                <a:ea typeface="微软雅黑" panose="020B0503020204020204" pitchFamily="34" charset="-122"/>
                <a:cs typeface="微软雅黑" panose="020B0503020204020204" pitchFamily="34" charset="-122"/>
              </a:rPr>
              <a:t>WHERE</a:t>
            </a:r>
            <a:r>
              <a:rPr lang="zh-CN" altLang="en-US" sz="2400" dirty="0">
                <a:solidFill>
                  <a:srgbClr val="669900"/>
                </a:solidFill>
                <a:latin typeface="微软雅黑" panose="020B0503020204020204" pitchFamily="34" charset="-122"/>
                <a:ea typeface="微软雅黑" panose="020B0503020204020204" pitchFamily="34" charset="-122"/>
                <a:cs typeface="微软雅黑" panose="020B0503020204020204" pitchFamily="34" charset="-122"/>
              </a:rPr>
              <a:t>子句中包含多个连接条件。</a:t>
            </a:r>
          </a:p>
        </p:txBody>
      </p:sp>
      <p:sp>
        <p:nvSpPr>
          <p:cNvPr id="3" name="圆角矩形标注 2"/>
          <p:cNvSpPr/>
          <p:nvPr/>
        </p:nvSpPr>
        <p:spPr>
          <a:xfrm>
            <a:off x="7502525" y="3559810"/>
            <a:ext cx="2009140" cy="579120"/>
          </a:xfrm>
          <a:prstGeom prst="wedgeRoundRectCallout">
            <a:avLst>
              <a:gd name="adj1" fmla="val -127917"/>
              <a:gd name="adj2" fmla="val 48472"/>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gradFill>
                  <a:gsLst>
                    <a:gs pos="0">
                      <a:srgbClr val="7B32B2"/>
                    </a:gs>
                    <a:gs pos="100000">
                      <a:srgbClr val="401A5D"/>
                    </a:gs>
                  </a:gsLst>
                  <a:lin scaled="0"/>
                </a:gradFill>
                <a:latin typeface="微软雅黑" panose="020B0503020204020204" pitchFamily="34" charset="-122"/>
                <a:ea typeface="微软雅黑" panose="020B0503020204020204" pitchFamily="34" charset="-122"/>
              </a:rPr>
              <a:t>连接谓词</a:t>
            </a:r>
          </a:p>
        </p:txBody>
      </p:sp>
      <p:sp>
        <p:nvSpPr>
          <p:cNvPr id="5" name="圆角矩形标注 4"/>
          <p:cNvSpPr/>
          <p:nvPr/>
        </p:nvSpPr>
        <p:spPr>
          <a:xfrm>
            <a:off x="1610995" y="5244465"/>
            <a:ext cx="2324100" cy="565150"/>
          </a:xfrm>
          <a:prstGeom prst="wedgeRoundRectCallout">
            <a:avLst>
              <a:gd name="adj1" fmla="val -3650"/>
              <a:gd name="adj2" fmla="val -116446"/>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gradFill>
                  <a:gsLst>
                    <a:gs pos="0">
                      <a:srgbClr val="7B32B2"/>
                    </a:gs>
                    <a:gs pos="100000">
                      <a:srgbClr val="401A5D"/>
                    </a:gs>
                  </a:gsLst>
                  <a:lin scaled="0"/>
                </a:gradFill>
                <a:latin typeface="微软雅黑" panose="020B0503020204020204" pitchFamily="34" charset="-122"/>
                <a:ea typeface="微软雅黑" panose="020B0503020204020204" pitchFamily="34" charset="-122"/>
              </a:rPr>
              <a:t>其他限定条件</a:t>
            </a:r>
          </a:p>
        </p:txBody>
      </p:sp>
      <p:pic>
        <p:nvPicPr>
          <p:cNvPr id="3074"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9866" y="4786630"/>
            <a:ext cx="5993623" cy="1286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8419">
                                            <p:txEl>
                                              <p:pRg st="1" end="1"/>
                                            </p:txEl>
                                          </p:spTgt>
                                        </p:tgtEl>
                                        <p:attrNameLst>
                                          <p:attrName>style.visibility</p:attrName>
                                        </p:attrNameLst>
                                      </p:cBhvr>
                                      <p:to>
                                        <p:strVal val="visible"/>
                                      </p:to>
                                    </p:set>
                                    <p:animEffect transition="in" filter="blinds(horizontal)">
                                      <p:cBhvr>
                                        <p:cTn id="7" dur="500"/>
                                        <p:tgtEl>
                                          <p:spTgt spid="188419">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88419">
                                            <p:txEl>
                                              <p:pRg st="2" end="2"/>
                                            </p:txEl>
                                          </p:spTgt>
                                        </p:tgtEl>
                                        <p:attrNameLst>
                                          <p:attrName>style.visibility</p:attrName>
                                        </p:attrNameLst>
                                      </p:cBhvr>
                                      <p:to>
                                        <p:strVal val="visible"/>
                                      </p:to>
                                    </p:set>
                                    <p:animEffect transition="in" filter="blinds(horizontal)">
                                      <p:cBhvr>
                                        <p:cTn id="10" dur="500"/>
                                        <p:tgtEl>
                                          <p:spTgt spid="188419">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88419">
                                            <p:txEl>
                                              <p:pRg st="3" end="3"/>
                                            </p:txEl>
                                          </p:spTgt>
                                        </p:tgtEl>
                                        <p:attrNameLst>
                                          <p:attrName>style.visibility</p:attrName>
                                        </p:attrNameLst>
                                      </p:cBhvr>
                                      <p:to>
                                        <p:strVal val="visible"/>
                                      </p:to>
                                    </p:set>
                                    <p:animEffect transition="in" filter="blinds(horizontal)">
                                      <p:cBhvr>
                                        <p:cTn id="13" dur="500"/>
                                        <p:tgtEl>
                                          <p:spTgt spid="188419">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88419">
                                            <p:txEl>
                                              <p:pRg st="4" end="4"/>
                                            </p:txEl>
                                          </p:spTgt>
                                        </p:tgtEl>
                                        <p:attrNameLst>
                                          <p:attrName>style.visibility</p:attrName>
                                        </p:attrNameLst>
                                      </p:cBhvr>
                                      <p:to>
                                        <p:strVal val="visible"/>
                                      </p:to>
                                    </p:set>
                                    <p:animEffect transition="in" filter="blinds(horizontal)">
                                      <p:cBhvr>
                                        <p:cTn id="16" dur="500"/>
                                        <p:tgtEl>
                                          <p:spTgt spid="188419">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box(in)">
                                      <p:cBhvr>
                                        <p:cTn id="21" dur="20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box(in)">
                                      <p:cBhvr>
                                        <p:cTn id="26"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P spid="5" grpId="0" bldLvl="0" animBg="1"/>
      <p:bldP spid="5"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3.3 </a:t>
            </a:r>
            <a:r>
              <a:rPr lang="zh-CN" sz="2800" b="1" dirty="0">
                <a:solidFill>
                  <a:schemeClr val="bg1"/>
                </a:solidFill>
                <a:latin typeface="微软雅黑" panose="020B0503020204020204" pitchFamily="34" charset="-122"/>
                <a:ea typeface="微软雅黑" panose="020B0503020204020204" pitchFamily="34" charset="-122"/>
              </a:rPr>
              <a:t>查询</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3.3.2 </a:t>
            </a:r>
            <a:r>
              <a:rPr lang="zh-CN" sz="2800" b="1" dirty="0">
                <a:solidFill>
                  <a:schemeClr val="bg1"/>
                </a:solidFill>
                <a:latin typeface="微软雅黑" panose="020B0503020204020204" pitchFamily="34" charset="-122"/>
                <a:ea typeface="微软雅黑" panose="020B0503020204020204" pitchFamily="34" charset="-122"/>
              </a:rPr>
              <a:t>连接查询</a:t>
            </a:r>
          </a:p>
        </p:txBody>
      </p:sp>
      <p:sp>
        <p:nvSpPr>
          <p:cNvPr id="189442" name="Rectangle 2"/>
          <p:cNvSpPr/>
          <p:nvPr/>
        </p:nvSpPr>
        <p:spPr>
          <a:xfrm>
            <a:off x="323850" y="1268730"/>
            <a:ext cx="11053445" cy="3886200"/>
          </a:xfrm>
          <a:prstGeom prst="rect">
            <a:avLst/>
          </a:prstGeom>
          <a:noFill/>
          <a:ln>
            <a:noFill/>
          </a:ln>
        </p:spPr>
        <p:txBody>
          <a:bodyPr anchor="t"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25000"/>
              </a:lnSpc>
              <a:spcBef>
                <a:spcPts val="0"/>
              </a:spcBef>
              <a:buNone/>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3.50】 </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查询使用了护套绝缘电线的所有抢修项目编号及名称。</a:t>
            </a:r>
            <a:endPar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a:p>
            <a:pPr eaLnBrk="1" latinLnBrk="0" hangingPunct="1">
              <a:lnSpc>
                <a:spcPct val="125000"/>
              </a:lnSpc>
              <a:spcBef>
                <a:spcPts val="0"/>
              </a:spcBef>
              <a:buNone/>
            </a:pPr>
            <a:endPar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lnSpc>
                <a:spcPct val="125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SELECT </a:t>
            </a:r>
            <a:r>
              <a:rPr lang="en-US" altLang="zh-CN" sz="2400" dirty="0" err="1">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out_stock.prj_num,prj_name</a:t>
            </a:r>
            <a:endParaRPr lang="zh-CN"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lnSpc>
                <a:spcPct val="125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FROM  (stock INNER JOIN </a:t>
            </a:r>
            <a:r>
              <a:rPr lang="en-US" altLang="zh-CN" sz="2400" dirty="0" err="1">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out_stock</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ON </a:t>
            </a:r>
            <a:r>
              <a:rPr lang="en-US" altLang="zh-CN" sz="2400" dirty="0" err="1">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stock.mat_num</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err="1">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out_stock.mat_num</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lnSpc>
                <a:spcPct val="125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INNER JOIN salvaging ON </a:t>
            </a:r>
            <a:r>
              <a:rPr lang="en-US" altLang="zh-CN" sz="2400" dirty="0" err="1">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salvaging.prj_num</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err="1">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out_stock.prj_num</a:t>
            </a:r>
            <a:endParaRPr lang="zh-CN"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lnSpc>
                <a:spcPct val="125000"/>
              </a:lnSpc>
              <a:spcBef>
                <a:spcPts val="0"/>
              </a:spcBef>
              <a:buNone/>
            </a:pP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WHERE </a:t>
            </a:r>
            <a:r>
              <a:rPr lang="en-US" altLang="zh-CN" sz="2400" dirty="0" err="1">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mat_name</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护套绝缘电线</a:t>
            </a:r>
            <a:r>
              <a:rPr lang="en-US"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sz="2400"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67787" y="4322921"/>
            <a:ext cx="4924213" cy="2456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189442">
                                            <p:txEl>
                                              <p:charRg st="68" end="100"/>
                                            </p:txEl>
                                          </p:spTgt>
                                        </p:tgtEl>
                                        <p:attrNameLst>
                                          <p:attrName>style.visibility</p:attrName>
                                        </p:attrNameLst>
                                      </p:cBhvr>
                                      <p:to>
                                        <p:strVal val="visible"/>
                                      </p:to>
                                    </p:set>
                                    <p:animEffect transition="in" filter="blinds(horizontal)">
                                      <p:cBhvr>
                                        <p:cTn id="7" dur="500"/>
                                        <p:tgtEl>
                                          <p:spTgt spid="189442">
                                            <p:txEl>
                                              <p:charRg st="68" end="10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89442">
                                            <p:txEl>
                                              <p:charRg st="100" end="140"/>
                                            </p:txEl>
                                          </p:spTgt>
                                        </p:tgtEl>
                                        <p:attrNameLst>
                                          <p:attrName>style.visibility</p:attrName>
                                        </p:attrNameLst>
                                      </p:cBhvr>
                                      <p:to>
                                        <p:strVal val="visible"/>
                                      </p:to>
                                    </p:set>
                                    <p:animEffect transition="in" filter="blinds(horizontal)">
                                      <p:cBhvr>
                                        <p:cTn id="10" dur="500"/>
                                        <p:tgtEl>
                                          <p:spTgt spid="189442">
                                            <p:txEl>
                                              <p:charRg st="100" end="140"/>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89442">
                                            <p:txEl>
                                              <p:charRg st="140" end="184"/>
                                            </p:txEl>
                                          </p:spTgt>
                                        </p:tgtEl>
                                        <p:attrNameLst>
                                          <p:attrName>style.visibility</p:attrName>
                                        </p:attrNameLst>
                                      </p:cBhvr>
                                      <p:to>
                                        <p:strVal val="visible"/>
                                      </p:to>
                                    </p:set>
                                    <p:animEffect transition="in" filter="blinds(horizontal)">
                                      <p:cBhvr>
                                        <p:cTn id="13" dur="500"/>
                                        <p:tgtEl>
                                          <p:spTgt spid="189442">
                                            <p:txEl>
                                              <p:charRg st="140" end="184"/>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89442">
                                            <p:txEl>
                                              <p:charRg st="184" end="201"/>
                                            </p:txEl>
                                          </p:spTgt>
                                        </p:tgtEl>
                                        <p:attrNameLst>
                                          <p:attrName>style.visibility</p:attrName>
                                        </p:attrNameLst>
                                      </p:cBhvr>
                                      <p:to>
                                        <p:strVal val="visible"/>
                                      </p:to>
                                    </p:set>
                                    <p:animEffect transition="in" filter="blinds(horizontal)">
                                      <p:cBhvr>
                                        <p:cTn id="16" dur="500"/>
                                        <p:tgtEl>
                                          <p:spTgt spid="189442">
                                            <p:txEl>
                                              <p:charRg st="184" end="20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3.3 </a:t>
            </a:r>
            <a:r>
              <a:rPr lang="zh-CN" sz="2800" b="1" dirty="0">
                <a:solidFill>
                  <a:schemeClr val="bg1"/>
                </a:solidFill>
                <a:latin typeface="微软雅黑" panose="020B0503020204020204" pitchFamily="34" charset="-122"/>
                <a:ea typeface="微软雅黑" panose="020B0503020204020204" pitchFamily="34" charset="-122"/>
              </a:rPr>
              <a:t>查询</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3.3.2 </a:t>
            </a:r>
            <a:r>
              <a:rPr lang="zh-CN" sz="2800" b="1" dirty="0">
                <a:solidFill>
                  <a:schemeClr val="bg1"/>
                </a:solidFill>
                <a:latin typeface="微软雅黑" panose="020B0503020204020204" pitchFamily="34" charset="-122"/>
                <a:ea typeface="微软雅黑" panose="020B0503020204020204" pitchFamily="34" charset="-122"/>
              </a:rPr>
              <a:t>连接查询</a:t>
            </a:r>
          </a:p>
        </p:txBody>
      </p:sp>
      <p:sp>
        <p:nvSpPr>
          <p:cNvPr id="84994" name="Rectangle 3"/>
          <p:cNvSpPr>
            <a:spLocks noGrp="1"/>
          </p:cNvSpPr>
          <p:nvPr/>
        </p:nvSpPr>
        <p:spPr>
          <a:xfrm>
            <a:off x="443865" y="751205"/>
            <a:ext cx="9739630" cy="609600"/>
          </a:xfrm>
          <a:prstGeom prst="rect">
            <a:avLst/>
          </a:prstGeom>
          <a:noFill/>
          <a:ln>
            <a:noFill/>
          </a:ln>
        </p:spPr>
        <p:txBody>
          <a:bodyPr anchor="t"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latinLnBrk="0" hangingPunct="1">
              <a:lnSpc>
                <a:spcPct val="125000"/>
              </a:lnSpc>
              <a:buNone/>
            </a:pPr>
            <a:r>
              <a:rPr lang="en-US" altLang="zh-CN" sz="2400" dirty="0">
                <a:solidFill>
                  <a:srgbClr val="669900"/>
                </a:solidFill>
                <a:latin typeface="微软雅黑" panose="020B0503020204020204" pitchFamily="34" charset="-122"/>
                <a:ea typeface="微软雅黑" panose="020B0503020204020204" pitchFamily="34" charset="-122"/>
                <a:cs typeface="微软雅黑" panose="020B0503020204020204" pitchFamily="34" charset="-122"/>
              </a:rPr>
              <a:t>5. </a:t>
            </a:r>
            <a:r>
              <a:rPr lang="zh-CN" altLang="en-US" sz="2400" dirty="0">
                <a:solidFill>
                  <a:srgbClr val="669900"/>
                </a:solidFill>
                <a:latin typeface="微软雅黑" panose="020B0503020204020204" pitchFamily="34" charset="-122"/>
                <a:ea typeface="微软雅黑" panose="020B0503020204020204" pitchFamily="34" charset="-122"/>
                <a:cs typeface="微软雅黑" panose="020B0503020204020204" pitchFamily="34" charset="-122"/>
              </a:rPr>
              <a:t>自身连接查询</a:t>
            </a:r>
            <a:endParaRPr lang="en-US" altLang="zh-CN" sz="2400" dirty="0">
              <a:solidFill>
                <a:srgbClr val="6699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7812" name="Rectangle 4"/>
          <p:cNvSpPr/>
          <p:nvPr/>
        </p:nvSpPr>
        <p:spPr>
          <a:xfrm>
            <a:off x="367665" y="1360805"/>
            <a:ext cx="10598785" cy="609600"/>
          </a:xfrm>
          <a:prstGeom prst="rect">
            <a:avLst/>
          </a:prstGeom>
          <a:noFill/>
          <a:ln w="9525">
            <a:noFill/>
          </a:ln>
        </p:spPr>
        <p:txBody>
          <a:bodyPr anchor="t" anchorCtr="0"/>
          <a:lstStyle/>
          <a:p>
            <a:pPr marL="342900" indent="-342900" eaLnBrk="1" latinLnBrk="0" hangingPunct="1">
              <a:lnSpc>
                <a:spcPct val="125000"/>
              </a:lnSpc>
              <a:spcBef>
                <a:spcPct val="20000"/>
              </a:spcBef>
              <a:buClr>
                <a:srgbClr val="FFFF66"/>
              </a:buClr>
              <a:buFont typeface="Wingdings" panose="05000000000000000000" pitchFamily="2" charset="2"/>
              <a:buChar char="§"/>
            </a:pPr>
            <a:r>
              <a:rPr lang="zh-CN" altLang="en-US" sz="2400" dirty="0">
                <a:solidFill>
                  <a:schemeClr val="tx1"/>
                </a:solidFill>
                <a:latin typeface="微软雅黑" panose="020B0503020204020204" pitchFamily="34" charset="-122"/>
                <a:ea typeface="微软雅黑" panose="020B0503020204020204" pitchFamily="34" charset="-122"/>
              </a:rPr>
              <a:t>连接操作是一个表与其自己进行的。</a:t>
            </a:r>
          </a:p>
        </p:txBody>
      </p:sp>
      <p:sp>
        <p:nvSpPr>
          <p:cNvPr id="247813" name="Rectangle 5"/>
          <p:cNvSpPr/>
          <p:nvPr/>
        </p:nvSpPr>
        <p:spPr>
          <a:xfrm>
            <a:off x="0" y="2488565"/>
            <a:ext cx="10789920" cy="533400"/>
          </a:xfrm>
          <a:prstGeom prst="rect">
            <a:avLst/>
          </a:prstGeom>
          <a:noFill/>
          <a:ln w="9525">
            <a:noFill/>
          </a:ln>
        </p:spPr>
        <p:txBody>
          <a:bodyPr anchor="t" anchorCtr="0"/>
          <a:lstStyle/>
          <a:p>
            <a:pPr marL="342900" indent="-342900" eaLnBrk="1" latinLnBrk="0" hangingPunct="1">
              <a:lnSpc>
                <a:spcPct val="125000"/>
              </a:lnSpc>
              <a:spcBef>
                <a:spcPct val="20000"/>
              </a:spcBef>
              <a:buClr>
                <a:schemeClr val="accent1"/>
              </a:buClr>
            </a:pP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3.51】</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查询同时使用了物资编号为</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m001</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m002</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的抢修工程的工程号。</a:t>
            </a:r>
          </a:p>
        </p:txBody>
      </p:sp>
      <p:sp>
        <p:nvSpPr>
          <p:cNvPr id="247814" name="Rectangle 6"/>
          <p:cNvSpPr/>
          <p:nvPr/>
        </p:nvSpPr>
        <p:spPr>
          <a:xfrm>
            <a:off x="672465" y="3141980"/>
            <a:ext cx="10598785" cy="3716020"/>
          </a:xfrm>
          <a:prstGeom prst="rect">
            <a:avLst/>
          </a:prstGeom>
          <a:noFill/>
          <a:ln w="9525">
            <a:noFill/>
          </a:ln>
        </p:spPr>
        <p:txBody>
          <a:bodyPr anchor="t" anchorCtr="0"/>
          <a:lstStyle/>
          <a:p>
            <a:pPr marL="342900" indent="-342900" eaLnBrk="1" latinLnBrk="0" hangingPunct="1">
              <a:lnSpc>
                <a:spcPct val="125000"/>
              </a:lnSpc>
            </a:pPr>
            <a:r>
              <a:rPr lang="en-US" altLang="zh-CN" sz="2400" dirty="0">
                <a:solidFill>
                  <a:srgbClr val="FF3300"/>
                </a:solidFill>
                <a:latin typeface="微软雅黑" panose="020B0503020204020204" pitchFamily="34" charset="-122"/>
                <a:ea typeface="微软雅黑" panose="020B0503020204020204" pitchFamily="34" charset="-122"/>
              </a:rPr>
              <a:t>SELECT A.prj_num</a:t>
            </a:r>
          </a:p>
          <a:p>
            <a:pPr marL="342900" indent="-342900" eaLnBrk="1" latinLnBrk="0" hangingPunct="1">
              <a:lnSpc>
                <a:spcPct val="125000"/>
              </a:lnSpc>
            </a:pPr>
            <a:r>
              <a:rPr lang="en-US" altLang="zh-CN" sz="2400" dirty="0">
                <a:solidFill>
                  <a:srgbClr val="FF3300"/>
                </a:solidFill>
                <a:latin typeface="微软雅黑" panose="020B0503020204020204" pitchFamily="34" charset="-122"/>
                <a:ea typeface="微软雅黑" panose="020B0503020204020204" pitchFamily="34" charset="-122"/>
              </a:rPr>
              <a:t>FROM Out_stock A, Out_stock B</a:t>
            </a:r>
          </a:p>
          <a:p>
            <a:pPr marL="342900" indent="-342900" eaLnBrk="1" latinLnBrk="0" hangingPunct="1">
              <a:lnSpc>
                <a:spcPct val="125000"/>
              </a:lnSpc>
            </a:pPr>
            <a:r>
              <a:rPr lang="en-US" altLang="zh-CN" sz="2400" dirty="0">
                <a:solidFill>
                  <a:srgbClr val="FF3300"/>
                </a:solidFill>
                <a:latin typeface="微软雅黑" panose="020B0503020204020204" pitchFamily="34" charset="-122"/>
                <a:ea typeface="微软雅黑" panose="020B0503020204020204" pitchFamily="34" charset="-122"/>
              </a:rPr>
              <a:t>WHERE A.prj_num =B.prj_num </a:t>
            </a:r>
          </a:p>
          <a:p>
            <a:pPr marL="342900" indent="-342900" eaLnBrk="1" latinLnBrk="0" hangingPunct="1">
              <a:lnSpc>
                <a:spcPct val="125000"/>
              </a:lnSpc>
            </a:pPr>
            <a:r>
              <a:rPr lang="en-US" altLang="zh-CN" sz="2400" dirty="0">
                <a:solidFill>
                  <a:srgbClr val="FF3300"/>
                </a:solidFill>
                <a:latin typeface="微软雅黑" panose="020B0503020204020204" pitchFamily="34" charset="-122"/>
                <a:ea typeface="微软雅黑" panose="020B0503020204020204" pitchFamily="34" charset="-122"/>
              </a:rPr>
              <a:t>  AND A.mat_num='m001' </a:t>
            </a:r>
          </a:p>
          <a:p>
            <a:pPr marL="342900" indent="-342900" eaLnBrk="1" latinLnBrk="0" hangingPunct="1">
              <a:lnSpc>
                <a:spcPct val="125000"/>
              </a:lnSpc>
            </a:pPr>
            <a:r>
              <a:rPr lang="en-US" altLang="zh-CN" sz="2400" dirty="0">
                <a:solidFill>
                  <a:srgbClr val="FF3300"/>
                </a:solidFill>
                <a:latin typeface="微软雅黑" panose="020B0503020204020204" pitchFamily="34" charset="-122"/>
                <a:ea typeface="微软雅黑" panose="020B0503020204020204" pitchFamily="34" charset="-122"/>
              </a:rPr>
              <a:t>  AND B.mat_num='m002'; </a:t>
            </a:r>
          </a:p>
          <a:p>
            <a:pPr marL="342900" indent="-342900" eaLnBrk="1" latinLnBrk="0" hangingPunct="1">
              <a:lnSpc>
                <a:spcPct val="125000"/>
              </a:lnSpc>
            </a:pPr>
            <a:r>
              <a:rPr lang="en-US" altLang="zh-CN" sz="2400" dirty="0">
                <a:solidFill>
                  <a:srgbClr val="1569F0"/>
                </a:solidFill>
                <a:latin typeface="微软雅黑" panose="020B0503020204020204" pitchFamily="34" charset="-122"/>
                <a:ea typeface="微软雅黑" panose="020B0503020204020204" pitchFamily="34" charset="-122"/>
              </a:rPr>
              <a:t>SELECT </a:t>
            </a:r>
            <a:r>
              <a:rPr lang="en-US" altLang="zh-CN" sz="2400" dirty="0" err="1">
                <a:solidFill>
                  <a:srgbClr val="1569F0"/>
                </a:solidFill>
                <a:latin typeface="微软雅黑" panose="020B0503020204020204" pitchFamily="34" charset="-122"/>
                <a:ea typeface="微软雅黑" panose="020B0503020204020204" pitchFamily="34" charset="-122"/>
              </a:rPr>
              <a:t>A.prj_num</a:t>
            </a:r>
            <a:endParaRPr lang="en-US" altLang="zh-CN" sz="2400" dirty="0">
              <a:solidFill>
                <a:srgbClr val="1569F0"/>
              </a:solidFill>
              <a:latin typeface="微软雅黑" panose="020B0503020204020204" pitchFamily="34" charset="-122"/>
              <a:ea typeface="微软雅黑" panose="020B0503020204020204" pitchFamily="34" charset="-122"/>
            </a:endParaRPr>
          </a:p>
          <a:p>
            <a:pPr marL="342900" indent="-342900" eaLnBrk="1" latinLnBrk="0" hangingPunct="1">
              <a:lnSpc>
                <a:spcPct val="125000"/>
              </a:lnSpc>
            </a:pPr>
            <a:r>
              <a:rPr lang="en-US" altLang="zh-CN" sz="2400" dirty="0">
                <a:solidFill>
                  <a:srgbClr val="1569F0"/>
                </a:solidFill>
                <a:latin typeface="微软雅黑" panose="020B0503020204020204" pitchFamily="34" charset="-122"/>
                <a:ea typeface="微软雅黑" panose="020B0503020204020204" pitchFamily="34" charset="-122"/>
              </a:rPr>
              <a:t>FROM </a:t>
            </a:r>
            <a:r>
              <a:rPr lang="en-US" altLang="zh-CN" sz="2400" dirty="0" err="1">
                <a:solidFill>
                  <a:srgbClr val="1569F0"/>
                </a:solidFill>
                <a:latin typeface="微软雅黑" panose="020B0503020204020204" pitchFamily="34" charset="-122"/>
                <a:ea typeface="微软雅黑" panose="020B0503020204020204" pitchFamily="34" charset="-122"/>
              </a:rPr>
              <a:t>Out_stock</a:t>
            </a:r>
            <a:r>
              <a:rPr lang="en-US" altLang="zh-CN" sz="2400" dirty="0">
                <a:solidFill>
                  <a:srgbClr val="1569F0"/>
                </a:solidFill>
                <a:latin typeface="微软雅黑" panose="020B0503020204020204" pitchFamily="34" charset="-122"/>
                <a:ea typeface="微软雅黑" panose="020B0503020204020204" pitchFamily="34" charset="-122"/>
              </a:rPr>
              <a:t> A inner join  </a:t>
            </a:r>
            <a:r>
              <a:rPr lang="en-US" altLang="zh-CN" sz="2400" dirty="0" err="1">
                <a:solidFill>
                  <a:srgbClr val="1569F0"/>
                </a:solidFill>
                <a:latin typeface="微软雅黑" panose="020B0503020204020204" pitchFamily="34" charset="-122"/>
                <a:ea typeface="微软雅黑" panose="020B0503020204020204" pitchFamily="34" charset="-122"/>
              </a:rPr>
              <a:t>Out_stock</a:t>
            </a:r>
            <a:r>
              <a:rPr lang="en-US" altLang="zh-CN" sz="2400" dirty="0">
                <a:solidFill>
                  <a:srgbClr val="1569F0"/>
                </a:solidFill>
                <a:latin typeface="微软雅黑" panose="020B0503020204020204" pitchFamily="34" charset="-122"/>
                <a:ea typeface="微软雅黑" panose="020B0503020204020204" pitchFamily="34" charset="-122"/>
              </a:rPr>
              <a:t> B  on  </a:t>
            </a:r>
            <a:r>
              <a:rPr lang="en-US" altLang="zh-CN" sz="2400" dirty="0" err="1">
                <a:solidFill>
                  <a:srgbClr val="1569F0"/>
                </a:solidFill>
                <a:latin typeface="微软雅黑" panose="020B0503020204020204" pitchFamily="34" charset="-122"/>
                <a:ea typeface="微软雅黑" panose="020B0503020204020204" pitchFamily="34" charset="-122"/>
              </a:rPr>
              <a:t>A.prj_num</a:t>
            </a:r>
            <a:r>
              <a:rPr lang="en-US" altLang="zh-CN" sz="2400" dirty="0">
                <a:solidFill>
                  <a:srgbClr val="1569F0"/>
                </a:solidFill>
                <a:latin typeface="微软雅黑" panose="020B0503020204020204" pitchFamily="34" charset="-122"/>
                <a:ea typeface="微软雅黑" panose="020B0503020204020204" pitchFamily="34" charset="-122"/>
              </a:rPr>
              <a:t> =</a:t>
            </a:r>
            <a:r>
              <a:rPr lang="en-US" altLang="zh-CN" sz="2400" dirty="0" err="1">
                <a:solidFill>
                  <a:srgbClr val="1569F0"/>
                </a:solidFill>
                <a:latin typeface="微软雅黑" panose="020B0503020204020204" pitchFamily="34" charset="-122"/>
                <a:ea typeface="微软雅黑" panose="020B0503020204020204" pitchFamily="34" charset="-122"/>
              </a:rPr>
              <a:t>B.prj_num</a:t>
            </a:r>
            <a:r>
              <a:rPr lang="en-US" altLang="zh-CN" sz="2400" dirty="0">
                <a:solidFill>
                  <a:srgbClr val="1569F0"/>
                </a:solidFill>
                <a:latin typeface="微软雅黑" panose="020B0503020204020204" pitchFamily="34" charset="-122"/>
                <a:ea typeface="微软雅黑" panose="020B0503020204020204" pitchFamily="34" charset="-122"/>
              </a:rPr>
              <a:t> </a:t>
            </a:r>
          </a:p>
          <a:p>
            <a:pPr marL="342900" indent="-342900" eaLnBrk="1" latinLnBrk="0" hangingPunct="1">
              <a:lnSpc>
                <a:spcPct val="125000"/>
              </a:lnSpc>
            </a:pPr>
            <a:r>
              <a:rPr lang="en-US" altLang="zh-CN" sz="2400" dirty="0">
                <a:solidFill>
                  <a:srgbClr val="1569F0"/>
                </a:solidFill>
                <a:latin typeface="微软雅黑" panose="020B0503020204020204" pitchFamily="34" charset="-122"/>
                <a:ea typeface="微软雅黑" panose="020B0503020204020204" pitchFamily="34" charset="-122"/>
              </a:rPr>
              <a:t> where </a:t>
            </a:r>
            <a:r>
              <a:rPr lang="en-US" altLang="zh-CN" sz="2400" dirty="0" err="1">
                <a:solidFill>
                  <a:srgbClr val="1569F0"/>
                </a:solidFill>
                <a:latin typeface="微软雅黑" panose="020B0503020204020204" pitchFamily="34" charset="-122"/>
                <a:ea typeface="微软雅黑" panose="020B0503020204020204" pitchFamily="34" charset="-122"/>
              </a:rPr>
              <a:t>A.mat_num</a:t>
            </a:r>
            <a:r>
              <a:rPr lang="en-US" altLang="zh-CN" sz="2400" dirty="0">
                <a:solidFill>
                  <a:srgbClr val="1569F0"/>
                </a:solidFill>
                <a:latin typeface="微软雅黑" panose="020B0503020204020204" pitchFamily="34" charset="-122"/>
                <a:ea typeface="微软雅黑" panose="020B0503020204020204" pitchFamily="34" charset="-122"/>
              </a:rPr>
              <a:t>='m001'    AND </a:t>
            </a:r>
            <a:r>
              <a:rPr lang="en-US" altLang="zh-CN" sz="2400" dirty="0" err="1">
                <a:solidFill>
                  <a:srgbClr val="1569F0"/>
                </a:solidFill>
                <a:latin typeface="微软雅黑" panose="020B0503020204020204" pitchFamily="34" charset="-122"/>
                <a:ea typeface="微软雅黑" panose="020B0503020204020204" pitchFamily="34" charset="-122"/>
              </a:rPr>
              <a:t>B.mat_num</a:t>
            </a:r>
            <a:r>
              <a:rPr lang="en-US" altLang="zh-CN" sz="2400" dirty="0">
                <a:solidFill>
                  <a:srgbClr val="1569F0"/>
                </a:solidFill>
                <a:latin typeface="微软雅黑" panose="020B0503020204020204" pitchFamily="34" charset="-122"/>
                <a:ea typeface="微软雅黑" panose="020B0503020204020204" pitchFamily="34" charset="-122"/>
              </a:rPr>
              <a:t>='m002'; </a:t>
            </a:r>
          </a:p>
          <a:p>
            <a:pPr marL="342900" indent="-342900" eaLnBrk="1" latinLnBrk="0" hangingPunct="1">
              <a:lnSpc>
                <a:spcPct val="125000"/>
              </a:lnSpc>
            </a:pPr>
            <a:endParaRPr lang="en-US" altLang="zh-CN" sz="2400" dirty="0">
              <a:solidFill>
                <a:srgbClr val="FF3300"/>
              </a:solidFill>
              <a:latin typeface="微软雅黑" panose="020B0503020204020204" pitchFamily="34" charset="-122"/>
              <a:ea typeface="微软雅黑" panose="020B0503020204020204" pitchFamily="34" charset="-122"/>
            </a:endParaRPr>
          </a:p>
        </p:txBody>
      </p:sp>
      <p:sp>
        <p:nvSpPr>
          <p:cNvPr id="247815" name="Rectangle 7"/>
          <p:cNvSpPr/>
          <p:nvPr/>
        </p:nvSpPr>
        <p:spPr>
          <a:xfrm>
            <a:off x="386715" y="1894205"/>
            <a:ext cx="10598785" cy="990600"/>
          </a:xfrm>
          <a:prstGeom prst="rect">
            <a:avLst/>
          </a:prstGeom>
          <a:noFill/>
          <a:ln w="9525">
            <a:noFill/>
          </a:ln>
        </p:spPr>
        <p:txBody>
          <a:bodyPr anchor="t" anchorCtr="0"/>
          <a:lstStyle/>
          <a:p>
            <a:pPr marL="342900" indent="-342900" eaLnBrk="1" latinLnBrk="0" hangingPunct="1">
              <a:lnSpc>
                <a:spcPct val="125000"/>
              </a:lnSpc>
              <a:spcBef>
                <a:spcPct val="20000"/>
              </a:spcBef>
              <a:buClr>
                <a:srgbClr val="FFFF66"/>
              </a:buClr>
              <a:buFont typeface="Wingdings" panose="05000000000000000000" pitchFamily="2" charset="2"/>
              <a:buChar char="§"/>
            </a:pPr>
            <a:r>
              <a:rPr lang="zh-CN" altLang="en-US" sz="2400" dirty="0">
                <a:solidFill>
                  <a:schemeClr val="tx1"/>
                </a:solidFill>
                <a:latin typeface="微软雅黑" panose="020B0503020204020204" pitchFamily="34" charset="-122"/>
                <a:ea typeface="微软雅黑" panose="020B0503020204020204" pitchFamily="34" charset="-122"/>
              </a:rPr>
              <a:t>必须给表起别名以示区别，且由于所有属性都是同名属性，则必须加前缀。</a:t>
            </a:r>
          </a:p>
        </p:txBody>
      </p:sp>
      <p:pic>
        <p:nvPicPr>
          <p:cNvPr id="5122"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8890" y="3631248"/>
            <a:ext cx="2281538" cy="1215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7813"/>
                                        </p:tgtEl>
                                        <p:attrNameLst>
                                          <p:attrName>style.visibility</p:attrName>
                                        </p:attrNameLst>
                                      </p:cBhvr>
                                      <p:to>
                                        <p:strVal val="visible"/>
                                      </p:to>
                                    </p:set>
                                    <p:anim calcmode="lin" valueType="num">
                                      <p:cBhvr additive="base">
                                        <p:cTn id="7" dur="500" fill="hold"/>
                                        <p:tgtEl>
                                          <p:spTgt spid="247813"/>
                                        </p:tgtEl>
                                        <p:attrNameLst>
                                          <p:attrName>ppt_x</p:attrName>
                                        </p:attrNameLst>
                                      </p:cBhvr>
                                      <p:tavLst>
                                        <p:tav tm="0">
                                          <p:val>
                                            <p:strVal val="0-#ppt_w/2"/>
                                          </p:val>
                                        </p:tav>
                                        <p:tav tm="100000">
                                          <p:val>
                                            <p:strVal val="#ppt_x"/>
                                          </p:val>
                                        </p:tav>
                                      </p:tavLst>
                                    </p:anim>
                                    <p:anim calcmode="lin" valueType="num">
                                      <p:cBhvr additive="base">
                                        <p:cTn id="8" dur="500" fill="hold"/>
                                        <p:tgtEl>
                                          <p:spTgt spid="24781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247814"/>
                                        </p:tgtEl>
                                        <p:attrNameLst>
                                          <p:attrName>style.visibility</p:attrName>
                                        </p:attrNameLst>
                                      </p:cBhvr>
                                      <p:to>
                                        <p:strVal val="visible"/>
                                      </p:to>
                                    </p:set>
                                    <p:anim calcmode="lin" valueType="num">
                                      <p:cBhvr>
                                        <p:cTn id="13" dur="500" fill="hold"/>
                                        <p:tgtEl>
                                          <p:spTgt spid="247814"/>
                                        </p:tgtEl>
                                        <p:attrNameLst>
                                          <p:attrName>ppt_w</p:attrName>
                                        </p:attrNameLst>
                                      </p:cBhvr>
                                      <p:tavLst>
                                        <p:tav tm="0">
                                          <p:val>
                                            <p:fltVal val="0"/>
                                          </p:val>
                                        </p:tav>
                                        <p:tav tm="100000">
                                          <p:val>
                                            <p:strVal val="#ppt_w"/>
                                          </p:val>
                                        </p:tav>
                                      </p:tavLst>
                                    </p:anim>
                                    <p:anim calcmode="lin" valueType="num">
                                      <p:cBhvr>
                                        <p:cTn id="14" dur="500" fill="hold"/>
                                        <p:tgtEl>
                                          <p:spTgt spid="24781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13" grpId="0"/>
      <p:bldP spid="24781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cxnSp>
        <p:nvCxnSpPr>
          <p:cNvPr id="13" name="直接连接符 12"/>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框 94"/>
          <p:cNvSpPr txBox="1">
            <a:spLocks noChangeArrowheads="1"/>
          </p:cNvSpPr>
          <p:nvPr/>
        </p:nvSpPr>
        <p:spPr bwMode="auto">
          <a:xfrm>
            <a:off x="245870" y="5408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3.3 </a:t>
            </a:r>
            <a:r>
              <a:rPr lang="zh-CN" sz="2800" b="1" dirty="0">
                <a:solidFill>
                  <a:schemeClr val="bg1"/>
                </a:solidFill>
                <a:latin typeface="微软雅黑" panose="020B0503020204020204" pitchFamily="34" charset="-122"/>
                <a:ea typeface="微软雅黑" panose="020B0503020204020204" pitchFamily="34" charset="-122"/>
              </a:rPr>
              <a:t>查询</a:t>
            </a:r>
          </a:p>
        </p:txBody>
      </p:sp>
      <p:sp>
        <p:nvSpPr>
          <p:cNvPr id="12" name="文本框 94"/>
          <p:cNvSpPr txBox="1">
            <a:spLocks noChangeArrowheads="1"/>
          </p:cNvSpPr>
          <p:nvPr/>
        </p:nvSpPr>
        <p:spPr bwMode="auto">
          <a:xfrm>
            <a:off x="4737459" y="75566"/>
            <a:ext cx="790877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3.3.2 </a:t>
            </a:r>
            <a:r>
              <a:rPr lang="zh-CN" sz="2800" b="1" dirty="0">
                <a:solidFill>
                  <a:schemeClr val="bg1"/>
                </a:solidFill>
                <a:latin typeface="微软雅黑" panose="020B0503020204020204" pitchFamily="34" charset="-122"/>
                <a:ea typeface="微软雅黑" panose="020B0503020204020204" pitchFamily="34" charset="-122"/>
              </a:rPr>
              <a:t>连接查询</a:t>
            </a:r>
          </a:p>
        </p:txBody>
      </p:sp>
      <p:pic>
        <p:nvPicPr>
          <p:cNvPr id="7" name="图片 6"/>
          <p:cNvPicPr>
            <a:picLocks noChangeAspect="1"/>
          </p:cNvPicPr>
          <p:nvPr/>
        </p:nvPicPr>
        <p:blipFill>
          <a:blip r:embed="rId3"/>
          <a:stretch>
            <a:fillRect/>
          </a:stretch>
        </p:blipFill>
        <p:spPr>
          <a:xfrm>
            <a:off x="835660" y="2016125"/>
            <a:ext cx="10099675" cy="4142740"/>
          </a:xfrm>
          <a:prstGeom prst="rect">
            <a:avLst/>
          </a:prstGeom>
        </p:spPr>
      </p:pic>
      <p:sp>
        <p:nvSpPr>
          <p:cNvPr id="8" name="矩形 7"/>
          <p:cNvSpPr/>
          <p:nvPr/>
        </p:nvSpPr>
        <p:spPr>
          <a:xfrm>
            <a:off x="1211580" y="2162810"/>
            <a:ext cx="4414520" cy="4112260"/>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5739130" y="2162175"/>
            <a:ext cx="4414520" cy="4112260"/>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 Box 5"/>
          <p:cNvSpPr txBox="1"/>
          <p:nvPr/>
        </p:nvSpPr>
        <p:spPr>
          <a:xfrm>
            <a:off x="2089785" y="6371590"/>
            <a:ext cx="2395855" cy="460375"/>
          </a:xfrm>
          <a:prstGeom prst="rect">
            <a:avLst/>
          </a:prstGeom>
          <a:noFill/>
          <a:ln w="22225">
            <a:noFill/>
          </a:ln>
        </p:spPr>
        <p:txBody>
          <a:bodyPr wrap="square" anchor="t" anchorCtr="0">
            <a:spAutoFit/>
          </a:bodyPr>
          <a:lstStyle/>
          <a:p>
            <a:pPr>
              <a:spcBef>
                <a:spcPct val="50000"/>
              </a:spcBef>
            </a:pPr>
            <a:r>
              <a:rPr lang="en-US" altLang="zh-CN" sz="2400" b="1" dirty="0">
                <a:solidFill>
                  <a:srgbClr val="000066"/>
                </a:solidFill>
                <a:latin typeface="楷体_GB2312" pitchFamily="49" charset="-122"/>
                <a:ea typeface="楷体_GB2312" pitchFamily="49" charset="-122"/>
              </a:rPr>
              <a:t>Out_stock: A</a:t>
            </a:r>
            <a:endParaRPr lang="zh-CN" altLang="en-US" sz="2400" b="1" dirty="0">
              <a:solidFill>
                <a:srgbClr val="000066"/>
              </a:solidFill>
              <a:latin typeface="楷体_GB2312" pitchFamily="49" charset="-122"/>
              <a:ea typeface="楷体_GB2312" pitchFamily="49" charset="-122"/>
              <a:sym typeface="Wingdings" panose="05000000000000000000" pitchFamily="2" charset="2"/>
            </a:endParaRPr>
          </a:p>
        </p:txBody>
      </p:sp>
      <p:sp>
        <p:nvSpPr>
          <p:cNvPr id="14" name="Text Box 5"/>
          <p:cNvSpPr txBox="1"/>
          <p:nvPr/>
        </p:nvSpPr>
        <p:spPr>
          <a:xfrm>
            <a:off x="7273290" y="6371590"/>
            <a:ext cx="1897380" cy="460375"/>
          </a:xfrm>
          <a:prstGeom prst="rect">
            <a:avLst/>
          </a:prstGeom>
          <a:noFill/>
          <a:ln w="22225">
            <a:noFill/>
          </a:ln>
        </p:spPr>
        <p:txBody>
          <a:bodyPr wrap="square" anchor="t" anchorCtr="0">
            <a:spAutoFit/>
          </a:bodyPr>
          <a:lstStyle/>
          <a:p>
            <a:pPr>
              <a:spcBef>
                <a:spcPct val="50000"/>
              </a:spcBef>
            </a:pPr>
            <a:r>
              <a:rPr lang="en-US" altLang="zh-CN" sz="2400" b="1" dirty="0">
                <a:solidFill>
                  <a:srgbClr val="000066"/>
                </a:solidFill>
                <a:latin typeface="楷体_GB2312" pitchFamily="49" charset="-122"/>
                <a:ea typeface="楷体_GB2312" pitchFamily="49" charset="-122"/>
                <a:sym typeface="+mn-ea"/>
              </a:rPr>
              <a:t>Out_stock:</a:t>
            </a:r>
            <a:r>
              <a:rPr lang="en-US" altLang="zh-CN" sz="2400" b="1" dirty="0">
                <a:solidFill>
                  <a:srgbClr val="000066"/>
                </a:solidFill>
                <a:latin typeface="楷体_GB2312" pitchFamily="49" charset="-122"/>
                <a:ea typeface="楷体_GB2312" pitchFamily="49" charset="-122"/>
              </a:rPr>
              <a:t>B</a:t>
            </a:r>
            <a:endParaRPr lang="zh-CN" altLang="en-US" sz="2400" b="1" dirty="0">
              <a:solidFill>
                <a:srgbClr val="000066"/>
              </a:solidFill>
              <a:latin typeface="楷体_GB2312" pitchFamily="49" charset="-122"/>
              <a:ea typeface="楷体_GB2312" pitchFamily="49" charset="-122"/>
              <a:sym typeface="Wingdings" panose="05000000000000000000" pitchFamily="2" charset="2"/>
            </a:endParaRPr>
          </a:p>
        </p:txBody>
      </p:sp>
      <p:sp>
        <p:nvSpPr>
          <p:cNvPr id="15" name="文本框 14"/>
          <p:cNvSpPr txBox="1"/>
          <p:nvPr/>
        </p:nvSpPr>
        <p:spPr>
          <a:xfrm>
            <a:off x="245745" y="716915"/>
            <a:ext cx="7125335" cy="1245235"/>
          </a:xfrm>
          <a:prstGeom prst="rect">
            <a:avLst/>
          </a:prstGeom>
          <a:noFill/>
        </p:spPr>
        <p:txBody>
          <a:bodyPr wrap="square" rtlCol="0" anchor="t">
            <a:spAutoFit/>
          </a:bodyPr>
          <a:lstStyle/>
          <a:p>
            <a:pPr marL="342900" indent="-342900" eaLnBrk="1" latinLnBrk="0" hangingPunct="1">
              <a:lnSpc>
                <a:spcPct val="125000"/>
              </a:lnSpc>
            </a:pPr>
            <a:r>
              <a:rPr lang="en-US" altLang="zh-CN" sz="2000" dirty="0">
                <a:solidFill>
                  <a:srgbClr val="FF3300"/>
                </a:solidFill>
                <a:latin typeface="微软雅黑" panose="020B0503020204020204" pitchFamily="34" charset="-122"/>
                <a:ea typeface="微软雅黑" panose="020B0503020204020204" pitchFamily="34" charset="-122"/>
                <a:sym typeface="+mn-ea"/>
              </a:rPr>
              <a:t>SELECT A.*,B.*</a:t>
            </a:r>
          </a:p>
          <a:p>
            <a:pPr marL="342900" indent="-342900" eaLnBrk="1" latinLnBrk="0" hangingPunct="1">
              <a:lnSpc>
                <a:spcPct val="125000"/>
              </a:lnSpc>
            </a:pPr>
            <a:r>
              <a:rPr lang="en-US" altLang="zh-CN" sz="2000" dirty="0">
                <a:solidFill>
                  <a:srgbClr val="FF3300"/>
                </a:solidFill>
                <a:latin typeface="微软雅黑" panose="020B0503020204020204" pitchFamily="34" charset="-122"/>
                <a:ea typeface="微软雅黑" panose="020B0503020204020204" pitchFamily="34" charset="-122"/>
                <a:sym typeface="+mn-ea"/>
              </a:rPr>
              <a:t>FROM Out_stock A, Out_stock B</a:t>
            </a:r>
          </a:p>
          <a:p>
            <a:pPr marL="342900" indent="-342900" eaLnBrk="1" latinLnBrk="0" hangingPunct="1">
              <a:lnSpc>
                <a:spcPct val="125000"/>
              </a:lnSpc>
            </a:pPr>
            <a:r>
              <a:rPr lang="en-US" altLang="zh-CN" sz="2000" dirty="0">
                <a:solidFill>
                  <a:srgbClr val="FF3300"/>
                </a:solidFill>
                <a:latin typeface="微软雅黑" panose="020B0503020204020204" pitchFamily="34" charset="-122"/>
                <a:ea typeface="微软雅黑" panose="020B0503020204020204" pitchFamily="34" charset="-122"/>
                <a:sym typeface="+mn-ea"/>
              </a:rPr>
              <a:t>WHERE A.prj_num =B.prj_num   </a:t>
            </a:r>
          </a:p>
        </p:txBody>
      </p:sp>
      <p:sp>
        <p:nvSpPr>
          <p:cNvPr id="16" name="文本框 15"/>
          <p:cNvSpPr txBox="1"/>
          <p:nvPr/>
        </p:nvSpPr>
        <p:spPr>
          <a:xfrm>
            <a:off x="5017770" y="1175385"/>
            <a:ext cx="7033895" cy="475615"/>
          </a:xfrm>
          <a:prstGeom prst="rect">
            <a:avLst/>
          </a:prstGeom>
          <a:noFill/>
        </p:spPr>
        <p:txBody>
          <a:bodyPr wrap="square" rtlCol="0" anchor="t">
            <a:spAutoFit/>
          </a:bodyPr>
          <a:lstStyle/>
          <a:p>
            <a:pPr marL="342900" indent="-342900" eaLnBrk="1" latinLnBrk="0" hangingPunct="1">
              <a:lnSpc>
                <a:spcPct val="125000"/>
              </a:lnSpc>
            </a:pPr>
            <a:r>
              <a:rPr lang="en-US" altLang="zh-CN" sz="2000" dirty="0">
                <a:solidFill>
                  <a:srgbClr val="FF3300"/>
                </a:solidFill>
                <a:latin typeface="微软雅黑" panose="020B0503020204020204" pitchFamily="34" charset="-122"/>
                <a:ea typeface="微软雅黑" panose="020B0503020204020204" pitchFamily="34" charset="-122"/>
                <a:sym typeface="+mn-ea"/>
              </a:rPr>
              <a:t> A.mat_num='m001' AND B.mat_num='m002'; </a:t>
            </a:r>
          </a:p>
        </p:txBody>
      </p:sp>
      <p:sp>
        <p:nvSpPr>
          <p:cNvPr id="17" name="椭圆 16"/>
          <p:cNvSpPr/>
          <p:nvPr/>
        </p:nvSpPr>
        <p:spPr>
          <a:xfrm>
            <a:off x="1934210" y="2015490"/>
            <a:ext cx="735330" cy="4356100"/>
          </a:xfrm>
          <a:prstGeom prst="ellipse">
            <a:avLst/>
          </a:prstGeom>
          <a:noFill/>
          <a:ln>
            <a:gradFill>
              <a:gsLst>
                <a:gs pos="0">
                  <a:srgbClr val="7B32B2"/>
                </a:gs>
                <a:gs pos="100000">
                  <a:srgbClr val="401A5D"/>
                </a:gs>
              </a:gsLst>
            </a:gra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6423025" y="1840230"/>
            <a:ext cx="735330" cy="4356100"/>
          </a:xfrm>
          <a:prstGeom prst="ellipse">
            <a:avLst/>
          </a:prstGeom>
          <a:noFill/>
          <a:ln>
            <a:gradFill>
              <a:gsLst>
                <a:gs pos="0">
                  <a:srgbClr val="7B32B2"/>
                </a:gs>
                <a:gs pos="100000">
                  <a:srgbClr val="401A5D"/>
                </a:gs>
              </a:gsLst>
            </a:gra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805815" y="2861310"/>
            <a:ext cx="10129520" cy="328295"/>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edge">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amond(in)">
                                      <p:cBhvr>
                                        <p:cTn id="12" dur="2000"/>
                                        <p:tgtEl>
                                          <p:spTgt spid="8"/>
                                        </p:tgtEl>
                                      </p:cBhvr>
                                    </p:animEffect>
                                  </p:childTnLst>
                                </p:cTn>
                              </p:par>
                              <p:par>
                                <p:cTn id="13" presetID="8" presetClass="entr" presetSubtype="16"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diamond(in)">
                                      <p:cBhvr>
                                        <p:cTn id="15" dur="2000"/>
                                        <p:tgtEl>
                                          <p:spTgt spid="10"/>
                                        </p:tgtEl>
                                      </p:cBhvr>
                                    </p:animEffect>
                                  </p:childTnLst>
                                </p:cTn>
                              </p:par>
                              <p:par>
                                <p:cTn id="16" presetID="8" presetClass="entr" presetSubtype="16"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diamond(in)">
                                      <p:cBhvr>
                                        <p:cTn id="18" dur="2000"/>
                                        <p:tgtEl>
                                          <p:spTgt spid="11"/>
                                        </p:tgtEl>
                                      </p:cBhvr>
                                    </p:animEffect>
                                  </p:childTnLst>
                                </p:cTn>
                              </p:par>
                              <p:par>
                                <p:cTn id="19" presetID="8" presetClass="entr" presetSubtype="16"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diamond(in)">
                                      <p:cBhvr>
                                        <p:cTn id="21" dur="2000"/>
                                        <p:tgtEl>
                                          <p:spTgt spid="14"/>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blinds(horizontal)">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box(in)">
                                      <p:cBhvr>
                                        <p:cTn id="31" dur="2000"/>
                                        <p:tgtEl>
                                          <p:spTgt spid="17"/>
                                        </p:tgtEl>
                                      </p:cBhvr>
                                    </p:animEffect>
                                  </p:childTnLst>
                                </p:cTn>
                              </p:par>
                              <p:par>
                                <p:cTn id="32" presetID="4" presetClass="entr" presetSubtype="16"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box(in)">
                                      <p:cBhvr>
                                        <p:cTn id="34" dur="20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8" presetClass="entr" presetSubtype="12"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strips(downLeft)">
                                      <p:cBhvr>
                                        <p:cTn id="3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p:bldP spid="14" grpId="0"/>
      <p:bldP spid="16" grpId="0"/>
      <p:bldP spid="16" grpId="1"/>
      <p:bldP spid="17" grpId="0" animBg="1"/>
      <p:bldP spid="17" grpId="1" animBg="1"/>
      <p:bldP spid="18" grpId="0" animBg="1"/>
      <p:bldP spid="18" grpId="1" animBg="1"/>
      <p:bldP spid="19" grpId="0" animBg="1"/>
      <p:bldP spid="19"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bwMode="auto">
          <a:xfrm>
            <a:off x="1828800" y="304800"/>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3200" b="1">
                <a:solidFill>
                  <a:srgbClr val="0000FF"/>
                </a:solidFill>
              </a:rPr>
              <a:t>3.3.2 </a:t>
            </a:r>
            <a:r>
              <a:rPr lang="zh-CN" altLang="en-US" sz="3200" b="1">
                <a:solidFill>
                  <a:srgbClr val="0000FF"/>
                </a:solidFill>
              </a:rPr>
              <a:t>连接查询－练习</a:t>
            </a:r>
          </a:p>
        </p:txBody>
      </p:sp>
      <p:sp>
        <p:nvSpPr>
          <p:cNvPr id="98307" name="Rectangle 3"/>
          <p:cNvSpPr>
            <a:spLocks noGrp="1" noChangeArrowheads="1"/>
          </p:cNvSpPr>
          <p:nvPr>
            <p:ph type="body" idx="1"/>
          </p:nvPr>
        </p:nvSpPr>
        <p:spPr bwMode="auto">
          <a:xfrm>
            <a:off x="1905000" y="1295400"/>
            <a:ext cx="86106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50000"/>
              </a:spcBef>
              <a:buFontTx/>
              <a:buNone/>
            </a:pPr>
            <a:r>
              <a:rPr lang="zh-CN" altLang="en-US" sz="3600" b="1">
                <a:solidFill>
                  <a:srgbClr val="000066"/>
                </a:solidFill>
                <a:latin typeface="Times New Roman" panose="02020603050405020304" pitchFamily="18" charset="0"/>
                <a:ea typeface="楷体_GB2312" pitchFamily="49" charset="-122"/>
              </a:rPr>
              <a:t>练习：</a:t>
            </a:r>
            <a:r>
              <a:rPr lang="en-US" altLang="zh-CN" sz="3600" b="1">
                <a:solidFill>
                  <a:srgbClr val="000066"/>
                </a:solidFill>
                <a:latin typeface="Times New Roman" panose="02020603050405020304" pitchFamily="18" charset="0"/>
                <a:ea typeface="楷体_GB2312" pitchFamily="49" charset="-122"/>
              </a:rPr>
              <a:t>4</a:t>
            </a:r>
            <a:r>
              <a:rPr lang="zh-CN" altLang="en-US" sz="3600" b="1">
                <a:solidFill>
                  <a:srgbClr val="000066"/>
                </a:solidFill>
                <a:latin typeface="Times New Roman" panose="02020603050405020304" pitchFamily="18" charset="0"/>
                <a:ea typeface="楷体_GB2312" pitchFamily="49" charset="-122"/>
              </a:rPr>
              <a:t>个表</a:t>
            </a:r>
            <a:r>
              <a:rPr lang="en-US" altLang="zh-CN" sz="3600" b="1">
                <a:solidFill>
                  <a:srgbClr val="000066"/>
                </a:solidFill>
                <a:latin typeface="Times New Roman" panose="02020603050405020304" pitchFamily="18" charset="0"/>
                <a:ea typeface="楷体_GB2312" pitchFamily="49" charset="-122"/>
              </a:rPr>
              <a:t>:</a:t>
            </a:r>
          </a:p>
          <a:p>
            <a:pPr eaLnBrk="1" hangingPunct="1">
              <a:spcBef>
                <a:spcPct val="50000"/>
              </a:spcBef>
              <a:buFontTx/>
              <a:buNone/>
            </a:pPr>
            <a:r>
              <a:rPr lang="en-US" altLang="zh-CN" b="1">
                <a:solidFill>
                  <a:srgbClr val="000066"/>
                </a:solidFill>
                <a:latin typeface="Times New Roman" panose="02020603050405020304" pitchFamily="18" charset="0"/>
                <a:ea typeface="楷体_GB2312" pitchFamily="49" charset="-122"/>
              </a:rPr>
              <a:t>  Student(</a:t>
            </a:r>
            <a:r>
              <a:rPr lang="en-US" altLang="zh-CN" b="1" u="sng">
                <a:solidFill>
                  <a:srgbClr val="000066"/>
                </a:solidFill>
                <a:latin typeface="Times New Roman" panose="02020603050405020304" pitchFamily="18" charset="0"/>
                <a:ea typeface="楷体_GB2312" pitchFamily="49" charset="-122"/>
              </a:rPr>
              <a:t>Sno</a:t>
            </a:r>
            <a:r>
              <a:rPr lang="en-US" altLang="zh-CN" b="1">
                <a:solidFill>
                  <a:srgbClr val="000066"/>
                </a:solidFill>
                <a:latin typeface="Times New Roman" panose="02020603050405020304" pitchFamily="18" charset="0"/>
                <a:ea typeface="楷体_GB2312" pitchFamily="49" charset="-122"/>
              </a:rPr>
              <a:t> , Sname , Ssex , Sage , Sclass)</a:t>
            </a:r>
          </a:p>
          <a:p>
            <a:pPr eaLnBrk="1" hangingPunct="1">
              <a:spcBef>
                <a:spcPct val="50000"/>
              </a:spcBef>
              <a:buFontTx/>
              <a:buNone/>
            </a:pPr>
            <a:r>
              <a:rPr lang="en-US" altLang="zh-CN" b="1">
                <a:solidFill>
                  <a:srgbClr val="000066"/>
                </a:solidFill>
                <a:latin typeface="Times New Roman" panose="02020603050405020304" pitchFamily="18" charset="0"/>
                <a:ea typeface="楷体_GB2312" pitchFamily="49" charset="-122"/>
              </a:rPr>
              <a:t>  Teacher(</a:t>
            </a:r>
            <a:r>
              <a:rPr lang="en-US" altLang="zh-CN" b="1" u="sng">
                <a:solidFill>
                  <a:srgbClr val="000066"/>
                </a:solidFill>
                <a:latin typeface="Times New Roman" panose="02020603050405020304" pitchFamily="18" charset="0"/>
                <a:ea typeface="楷体_GB2312" pitchFamily="49" charset="-122"/>
              </a:rPr>
              <a:t>Tno</a:t>
            </a:r>
            <a:r>
              <a:rPr lang="en-US" altLang="zh-CN" b="1">
                <a:solidFill>
                  <a:srgbClr val="000066"/>
                </a:solidFill>
                <a:latin typeface="Times New Roman" panose="02020603050405020304" pitchFamily="18" charset="0"/>
                <a:ea typeface="楷体_GB2312" pitchFamily="49" charset="-122"/>
              </a:rPr>
              <a:t>,Tname,Tsex,Tage, Tprof, Tdept)</a:t>
            </a:r>
          </a:p>
          <a:p>
            <a:pPr eaLnBrk="1" hangingPunct="1">
              <a:spcBef>
                <a:spcPct val="50000"/>
              </a:spcBef>
              <a:buFontTx/>
              <a:buNone/>
            </a:pPr>
            <a:r>
              <a:rPr lang="en-US" altLang="zh-CN" b="1">
                <a:solidFill>
                  <a:srgbClr val="000066"/>
                </a:solidFill>
                <a:latin typeface="Times New Roman" panose="02020603050405020304" pitchFamily="18" charset="0"/>
                <a:ea typeface="楷体_GB2312" pitchFamily="49" charset="-122"/>
              </a:rPr>
              <a:t>  Course(</a:t>
            </a:r>
            <a:r>
              <a:rPr lang="en-US" altLang="zh-CN" b="1" u="sng">
                <a:solidFill>
                  <a:srgbClr val="000066"/>
                </a:solidFill>
                <a:latin typeface="Times New Roman" panose="02020603050405020304" pitchFamily="18" charset="0"/>
                <a:ea typeface="楷体_GB2312" pitchFamily="49" charset="-122"/>
              </a:rPr>
              <a:t>Cno</a:t>
            </a:r>
            <a:r>
              <a:rPr lang="en-US" altLang="zh-CN" b="1">
                <a:solidFill>
                  <a:srgbClr val="000066"/>
                </a:solidFill>
                <a:latin typeface="Times New Roman" panose="02020603050405020304" pitchFamily="18" charset="0"/>
                <a:ea typeface="楷体_GB2312" pitchFamily="49" charset="-122"/>
              </a:rPr>
              <a:t> , Cname ,Tno)</a:t>
            </a:r>
          </a:p>
          <a:p>
            <a:pPr eaLnBrk="1" hangingPunct="1">
              <a:spcBef>
                <a:spcPct val="50000"/>
              </a:spcBef>
              <a:buFontTx/>
              <a:buNone/>
            </a:pPr>
            <a:r>
              <a:rPr lang="en-US" altLang="zh-CN" b="1">
                <a:solidFill>
                  <a:srgbClr val="000066"/>
                </a:solidFill>
                <a:latin typeface="Times New Roman" panose="02020603050405020304" pitchFamily="18" charset="0"/>
                <a:ea typeface="楷体_GB2312" pitchFamily="49" charset="-122"/>
              </a:rPr>
              <a:t>  SC(</a:t>
            </a:r>
            <a:r>
              <a:rPr lang="en-US" altLang="zh-CN" b="1" u="sng">
                <a:solidFill>
                  <a:srgbClr val="000066"/>
                </a:solidFill>
                <a:latin typeface="Times New Roman" panose="02020603050405020304" pitchFamily="18" charset="0"/>
                <a:ea typeface="楷体_GB2312" pitchFamily="49" charset="-122"/>
              </a:rPr>
              <a:t>Sno , Cno </a:t>
            </a:r>
            <a:r>
              <a:rPr lang="en-US" altLang="zh-CN" b="1">
                <a:solidFill>
                  <a:srgbClr val="000066"/>
                </a:solidFill>
                <a:latin typeface="Times New Roman" panose="02020603050405020304" pitchFamily="18" charset="0"/>
                <a:ea typeface="楷体_GB2312" pitchFamily="49" charset="-122"/>
              </a:rPr>
              <a:t>, Grade)</a:t>
            </a:r>
            <a:endParaRPr lang="en-US" altLang="zh-CN">
              <a:solidFill>
                <a:srgbClr val="000066"/>
              </a:solidFill>
            </a:endParaRPr>
          </a:p>
        </p:txBody>
      </p:sp>
    </p:spTree>
    <p:extLst>
      <p:ext uri="{BB962C8B-B14F-4D97-AF65-F5344CB8AC3E}">
        <p14:creationId xmlns:p14="http://schemas.microsoft.com/office/powerpoint/2010/main" val="310460915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bwMode="auto">
          <a:xfrm>
            <a:off x="1905000" y="304800"/>
            <a:ext cx="7772400" cy="533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3200" b="1">
                <a:solidFill>
                  <a:srgbClr val="000066"/>
                </a:solidFill>
              </a:rPr>
              <a:t>3.3.2 </a:t>
            </a:r>
            <a:r>
              <a:rPr lang="zh-CN" altLang="en-US" sz="3200" b="1">
                <a:solidFill>
                  <a:srgbClr val="000066"/>
                </a:solidFill>
              </a:rPr>
              <a:t>连接查询－练习</a:t>
            </a:r>
          </a:p>
        </p:txBody>
      </p:sp>
      <p:sp>
        <p:nvSpPr>
          <p:cNvPr id="99331" name="Rectangle 3"/>
          <p:cNvSpPr>
            <a:spLocks noGrp="1" noChangeArrowheads="1"/>
          </p:cNvSpPr>
          <p:nvPr>
            <p:ph type="body" idx="1"/>
          </p:nvPr>
        </p:nvSpPr>
        <p:spPr bwMode="auto">
          <a:xfrm>
            <a:off x="1981200" y="1143000"/>
            <a:ext cx="8229600" cy="533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Clr>
                <a:schemeClr val="accent1"/>
              </a:buClr>
              <a:buFontTx/>
              <a:buNone/>
            </a:pPr>
            <a:r>
              <a:rPr kumimoji="1" lang="en-US" altLang="zh-CN" b="1">
                <a:solidFill>
                  <a:srgbClr val="0000FF"/>
                </a:solidFill>
                <a:latin typeface="Tahoma" panose="020B0604030504040204" pitchFamily="34" charset="0"/>
              </a:rPr>
              <a:t>1. </a:t>
            </a:r>
            <a:r>
              <a:rPr kumimoji="1" lang="zh-CN" altLang="en-US" b="1">
                <a:solidFill>
                  <a:srgbClr val="0000FF"/>
                </a:solidFill>
                <a:latin typeface="Tahoma" panose="020B0604030504040204" pitchFamily="34" charset="0"/>
              </a:rPr>
              <a:t>查询所有选课学生的姓名、课程号和成绩。</a:t>
            </a:r>
            <a:endParaRPr kumimoji="1" lang="zh-CN" altLang="en-US" b="1">
              <a:solidFill>
                <a:srgbClr val="0000FF"/>
              </a:solidFill>
              <a:latin typeface="Times New Roman" panose="02020603050405020304" pitchFamily="18" charset="0"/>
            </a:endParaRPr>
          </a:p>
        </p:txBody>
      </p:sp>
      <p:sp>
        <p:nvSpPr>
          <p:cNvPr id="99332" name="Rectangle 4"/>
          <p:cNvSpPr>
            <a:spLocks noChangeArrowheads="1"/>
          </p:cNvSpPr>
          <p:nvPr/>
        </p:nvSpPr>
        <p:spPr bwMode="auto">
          <a:xfrm>
            <a:off x="1905000" y="3352800"/>
            <a:ext cx="8763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spcBef>
                <a:spcPct val="20000"/>
              </a:spcBef>
              <a:buClr>
                <a:schemeClr val="accent1"/>
              </a:buClr>
            </a:pPr>
            <a:r>
              <a:rPr kumimoji="1" lang="en-US" altLang="zh-CN" sz="2800" b="1">
                <a:solidFill>
                  <a:srgbClr val="0000FF"/>
                </a:solidFill>
                <a:latin typeface="Tahoma" panose="020B0604030504040204" pitchFamily="34" charset="0"/>
                <a:ea typeface="宋体" panose="02010600030101010101" pitchFamily="2" charset="-122"/>
              </a:rPr>
              <a:t>2. </a:t>
            </a:r>
            <a:r>
              <a:rPr kumimoji="1" lang="zh-CN" altLang="en-US" sz="2800" b="1">
                <a:solidFill>
                  <a:srgbClr val="0000FF"/>
                </a:solidFill>
                <a:latin typeface="Tahoma" panose="020B0604030504040204" pitchFamily="34" charset="0"/>
                <a:ea typeface="宋体" panose="02010600030101010101" pitchFamily="2" charset="-122"/>
              </a:rPr>
              <a:t>查询</a:t>
            </a:r>
            <a:r>
              <a:rPr kumimoji="1" lang="en-US" altLang="zh-CN" sz="2800" b="1">
                <a:solidFill>
                  <a:srgbClr val="0000FF"/>
                </a:solidFill>
                <a:latin typeface="Tahoma" panose="020B0604030504040204" pitchFamily="34" charset="0"/>
                <a:ea typeface="宋体" panose="02010600030101010101" pitchFamily="2" charset="-122"/>
              </a:rPr>
              <a:t>95033</a:t>
            </a:r>
            <a:r>
              <a:rPr kumimoji="1" lang="zh-CN" altLang="en-US" sz="2800" b="1">
                <a:solidFill>
                  <a:srgbClr val="0000FF"/>
                </a:solidFill>
                <a:latin typeface="Tahoma" panose="020B0604030504040204" pitchFamily="34" charset="0"/>
                <a:ea typeface="宋体" panose="02010600030101010101" pitchFamily="2" charset="-122"/>
              </a:rPr>
              <a:t>班同学所选各门课程的课号及平均分。</a:t>
            </a:r>
            <a:endParaRPr kumimoji="1" lang="zh-CN" altLang="en-US" sz="2800" b="1">
              <a:solidFill>
                <a:srgbClr val="0000FF"/>
              </a:solidFill>
              <a:latin typeface="Times New Roman" panose="02020603050405020304" pitchFamily="18" charset="0"/>
              <a:ea typeface="宋体" panose="02010600030101010101" pitchFamily="2" charset="-122"/>
            </a:endParaRPr>
          </a:p>
        </p:txBody>
      </p:sp>
      <p:sp>
        <p:nvSpPr>
          <p:cNvPr id="248837" name="Rectangle 5"/>
          <p:cNvSpPr>
            <a:spLocks noChangeArrowheads="1"/>
          </p:cNvSpPr>
          <p:nvPr/>
        </p:nvSpPr>
        <p:spPr bwMode="auto">
          <a:xfrm>
            <a:off x="1905000" y="1676400"/>
            <a:ext cx="85344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spcBef>
                <a:spcPct val="20000"/>
              </a:spcBef>
              <a:buClr>
                <a:schemeClr val="accent1"/>
              </a:buClr>
            </a:pPr>
            <a:r>
              <a:rPr kumimoji="1" lang="en-US" altLang="zh-CN" sz="2800" b="1" dirty="0">
                <a:solidFill>
                  <a:srgbClr val="CC3300"/>
                </a:solidFill>
                <a:latin typeface="Tahoma" panose="020B0604030504040204" pitchFamily="34" charset="0"/>
                <a:ea typeface="宋体" panose="02010600030101010101" pitchFamily="2" charset="-122"/>
              </a:rPr>
              <a:t>Select  </a:t>
            </a:r>
            <a:r>
              <a:rPr kumimoji="1" lang="en-US" altLang="zh-CN" sz="2800" b="1" dirty="0" err="1">
                <a:solidFill>
                  <a:srgbClr val="CC3300"/>
                </a:solidFill>
                <a:latin typeface="Tahoma" panose="020B0604030504040204" pitchFamily="34" charset="0"/>
                <a:ea typeface="宋体" panose="02010600030101010101" pitchFamily="2" charset="-122"/>
              </a:rPr>
              <a:t>Sname</a:t>
            </a:r>
            <a:r>
              <a:rPr kumimoji="1" lang="en-US" altLang="zh-CN" sz="2800" b="1" dirty="0">
                <a:solidFill>
                  <a:srgbClr val="CC3300"/>
                </a:solidFill>
                <a:latin typeface="Tahoma" panose="020B0604030504040204" pitchFamily="34" charset="0"/>
                <a:ea typeface="宋体" panose="02010600030101010101" pitchFamily="2" charset="-122"/>
              </a:rPr>
              <a:t>, </a:t>
            </a:r>
            <a:r>
              <a:rPr kumimoji="1" lang="en-US" altLang="zh-CN" sz="2800" b="1" dirty="0" err="1">
                <a:solidFill>
                  <a:srgbClr val="CC3300"/>
                </a:solidFill>
                <a:latin typeface="Tahoma" panose="020B0604030504040204" pitchFamily="34" charset="0"/>
                <a:ea typeface="宋体" panose="02010600030101010101" pitchFamily="2" charset="-122"/>
              </a:rPr>
              <a:t>Cno</a:t>
            </a:r>
            <a:r>
              <a:rPr kumimoji="1" lang="en-US" altLang="zh-CN" sz="2800" b="1" dirty="0">
                <a:solidFill>
                  <a:srgbClr val="CC3300"/>
                </a:solidFill>
                <a:latin typeface="Tahoma" panose="020B0604030504040204" pitchFamily="34" charset="0"/>
                <a:ea typeface="宋体" panose="02010600030101010101" pitchFamily="2" charset="-122"/>
              </a:rPr>
              <a:t>, Grade</a:t>
            </a:r>
          </a:p>
          <a:p>
            <a:pPr eaLnBrk="1" hangingPunct="1">
              <a:spcBef>
                <a:spcPct val="20000"/>
              </a:spcBef>
              <a:buClr>
                <a:schemeClr val="accent1"/>
              </a:buClr>
            </a:pPr>
            <a:r>
              <a:rPr kumimoji="1" lang="en-US" altLang="zh-CN" sz="2800" b="1" dirty="0">
                <a:solidFill>
                  <a:srgbClr val="CC3300"/>
                </a:solidFill>
                <a:latin typeface="Tahoma" panose="020B0604030504040204" pitchFamily="34" charset="0"/>
                <a:ea typeface="宋体" panose="02010600030101010101" pitchFamily="2" charset="-122"/>
              </a:rPr>
              <a:t>From  Student join SC</a:t>
            </a:r>
          </a:p>
          <a:p>
            <a:pPr eaLnBrk="1" hangingPunct="1">
              <a:spcBef>
                <a:spcPct val="20000"/>
              </a:spcBef>
              <a:buClr>
                <a:schemeClr val="accent1"/>
              </a:buClr>
            </a:pPr>
            <a:r>
              <a:rPr kumimoji="1" lang="en-US" altLang="zh-CN" sz="2800" b="1" dirty="0">
                <a:solidFill>
                  <a:srgbClr val="CC3300"/>
                </a:solidFill>
                <a:latin typeface="Tahoma" panose="020B0604030504040204" pitchFamily="34" charset="0"/>
                <a:ea typeface="宋体" panose="02010600030101010101" pitchFamily="2" charset="-122"/>
              </a:rPr>
              <a:t>on </a:t>
            </a:r>
            <a:r>
              <a:rPr kumimoji="1" lang="en-US" altLang="zh-CN" sz="2800" b="1" dirty="0" err="1">
                <a:solidFill>
                  <a:srgbClr val="CC3300"/>
                </a:solidFill>
                <a:latin typeface="Tahoma" panose="020B0604030504040204" pitchFamily="34" charset="0"/>
                <a:ea typeface="宋体" panose="02010600030101010101" pitchFamily="2" charset="-122"/>
              </a:rPr>
              <a:t>Student.Sno</a:t>
            </a:r>
            <a:r>
              <a:rPr kumimoji="1" lang="en-US" altLang="zh-CN" sz="2800" b="1" dirty="0">
                <a:solidFill>
                  <a:srgbClr val="CC3300"/>
                </a:solidFill>
                <a:latin typeface="Tahoma" panose="020B0604030504040204" pitchFamily="34" charset="0"/>
                <a:ea typeface="宋体" panose="02010600030101010101" pitchFamily="2" charset="-122"/>
              </a:rPr>
              <a:t>=</a:t>
            </a:r>
            <a:r>
              <a:rPr kumimoji="1" lang="en-US" altLang="zh-CN" sz="2800" b="1" dirty="0" err="1">
                <a:solidFill>
                  <a:srgbClr val="CC3300"/>
                </a:solidFill>
                <a:latin typeface="Tahoma" panose="020B0604030504040204" pitchFamily="34" charset="0"/>
                <a:ea typeface="宋体" panose="02010600030101010101" pitchFamily="2" charset="-122"/>
              </a:rPr>
              <a:t>SC.Sno</a:t>
            </a:r>
            <a:r>
              <a:rPr kumimoji="1" lang="en-US" altLang="zh-CN" sz="2800" b="1" dirty="0">
                <a:solidFill>
                  <a:srgbClr val="CC3300"/>
                </a:solidFill>
                <a:latin typeface="Tahoma" panose="020B0604030504040204" pitchFamily="34" charset="0"/>
                <a:ea typeface="宋体" panose="02010600030101010101" pitchFamily="2" charset="-122"/>
              </a:rPr>
              <a:t>;</a:t>
            </a:r>
          </a:p>
        </p:txBody>
      </p:sp>
      <p:sp>
        <p:nvSpPr>
          <p:cNvPr id="248838" name="Rectangle 6"/>
          <p:cNvSpPr>
            <a:spLocks noChangeArrowheads="1"/>
          </p:cNvSpPr>
          <p:nvPr/>
        </p:nvSpPr>
        <p:spPr bwMode="auto">
          <a:xfrm>
            <a:off x="1828800" y="3886200"/>
            <a:ext cx="93726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spcBef>
                <a:spcPct val="20000"/>
              </a:spcBef>
              <a:buClr>
                <a:schemeClr val="accent1"/>
              </a:buClr>
            </a:pPr>
            <a:r>
              <a:rPr kumimoji="1" lang="en-US" altLang="zh-CN" sz="2800" b="1" dirty="0">
                <a:solidFill>
                  <a:srgbClr val="CC3300"/>
                </a:solidFill>
                <a:latin typeface="Tahoma" panose="020B0604030504040204" pitchFamily="34" charset="0"/>
                <a:ea typeface="宋体" panose="02010600030101010101" pitchFamily="2" charset="-122"/>
              </a:rPr>
              <a:t>Select </a:t>
            </a:r>
            <a:r>
              <a:rPr kumimoji="1" lang="en-US" altLang="zh-CN" sz="2800" b="1" dirty="0" err="1">
                <a:solidFill>
                  <a:srgbClr val="CC3300"/>
                </a:solidFill>
                <a:latin typeface="Tahoma" panose="020B0604030504040204" pitchFamily="34" charset="0"/>
                <a:ea typeface="宋体" panose="02010600030101010101" pitchFamily="2" charset="-122"/>
              </a:rPr>
              <a:t>Cno</a:t>
            </a:r>
            <a:r>
              <a:rPr kumimoji="1" lang="en-US" altLang="zh-CN" sz="2800" b="1" dirty="0">
                <a:solidFill>
                  <a:srgbClr val="CC3300"/>
                </a:solidFill>
                <a:latin typeface="Tahoma" panose="020B0604030504040204" pitchFamily="34" charset="0"/>
                <a:ea typeface="宋体" panose="02010600030101010101" pitchFamily="2" charset="-122"/>
              </a:rPr>
              <a:t>, AVG(Grade)</a:t>
            </a:r>
          </a:p>
          <a:p>
            <a:pPr eaLnBrk="1" hangingPunct="1">
              <a:spcBef>
                <a:spcPct val="20000"/>
              </a:spcBef>
              <a:buClr>
                <a:schemeClr val="accent1"/>
              </a:buClr>
            </a:pPr>
            <a:r>
              <a:rPr kumimoji="1" lang="en-US" altLang="zh-CN" sz="2800" b="1" dirty="0">
                <a:solidFill>
                  <a:srgbClr val="CC3300"/>
                </a:solidFill>
                <a:latin typeface="Tahoma" panose="020B0604030504040204" pitchFamily="34" charset="0"/>
                <a:ea typeface="宋体" panose="02010600030101010101" pitchFamily="2" charset="-122"/>
              </a:rPr>
              <a:t>From   Student join SC on </a:t>
            </a:r>
            <a:r>
              <a:rPr kumimoji="1" lang="en-US" altLang="zh-CN" sz="2800" b="1" dirty="0" err="1">
                <a:solidFill>
                  <a:srgbClr val="CC3300"/>
                </a:solidFill>
                <a:latin typeface="Tahoma" panose="020B0604030504040204" pitchFamily="34" charset="0"/>
                <a:ea typeface="宋体" panose="02010600030101010101" pitchFamily="2" charset="-122"/>
              </a:rPr>
              <a:t>Student.Sno</a:t>
            </a:r>
            <a:r>
              <a:rPr kumimoji="1" lang="en-US" altLang="zh-CN" sz="2800" b="1" dirty="0">
                <a:solidFill>
                  <a:srgbClr val="CC3300"/>
                </a:solidFill>
                <a:latin typeface="Tahoma" panose="020B0604030504040204" pitchFamily="34" charset="0"/>
                <a:ea typeface="宋体" panose="02010600030101010101" pitchFamily="2" charset="-122"/>
              </a:rPr>
              <a:t>=</a:t>
            </a:r>
            <a:r>
              <a:rPr kumimoji="1" lang="en-US" altLang="zh-CN" sz="2800" b="1" dirty="0" err="1">
                <a:solidFill>
                  <a:srgbClr val="CC3300"/>
                </a:solidFill>
                <a:latin typeface="Tahoma" panose="020B0604030504040204" pitchFamily="34" charset="0"/>
                <a:ea typeface="宋体" panose="02010600030101010101" pitchFamily="2" charset="-122"/>
              </a:rPr>
              <a:t>SC.Sno</a:t>
            </a:r>
            <a:endParaRPr kumimoji="1" lang="en-US" altLang="zh-CN" sz="2800" b="1" dirty="0">
              <a:solidFill>
                <a:srgbClr val="CC3300"/>
              </a:solidFill>
              <a:latin typeface="Tahoma" panose="020B0604030504040204" pitchFamily="34" charset="0"/>
              <a:ea typeface="宋体" panose="02010600030101010101" pitchFamily="2" charset="-122"/>
            </a:endParaRPr>
          </a:p>
          <a:p>
            <a:pPr eaLnBrk="1" hangingPunct="1">
              <a:spcBef>
                <a:spcPct val="20000"/>
              </a:spcBef>
              <a:buClr>
                <a:schemeClr val="accent1"/>
              </a:buClr>
            </a:pPr>
            <a:r>
              <a:rPr kumimoji="1" lang="en-US" altLang="zh-CN" sz="2800" b="1" dirty="0">
                <a:solidFill>
                  <a:srgbClr val="CC3300"/>
                </a:solidFill>
                <a:latin typeface="Tahoma" panose="020B0604030504040204" pitchFamily="34" charset="0"/>
                <a:ea typeface="宋体" panose="02010600030101010101" pitchFamily="2" charset="-122"/>
              </a:rPr>
              <a:t>Where </a:t>
            </a:r>
            <a:r>
              <a:rPr kumimoji="1" lang="en-US" altLang="zh-CN" sz="2800" b="1" dirty="0" err="1">
                <a:solidFill>
                  <a:srgbClr val="CC3300"/>
                </a:solidFill>
                <a:latin typeface="Tahoma" panose="020B0604030504040204" pitchFamily="34" charset="0"/>
                <a:ea typeface="宋体" panose="02010600030101010101" pitchFamily="2" charset="-122"/>
              </a:rPr>
              <a:t>Sclass</a:t>
            </a:r>
            <a:r>
              <a:rPr kumimoji="1" lang="en-US" altLang="zh-CN" sz="2800" b="1" dirty="0">
                <a:solidFill>
                  <a:srgbClr val="CC3300"/>
                </a:solidFill>
                <a:latin typeface="Tahoma" panose="020B0604030504040204" pitchFamily="34" charset="0"/>
                <a:ea typeface="宋体" panose="02010600030101010101" pitchFamily="2" charset="-122"/>
              </a:rPr>
              <a:t>='95033' GROUP BY </a:t>
            </a:r>
            <a:r>
              <a:rPr kumimoji="1" lang="en-US" altLang="zh-CN" sz="2800" b="1" dirty="0" err="1">
                <a:solidFill>
                  <a:srgbClr val="CC3300"/>
                </a:solidFill>
                <a:latin typeface="Tahoma" panose="020B0604030504040204" pitchFamily="34" charset="0"/>
                <a:ea typeface="宋体" panose="02010600030101010101" pitchFamily="2" charset="-122"/>
              </a:rPr>
              <a:t>Cno</a:t>
            </a:r>
            <a:r>
              <a:rPr kumimoji="1" lang="en-US" altLang="zh-CN" sz="2800" b="1" dirty="0">
                <a:solidFill>
                  <a:srgbClr val="CC3300"/>
                </a:solidFill>
                <a:latin typeface="Tahoma" panose="020B0604030504040204" pitchFamily="34" charset="0"/>
                <a:ea typeface="宋体" panose="02010600030101010101" pitchFamily="2" charset="-122"/>
              </a:rPr>
              <a:t>;</a:t>
            </a:r>
          </a:p>
        </p:txBody>
      </p:sp>
    </p:spTree>
    <p:extLst>
      <p:ext uri="{BB962C8B-B14F-4D97-AF65-F5344CB8AC3E}">
        <p14:creationId xmlns:p14="http://schemas.microsoft.com/office/powerpoint/2010/main" val="164624826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248837"/>
                                        </p:tgtEl>
                                        <p:attrNameLst>
                                          <p:attrName>style.visibility</p:attrName>
                                        </p:attrNameLst>
                                      </p:cBhvr>
                                      <p:to>
                                        <p:strVal val="visible"/>
                                      </p:to>
                                    </p:set>
                                    <p:anim calcmode="lin" valueType="num">
                                      <p:cBhvr>
                                        <p:cTn id="7" dur="500" fill="hold"/>
                                        <p:tgtEl>
                                          <p:spTgt spid="248837"/>
                                        </p:tgtEl>
                                        <p:attrNameLst>
                                          <p:attrName>ppt_w</p:attrName>
                                        </p:attrNameLst>
                                      </p:cBhvr>
                                      <p:tavLst>
                                        <p:tav tm="0">
                                          <p:val>
                                            <p:fltVal val="0"/>
                                          </p:val>
                                        </p:tav>
                                        <p:tav tm="100000">
                                          <p:val>
                                            <p:strVal val="#ppt_w"/>
                                          </p:val>
                                        </p:tav>
                                      </p:tavLst>
                                    </p:anim>
                                    <p:anim calcmode="lin" valueType="num">
                                      <p:cBhvr>
                                        <p:cTn id="8" dur="500" fill="hold"/>
                                        <p:tgtEl>
                                          <p:spTgt spid="248837"/>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248838"/>
                                        </p:tgtEl>
                                        <p:attrNameLst>
                                          <p:attrName>style.visibility</p:attrName>
                                        </p:attrNameLst>
                                      </p:cBhvr>
                                      <p:to>
                                        <p:strVal val="visible"/>
                                      </p:to>
                                    </p:set>
                                    <p:anim calcmode="lin" valueType="num">
                                      <p:cBhvr>
                                        <p:cTn id="13" dur="500" fill="hold"/>
                                        <p:tgtEl>
                                          <p:spTgt spid="248838"/>
                                        </p:tgtEl>
                                        <p:attrNameLst>
                                          <p:attrName>ppt_w</p:attrName>
                                        </p:attrNameLst>
                                      </p:cBhvr>
                                      <p:tavLst>
                                        <p:tav tm="0">
                                          <p:val>
                                            <p:fltVal val="0"/>
                                          </p:val>
                                        </p:tav>
                                        <p:tav tm="100000">
                                          <p:val>
                                            <p:strVal val="#ppt_w"/>
                                          </p:val>
                                        </p:tav>
                                      </p:tavLst>
                                    </p:anim>
                                    <p:anim calcmode="lin" valueType="num">
                                      <p:cBhvr>
                                        <p:cTn id="14" dur="500" fill="hold"/>
                                        <p:tgtEl>
                                          <p:spTgt spid="24883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37" grpId="0" autoUpdateAnimBg="0"/>
      <p:bldP spid="248838"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bwMode="auto">
          <a:xfrm>
            <a:off x="1828800" y="304800"/>
            <a:ext cx="7772400" cy="533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3200" b="1">
                <a:solidFill>
                  <a:srgbClr val="000066"/>
                </a:solidFill>
              </a:rPr>
              <a:t>3.3.2 </a:t>
            </a:r>
            <a:r>
              <a:rPr lang="zh-CN" altLang="en-US" sz="3200" b="1">
                <a:solidFill>
                  <a:srgbClr val="000066"/>
                </a:solidFill>
              </a:rPr>
              <a:t>连接查询－练习</a:t>
            </a:r>
          </a:p>
        </p:txBody>
      </p:sp>
      <p:sp>
        <p:nvSpPr>
          <p:cNvPr id="100355" name="Rectangle 3"/>
          <p:cNvSpPr>
            <a:spLocks noChangeArrowheads="1"/>
          </p:cNvSpPr>
          <p:nvPr/>
        </p:nvSpPr>
        <p:spPr bwMode="auto">
          <a:xfrm>
            <a:off x="1981200" y="1143000"/>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spcBef>
                <a:spcPct val="20000"/>
              </a:spcBef>
              <a:buClr>
                <a:schemeClr val="accent1"/>
              </a:buClr>
            </a:pPr>
            <a:r>
              <a:rPr kumimoji="1" lang="en-US" altLang="zh-CN" sz="2800" b="1">
                <a:solidFill>
                  <a:srgbClr val="0000FF"/>
                </a:solidFill>
                <a:latin typeface="Tahoma" panose="020B0604030504040204" pitchFamily="34" charset="0"/>
                <a:ea typeface="宋体" panose="02010600030101010101" pitchFamily="2" charset="-122"/>
              </a:rPr>
              <a:t>3. </a:t>
            </a:r>
            <a:r>
              <a:rPr kumimoji="1" lang="zh-CN" altLang="en-US" sz="2800" b="1">
                <a:solidFill>
                  <a:srgbClr val="0000FF"/>
                </a:solidFill>
                <a:latin typeface="Tahoma" panose="020B0604030504040204" pitchFamily="34" charset="0"/>
                <a:ea typeface="宋体" panose="02010600030101010101" pitchFamily="2" charset="-122"/>
              </a:rPr>
              <a:t>查询选修</a:t>
            </a:r>
            <a:r>
              <a:rPr kumimoji="1" lang="zh-CN" altLang="en-US" sz="2800" b="1">
                <a:solidFill>
                  <a:srgbClr val="0000FF"/>
                </a:solidFill>
                <a:latin typeface="Times New Roman" panose="02020603050405020304" pitchFamily="18" charset="0"/>
                <a:ea typeface="宋体" panose="02010600030101010101" pitchFamily="2" charset="-122"/>
              </a:rPr>
              <a:t>“</a:t>
            </a:r>
            <a:r>
              <a:rPr kumimoji="1" lang="en-US" altLang="zh-CN" sz="2800" b="1">
                <a:solidFill>
                  <a:srgbClr val="0000FF"/>
                </a:solidFill>
                <a:latin typeface="Tahoma" panose="020B0604030504040204" pitchFamily="34" charset="0"/>
                <a:ea typeface="宋体" panose="02010600030101010101" pitchFamily="2" charset="-122"/>
              </a:rPr>
              <a:t>3-105</a:t>
            </a:r>
            <a:r>
              <a:rPr kumimoji="1" lang="en-US" altLang="zh-CN" sz="2800" b="1">
                <a:solidFill>
                  <a:srgbClr val="0000FF"/>
                </a:solidFill>
                <a:latin typeface="Times New Roman" panose="02020603050405020304" pitchFamily="18" charset="0"/>
                <a:ea typeface="宋体" panose="02010600030101010101" pitchFamily="2" charset="-122"/>
              </a:rPr>
              <a:t>”</a:t>
            </a:r>
            <a:r>
              <a:rPr kumimoji="1" lang="zh-CN" altLang="en-US" sz="2800" b="1">
                <a:solidFill>
                  <a:srgbClr val="0000FF"/>
                </a:solidFill>
                <a:latin typeface="Tahoma" panose="020B0604030504040204" pitchFamily="34" charset="0"/>
                <a:ea typeface="宋体" panose="02010600030101010101" pitchFamily="2" charset="-122"/>
              </a:rPr>
              <a:t>号课程的成绩高于</a:t>
            </a:r>
            <a:r>
              <a:rPr kumimoji="1" lang="zh-CN" altLang="en-US" sz="2800" b="1">
                <a:solidFill>
                  <a:srgbClr val="0000FF"/>
                </a:solidFill>
                <a:latin typeface="Times New Roman" panose="02020603050405020304" pitchFamily="18" charset="0"/>
                <a:ea typeface="宋体" panose="02010600030101010101" pitchFamily="2" charset="-122"/>
              </a:rPr>
              <a:t>“</a:t>
            </a:r>
            <a:r>
              <a:rPr kumimoji="1" lang="en-US" altLang="zh-CN" sz="2800" b="1">
                <a:solidFill>
                  <a:srgbClr val="0000FF"/>
                </a:solidFill>
                <a:latin typeface="Tahoma" panose="020B0604030504040204" pitchFamily="34" charset="0"/>
                <a:ea typeface="宋体" panose="02010600030101010101" pitchFamily="2" charset="-122"/>
              </a:rPr>
              <a:t>109</a:t>
            </a:r>
            <a:r>
              <a:rPr kumimoji="1" lang="en-US" altLang="zh-CN" sz="2800" b="1">
                <a:solidFill>
                  <a:srgbClr val="0000FF"/>
                </a:solidFill>
                <a:latin typeface="Times New Roman" panose="02020603050405020304" pitchFamily="18" charset="0"/>
                <a:ea typeface="宋体" panose="02010600030101010101" pitchFamily="2" charset="-122"/>
              </a:rPr>
              <a:t>”</a:t>
            </a:r>
            <a:r>
              <a:rPr kumimoji="1" lang="zh-CN" altLang="en-US" sz="2800" b="1">
                <a:solidFill>
                  <a:srgbClr val="0000FF"/>
                </a:solidFill>
                <a:latin typeface="Tahoma" panose="020B0604030504040204" pitchFamily="34" charset="0"/>
                <a:ea typeface="宋体" panose="02010600030101010101" pitchFamily="2" charset="-122"/>
              </a:rPr>
              <a:t>号同学的所有同学记录。</a:t>
            </a:r>
            <a:endParaRPr kumimoji="1" lang="zh-CN" altLang="en-US" sz="2800" b="1">
              <a:solidFill>
                <a:srgbClr val="0000FF"/>
              </a:solidFill>
              <a:latin typeface="Times New Roman" panose="02020603050405020304" pitchFamily="18" charset="0"/>
              <a:ea typeface="宋体" panose="02010600030101010101" pitchFamily="2" charset="-122"/>
            </a:endParaRPr>
          </a:p>
        </p:txBody>
      </p:sp>
      <p:sp>
        <p:nvSpPr>
          <p:cNvPr id="249860" name="Rectangle 4"/>
          <p:cNvSpPr>
            <a:spLocks noChangeArrowheads="1"/>
          </p:cNvSpPr>
          <p:nvPr/>
        </p:nvSpPr>
        <p:spPr bwMode="auto">
          <a:xfrm>
            <a:off x="2057400" y="2286000"/>
            <a:ext cx="830580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spcBef>
                <a:spcPct val="20000"/>
              </a:spcBef>
              <a:buClr>
                <a:schemeClr val="accent1"/>
              </a:buClr>
            </a:pPr>
            <a:r>
              <a:rPr kumimoji="1" lang="en-US" altLang="zh-CN" sz="2800" b="1" dirty="0">
                <a:solidFill>
                  <a:srgbClr val="CC3300"/>
                </a:solidFill>
                <a:latin typeface="Tahoma" panose="020B0604030504040204" pitchFamily="34" charset="0"/>
                <a:ea typeface="宋体" panose="02010600030101010101" pitchFamily="2" charset="-122"/>
              </a:rPr>
              <a:t>Select  </a:t>
            </a:r>
            <a:r>
              <a:rPr kumimoji="1" lang="en-US" altLang="zh-CN" sz="2800" b="1" dirty="0" err="1">
                <a:solidFill>
                  <a:srgbClr val="CC3300"/>
                </a:solidFill>
                <a:latin typeface="Tahoma" panose="020B0604030504040204" pitchFamily="34" charset="0"/>
                <a:ea typeface="宋体" panose="02010600030101010101" pitchFamily="2" charset="-122"/>
              </a:rPr>
              <a:t>X.Sno</a:t>
            </a:r>
            <a:r>
              <a:rPr kumimoji="1" lang="en-US" altLang="zh-CN" sz="2800" b="1" dirty="0">
                <a:solidFill>
                  <a:srgbClr val="CC3300"/>
                </a:solidFill>
                <a:latin typeface="Tahoma" panose="020B0604030504040204" pitchFamily="34" charset="0"/>
                <a:ea typeface="宋体" panose="02010600030101010101" pitchFamily="2" charset="-122"/>
              </a:rPr>
              <a:t>, </a:t>
            </a:r>
            <a:r>
              <a:rPr kumimoji="1" lang="en-US" altLang="zh-CN" sz="2800" b="1" dirty="0" err="1">
                <a:solidFill>
                  <a:srgbClr val="CC3300"/>
                </a:solidFill>
                <a:latin typeface="Tahoma" panose="020B0604030504040204" pitchFamily="34" charset="0"/>
                <a:ea typeface="宋体" panose="02010600030101010101" pitchFamily="2" charset="-122"/>
              </a:rPr>
              <a:t>X.Cno</a:t>
            </a:r>
            <a:r>
              <a:rPr kumimoji="1" lang="en-US" altLang="zh-CN" sz="2800" b="1" dirty="0">
                <a:solidFill>
                  <a:srgbClr val="CC3300"/>
                </a:solidFill>
                <a:latin typeface="Tahoma" panose="020B0604030504040204" pitchFamily="34" charset="0"/>
                <a:ea typeface="宋体" panose="02010600030101010101" pitchFamily="2" charset="-122"/>
              </a:rPr>
              <a:t>, </a:t>
            </a:r>
            <a:r>
              <a:rPr kumimoji="1" lang="en-US" altLang="zh-CN" sz="2800" b="1" dirty="0" err="1">
                <a:solidFill>
                  <a:srgbClr val="CC3300"/>
                </a:solidFill>
                <a:latin typeface="Tahoma" panose="020B0604030504040204" pitchFamily="34" charset="0"/>
                <a:ea typeface="宋体" panose="02010600030101010101" pitchFamily="2" charset="-122"/>
              </a:rPr>
              <a:t>X.Grade</a:t>
            </a:r>
            <a:endParaRPr kumimoji="1" lang="en-US" altLang="zh-CN" sz="2800" b="1" dirty="0">
              <a:solidFill>
                <a:srgbClr val="CC3300"/>
              </a:solidFill>
              <a:latin typeface="Tahoma" panose="020B0604030504040204" pitchFamily="34" charset="0"/>
              <a:ea typeface="宋体" panose="02010600030101010101" pitchFamily="2" charset="-122"/>
            </a:endParaRPr>
          </a:p>
          <a:p>
            <a:pPr eaLnBrk="1" hangingPunct="1">
              <a:spcBef>
                <a:spcPct val="20000"/>
              </a:spcBef>
              <a:buClr>
                <a:schemeClr val="accent1"/>
              </a:buClr>
            </a:pPr>
            <a:r>
              <a:rPr kumimoji="1" lang="en-US" altLang="zh-CN" sz="2800" b="1" dirty="0">
                <a:solidFill>
                  <a:srgbClr val="CC3300"/>
                </a:solidFill>
                <a:latin typeface="Tahoma" panose="020B0604030504040204" pitchFamily="34" charset="0"/>
                <a:ea typeface="宋体" panose="02010600030101010101" pitchFamily="2" charset="-122"/>
              </a:rPr>
              <a:t>From  SC X, SC Y</a:t>
            </a:r>
          </a:p>
          <a:p>
            <a:pPr eaLnBrk="1" hangingPunct="1">
              <a:spcBef>
                <a:spcPct val="20000"/>
              </a:spcBef>
              <a:buClr>
                <a:schemeClr val="accent1"/>
              </a:buClr>
            </a:pPr>
            <a:r>
              <a:rPr kumimoji="1" lang="en-US" altLang="zh-CN" sz="2800" b="1" dirty="0">
                <a:solidFill>
                  <a:srgbClr val="CC3300"/>
                </a:solidFill>
                <a:latin typeface="Tahoma" panose="020B0604030504040204" pitchFamily="34" charset="0"/>
                <a:ea typeface="宋体" panose="02010600030101010101" pitchFamily="2" charset="-122"/>
              </a:rPr>
              <a:t>Where </a:t>
            </a:r>
            <a:r>
              <a:rPr kumimoji="1" lang="en-US" altLang="zh-CN" sz="2800" b="1" dirty="0" err="1">
                <a:solidFill>
                  <a:srgbClr val="CC3300"/>
                </a:solidFill>
                <a:latin typeface="Tahoma" panose="020B0604030504040204" pitchFamily="34" charset="0"/>
                <a:ea typeface="宋体" panose="02010600030101010101" pitchFamily="2" charset="-122"/>
              </a:rPr>
              <a:t>X.Cno</a:t>
            </a:r>
            <a:r>
              <a:rPr kumimoji="1" lang="en-US" altLang="zh-CN" sz="2800" b="1" dirty="0">
                <a:solidFill>
                  <a:srgbClr val="CC3300"/>
                </a:solidFill>
                <a:latin typeface="Tahoma" panose="020B0604030504040204" pitchFamily="34" charset="0"/>
                <a:ea typeface="宋体" panose="02010600030101010101" pitchFamily="2" charset="-122"/>
              </a:rPr>
              <a:t>='3-105' </a:t>
            </a:r>
          </a:p>
          <a:p>
            <a:pPr eaLnBrk="1" hangingPunct="1">
              <a:spcBef>
                <a:spcPct val="20000"/>
              </a:spcBef>
              <a:buClr>
                <a:schemeClr val="accent1"/>
              </a:buClr>
            </a:pPr>
            <a:r>
              <a:rPr kumimoji="1" lang="en-US" altLang="zh-CN" sz="2800" b="1" dirty="0">
                <a:solidFill>
                  <a:srgbClr val="CC3300"/>
                </a:solidFill>
                <a:latin typeface="Tahoma" panose="020B0604030504040204" pitchFamily="34" charset="0"/>
                <a:ea typeface="宋体" panose="02010600030101010101" pitchFamily="2" charset="-122"/>
              </a:rPr>
              <a:t>            AND </a:t>
            </a:r>
            <a:r>
              <a:rPr kumimoji="1" lang="en-US" altLang="zh-CN" sz="2800" b="1" dirty="0" err="1">
                <a:solidFill>
                  <a:srgbClr val="CC3300"/>
                </a:solidFill>
                <a:latin typeface="Tahoma" panose="020B0604030504040204" pitchFamily="34" charset="0"/>
                <a:ea typeface="宋体" panose="02010600030101010101" pitchFamily="2" charset="-122"/>
              </a:rPr>
              <a:t>X.Grade</a:t>
            </a:r>
            <a:r>
              <a:rPr kumimoji="1" lang="en-US" altLang="zh-CN" sz="2800" b="1" dirty="0">
                <a:solidFill>
                  <a:srgbClr val="CC3300"/>
                </a:solidFill>
                <a:latin typeface="Tahoma" panose="020B0604030504040204" pitchFamily="34" charset="0"/>
                <a:ea typeface="宋体" panose="02010600030101010101" pitchFamily="2" charset="-122"/>
              </a:rPr>
              <a:t>&gt;</a:t>
            </a:r>
            <a:r>
              <a:rPr kumimoji="1" lang="en-US" altLang="zh-CN" sz="2800" b="1" dirty="0" err="1">
                <a:solidFill>
                  <a:srgbClr val="CC3300"/>
                </a:solidFill>
                <a:latin typeface="Tahoma" panose="020B0604030504040204" pitchFamily="34" charset="0"/>
                <a:ea typeface="宋体" panose="02010600030101010101" pitchFamily="2" charset="-122"/>
              </a:rPr>
              <a:t>Y.Grade</a:t>
            </a:r>
            <a:endParaRPr kumimoji="1" lang="en-US" altLang="zh-CN" sz="2800" b="1" dirty="0">
              <a:solidFill>
                <a:srgbClr val="CC3300"/>
              </a:solidFill>
              <a:latin typeface="Tahoma" panose="020B0604030504040204" pitchFamily="34" charset="0"/>
              <a:ea typeface="宋体" panose="02010600030101010101" pitchFamily="2" charset="-122"/>
            </a:endParaRPr>
          </a:p>
          <a:p>
            <a:pPr eaLnBrk="1" hangingPunct="1">
              <a:spcBef>
                <a:spcPct val="20000"/>
              </a:spcBef>
              <a:buClr>
                <a:schemeClr val="accent1"/>
              </a:buClr>
            </a:pPr>
            <a:r>
              <a:rPr kumimoji="1" lang="en-US" altLang="zh-CN" sz="2800" b="1" dirty="0">
                <a:solidFill>
                  <a:srgbClr val="CC3300"/>
                </a:solidFill>
                <a:latin typeface="Tahoma" panose="020B0604030504040204" pitchFamily="34" charset="0"/>
                <a:ea typeface="宋体" panose="02010600030101010101" pitchFamily="2" charset="-122"/>
              </a:rPr>
              <a:t>            AND </a:t>
            </a:r>
            <a:r>
              <a:rPr kumimoji="1" lang="en-US" altLang="zh-CN" sz="2800" b="1" dirty="0" err="1">
                <a:solidFill>
                  <a:srgbClr val="CC3300"/>
                </a:solidFill>
                <a:latin typeface="Tahoma" panose="020B0604030504040204" pitchFamily="34" charset="0"/>
                <a:ea typeface="宋体" panose="02010600030101010101" pitchFamily="2" charset="-122"/>
              </a:rPr>
              <a:t>Y.Sno</a:t>
            </a:r>
            <a:r>
              <a:rPr kumimoji="1" lang="en-US" altLang="zh-CN" sz="2800" b="1" dirty="0">
                <a:solidFill>
                  <a:srgbClr val="CC3300"/>
                </a:solidFill>
                <a:latin typeface="Tahoma" panose="020B0604030504040204" pitchFamily="34" charset="0"/>
                <a:ea typeface="宋体" panose="02010600030101010101" pitchFamily="2" charset="-122"/>
              </a:rPr>
              <a:t>='109' </a:t>
            </a:r>
          </a:p>
          <a:p>
            <a:pPr eaLnBrk="1" hangingPunct="1">
              <a:spcBef>
                <a:spcPct val="20000"/>
              </a:spcBef>
              <a:buClr>
                <a:schemeClr val="accent1"/>
              </a:buClr>
            </a:pPr>
            <a:r>
              <a:rPr kumimoji="1" lang="en-US" altLang="zh-CN" sz="2800" b="1" dirty="0">
                <a:solidFill>
                  <a:srgbClr val="CC3300"/>
                </a:solidFill>
                <a:latin typeface="Tahoma" panose="020B0604030504040204" pitchFamily="34" charset="0"/>
                <a:ea typeface="宋体" panose="02010600030101010101" pitchFamily="2" charset="-122"/>
              </a:rPr>
              <a:t>            AND </a:t>
            </a:r>
            <a:r>
              <a:rPr kumimoji="1" lang="en-US" altLang="zh-CN" sz="2800" b="1" dirty="0" err="1">
                <a:solidFill>
                  <a:srgbClr val="CC3300"/>
                </a:solidFill>
                <a:latin typeface="Tahoma" panose="020B0604030504040204" pitchFamily="34" charset="0"/>
                <a:ea typeface="宋体" panose="02010600030101010101" pitchFamily="2" charset="-122"/>
              </a:rPr>
              <a:t>Y.Cno</a:t>
            </a:r>
            <a:r>
              <a:rPr kumimoji="1" lang="en-US" altLang="zh-CN" sz="2800" b="1" dirty="0">
                <a:solidFill>
                  <a:srgbClr val="CC3300"/>
                </a:solidFill>
                <a:latin typeface="Tahoma" panose="020B0604030504040204" pitchFamily="34" charset="0"/>
                <a:ea typeface="宋体" panose="02010600030101010101" pitchFamily="2" charset="-122"/>
              </a:rPr>
              <a:t>= '3-105';</a:t>
            </a:r>
          </a:p>
        </p:txBody>
      </p:sp>
    </p:spTree>
    <p:extLst>
      <p:ext uri="{BB962C8B-B14F-4D97-AF65-F5344CB8AC3E}">
        <p14:creationId xmlns:p14="http://schemas.microsoft.com/office/powerpoint/2010/main" val="390891607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249860"/>
                                        </p:tgtEl>
                                        <p:attrNameLst>
                                          <p:attrName>style.visibility</p:attrName>
                                        </p:attrNameLst>
                                      </p:cBhvr>
                                      <p:to>
                                        <p:strVal val="visible"/>
                                      </p:to>
                                    </p:set>
                                    <p:anim calcmode="lin" valueType="num">
                                      <p:cBhvr>
                                        <p:cTn id="7" dur="500" fill="hold"/>
                                        <p:tgtEl>
                                          <p:spTgt spid="249860"/>
                                        </p:tgtEl>
                                        <p:attrNameLst>
                                          <p:attrName>ppt_w</p:attrName>
                                        </p:attrNameLst>
                                      </p:cBhvr>
                                      <p:tavLst>
                                        <p:tav tm="0">
                                          <p:val>
                                            <p:fltVal val="0"/>
                                          </p:val>
                                        </p:tav>
                                        <p:tav tm="100000">
                                          <p:val>
                                            <p:strVal val="#ppt_w"/>
                                          </p:val>
                                        </p:tav>
                                      </p:tavLst>
                                    </p:anim>
                                    <p:anim calcmode="lin" valueType="num">
                                      <p:cBhvr>
                                        <p:cTn id="8" dur="500" fill="hold"/>
                                        <p:tgtEl>
                                          <p:spTgt spid="24986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60"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小结</a:t>
            </a:r>
          </a:p>
        </p:txBody>
      </p:sp>
      <p:sp>
        <p:nvSpPr>
          <p:cNvPr id="5" name="圆角矩形 4"/>
          <p:cNvSpPr/>
          <p:nvPr/>
        </p:nvSpPr>
        <p:spPr>
          <a:xfrm>
            <a:off x="355600" y="808355"/>
            <a:ext cx="10984865" cy="300799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defTabSz="1600200">
              <a:lnSpc>
                <a:spcPct val="150000"/>
              </a:lnSpc>
              <a:spcAft>
                <a:spcPct val="35000"/>
              </a:spcAft>
              <a:buFont typeface="Wingdings" panose="05000000000000000000" pitchFamily="2" charset="2"/>
              <a:buChar char="n"/>
            </a:pPr>
            <a:r>
              <a:rPr lang="zh-CN" altLang="en-US" sz="2000" dirty="0">
                <a:solidFill>
                  <a:schemeClr val="tx1"/>
                </a:solidFill>
                <a:latin typeface="微软雅黑" panose="020B0503020204020204" pitchFamily="34" charset="-122"/>
                <a:ea typeface="微软雅黑" panose="020B0503020204020204" pitchFamily="34" charset="-122"/>
              </a:rPr>
              <a:t>等值与非等值连接查询</a:t>
            </a:r>
            <a:endParaRPr lang="en-US" altLang="zh-CN" sz="2000" dirty="0">
              <a:solidFill>
                <a:schemeClr val="tx1"/>
              </a:solidFill>
              <a:latin typeface="微软雅黑" panose="020B0503020204020204" pitchFamily="34" charset="-122"/>
              <a:ea typeface="微软雅黑" panose="020B0503020204020204" pitchFamily="34" charset="-122"/>
            </a:endParaRPr>
          </a:p>
          <a:p>
            <a:pPr marL="342900" indent="-342900" defTabSz="1600200">
              <a:lnSpc>
                <a:spcPct val="150000"/>
              </a:lnSpc>
              <a:spcAft>
                <a:spcPct val="35000"/>
              </a:spcAft>
              <a:buFont typeface="Wingdings" panose="05000000000000000000" pitchFamily="2" charset="2"/>
              <a:buChar char="n"/>
            </a:pPr>
            <a:r>
              <a:rPr lang="zh-CN" altLang="en-US" sz="2000" dirty="0">
                <a:solidFill>
                  <a:schemeClr val="tx1"/>
                </a:solidFill>
                <a:latin typeface="微软雅黑" panose="020B0503020204020204" pitchFamily="34" charset="-122"/>
                <a:ea typeface="微软雅黑" panose="020B0503020204020204" pitchFamily="34" charset="-122"/>
              </a:rPr>
              <a:t>内连接查询</a:t>
            </a:r>
          </a:p>
          <a:p>
            <a:pPr marL="342900" indent="-342900" defTabSz="1600200">
              <a:lnSpc>
                <a:spcPct val="150000"/>
              </a:lnSpc>
              <a:spcAft>
                <a:spcPct val="35000"/>
              </a:spcAft>
              <a:buFont typeface="Wingdings" panose="05000000000000000000" pitchFamily="2" charset="2"/>
              <a:buChar char="n"/>
            </a:pPr>
            <a:r>
              <a:rPr lang="zh-CN" altLang="en-US" sz="2000" dirty="0">
                <a:solidFill>
                  <a:schemeClr val="tx1"/>
                </a:solidFill>
                <a:latin typeface="微软雅黑" panose="020B0503020204020204" pitchFamily="34" charset="-122"/>
                <a:ea typeface="微软雅黑" panose="020B0503020204020204" pitchFamily="34" charset="-122"/>
              </a:rPr>
              <a:t>外连接查询</a:t>
            </a:r>
            <a:endParaRPr lang="en-US" altLang="zh-CN" sz="2000" dirty="0">
              <a:solidFill>
                <a:schemeClr val="tx1"/>
              </a:solidFill>
              <a:latin typeface="微软雅黑" panose="020B0503020204020204" pitchFamily="34" charset="-122"/>
              <a:ea typeface="微软雅黑" panose="020B0503020204020204" pitchFamily="34" charset="-122"/>
            </a:endParaRPr>
          </a:p>
          <a:p>
            <a:pPr marL="342900" indent="-342900" defTabSz="1600200">
              <a:lnSpc>
                <a:spcPct val="150000"/>
              </a:lnSpc>
              <a:spcAft>
                <a:spcPct val="35000"/>
              </a:spcAft>
              <a:buFont typeface="Wingdings" panose="05000000000000000000" pitchFamily="2" charset="2"/>
              <a:buChar char="n"/>
            </a:pPr>
            <a:r>
              <a:rPr lang="zh-CN" altLang="en-US" sz="2000" dirty="0">
                <a:solidFill>
                  <a:schemeClr val="tx1"/>
                </a:solidFill>
                <a:latin typeface="微软雅黑" panose="020B0503020204020204" pitchFamily="34" charset="-122"/>
                <a:ea typeface="微软雅黑" panose="020B0503020204020204" pitchFamily="34" charset="-122"/>
              </a:rPr>
              <a:t>复合条件连接查询</a:t>
            </a:r>
          </a:p>
          <a:p>
            <a:pPr marL="342900" indent="-342900" defTabSz="1600200">
              <a:lnSpc>
                <a:spcPct val="150000"/>
              </a:lnSpc>
              <a:spcAft>
                <a:spcPct val="35000"/>
              </a:spcAft>
              <a:buFont typeface="Wingdings" panose="05000000000000000000" pitchFamily="2" charset="2"/>
              <a:buChar char="n"/>
            </a:pPr>
            <a:r>
              <a:rPr lang="zh-CN" altLang="en-US" sz="2000" dirty="0">
                <a:solidFill>
                  <a:schemeClr val="tx1"/>
                </a:solidFill>
                <a:latin typeface="微软雅黑" panose="020B0503020204020204" pitchFamily="34" charset="-122"/>
                <a:ea typeface="微软雅黑" panose="020B0503020204020204" pitchFamily="34" charset="-122"/>
              </a:rPr>
              <a:t>自身连接查询</a:t>
            </a:r>
          </a:p>
        </p:txBody>
      </p:sp>
      <p:sp>
        <p:nvSpPr>
          <p:cNvPr id="2" name="矩形 1"/>
          <p:cNvSpPr/>
          <p:nvPr/>
        </p:nvSpPr>
        <p:spPr>
          <a:xfrm>
            <a:off x="4248923" y="3952039"/>
            <a:ext cx="3695242" cy="92333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谢谢观看！</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rgbClr val="4CC2EA"/>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TotalTime>
  <Words>1629</Words>
  <Application>Microsoft Macintosh PowerPoint</Application>
  <PresentationFormat>宽屏</PresentationFormat>
  <Paragraphs>166</Paragraphs>
  <Slides>18</Slides>
  <Notes>15</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18</vt:i4>
      </vt:variant>
    </vt:vector>
  </HeadingPairs>
  <TitlesOfParts>
    <vt:vector size="28" baseType="lpstr">
      <vt:lpstr>楷体_GB2312</vt:lpstr>
      <vt:lpstr>宋体</vt:lpstr>
      <vt:lpstr>微软雅黑</vt:lpstr>
      <vt:lpstr>Arial</vt:lpstr>
      <vt:lpstr>Calibri</vt:lpstr>
      <vt:lpstr>Calibri Light</vt:lpstr>
      <vt:lpstr>Tahoma</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3.3.2 连接查询－练习</vt:lpstr>
      <vt:lpstr>3.3.2 连接查询－练习</vt:lpstr>
      <vt:lpstr>3.3.2 连接查询－练习</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zhouping</dc:creator>
  <cp:lastModifiedBy>Qingting Xu</cp:lastModifiedBy>
  <cp:revision>1322</cp:revision>
  <dcterms:created xsi:type="dcterms:W3CDTF">2014-07-02T10:42:00Z</dcterms:created>
  <dcterms:modified xsi:type="dcterms:W3CDTF">2025-09-23T14:21:39Z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所有者">
    <vt:lpwstr>大同煤炭职业技术学院</vt:lpwstr>
  </property>
  <property fmtid="{D5CDD505-2E9C-101B-9397-08002B2CF9AE}" pid="3" name="KSOProductBuildVer">
    <vt:lpwstr>2052-11.1.0.10700</vt:lpwstr>
  </property>
  <property fmtid="{D5CDD505-2E9C-101B-9397-08002B2CF9AE}" pid="4" name="ICV">
    <vt:lpwstr>36CFA8F112104A11837DEF9A4244E8EC</vt:lpwstr>
  </property>
</Properties>
</file>