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86" r:id="rId2"/>
    <p:sldId id="454" r:id="rId3"/>
    <p:sldId id="455" r:id="rId4"/>
    <p:sldId id="457" r:id="rId5"/>
    <p:sldId id="653" r:id="rId6"/>
    <p:sldId id="559" r:id="rId7"/>
    <p:sldId id="561" r:id="rId8"/>
    <p:sldId id="560" r:id="rId9"/>
    <p:sldId id="562" r:id="rId10"/>
    <p:sldId id="563" r:id="rId11"/>
    <p:sldId id="654" r:id="rId12"/>
    <p:sldId id="655" r:id="rId13"/>
    <p:sldId id="564" r:id="rId14"/>
    <p:sldId id="652" r:id="rId15"/>
    <p:sldId id="646" r:id="rId16"/>
    <p:sldId id="567" r:id="rId17"/>
    <p:sldId id="568" r:id="rId18"/>
    <p:sldId id="569" r:id="rId19"/>
    <p:sldId id="570" r:id="rId20"/>
    <p:sldId id="572" r:id="rId21"/>
    <p:sldId id="657" r:id="rId22"/>
    <p:sldId id="658" r:id="rId23"/>
    <p:sldId id="659" r:id="rId24"/>
    <p:sldId id="660" r:id="rId25"/>
    <p:sldId id="575" r:id="rId26"/>
    <p:sldId id="576" r:id="rId27"/>
    <p:sldId id="577" r:id="rId28"/>
    <p:sldId id="578" r:id="rId29"/>
    <p:sldId id="579" r:id="rId30"/>
    <p:sldId id="580" r:id="rId31"/>
    <p:sldId id="581" r:id="rId32"/>
    <p:sldId id="656" r:id="rId33"/>
  </p:sldIdLst>
  <p:sldSz cx="12192000" cy="6858000"/>
  <p:notesSz cx="7010400" cy="92964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p15:clr>
            <a:srgbClr val="A4A3A4"/>
          </p15:clr>
        </p15:guide>
        <p15:guide id="2" orient="horz" pos="2876">
          <p15:clr>
            <a:srgbClr val="A4A3A4"/>
          </p15:clr>
        </p15:guide>
        <p15:guide id="3" orient="horz" pos="1298">
          <p15:clr>
            <a:srgbClr val="A4A3A4"/>
          </p15:clr>
        </p15:guide>
        <p15:guide id="4" pos="3871">
          <p15:clr>
            <a:srgbClr val="A4A3A4"/>
          </p15:clr>
        </p15:guide>
        <p15:guide id="5" pos="1234">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guide id="3" orient="horz" pos="2924">
          <p15:clr>
            <a:srgbClr val="A4A3A4"/>
          </p15:clr>
        </p15:guide>
        <p15:guide id="4" pos="22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1569F0"/>
    <a:srgbClr val="002060"/>
    <a:srgbClr val="009900"/>
    <a:srgbClr val="F79646"/>
    <a:srgbClr val="009AD0"/>
    <a:srgbClr val="245D60"/>
    <a:srgbClr val="DD4633"/>
    <a:srgbClr val="CCCC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34" autoAdjust="0"/>
    <p:restoredTop sz="83851" autoAdjust="0"/>
  </p:normalViewPr>
  <p:slideViewPr>
    <p:cSldViewPr snapToGrid="0">
      <p:cViewPr varScale="1">
        <p:scale>
          <a:sx n="92" d="100"/>
          <a:sy n="92" d="100"/>
        </p:scale>
        <p:origin x="1376" y="184"/>
      </p:cViewPr>
      <p:guideLst>
        <p:guide orient="horz" pos="2205"/>
        <p:guide orient="horz" pos="2876"/>
        <p:guide orient="horz" pos="1298"/>
        <p:guide pos="3871"/>
        <p:guide pos="1234"/>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8" d="100"/>
          <a:sy n="58" d="100"/>
        </p:scale>
        <p:origin x="-2790" y="-78"/>
      </p:cViewPr>
      <p:guideLst>
        <p:guide orient="horz" pos="2160"/>
        <p:guide pos="2880"/>
        <p:guide orient="horz" pos="2924"/>
        <p:guide pos="22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037840" cy="464820"/>
          </a:xfrm>
          <a:prstGeom prst="rect">
            <a:avLst/>
          </a:prstGeom>
          <a:noFill/>
          <a:ln w="9525">
            <a:noFill/>
            <a:miter lim="800000"/>
          </a:ln>
          <a:effectLst/>
        </p:spPr>
        <p:txBody>
          <a:bodyPr vert="horz" wrap="square" lIns="93177" tIns="46589" rIns="93177" bIns="46589" numCol="1" anchor="t" anchorCtr="0" compatLnSpc="1"/>
          <a:lstStyle>
            <a:lvl1pPr>
              <a:defRPr sz="1200" smtClean="0">
                <a:latin typeface="Calibri" panose="020F0502020204030204" pitchFamily="34" charset="0"/>
              </a:defRPr>
            </a:lvl1pPr>
          </a:lstStyle>
          <a:p>
            <a:pPr>
              <a:defRPr/>
            </a:pPr>
            <a:endParaRPr lang="zh-CN" altLang="en-US"/>
          </a:p>
        </p:txBody>
      </p:sp>
      <p:sp>
        <p:nvSpPr>
          <p:cNvPr id="33795" name="Rectangle 3"/>
          <p:cNvSpPr>
            <a:spLocks noGrp="1" noChangeArrowheads="1"/>
          </p:cNvSpPr>
          <p:nvPr>
            <p:ph type="dt" sz="quarter" idx="1"/>
          </p:nvPr>
        </p:nvSpPr>
        <p:spPr bwMode="auto">
          <a:xfrm>
            <a:off x="3971344" y="0"/>
            <a:ext cx="3037840" cy="464820"/>
          </a:xfrm>
          <a:prstGeom prst="rect">
            <a:avLst/>
          </a:prstGeom>
          <a:noFill/>
          <a:ln w="9525">
            <a:noFill/>
            <a:miter lim="800000"/>
          </a:ln>
          <a:effectLst/>
        </p:spPr>
        <p:txBody>
          <a:bodyPr vert="horz" wrap="square" lIns="93177" tIns="46589" rIns="93177" bIns="46589" numCol="1" anchor="t" anchorCtr="0" compatLnSpc="1"/>
          <a:lstStyle>
            <a:lvl1pPr algn="r">
              <a:defRPr sz="1200" smtClean="0">
                <a:latin typeface="Calibri" panose="020F0502020204030204" pitchFamily="34" charset="0"/>
              </a:defRPr>
            </a:lvl1pPr>
          </a:lstStyle>
          <a:p>
            <a:pPr>
              <a:defRPr/>
            </a:pPr>
            <a:fld id="{3915CCEA-4D12-4250-ABBC-1F15DE901CBC}" type="datetimeFigureOut">
              <a:rPr lang="zh-CN" altLang="en-US"/>
              <a:t>2025/9/26</a:t>
            </a:fld>
            <a:endParaRPr lang="en-US" altLang="zh-CN"/>
          </a:p>
        </p:txBody>
      </p:sp>
      <p:sp>
        <p:nvSpPr>
          <p:cNvPr id="33796" name="Rectangle 4"/>
          <p:cNvSpPr>
            <a:spLocks noGrp="1" noChangeArrowheads="1"/>
          </p:cNvSpPr>
          <p:nvPr>
            <p:ph type="ftr" sz="quarter" idx="2"/>
          </p:nvPr>
        </p:nvSpPr>
        <p:spPr bwMode="auto">
          <a:xfrm>
            <a:off x="0" y="8829429"/>
            <a:ext cx="3037840" cy="464820"/>
          </a:xfrm>
          <a:prstGeom prst="rect">
            <a:avLst/>
          </a:prstGeom>
          <a:noFill/>
          <a:ln w="9525">
            <a:noFill/>
            <a:miter lim="800000"/>
          </a:ln>
          <a:effectLst/>
        </p:spPr>
        <p:txBody>
          <a:bodyPr vert="horz" wrap="square" lIns="93177" tIns="46589" rIns="93177" bIns="46589" numCol="1" anchor="b" anchorCtr="0" compatLnSpc="1"/>
          <a:lstStyle>
            <a:lvl1pPr>
              <a:defRPr sz="1200" smtClean="0">
                <a:latin typeface="Calibri" panose="020F0502020204030204" pitchFamily="34" charset="0"/>
              </a:defRPr>
            </a:lvl1pPr>
          </a:lstStyle>
          <a:p>
            <a:pPr>
              <a:defRPr/>
            </a:pPr>
            <a:endParaRPr lang="en-US" altLang="zh-CN"/>
          </a:p>
        </p:txBody>
      </p:sp>
      <p:sp>
        <p:nvSpPr>
          <p:cNvPr id="33797" name="Rectangle 5"/>
          <p:cNvSpPr>
            <a:spLocks noGrp="1" noChangeArrowheads="1"/>
          </p:cNvSpPr>
          <p:nvPr>
            <p:ph type="sldNum" sz="quarter" idx="3"/>
          </p:nvPr>
        </p:nvSpPr>
        <p:spPr bwMode="auto">
          <a:xfrm>
            <a:off x="3971344" y="8829429"/>
            <a:ext cx="3037840" cy="464820"/>
          </a:xfrm>
          <a:prstGeom prst="rect">
            <a:avLst/>
          </a:prstGeom>
          <a:noFill/>
          <a:ln w="9525">
            <a:noFill/>
            <a:miter lim="800000"/>
          </a:ln>
          <a:effectLst/>
        </p:spPr>
        <p:txBody>
          <a:bodyPr vert="horz" wrap="square" lIns="93177" tIns="46589" rIns="93177" bIns="46589" numCol="1" anchor="b" anchorCtr="0" compatLnSpc="1"/>
          <a:lstStyle>
            <a:lvl1pPr algn="r">
              <a:defRPr sz="1200" smtClean="0">
                <a:latin typeface="Calibri" panose="020F0502020204030204" pitchFamily="34" charset="0"/>
              </a:defRPr>
            </a:lvl1pPr>
          </a:lstStyle>
          <a:p>
            <a:pPr>
              <a:defRPr/>
            </a:pPr>
            <a:fld id="{C6A76C4A-4CA1-4C6A-946C-E26A5534DC95}" type="slidenum">
              <a:rPr lang="zh-CN" altLang="en-US"/>
              <a:t>‹#›</a:t>
            </a:fld>
            <a:endParaRPr lang="en-US" altLang="zh-CN"/>
          </a:p>
        </p:txBody>
      </p:sp>
    </p:spTree>
    <p:extLst>
      <p:ext uri="{BB962C8B-B14F-4D97-AF65-F5344CB8AC3E}">
        <p14:creationId xmlns:p14="http://schemas.microsoft.com/office/powerpoint/2010/main" val="1518476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37840" cy="466972"/>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971344" y="1"/>
            <a:ext cx="3037840" cy="466972"/>
          </a:xfrm>
          <a:prstGeom prst="rect">
            <a:avLst/>
          </a:prstGeom>
        </p:spPr>
        <p:txBody>
          <a:bodyPr vert="horz" lIns="93177" tIns="46589" rIns="93177" bIns="46589" rtlCol="0"/>
          <a:lstStyle>
            <a:lvl1pPr algn="r" fontAlgn="auto">
              <a:spcBef>
                <a:spcPts val="0"/>
              </a:spcBef>
              <a:spcAft>
                <a:spcPts val="0"/>
              </a:spcAft>
              <a:defRPr sz="1200">
                <a:latin typeface="+mn-lt"/>
                <a:ea typeface="+mn-ea"/>
              </a:defRPr>
            </a:lvl1pPr>
          </a:lstStyle>
          <a:p>
            <a:pPr>
              <a:defRPr/>
            </a:pPr>
            <a:fld id="{8FAF2163-2CD8-43A9-AAB8-953EE3B200FA}" type="datetimeFigureOut">
              <a:rPr lang="zh-CN" altLang="en-US"/>
              <a:t>2025/9/26</a:t>
            </a:fld>
            <a:endParaRPr lang="zh-CN" altLang="en-US"/>
          </a:p>
        </p:txBody>
      </p:sp>
      <p:sp>
        <p:nvSpPr>
          <p:cNvPr id="4" name="幻灯片图像占位符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701040" y="4473894"/>
            <a:ext cx="5608320" cy="3660456"/>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829429"/>
            <a:ext cx="3037840" cy="4669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971344" y="8829429"/>
            <a:ext cx="3037840" cy="466971"/>
          </a:xfrm>
          <a:prstGeom prst="rect">
            <a:avLst/>
          </a:prstGeom>
        </p:spPr>
        <p:txBody>
          <a:bodyPr vert="horz" lIns="93177" tIns="46589" rIns="93177" bIns="46589" rtlCol="0" anchor="b"/>
          <a:lstStyle>
            <a:lvl1pPr algn="r" fontAlgn="auto">
              <a:spcBef>
                <a:spcPts val="0"/>
              </a:spcBef>
              <a:spcAft>
                <a:spcPts val="0"/>
              </a:spcAft>
              <a:defRPr sz="1200">
                <a:latin typeface="+mn-lt"/>
                <a:ea typeface="+mn-ea"/>
              </a:defRPr>
            </a:lvl1pPr>
          </a:lstStyle>
          <a:p>
            <a:pPr>
              <a:defRPr/>
            </a:pPr>
            <a:fld id="{1798234E-E7EE-4FBE-B288-F5A88D0BAADF}" type="slidenum">
              <a:rPr lang="zh-CN" altLang="en-US"/>
              <a:t>‹#›</a:t>
            </a:fld>
            <a:endParaRPr lang="zh-CN" altLang="en-US"/>
          </a:p>
        </p:txBody>
      </p:sp>
    </p:spTree>
    <p:extLst>
      <p:ext uri="{BB962C8B-B14F-4D97-AF65-F5344CB8AC3E}">
        <p14:creationId xmlns:p14="http://schemas.microsoft.com/office/powerpoint/2010/main" val="12164179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a:t>
            </a:fld>
            <a:endParaRPr lang="zh-CN" altLang="en-US"/>
          </a:p>
        </p:txBody>
      </p:sp>
    </p:spTree>
    <p:extLst>
      <p:ext uri="{BB962C8B-B14F-4D97-AF65-F5344CB8AC3E}">
        <p14:creationId xmlns:p14="http://schemas.microsoft.com/office/powerpoint/2010/main" val="57187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a:t>
            </a:fld>
            <a:endParaRPr lang="zh-CN" altLang="en-US"/>
          </a:p>
        </p:txBody>
      </p:sp>
    </p:spTree>
    <p:extLst>
      <p:ext uri="{BB962C8B-B14F-4D97-AF65-F5344CB8AC3E}">
        <p14:creationId xmlns:p14="http://schemas.microsoft.com/office/powerpoint/2010/main" val="1982887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a:t>
            </a:fld>
            <a:endParaRPr lang="zh-CN" altLang="en-US"/>
          </a:p>
        </p:txBody>
      </p:sp>
    </p:spTree>
    <p:extLst>
      <p:ext uri="{BB962C8B-B14F-4D97-AF65-F5344CB8AC3E}">
        <p14:creationId xmlns:p14="http://schemas.microsoft.com/office/powerpoint/2010/main" val="160893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a:t>
            </a:fld>
            <a:endParaRPr lang="zh-CN" altLang="en-US"/>
          </a:p>
        </p:txBody>
      </p:sp>
    </p:spTree>
    <p:extLst>
      <p:ext uri="{BB962C8B-B14F-4D97-AF65-F5344CB8AC3E}">
        <p14:creationId xmlns:p14="http://schemas.microsoft.com/office/powerpoint/2010/main" val="296181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a:t>
            </a:fld>
            <a:endParaRPr lang="zh-CN" altLang="en-US"/>
          </a:p>
        </p:txBody>
      </p:sp>
    </p:spTree>
    <p:extLst>
      <p:ext uri="{BB962C8B-B14F-4D97-AF65-F5344CB8AC3E}">
        <p14:creationId xmlns:p14="http://schemas.microsoft.com/office/powerpoint/2010/main" val="126390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kumimoji="1" lang="zh-CN" altLang="en-US" b="1" dirty="0">
              <a:solidFill>
                <a:schemeClr val="tx2"/>
              </a:solidFill>
              <a:latin typeface="楷体_GB2312" pitchFamily="49" charset="-122"/>
              <a:ea typeface="楷体_GB2312" pitchFamily="49" charset="-122"/>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6</a:t>
            </a:fld>
            <a:endParaRPr lang="zh-CN" altLang="en-US"/>
          </a:p>
        </p:txBody>
      </p:sp>
    </p:spTree>
    <p:extLst>
      <p:ext uri="{BB962C8B-B14F-4D97-AF65-F5344CB8AC3E}">
        <p14:creationId xmlns:p14="http://schemas.microsoft.com/office/powerpoint/2010/main" val="4214565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7</a:t>
            </a:fld>
            <a:endParaRPr lang="zh-CN" altLang="en-US"/>
          </a:p>
        </p:txBody>
      </p:sp>
    </p:spTree>
    <p:extLst>
      <p:ext uri="{BB962C8B-B14F-4D97-AF65-F5344CB8AC3E}">
        <p14:creationId xmlns:p14="http://schemas.microsoft.com/office/powerpoint/2010/main" val="1344323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8</a:t>
            </a:fld>
            <a:endParaRPr lang="zh-CN" altLang="en-US"/>
          </a:p>
        </p:txBody>
      </p:sp>
    </p:spTree>
    <p:extLst>
      <p:ext uri="{BB962C8B-B14F-4D97-AF65-F5344CB8AC3E}">
        <p14:creationId xmlns:p14="http://schemas.microsoft.com/office/powerpoint/2010/main" val="2471427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9</a:t>
            </a:fld>
            <a:endParaRPr lang="zh-CN" altLang="en-US"/>
          </a:p>
        </p:txBody>
      </p:sp>
    </p:spTree>
    <p:extLst>
      <p:ext uri="{BB962C8B-B14F-4D97-AF65-F5344CB8AC3E}">
        <p14:creationId xmlns:p14="http://schemas.microsoft.com/office/powerpoint/2010/main" val="3413850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10</a:t>
            </a:fld>
            <a:endParaRPr lang="zh-CN" altLang="en-US"/>
          </a:p>
        </p:txBody>
      </p:sp>
    </p:spTree>
    <p:extLst>
      <p:ext uri="{BB962C8B-B14F-4D97-AF65-F5344CB8AC3E}">
        <p14:creationId xmlns:p14="http://schemas.microsoft.com/office/powerpoint/2010/main" val="964500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11</a:t>
            </a:fld>
            <a:endParaRPr lang="zh-CN" altLang="en-US"/>
          </a:p>
        </p:txBody>
      </p:sp>
    </p:spTree>
    <p:extLst>
      <p:ext uri="{BB962C8B-B14F-4D97-AF65-F5344CB8AC3E}">
        <p14:creationId xmlns:p14="http://schemas.microsoft.com/office/powerpoint/2010/main" val="4235002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12</a:t>
            </a:fld>
            <a:endParaRPr lang="zh-CN" altLang="en-US"/>
          </a:p>
        </p:txBody>
      </p:sp>
    </p:spTree>
    <p:extLst>
      <p:ext uri="{BB962C8B-B14F-4D97-AF65-F5344CB8AC3E}">
        <p14:creationId xmlns:p14="http://schemas.microsoft.com/office/powerpoint/2010/main" val="4088123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13</a:t>
            </a:fld>
            <a:endParaRPr lang="zh-CN" altLang="en-US"/>
          </a:p>
        </p:txBody>
      </p:sp>
    </p:spTree>
    <p:extLst>
      <p:ext uri="{BB962C8B-B14F-4D97-AF65-F5344CB8AC3E}">
        <p14:creationId xmlns:p14="http://schemas.microsoft.com/office/powerpoint/2010/main" val="24171721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14</a:t>
            </a:fld>
            <a:endParaRPr lang="zh-CN" altLang="en-US"/>
          </a:p>
        </p:txBody>
      </p:sp>
    </p:spTree>
    <p:extLst>
      <p:ext uri="{BB962C8B-B14F-4D97-AF65-F5344CB8AC3E}">
        <p14:creationId xmlns:p14="http://schemas.microsoft.com/office/powerpoint/2010/main" val="1104448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这一小节我们来学习数据库设计的第一个步骤：需求分析。</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15</a:t>
            </a:fld>
            <a:endParaRPr lang="zh-CN" altLang="en-US"/>
          </a:p>
        </p:txBody>
      </p:sp>
    </p:spTree>
    <p:extLst>
      <p:ext uri="{BB962C8B-B14F-4D97-AF65-F5344CB8AC3E}">
        <p14:creationId xmlns:p14="http://schemas.microsoft.com/office/powerpoint/2010/main" val="3943508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16</a:t>
            </a:fld>
            <a:endParaRPr lang="zh-CN" altLang="en-US"/>
          </a:p>
        </p:txBody>
      </p:sp>
    </p:spTree>
    <p:extLst>
      <p:ext uri="{BB962C8B-B14F-4D97-AF65-F5344CB8AC3E}">
        <p14:creationId xmlns:p14="http://schemas.microsoft.com/office/powerpoint/2010/main" val="958476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17</a:t>
            </a:fld>
            <a:endParaRPr lang="zh-CN" altLang="en-US"/>
          </a:p>
        </p:txBody>
      </p:sp>
    </p:spTree>
    <p:extLst>
      <p:ext uri="{BB962C8B-B14F-4D97-AF65-F5344CB8AC3E}">
        <p14:creationId xmlns:p14="http://schemas.microsoft.com/office/powerpoint/2010/main" val="27372588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18</a:t>
            </a:fld>
            <a:endParaRPr lang="zh-CN" altLang="en-US"/>
          </a:p>
        </p:txBody>
      </p:sp>
    </p:spTree>
    <p:extLst>
      <p:ext uri="{BB962C8B-B14F-4D97-AF65-F5344CB8AC3E}">
        <p14:creationId xmlns:p14="http://schemas.microsoft.com/office/powerpoint/2010/main" val="3566609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19</a:t>
            </a:fld>
            <a:endParaRPr lang="zh-CN" altLang="en-US"/>
          </a:p>
        </p:txBody>
      </p:sp>
    </p:spTree>
    <p:extLst>
      <p:ext uri="{BB962C8B-B14F-4D97-AF65-F5344CB8AC3E}">
        <p14:creationId xmlns:p14="http://schemas.microsoft.com/office/powerpoint/2010/main" val="24120689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20</a:t>
            </a:fld>
            <a:endParaRPr lang="zh-CN" altLang="en-US"/>
          </a:p>
        </p:txBody>
      </p:sp>
    </p:spTree>
    <p:extLst>
      <p:ext uri="{BB962C8B-B14F-4D97-AF65-F5344CB8AC3E}">
        <p14:creationId xmlns:p14="http://schemas.microsoft.com/office/powerpoint/2010/main" val="30164674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21</a:t>
            </a:fld>
            <a:endParaRPr lang="zh-CN" altLang="en-US"/>
          </a:p>
        </p:txBody>
      </p:sp>
    </p:spTree>
    <p:extLst>
      <p:ext uri="{BB962C8B-B14F-4D97-AF65-F5344CB8AC3E}">
        <p14:creationId xmlns:p14="http://schemas.microsoft.com/office/powerpoint/2010/main" val="3016467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在数据流程图中，用命名的箭头表示数据流，用</a:t>
            </a:r>
            <a:r>
              <a:rPr lang="zh-CN" altLang="en-US" sz="1200" kern="1200" dirty="0">
                <a:solidFill>
                  <a:schemeClr val="tx1"/>
                </a:solidFill>
                <a:effectLst/>
                <a:latin typeface="+mn-lt"/>
                <a:ea typeface="+mn-ea"/>
                <a:cs typeface="+mn-cs"/>
              </a:rPr>
              <a:t>开口的</a:t>
            </a:r>
            <a:r>
              <a:rPr lang="zh-CN" altLang="zh-CN" sz="1200" kern="1200" dirty="0">
                <a:solidFill>
                  <a:schemeClr val="tx1"/>
                </a:solidFill>
                <a:effectLst/>
                <a:latin typeface="+mn-lt"/>
                <a:ea typeface="+mn-ea"/>
                <a:cs typeface="+mn-cs"/>
              </a:rPr>
              <a:t>矩形或其他形状表示存储，用圆圈表示处理。</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23</a:t>
            </a:fld>
            <a:endParaRPr lang="zh-CN" altLang="en-US"/>
          </a:p>
        </p:txBody>
      </p:sp>
    </p:spTree>
    <p:extLst>
      <p:ext uri="{BB962C8B-B14F-4D97-AF65-F5344CB8AC3E}">
        <p14:creationId xmlns:p14="http://schemas.microsoft.com/office/powerpoint/2010/main" val="42483320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在第一层数据流图的基础上，可以继续细化和分解，画出第二层、第三层的数据流图，</a:t>
            </a:r>
            <a:r>
              <a:rPr lang="zh-CN" altLang="zh-CN" sz="1200" kern="1200" dirty="0">
                <a:solidFill>
                  <a:schemeClr val="tx1"/>
                </a:solidFill>
                <a:effectLst/>
                <a:latin typeface="+mn-lt"/>
                <a:ea typeface="+mn-ea"/>
                <a:cs typeface="+mn-cs"/>
              </a:rPr>
              <a:t>形成若干层次的数据流程图，直到表达清楚为止</a:t>
            </a:r>
            <a:r>
              <a:rPr lang="zh-CN" altLang="en-US" dirty="0"/>
              <a:t>。</a:t>
            </a:r>
            <a:endParaRPr lang="en-US" altLang="zh-CN"/>
          </a:p>
          <a:p>
            <a:endParaRPr lang="zh-CN" altLang="en-US"/>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24</a:t>
            </a:fld>
            <a:endParaRPr lang="zh-CN" altLang="en-US"/>
          </a:p>
        </p:txBody>
      </p:sp>
    </p:spTree>
    <p:extLst>
      <p:ext uri="{BB962C8B-B14F-4D97-AF65-F5344CB8AC3E}">
        <p14:creationId xmlns:p14="http://schemas.microsoft.com/office/powerpoint/2010/main" val="31890646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数据流程图清楚地表达了数据与处理之间的关系。而系统中的数据则用数据字典来描述。</a:t>
            </a:r>
            <a:endParaRPr lang="zh-CN" altLang="en-US" dirty="0"/>
          </a:p>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25</a:t>
            </a:fld>
            <a:endParaRPr lang="zh-CN" altLang="en-US"/>
          </a:p>
        </p:txBody>
      </p:sp>
    </p:spTree>
    <p:extLst>
      <p:ext uri="{BB962C8B-B14F-4D97-AF65-F5344CB8AC3E}">
        <p14:creationId xmlns:p14="http://schemas.microsoft.com/office/powerpoint/2010/main" val="6561480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26</a:t>
            </a:fld>
            <a:endParaRPr lang="zh-CN" altLang="en-US"/>
          </a:p>
        </p:txBody>
      </p:sp>
    </p:spTree>
    <p:extLst>
      <p:ext uri="{BB962C8B-B14F-4D97-AF65-F5344CB8AC3E}">
        <p14:creationId xmlns:p14="http://schemas.microsoft.com/office/powerpoint/2010/main" val="136587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27</a:t>
            </a:fld>
            <a:endParaRPr lang="zh-CN" altLang="en-US"/>
          </a:p>
        </p:txBody>
      </p:sp>
    </p:spTree>
    <p:extLst>
      <p:ext uri="{BB962C8B-B14F-4D97-AF65-F5344CB8AC3E}">
        <p14:creationId xmlns:p14="http://schemas.microsoft.com/office/powerpoint/2010/main" val="4292436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28</a:t>
            </a:fld>
            <a:endParaRPr lang="zh-CN" altLang="en-US"/>
          </a:p>
        </p:txBody>
      </p:sp>
    </p:spTree>
    <p:extLst>
      <p:ext uri="{BB962C8B-B14F-4D97-AF65-F5344CB8AC3E}">
        <p14:creationId xmlns:p14="http://schemas.microsoft.com/office/powerpoint/2010/main" val="21550218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29</a:t>
            </a:fld>
            <a:endParaRPr lang="zh-CN" altLang="en-US"/>
          </a:p>
        </p:txBody>
      </p:sp>
    </p:spTree>
    <p:extLst>
      <p:ext uri="{BB962C8B-B14F-4D97-AF65-F5344CB8AC3E}">
        <p14:creationId xmlns:p14="http://schemas.microsoft.com/office/powerpoint/2010/main" val="17550598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30</a:t>
            </a:fld>
            <a:endParaRPr lang="zh-CN" altLang="en-US"/>
          </a:p>
        </p:txBody>
      </p:sp>
    </p:spTree>
    <p:extLst>
      <p:ext uri="{BB962C8B-B14F-4D97-AF65-F5344CB8AC3E}">
        <p14:creationId xmlns:p14="http://schemas.microsoft.com/office/powerpoint/2010/main" val="1452666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31</a:t>
            </a:fld>
            <a:endParaRPr lang="zh-CN" altLang="en-US"/>
          </a:p>
        </p:txBody>
      </p:sp>
    </p:spTree>
    <p:extLst>
      <p:ext uri="{BB962C8B-B14F-4D97-AF65-F5344CB8AC3E}">
        <p14:creationId xmlns:p14="http://schemas.microsoft.com/office/powerpoint/2010/main" val="10662863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32</a:t>
            </a:fld>
            <a:endParaRPr lang="zh-CN" altLang="en-US"/>
          </a:p>
        </p:txBody>
      </p:sp>
    </p:spTree>
    <p:extLst>
      <p:ext uri="{BB962C8B-B14F-4D97-AF65-F5344CB8AC3E}">
        <p14:creationId xmlns:p14="http://schemas.microsoft.com/office/powerpoint/2010/main" val="11044486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gi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4" name="图片 3" descr="logo.jpg"/>
          <p:cNvPicPr>
            <a:picLocks noChangeAspect="1"/>
          </p:cNvPicPr>
          <p:nvPr userDrawn="1"/>
        </p:nvPicPr>
        <p:blipFill>
          <a:blip r:embed="rId2" cstate="print"/>
          <a:stretch>
            <a:fillRect/>
          </a:stretch>
        </p:blipFill>
        <p:spPr>
          <a:xfrm>
            <a:off x="10165479" y="6370882"/>
            <a:ext cx="1968290" cy="366871"/>
          </a:xfrm>
          <a:prstGeom prst="rect">
            <a:avLst/>
          </a:prstGeom>
        </p:spPr>
      </p:pic>
      <p:grpSp>
        <p:nvGrpSpPr>
          <p:cNvPr id="15"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descr="https://gimg2.baidu.com/image_search/src=http%3A%2F%2Fscibit.com%2Fwp-content%2Fuploads%2Fsites%2F29%2F2016%2F12%2Fmysql.jpg&amp;refer=http%3A%2F%2Fscibit.com&amp;app=2002&amp;size=f9999,10000&amp;q=a80&amp;n=0&amp;g=0n&amp;fmt=jpeg?sec=1617097019&amp;t=50d79522f2407f4e27c19386f4a6644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5575" y="-136525"/>
            <a:ext cx="38100" cy="76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5"/>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715" y="6316356"/>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grpSp>
        <p:nvGrpSpPr>
          <p:cNvPr id="10"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15" descr="logo.jpg"/>
          <p:cNvPicPr>
            <a:picLocks noChangeAspect="1"/>
          </p:cNvPicPr>
          <p:nvPr userDrawn="1"/>
        </p:nvPicPr>
        <p:blipFill>
          <a:blip r:embed="rId2" cstate="print"/>
          <a:stretch>
            <a:fillRect/>
          </a:stretch>
        </p:blipFill>
        <p:spPr>
          <a:xfrm>
            <a:off x="10146161" y="6470879"/>
            <a:ext cx="1968290" cy="366871"/>
          </a:xfrm>
          <a:prstGeom prst="rect">
            <a:avLst/>
          </a:prstGeom>
        </p:spPr>
      </p:pic>
      <p:pic>
        <p:nvPicPr>
          <p:cNvPr id="9"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715" y="6319178"/>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图片 1" descr="logo.jpg"/>
          <p:cNvPicPr>
            <a:picLocks noChangeAspect="1"/>
          </p:cNvPicPr>
          <p:nvPr userDrawn="1"/>
        </p:nvPicPr>
        <p:blipFill>
          <a:blip r:embed="rId2" cstate="print"/>
          <a:stretch>
            <a:fillRect/>
          </a:stretch>
        </p:blipFill>
        <p:spPr>
          <a:xfrm>
            <a:off x="10217716" y="6491129"/>
            <a:ext cx="1968290" cy="366871"/>
          </a:xfrm>
          <a:prstGeom prst="rect">
            <a:avLst/>
          </a:prstGeom>
        </p:spPr>
      </p:pic>
      <p:pic>
        <p:nvPicPr>
          <p:cNvPr id="4" name="Picture 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TR">
    <p:bg>
      <p:bgPr>
        <a:solidFill>
          <a:schemeClr val="bg1">
            <a:lumMod val="95000"/>
          </a:schemeClr>
        </a:solidFill>
        <a:effectLst/>
      </p:bgPr>
    </p:bg>
    <p:spTree>
      <p:nvGrpSpPr>
        <p:cNvPr id="1" name=""/>
        <p:cNvGrpSpPr/>
        <p:nvPr/>
      </p:nvGrpSpPr>
      <p:grpSpPr>
        <a:xfrm>
          <a:off x="0" y="0"/>
          <a:ext cx="0" cy="0"/>
          <a:chOff x="0" y="0"/>
          <a:chExt cx="0" cy="0"/>
        </a:xfrm>
      </p:grpSpPr>
      <p:sp>
        <p:nvSpPr>
          <p:cNvPr id="11" name="矩形 7"/>
          <p:cNvSpPr>
            <a:spLocks noChangeArrowheads="1"/>
          </p:cNvSpPr>
          <p:nvPr userDrawn="1"/>
        </p:nvSpPr>
        <p:spPr bwMode="auto">
          <a:xfrm>
            <a:off x="5298013" y="6807215"/>
            <a:ext cx="4318041" cy="54000"/>
          </a:xfrm>
          <a:prstGeom prst="rect">
            <a:avLst/>
          </a:prstGeom>
          <a:solidFill>
            <a:srgbClr val="317FB7"/>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807215"/>
            <a:ext cx="3429017" cy="54000"/>
          </a:xfrm>
          <a:prstGeom prst="rect">
            <a:avLst/>
          </a:prstGeom>
          <a:solidFill>
            <a:srgbClr val="92D050"/>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3428982" y="6807215"/>
            <a:ext cx="1873285" cy="54000"/>
          </a:xfrm>
          <a:prstGeom prst="rect">
            <a:avLst/>
          </a:prstGeom>
          <a:solidFill>
            <a:srgbClr val="F49022"/>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9620274" y="6807215"/>
            <a:ext cx="2571725" cy="54000"/>
          </a:xfrm>
          <a:prstGeom prst="rect">
            <a:avLst/>
          </a:prstGeom>
          <a:solidFill>
            <a:srgbClr val="EE3636"/>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8" name="图片 7" descr="logo.jpg"/>
          <p:cNvPicPr>
            <a:picLocks noChangeAspect="1"/>
          </p:cNvPicPr>
          <p:nvPr userDrawn="1"/>
        </p:nvPicPr>
        <p:blipFill>
          <a:blip r:embed="rId2" cstate="print"/>
          <a:stretch>
            <a:fillRect/>
          </a:stretch>
        </p:blipFill>
        <p:spPr>
          <a:xfrm>
            <a:off x="10223709" y="6440344"/>
            <a:ext cx="1968290" cy="366871"/>
          </a:xfrm>
          <a:prstGeom prst="rect">
            <a:avLst/>
          </a:prstGeom>
        </p:spPr>
      </p:pic>
      <p:pic>
        <p:nvPicPr>
          <p:cNvPr id="9" name="Picture 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715" y="6297039"/>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大纲">
    <p:spTree>
      <p:nvGrpSpPr>
        <p:cNvPr id="1" name=""/>
        <p:cNvGrpSpPr/>
        <p:nvPr/>
      </p:nvGrpSpPr>
      <p:grpSpPr>
        <a:xfrm>
          <a:off x="0" y="0"/>
          <a:ext cx="0" cy="0"/>
          <a:chOff x="0" y="0"/>
          <a:chExt cx="0" cy="0"/>
        </a:xfrm>
      </p:grpSpPr>
      <p:pic>
        <p:nvPicPr>
          <p:cNvPr id="9" name="图片 8" descr="logo.jpg"/>
          <p:cNvPicPr>
            <a:picLocks noChangeAspect="1"/>
          </p:cNvPicPr>
          <p:nvPr userDrawn="1"/>
        </p:nvPicPr>
        <p:blipFill>
          <a:blip r:embed="rId2" cstate="print"/>
          <a:stretch>
            <a:fillRect/>
          </a:stretch>
        </p:blipFill>
        <p:spPr>
          <a:xfrm>
            <a:off x="10223710" y="6491129"/>
            <a:ext cx="1968290" cy="366871"/>
          </a:xfrm>
          <a:prstGeom prst="rect">
            <a:avLst/>
          </a:prstGeom>
        </p:spPr>
      </p:pic>
      <p:pic>
        <p:nvPicPr>
          <p:cNvPr id="4"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360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1627143" y="1"/>
            <a:ext cx="564856" cy="62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descr="logo.jpg"/>
          <p:cNvPicPr>
            <a:picLocks noChangeAspect="1"/>
          </p:cNvPicPr>
          <p:nvPr userDrawn="1"/>
        </p:nvPicPr>
        <p:blipFill>
          <a:blip r:embed="rId8" cstate="print"/>
          <a:stretch>
            <a:fillRect/>
          </a:stretch>
        </p:blipFill>
        <p:spPr>
          <a:xfrm>
            <a:off x="10223709" y="6491129"/>
            <a:ext cx="1968290" cy="366871"/>
          </a:xfrm>
          <a:prstGeom prst="rect">
            <a:avLst/>
          </a:prstGeom>
        </p:spPr>
      </p:pic>
      <p:pic>
        <p:nvPicPr>
          <p:cNvPr id="4" name="Picture 5"/>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7" r:id="rId5"/>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448763" y="15"/>
            <a:ext cx="2726267" cy="1200329"/>
          </a:xfrm>
          <a:prstGeom prst="rect">
            <a:avLst/>
          </a:prstGeom>
          <a:solidFill>
            <a:schemeClr val="bg1"/>
          </a:solidFill>
        </p:spPr>
        <p:txBody>
          <a:bodyPr wrap="square" rtlCol="0">
            <a:spAutoFit/>
          </a:bodyPr>
          <a:lstStyle/>
          <a:p>
            <a:endParaRPr lang="en-US" altLang="zh-CN" dirty="0"/>
          </a:p>
          <a:p>
            <a:endParaRPr lang="en-US" altLang="zh-CN" dirty="0"/>
          </a:p>
          <a:p>
            <a:r>
              <a:rPr lang="en-US" altLang="zh-CN" dirty="0"/>
              <a:t>                                                    </a:t>
            </a:r>
          </a:p>
          <a:p>
            <a:endParaRPr lang="zh-CN" altLang="en-US" dirty="0"/>
          </a:p>
        </p:txBody>
      </p:sp>
      <p:pic>
        <p:nvPicPr>
          <p:cNvPr id="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33" y="15"/>
            <a:ext cx="5515227" cy="481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2444074" y="620454"/>
            <a:ext cx="8128000"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40000"/>
              </a:spcBef>
            </a:pPr>
            <a:r>
              <a:rPr lang="zh-CN" altLang="en-US" sz="4000" b="1" dirty="0">
                <a:solidFill>
                  <a:srgbClr val="003300"/>
                </a:solidFill>
              </a:rPr>
              <a:t>第八章    数据库设计</a:t>
            </a:r>
            <a:endParaRPr lang="en-US" altLang="zh-CN" sz="4000" b="1" dirty="0">
              <a:solidFill>
                <a:srgbClr val="003300"/>
              </a:solidFill>
            </a:endParaRPr>
          </a:p>
          <a:p>
            <a:pPr eaLnBrk="1" hangingPunct="1">
              <a:spcBef>
                <a:spcPct val="50000"/>
              </a:spcBef>
            </a:pPr>
            <a:r>
              <a:rPr lang="en-US" altLang="zh-CN" sz="3200" b="1" dirty="0"/>
              <a:t>	</a:t>
            </a:r>
            <a:r>
              <a:rPr lang="en-US" altLang="zh-CN" sz="3200" b="1" dirty="0">
                <a:solidFill>
                  <a:srgbClr val="FF0000"/>
                </a:solidFill>
              </a:rPr>
              <a:t>8.1 </a:t>
            </a:r>
            <a:r>
              <a:rPr lang="zh-CN" altLang="en-US" sz="3200" b="1" dirty="0">
                <a:solidFill>
                  <a:srgbClr val="FF0000"/>
                </a:solidFill>
              </a:rPr>
              <a:t>数据库设计概述</a:t>
            </a:r>
            <a:endParaRPr lang="en-US" altLang="zh-CN" sz="3200" b="1" dirty="0">
              <a:solidFill>
                <a:srgbClr val="FF0000"/>
              </a:solidFill>
            </a:endParaRPr>
          </a:p>
          <a:p>
            <a:pPr eaLnBrk="1" hangingPunct="1">
              <a:spcBef>
                <a:spcPct val="50000"/>
              </a:spcBef>
            </a:pPr>
            <a:r>
              <a:rPr lang="en-US" altLang="zh-CN" sz="3200" b="1" dirty="0"/>
              <a:t>	8.2 </a:t>
            </a:r>
            <a:r>
              <a:rPr lang="zh-CN" altLang="en-US" sz="3200" b="1" dirty="0"/>
              <a:t>需求分析</a:t>
            </a:r>
            <a:endParaRPr lang="en-US" altLang="zh-CN" sz="3200" b="1" dirty="0"/>
          </a:p>
          <a:p>
            <a:pPr eaLnBrk="1" hangingPunct="1">
              <a:spcBef>
                <a:spcPct val="50000"/>
              </a:spcBef>
            </a:pPr>
            <a:r>
              <a:rPr lang="en-US" altLang="zh-CN" sz="3200" b="1" dirty="0"/>
              <a:t>	8.3 </a:t>
            </a:r>
            <a:r>
              <a:rPr lang="zh-CN" altLang="en-US" sz="3200" b="1" dirty="0"/>
              <a:t>概念设计</a:t>
            </a:r>
            <a:endParaRPr lang="en-US" altLang="zh-CN" sz="3200" b="1" dirty="0"/>
          </a:p>
          <a:p>
            <a:pPr eaLnBrk="1" hangingPunct="1">
              <a:spcBef>
                <a:spcPct val="50000"/>
              </a:spcBef>
            </a:pPr>
            <a:r>
              <a:rPr lang="en-US" altLang="zh-CN" sz="3200" b="1" dirty="0"/>
              <a:t>        8.4 </a:t>
            </a:r>
            <a:r>
              <a:rPr lang="zh-CN" altLang="en-US" sz="3200" b="1" dirty="0"/>
              <a:t>逻辑设计</a:t>
            </a:r>
            <a:endParaRPr lang="en-US" altLang="zh-CN" sz="3200" b="1" dirty="0"/>
          </a:p>
          <a:p>
            <a:pPr eaLnBrk="1" hangingPunct="1">
              <a:spcBef>
                <a:spcPct val="50000"/>
              </a:spcBef>
            </a:pPr>
            <a:r>
              <a:rPr lang="en-US" altLang="zh-CN" sz="3200" b="1" dirty="0"/>
              <a:t>        8.5 </a:t>
            </a:r>
            <a:r>
              <a:rPr lang="zh-CN" altLang="en-US" sz="3200" b="1" dirty="0"/>
              <a:t>物理设计</a:t>
            </a:r>
            <a:endParaRPr lang="en-US" altLang="zh-CN" sz="3200" b="1" dirty="0"/>
          </a:p>
          <a:p>
            <a:pPr eaLnBrk="1" hangingPunct="1">
              <a:spcBef>
                <a:spcPct val="50000"/>
              </a:spcBef>
            </a:pPr>
            <a:r>
              <a:rPr lang="en-US" altLang="zh-CN" sz="3200" b="1" dirty="0"/>
              <a:t>        8.6 </a:t>
            </a:r>
            <a:r>
              <a:rPr lang="zh-CN" altLang="en-US" sz="3200" b="1" dirty="0"/>
              <a:t>数据库实施、运行与维护</a:t>
            </a:r>
            <a:endParaRPr lang="en-US" altLang="zh-CN" sz="3200" dirty="0"/>
          </a:p>
        </p:txBody>
      </p:sp>
    </p:spTree>
    <p:extLst>
      <p:ext uri="{BB962C8B-B14F-4D97-AF65-F5344CB8AC3E}">
        <p14:creationId xmlns:p14="http://schemas.microsoft.com/office/powerpoint/2010/main" val="102470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7" name="Rectangle 3"/>
          <p:cNvSpPr txBox="1">
            <a:spLocks noChangeArrowheads="1"/>
          </p:cNvSpPr>
          <p:nvPr/>
        </p:nvSpPr>
        <p:spPr bwMode="auto">
          <a:xfrm>
            <a:off x="457200" y="1219200"/>
            <a:ext cx="10941627" cy="214745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spcBef>
                <a:spcPct val="35000"/>
              </a:spcBef>
              <a:buClr>
                <a:srgbClr val="FF0000"/>
              </a:buClr>
              <a:buFont typeface="Wingdings" panose="05000000000000000000" pitchFamily="2" charset="2"/>
              <a:buChar char="Ø"/>
            </a:pPr>
            <a:r>
              <a:rPr lang="en-US" altLang="zh-CN" b="1" dirty="0">
                <a:solidFill>
                  <a:srgbClr val="000066"/>
                </a:solidFill>
                <a:latin typeface="楷体_GB2312" pitchFamily="49" charset="-122"/>
                <a:ea typeface="楷体_GB2312" pitchFamily="49" charset="-122"/>
              </a:rPr>
              <a:t>   </a:t>
            </a:r>
            <a:r>
              <a:rPr lang="zh-CN" altLang="en-US" b="1" dirty="0">
                <a:solidFill>
                  <a:srgbClr val="CC3300"/>
                </a:solidFill>
                <a:latin typeface="楷体_GB2312" pitchFamily="49" charset="-122"/>
                <a:ea typeface="楷体_GB2312" pitchFamily="49" charset="-122"/>
              </a:rPr>
              <a:t>什么是数据库设计</a:t>
            </a:r>
          </a:p>
          <a:p>
            <a:pPr lvl="1" eaLnBrk="1" hangingPunct="1">
              <a:lnSpc>
                <a:spcPct val="125000"/>
              </a:lnSpc>
              <a:spcBef>
                <a:spcPct val="35000"/>
              </a:spcBef>
              <a:spcAft>
                <a:spcPct val="20000"/>
              </a:spcAft>
            </a:pPr>
            <a:r>
              <a:rPr lang="zh-CN" altLang="en-US" b="1" dirty="0">
                <a:solidFill>
                  <a:schemeClr val="tx2"/>
                </a:solidFill>
                <a:latin typeface="楷体_GB2312" pitchFamily="49" charset="-122"/>
                <a:ea typeface="楷体_GB2312" pitchFamily="49" charset="-122"/>
              </a:rPr>
              <a:t>数据库设计是指对于一个给定的应用环境，构造最优的数据库模式，建立数据库及其应用系统，使之能够有效地存储数据，满足各种用户的应用需求</a:t>
            </a:r>
            <a:r>
              <a:rPr lang="zh-CN" altLang="en-US" b="1" dirty="0">
                <a:solidFill>
                  <a:srgbClr val="000066"/>
                </a:solidFill>
                <a:latin typeface="楷体_GB2312" pitchFamily="49" charset="-122"/>
                <a:ea typeface="楷体_GB2312" pitchFamily="49" charset="-122"/>
              </a:rPr>
              <a:t>（</a:t>
            </a:r>
            <a:r>
              <a:rPr lang="zh-CN" altLang="en-US" b="1" dirty="0">
                <a:solidFill>
                  <a:srgbClr val="CC3300"/>
                </a:solidFill>
                <a:latin typeface="楷体_GB2312" pitchFamily="49" charset="-122"/>
                <a:ea typeface="楷体_GB2312" pitchFamily="49" charset="-122"/>
              </a:rPr>
              <a:t>信息要求和处理要求</a:t>
            </a:r>
            <a:r>
              <a:rPr lang="zh-CN" altLang="en-US" b="1" dirty="0">
                <a:solidFill>
                  <a:srgbClr val="000066"/>
                </a:solidFill>
                <a:latin typeface="楷体_GB2312" pitchFamily="49" charset="-122"/>
                <a:ea typeface="楷体_GB2312" pitchFamily="49" charset="-122"/>
              </a:rPr>
              <a:t>）。</a:t>
            </a:r>
          </a:p>
        </p:txBody>
      </p:sp>
      <p:pic>
        <p:nvPicPr>
          <p:cNvPr id="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070" y="3712008"/>
            <a:ext cx="7162800"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8.1.1</a:t>
            </a:r>
            <a:r>
              <a:rPr lang="zh-CN" altLang="en-US" sz="2800" b="1" dirty="0">
                <a:solidFill>
                  <a:schemeClr val="bg1"/>
                </a:solidFill>
                <a:latin typeface="微软雅黑" panose="020B0503020204020204" pitchFamily="34" charset="-122"/>
                <a:ea typeface="微软雅黑" panose="020B0503020204020204" pitchFamily="34" charset="-122"/>
              </a:rPr>
              <a:t>数据库设计的概念</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8791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6" name="Rectangle 4"/>
          <p:cNvSpPr txBox="1">
            <a:spLocks noChangeArrowheads="1"/>
          </p:cNvSpPr>
          <p:nvPr/>
        </p:nvSpPr>
        <p:spPr bwMode="auto">
          <a:xfrm>
            <a:off x="533398" y="1112768"/>
            <a:ext cx="11000509" cy="213412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35000"/>
              </a:spcBef>
              <a:buClr>
                <a:srgbClr val="FF0000"/>
              </a:buClr>
              <a:buFont typeface="Wingdings" panose="05000000000000000000" pitchFamily="2" charset="2"/>
              <a:buChar char="Ø"/>
            </a:pPr>
            <a:r>
              <a:rPr lang="zh-CN" altLang="en-US" b="1" dirty="0">
                <a:solidFill>
                  <a:srgbClr val="CC3300"/>
                </a:solidFill>
                <a:ea typeface="楷体_GB2312" pitchFamily="49" charset="-122"/>
              </a:rPr>
              <a:t>数据库是信息系统的核心和基础</a:t>
            </a:r>
          </a:p>
          <a:p>
            <a:pPr lvl="1" eaLnBrk="1" hangingPunct="1">
              <a:spcBef>
                <a:spcPct val="35000"/>
              </a:spcBef>
            </a:pPr>
            <a:r>
              <a:rPr lang="zh-CN" altLang="en-US" b="1" dirty="0">
                <a:solidFill>
                  <a:schemeClr val="tx2"/>
                </a:solidFill>
                <a:ea typeface="楷体_GB2312" pitchFamily="49" charset="-122"/>
              </a:rPr>
              <a:t>它把信息系统中大量的数据按一定的模型组织起来；</a:t>
            </a:r>
          </a:p>
          <a:p>
            <a:pPr lvl="1" eaLnBrk="1" hangingPunct="1">
              <a:spcBef>
                <a:spcPct val="35000"/>
              </a:spcBef>
            </a:pPr>
            <a:r>
              <a:rPr lang="zh-CN" altLang="en-US" b="1" dirty="0">
                <a:solidFill>
                  <a:schemeClr val="tx2"/>
                </a:solidFill>
                <a:ea typeface="楷体_GB2312" pitchFamily="49" charset="-122"/>
              </a:rPr>
              <a:t>提供存储、维护、检索数据的功能；</a:t>
            </a:r>
          </a:p>
          <a:p>
            <a:pPr lvl="1" eaLnBrk="1" hangingPunct="1">
              <a:spcBef>
                <a:spcPct val="35000"/>
              </a:spcBef>
            </a:pPr>
            <a:r>
              <a:rPr lang="zh-CN" altLang="en-US" b="1" dirty="0">
                <a:solidFill>
                  <a:schemeClr val="tx2"/>
                </a:solidFill>
                <a:ea typeface="楷体_GB2312" pitchFamily="49" charset="-122"/>
              </a:rPr>
              <a:t>使信息系统可以方便、及时、准确地从数据库中获得所需的信息。</a:t>
            </a:r>
          </a:p>
        </p:txBody>
      </p:sp>
      <p:sp>
        <p:nvSpPr>
          <p:cNvPr id="7" name="Rectangle 5"/>
          <p:cNvSpPr>
            <a:spLocks noChangeArrowheads="1"/>
          </p:cNvSpPr>
          <p:nvPr/>
        </p:nvSpPr>
        <p:spPr bwMode="auto">
          <a:xfrm>
            <a:off x="533398" y="3379393"/>
            <a:ext cx="10846377" cy="941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228600" lvl="1" indent="-228600" eaLnBrk="1" hangingPunct="1">
              <a:lnSpc>
                <a:spcPct val="90000"/>
              </a:lnSpc>
              <a:spcBef>
                <a:spcPct val="35000"/>
              </a:spcBef>
              <a:buClr>
                <a:srgbClr val="FF0000"/>
              </a:buClr>
              <a:buFont typeface="Wingdings" panose="05000000000000000000" pitchFamily="2" charset="2"/>
              <a:buChar char="Ø"/>
            </a:pPr>
            <a:r>
              <a:rPr lang="zh-CN" altLang="en-US" sz="2800" b="1" i="0" dirty="0">
                <a:solidFill>
                  <a:srgbClr val="CC3300"/>
                </a:solidFill>
                <a:latin typeface="+mn-lt"/>
                <a:ea typeface="楷体_GB2312" pitchFamily="49" charset="-122"/>
              </a:rPr>
              <a:t>数据库设计目标</a:t>
            </a:r>
            <a:endParaRPr lang="en-US" altLang="zh-CN" sz="2800" b="1" i="0" dirty="0">
              <a:solidFill>
                <a:srgbClr val="CC3300"/>
              </a:solidFill>
              <a:latin typeface="+mn-lt"/>
              <a:ea typeface="楷体_GB2312" pitchFamily="49" charset="-122"/>
            </a:endParaRPr>
          </a:p>
          <a:p>
            <a:pPr marL="685800" lvl="1" indent="-228600" eaLnBrk="1" hangingPunct="1">
              <a:lnSpc>
                <a:spcPct val="90000"/>
              </a:lnSpc>
              <a:spcBef>
                <a:spcPct val="35000"/>
              </a:spcBef>
              <a:buClr>
                <a:schemeClr val="accent1"/>
              </a:buClr>
              <a:buFont typeface="Arial" panose="020B0604020202020204" pitchFamily="34" charset="0"/>
              <a:buChar char="•"/>
            </a:pPr>
            <a:r>
              <a:rPr lang="zh-CN" altLang="en-US" sz="2400" b="1" i="0" dirty="0">
                <a:solidFill>
                  <a:schemeClr val="tx2"/>
                </a:solidFill>
                <a:latin typeface="+mn-lt"/>
                <a:ea typeface="楷体_GB2312" pitchFamily="49" charset="-122"/>
              </a:rPr>
              <a:t>为用户和各种应用系统提供一个信息基础设施和高效率的运行环境。</a:t>
            </a:r>
          </a:p>
        </p:txBody>
      </p:sp>
      <p:sp>
        <p:nvSpPr>
          <p:cNvPr id="8"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8.1.1</a:t>
            </a:r>
            <a:r>
              <a:rPr lang="zh-CN" altLang="en-US" sz="2800" b="1" dirty="0">
                <a:solidFill>
                  <a:schemeClr val="bg1"/>
                </a:solidFill>
                <a:latin typeface="微软雅黑" panose="020B0503020204020204" pitchFamily="34" charset="-122"/>
                <a:ea typeface="微软雅黑" panose="020B0503020204020204" pitchFamily="34" charset="-122"/>
              </a:rPr>
              <a:t>数据库设计的概念</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5013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6" name="Rectangle 3"/>
          <p:cNvSpPr txBox="1">
            <a:spLocks noChangeArrowheads="1"/>
          </p:cNvSpPr>
          <p:nvPr/>
        </p:nvSpPr>
        <p:spPr bwMode="auto">
          <a:xfrm>
            <a:off x="323850" y="1461220"/>
            <a:ext cx="8382000" cy="179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eaLnBrk="1" hangingPunct="1">
              <a:lnSpc>
                <a:spcPct val="105000"/>
              </a:lnSpc>
              <a:spcBef>
                <a:spcPct val="0"/>
              </a:spcBef>
              <a:buFontTx/>
              <a:buNone/>
            </a:pPr>
            <a:r>
              <a:rPr lang="en-US" altLang="zh-CN" b="1" dirty="0">
                <a:solidFill>
                  <a:srgbClr val="000066"/>
                </a:solidFill>
                <a:latin typeface="楷体_GB2312" pitchFamily="49" charset="-122"/>
                <a:ea typeface="楷体_GB2312" pitchFamily="49" charset="-122"/>
              </a:rPr>
              <a:t>1. </a:t>
            </a:r>
            <a:r>
              <a:rPr lang="zh-CN" altLang="en-US" b="1" dirty="0">
                <a:solidFill>
                  <a:srgbClr val="CC3300"/>
                </a:solidFill>
                <a:latin typeface="楷体_GB2312" pitchFamily="49" charset="-122"/>
                <a:ea typeface="楷体_GB2312" pitchFamily="49" charset="-122"/>
              </a:rPr>
              <a:t>系统分析和数据库设计人员</a:t>
            </a:r>
          </a:p>
          <a:p>
            <a:pPr lvl="1" eaLnBrk="1" hangingPunct="1">
              <a:lnSpc>
                <a:spcPct val="105000"/>
              </a:lnSpc>
              <a:spcBef>
                <a:spcPct val="0"/>
              </a:spcBef>
            </a:pPr>
            <a:r>
              <a:rPr lang="zh-CN" altLang="en-US" b="1" dirty="0">
                <a:solidFill>
                  <a:schemeClr val="tx2"/>
                </a:solidFill>
                <a:latin typeface="楷体_GB2312" pitchFamily="49" charset="-122"/>
                <a:ea typeface="楷体_GB2312" pitchFamily="49" charset="-122"/>
              </a:rPr>
              <a:t>数据库设计的核心人员</a:t>
            </a:r>
          </a:p>
          <a:p>
            <a:pPr lvl="1" eaLnBrk="1" hangingPunct="1">
              <a:lnSpc>
                <a:spcPct val="105000"/>
              </a:lnSpc>
              <a:spcBef>
                <a:spcPct val="0"/>
              </a:spcBef>
            </a:pPr>
            <a:r>
              <a:rPr lang="zh-CN" altLang="en-US" b="1" dirty="0">
                <a:solidFill>
                  <a:schemeClr val="tx2"/>
                </a:solidFill>
                <a:latin typeface="楷体_GB2312" pitchFamily="49" charset="-122"/>
                <a:ea typeface="楷体_GB2312" pitchFamily="49" charset="-122"/>
              </a:rPr>
              <a:t>自始至终参与数据库设计</a:t>
            </a:r>
          </a:p>
          <a:p>
            <a:pPr lvl="1" eaLnBrk="1" hangingPunct="1">
              <a:lnSpc>
                <a:spcPct val="105000"/>
              </a:lnSpc>
              <a:spcBef>
                <a:spcPct val="0"/>
              </a:spcBef>
            </a:pPr>
            <a:r>
              <a:rPr lang="zh-CN" altLang="en-US" b="1" dirty="0">
                <a:solidFill>
                  <a:schemeClr val="tx2"/>
                </a:solidFill>
                <a:latin typeface="楷体_GB2312" pitchFamily="49" charset="-122"/>
                <a:ea typeface="楷体_GB2312" pitchFamily="49" charset="-122"/>
              </a:rPr>
              <a:t>其水平决定了数据库系统的质量</a:t>
            </a:r>
          </a:p>
        </p:txBody>
      </p:sp>
      <p:sp>
        <p:nvSpPr>
          <p:cNvPr id="7" name="Rectangle 4"/>
          <p:cNvSpPr>
            <a:spLocks noChangeArrowheads="1"/>
          </p:cNvSpPr>
          <p:nvPr/>
        </p:nvSpPr>
        <p:spPr bwMode="auto">
          <a:xfrm>
            <a:off x="306240" y="799232"/>
            <a:ext cx="8040984"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algn="ctr" eaLnBrk="1" hangingPunct="1">
              <a:lnSpc>
                <a:spcPct val="110000"/>
              </a:lnSpc>
              <a:spcBef>
                <a:spcPct val="20000"/>
              </a:spcBef>
              <a:buClr>
                <a:schemeClr val="accent1"/>
              </a:buClr>
              <a:buFont typeface="Wingdings" panose="05000000000000000000" pitchFamily="2" charset="2"/>
              <a:buChar char="Ø"/>
            </a:pPr>
            <a:r>
              <a:rPr kumimoji="1" lang="en-US" altLang="zh-CN" sz="2800" b="1" i="0" dirty="0">
                <a:solidFill>
                  <a:srgbClr val="CC3300"/>
                </a:solidFill>
                <a:latin typeface="楷体_GB2312" pitchFamily="49" charset="-122"/>
                <a:ea typeface="楷体_GB2312" pitchFamily="49" charset="-122"/>
              </a:rPr>
              <a:t> </a:t>
            </a:r>
            <a:r>
              <a:rPr kumimoji="1" lang="zh-CN" altLang="en-US" sz="2800" b="1" i="0" dirty="0">
                <a:solidFill>
                  <a:srgbClr val="CC3300"/>
                </a:solidFill>
                <a:latin typeface="楷体_GB2312" pitchFamily="49" charset="-122"/>
                <a:ea typeface="楷体_GB2312" pitchFamily="49" charset="-122"/>
              </a:rPr>
              <a:t>数据库设计的准备工作－选定参加设计的人员</a:t>
            </a:r>
          </a:p>
        </p:txBody>
      </p:sp>
      <p:sp>
        <p:nvSpPr>
          <p:cNvPr id="8" name="Rectangle 5"/>
          <p:cNvSpPr>
            <a:spLocks noChangeArrowheads="1"/>
          </p:cNvSpPr>
          <p:nvPr/>
        </p:nvSpPr>
        <p:spPr bwMode="auto">
          <a:xfrm>
            <a:off x="684213" y="3118570"/>
            <a:ext cx="8153400" cy="243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05000"/>
              </a:lnSpc>
            </a:pPr>
            <a:r>
              <a:rPr lang="en-US" altLang="zh-CN" sz="2400" b="1" i="0" dirty="0">
                <a:solidFill>
                  <a:srgbClr val="000066"/>
                </a:solidFill>
                <a:latin typeface="楷体_GB2312" pitchFamily="49" charset="-122"/>
                <a:ea typeface="楷体_GB2312" pitchFamily="49" charset="-122"/>
              </a:rPr>
              <a:t>2. </a:t>
            </a:r>
            <a:r>
              <a:rPr lang="zh-CN" altLang="en-US" sz="2400" b="1" i="0" dirty="0">
                <a:solidFill>
                  <a:srgbClr val="CC3300"/>
                </a:solidFill>
                <a:latin typeface="楷体_GB2312" pitchFamily="49" charset="-122"/>
                <a:ea typeface="楷体_GB2312" pitchFamily="49" charset="-122"/>
              </a:rPr>
              <a:t>用户和</a:t>
            </a:r>
            <a:r>
              <a:rPr lang="en-US" altLang="zh-CN" sz="2400" b="1" i="0" dirty="0">
                <a:solidFill>
                  <a:srgbClr val="CC3300"/>
                </a:solidFill>
                <a:latin typeface="楷体_GB2312" pitchFamily="49" charset="-122"/>
                <a:ea typeface="楷体_GB2312" pitchFamily="49" charset="-122"/>
              </a:rPr>
              <a:t>DBA</a:t>
            </a:r>
          </a:p>
          <a:p>
            <a:pPr marL="685800" lvl="1" indent="-228600" eaLnBrk="1" hangingPunct="1">
              <a:lnSpc>
                <a:spcPct val="105000"/>
              </a:lnSpc>
              <a:buFont typeface="Arial" panose="020B0604020202020204" pitchFamily="34" charset="0"/>
              <a:buChar char="•"/>
            </a:pPr>
            <a:r>
              <a:rPr lang="zh-CN" altLang="en-US" sz="2400" b="1" i="0" dirty="0">
                <a:solidFill>
                  <a:schemeClr val="tx2"/>
                </a:solidFill>
                <a:latin typeface="楷体_GB2312" pitchFamily="49" charset="-122"/>
                <a:ea typeface="楷体_GB2312" pitchFamily="49" charset="-122"/>
              </a:rPr>
              <a:t>在数据库设计中也是举足轻重的</a:t>
            </a:r>
          </a:p>
          <a:p>
            <a:pPr marL="685800" lvl="1" indent="-228600" eaLnBrk="1" hangingPunct="1">
              <a:lnSpc>
                <a:spcPct val="105000"/>
              </a:lnSpc>
              <a:buFont typeface="Arial" panose="020B0604020202020204" pitchFamily="34" charset="0"/>
              <a:buChar char="•"/>
            </a:pPr>
            <a:r>
              <a:rPr lang="zh-CN" altLang="en-US" sz="2400" b="1" i="0" dirty="0">
                <a:solidFill>
                  <a:schemeClr val="tx2"/>
                </a:solidFill>
                <a:latin typeface="楷体_GB2312" pitchFamily="49" charset="-122"/>
                <a:ea typeface="楷体_GB2312" pitchFamily="49" charset="-122"/>
              </a:rPr>
              <a:t>主要参加需求分析和数据库的运行维护</a:t>
            </a:r>
          </a:p>
          <a:p>
            <a:pPr marL="685800" lvl="1" indent="-228600" eaLnBrk="1" hangingPunct="1">
              <a:lnSpc>
                <a:spcPct val="105000"/>
              </a:lnSpc>
              <a:buFont typeface="Arial" panose="020B0604020202020204" pitchFamily="34" charset="0"/>
              <a:buChar char="•"/>
            </a:pPr>
            <a:r>
              <a:rPr lang="zh-CN" altLang="en-US" sz="2400" b="1" i="0" dirty="0">
                <a:solidFill>
                  <a:schemeClr val="tx2"/>
                </a:solidFill>
                <a:latin typeface="楷体_GB2312" pitchFamily="49" charset="-122"/>
                <a:ea typeface="楷体_GB2312" pitchFamily="49" charset="-122"/>
              </a:rPr>
              <a:t>积极参与带来的好处：</a:t>
            </a:r>
          </a:p>
          <a:p>
            <a:pPr lvl="2" eaLnBrk="1" hangingPunct="1">
              <a:lnSpc>
                <a:spcPct val="105000"/>
              </a:lnSpc>
              <a:spcBef>
                <a:spcPct val="20000"/>
              </a:spcBef>
              <a:buFontTx/>
              <a:buChar char="–"/>
            </a:pPr>
            <a:r>
              <a:rPr lang="zh-CN" altLang="en-US" sz="2000" b="1" i="0" dirty="0">
                <a:solidFill>
                  <a:schemeClr val="tx2"/>
                </a:solidFill>
                <a:ea typeface="楷体_GB2312" pitchFamily="49" charset="-122"/>
              </a:rPr>
              <a:t>加速数据库设计</a:t>
            </a:r>
          </a:p>
          <a:p>
            <a:pPr lvl="2" eaLnBrk="1" hangingPunct="1">
              <a:lnSpc>
                <a:spcPct val="105000"/>
              </a:lnSpc>
              <a:spcBef>
                <a:spcPct val="20000"/>
              </a:spcBef>
              <a:buFontTx/>
              <a:buChar char="–"/>
            </a:pPr>
            <a:r>
              <a:rPr lang="zh-CN" altLang="en-US" sz="2000" b="1" i="0" dirty="0">
                <a:solidFill>
                  <a:schemeClr val="tx2"/>
                </a:solidFill>
                <a:ea typeface="楷体_GB2312" pitchFamily="49" charset="-122"/>
              </a:rPr>
              <a:t>提高数据库设计的质量</a:t>
            </a:r>
          </a:p>
        </p:txBody>
      </p:sp>
      <p:sp>
        <p:nvSpPr>
          <p:cNvPr id="9" name="Rectangle 6"/>
          <p:cNvSpPr>
            <a:spLocks noChangeArrowheads="1"/>
          </p:cNvSpPr>
          <p:nvPr/>
        </p:nvSpPr>
        <p:spPr bwMode="auto">
          <a:xfrm>
            <a:off x="539749" y="5476007"/>
            <a:ext cx="111292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05000"/>
              </a:lnSpc>
              <a:buClr>
                <a:schemeClr val="accent1"/>
              </a:buClr>
            </a:pPr>
            <a:r>
              <a:rPr kumimoji="1" lang="en-US" altLang="zh-CN" sz="2400" b="1" i="0" dirty="0">
                <a:solidFill>
                  <a:srgbClr val="000066"/>
                </a:solidFill>
                <a:latin typeface="楷体_GB2312" pitchFamily="49" charset="-122"/>
                <a:ea typeface="楷体_GB2312" pitchFamily="49" charset="-122"/>
              </a:rPr>
              <a:t> 3. </a:t>
            </a:r>
            <a:r>
              <a:rPr kumimoji="1" lang="zh-CN" altLang="en-US" sz="2400" b="1" i="0" dirty="0">
                <a:solidFill>
                  <a:srgbClr val="CC3300"/>
                </a:solidFill>
                <a:latin typeface="楷体_GB2312" pitchFamily="49" charset="-122"/>
                <a:ea typeface="楷体_GB2312" pitchFamily="49" charset="-122"/>
              </a:rPr>
              <a:t>应用开发人员</a:t>
            </a:r>
            <a:r>
              <a:rPr kumimoji="1" lang="zh-CN" altLang="en-US" sz="2400" b="1" i="0" dirty="0">
                <a:solidFill>
                  <a:srgbClr val="000066"/>
                </a:solidFill>
                <a:latin typeface="楷体_GB2312" pitchFamily="49" charset="-122"/>
                <a:ea typeface="楷体_GB2312" pitchFamily="49" charset="-122"/>
              </a:rPr>
              <a:t>：</a:t>
            </a:r>
            <a:r>
              <a:rPr kumimoji="1" lang="zh-CN" altLang="en-US" sz="2400" b="1" i="0" dirty="0">
                <a:solidFill>
                  <a:schemeClr val="tx2"/>
                </a:solidFill>
                <a:latin typeface="楷体_GB2312" pitchFamily="49" charset="-122"/>
                <a:ea typeface="楷体_GB2312" pitchFamily="49" charset="-122"/>
              </a:rPr>
              <a:t>在系统实施阶段参与，负责编制程序和准备软硬件环境</a:t>
            </a:r>
          </a:p>
        </p:txBody>
      </p:sp>
      <p:sp>
        <p:nvSpPr>
          <p:cNvPr id="10"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8.1.1 </a:t>
            </a:r>
            <a:r>
              <a:rPr lang="zh-CN" altLang="en-US" sz="2800" b="1" dirty="0">
                <a:solidFill>
                  <a:schemeClr val="bg1"/>
                </a:solidFill>
                <a:latin typeface="微软雅黑" panose="020B0503020204020204" pitchFamily="34" charset="-122"/>
                <a:ea typeface="微软雅黑" panose="020B0503020204020204" pitchFamily="34" charset="-122"/>
              </a:rPr>
              <a:t>数据库设计的概念</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95621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blinds(horizontal)">
                                      <p:cBhvr>
                                        <p:cTn id="1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p:bldP spid="9"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8" name="Rectangle 3"/>
          <p:cNvSpPr txBox="1">
            <a:spLocks noChangeArrowheads="1"/>
          </p:cNvSpPr>
          <p:nvPr/>
        </p:nvSpPr>
        <p:spPr bwMode="auto">
          <a:xfrm>
            <a:off x="539749" y="1052514"/>
            <a:ext cx="11150023" cy="32804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eaLnBrk="1" hangingPunct="1">
              <a:spcBef>
                <a:spcPct val="35000"/>
              </a:spcBef>
              <a:buClr>
                <a:srgbClr val="FF0000"/>
              </a:buClr>
              <a:buFont typeface="Wingdings" panose="05000000000000000000" pitchFamily="2" charset="2"/>
              <a:buChar char="Ø"/>
            </a:pPr>
            <a:r>
              <a:rPr lang="zh-CN" altLang="en-US" sz="2800" b="1" dirty="0">
                <a:solidFill>
                  <a:srgbClr val="CC3300"/>
                </a:solidFill>
                <a:ea typeface="楷体_GB2312" pitchFamily="49" charset="-122"/>
              </a:rPr>
              <a:t>结构（数据）设计和行为（处理）设计相结合</a:t>
            </a:r>
          </a:p>
          <a:p>
            <a:pPr marL="0" lvl="1" eaLnBrk="1" hangingPunct="1">
              <a:lnSpc>
                <a:spcPct val="125000"/>
              </a:lnSpc>
            </a:pPr>
            <a:r>
              <a:rPr lang="zh-CN" altLang="en-US" b="1" dirty="0">
                <a:solidFill>
                  <a:srgbClr val="000066"/>
                </a:solidFill>
                <a:ea typeface="楷体_GB2312" pitchFamily="49" charset="-122"/>
              </a:rPr>
              <a:t>结构设计：</a:t>
            </a:r>
            <a:r>
              <a:rPr lang="zh-CN" altLang="en-US" b="1" dirty="0">
                <a:solidFill>
                  <a:schemeClr val="tx2"/>
                </a:solidFill>
                <a:ea typeface="楷体_GB2312" pitchFamily="49" charset="-122"/>
              </a:rPr>
              <a:t>设计数据库框架或数据库结构。</a:t>
            </a:r>
            <a:r>
              <a:rPr kumimoji="1" lang="zh-CN" altLang="en-US" b="1" dirty="0">
                <a:solidFill>
                  <a:schemeClr val="tx2"/>
                </a:solidFill>
                <a:latin typeface="楷体_GB2312" pitchFamily="49" charset="-122"/>
                <a:ea typeface="楷体_GB2312" pitchFamily="49" charset="-122"/>
              </a:rPr>
              <a:t>针对给定的应用环境，进行数据库的关系模式或子模式的设计。包括数据库的概念设计、逻辑设计和物理设计。给出各应用程序共享的结构，是静态和稳定的，一经形成不易改变。</a:t>
            </a:r>
            <a:endParaRPr lang="zh-CN" altLang="en-US" b="1" dirty="0">
              <a:solidFill>
                <a:schemeClr val="tx2"/>
              </a:solidFill>
              <a:ea typeface="楷体_GB2312" pitchFamily="49" charset="-122"/>
            </a:endParaRPr>
          </a:p>
          <a:p>
            <a:pPr marL="0" lvl="1" eaLnBrk="1" hangingPunct="1">
              <a:lnSpc>
                <a:spcPct val="125000"/>
              </a:lnSpc>
            </a:pPr>
            <a:r>
              <a:rPr lang="zh-CN" altLang="en-US" b="1" dirty="0">
                <a:solidFill>
                  <a:srgbClr val="000066"/>
                </a:solidFill>
                <a:ea typeface="楷体_GB2312" pitchFamily="49" charset="-122"/>
              </a:rPr>
              <a:t>行为设计：</a:t>
            </a:r>
            <a:r>
              <a:rPr lang="zh-CN" altLang="en-US" b="1" dirty="0">
                <a:solidFill>
                  <a:schemeClr val="tx2"/>
                </a:solidFill>
                <a:ea typeface="楷体_GB2312" pitchFamily="49" charset="-122"/>
              </a:rPr>
              <a:t>设计应用程序、事务处理等。</a:t>
            </a:r>
            <a:r>
              <a:rPr kumimoji="1" lang="zh-CN" altLang="en-US" b="1" dirty="0">
                <a:solidFill>
                  <a:schemeClr val="tx2"/>
                </a:solidFill>
                <a:latin typeface="楷体_GB2312" pitchFamily="49" charset="-122"/>
                <a:ea typeface="楷体_GB2312" pitchFamily="49" charset="-122"/>
              </a:rPr>
              <a:t>确定数据库用户的行为和动作，即通过应用程序来实现对数据库的操作。而用户的行为总是使数据库的内容发生变化，所以行为设计是动态的。</a:t>
            </a:r>
          </a:p>
        </p:txBody>
      </p:sp>
      <p:sp>
        <p:nvSpPr>
          <p:cNvPr id="6"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8.1.2 </a:t>
            </a:r>
            <a:r>
              <a:rPr lang="zh-CN" altLang="en-US" sz="2800" b="1" dirty="0">
                <a:solidFill>
                  <a:schemeClr val="bg1"/>
                </a:solidFill>
                <a:latin typeface="微软雅黑" panose="020B0503020204020204" pitchFamily="34" charset="-122"/>
                <a:ea typeface="微软雅黑" panose="020B0503020204020204" pitchFamily="34" charset="-122"/>
              </a:rPr>
              <a:t>数据库设计的特点</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525669"/>
            <a:ext cx="7162800"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66058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linds(horizontal)">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blinds(horizontal)">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grpSp>
        <p:nvGrpSpPr>
          <p:cNvPr id="6" name="Group 3"/>
          <p:cNvGrpSpPr>
            <a:grpSpLocks/>
          </p:cNvGrpSpPr>
          <p:nvPr/>
        </p:nvGrpSpPr>
        <p:grpSpPr bwMode="auto">
          <a:xfrm>
            <a:off x="5669348" y="845910"/>
            <a:ext cx="5867400" cy="4495800"/>
            <a:chOff x="1200" y="864"/>
            <a:chExt cx="3696" cy="2832"/>
          </a:xfrm>
        </p:grpSpPr>
        <p:sp>
          <p:nvSpPr>
            <p:cNvPr id="7" name="Freeform 4"/>
            <p:cNvSpPr>
              <a:spLocks/>
            </p:cNvSpPr>
            <p:nvPr/>
          </p:nvSpPr>
          <p:spPr bwMode="auto">
            <a:xfrm>
              <a:off x="2299" y="864"/>
              <a:ext cx="1337" cy="313"/>
            </a:xfrm>
            <a:custGeom>
              <a:avLst/>
              <a:gdLst>
                <a:gd name="T0" fmla="*/ 95 w 2106"/>
                <a:gd name="T1" fmla="*/ 54 h 774"/>
                <a:gd name="T2" fmla="*/ 217 w 2106"/>
                <a:gd name="T3" fmla="*/ 0 h 774"/>
                <a:gd name="T4" fmla="*/ 1753 w 2106"/>
                <a:gd name="T5" fmla="*/ 14 h 774"/>
                <a:gd name="T6" fmla="*/ 2106 w 2106"/>
                <a:gd name="T7" fmla="*/ 285 h 774"/>
                <a:gd name="T8" fmla="*/ 2092 w 2106"/>
                <a:gd name="T9" fmla="*/ 489 h 774"/>
                <a:gd name="T10" fmla="*/ 2051 w 2106"/>
                <a:gd name="T11" fmla="*/ 571 h 774"/>
                <a:gd name="T12" fmla="*/ 1970 w 2106"/>
                <a:gd name="T13" fmla="*/ 584 h 774"/>
                <a:gd name="T14" fmla="*/ 1861 w 2106"/>
                <a:gd name="T15" fmla="*/ 611 h 774"/>
                <a:gd name="T16" fmla="*/ 1562 w 2106"/>
                <a:gd name="T17" fmla="*/ 679 h 774"/>
                <a:gd name="T18" fmla="*/ 1182 w 2106"/>
                <a:gd name="T19" fmla="*/ 720 h 774"/>
                <a:gd name="T20" fmla="*/ 829 w 2106"/>
                <a:gd name="T21" fmla="*/ 774 h 774"/>
                <a:gd name="T22" fmla="*/ 448 w 2106"/>
                <a:gd name="T23" fmla="*/ 720 h 774"/>
                <a:gd name="T24" fmla="*/ 177 w 2106"/>
                <a:gd name="T25" fmla="*/ 625 h 774"/>
                <a:gd name="T26" fmla="*/ 82 w 2106"/>
                <a:gd name="T27" fmla="*/ 516 h 774"/>
                <a:gd name="T28" fmla="*/ 68 w 2106"/>
                <a:gd name="T29" fmla="*/ 476 h 774"/>
                <a:gd name="T30" fmla="*/ 41 w 2106"/>
                <a:gd name="T31" fmla="*/ 435 h 774"/>
                <a:gd name="T32" fmla="*/ 0 w 2106"/>
                <a:gd name="T33" fmla="*/ 299 h 774"/>
                <a:gd name="T34" fmla="*/ 14 w 2106"/>
                <a:gd name="T35" fmla="*/ 163 h 774"/>
                <a:gd name="T36" fmla="*/ 82 w 2106"/>
                <a:gd name="T37" fmla="*/ 95 h 774"/>
                <a:gd name="T38" fmla="*/ 95 w 2106"/>
                <a:gd name="T39" fmla="*/ 54 h 77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06"/>
                <a:gd name="T61" fmla="*/ 0 h 774"/>
                <a:gd name="T62" fmla="*/ 2106 w 2106"/>
                <a:gd name="T63" fmla="*/ 774 h 77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06" h="774">
                  <a:moveTo>
                    <a:pt x="95" y="54"/>
                  </a:moveTo>
                  <a:cubicBezTo>
                    <a:pt x="136" y="27"/>
                    <a:pt x="171" y="16"/>
                    <a:pt x="217" y="0"/>
                  </a:cubicBezTo>
                  <a:cubicBezTo>
                    <a:pt x="729" y="5"/>
                    <a:pt x="1241" y="6"/>
                    <a:pt x="1753" y="14"/>
                  </a:cubicBezTo>
                  <a:cubicBezTo>
                    <a:pt x="1918" y="17"/>
                    <a:pt x="2052" y="131"/>
                    <a:pt x="2106" y="285"/>
                  </a:cubicBezTo>
                  <a:cubicBezTo>
                    <a:pt x="2101" y="353"/>
                    <a:pt x="2099" y="421"/>
                    <a:pt x="2092" y="489"/>
                  </a:cubicBezTo>
                  <a:cubicBezTo>
                    <a:pt x="2090" y="508"/>
                    <a:pt x="2069" y="562"/>
                    <a:pt x="2051" y="571"/>
                  </a:cubicBezTo>
                  <a:cubicBezTo>
                    <a:pt x="2026" y="583"/>
                    <a:pt x="1997" y="578"/>
                    <a:pt x="1970" y="584"/>
                  </a:cubicBezTo>
                  <a:cubicBezTo>
                    <a:pt x="1933" y="592"/>
                    <a:pt x="1897" y="602"/>
                    <a:pt x="1861" y="611"/>
                  </a:cubicBezTo>
                  <a:cubicBezTo>
                    <a:pt x="1761" y="636"/>
                    <a:pt x="1663" y="659"/>
                    <a:pt x="1562" y="679"/>
                  </a:cubicBezTo>
                  <a:cubicBezTo>
                    <a:pt x="1437" y="704"/>
                    <a:pt x="1182" y="720"/>
                    <a:pt x="1182" y="720"/>
                  </a:cubicBezTo>
                  <a:cubicBezTo>
                    <a:pt x="1073" y="757"/>
                    <a:pt x="943" y="760"/>
                    <a:pt x="829" y="774"/>
                  </a:cubicBezTo>
                  <a:cubicBezTo>
                    <a:pt x="696" y="763"/>
                    <a:pt x="578" y="737"/>
                    <a:pt x="448" y="720"/>
                  </a:cubicBezTo>
                  <a:cubicBezTo>
                    <a:pt x="357" y="689"/>
                    <a:pt x="263" y="668"/>
                    <a:pt x="177" y="625"/>
                  </a:cubicBezTo>
                  <a:cubicBezTo>
                    <a:pt x="139" y="569"/>
                    <a:pt x="148" y="539"/>
                    <a:pt x="82" y="516"/>
                  </a:cubicBezTo>
                  <a:cubicBezTo>
                    <a:pt x="77" y="503"/>
                    <a:pt x="74" y="489"/>
                    <a:pt x="68" y="476"/>
                  </a:cubicBezTo>
                  <a:cubicBezTo>
                    <a:pt x="61" y="461"/>
                    <a:pt x="48" y="450"/>
                    <a:pt x="41" y="435"/>
                  </a:cubicBezTo>
                  <a:cubicBezTo>
                    <a:pt x="24" y="396"/>
                    <a:pt x="11" y="342"/>
                    <a:pt x="0" y="299"/>
                  </a:cubicBezTo>
                  <a:cubicBezTo>
                    <a:pt x="5" y="254"/>
                    <a:pt x="4" y="207"/>
                    <a:pt x="14" y="163"/>
                  </a:cubicBezTo>
                  <a:cubicBezTo>
                    <a:pt x="28" y="103"/>
                    <a:pt x="50" y="136"/>
                    <a:pt x="82" y="95"/>
                  </a:cubicBezTo>
                  <a:cubicBezTo>
                    <a:pt x="91" y="84"/>
                    <a:pt x="91" y="68"/>
                    <a:pt x="95" y="54"/>
                  </a:cubicBezTo>
                  <a:close/>
                </a:path>
              </a:pathLst>
            </a:custGeom>
            <a:noFill/>
            <a:ln w="190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 name="Text Box 5"/>
            <p:cNvSpPr txBox="1">
              <a:spLocks noChangeArrowheads="1"/>
            </p:cNvSpPr>
            <p:nvPr/>
          </p:nvSpPr>
          <p:spPr bwMode="auto">
            <a:xfrm>
              <a:off x="2496" y="912"/>
              <a:ext cx="905"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lnSpc>
                  <a:spcPct val="80000"/>
                </a:lnSpc>
              </a:pPr>
              <a:r>
                <a:rPr lang="zh-CN" altLang="en-US" sz="2000" b="1" i="0">
                  <a:solidFill>
                    <a:srgbClr val="000066"/>
                  </a:solidFill>
                  <a:latin typeface="Times New Roman" panose="02020603050405020304" pitchFamily="18" charset="0"/>
                </a:rPr>
                <a:t>现实世界</a:t>
              </a:r>
            </a:p>
          </p:txBody>
        </p:sp>
        <p:sp>
          <p:nvSpPr>
            <p:cNvPr id="9" name="Text Box 6"/>
            <p:cNvSpPr txBox="1">
              <a:spLocks noChangeArrowheads="1"/>
            </p:cNvSpPr>
            <p:nvPr/>
          </p:nvSpPr>
          <p:spPr bwMode="auto">
            <a:xfrm>
              <a:off x="1226" y="1794"/>
              <a:ext cx="1232"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lnSpc>
                  <a:spcPct val="80000"/>
                </a:lnSpc>
              </a:pPr>
              <a:r>
                <a:rPr lang="zh-CN" altLang="en-US" sz="2000" b="1" i="0">
                  <a:solidFill>
                    <a:srgbClr val="000066"/>
                  </a:solidFill>
                  <a:latin typeface="Times New Roman" panose="02020603050405020304" pitchFamily="18" charset="0"/>
                </a:rPr>
                <a:t>概念模型设计</a:t>
              </a:r>
            </a:p>
          </p:txBody>
        </p:sp>
        <p:sp>
          <p:nvSpPr>
            <p:cNvPr id="10" name="Text Box 7"/>
            <p:cNvSpPr txBox="1">
              <a:spLocks noChangeArrowheads="1"/>
            </p:cNvSpPr>
            <p:nvPr/>
          </p:nvSpPr>
          <p:spPr bwMode="auto">
            <a:xfrm>
              <a:off x="1200" y="3024"/>
              <a:ext cx="1271"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a:lnSpc>
                  <a:spcPct val="80000"/>
                </a:lnSpc>
              </a:pPr>
              <a:r>
                <a:rPr lang="en-US" altLang="zh-CN" sz="2000" b="1" i="0">
                  <a:solidFill>
                    <a:srgbClr val="000066"/>
                  </a:solidFill>
                  <a:latin typeface="Times New Roman" panose="02020603050405020304" pitchFamily="18" charset="0"/>
                </a:rPr>
                <a:t>     </a:t>
              </a:r>
              <a:r>
                <a:rPr lang="zh-CN" altLang="en-US" sz="2000" b="1" i="0">
                  <a:solidFill>
                    <a:srgbClr val="000066"/>
                  </a:solidFill>
                  <a:latin typeface="Times New Roman" panose="02020603050405020304" pitchFamily="18" charset="0"/>
                </a:rPr>
                <a:t>子模式设计</a:t>
              </a:r>
            </a:p>
          </p:txBody>
        </p:sp>
        <p:sp>
          <p:nvSpPr>
            <p:cNvPr id="11" name="Text Box 8"/>
            <p:cNvSpPr txBox="1">
              <a:spLocks noChangeArrowheads="1"/>
            </p:cNvSpPr>
            <p:nvPr/>
          </p:nvSpPr>
          <p:spPr bwMode="auto">
            <a:xfrm>
              <a:off x="1200" y="2640"/>
              <a:ext cx="1296" cy="246"/>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a:lnSpc>
                  <a:spcPct val="80000"/>
                </a:lnSpc>
              </a:pPr>
              <a:r>
                <a:rPr lang="zh-CN" altLang="en-US" sz="2000" b="1" i="0">
                  <a:solidFill>
                    <a:srgbClr val="000066"/>
                  </a:solidFill>
                  <a:latin typeface="Times New Roman" panose="02020603050405020304" pitchFamily="18" charset="0"/>
                </a:rPr>
                <a:t>物理数据库设计</a:t>
              </a:r>
            </a:p>
          </p:txBody>
        </p:sp>
        <p:sp>
          <p:nvSpPr>
            <p:cNvPr id="12" name="Text Box 9"/>
            <p:cNvSpPr txBox="1">
              <a:spLocks noChangeArrowheads="1"/>
            </p:cNvSpPr>
            <p:nvPr/>
          </p:nvSpPr>
          <p:spPr bwMode="auto">
            <a:xfrm>
              <a:off x="1200" y="2208"/>
              <a:ext cx="1281"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a:lnSpc>
                  <a:spcPct val="80000"/>
                </a:lnSpc>
              </a:pPr>
              <a:r>
                <a:rPr lang="zh-CN" altLang="en-US" sz="2000" b="1" i="0">
                  <a:solidFill>
                    <a:srgbClr val="000066"/>
                  </a:solidFill>
                  <a:latin typeface="Times New Roman" panose="02020603050405020304" pitchFamily="18" charset="0"/>
                </a:rPr>
                <a:t>逻辑数据库设计</a:t>
              </a:r>
            </a:p>
          </p:txBody>
        </p:sp>
        <p:sp>
          <p:nvSpPr>
            <p:cNvPr id="13" name="Text Box 10"/>
            <p:cNvSpPr txBox="1">
              <a:spLocks noChangeArrowheads="1"/>
            </p:cNvSpPr>
            <p:nvPr/>
          </p:nvSpPr>
          <p:spPr bwMode="auto">
            <a:xfrm>
              <a:off x="1365" y="3441"/>
              <a:ext cx="939"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a:lnSpc>
                  <a:spcPct val="80000"/>
                </a:lnSpc>
              </a:pPr>
              <a:r>
                <a:rPr lang="zh-CN" altLang="en-US" sz="2000" b="1" i="0">
                  <a:solidFill>
                    <a:srgbClr val="000066"/>
                  </a:solidFill>
                  <a:latin typeface="Times New Roman" panose="02020603050405020304" pitchFamily="18" charset="0"/>
                </a:rPr>
                <a:t>建立数据库</a:t>
              </a:r>
            </a:p>
          </p:txBody>
        </p:sp>
        <p:sp>
          <p:nvSpPr>
            <p:cNvPr id="14" name="Text Box 11"/>
            <p:cNvSpPr txBox="1">
              <a:spLocks noChangeArrowheads="1"/>
            </p:cNvSpPr>
            <p:nvPr/>
          </p:nvSpPr>
          <p:spPr bwMode="auto">
            <a:xfrm>
              <a:off x="1365" y="1383"/>
              <a:ext cx="937"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lnSpc>
                  <a:spcPct val="80000"/>
                </a:lnSpc>
              </a:pPr>
              <a:r>
                <a:rPr lang="zh-CN" altLang="en-US" sz="2000" b="1" i="0">
                  <a:solidFill>
                    <a:srgbClr val="000066"/>
                  </a:solidFill>
                  <a:latin typeface="Times New Roman" panose="02020603050405020304" pitchFamily="18" charset="0"/>
                </a:rPr>
                <a:t>数据分析</a:t>
              </a:r>
            </a:p>
          </p:txBody>
        </p:sp>
        <p:sp>
          <p:nvSpPr>
            <p:cNvPr id="15" name="Text Box 12"/>
            <p:cNvSpPr txBox="1">
              <a:spLocks noChangeArrowheads="1"/>
            </p:cNvSpPr>
            <p:nvPr/>
          </p:nvSpPr>
          <p:spPr bwMode="auto">
            <a:xfrm>
              <a:off x="3416" y="1383"/>
              <a:ext cx="937"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lnSpc>
                  <a:spcPct val="80000"/>
                </a:lnSpc>
              </a:pPr>
              <a:r>
                <a:rPr lang="zh-CN" altLang="en-US" sz="2000" b="1" i="0">
                  <a:solidFill>
                    <a:srgbClr val="000066"/>
                  </a:solidFill>
                  <a:latin typeface="Times New Roman" panose="02020603050405020304" pitchFamily="18" charset="0"/>
                </a:rPr>
                <a:t>功能分析</a:t>
              </a:r>
            </a:p>
          </p:txBody>
        </p:sp>
        <p:sp>
          <p:nvSpPr>
            <p:cNvPr id="16" name="Text Box 13"/>
            <p:cNvSpPr txBox="1">
              <a:spLocks noChangeArrowheads="1"/>
            </p:cNvSpPr>
            <p:nvPr/>
          </p:nvSpPr>
          <p:spPr bwMode="auto">
            <a:xfrm>
              <a:off x="2868" y="1794"/>
              <a:ext cx="936"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lnSpc>
                  <a:spcPct val="80000"/>
                </a:lnSpc>
              </a:pPr>
              <a:r>
                <a:rPr lang="zh-CN" altLang="en-US" sz="2000" b="1" i="0">
                  <a:solidFill>
                    <a:srgbClr val="000066"/>
                  </a:solidFill>
                  <a:latin typeface="Times New Roman" panose="02020603050405020304" pitchFamily="18" charset="0"/>
                </a:rPr>
                <a:t>功能模型</a:t>
              </a:r>
            </a:p>
          </p:txBody>
        </p:sp>
        <p:sp>
          <p:nvSpPr>
            <p:cNvPr id="17" name="Text Box 14"/>
            <p:cNvSpPr txBox="1">
              <a:spLocks noChangeArrowheads="1"/>
            </p:cNvSpPr>
            <p:nvPr/>
          </p:nvSpPr>
          <p:spPr bwMode="auto">
            <a:xfrm>
              <a:off x="3959" y="1794"/>
              <a:ext cx="937"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lnSpc>
                  <a:spcPct val="80000"/>
                </a:lnSpc>
              </a:pPr>
              <a:r>
                <a:rPr lang="zh-CN" altLang="en-US" sz="2000" b="1" i="0">
                  <a:solidFill>
                    <a:srgbClr val="000066"/>
                  </a:solidFill>
                  <a:latin typeface="Times New Roman" panose="02020603050405020304" pitchFamily="18" charset="0"/>
                </a:rPr>
                <a:t>功能说明</a:t>
              </a:r>
            </a:p>
          </p:txBody>
        </p:sp>
        <p:sp>
          <p:nvSpPr>
            <p:cNvPr id="18" name="Text Box 15"/>
            <p:cNvSpPr txBox="1">
              <a:spLocks noChangeArrowheads="1"/>
            </p:cNvSpPr>
            <p:nvPr/>
          </p:nvSpPr>
          <p:spPr bwMode="auto">
            <a:xfrm>
              <a:off x="3416" y="2206"/>
              <a:ext cx="937"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lnSpc>
                  <a:spcPct val="80000"/>
                </a:lnSpc>
              </a:pPr>
              <a:r>
                <a:rPr lang="zh-CN" altLang="en-US" sz="2000" b="1" i="0">
                  <a:solidFill>
                    <a:srgbClr val="000066"/>
                  </a:solidFill>
                  <a:latin typeface="Times New Roman" panose="02020603050405020304" pitchFamily="18" charset="0"/>
                </a:rPr>
                <a:t>事务设计</a:t>
              </a:r>
            </a:p>
          </p:txBody>
        </p:sp>
        <p:sp>
          <p:nvSpPr>
            <p:cNvPr id="19" name="Text Box 16"/>
            <p:cNvSpPr txBox="1">
              <a:spLocks noChangeArrowheads="1"/>
            </p:cNvSpPr>
            <p:nvPr/>
          </p:nvSpPr>
          <p:spPr bwMode="auto">
            <a:xfrm>
              <a:off x="3416" y="2618"/>
              <a:ext cx="937" cy="246"/>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lnSpc>
                  <a:spcPct val="80000"/>
                </a:lnSpc>
              </a:pPr>
              <a:r>
                <a:rPr lang="zh-CN" altLang="en-US" sz="2000" b="1" i="0">
                  <a:solidFill>
                    <a:srgbClr val="000066"/>
                  </a:solidFill>
                  <a:latin typeface="Times New Roman" panose="02020603050405020304" pitchFamily="18" charset="0"/>
                </a:rPr>
                <a:t>程序说明</a:t>
              </a:r>
            </a:p>
          </p:txBody>
        </p:sp>
        <p:sp>
          <p:nvSpPr>
            <p:cNvPr id="20" name="Text Box 17"/>
            <p:cNvSpPr txBox="1">
              <a:spLocks noChangeArrowheads="1"/>
            </p:cNvSpPr>
            <p:nvPr/>
          </p:nvSpPr>
          <p:spPr bwMode="auto">
            <a:xfrm>
              <a:off x="3277" y="3030"/>
              <a:ext cx="1331" cy="247"/>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a:lnSpc>
                  <a:spcPct val="80000"/>
                </a:lnSpc>
              </a:pPr>
              <a:r>
                <a:rPr lang="en-US" altLang="zh-CN" sz="2000" b="1" i="0">
                  <a:solidFill>
                    <a:srgbClr val="000066"/>
                  </a:solidFill>
                  <a:latin typeface="Times New Roman" panose="02020603050405020304" pitchFamily="18" charset="0"/>
                </a:rPr>
                <a:t>    </a:t>
              </a:r>
              <a:r>
                <a:rPr lang="zh-CN" altLang="en-US" sz="2000" b="1" i="0">
                  <a:solidFill>
                    <a:srgbClr val="000066"/>
                  </a:solidFill>
                  <a:latin typeface="Times New Roman" panose="02020603050405020304" pitchFamily="18" charset="0"/>
                </a:rPr>
                <a:t>应用程序设计</a:t>
              </a:r>
            </a:p>
          </p:txBody>
        </p:sp>
        <p:sp>
          <p:nvSpPr>
            <p:cNvPr id="21" name="Text Box 18"/>
            <p:cNvSpPr txBox="1">
              <a:spLocks noChangeArrowheads="1"/>
            </p:cNvSpPr>
            <p:nvPr/>
          </p:nvSpPr>
          <p:spPr bwMode="auto">
            <a:xfrm>
              <a:off x="3272" y="3441"/>
              <a:ext cx="1336" cy="255"/>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a:lnSpc>
                  <a:spcPct val="80000"/>
                </a:lnSpc>
              </a:pPr>
              <a:r>
                <a:rPr lang="en-US" altLang="zh-CN" sz="2000" b="1" i="0">
                  <a:solidFill>
                    <a:srgbClr val="000066"/>
                  </a:solidFill>
                  <a:latin typeface="Times New Roman" panose="02020603050405020304" pitchFamily="18" charset="0"/>
                </a:rPr>
                <a:t>    </a:t>
              </a:r>
              <a:r>
                <a:rPr lang="zh-CN" altLang="en-US" sz="2000" b="1" i="0">
                  <a:solidFill>
                    <a:srgbClr val="000066"/>
                  </a:solidFill>
                  <a:latin typeface="Times New Roman" panose="02020603050405020304" pitchFamily="18" charset="0"/>
                </a:rPr>
                <a:t>程序编码调试</a:t>
              </a:r>
            </a:p>
          </p:txBody>
        </p:sp>
        <p:sp>
          <p:nvSpPr>
            <p:cNvPr id="22" name="Line 19"/>
            <p:cNvSpPr>
              <a:spLocks noChangeShapeType="1"/>
            </p:cNvSpPr>
            <p:nvPr/>
          </p:nvSpPr>
          <p:spPr bwMode="auto">
            <a:xfrm flipH="1">
              <a:off x="1774" y="1189"/>
              <a:ext cx="1037" cy="194"/>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3" name="Line 20"/>
            <p:cNvSpPr>
              <a:spLocks noChangeShapeType="1"/>
            </p:cNvSpPr>
            <p:nvPr/>
          </p:nvSpPr>
          <p:spPr bwMode="auto">
            <a:xfrm>
              <a:off x="1848" y="1625"/>
              <a:ext cx="0" cy="168"/>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5" name="Line 21"/>
            <p:cNvSpPr>
              <a:spLocks noChangeShapeType="1"/>
            </p:cNvSpPr>
            <p:nvPr/>
          </p:nvSpPr>
          <p:spPr bwMode="auto">
            <a:xfrm flipH="1">
              <a:off x="1822" y="2044"/>
              <a:ext cx="0" cy="160"/>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6" name="Line 22"/>
            <p:cNvSpPr>
              <a:spLocks noChangeShapeType="1"/>
            </p:cNvSpPr>
            <p:nvPr/>
          </p:nvSpPr>
          <p:spPr bwMode="auto">
            <a:xfrm>
              <a:off x="1814" y="2459"/>
              <a:ext cx="0" cy="157"/>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7" name="Line 23"/>
            <p:cNvSpPr>
              <a:spLocks noChangeShapeType="1"/>
            </p:cNvSpPr>
            <p:nvPr/>
          </p:nvSpPr>
          <p:spPr bwMode="auto">
            <a:xfrm>
              <a:off x="1814" y="2871"/>
              <a:ext cx="0" cy="157"/>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8" name="Line 24"/>
            <p:cNvSpPr>
              <a:spLocks noChangeShapeType="1"/>
            </p:cNvSpPr>
            <p:nvPr/>
          </p:nvSpPr>
          <p:spPr bwMode="auto">
            <a:xfrm>
              <a:off x="1822" y="3282"/>
              <a:ext cx="0" cy="168"/>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9" name="Line 25"/>
            <p:cNvSpPr>
              <a:spLocks noChangeShapeType="1"/>
            </p:cNvSpPr>
            <p:nvPr/>
          </p:nvSpPr>
          <p:spPr bwMode="auto">
            <a:xfrm>
              <a:off x="3261" y="1154"/>
              <a:ext cx="617" cy="236"/>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0" name="Line 26"/>
            <p:cNvSpPr>
              <a:spLocks noChangeShapeType="1"/>
            </p:cNvSpPr>
            <p:nvPr/>
          </p:nvSpPr>
          <p:spPr bwMode="auto">
            <a:xfrm flipH="1">
              <a:off x="3371" y="1636"/>
              <a:ext cx="381" cy="157"/>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31" name="Line 27"/>
            <p:cNvSpPr>
              <a:spLocks noChangeShapeType="1"/>
            </p:cNvSpPr>
            <p:nvPr/>
          </p:nvSpPr>
          <p:spPr bwMode="auto">
            <a:xfrm>
              <a:off x="4011" y="1643"/>
              <a:ext cx="465" cy="150"/>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32" name="Line 28"/>
            <p:cNvSpPr>
              <a:spLocks noChangeShapeType="1"/>
            </p:cNvSpPr>
            <p:nvPr/>
          </p:nvSpPr>
          <p:spPr bwMode="auto">
            <a:xfrm>
              <a:off x="3371" y="2037"/>
              <a:ext cx="440" cy="160"/>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33" name="Line 29"/>
            <p:cNvSpPr>
              <a:spLocks noChangeShapeType="1"/>
            </p:cNvSpPr>
            <p:nvPr/>
          </p:nvSpPr>
          <p:spPr bwMode="auto">
            <a:xfrm flipH="1">
              <a:off x="3986" y="2037"/>
              <a:ext cx="483" cy="178"/>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34" name="Line 30"/>
            <p:cNvSpPr>
              <a:spLocks noChangeShapeType="1"/>
            </p:cNvSpPr>
            <p:nvPr/>
          </p:nvSpPr>
          <p:spPr bwMode="auto">
            <a:xfrm>
              <a:off x="3891" y="2448"/>
              <a:ext cx="0" cy="168"/>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35" name="Line 31"/>
            <p:cNvSpPr>
              <a:spLocks noChangeShapeType="1"/>
            </p:cNvSpPr>
            <p:nvPr/>
          </p:nvSpPr>
          <p:spPr bwMode="auto">
            <a:xfrm>
              <a:off x="3893" y="2860"/>
              <a:ext cx="0" cy="168"/>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36" name="Line 32"/>
            <p:cNvSpPr>
              <a:spLocks noChangeShapeType="1"/>
            </p:cNvSpPr>
            <p:nvPr/>
          </p:nvSpPr>
          <p:spPr bwMode="auto">
            <a:xfrm>
              <a:off x="3902" y="3282"/>
              <a:ext cx="0" cy="168"/>
            </a:xfrm>
            <a:prstGeom prst="line">
              <a:avLst/>
            </a:prstGeom>
            <a:noFill/>
            <a:ln w="19050">
              <a:solidFill>
                <a:schemeClr val="hlink"/>
              </a:solidFill>
              <a:round/>
              <a:headEnd/>
              <a:tailEnd type="stealth" w="med" len="lg"/>
            </a:ln>
            <a:extLst>
              <a:ext uri="{909E8E84-426E-40DD-AFC4-6F175D3DCCD1}">
                <a14:hiddenFill xmlns:a14="http://schemas.microsoft.com/office/drawing/2010/main">
                  <a:noFill/>
                </a14:hiddenFill>
              </a:ext>
            </a:extLst>
          </p:spPr>
          <p:txBody>
            <a:bodyPr anchor="ctr"/>
            <a:lstStyle/>
            <a:p>
              <a:endParaRPr lang="zh-CN" altLang="en-US"/>
            </a:p>
          </p:txBody>
        </p:sp>
      </p:grpSp>
      <p:sp>
        <p:nvSpPr>
          <p:cNvPr id="37" name="Rectangle 33"/>
          <p:cNvSpPr txBox="1">
            <a:spLocks noChangeArrowheads="1"/>
          </p:cNvSpPr>
          <p:nvPr/>
        </p:nvSpPr>
        <p:spPr bwMode="auto">
          <a:xfrm>
            <a:off x="336068" y="1436460"/>
            <a:ext cx="4550354"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eaLnBrk="1" hangingPunct="1">
              <a:lnSpc>
                <a:spcPct val="150000"/>
              </a:lnSpc>
            </a:pPr>
            <a:r>
              <a:rPr lang="zh-CN" altLang="en-US" b="1" dirty="0">
                <a:ea typeface="华文仿宋" panose="02010600040101010101" pitchFamily="2" charset="-122"/>
              </a:rPr>
              <a:t>传统的软件工程忽视对应用中数据语义的分析和抽象，只要有可能就尽量推迟数据结构设计的决策；</a:t>
            </a:r>
          </a:p>
          <a:p>
            <a:pPr lvl="1" eaLnBrk="1" hangingPunct="1">
              <a:lnSpc>
                <a:spcPct val="150000"/>
              </a:lnSpc>
            </a:pPr>
            <a:r>
              <a:rPr lang="zh-CN" altLang="en-US" b="1" dirty="0">
                <a:ea typeface="华文仿宋" panose="02010600040101010101" pitchFamily="2" charset="-122"/>
              </a:rPr>
              <a:t>早期的数据库设计致力于数据模型和建模方法研究，忽视了对行为的设计。</a:t>
            </a:r>
          </a:p>
        </p:txBody>
      </p:sp>
      <p:sp>
        <p:nvSpPr>
          <p:cNvPr id="38" name="Rectangle 34"/>
          <p:cNvSpPr>
            <a:spLocks noChangeArrowheads="1"/>
          </p:cNvSpPr>
          <p:nvPr/>
        </p:nvSpPr>
        <p:spPr bwMode="auto">
          <a:xfrm>
            <a:off x="4947829" y="5656035"/>
            <a:ext cx="69945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pPr>
            <a:r>
              <a:rPr kumimoji="1" lang="zh-CN" altLang="en-US" sz="2800" b="1" i="0" dirty="0">
                <a:solidFill>
                  <a:srgbClr val="CC3300"/>
                </a:solidFill>
                <a:latin typeface="Tahoma" panose="020B0604030504040204" pitchFamily="34" charset="0"/>
              </a:rPr>
              <a:t>早期数据库设计－结构和行为分离的设计</a:t>
            </a:r>
          </a:p>
        </p:txBody>
      </p:sp>
      <p:sp>
        <p:nvSpPr>
          <p:cNvPr id="39"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8.1.2</a:t>
            </a:r>
            <a:r>
              <a:rPr lang="zh-CN" altLang="en-US" sz="2800" b="1" dirty="0">
                <a:solidFill>
                  <a:schemeClr val="bg1"/>
                </a:solidFill>
                <a:latin typeface="微软雅黑" panose="020B0503020204020204" pitchFamily="34" charset="-122"/>
                <a:ea typeface="微软雅黑" panose="020B0503020204020204" pitchFamily="34" charset="-122"/>
              </a:rPr>
              <a:t>数据库设计的特点</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40" name="直接连接符 39"/>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11230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xEl>
                                              <p:pRg st="0" end="0"/>
                                            </p:txEl>
                                          </p:spTgt>
                                        </p:tgtEl>
                                        <p:attrNameLst>
                                          <p:attrName>style.visibility</p:attrName>
                                        </p:attrNameLst>
                                      </p:cBhvr>
                                      <p:to>
                                        <p:strVal val="visible"/>
                                      </p:to>
                                    </p:set>
                                    <p:animEffect transition="in" filter="blinds(horizontal)">
                                      <p:cBhvr>
                                        <p:cTn id="7" dur="500"/>
                                        <p:tgtEl>
                                          <p:spTgt spid="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
                                            <p:txEl>
                                              <p:pRg st="1" end="1"/>
                                            </p:txEl>
                                          </p:spTgt>
                                        </p:tgtEl>
                                        <p:attrNameLst>
                                          <p:attrName>style.visibility</p:attrName>
                                        </p:attrNameLst>
                                      </p:cBhvr>
                                      <p:to>
                                        <p:strVal val="visible"/>
                                      </p:to>
                                    </p:set>
                                    <p:animEffect transition="in" filter="blinds(horizontal)">
                                      <p:cBhvr>
                                        <p:cTn id="12" dur="500"/>
                                        <p:tgtEl>
                                          <p:spTgt spid="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4"/>
          <p:cNvSpPr>
            <a:spLocks noChangeArrowheads="1"/>
          </p:cNvSpPr>
          <p:nvPr/>
        </p:nvSpPr>
        <p:spPr bwMode="auto">
          <a:xfrm>
            <a:off x="539750" y="864959"/>
            <a:ext cx="10981748"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Clr>
                <a:srgbClr val="FF0000"/>
              </a:buClr>
              <a:buFont typeface="Wingdings" panose="05000000000000000000" pitchFamily="2" charset="2"/>
              <a:buChar char="Ø"/>
            </a:pPr>
            <a:r>
              <a:rPr lang="zh-CN" altLang="en-US" sz="2800" b="1" i="0" dirty="0">
                <a:solidFill>
                  <a:srgbClr val="CC3300"/>
                </a:solidFill>
                <a:ea typeface="楷体_GB2312" pitchFamily="49" charset="-122"/>
              </a:rPr>
              <a:t>数据库建设的基本规律</a:t>
            </a:r>
          </a:p>
          <a:p>
            <a:pPr marL="685800" lvl="1" indent="-228600" eaLnBrk="1" hangingPunct="1">
              <a:lnSpc>
                <a:spcPct val="105000"/>
              </a:lnSpc>
              <a:buFont typeface="Arial" panose="020B0604020202020204" pitchFamily="34" charset="0"/>
              <a:buChar char="•"/>
            </a:pPr>
            <a:r>
              <a:rPr lang="zh-CN" altLang="en-US" sz="2400" b="1" i="0" dirty="0">
                <a:solidFill>
                  <a:schemeClr val="tx2"/>
                </a:solidFill>
                <a:latin typeface="楷体_GB2312" pitchFamily="49" charset="-122"/>
                <a:ea typeface="楷体_GB2312" pitchFamily="49" charset="-122"/>
              </a:rPr>
              <a:t>三分技术，七分管理，十二分基础数据</a:t>
            </a:r>
          </a:p>
          <a:p>
            <a:pPr marL="685800" lvl="1" indent="-228600" eaLnBrk="1" hangingPunct="1">
              <a:lnSpc>
                <a:spcPct val="105000"/>
              </a:lnSpc>
              <a:buFont typeface="Arial" panose="020B0604020202020204" pitchFamily="34" charset="0"/>
              <a:buChar char="•"/>
            </a:pPr>
            <a:r>
              <a:rPr lang="zh-CN" altLang="en-US" sz="2400" b="1" i="0" dirty="0">
                <a:solidFill>
                  <a:schemeClr val="tx2"/>
                </a:solidFill>
                <a:latin typeface="楷体_GB2312" pitchFamily="49" charset="-122"/>
                <a:ea typeface="楷体_GB2312" pitchFamily="49" charset="-122"/>
              </a:rPr>
              <a:t>管理：数据库建设项目管理、企业（应用部门）的业务管理</a:t>
            </a:r>
          </a:p>
          <a:p>
            <a:pPr marL="685800" lvl="1" indent="-228600" eaLnBrk="1" hangingPunct="1">
              <a:lnSpc>
                <a:spcPct val="105000"/>
              </a:lnSpc>
              <a:buFont typeface="Arial" panose="020B0604020202020204" pitchFamily="34" charset="0"/>
              <a:buChar char="•"/>
            </a:pPr>
            <a:r>
              <a:rPr lang="zh-CN" altLang="en-US" sz="2400" b="1" i="0" dirty="0">
                <a:solidFill>
                  <a:schemeClr val="tx2"/>
                </a:solidFill>
                <a:latin typeface="楷体_GB2312" pitchFamily="49" charset="-122"/>
                <a:ea typeface="楷体_GB2312" pitchFamily="49" charset="-122"/>
              </a:rPr>
              <a:t>基础数据：收集、整理、组织和不断更新</a:t>
            </a:r>
          </a:p>
        </p:txBody>
      </p:sp>
      <p:sp>
        <p:nvSpPr>
          <p:cNvPr id="8"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8.1.2</a:t>
            </a:r>
            <a:r>
              <a:rPr lang="zh-CN" altLang="en-US" sz="2800" b="1" dirty="0">
                <a:solidFill>
                  <a:schemeClr val="bg1"/>
                </a:solidFill>
                <a:latin typeface="微软雅黑" panose="020B0503020204020204" pitchFamily="34" charset="-122"/>
                <a:ea typeface="微软雅黑" panose="020B0503020204020204" pitchFamily="34" charset="-122"/>
              </a:rPr>
              <a:t>数据库设计的特点</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79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blinds(horizontal)">
                                      <p:cBhvr>
                                        <p:cTn id="10" dur="500"/>
                                        <p:tgtEl>
                                          <p:spTgt spid="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blinds(horizontal)">
                                      <p:cBhvr>
                                        <p:cTn id="13" dur="500"/>
                                        <p:tgtEl>
                                          <p:spTgt spid="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blinds(horizontal)">
                                      <p:cBhvr>
                                        <p:cTn id="16"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6" name="Rectangle 3"/>
          <p:cNvSpPr txBox="1">
            <a:spLocks noChangeArrowheads="1"/>
          </p:cNvSpPr>
          <p:nvPr/>
        </p:nvSpPr>
        <p:spPr bwMode="auto">
          <a:xfrm>
            <a:off x="468313" y="860992"/>
            <a:ext cx="10868169" cy="172722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spcBef>
                <a:spcPct val="0"/>
              </a:spcBef>
              <a:buClr>
                <a:srgbClr val="C00000"/>
              </a:buClr>
              <a:buNone/>
            </a:pPr>
            <a:r>
              <a:rPr lang="en-US" altLang="zh-CN" sz="2400" b="1" dirty="0">
                <a:solidFill>
                  <a:srgbClr val="CC3300"/>
                </a:solidFill>
                <a:latin typeface="楷体_GB2312" pitchFamily="49" charset="-122"/>
                <a:ea typeface="楷体_GB2312" pitchFamily="49" charset="-122"/>
              </a:rPr>
              <a:t>1.</a:t>
            </a:r>
            <a:r>
              <a:rPr lang="zh-CN" altLang="en-US" sz="2400" b="1" dirty="0">
                <a:solidFill>
                  <a:srgbClr val="CC3300"/>
                </a:solidFill>
                <a:latin typeface="楷体_GB2312" pitchFamily="49" charset="-122"/>
                <a:ea typeface="楷体_GB2312" pitchFamily="49" charset="-122"/>
              </a:rPr>
              <a:t>直观设计法</a:t>
            </a:r>
            <a:r>
              <a:rPr lang="zh-CN" altLang="en-US" sz="2400" b="1" dirty="0">
                <a:solidFill>
                  <a:srgbClr val="000066"/>
                </a:solidFill>
                <a:latin typeface="楷体_GB2312" pitchFamily="49" charset="-122"/>
                <a:ea typeface="楷体_GB2312" pitchFamily="49" charset="-122"/>
              </a:rPr>
              <a:t>（早期方法）</a:t>
            </a:r>
          </a:p>
          <a:p>
            <a:pPr lvl="1" eaLnBrk="1" hangingPunct="1">
              <a:spcBef>
                <a:spcPct val="0"/>
              </a:spcBef>
              <a:spcAft>
                <a:spcPct val="30000"/>
              </a:spcAft>
            </a:pPr>
            <a:r>
              <a:rPr lang="zh-CN" altLang="en-US" b="1" dirty="0">
                <a:solidFill>
                  <a:schemeClr val="tx2"/>
                </a:solidFill>
                <a:latin typeface="楷体_GB2312" pitchFamily="49" charset="-122"/>
                <a:ea typeface="楷体_GB2312" pitchFamily="49" charset="-122"/>
              </a:rPr>
              <a:t>设计质量与设计人员的经验和水平有直接关系；</a:t>
            </a:r>
          </a:p>
          <a:p>
            <a:pPr lvl="1" eaLnBrk="1" hangingPunct="1">
              <a:spcBef>
                <a:spcPct val="0"/>
              </a:spcBef>
              <a:spcAft>
                <a:spcPct val="30000"/>
              </a:spcAft>
            </a:pPr>
            <a:r>
              <a:rPr lang="zh-CN" altLang="en-US" b="1" dirty="0">
                <a:solidFill>
                  <a:schemeClr val="tx2"/>
                </a:solidFill>
                <a:latin typeface="楷体_GB2312" pitchFamily="49" charset="-122"/>
                <a:ea typeface="楷体_GB2312" pitchFamily="49" charset="-122"/>
              </a:rPr>
              <a:t>缺乏科学理论和工程方法的支持，工程质量难以保证；</a:t>
            </a:r>
          </a:p>
          <a:p>
            <a:pPr lvl="1" eaLnBrk="1" hangingPunct="1">
              <a:spcBef>
                <a:spcPct val="0"/>
              </a:spcBef>
              <a:spcAft>
                <a:spcPct val="30000"/>
              </a:spcAft>
            </a:pPr>
            <a:r>
              <a:rPr lang="zh-CN" altLang="en-US" b="1" dirty="0">
                <a:solidFill>
                  <a:schemeClr val="tx2"/>
                </a:solidFill>
                <a:latin typeface="楷体_GB2312" pitchFamily="49" charset="-122"/>
                <a:ea typeface="楷体_GB2312" pitchFamily="49" charset="-122"/>
              </a:rPr>
              <a:t>数据库运行一段时间后常常又不同程度地发现各种问题，增加了维护代价。</a:t>
            </a:r>
          </a:p>
        </p:txBody>
      </p:sp>
      <p:sp>
        <p:nvSpPr>
          <p:cNvPr id="7" name="Rectangle 4"/>
          <p:cNvSpPr>
            <a:spLocks noChangeArrowheads="1"/>
          </p:cNvSpPr>
          <p:nvPr/>
        </p:nvSpPr>
        <p:spPr bwMode="auto">
          <a:xfrm>
            <a:off x="539749" y="2588218"/>
            <a:ext cx="7772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indent="0" eaLnBrk="1" hangingPunct="1">
              <a:buClr>
                <a:srgbClr val="C00000"/>
              </a:buClr>
            </a:pPr>
            <a:r>
              <a:rPr lang="en-US" altLang="zh-CN" sz="2400" b="1" i="0" dirty="0">
                <a:solidFill>
                  <a:srgbClr val="CC3300"/>
                </a:solidFill>
                <a:latin typeface="楷体_GB2312" pitchFamily="49" charset="-122"/>
                <a:ea typeface="楷体_GB2312" pitchFamily="49" charset="-122"/>
              </a:rPr>
              <a:t>2.</a:t>
            </a:r>
            <a:r>
              <a:rPr lang="zh-CN" altLang="en-US" sz="2400" b="1" i="0" dirty="0">
                <a:solidFill>
                  <a:srgbClr val="CC3300"/>
                </a:solidFill>
                <a:latin typeface="楷体_GB2312" pitchFamily="49" charset="-122"/>
                <a:ea typeface="楷体_GB2312" pitchFamily="49" charset="-122"/>
              </a:rPr>
              <a:t>规范设计法</a:t>
            </a:r>
          </a:p>
          <a:p>
            <a:pPr marL="685800" lvl="1" indent="-228600" eaLnBrk="1" hangingPunct="1">
              <a:lnSpc>
                <a:spcPct val="90000"/>
              </a:lnSpc>
              <a:spcAft>
                <a:spcPct val="30000"/>
              </a:spcAft>
              <a:buFont typeface="Arial" panose="020B0604020202020204" pitchFamily="34" charset="0"/>
              <a:buChar char="•"/>
            </a:pPr>
            <a:r>
              <a:rPr lang="zh-CN" altLang="en-US" sz="2400" b="1" i="0" dirty="0">
                <a:solidFill>
                  <a:schemeClr val="tx2"/>
                </a:solidFill>
                <a:latin typeface="楷体_GB2312" pitchFamily="49" charset="-122"/>
                <a:ea typeface="楷体_GB2312" pitchFamily="49" charset="-122"/>
              </a:rPr>
              <a:t>基本思想：过程迭代和逐步求精</a:t>
            </a:r>
          </a:p>
        </p:txBody>
      </p:sp>
      <p:sp>
        <p:nvSpPr>
          <p:cNvPr id="8" name="Rectangle 5"/>
          <p:cNvSpPr>
            <a:spLocks noChangeArrowheads="1"/>
          </p:cNvSpPr>
          <p:nvPr/>
        </p:nvSpPr>
        <p:spPr bwMode="auto">
          <a:xfrm>
            <a:off x="468313" y="3404193"/>
            <a:ext cx="777240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685800" lvl="1" indent="-228600" eaLnBrk="1" hangingPunct="1">
              <a:lnSpc>
                <a:spcPct val="90000"/>
              </a:lnSpc>
              <a:spcAft>
                <a:spcPct val="30000"/>
              </a:spcAft>
              <a:buClr>
                <a:schemeClr val="hlink"/>
              </a:buClr>
              <a:buFont typeface="Arial" panose="020B0604020202020204" pitchFamily="34" charset="0"/>
              <a:buChar char="•"/>
            </a:pPr>
            <a:r>
              <a:rPr lang="zh-CN" altLang="en-US" sz="2400" b="1" i="0" dirty="0">
                <a:solidFill>
                  <a:schemeClr val="tx2"/>
                </a:solidFill>
                <a:latin typeface="楷体_GB2312" pitchFamily="49" charset="-122"/>
                <a:ea typeface="楷体_GB2312" pitchFamily="49" charset="-122"/>
              </a:rPr>
              <a:t>典型方法：</a:t>
            </a:r>
          </a:p>
          <a:p>
            <a:pPr lvl="2" eaLnBrk="1" hangingPunct="1">
              <a:buClr>
                <a:schemeClr val="accent1"/>
              </a:buClr>
              <a:buFontTx/>
              <a:buChar char="–"/>
            </a:pPr>
            <a:r>
              <a:rPr lang="zh-CN" altLang="en-US" sz="2000" b="1" i="0" dirty="0">
                <a:solidFill>
                  <a:schemeClr val="tx2"/>
                </a:solidFill>
                <a:latin typeface="楷体_GB2312" pitchFamily="49" charset="-122"/>
                <a:ea typeface="楷体_GB2312" pitchFamily="49" charset="-122"/>
              </a:rPr>
              <a:t>新奥尔良方法</a:t>
            </a:r>
          </a:p>
          <a:p>
            <a:pPr lvl="2" eaLnBrk="1" hangingPunct="1">
              <a:buClr>
                <a:schemeClr val="accent1"/>
              </a:buClr>
              <a:buFontTx/>
              <a:buChar char="–"/>
            </a:pPr>
            <a:r>
              <a:rPr lang="zh-CN" altLang="en-US" sz="2000" b="1" i="0" dirty="0">
                <a:solidFill>
                  <a:schemeClr val="tx2"/>
                </a:solidFill>
                <a:latin typeface="楷体_GB2312" pitchFamily="49" charset="-122"/>
                <a:ea typeface="楷体_GB2312" pitchFamily="49" charset="-122"/>
              </a:rPr>
              <a:t>基于</a:t>
            </a:r>
            <a:r>
              <a:rPr lang="en-US" altLang="zh-CN" sz="2000" b="1" i="0" dirty="0">
                <a:solidFill>
                  <a:schemeClr val="tx2"/>
                </a:solidFill>
                <a:latin typeface="楷体_GB2312" pitchFamily="49" charset="-122"/>
                <a:ea typeface="楷体_GB2312" pitchFamily="49" charset="-122"/>
              </a:rPr>
              <a:t>E-R</a:t>
            </a:r>
            <a:r>
              <a:rPr lang="zh-CN" altLang="en-US" sz="2000" b="1" i="0" dirty="0">
                <a:solidFill>
                  <a:schemeClr val="tx2"/>
                </a:solidFill>
                <a:latin typeface="楷体_GB2312" pitchFamily="49" charset="-122"/>
                <a:ea typeface="楷体_GB2312" pitchFamily="49" charset="-122"/>
              </a:rPr>
              <a:t>模型的数据库设计方法</a:t>
            </a:r>
          </a:p>
          <a:p>
            <a:pPr lvl="2" eaLnBrk="1" hangingPunct="1">
              <a:buClr>
                <a:schemeClr val="accent1"/>
              </a:buClr>
              <a:buFontTx/>
              <a:buChar char="–"/>
            </a:pPr>
            <a:r>
              <a:rPr lang="en-US" altLang="zh-CN" sz="2000" b="1" i="0" dirty="0" err="1">
                <a:solidFill>
                  <a:schemeClr val="tx2"/>
                </a:solidFill>
                <a:latin typeface="楷体_GB2312" pitchFamily="49" charset="-122"/>
                <a:ea typeface="楷体_GB2312" pitchFamily="49" charset="-122"/>
              </a:rPr>
              <a:t>3NF</a:t>
            </a:r>
            <a:r>
              <a:rPr lang="zh-CN" altLang="en-US" sz="2000" b="1" i="0" dirty="0">
                <a:solidFill>
                  <a:schemeClr val="tx2"/>
                </a:solidFill>
                <a:latin typeface="楷体_GB2312" pitchFamily="49" charset="-122"/>
                <a:ea typeface="楷体_GB2312" pitchFamily="49" charset="-122"/>
              </a:rPr>
              <a:t>（第三范式）的设计方法</a:t>
            </a:r>
          </a:p>
        </p:txBody>
      </p:sp>
      <p:sp>
        <p:nvSpPr>
          <p:cNvPr id="10" name="Rectangle 7"/>
          <p:cNvSpPr>
            <a:spLocks noChangeArrowheads="1"/>
          </p:cNvSpPr>
          <p:nvPr/>
        </p:nvSpPr>
        <p:spPr bwMode="auto">
          <a:xfrm>
            <a:off x="474754" y="4859285"/>
            <a:ext cx="3209533" cy="1680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buClr>
                <a:srgbClr val="C00000"/>
              </a:buClr>
            </a:pPr>
            <a:r>
              <a:rPr lang="en-US" altLang="zh-CN" sz="2400" b="1" i="0" dirty="0">
                <a:solidFill>
                  <a:srgbClr val="CC3300"/>
                </a:solidFill>
                <a:latin typeface="楷体_GB2312" pitchFamily="49" charset="-122"/>
                <a:ea typeface="楷体_GB2312" pitchFamily="49" charset="-122"/>
              </a:rPr>
              <a:t>3.</a:t>
            </a:r>
            <a:r>
              <a:rPr lang="zh-CN" altLang="en-US" sz="2400" b="1" i="0" dirty="0">
                <a:solidFill>
                  <a:srgbClr val="CC3300"/>
                </a:solidFill>
                <a:latin typeface="楷体_GB2312" pitchFamily="49" charset="-122"/>
                <a:ea typeface="楷体_GB2312" pitchFamily="49" charset="-122"/>
              </a:rPr>
              <a:t>计算机辅助设计法</a:t>
            </a:r>
            <a:endParaRPr lang="en-US" altLang="zh-CN" sz="2400" b="1" i="0" dirty="0">
              <a:solidFill>
                <a:srgbClr val="CC3300"/>
              </a:solidFill>
              <a:latin typeface="楷体_GB2312" pitchFamily="49" charset="-122"/>
              <a:ea typeface="楷体_GB2312" pitchFamily="49" charset="-122"/>
            </a:endParaRPr>
          </a:p>
          <a:p>
            <a:pPr marL="685800" lvl="1" indent="-228600" eaLnBrk="1" hangingPunct="1">
              <a:lnSpc>
                <a:spcPct val="90000"/>
              </a:lnSpc>
              <a:spcAft>
                <a:spcPct val="30000"/>
              </a:spcAft>
              <a:buClr>
                <a:srgbClr val="C00000"/>
              </a:buClr>
              <a:buFont typeface="Arial" panose="020B0604020202020204" pitchFamily="34" charset="0"/>
              <a:buChar char="•"/>
            </a:pPr>
            <a:r>
              <a:rPr lang="en-US" altLang="zh-CN" sz="2400" b="1" i="0" dirty="0">
                <a:solidFill>
                  <a:schemeClr val="tx2"/>
                </a:solidFill>
                <a:latin typeface="楷体_GB2312" pitchFamily="49" charset="-122"/>
                <a:ea typeface="楷体_GB2312" pitchFamily="49" charset="-122"/>
              </a:rPr>
              <a:t>Rational Rose</a:t>
            </a:r>
          </a:p>
          <a:p>
            <a:pPr marL="685800" lvl="1" indent="-228600" eaLnBrk="1" hangingPunct="1">
              <a:lnSpc>
                <a:spcPct val="90000"/>
              </a:lnSpc>
              <a:spcAft>
                <a:spcPct val="30000"/>
              </a:spcAft>
              <a:buClr>
                <a:srgbClr val="C00000"/>
              </a:buClr>
              <a:buFont typeface="Arial" panose="020B0604020202020204" pitchFamily="34" charset="0"/>
              <a:buChar char="•"/>
            </a:pPr>
            <a:r>
              <a:rPr lang="en-US" altLang="zh-CN" sz="2400" b="1" i="0" dirty="0" err="1">
                <a:solidFill>
                  <a:schemeClr val="tx2"/>
                </a:solidFill>
                <a:latin typeface="楷体_GB2312" pitchFamily="49" charset="-122"/>
                <a:ea typeface="楷体_GB2312" pitchFamily="49" charset="-122"/>
              </a:rPr>
              <a:t>PowerDesigner</a:t>
            </a:r>
            <a:endParaRPr lang="en-US" altLang="zh-CN" sz="2400" b="1" i="0" dirty="0">
              <a:solidFill>
                <a:schemeClr val="tx2"/>
              </a:solidFill>
              <a:latin typeface="楷体_GB2312" pitchFamily="49" charset="-122"/>
              <a:ea typeface="楷体_GB2312" pitchFamily="49" charset="-122"/>
            </a:endParaRPr>
          </a:p>
          <a:p>
            <a:pPr marL="685800" lvl="1" indent="-228600" eaLnBrk="1" hangingPunct="1">
              <a:lnSpc>
                <a:spcPct val="90000"/>
              </a:lnSpc>
              <a:spcAft>
                <a:spcPct val="30000"/>
              </a:spcAft>
              <a:buClr>
                <a:srgbClr val="C00000"/>
              </a:buClr>
              <a:buFont typeface="Arial" panose="020B0604020202020204" pitchFamily="34" charset="0"/>
              <a:buChar char="•"/>
            </a:pPr>
            <a:r>
              <a:rPr lang="en-US" altLang="zh-CN" sz="2400" b="1" i="0" dirty="0">
                <a:solidFill>
                  <a:schemeClr val="tx2"/>
                </a:solidFill>
                <a:latin typeface="楷体_GB2312" pitchFamily="49" charset="-122"/>
                <a:ea typeface="楷体_GB2312" pitchFamily="49" charset="-122"/>
              </a:rPr>
              <a:t>Oracle Designer</a:t>
            </a:r>
            <a:endParaRPr lang="zh-CN" altLang="en-US" sz="2400" b="1" i="0" dirty="0">
              <a:solidFill>
                <a:schemeClr val="tx2"/>
              </a:solidFill>
              <a:latin typeface="楷体_GB2312" pitchFamily="49" charset="-122"/>
              <a:ea typeface="楷体_GB2312" pitchFamily="49" charset="-122"/>
            </a:endParaRPr>
          </a:p>
        </p:txBody>
      </p:sp>
      <p:sp>
        <p:nvSpPr>
          <p:cNvPr id="11"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8.1.3</a:t>
            </a:r>
            <a:r>
              <a:rPr lang="zh-CN" altLang="en-US" sz="2800" b="1" dirty="0">
                <a:solidFill>
                  <a:schemeClr val="bg1"/>
                </a:solidFill>
                <a:latin typeface="微软雅黑" panose="020B0503020204020204" pitchFamily="34" charset="-122"/>
                <a:ea typeface="微软雅黑" panose="020B0503020204020204" pitchFamily="34" charset="-122"/>
              </a:rPr>
              <a:t>数据库设计的方法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697065" y="4174211"/>
            <a:ext cx="3680848" cy="33321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456954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blinds(horizontal)">
                                      <p:cBhvr>
                                        <p:cTn id="16" dur="500"/>
                                        <p:tgtEl>
                                          <p:spTgt spid="6">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linds(horizontal)">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linds(horizontal)">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p:bldP spid="8" grpId="0" autoUpdateAnimBg="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110832"/>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6" name="Rectangle 3"/>
          <p:cNvSpPr txBox="1">
            <a:spLocks noChangeArrowheads="1"/>
          </p:cNvSpPr>
          <p:nvPr/>
        </p:nvSpPr>
        <p:spPr bwMode="auto">
          <a:xfrm>
            <a:off x="1014846" y="990600"/>
            <a:ext cx="4347568"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1" hangingPunct="1">
              <a:lnSpc>
                <a:spcPct val="105000"/>
              </a:lnSpc>
              <a:spcBef>
                <a:spcPct val="0"/>
              </a:spcBef>
              <a:buFont typeface="Wingdings" panose="05000000000000000000" pitchFamily="2" charset="2"/>
              <a:buChar char="Ø"/>
            </a:pPr>
            <a:r>
              <a:rPr lang="zh-CN" altLang="en-US" b="1" dirty="0">
                <a:solidFill>
                  <a:srgbClr val="FF3300"/>
                </a:solidFill>
                <a:latin typeface="楷体_GB2312" pitchFamily="49" charset="-122"/>
                <a:ea typeface="楷体_GB2312" pitchFamily="49" charset="-122"/>
              </a:rPr>
              <a:t>数据库设计六个阶段：</a:t>
            </a:r>
          </a:p>
          <a:p>
            <a:pPr marL="609600" indent="-609600" eaLnBrk="1" hangingPunct="1">
              <a:lnSpc>
                <a:spcPct val="105000"/>
              </a:lnSpc>
              <a:buFontTx/>
              <a:buNone/>
            </a:pPr>
            <a:r>
              <a:rPr lang="en-US" altLang="zh-CN" sz="2400" b="1" dirty="0">
                <a:solidFill>
                  <a:schemeClr val="tx2"/>
                </a:solidFill>
                <a:latin typeface="楷体_GB2312" pitchFamily="49" charset="-122"/>
                <a:ea typeface="楷体_GB2312" pitchFamily="49" charset="-122"/>
              </a:rPr>
              <a:t>1.  </a:t>
            </a:r>
            <a:r>
              <a:rPr lang="zh-CN" altLang="en-US" sz="2400" b="1" dirty="0">
                <a:solidFill>
                  <a:schemeClr val="tx2"/>
                </a:solidFill>
                <a:latin typeface="楷体_GB2312" pitchFamily="49" charset="-122"/>
                <a:ea typeface="楷体_GB2312" pitchFamily="49" charset="-122"/>
              </a:rPr>
              <a:t>需求分析阶段；</a:t>
            </a:r>
          </a:p>
          <a:p>
            <a:pPr marL="609600" indent="-609600" eaLnBrk="1" hangingPunct="1">
              <a:lnSpc>
                <a:spcPct val="105000"/>
              </a:lnSpc>
              <a:buFontTx/>
              <a:buNone/>
            </a:pPr>
            <a:r>
              <a:rPr lang="en-US" altLang="zh-CN" sz="2400" b="1" dirty="0">
                <a:solidFill>
                  <a:schemeClr val="tx2"/>
                </a:solidFill>
                <a:latin typeface="楷体_GB2312" pitchFamily="49" charset="-122"/>
                <a:ea typeface="楷体_GB2312" pitchFamily="49" charset="-122"/>
              </a:rPr>
              <a:t>2.  </a:t>
            </a:r>
            <a:r>
              <a:rPr lang="zh-CN" altLang="en-US" sz="2400" b="1" dirty="0">
                <a:solidFill>
                  <a:schemeClr val="tx2"/>
                </a:solidFill>
                <a:latin typeface="楷体_GB2312" pitchFamily="49" charset="-122"/>
                <a:ea typeface="楷体_GB2312" pitchFamily="49" charset="-122"/>
              </a:rPr>
              <a:t>概念设计阶段；</a:t>
            </a:r>
          </a:p>
          <a:p>
            <a:pPr marL="609600" indent="-609600" eaLnBrk="1" hangingPunct="1">
              <a:lnSpc>
                <a:spcPct val="105000"/>
              </a:lnSpc>
              <a:buFontTx/>
              <a:buNone/>
            </a:pPr>
            <a:r>
              <a:rPr lang="en-US" altLang="zh-CN" sz="2400" b="1" dirty="0">
                <a:solidFill>
                  <a:schemeClr val="tx2"/>
                </a:solidFill>
                <a:latin typeface="楷体_GB2312" pitchFamily="49" charset="-122"/>
                <a:ea typeface="楷体_GB2312" pitchFamily="49" charset="-122"/>
              </a:rPr>
              <a:t>3.  </a:t>
            </a:r>
            <a:r>
              <a:rPr lang="zh-CN" altLang="en-US" sz="2400" b="1" dirty="0">
                <a:solidFill>
                  <a:schemeClr val="tx2"/>
                </a:solidFill>
                <a:latin typeface="楷体_GB2312" pitchFamily="49" charset="-122"/>
                <a:ea typeface="楷体_GB2312" pitchFamily="49" charset="-122"/>
              </a:rPr>
              <a:t>逻辑设计阶段；</a:t>
            </a:r>
          </a:p>
          <a:p>
            <a:pPr marL="609600" indent="-609600" eaLnBrk="1" hangingPunct="1">
              <a:buFontTx/>
              <a:buNone/>
            </a:pPr>
            <a:r>
              <a:rPr lang="en-US" altLang="zh-CN" sz="2400" b="1" dirty="0">
                <a:solidFill>
                  <a:schemeClr val="tx2"/>
                </a:solidFill>
                <a:latin typeface="楷体_GB2312" pitchFamily="49" charset="-122"/>
                <a:ea typeface="楷体_GB2312" pitchFamily="49" charset="-122"/>
              </a:rPr>
              <a:t>4.  </a:t>
            </a:r>
            <a:r>
              <a:rPr lang="zh-CN" altLang="en-US" sz="2400" b="1" dirty="0">
                <a:solidFill>
                  <a:schemeClr val="tx2"/>
                </a:solidFill>
                <a:latin typeface="楷体_GB2312" pitchFamily="49" charset="-122"/>
                <a:ea typeface="楷体_GB2312" pitchFamily="49" charset="-122"/>
              </a:rPr>
              <a:t>物理设计阶段；</a:t>
            </a:r>
          </a:p>
          <a:p>
            <a:pPr marL="609600" indent="-609600" eaLnBrk="1" hangingPunct="1">
              <a:buFontTx/>
              <a:buNone/>
            </a:pPr>
            <a:r>
              <a:rPr lang="en-US" altLang="zh-CN" sz="2400" b="1" dirty="0">
                <a:solidFill>
                  <a:schemeClr val="tx2"/>
                </a:solidFill>
                <a:latin typeface="楷体_GB2312" pitchFamily="49" charset="-122"/>
                <a:ea typeface="楷体_GB2312" pitchFamily="49" charset="-122"/>
              </a:rPr>
              <a:t>5.  </a:t>
            </a:r>
            <a:r>
              <a:rPr lang="zh-CN" altLang="en-US" sz="2400" b="1" dirty="0">
                <a:solidFill>
                  <a:schemeClr val="tx2"/>
                </a:solidFill>
                <a:latin typeface="楷体_GB2312" pitchFamily="49" charset="-122"/>
                <a:ea typeface="楷体_GB2312" pitchFamily="49" charset="-122"/>
              </a:rPr>
              <a:t>数据库实施阶段；</a:t>
            </a:r>
          </a:p>
          <a:p>
            <a:pPr marL="609600" indent="-609600" eaLnBrk="1" hangingPunct="1">
              <a:buFontTx/>
              <a:buNone/>
            </a:pPr>
            <a:r>
              <a:rPr lang="en-US" altLang="zh-CN" sz="2400" b="1" dirty="0">
                <a:solidFill>
                  <a:schemeClr val="tx2"/>
                </a:solidFill>
                <a:latin typeface="楷体_GB2312" pitchFamily="49" charset="-122"/>
                <a:ea typeface="楷体_GB2312" pitchFamily="49" charset="-122"/>
              </a:rPr>
              <a:t>6.  </a:t>
            </a:r>
            <a:r>
              <a:rPr lang="zh-CN" altLang="en-US" sz="2400" b="1" dirty="0">
                <a:solidFill>
                  <a:schemeClr val="tx2"/>
                </a:solidFill>
                <a:latin typeface="楷体_GB2312" pitchFamily="49" charset="-122"/>
                <a:ea typeface="楷体_GB2312" pitchFamily="49" charset="-122"/>
              </a:rPr>
              <a:t>数据库运行和维护阶段。</a:t>
            </a:r>
          </a:p>
        </p:txBody>
      </p:sp>
      <p:sp>
        <p:nvSpPr>
          <p:cNvPr id="7"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8.1.4 </a:t>
            </a:r>
            <a:r>
              <a:rPr lang="zh-CN" altLang="en-US" sz="2800" b="1" dirty="0">
                <a:solidFill>
                  <a:schemeClr val="bg1"/>
                </a:solidFill>
                <a:latin typeface="微软雅黑" panose="020B0503020204020204" pitchFamily="34" charset="-122"/>
                <a:ea typeface="微软雅黑" panose="020B0503020204020204" pitchFamily="34" charset="-122"/>
              </a:rPr>
              <a:t>数据库设计的步骤</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52" name="Picture 4" descr="8-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9867" y="758503"/>
            <a:ext cx="6288972" cy="5409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461616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1369" y="1108128"/>
            <a:ext cx="11329261" cy="5509200"/>
          </a:xfrm>
          <a:prstGeom prst="rect">
            <a:avLst/>
          </a:prstGeom>
          <a:noFill/>
        </p:spPr>
        <p:txBody>
          <a:bodyPr wrap="square" rtlCol="0">
            <a:spAutoFit/>
          </a:bodyPr>
          <a:lstStyle/>
          <a:p>
            <a:pPr marL="285750" indent="-285750">
              <a:buFont typeface="Wingdings" panose="05000000000000000000" pitchFamily="2" charset="2"/>
              <a:buChar char="l"/>
            </a:pPr>
            <a:r>
              <a:rPr lang="zh-CN" altLang="zh-CN" sz="2400" b="1" dirty="0"/>
              <a:t>需求分析阶段</a:t>
            </a:r>
            <a:endParaRPr lang="en-US" altLang="zh-CN" sz="2400" dirty="0"/>
          </a:p>
          <a:p>
            <a:pPr marL="685800" lvl="1" indent="-228600">
              <a:buClr>
                <a:schemeClr val="accent1"/>
              </a:buClr>
              <a:buFontTx/>
              <a:buChar char="–"/>
            </a:pPr>
            <a:r>
              <a:rPr lang="zh-CN" altLang="zh-CN" sz="2000" b="1" dirty="0">
                <a:solidFill>
                  <a:schemeClr val="tx2"/>
                </a:solidFill>
                <a:latin typeface="楷体_GB2312" pitchFamily="49" charset="-122"/>
                <a:ea typeface="楷体_GB2312" pitchFamily="49" charset="-122"/>
              </a:rPr>
              <a:t>了解并收集用户的需求</a:t>
            </a:r>
            <a:endParaRPr lang="en-US" altLang="zh-CN" sz="2000" b="1" dirty="0">
              <a:solidFill>
                <a:schemeClr val="tx2"/>
              </a:solidFill>
              <a:latin typeface="楷体_GB2312" pitchFamily="49" charset="-122"/>
              <a:ea typeface="楷体_GB2312" pitchFamily="49" charset="-122"/>
            </a:endParaRPr>
          </a:p>
          <a:p>
            <a:pPr marL="685800" lvl="1" indent="-228600">
              <a:buClr>
                <a:schemeClr val="accent1"/>
              </a:buClr>
              <a:buFontTx/>
              <a:buChar char="–"/>
            </a:pPr>
            <a:r>
              <a:rPr lang="zh-CN" altLang="en-US" sz="2000" b="1" dirty="0">
                <a:solidFill>
                  <a:schemeClr val="tx2"/>
                </a:solidFill>
                <a:latin typeface="楷体_GB2312" pitchFamily="49" charset="-122"/>
                <a:ea typeface="楷体_GB2312" pitchFamily="49" charset="-122"/>
              </a:rPr>
              <a:t>形</a:t>
            </a:r>
            <a:r>
              <a:rPr lang="zh-CN" altLang="zh-CN" sz="2000" b="1" dirty="0">
                <a:solidFill>
                  <a:schemeClr val="tx2"/>
                </a:solidFill>
                <a:latin typeface="楷体_GB2312" pitchFamily="49" charset="-122"/>
                <a:ea typeface="楷体_GB2312" pitchFamily="49" charset="-122"/>
              </a:rPr>
              <a:t>成需求分析说明书</a:t>
            </a:r>
            <a:endParaRPr lang="en-US" altLang="zh-CN" sz="2000" b="1" dirty="0">
              <a:solidFill>
                <a:schemeClr val="tx2"/>
              </a:solidFill>
              <a:latin typeface="楷体_GB2312" pitchFamily="49" charset="-122"/>
              <a:ea typeface="楷体_GB2312" pitchFamily="49" charset="-122"/>
            </a:endParaRPr>
          </a:p>
          <a:p>
            <a:pPr lvl="1">
              <a:buClr>
                <a:schemeClr val="accent1"/>
              </a:buClr>
            </a:pPr>
            <a:endParaRPr lang="en-US" altLang="zh-CN" sz="2000" b="1" dirty="0">
              <a:solidFill>
                <a:schemeClr val="tx2"/>
              </a:solidFill>
              <a:latin typeface="楷体_GB2312" pitchFamily="49" charset="-122"/>
              <a:ea typeface="楷体_GB2312" pitchFamily="49" charset="-122"/>
            </a:endParaRPr>
          </a:p>
          <a:p>
            <a:pPr marL="285750" indent="-285750">
              <a:buFont typeface="Wingdings" panose="05000000000000000000" pitchFamily="2" charset="2"/>
              <a:buChar char="l"/>
            </a:pPr>
            <a:r>
              <a:rPr lang="zh-CN" altLang="zh-CN" sz="2400" b="1" dirty="0"/>
              <a:t>概念设计阶段</a:t>
            </a:r>
            <a:endParaRPr lang="en-US" altLang="zh-CN" sz="2400" dirty="0"/>
          </a:p>
          <a:p>
            <a:pPr marL="685800" lvl="1" indent="-228600">
              <a:buClr>
                <a:schemeClr val="accent1"/>
              </a:buClr>
              <a:buFontTx/>
              <a:buChar char="–"/>
            </a:pPr>
            <a:r>
              <a:rPr lang="zh-CN" altLang="zh-CN" sz="2000" b="1" dirty="0">
                <a:solidFill>
                  <a:schemeClr val="tx2"/>
                </a:solidFill>
                <a:latin typeface="楷体_GB2312" pitchFamily="49" charset="-122"/>
                <a:ea typeface="楷体_GB2312" pitchFamily="49" charset="-122"/>
              </a:rPr>
              <a:t>对用户需求进行综合、归纳与抽象</a:t>
            </a:r>
            <a:endParaRPr lang="en-US" altLang="zh-CN" sz="2000" b="1" dirty="0">
              <a:solidFill>
                <a:schemeClr val="tx2"/>
              </a:solidFill>
              <a:latin typeface="楷体_GB2312" pitchFamily="49" charset="-122"/>
              <a:ea typeface="楷体_GB2312" pitchFamily="49" charset="-122"/>
            </a:endParaRPr>
          </a:p>
          <a:p>
            <a:pPr marL="685800" lvl="1" indent="-228600">
              <a:buClr>
                <a:schemeClr val="accent1"/>
              </a:buClr>
              <a:buFontTx/>
              <a:buChar char="–"/>
            </a:pPr>
            <a:r>
              <a:rPr lang="zh-CN" altLang="zh-CN" sz="2000" b="1" dirty="0">
                <a:solidFill>
                  <a:schemeClr val="tx2"/>
                </a:solidFill>
                <a:latin typeface="楷体_GB2312" pitchFamily="49" charset="-122"/>
                <a:ea typeface="楷体_GB2312" pitchFamily="49" charset="-122"/>
              </a:rPr>
              <a:t>形成一个独立于</a:t>
            </a:r>
            <a:r>
              <a:rPr lang="en-US" altLang="zh-CN" sz="2000" b="1" dirty="0">
                <a:solidFill>
                  <a:schemeClr val="tx2"/>
                </a:solidFill>
                <a:latin typeface="楷体_GB2312" pitchFamily="49" charset="-122"/>
                <a:ea typeface="楷体_GB2312" pitchFamily="49" charset="-122"/>
              </a:rPr>
              <a:t>DBMS</a:t>
            </a:r>
            <a:r>
              <a:rPr lang="zh-CN" altLang="zh-CN" sz="2000" b="1" dirty="0">
                <a:solidFill>
                  <a:schemeClr val="tx2"/>
                </a:solidFill>
                <a:latin typeface="楷体_GB2312" pitchFamily="49" charset="-122"/>
                <a:ea typeface="楷体_GB2312" pitchFamily="49" charset="-122"/>
              </a:rPr>
              <a:t>的概念数据模型</a:t>
            </a:r>
            <a:endParaRPr lang="en-US" altLang="zh-CN" sz="2000" b="1" dirty="0">
              <a:solidFill>
                <a:schemeClr val="tx2"/>
              </a:solidFill>
              <a:latin typeface="楷体_GB2312" pitchFamily="49" charset="-122"/>
              <a:ea typeface="楷体_GB2312" pitchFamily="49" charset="-122"/>
            </a:endParaRPr>
          </a:p>
          <a:p>
            <a:pPr marL="685800" lvl="1" indent="-228600">
              <a:buClr>
                <a:schemeClr val="accent1"/>
              </a:buClr>
              <a:buFontTx/>
              <a:buChar char="–"/>
            </a:pPr>
            <a:r>
              <a:rPr lang="zh-CN" altLang="en-US" sz="2000" b="1" dirty="0">
                <a:solidFill>
                  <a:schemeClr val="tx2"/>
                </a:solidFill>
                <a:latin typeface="楷体_GB2312" pitchFamily="49" charset="-122"/>
                <a:ea typeface="楷体_GB2312" pitchFamily="49" charset="-122"/>
              </a:rPr>
              <a:t>形成数据库逻辑模式</a:t>
            </a:r>
          </a:p>
          <a:p>
            <a:endParaRPr lang="en-US" altLang="zh-CN" dirty="0"/>
          </a:p>
          <a:p>
            <a:pPr marL="285750" indent="-285750">
              <a:buFont typeface="Wingdings" panose="05000000000000000000" pitchFamily="2" charset="2"/>
              <a:buChar char="l"/>
            </a:pPr>
            <a:r>
              <a:rPr lang="zh-CN" altLang="zh-CN" sz="2400" b="1" dirty="0"/>
              <a:t>逻辑设计阶段</a:t>
            </a:r>
            <a:endParaRPr lang="en-US" altLang="zh-CN" sz="2400" dirty="0"/>
          </a:p>
          <a:p>
            <a:pPr marL="685800" lvl="1" indent="-228600">
              <a:buClr>
                <a:schemeClr val="accent1"/>
              </a:buClr>
              <a:buFontTx/>
              <a:buChar char="–"/>
            </a:pPr>
            <a:r>
              <a:rPr lang="zh-CN" altLang="zh-CN" sz="2000" b="1" dirty="0">
                <a:solidFill>
                  <a:schemeClr val="tx2"/>
                </a:solidFill>
                <a:latin typeface="楷体_GB2312" pitchFamily="49" charset="-122"/>
                <a:ea typeface="楷体_GB2312" pitchFamily="49" charset="-122"/>
              </a:rPr>
              <a:t>将概念数据模型转化为某一</a:t>
            </a:r>
            <a:r>
              <a:rPr lang="en-US" altLang="zh-CN" sz="2000" b="1" dirty="0">
                <a:solidFill>
                  <a:schemeClr val="tx2"/>
                </a:solidFill>
                <a:latin typeface="楷体_GB2312" pitchFamily="49" charset="-122"/>
                <a:ea typeface="楷体_GB2312" pitchFamily="49" charset="-122"/>
              </a:rPr>
              <a:t>DBMS</a:t>
            </a:r>
            <a:r>
              <a:rPr lang="zh-CN" altLang="zh-CN" sz="2000" b="1" dirty="0">
                <a:solidFill>
                  <a:schemeClr val="tx2"/>
                </a:solidFill>
                <a:latin typeface="楷体_GB2312" pitchFamily="49" charset="-122"/>
                <a:ea typeface="楷体_GB2312" pitchFamily="49" charset="-122"/>
              </a:rPr>
              <a:t>所支持的数据模型</a:t>
            </a:r>
            <a:endParaRPr lang="en-US" altLang="zh-CN" sz="2000" b="1" dirty="0">
              <a:solidFill>
                <a:schemeClr val="tx2"/>
              </a:solidFill>
              <a:latin typeface="楷体_GB2312" pitchFamily="49" charset="-122"/>
              <a:ea typeface="楷体_GB2312" pitchFamily="49" charset="-122"/>
            </a:endParaRPr>
          </a:p>
          <a:p>
            <a:pPr marL="685800" lvl="1" indent="-228600">
              <a:buClr>
                <a:schemeClr val="accent1"/>
              </a:buClr>
              <a:buFontTx/>
              <a:buChar char="–"/>
            </a:pPr>
            <a:r>
              <a:rPr lang="zh-CN" altLang="zh-CN" sz="2000" b="1" dirty="0">
                <a:solidFill>
                  <a:schemeClr val="tx2"/>
                </a:solidFill>
                <a:latin typeface="楷体_GB2312" pitchFamily="49" charset="-122"/>
                <a:ea typeface="楷体_GB2312" pitchFamily="49" charset="-122"/>
              </a:rPr>
              <a:t>针对</a:t>
            </a:r>
            <a:r>
              <a:rPr lang="en-US" altLang="zh-CN" sz="2000" b="1" dirty="0">
                <a:solidFill>
                  <a:schemeClr val="tx2"/>
                </a:solidFill>
                <a:latin typeface="楷体_GB2312" pitchFamily="49" charset="-122"/>
                <a:ea typeface="楷体_GB2312" pitchFamily="49" charset="-122"/>
              </a:rPr>
              <a:t>DBMS</a:t>
            </a:r>
            <a:r>
              <a:rPr lang="zh-CN" altLang="zh-CN" sz="2000" b="1" dirty="0">
                <a:solidFill>
                  <a:schemeClr val="tx2"/>
                </a:solidFill>
                <a:latin typeface="楷体_GB2312" pitchFamily="49" charset="-122"/>
                <a:ea typeface="楷体_GB2312" pitchFamily="49" charset="-122"/>
              </a:rPr>
              <a:t>的特点对数据模型进行限制与优化</a:t>
            </a:r>
            <a:r>
              <a:rPr lang="en-US" altLang="zh-CN" sz="2000" b="1" dirty="0">
                <a:solidFill>
                  <a:schemeClr val="tx2"/>
                </a:solidFill>
                <a:latin typeface="楷体_GB2312" pitchFamily="49" charset="-122"/>
                <a:ea typeface="楷体_GB2312" pitchFamily="49" charset="-122"/>
              </a:rPr>
              <a:t> </a:t>
            </a:r>
          </a:p>
          <a:p>
            <a:pPr marL="685800" lvl="1" indent="-228600">
              <a:buClr>
                <a:schemeClr val="accent1"/>
              </a:buClr>
              <a:buFontTx/>
              <a:buChar char="–"/>
            </a:pPr>
            <a:r>
              <a:rPr lang="zh-CN" altLang="en-US" sz="2000" b="1" dirty="0">
                <a:solidFill>
                  <a:schemeClr val="tx2"/>
                </a:solidFill>
                <a:latin typeface="楷体_GB2312" pitchFamily="49" charset="-122"/>
                <a:ea typeface="楷体_GB2312" pitchFamily="49" charset="-122"/>
              </a:rPr>
              <a:t>建立必要的视图</a:t>
            </a:r>
            <a:r>
              <a:rPr lang="en-US" altLang="zh-CN" sz="2000" b="1" dirty="0">
                <a:solidFill>
                  <a:schemeClr val="tx2"/>
                </a:solidFill>
                <a:latin typeface="楷体_GB2312" pitchFamily="49" charset="-122"/>
                <a:ea typeface="楷体_GB2312" pitchFamily="49" charset="-122"/>
              </a:rPr>
              <a:t>(View)</a:t>
            </a:r>
            <a:r>
              <a:rPr lang="zh-CN" altLang="en-US" sz="2000" b="1" dirty="0">
                <a:solidFill>
                  <a:schemeClr val="tx2"/>
                </a:solidFill>
                <a:latin typeface="楷体_GB2312" pitchFamily="49" charset="-122"/>
                <a:ea typeface="楷体_GB2312" pitchFamily="49" charset="-122"/>
              </a:rPr>
              <a:t>，形成数据的外模式</a:t>
            </a:r>
          </a:p>
          <a:p>
            <a:endParaRPr lang="en-US" altLang="zh-CN" dirty="0"/>
          </a:p>
          <a:p>
            <a:pPr marL="285750" indent="-285750">
              <a:buFont typeface="Wingdings" panose="05000000000000000000" pitchFamily="2" charset="2"/>
              <a:buChar char="l"/>
            </a:pPr>
            <a:r>
              <a:rPr lang="zh-CN" altLang="zh-CN" sz="2400" b="1" dirty="0"/>
              <a:t>物理设计阶段</a:t>
            </a:r>
            <a:endParaRPr lang="en-US" altLang="zh-CN" sz="2400" dirty="0"/>
          </a:p>
          <a:p>
            <a:pPr marL="685800" lvl="1" indent="-228600">
              <a:buClr>
                <a:schemeClr val="accent1"/>
              </a:buClr>
              <a:buFontTx/>
              <a:buChar char="–"/>
            </a:pPr>
            <a:r>
              <a:rPr lang="zh-CN" altLang="zh-CN" sz="2000" b="1" dirty="0">
                <a:solidFill>
                  <a:schemeClr val="tx2"/>
                </a:solidFill>
                <a:latin typeface="楷体_GB2312" pitchFamily="49" charset="-122"/>
                <a:ea typeface="楷体_GB2312" pitchFamily="49" charset="-122"/>
              </a:rPr>
              <a:t>为逻辑数据模型选择最适合应用环境的物理结构</a:t>
            </a:r>
            <a:r>
              <a:rPr lang="en-US" altLang="zh-CN" sz="2000" b="1" dirty="0">
                <a:solidFill>
                  <a:schemeClr val="tx2"/>
                </a:solidFill>
                <a:latin typeface="楷体_GB2312" pitchFamily="49" charset="-122"/>
                <a:ea typeface="楷体_GB2312" pitchFamily="49" charset="-122"/>
              </a:rPr>
              <a:t> </a:t>
            </a:r>
          </a:p>
          <a:p>
            <a:pPr marL="685800" lvl="1" indent="-228600">
              <a:buClr>
                <a:schemeClr val="accent1"/>
              </a:buClr>
              <a:buFontTx/>
              <a:buChar char="–"/>
            </a:pPr>
            <a:r>
              <a:rPr lang="zh-CN" altLang="en-US" sz="2000" b="1" dirty="0">
                <a:solidFill>
                  <a:schemeClr val="tx2"/>
                </a:solidFill>
                <a:latin typeface="楷体_GB2312" pitchFamily="49" charset="-122"/>
                <a:ea typeface="楷体_GB2312" pitchFamily="49" charset="-122"/>
              </a:rPr>
              <a:t>形成数据库内模式</a:t>
            </a:r>
            <a:endParaRPr lang="zh-CN" altLang="zh-CN" sz="2000" b="1" dirty="0">
              <a:solidFill>
                <a:schemeClr val="tx2"/>
              </a:solidFill>
              <a:latin typeface="楷体_GB2312" pitchFamily="49" charset="-122"/>
              <a:ea typeface="楷体_GB2312" pitchFamily="49" charset="-122"/>
            </a:endParaRPr>
          </a:p>
        </p:txBody>
      </p:sp>
      <p:sp>
        <p:nvSpPr>
          <p:cNvPr id="3" name="矩形 2"/>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110832"/>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5"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8.1.4 </a:t>
            </a:r>
            <a:r>
              <a:rPr lang="zh-CN" altLang="en-US" sz="2800" b="1" dirty="0">
                <a:solidFill>
                  <a:schemeClr val="bg1"/>
                </a:solidFill>
                <a:latin typeface="微软雅黑" panose="020B0503020204020204" pitchFamily="34" charset="-122"/>
                <a:ea typeface="微软雅黑" panose="020B0503020204020204" pitchFamily="34" charset="-122"/>
              </a:rPr>
              <a:t>数据库设计的步骤</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3274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43919" y="960893"/>
            <a:ext cx="10918692" cy="2616101"/>
          </a:xfrm>
          <a:prstGeom prst="rect">
            <a:avLst/>
          </a:prstGeom>
          <a:noFill/>
        </p:spPr>
        <p:txBody>
          <a:bodyPr wrap="square" rtlCol="0">
            <a:spAutoFit/>
          </a:bodyPr>
          <a:lstStyle/>
          <a:p>
            <a:pPr marL="285750" indent="-285750">
              <a:buFont typeface="Wingdings" panose="05000000000000000000" pitchFamily="2" charset="2"/>
              <a:buChar char="l"/>
            </a:pPr>
            <a:r>
              <a:rPr lang="zh-CN" altLang="zh-CN" sz="2400" b="1" dirty="0"/>
              <a:t>数据库实现阶段</a:t>
            </a:r>
            <a:endParaRPr lang="en-US" altLang="zh-CN" sz="2400" b="1" dirty="0"/>
          </a:p>
          <a:p>
            <a:pPr marL="685800" lvl="1" indent="-228600">
              <a:buClr>
                <a:schemeClr val="accent1"/>
              </a:buClr>
              <a:buFontTx/>
              <a:buChar char="–"/>
            </a:pPr>
            <a:r>
              <a:rPr lang="zh-CN" altLang="zh-CN" sz="2000" b="1" dirty="0">
                <a:solidFill>
                  <a:schemeClr val="tx2"/>
                </a:solidFill>
                <a:latin typeface="楷体_GB2312" pitchFamily="49" charset="-122"/>
                <a:ea typeface="楷体_GB2312" pitchFamily="49" charset="-122"/>
              </a:rPr>
              <a:t>在实际的计算机系统中建立数据库的结构、载入数据、测试程序、对数据库系统进行试运行等</a:t>
            </a:r>
            <a:endParaRPr lang="en-US" altLang="zh-CN" sz="2000" b="1" dirty="0">
              <a:solidFill>
                <a:schemeClr val="tx2"/>
              </a:solidFill>
              <a:latin typeface="楷体_GB2312" pitchFamily="49" charset="-122"/>
              <a:ea typeface="楷体_GB2312" pitchFamily="49" charset="-122"/>
            </a:endParaRPr>
          </a:p>
          <a:p>
            <a:r>
              <a:rPr lang="en-US" altLang="zh-CN" dirty="0"/>
              <a:t> </a:t>
            </a:r>
            <a:endParaRPr lang="zh-CN" altLang="zh-CN" dirty="0"/>
          </a:p>
          <a:p>
            <a:pPr marL="285750" indent="-285750">
              <a:buFont typeface="Wingdings" panose="05000000000000000000" pitchFamily="2" charset="2"/>
              <a:buChar char="l"/>
            </a:pPr>
            <a:r>
              <a:rPr lang="zh-CN" altLang="zh-CN" sz="2400" b="1" dirty="0"/>
              <a:t>数据库的运行与维护阶段</a:t>
            </a:r>
            <a:endParaRPr lang="en-US" altLang="zh-CN" sz="2400" dirty="0"/>
          </a:p>
          <a:p>
            <a:pPr marL="685800" lvl="1" indent="-228600">
              <a:buClr>
                <a:schemeClr val="accent1"/>
              </a:buClr>
              <a:buFontTx/>
              <a:buChar char="–"/>
            </a:pPr>
            <a:r>
              <a:rPr lang="zh-CN" altLang="zh-CN" sz="2000" b="1" dirty="0">
                <a:solidFill>
                  <a:schemeClr val="tx2"/>
                </a:solidFill>
                <a:latin typeface="楷体_GB2312" pitchFamily="49" charset="-122"/>
                <a:ea typeface="楷体_GB2312" pitchFamily="49" charset="-122"/>
              </a:rPr>
              <a:t>数据库系统正式投入运行</a:t>
            </a:r>
            <a:endParaRPr lang="en-US" altLang="zh-CN" sz="2000" b="1" dirty="0">
              <a:solidFill>
                <a:schemeClr val="tx2"/>
              </a:solidFill>
              <a:latin typeface="楷体_GB2312" pitchFamily="49" charset="-122"/>
              <a:ea typeface="楷体_GB2312" pitchFamily="49" charset="-122"/>
            </a:endParaRPr>
          </a:p>
          <a:p>
            <a:pPr marL="685800" lvl="1" indent="-228600">
              <a:buClr>
                <a:schemeClr val="accent1"/>
              </a:buClr>
              <a:buFontTx/>
              <a:buChar char="–"/>
            </a:pPr>
            <a:r>
              <a:rPr lang="zh-CN" altLang="zh-CN" sz="2000" b="1" dirty="0">
                <a:solidFill>
                  <a:schemeClr val="tx2"/>
                </a:solidFill>
                <a:latin typeface="楷体_GB2312" pitchFamily="49" charset="-122"/>
                <a:ea typeface="楷体_GB2312" pitchFamily="49" charset="-122"/>
              </a:rPr>
              <a:t>由</a:t>
            </a:r>
            <a:r>
              <a:rPr lang="en-US" altLang="zh-CN" sz="2000" b="1" dirty="0">
                <a:solidFill>
                  <a:schemeClr val="tx2"/>
                </a:solidFill>
                <a:latin typeface="楷体_GB2312" pitchFamily="49" charset="-122"/>
                <a:ea typeface="楷体_GB2312" pitchFamily="49" charset="-122"/>
              </a:rPr>
              <a:t>DBA</a:t>
            </a:r>
            <a:r>
              <a:rPr lang="zh-CN" altLang="zh-CN" sz="2000" b="1" dirty="0">
                <a:solidFill>
                  <a:schemeClr val="tx2"/>
                </a:solidFill>
                <a:latin typeface="楷体_GB2312" pitchFamily="49" charset="-122"/>
                <a:ea typeface="楷体_GB2312" pitchFamily="49" charset="-122"/>
              </a:rPr>
              <a:t>来承担数据库系统的日常维护工作</a:t>
            </a:r>
            <a:r>
              <a:rPr lang="en-US" altLang="zh-CN" sz="2000" b="1" dirty="0">
                <a:solidFill>
                  <a:schemeClr val="tx2"/>
                </a:solidFill>
                <a:latin typeface="楷体_GB2312" pitchFamily="49" charset="-122"/>
                <a:ea typeface="楷体_GB2312" pitchFamily="49" charset="-122"/>
              </a:rPr>
              <a:t> </a:t>
            </a:r>
            <a:endParaRPr lang="zh-CN" altLang="en-US" sz="2000" b="1" dirty="0">
              <a:solidFill>
                <a:schemeClr val="tx2"/>
              </a:solidFill>
              <a:latin typeface="楷体_GB2312" pitchFamily="49" charset="-122"/>
              <a:ea typeface="楷体_GB2312" pitchFamily="49" charset="-122"/>
            </a:endParaRPr>
          </a:p>
          <a:p>
            <a:endParaRPr lang="zh-CN" altLang="en-US" dirty="0"/>
          </a:p>
        </p:txBody>
      </p:sp>
      <p:sp>
        <p:nvSpPr>
          <p:cNvPr id="4" name="矩形 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文本框 94"/>
          <p:cNvSpPr txBox="1">
            <a:spLocks noChangeArrowheads="1"/>
          </p:cNvSpPr>
          <p:nvPr/>
        </p:nvSpPr>
        <p:spPr bwMode="auto">
          <a:xfrm>
            <a:off x="245870" y="110832"/>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6"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8.1.4 </a:t>
            </a:r>
            <a:r>
              <a:rPr lang="zh-CN" altLang="en-US" sz="2800" b="1" dirty="0">
                <a:solidFill>
                  <a:schemeClr val="bg1"/>
                </a:solidFill>
                <a:latin typeface="微软雅黑" panose="020B0503020204020204" pitchFamily="34" charset="-122"/>
                <a:ea typeface="微软雅黑" panose="020B0503020204020204" pitchFamily="34" charset="-122"/>
              </a:rPr>
              <a:t>数据库设计的步骤</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848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 </a:t>
            </a:r>
            <a:r>
              <a:rPr lang="zh-CN" altLang="en-US" sz="2800" b="1" dirty="0">
                <a:solidFill>
                  <a:schemeClr val="bg1"/>
                </a:solidFill>
                <a:latin typeface="微软雅黑" panose="020B0503020204020204" pitchFamily="34" charset="-122"/>
                <a:ea typeface="微软雅黑" panose="020B0503020204020204" pitchFamily="34" charset="-122"/>
              </a:rPr>
              <a:t>数据库设计概述</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grpSp>
        <p:nvGrpSpPr>
          <p:cNvPr id="6" name="Group 2"/>
          <p:cNvGrpSpPr>
            <a:grpSpLocks/>
          </p:cNvGrpSpPr>
          <p:nvPr/>
        </p:nvGrpSpPr>
        <p:grpSpPr bwMode="auto">
          <a:xfrm>
            <a:off x="4492341" y="689265"/>
            <a:ext cx="6705600" cy="6096000"/>
            <a:chOff x="-3" y="-3"/>
            <a:chExt cx="2997" cy="3968"/>
          </a:xfrm>
        </p:grpSpPr>
        <p:grpSp>
          <p:nvGrpSpPr>
            <p:cNvPr id="7" name="Group 3"/>
            <p:cNvGrpSpPr>
              <a:grpSpLocks/>
            </p:cNvGrpSpPr>
            <p:nvPr/>
          </p:nvGrpSpPr>
          <p:grpSpPr bwMode="auto">
            <a:xfrm>
              <a:off x="0" y="0"/>
              <a:ext cx="2991" cy="3962"/>
              <a:chOff x="0" y="0"/>
              <a:chExt cx="2991" cy="3962"/>
            </a:xfrm>
          </p:grpSpPr>
          <p:grpSp>
            <p:nvGrpSpPr>
              <p:cNvPr id="9" name="Group 4"/>
              <p:cNvGrpSpPr>
                <a:grpSpLocks/>
              </p:cNvGrpSpPr>
              <p:nvPr/>
            </p:nvGrpSpPr>
            <p:grpSpPr bwMode="auto">
              <a:xfrm>
                <a:off x="0" y="0"/>
                <a:ext cx="334" cy="710"/>
                <a:chOff x="0" y="0"/>
                <a:chExt cx="334" cy="710"/>
              </a:xfrm>
            </p:grpSpPr>
            <p:sp>
              <p:nvSpPr>
                <p:cNvPr id="76" name="Rectangle 5"/>
                <p:cNvSpPr>
                  <a:spLocks noChangeArrowheads="1"/>
                </p:cNvSpPr>
                <p:nvPr/>
              </p:nvSpPr>
              <p:spPr bwMode="auto">
                <a:xfrm>
                  <a:off x="43" y="0"/>
                  <a:ext cx="248"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1600" b="1" i="0">
                      <a:latin typeface="宋体" panose="02010600030101010101" pitchFamily="2" charset="-122"/>
                    </a:rPr>
                    <a:t>设</a:t>
                  </a:r>
                </a:p>
                <a:p>
                  <a:pPr algn="just" eaLnBrk="1" hangingPunct="1"/>
                  <a:r>
                    <a:rPr kumimoji="1" lang="zh-CN" altLang="en-US" sz="1600" b="1" i="0">
                      <a:latin typeface="宋体" panose="02010600030101010101" pitchFamily="2" charset="-122"/>
                    </a:rPr>
                    <a:t>计</a:t>
                  </a:r>
                </a:p>
                <a:p>
                  <a:pPr algn="just" eaLnBrk="1" hangingPunct="1"/>
                  <a:r>
                    <a:rPr kumimoji="1" lang="zh-CN" altLang="en-US" sz="1600" b="1" i="0">
                      <a:latin typeface="宋体" panose="02010600030101010101" pitchFamily="2" charset="-122"/>
                    </a:rPr>
                    <a:t>阶 段</a:t>
                  </a:r>
                </a:p>
              </p:txBody>
            </p:sp>
            <p:sp>
              <p:nvSpPr>
                <p:cNvPr id="77" name="Rectangle 6"/>
                <p:cNvSpPr>
                  <a:spLocks noChangeArrowheads="1"/>
                </p:cNvSpPr>
                <p:nvPr/>
              </p:nvSpPr>
              <p:spPr bwMode="auto">
                <a:xfrm>
                  <a:off x="0" y="0"/>
                  <a:ext cx="334" cy="71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0" name="Group 7"/>
              <p:cNvGrpSpPr>
                <a:grpSpLocks/>
              </p:cNvGrpSpPr>
              <p:nvPr/>
            </p:nvGrpSpPr>
            <p:grpSpPr bwMode="auto">
              <a:xfrm>
                <a:off x="334" y="0"/>
                <a:ext cx="2657" cy="355"/>
                <a:chOff x="334" y="0"/>
                <a:chExt cx="2657" cy="355"/>
              </a:xfrm>
            </p:grpSpPr>
            <p:sp>
              <p:nvSpPr>
                <p:cNvPr id="74" name="Rectangle 8"/>
                <p:cNvSpPr>
                  <a:spLocks noChangeArrowheads="1"/>
                </p:cNvSpPr>
                <p:nvPr/>
              </p:nvSpPr>
              <p:spPr bwMode="auto">
                <a:xfrm>
                  <a:off x="377" y="0"/>
                  <a:ext cx="2571"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i="0">
                      <a:latin typeface="Times New Roman" panose="02020603050405020304" pitchFamily="18" charset="0"/>
                    </a:rPr>
                    <a:t>设  计  描  述</a:t>
                  </a:r>
                  <a:endParaRPr kumimoji="1" lang="zh-CN" altLang="en-US" sz="2800" i="0">
                    <a:latin typeface="Times New Roman" panose="02020603050405020304" pitchFamily="18" charset="0"/>
                  </a:endParaRPr>
                </a:p>
              </p:txBody>
            </p:sp>
            <p:sp>
              <p:nvSpPr>
                <p:cNvPr id="75" name="Rectangle 9"/>
                <p:cNvSpPr>
                  <a:spLocks noChangeArrowheads="1"/>
                </p:cNvSpPr>
                <p:nvPr/>
              </p:nvSpPr>
              <p:spPr bwMode="auto">
                <a:xfrm>
                  <a:off x="334" y="0"/>
                  <a:ext cx="2657" cy="35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1" name="Group 10"/>
              <p:cNvGrpSpPr>
                <a:grpSpLocks/>
              </p:cNvGrpSpPr>
              <p:nvPr/>
            </p:nvGrpSpPr>
            <p:grpSpPr bwMode="auto">
              <a:xfrm>
                <a:off x="334" y="355"/>
                <a:ext cx="1277" cy="355"/>
                <a:chOff x="334" y="355"/>
                <a:chExt cx="1277" cy="355"/>
              </a:xfrm>
            </p:grpSpPr>
            <p:sp>
              <p:nvSpPr>
                <p:cNvPr id="72" name="Rectangle 11"/>
                <p:cNvSpPr>
                  <a:spLocks noChangeArrowheads="1"/>
                </p:cNvSpPr>
                <p:nvPr/>
              </p:nvSpPr>
              <p:spPr bwMode="auto">
                <a:xfrm>
                  <a:off x="377" y="355"/>
                  <a:ext cx="1191"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i="0">
                      <a:latin typeface="Times New Roman" panose="02020603050405020304" pitchFamily="18" charset="0"/>
                    </a:rPr>
                    <a:t>数    据</a:t>
                  </a:r>
                </a:p>
              </p:txBody>
            </p:sp>
            <p:sp>
              <p:nvSpPr>
                <p:cNvPr id="73" name="Rectangle 12"/>
                <p:cNvSpPr>
                  <a:spLocks noChangeArrowheads="1"/>
                </p:cNvSpPr>
                <p:nvPr/>
              </p:nvSpPr>
              <p:spPr bwMode="auto">
                <a:xfrm>
                  <a:off x="334" y="355"/>
                  <a:ext cx="1277" cy="35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2" name="Group 13"/>
              <p:cNvGrpSpPr>
                <a:grpSpLocks/>
              </p:cNvGrpSpPr>
              <p:nvPr/>
            </p:nvGrpSpPr>
            <p:grpSpPr bwMode="auto">
              <a:xfrm>
                <a:off x="1611" y="355"/>
                <a:ext cx="1380" cy="355"/>
                <a:chOff x="1611" y="355"/>
                <a:chExt cx="1380" cy="355"/>
              </a:xfrm>
            </p:grpSpPr>
            <p:sp>
              <p:nvSpPr>
                <p:cNvPr id="70" name="Rectangle 14"/>
                <p:cNvSpPr>
                  <a:spLocks noChangeArrowheads="1"/>
                </p:cNvSpPr>
                <p:nvPr/>
              </p:nvSpPr>
              <p:spPr bwMode="auto">
                <a:xfrm>
                  <a:off x="1654" y="355"/>
                  <a:ext cx="129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i="0">
                      <a:latin typeface="Times New Roman" panose="02020603050405020304" pitchFamily="18" charset="0"/>
                    </a:rPr>
                    <a:t>处    理</a:t>
                  </a:r>
                </a:p>
              </p:txBody>
            </p:sp>
            <p:sp>
              <p:nvSpPr>
                <p:cNvPr id="71" name="Rectangle 15"/>
                <p:cNvSpPr>
                  <a:spLocks noChangeArrowheads="1"/>
                </p:cNvSpPr>
                <p:nvPr/>
              </p:nvSpPr>
              <p:spPr bwMode="auto">
                <a:xfrm>
                  <a:off x="1611" y="355"/>
                  <a:ext cx="1380" cy="35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3" name="Group 16"/>
              <p:cNvGrpSpPr>
                <a:grpSpLocks/>
              </p:cNvGrpSpPr>
              <p:nvPr/>
            </p:nvGrpSpPr>
            <p:grpSpPr bwMode="auto">
              <a:xfrm>
                <a:off x="0" y="710"/>
                <a:ext cx="334" cy="422"/>
                <a:chOff x="0" y="710"/>
                <a:chExt cx="334" cy="422"/>
              </a:xfrm>
            </p:grpSpPr>
            <p:sp>
              <p:nvSpPr>
                <p:cNvPr id="68" name="Rectangle 17"/>
                <p:cNvSpPr>
                  <a:spLocks noChangeArrowheads="1"/>
                </p:cNvSpPr>
                <p:nvPr/>
              </p:nvSpPr>
              <p:spPr bwMode="auto">
                <a:xfrm>
                  <a:off x="43" y="710"/>
                  <a:ext cx="248"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1400" b="1" i="0">
                      <a:solidFill>
                        <a:srgbClr val="003300"/>
                      </a:solidFill>
                      <a:latin typeface="Times New Roman" panose="02020603050405020304" pitchFamily="18" charset="0"/>
                    </a:rPr>
                    <a:t>需求分析</a:t>
                  </a:r>
                  <a:endParaRPr kumimoji="1" lang="zh-CN" altLang="en-US" sz="1400" i="0">
                    <a:solidFill>
                      <a:srgbClr val="003300"/>
                    </a:solidFill>
                    <a:latin typeface="Times New Roman" panose="02020603050405020304" pitchFamily="18" charset="0"/>
                  </a:endParaRPr>
                </a:p>
              </p:txBody>
            </p:sp>
            <p:sp>
              <p:nvSpPr>
                <p:cNvPr id="69" name="Rectangle 18"/>
                <p:cNvSpPr>
                  <a:spLocks noChangeArrowheads="1"/>
                </p:cNvSpPr>
                <p:nvPr/>
              </p:nvSpPr>
              <p:spPr bwMode="auto">
                <a:xfrm>
                  <a:off x="0" y="710"/>
                  <a:ext cx="334" cy="42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4" name="Group 19"/>
              <p:cNvGrpSpPr>
                <a:grpSpLocks/>
              </p:cNvGrpSpPr>
              <p:nvPr/>
            </p:nvGrpSpPr>
            <p:grpSpPr bwMode="auto">
              <a:xfrm>
                <a:off x="334" y="710"/>
                <a:ext cx="1277" cy="422"/>
                <a:chOff x="334" y="710"/>
                <a:chExt cx="1277" cy="422"/>
              </a:xfrm>
            </p:grpSpPr>
            <p:sp>
              <p:nvSpPr>
                <p:cNvPr id="66" name="Rectangle 20"/>
                <p:cNvSpPr>
                  <a:spLocks noChangeArrowheads="1"/>
                </p:cNvSpPr>
                <p:nvPr/>
              </p:nvSpPr>
              <p:spPr bwMode="auto">
                <a:xfrm>
                  <a:off x="377" y="710"/>
                  <a:ext cx="1191"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700" b="1" i="0">
                      <a:latin typeface="Times New Roman" panose="02020603050405020304" pitchFamily="18" charset="0"/>
                    </a:rPr>
                    <a:t>  </a:t>
                  </a:r>
                  <a:r>
                    <a:rPr kumimoji="1" lang="zh-CN" altLang="en-US" sz="1400" b="1" i="0">
                      <a:latin typeface="Times New Roman" panose="02020603050405020304" pitchFamily="18" charset="0"/>
                    </a:rPr>
                    <a:t>数据字典、全系统中数据项、</a:t>
                  </a:r>
                  <a:endParaRPr kumimoji="1" lang="zh-CN" altLang="en-US" sz="2000" i="0">
                    <a:latin typeface="Times New Roman" panose="02020603050405020304" pitchFamily="18" charset="0"/>
                  </a:endParaRPr>
                </a:p>
                <a:p>
                  <a:pPr algn="just"/>
                  <a:r>
                    <a:rPr kumimoji="1" lang="zh-CN" altLang="en-US" sz="1400" b="1" i="0">
                      <a:latin typeface="Times New Roman" panose="02020603050405020304" pitchFamily="18" charset="0"/>
                    </a:rPr>
                    <a:t>  数据流、数据存储的描述</a:t>
                  </a:r>
                  <a:endParaRPr kumimoji="1" lang="zh-CN" altLang="en-US" sz="3600" b="1" i="0">
                    <a:latin typeface="Times New Roman" panose="02020603050405020304" pitchFamily="18" charset="0"/>
                  </a:endParaRPr>
                </a:p>
              </p:txBody>
            </p:sp>
            <p:sp>
              <p:nvSpPr>
                <p:cNvPr id="67" name="Rectangle 21"/>
                <p:cNvSpPr>
                  <a:spLocks noChangeArrowheads="1"/>
                </p:cNvSpPr>
                <p:nvPr/>
              </p:nvSpPr>
              <p:spPr bwMode="auto">
                <a:xfrm>
                  <a:off x="334" y="710"/>
                  <a:ext cx="1277" cy="42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5" name="Group 22"/>
              <p:cNvGrpSpPr>
                <a:grpSpLocks/>
              </p:cNvGrpSpPr>
              <p:nvPr/>
            </p:nvGrpSpPr>
            <p:grpSpPr bwMode="auto">
              <a:xfrm>
                <a:off x="1611" y="710"/>
                <a:ext cx="1380" cy="422"/>
                <a:chOff x="1611" y="710"/>
                <a:chExt cx="1380" cy="422"/>
              </a:xfrm>
            </p:grpSpPr>
            <p:sp>
              <p:nvSpPr>
                <p:cNvPr id="64" name="Rectangle 23"/>
                <p:cNvSpPr>
                  <a:spLocks noChangeArrowheads="1"/>
                </p:cNvSpPr>
                <p:nvPr/>
              </p:nvSpPr>
              <p:spPr bwMode="auto">
                <a:xfrm>
                  <a:off x="1654" y="710"/>
                  <a:ext cx="129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1400" b="1" i="0">
                      <a:solidFill>
                        <a:srgbClr val="FF0000"/>
                      </a:solidFill>
                      <a:latin typeface="Times New Roman" panose="02020603050405020304" pitchFamily="18" charset="0"/>
                    </a:rPr>
                    <a:t>数据流图</a:t>
                  </a:r>
                  <a:r>
                    <a:rPr kumimoji="1" lang="zh-CN" altLang="en-US" sz="1400" b="1" i="0">
                      <a:latin typeface="Times New Roman" panose="02020603050405020304" pitchFamily="18" charset="0"/>
                    </a:rPr>
                    <a:t>和</a:t>
                  </a:r>
                  <a:r>
                    <a:rPr kumimoji="1" lang="zh-CN" altLang="en-US" sz="1400" b="1" i="0">
                      <a:solidFill>
                        <a:srgbClr val="FF0000"/>
                      </a:solidFill>
                      <a:latin typeface="Times New Roman" panose="02020603050405020304" pitchFamily="18" charset="0"/>
                    </a:rPr>
                    <a:t>判定表（判定树）</a:t>
                  </a:r>
                  <a:r>
                    <a:rPr kumimoji="1" lang="zh-CN" altLang="en-US" sz="1400" b="1" i="0">
                      <a:latin typeface="Times New Roman" panose="02020603050405020304" pitchFamily="18" charset="0"/>
                    </a:rPr>
                    <a:t>、</a:t>
                  </a:r>
                  <a:r>
                    <a:rPr kumimoji="1" lang="zh-CN" altLang="en-US" sz="1400" b="1" i="0">
                      <a:solidFill>
                        <a:srgbClr val="FF0000"/>
                      </a:solidFill>
                      <a:latin typeface="Times New Roman" panose="02020603050405020304" pitchFamily="18" charset="0"/>
                    </a:rPr>
                    <a:t>数据字典</a:t>
                  </a:r>
                  <a:r>
                    <a:rPr kumimoji="1" lang="zh-CN" altLang="en-US" sz="1400" b="1" i="0">
                      <a:latin typeface="Times New Roman" panose="02020603050405020304" pitchFamily="18" charset="0"/>
                    </a:rPr>
                    <a:t>中处理过程的描述</a:t>
                  </a:r>
                  <a:endParaRPr kumimoji="1" lang="zh-CN" altLang="en-US" sz="4400" i="0">
                    <a:latin typeface="Times New Roman" panose="02020603050405020304" pitchFamily="18" charset="0"/>
                  </a:endParaRPr>
                </a:p>
              </p:txBody>
            </p:sp>
            <p:sp>
              <p:nvSpPr>
                <p:cNvPr id="65" name="Rectangle 24"/>
                <p:cNvSpPr>
                  <a:spLocks noChangeArrowheads="1"/>
                </p:cNvSpPr>
                <p:nvPr/>
              </p:nvSpPr>
              <p:spPr bwMode="auto">
                <a:xfrm>
                  <a:off x="1611" y="710"/>
                  <a:ext cx="1380" cy="42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6" name="Group 25"/>
              <p:cNvGrpSpPr>
                <a:grpSpLocks/>
              </p:cNvGrpSpPr>
              <p:nvPr/>
            </p:nvGrpSpPr>
            <p:grpSpPr bwMode="auto">
              <a:xfrm>
                <a:off x="0" y="1132"/>
                <a:ext cx="334" cy="652"/>
                <a:chOff x="0" y="1132"/>
                <a:chExt cx="334" cy="652"/>
              </a:xfrm>
            </p:grpSpPr>
            <p:sp>
              <p:nvSpPr>
                <p:cNvPr id="62" name="Rectangle 26"/>
                <p:cNvSpPr>
                  <a:spLocks noChangeArrowheads="1"/>
                </p:cNvSpPr>
                <p:nvPr/>
              </p:nvSpPr>
              <p:spPr bwMode="auto">
                <a:xfrm>
                  <a:off x="43" y="1132"/>
                  <a:ext cx="248" cy="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3" name="Rectangle 27"/>
                <p:cNvSpPr>
                  <a:spLocks noChangeArrowheads="1"/>
                </p:cNvSpPr>
                <p:nvPr/>
              </p:nvSpPr>
              <p:spPr bwMode="auto">
                <a:xfrm>
                  <a:off x="0" y="1132"/>
                  <a:ext cx="334" cy="6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7" name="Group 28"/>
              <p:cNvGrpSpPr>
                <a:grpSpLocks/>
              </p:cNvGrpSpPr>
              <p:nvPr/>
            </p:nvGrpSpPr>
            <p:grpSpPr bwMode="auto">
              <a:xfrm>
                <a:off x="334" y="1132"/>
                <a:ext cx="1277" cy="652"/>
                <a:chOff x="334" y="1132"/>
                <a:chExt cx="1277" cy="652"/>
              </a:xfrm>
            </p:grpSpPr>
            <p:sp>
              <p:nvSpPr>
                <p:cNvPr id="60" name="Rectangle 29"/>
                <p:cNvSpPr>
                  <a:spLocks noChangeArrowheads="1"/>
                </p:cNvSpPr>
                <p:nvPr/>
              </p:nvSpPr>
              <p:spPr bwMode="auto">
                <a:xfrm>
                  <a:off x="377" y="1132"/>
                  <a:ext cx="1191" cy="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700" b="1" i="0">
                      <a:solidFill>
                        <a:srgbClr val="FF0000"/>
                      </a:solidFill>
                      <a:latin typeface="Times New Roman" panose="02020603050405020304" pitchFamily="18" charset="0"/>
                    </a:rPr>
                    <a:t>  </a:t>
                  </a:r>
                  <a:r>
                    <a:rPr kumimoji="1" lang="zh-CN" altLang="en-US" sz="1600" b="1" i="0">
                      <a:solidFill>
                        <a:srgbClr val="FF0000"/>
                      </a:solidFill>
                      <a:latin typeface="Times New Roman" panose="02020603050405020304" pitchFamily="18" charset="0"/>
                    </a:rPr>
                    <a:t>概念模型</a:t>
                  </a:r>
                  <a:r>
                    <a:rPr kumimoji="1" lang="zh-CN" altLang="en-US" sz="1600" b="1" i="0">
                      <a:latin typeface="Times New Roman" panose="02020603050405020304" pitchFamily="18" charset="0"/>
                    </a:rPr>
                    <a:t>（</a:t>
                  </a:r>
                  <a:r>
                    <a:rPr kumimoji="1" lang="en-US" altLang="zh-CN" sz="1600" b="1" i="0">
                      <a:latin typeface="Times New Roman" panose="02020603050405020304" pitchFamily="18" charset="0"/>
                    </a:rPr>
                    <a:t>E-R</a:t>
                  </a:r>
                  <a:r>
                    <a:rPr kumimoji="1" lang="zh-CN" altLang="en-US" sz="1600" b="1" i="0">
                      <a:latin typeface="Times New Roman" panose="02020603050405020304" pitchFamily="18" charset="0"/>
                    </a:rPr>
                    <a:t>图）</a:t>
                  </a:r>
                  <a:endParaRPr kumimoji="1" lang="zh-CN" altLang="en-US" sz="2400" i="0">
                    <a:latin typeface="Times New Roman" panose="02020603050405020304" pitchFamily="18" charset="0"/>
                  </a:endParaRPr>
                </a:p>
                <a:p>
                  <a:pPr algn="just"/>
                  <a:r>
                    <a:rPr kumimoji="1" lang="zh-CN" altLang="en-US" sz="1000" b="1" i="0">
                      <a:latin typeface="Times New Roman" panose="02020603050405020304" pitchFamily="18" charset="0"/>
                    </a:rPr>
                    <a:t> </a:t>
                  </a:r>
                  <a:endParaRPr kumimoji="1" lang="zh-CN" altLang="en-US" sz="1600" i="0">
                    <a:latin typeface="Times New Roman" panose="02020603050405020304" pitchFamily="18" charset="0"/>
                  </a:endParaRPr>
                </a:p>
                <a:p>
                  <a:pPr algn="just"/>
                  <a:r>
                    <a:rPr kumimoji="1" lang="zh-CN" altLang="en-US" sz="1000" b="1" i="0">
                      <a:solidFill>
                        <a:srgbClr val="FF0000"/>
                      </a:solidFill>
                      <a:latin typeface="Times New Roman" panose="02020603050405020304" pitchFamily="18" charset="0"/>
                    </a:rPr>
                    <a:t> </a:t>
                  </a:r>
                  <a:endParaRPr kumimoji="1" lang="zh-CN" altLang="en-US" sz="1600" i="0">
                    <a:solidFill>
                      <a:srgbClr val="FF0000"/>
                    </a:solidFill>
                    <a:latin typeface="Times New Roman" panose="02020603050405020304" pitchFamily="18" charset="0"/>
                  </a:endParaRPr>
                </a:p>
                <a:p>
                  <a:pPr algn="just"/>
                  <a:r>
                    <a:rPr kumimoji="1" lang="zh-CN" altLang="en-US" sz="1400" b="1" i="0">
                      <a:solidFill>
                        <a:srgbClr val="FF0000"/>
                      </a:solidFill>
                      <a:latin typeface="Times New Roman" panose="02020603050405020304" pitchFamily="18" charset="0"/>
                    </a:rPr>
                    <a:t>  数据字典</a:t>
                  </a:r>
                  <a:endParaRPr kumimoji="1" lang="zh-CN" altLang="en-US" sz="3600" i="0">
                    <a:solidFill>
                      <a:srgbClr val="FF0000"/>
                    </a:solidFill>
                    <a:latin typeface="Times New Roman" panose="02020603050405020304" pitchFamily="18" charset="0"/>
                  </a:endParaRPr>
                </a:p>
              </p:txBody>
            </p:sp>
            <p:sp>
              <p:nvSpPr>
                <p:cNvPr id="61" name="Rectangle 30"/>
                <p:cNvSpPr>
                  <a:spLocks noChangeArrowheads="1"/>
                </p:cNvSpPr>
                <p:nvPr/>
              </p:nvSpPr>
              <p:spPr bwMode="auto">
                <a:xfrm>
                  <a:off x="334" y="1132"/>
                  <a:ext cx="1277" cy="6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8" name="Group 31"/>
              <p:cNvGrpSpPr>
                <a:grpSpLocks/>
              </p:cNvGrpSpPr>
              <p:nvPr/>
            </p:nvGrpSpPr>
            <p:grpSpPr bwMode="auto">
              <a:xfrm>
                <a:off x="1611" y="1132"/>
                <a:ext cx="1380" cy="652"/>
                <a:chOff x="1611" y="1132"/>
                <a:chExt cx="1380" cy="652"/>
              </a:xfrm>
            </p:grpSpPr>
            <p:sp>
              <p:nvSpPr>
                <p:cNvPr id="58" name="Rectangle 32"/>
                <p:cNvSpPr>
                  <a:spLocks noChangeArrowheads="1"/>
                </p:cNvSpPr>
                <p:nvPr/>
              </p:nvSpPr>
              <p:spPr bwMode="auto">
                <a:xfrm>
                  <a:off x="1654" y="1132"/>
                  <a:ext cx="1294" cy="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700" b="1" i="0">
                      <a:latin typeface="Times New Roman" panose="02020603050405020304" pitchFamily="18" charset="0"/>
                    </a:rPr>
                    <a:t>  </a:t>
                  </a:r>
                  <a:r>
                    <a:rPr kumimoji="1" lang="zh-CN" altLang="en-US" sz="1200" b="1" i="0">
                      <a:latin typeface="Times New Roman" panose="02020603050405020304" pitchFamily="18" charset="0"/>
                    </a:rPr>
                    <a:t>系统说明书包括：</a:t>
                  </a:r>
                  <a:endParaRPr kumimoji="1" lang="zh-CN" altLang="en-US" i="0">
                    <a:latin typeface="Times New Roman" panose="02020603050405020304" pitchFamily="18" charset="0"/>
                  </a:endParaRPr>
                </a:p>
                <a:p>
                  <a:pPr algn="just"/>
                  <a:r>
                    <a:rPr kumimoji="1" lang="zh-CN" altLang="en-US" sz="1200" b="1" i="0">
                      <a:latin typeface="Times New Roman" panose="02020603050405020304" pitchFamily="18" charset="0"/>
                    </a:rPr>
                    <a:t>  ①新系统要求、</a:t>
                  </a:r>
                  <a:endParaRPr kumimoji="1" lang="zh-CN" altLang="en-US" i="0">
                    <a:latin typeface="Times New Roman" panose="02020603050405020304" pitchFamily="18" charset="0"/>
                  </a:endParaRPr>
                </a:p>
                <a:p>
                  <a:pPr algn="just"/>
                  <a:r>
                    <a:rPr kumimoji="1" lang="zh-CN" altLang="en-US" sz="1200" b="1" i="0">
                      <a:latin typeface="Times New Roman" panose="02020603050405020304" pitchFamily="18" charset="0"/>
                    </a:rPr>
                    <a:t>  方案和概图</a:t>
                  </a:r>
                  <a:endParaRPr kumimoji="1" lang="zh-CN" altLang="en-US" i="0">
                    <a:latin typeface="Times New Roman" panose="02020603050405020304" pitchFamily="18" charset="0"/>
                  </a:endParaRPr>
                </a:p>
                <a:p>
                  <a:pPr algn="just"/>
                  <a:r>
                    <a:rPr kumimoji="1" lang="zh-CN" altLang="en-US" sz="1200" b="1" i="0">
                      <a:latin typeface="Times New Roman" panose="02020603050405020304" pitchFamily="18" charset="0"/>
                    </a:rPr>
                    <a:t>  ②反映新系统信息</a:t>
                  </a:r>
                  <a:endParaRPr kumimoji="1" lang="zh-CN" altLang="en-US" i="0">
                    <a:latin typeface="Times New Roman" panose="02020603050405020304" pitchFamily="18" charset="0"/>
                  </a:endParaRPr>
                </a:p>
                <a:p>
                  <a:pPr algn="just"/>
                  <a:r>
                    <a:rPr kumimoji="1" lang="zh-CN" altLang="en-US" sz="1200" b="1" i="0">
                      <a:latin typeface="Times New Roman" panose="02020603050405020304" pitchFamily="18" charset="0"/>
                    </a:rPr>
                    <a:t>  流的</a:t>
                  </a:r>
                  <a:r>
                    <a:rPr kumimoji="1" lang="zh-CN" altLang="en-US" sz="1200" b="1" i="0">
                      <a:solidFill>
                        <a:srgbClr val="FF0000"/>
                      </a:solidFill>
                      <a:latin typeface="Times New Roman" panose="02020603050405020304" pitchFamily="18" charset="0"/>
                    </a:rPr>
                    <a:t>数据流图</a:t>
                  </a:r>
                  <a:endParaRPr kumimoji="1" lang="zh-CN" altLang="en-US" sz="4000" i="0">
                    <a:solidFill>
                      <a:srgbClr val="FF0000"/>
                    </a:solidFill>
                    <a:latin typeface="Times New Roman" panose="02020603050405020304" pitchFamily="18" charset="0"/>
                  </a:endParaRPr>
                </a:p>
              </p:txBody>
            </p:sp>
            <p:sp>
              <p:nvSpPr>
                <p:cNvPr id="59" name="Rectangle 33"/>
                <p:cNvSpPr>
                  <a:spLocks noChangeArrowheads="1"/>
                </p:cNvSpPr>
                <p:nvPr/>
              </p:nvSpPr>
              <p:spPr bwMode="auto">
                <a:xfrm>
                  <a:off x="1611" y="1132"/>
                  <a:ext cx="1380" cy="65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9" name="Group 34"/>
              <p:cNvGrpSpPr>
                <a:grpSpLocks/>
              </p:cNvGrpSpPr>
              <p:nvPr/>
            </p:nvGrpSpPr>
            <p:grpSpPr bwMode="auto">
              <a:xfrm>
                <a:off x="0" y="1784"/>
                <a:ext cx="334" cy="585"/>
                <a:chOff x="0" y="1784"/>
                <a:chExt cx="334" cy="585"/>
              </a:xfrm>
            </p:grpSpPr>
            <p:sp>
              <p:nvSpPr>
                <p:cNvPr id="56" name="Rectangle 35"/>
                <p:cNvSpPr>
                  <a:spLocks noChangeArrowheads="1"/>
                </p:cNvSpPr>
                <p:nvPr/>
              </p:nvSpPr>
              <p:spPr bwMode="auto">
                <a:xfrm>
                  <a:off x="43" y="1784"/>
                  <a:ext cx="248"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 name="Rectangle 36"/>
                <p:cNvSpPr>
                  <a:spLocks noChangeArrowheads="1"/>
                </p:cNvSpPr>
                <p:nvPr/>
              </p:nvSpPr>
              <p:spPr bwMode="auto">
                <a:xfrm>
                  <a:off x="0" y="1784"/>
                  <a:ext cx="334" cy="58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20" name="Group 37"/>
              <p:cNvGrpSpPr>
                <a:grpSpLocks/>
              </p:cNvGrpSpPr>
              <p:nvPr/>
            </p:nvGrpSpPr>
            <p:grpSpPr bwMode="auto">
              <a:xfrm>
                <a:off x="334" y="1784"/>
                <a:ext cx="1277" cy="585"/>
                <a:chOff x="334" y="1784"/>
                <a:chExt cx="1277" cy="585"/>
              </a:xfrm>
            </p:grpSpPr>
            <p:sp>
              <p:nvSpPr>
                <p:cNvPr id="54" name="Rectangle 38"/>
                <p:cNvSpPr>
                  <a:spLocks noChangeArrowheads="1"/>
                </p:cNvSpPr>
                <p:nvPr/>
              </p:nvSpPr>
              <p:spPr bwMode="auto">
                <a:xfrm>
                  <a:off x="377" y="1784"/>
                  <a:ext cx="1191"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700" b="1" i="0">
                      <a:latin typeface="Times New Roman" panose="02020603050405020304" pitchFamily="18" charset="0"/>
                    </a:rPr>
                    <a:t>       </a:t>
                  </a:r>
                  <a:r>
                    <a:rPr kumimoji="1" lang="zh-CN" altLang="en-US" sz="1400" b="1" i="0">
                      <a:latin typeface="Times New Roman" panose="02020603050405020304" pitchFamily="18" charset="0"/>
                    </a:rPr>
                    <a:t>某种数据模型</a:t>
                  </a:r>
                  <a:endParaRPr kumimoji="1" lang="zh-CN" altLang="en-US" sz="2000" i="0">
                    <a:latin typeface="Times New Roman" panose="02020603050405020304" pitchFamily="18" charset="0"/>
                  </a:endParaRPr>
                </a:p>
                <a:p>
                  <a:pPr algn="just"/>
                  <a:r>
                    <a:rPr kumimoji="1" lang="zh-CN" altLang="en-US" sz="1400" b="1" i="0">
                      <a:solidFill>
                        <a:srgbClr val="FF0000"/>
                      </a:solidFill>
                      <a:latin typeface="Times New Roman" panose="02020603050405020304" pitchFamily="18" charset="0"/>
                    </a:rPr>
                    <a:t>  关系</a:t>
                  </a:r>
                  <a:r>
                    <a:rPr kumimoji="1" lang="zh-CN" altLang="en-US" sz="1400" b="1" i="0">
                      <a:latin typeface="Times New Roman" panose="02020603050405020304" pitchFamily="18" charset="0"/>
                    </a:rPr>
                    <a:t>           非关系</a:t>
                  </a:r>
                  <a:endParaRPr kumimoji="1" lang="zh-CN" altLang="en-US" sz="2400" i="0">
                    <a:latin typeface="Times New Roman" panose="02020603050405020304" pitchFamily="18" charset="0"/>
                  </a:endParaRPr>
                </a:p>
              </p:txBody>
            </p:sp>
            <p:sp>
              <p:nvSpPr>
                <p:cNvPr id="55" name="Rectangle 39"/>
                <p:cNvSpPr>
                  <a:spLocks noChangeArrowheads="1"/>
                </p:cNvSpPr>
                <p:nvPr/>
              </p:nvSpPr>
              <p:spPr bwMode="auto">
                <a:xfrm>
                  <a:off x="334" y="1784"/>
                  <a:ext cx="1277" cy="58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21" name="Group 40"/>
              <p:cNvGrpSpPr>
                <a:grpSpLocks/>
              </p:cNvGrpSpPr>
              <p:nvPr/>
            </p:nvGrpSpPr>
            <p:grpSpPr bwMode="auto">
              <a:xfrm>
                <a:off x="1611" y="1784"/>
                <a:ext cx="1380" cy="585"/>
                <a:chOff x="1611" y="1784"/>
                <a:chExt cx="1380" cy="585"/>
              </a:xfrm>
            </p:grpSpPr>
            <p:sp>
              <p:nvSpPr>
                <p:cNvPr id="52" name="Rectangle 41"/>
                <p:cNvSpPr>
                  <a:spLocks noChangeArrowheads="1"/>
                </p:cNvSpPr>
                <p:nvPr/>
              </p:nvSpPr>
              <p:spPr bwMode="auto">
                <a:xfrm>
                  <a:off x="1654" y="1784"/>
                  <a:ext cx="1294"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700" b="1" i="0">
                      <a:latin typeface="Times New Roman" panose="02020603050405020304" pitchFamily="18" charset="0"/>
                    </a:rPr>
                    <a:t>  </a:t>
                  </a:r>
                  <a:r>
                    <a:rPr kumimoji="1" lang="zh-CN" altLang="en-US" sz="1400" b="1" i="0">
                      <a:latin typeface="Times New Roman" panose="02020603050405020304" pitchFamily="18" charset="0"/>
                    </a:rPr>
                    <a:t>系统结构图</a:t>
                  </a:r>
                  <a:endParaRPr kumimoji="1" lang="zh-CN" altLang="en-US" sz="2000" i="0">
                    <a:latin typeface="Times New Roman" panose="02020603050405020304" pitchFamily="18" charset="0"/>
                  </a:endParaRPr>
                </a:p>
                <a:p>
                  <a:pPr algn="just"/>
                  <a:r>
                    <a:rPr kumimoji="1" lang="zh-CN" altLang="en-US" sz="1400" b="1" i="0">
                      <a:latin typeface="Times New Roman" panose="02020603050405020304" pitchFamily="18" charset="0"/>
                    </a:rPr>
                    <a:t> （模块结构）</a:t>
                  </a:r>
                  <a:endParaRPr kumimoji="1" lang="zh-CN" altLang="en-US" sz="4400" i="0">
                    <a:latin typeface="Times New Roman" panose="02020603050405020304" pitchFamily="18" charset="0"/>
                  </a:endParaRPr>
                </a:p>
              </p:txBody>
            </p:sp>
            <p:sp>
              <p:nvSpPr>
                <p:cNvPr id="53" name="Rectangle 42"/>
                <p:cNvSpPr>
                  <a:spLocks noChangeArrowheads="1"/>
                </p:cNvSpPr>
                <p:nvPr/>
              </p:nvSpPr>
              <p:spPr bwMode="auto">
                <a:xfrm>
                  <a:off x="1611" y="1784"/>
                  <a:ext cx="1380" cy="585"/>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22" name="Group 43"/>
              <p:cNvGrpSpPr>
                <a:grpSpLocks/>
              </p:cNvGrpSpPr>
              <p:nvPr/>
            </p:nvGrpSpPr>
            <p:grpSpPr bwMode="auto">
              <a:xfrm>
                <a:off x="0" y="2369"/>
                <a:ext cx="334" cy="508"/>
                <a:chOff x="0" y="2369"/>
                <a:chExt cx="334" cy="508"/>
              </a:xfrm>
            </p:grpSpPr>
            <p:sp>
              <p:nvSpPr>
                <p:cNvPr id="50" name="Rectangle 44"/>
                <p:cNvSpPr>
                  <a:spLocks noChangeArrowheads="1"/>
                </p:cNvSpPr>
                <p:nvPr/>
              </p:nvSpPr>
              <p:spPr bwMode="auto">
                <a:xfrm>
                  <a:off x="43" y="2369"/>
                  <a:ext cx="248" cy="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 name="Rectangle 45"/>
                <p:cNvSpPr>
                  <a:spLocks noChangeArrowheads="1"/>
                </p:cNvSpPr>
                <p:nvPr/>
              </p:nvSpPr>
              <p:spPr bwMode="auto">
                <a:xfrm>
                  <a:off x="0" y="2369"/>
                  <a:ext cx="334" cy="50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23" name="Group 46"/>
              <p:cNvGrpSpPr>
                <a:grpSpLocks/>
              </p:cNvGrpSpPr>
              <p:nvPr/>
            </p:nvGrpSpPr>
            <p:grpSpPr bwMode="auto">
              <a:xfrm>
                <a:off x="334" y="2369"/>
                <a:ext cx="1277" cy="508"/>
                <a:chOff x="334" y="2369"/>
                <a:chExt cx="1277" cy="508"/>
              </a:xfrm>
            </p:grpSpPr>
            <p:sp>
              <p:nvSpPr>
                <p:cNvPr id="48" name="Rectangle 47"/>
                <p:cNvSpPr>
                  <a:spLocks noChangeArrowheads="1"/>
                </p:cNvSpPr>
                <p:nvPr/>
              </p:nvSpPr>
              <p:spPr bwMode="auto">
                <a:xfrm>
                  <a:off x="377" y="2369"/>
                  <a:ext cx="1191" cy="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700" b="1" i="0">
                      <a:latin typeface="Times New Roman" panose="02020603050405020304" pitchFamily="18" charset="0"/>
                    </a:rPr>
                    <a:t>  </a:t>
                  </a:r>
                  <a:r>
                    <a:rPr kumimoji="1" lang="zh-CN" altLang="en-US" sz="1200" b="1" i="0">
                      <a:latin typeface="Times New Roman" panose="02020603050405020304" pitchFamily="18" charset="0"/>
                    </a:rPr>
                    <a:t>存储安排</a:t>
                  </a:r>
                  <a:endParaRPr kumimoji="1" lang="zh-CN" altLang="en-US" i="0">
                    <a:latin typeface="Times New Roman" panose="02020603050405020304" pitchFamily="18" charset="0"/>
                  </a:endParaRPr>
                </a:p>
                <a:p>
                  <a:pPr algn="just"/>
                  <a:r>
                    <a:rPr kumimoji="1" lang="zh-CN" altLang="en-US" sz="1200" b="1" i="0">
                      <a:latin typeface="Times New Roman" panose="02020603050405020304" pitchFamily="18" charset="0"/>
                    </a:rPr>
                    <a:t>  方法选择</a:t>
                  </a:r>
                  <a:endParaRPr kumimoji="1" lang="zh-CN" altLang="en-US" i="0">
                    <a:latin typeface="Times New Roman" panose="02020603050405020304" pitchFamily="18" charset="0"/>
                  </a:endParaRPr>
                </a:p>
                <a:p>
                  <a:pPr algn="just"/>
                  <a:r>
                    <a:rPr kumimoji="1" lang="zh-CN" altLang="en-US" sz="1200" b="1" i="0">
                      <a:latin typeface="Times New Roman" panose="02020603050405020304" pitchFamily="18" charset="0"/>
                    </a:rPr>
                    <a:t>  存取路径建立</a:t>
                  </a:r>
                  <a:endParaRPr kumimoji="1" lang="zh-CN" altLang="en-US" sz="4000" i="0">
                    <a:latin typeface="Times New Roman" panose="02020603050405020304" pitchFamily="18" charset="0"/>
                  </a:endParaRPr>
                </a:p>
              </p:txBody>
            </p:sp>
            <p:sp>
              <p:nvSpPr>
                <p:cNvPr id="49" name="Rectangle 48"/>
                <p:cNvSpPr>
                  <a:spLocks noChangeArrowheads="1"/>
                </p:cNvSpPr>
                <p:nvPr/>
              </p:nvSpPr>
              <p:spPr bwMode="auto">
                <a:xfrm>
                  <a:off x="334" y="2369"/>
                  <a:ext cx="1277" cy="50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25" name="Group 49"/>
              <p:cNvGrpSpPr>
                <a:grpSpLocks/>
              </p:cNvGrpSpPr>
              <p:nvPr/>
            </p:nvGrpSpPr>
            <p:grpSpPr bwMode="auto">
              <a:xfrm>
                <a:off x="1611" y="2369"/>
                <a:ext cx="1380" cy="508"/>
                <a:chOff x="1611" y="2369"/>
                <a:chExt cx="1380" cy="508"/>
              </a:xfrm>
            </p:grpSpPr>
            <p:sp>
              <p:nvSpPr>
                <p:cNvPr id="46" name="Rectangle 50"/>
                <p:cNvSpPr>
                  <a:spLocks noChangeArrowheads="1"/>
                </p:cNvSpPr>
                <p:nvPr/>
              </p:nvSpPr>
              <p:spPr bwMode="auto">
                <a:xfrm>
                  <a:off x="1654" y="2369"/>
                  <a:ext cx="1294" cy="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700" b="1" i="0">
                      <a:latin typeface="Times New Roman" panose="02020603050405020304" pitchFamily="18" charset="0"/>
                    </a:rPr>
                    <a:t>  </a:t>
                  </a:r>
                  <a:r>
                    <a:rPr kumimoji="1" lang="zh-CN" altLang="en-US" sz="1400" b="1" i="0">
                      <a:latin typeface="Times New Roman" panose="02020603050405020304" pitchFamily="18" charset="0"/>
                    </a:rPr>
                    <a:t>模块设计</a:t>
                  </a:r>
                  <a:endParaRPr kumimoji="1" lang="zh-CN" altLang="en-US" sz="2000" i="0">
                    <a:latin typeface="Times New Roman" panose="02020603050405020304" pitchFamily="18" charset="0"/>
                  </a:endParaRPr>
                </a:p>
                <a:p>
                  <a:pPr algn="just"/>
                  <a:r>
                    <a:rPr kumimoji="1" lang="zh-CN" altLang="en-US" sz="1400" b="1" i="0">
                      <a:latin typeface="Times New Roman" panose="02020603050405020304" pitchFamily="18" charset="0"/>
                    </a:rPr>
                    <a:t>  </a:t>
                  </a:r>
                  <a:r>
                    <a:rPr kumimoji="1" lang="en-US" altLang="zh-CN" sz="1400" b="1" i="0">
                      <a:solidFill>
                        <a:srgbClr val="FF0000"/>
                      </a:solidFill>
                      <a:latin typeface="Times New Roman" panose="02020603050405020304" pitchFamily="18" charset="0"/>
                    </a:rPr>
                    <a:t>IPO</a:t>
                  </a:r>
                  <a:r>
                    <a:rPr kumimoji="1" lang="zh-CN" altLang="en-US" sz="1400" b="1" i="0">
                      <a:solidFill>
                        <a:srgbClr val="FF0000"/>
                      </a:solidFill>
                      <a:latin typeface="Times New Roman" panose="02020603050405020304" pitchFamily="18" charset="0"/>
                    </a:rPr>
                    <a:t>表</a:t>
                  </a:r>
                  <a:endParaRPr kumimoji="1" lang="zh-CN" altLang="en-US" sz="4400" i="0">
                    <a:solidFill>
                      <a:srgbClr val="FF0000"/>
                    </a:solidFill>
                    <a:latin typeface="Times New Roman" panose="02020603050405020304" pitchFamily="18" charset="0"/>
                  </a:endParaRPr>
                </a:p>
              </p:txBody>
            </p:sp>
            <p:sp>
              <p:nvSpPr>
                <p:cNvPr id="47" name="Rectangle 51"/>
                <p:cNvSpPr>
                  <a:spLocks noChangeArrowheads="1"/>
                </p:cNvSpPr>
                <p:nvPr/>
              </p:nvSpPr>
              <p:spPr bwMode="auto">
                <a:xfrm>
                  <a:off x="1611" y="2369"/>
                  <a:ext cx="1380" cy="50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26" name="Group 52"/>
              <p:cNvGrpSpPr>
                <a:grpSpLocks/>
              </p:cNvGrpSpPr>
              <p:nvPr/>
            </p:nvGrpSpPr>
            <p:grpSpPr bwMode="auto">
              <a:xfrm>
                <a:off x="0" y="2877"/>
                <a:ext cx="334" cy="663"/>
                <a:chOff x="0" y="2877"/>
                <a:chExt cx="334" cy="663"/>
              </a:xfrm>
            </p:grpSpPr>
            <p:grpSp>
              <p:nvGrpSpPr>
                <p:cNvPr id="42" name="Group 53"/>
                <p:cNvGrpSpPr>
                  <a:grpSpLocks/>
                </p:cNvGrpSpPr>
                <p:nvPr/>
              </p:nvGrpSpPr>
              <p:grpSpPr bwMode="auto">
                <a:xfrm>
                  <a:off x="43" y="2878"/>
                  <a:ext cx="248" cy="662"/>
                  <a:chOff x="0" y="576"/>
                  <a:chExt cx="248" cy="662"/>
                </a:xfrm>
              </p:grpSpPr>
              <p:sp>
                <p:nvSpPr>
                  <p:cNvPr id="44" name="Rectangle 54"/>
                  <p:cNvSpPr>
                    <a:spLocks noChangeArrowheads="1"/>
                  </p:cNvSpPr>
                  <p:nvPr/>
                </p:nvSpPr>
                <p:spPr bwMode="auto">
                  <a:xfrm>
                    <a:off x="0" y="619"/>
                    <a:ext cx="248"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 name="Rectangle 55"/>
                  <p:cNvSpPr>
                    <a:spLocks noChangeArrowheads="1"/>
                  </p:cNvSpPr>
                  <p:nvPr/>
                </p:nvSpPr>
                <p:spPr bwMode="auto">
                  <a:xfrm>
                    <a:off x="0" y="576"/>
                    <a:ext cx="24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400" b="1" i="0">
                        <a:solidFill>
                          <a:srgbClr val="003300"/>
                        </a:solidFill>
                        <a:latin typeface="Times New Roman" panose="02020603050405020304" pitchFamily="18" charset="0"/>
                      </a:rPr>
                      <a:t>实施阶段</a:t>
                    </a:r>
                    <a:endParaRPr kumimoji="1" lang="zh-CN" altLang="en-US" sz="1400" i="0">
                      <a:solidFill>
                        <a:srgbClr val="003300"/>
                      </a:solidFill>
                      <a:latin typeface="Times New Roman" panose="02020603050405020304" pitchFamily="18" charset="0"/>
                    </a:endParaRPr>
                  </a:p>
                </p:txBody>
              </p:sp>
            </p:grpSp>
            <p:sp>
              <p:nvSpPr>
                <p:cNvPr id="43" name="Rectangle 56"/>
                <p:cNvSpPr>
                  <a:spLocks noChangeArrowheads="1"/>
                </p:cNvSpPr>
                <p:nvPr/>
              </p:nvSpPr>
              <p:spPr bwMode="auto">
                <a:xfrm>
                  <a:off x="0" y="2877"/>
                  <a:ext cx="334" cy="66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27" name="Group 57"/>
              <p:cNvGrpSpPr>
                <a:grpSpLocks/>
              </p:cNvGrpSpPr>
              <p:nvPr/>
            </p:nvGrpSpPr>
            <p:grpSpPr bwMode="auto">
              <a:xfrm>
                <a:off x="334" y="2877"/>
                <a:ext cx="1277" cy="663"/>
                <a:chOff x="334" y="2877"/>
                <a:chExt cx="1277" cy="663"/>
              </a:xfrm>
            </p:grpSpPr>
            <p:sp>
              <p:nvSpPr>
                <p:cNvPr id="40" name="Rectangle 58"/>
                <p:cNvSpPr>
                  <a:spLocks noChangeArrowheads="1"/>
                </p:cNvSpPr>
                <p:nvPr/>
              </p:nvSpPr>
              <p:spPr bwMode="auto">
                <a:xfrm>
                  <a:off x="377" y="2877"/>
                  <a:ext cx="1191" cy="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1400" b="1" i="0">
                      <a:latin typeface="Times New Roman" panose="02020603050405020304" pitchFamily="18" charset="0"/>
                    </a:rPr>
                    <a:t>此同时创建库与模式</a:t>
                  </a:r>
                  <a:endParaRPr kumimoji="1" lang="zh-CN" altLang="en-US" sz="2000" i="0">
                    <a:latin typeface="Times New Roman" panose="02020603050405020304" pitchFamily="18" charset="0"/>
                  </a:endParaRPr>
                </a:p>
                <a:p>
                  <a:pPr algn="just"/>
                  <a:r>
                    <a:rPr kumimoji="1" lang="zh-CN" altLang="en-US" sz="1400" b="1" i="0">
                      <a:latin typeface="Times New Roman" panose="02020603050405020304" pitchFamily="18" charset="0"/>
                    </a:rPr>
                    <a:t>  装入数据</a:t>
                  </a:r>
                  <a:endParaRPr kumimoji="1" lang="zh-CN" altLang="en-US" sz="2000" i="0">
                    <a:latin typeface="Times New Roman" panose="02020603050405020304" pitchFamily="18" charset="0"/>
                  </a:endParaRPr>
                </a:p>
                <a:p>
                  <a:pPr algn="just"/>
                  <a:r>
                    <a:rPr kumimoji="1" lang="zh-CN" altLang="en-US" sz="1400" b="1" i="0">
                      <a:latin typeface="Times New Roman" panose="02020603050405020304" pitchFamily="18" charset="0"/>
                    </a:rPr>
                    <a:t>  数据库试运行</a:t>
                  </a:r>
                  <a:endParaRPr kumimoji="1" lang="zh-CN" altLang="en-US" sz="4400" i="0">
                    <a:latin typeface="Times New Roman" panose="02020603050405020304" pitchFamily="18" charset="0"/>
                  </a:endParaRPr>
                </a:p>
              </p:txBody>
            </p:sp>
            <p:sp>
              <p:nvSpPr>
                <p:cNvPr id="41" name="Rectangle 59"/>
                <p:cNvSpPr>
                  <a:spLocks noChangeArrowheads="1"/>
                </p:cNvSpPr>
                <p:nvPr/>
              </p:nvSpPr>
              <p:spPr bwMode="auto">
                <a:xfrm>
                  <a:off x="334" y="2877"/>
                  <a:ext cx="1277" cy="66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28" name="Group 60"/>
              <p:cNvGrpSpPr>
                <a:grpSpLocks/>
              </p:cNvGrpSpPr>
              <p:nvPr/>
            </p:nvGrpSpPr>
            <p:grpSpPr bwMode="auto">
              <a:xfrm>
                <a:off x="1611" y="2877"/>
                <a:ext cx="1380" cy="663"/>
                <a:chOff x="1611" y="2877"/>
                <a:chExt cx="1380" cy="663"/>
              </a:xfrm>
            </p:grpSpPr>
            <p:sp>
              <p:nvSpPr>
                <p:cNvPr id="38" name="Rectangle 61"/>
                <p:cNvSpPr>
                  <a:spLocks noChangeArrowheads="1"/>
                </p:cNvSpPr>
                <p:nvPr/>
              </p:nvSpPr>
              <p:spPr bwMode="auto">
                <a:xfrm>
                  <a:off x="1654" y="2877"/>
                  <a:ext cx="1294" cy="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700" b="1" i="0">
                      <a:latin typeface="Times New Roman" panose="02020603050405020304" pitchFamily="18" charset="0"/>
                    </a:rPr>
                    <a:t>  </a:t>
                  </a:r>
                  <a:r>
                    <a:rPr kumimoji="1" lang="zh-CN" altLang="en-US" sz="1400" b="1" i="0">
                      <a:latin typeface="Times New Roman" panose="02020603050405020304" pitchFamily="18" charset="0"/>
                    </a:rPr>
                    <a:t>程序编码、</a:t>
                  </a:r>
                  <a:endParaRPr kumimoji="1" lang="zh-CN" altLang="en-US" sz="2000" i="0">
                    <a:latin typeface="Times New Roman" panose="02020603050405020304" pitchFamily="18" charset="0"/>
                  </a:endParaRPr>
                </a:p>
                <a:p>
                  <a:pPr algn="just"/>
                  <a:r>
                    <a:rPr kumimoji="1" lang="zh-CN" altLang="en-US" sz="1400" b="1" i="0">
                      <a:latin typeface="Times New Roman" panose="02020603050405020304" pitchFamily="18" charset="0"/>
                    </a:rPr>
                    <a:t> 编译连接、</a:t>
                  </a:r>
                  <a:endParaRPr kumimoji="1" lang="zh-CN" altLang="en-US" sz="2000" i="0">
                    <a:latin typeface="Times New Roman" panose="02020603050405020304" pitchFamily="18" charset="0"/>
                  </a:endParaRPr>
                </a:p>
                <a:p>
                  <a:pPr algn="just"/>
                  <a:r>
                    <a:rPr kumimoji="1" lang="zh-CN" altLang="en-US" sz="1400" b="1" i="0">
                      <a:latin typeface="Times New Roman" panose="02020603050405020304" pitchFamily="18" charset="0"/>
                    </a:rPr>
                    <a:t>  测试</a:t>
                  </a:r>
                  <a:endParaRPr kumimoji="1" lang="zh-CN" altLang="en-US" sz="4400" i="0">
                    <a:latin typeface="Times New Roman" panose="02020603050405020304" pitchFamily="18" charset="0"/>
                  </a:endParaRPr>
                </a:p>
              </p:txBody>
            </p:sp>
            <p:sp>
              <p:nvSpPr>
                <p:cNvPr id="39" name="Rectangle 62"/>
                <p:cNvSpPr>
                  <a:spLocks noChangeArrowheads="1"/>
                </p:cNvSpPr>
                <p:nvPr/>
              </p:nvSpPr>
              <p:spPr bwMode="auto">
                <a:xfrm>
                  <a:off x="1611" y="2877"/>
                  <a:ext cx="1380" cy="66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29" name="Group 63"/>
              <p:cNvGrpSpPr>
                <a:grpSpLocks/>
              </p:cNvGrpSpPr>
              <p:nvPr/>
            </p:nvGrpSpPr>
            <p:grpSpPr bwMode="auto">
              <a:xfrm>
                <a:off x="0" y="3540"/>
                <a:ext cx="334" cy="422"/>
                <a:chOff x="0" y="3540"/>
                <a:chExt cx="334" cy="422"/>
              </a:xfrm>
            </p:grpSpPr>
            <p:sp>
              <p:nvSpPr>
                <p:cNvPr id="36" name="Rectangle 64"/>
                <p:cNvSpPr>
                  <a:spLocks noChangeArrowheads="1"/>
                </p:cNvSpPr>
                <p:nvPr/>
              </p:nvSpPr>
              <p:spPr bwMode="auto">
                <a:xfrm>
                  <a:off x="43" y="3540"/>
                  <a:ext cx="248"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1400" b="1" i="0">
                      <a:latin typeface="Times New Roman" panose="02020603050405020304" pitchFamily="18" charset="0"/>
                    </a:rPr>
                    <a:t>运行维护</a:t>
                  </a:r>
                  <a:endParaRPr kumimoji="1" lang="zh-CN" altLang="en-US" sz="1400" i="0">
                    <a:latin typeface="Times New Roman" panose="02020603050405020304" pitchFamily="18" charset="0"/>
                  </a:endParaRPr>
                </a:p>
              </p:txBody>
            </p:sp>
            <p:sp>
              <p:nvSpPr>
                <p:cNvPr id="37" name="Rectangle 65"/>
                <p:cNvSpPr>
                  <a:spLocks noChangeArrowheads="1"/>
                </p:cNvSpPr>
                <p:nvPr/>
              </p:nvSpPr>
              <p:spPr bwMode="auto">
                <a:xfrm>
                  <a:off x="0" y="3540"/>
                  <a:ext cx="334" cy="42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30" name="Group 66"/>
              <p:cNvGrpSpPr>
                <a:grpSpLocks/>
              </p:cNvGrpSpPr>
              <p:nvPr/>
            </p:nvGrpSpPr>
            <p:grpSpPr bwMode="auto">
              <a:xfrm>
                <a:off x="334" y="3540"/>
                <a:ext cx="1277" cy="422"/>
                <a:chOff x="334" y="3540"/>
                <a:chExt cx="1277" cy="422"/>
              </a:xfrm>
            </p:grpSpPr>
            <p:sp>
              <p:nvSpPr>
                <p:cNvPr id="34" name="Rectangle 67"/>
                <p:cNvSpPr>
                  <a:spLocks noChangeArrowheads="1"/>
                </p:cNvSpPr>
                <p:nvPr/>
              </p:nvSpPr>
              <p:spPr bwMode="auto">
                <a:xfrm>
                  <a:off x="377" y="3540"/>
                  <a:ext cx="1191"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b="1" i="0">
                      <a:latin typeface="Times New Roman" panose="02020603050405020304" pitchFamily="18" charset="0"/>
                    </a:rPr>
                    <a:t>  </a:t>
                  </a:r>
                  <a:r>
                    <a:rPr kumimoji="1" lang="zh-CN" altLang="en-US" sz="1400" b="1" i="0">
                      <a:latin typeface="Times New Roman" panose="02020603050405020304" pitchFamily="18" charset="0"/>
                    </a:rPr>
                    <a:t>性能监测、转储</a:t>
                  </a:r>
                  <a:r>
                    <a:rPr kumimoji="1" lang="en-US" altLang="zh-CN" sz="1400" b="1" i="0">
                      <a:latin typeface="Times New Roman" panose="02020603050405020304" pitchFamily="18" charset="0"/>
                    </a:rPr>
                    <a:t>/</a:t>
                  </a:r>
                  <a:r>
                    <a:rPr kumimoji="1" lang="zh-CN" altLang="en-US" sz="1400" b="1" i="0">
                      <a:latin typeface="Times New Roman" panose="02020603050405020304" pitchFamily="18" charset="0"/>
                    </a:rPr>
                    <a:t>恢复</a:t>
                  </a:r>
                  <a:endParaRPr kumimoji="1" lang="zh-CN" altLang="en-US" sz="1400" i="0">
                    <a:latin typeface="Times New Roman" panose="02020603050405020304" pitchFamily="18" charset="0"/>
                  </a:endParaRPr>
                </a:p>
                <a:p>
                  <a:pPr algn="just"/>
                  <a:r>
                    <a:rPr kumimoji="1" lang="zh-CN" altLang="en-US" sz="1400" b="1" i="0">
                      <a:latin typeface="Times New Roman" panose="02020603050405020304" pitchFamily="18" charset="0"/>
                    </a:rPr>
                    <a:t>  数据库重组和重构</a:t>
                  </a:r>
                  <a:endParaRPr kumimoji="1" lang="zh-CN" altLang="en-US" sz="1400" i="0">
                    <a:latin typeface="Times New Roman" panose="02020603050405020304" pitchFamily="18" charset="0"/>
                  </a:endParaRPr>
                </a:p>
              </p:txBody>
            </p:sp>
            <p:sp>
              <p:nvSpPr>
                <p:cNvPr id="35" name="Rectangle 68"/>
                <p:cNvSpPr>
                  <a:spLocks noChangeArrowheads="1"/>
                </p:cNvSpPr>
                <p:nvPr/>
              </p:nvSpPr>
              <p:spPr bwMode="auto">
                <a:xfrm>
                  <a:off x="334" y="3540"/>
                  <a:ext cx="1277" cy="42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31" name="Group 69"/>
              <p:cNvGrpSpPr>
                <a:grpSpLocks/>
              </p:cNvGrpSpPr>
              <p:nvPr/>
            </p:nvGrpSpPr>
            <p:grpSpPr bwMode="auto">
              <a:xfrm>
                <a:off x="1611" y="3540"/>
                <a:ext cx="1380" cy="422"/>
                <a:chOff x="1611" y="3540"/>
                <a:chExt cx="1380" cy="422"/>
              </a:xfrm>
            </p:grpSpPr>
            <p:sp>
              <p:nvSpPr>
                <p:cNvPr id="32" name="Rectangle 70"/>
                <p:cNvSpPr>
                  <a:spLocks noChangeArrowheads="1"/>
                </p:cNvSpPr>
                <p:nvPr/>
              </p:nvSpPr>
              <p:spPr bwMode="auto">
                <a:xfrm>
                  <a:off x="1654" y="3540"/>
                  <a:ext cx="129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b="1" i="0">
                      <a:latin typeface="Times New Roman" panose="02020603050405020304" pitchFamily="18" charset="0"/>
                    </a:rPr>
                    <a:t>  </a:t>
                  </a:r>
                  <a:r>
                    <a:rPr kumimoji="1" lang="zh-CN" altLang="en-US" sz="1400" b="1" i="0">
                      <a:latin typeface="Times New Roman" panose="02020603050405020304" pitchFamily="18" charset="0"/>
                    </a:rPr>
                    <a:t>新旧系统转换、运行、维护（修正性、适应性、改善性维护）</a:t>
                  </a:r>
                </a:p>
              </p:txBody>
            </p:sp>
            <p:sp>
              <p:nvSpPr>
                <p:cNvPr id="33" name="Rectangle 71"/>
                <p:cNvSpPr>
                  <a:spLocks noChangeArrowheads="1"/>
                </p:cNvSpPr>
                <p:nvPr/>
              </p:nvSpPr>
              <p:spPr bwMode="auto">
                <a:xfrm>
                  <a:off x="1611" y="3540"/>
                  <a:ext cx="1380" cy="42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sp>
          <p:nvSpPr>
            <p:cNvPr id="8" name="Rectangle 72"/>
            <p:cNvSpPr>
              <a:spLocks noChangeArrowheads="1"/>
            </p:cNvSpPr>
            <p:nvPr/>
          </p:nvSpPr>
          <p:spPr bwMode="auto">
            <a:xfrm>
              <a:off x="-3" y="-3"/>
              <a:ext cx="2997" cy="3968"/>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8" name="Group 73"/>
          <p:cNvGrpSpPr>
            <a:grpSpLocks/>
          </p:cNvGrpSpPr>
          <p:nvPr/>
        </p:nvGrpSpPr>
        <p:grpSpPr bwMode="auto">
          <a:xfrm>
            <a:off x="9978741" y="2494253"/>
            <a:ext cx="862013" cy="785812"/>
            <a:chOff x="2307" y="9986"/>
            <a:chExt cx="1357" cy="1328"/>
          </a:xfrm>
        </p:grpSpPr>
        <p:sp>
          <p:nvSpPr>
            <p:cNvPr id="79" name="Rectangle 74"/>
            <p:cNvSpPr>
              <a:spLocks noChangeArrowheads="1"/>
            </p:cNvSpPr>
            <p:nvPr/>
          </p:nvSpPr>
          <p:spPr bwMode="auto">
            <a:xfrm>
              <a:off x="2308" y="9986"/>
              <a:ext cx="1350" cy="1328"/>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700" i="0">
                  <a:latin typeface="Times New Roman" panose="02020603050405020304" pitchFamily="18" charset="0"/>
                </a:rPr>
                <a:t> </a:t>
              </a:r>
              <a:endParaRPr kumimoji="1" lang="en-US" altLang="zh-CN" sz="1000" i="0">
                <a:latin typeface="Times New Roman" panose="02020603050405020304" pitchFamily="18" charset="0"/>
              </a:endParaRPr>
            </a:p>
            <a:p>
              <a:endParaRPr kumimoji="1" lang="en-US" altLang="zh-CN" sz="2400" i="0">
                <a:latin typeface="Times New Roman" panose="02020603050405020304" pitchFamily="18" charset="0"/>
              </a:endParaRPr>
            </a:p>
          </p:txBody>
        </p:sp>
        <p:sp>
          <p:nvSpPr>
            <p:cNvPr id="80" name="Line 75"/>
            <p:cNvSpPr>
              <a:spLocks noChangeShapeType="1"/>
            </p:cNvSpPr>
            <p:nvPr/>
          </p:nvSpPr>
          <p:spPr bwMode="auto">
            <a:xfrm flipV="1">
              <a:off x="2307" y="10350"/>
              <a:ext cx="135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Oval 76"/>
            <p:cNvSpPr>
              <a:spLocks noChangeArrowheads="1"/>
            </p:cNvSpPr>
            <p:nvPr/>
          </p:nvSpPr>
          <p:spPr bwMode="auto">
            <a:xfrm>
              <a:off x="2655" y="10707"/>
              <a:ext cx="179" cy="179"/>
            </a:xfrm>
            <a:prstGeom prst="ellipse">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 name="Oval 77"/>
            <p:cNvSpPr>
              <a:spLocks noChangeArrowheads="1"/>
            </p:cNvSpPr>
            <p:nvPr/>
          </p:nvSpPr>
          <p:spPr bwMode="auto">
            <a:xfrm>
              <a:off x="3171" y="10707"/>
              <a:ext cx="179" cy="179"/>
            </a:xfrm>
            <a:prstGeom prst="ellipse">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 name="Oval 78"/>
            <p:cNvSpPr>
              <a:spLocks noChangeArrowheads="1"/>
            </p:cNvSpPr>
            <p:nvPr/>
          </p:nvSpPr>
          <p:spPr bwMode="auto">
            <a:xfrm>
              <a:off x="3172" y="10992"/>
              <a:ext cx="179" cy="179"/>
            </a:xfrm>
            <a:prstGeom prst="ellipse">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84" name="Group 79"/>
            <p:cNvGrpSpPr>
              <a:grpSpLocks/>
            </p:cNvGrpSpPr>
            <p:nvPr/>
          </p:nvGrpSpPr>
          <p:grpSpPr bwMode="auto">
            <a:xfrm>
              <a:off x="3148" y="10418"/>
              <a:ext cx="231" cy="155"/>
              <a:chOff x="3148" y="10418"/>
              <a:chExt cx="126" cy="126"/>
            </a:xfrm>
          </p:grpSpPr>
          <p:sp>
            <p:nvSpPr>
              <p:cNvPr id="92" name="Line 80"/>
              <p:cNvSpPr>
                <a:spLocks noChangeShapeType="1"/>
              </p:cNvSpPr>
              <p:nvPr/>
            </p:nvSpPr>
            <p:spPr bwMode="auto">
              <a:xfrm>
                <a:off x="3150" y="10418"/>
                <a:ext cx="0" cy="12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81"/>
              <p:cNvSpPr>
                <a:spLocks noChangeShapeType="1"/>
              </p:cNvSpPr>
              <p:nvPr/>
            </p:nvSpPr>
            <p:spPr bwMode="auto">
              <a:xfrm rot="5400000">
                <a:off x="3211" y="10475"/>
                <a:ext cx="0" cy="12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82"/>
              <p:cNvSpPr>
                <a:spLocks noChangeShapeType="1"/>
              </p:cNvSpPr>
              <p:nvPr/>
            </p:nvSpPr>
            <p:spPr bwMode="auto">
              <a:xfrm rot="5400000">
                <a:off x="3211" y="10358"/>
                <a:ext cx="0" cy="12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 name="Line 83"/>
            <p:cNvSpPr>
              <a:spLocks noChangeShapeType="1"/>
            </p:cNvSpPr>
            <p:nvPr/>
          </p:nvSpPr>
          <p:spPr bwMode="auto">
            <a:xfrm>
              <a:off x="3270" y="10568"/>
              <a:ext cx="0" cy="135"/>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86" name="Line 84"/>
            <p:cNvSpPr>
              <a:spLocks noChangeShapeType="1"/>
            </p:cNvSpPr>
            <p:nvPr/>
          </p:nvSpPr>
          <p:spPr bwMode="auto">
            <a:xfrm>
              <a:off x="2843" y="10808"/>
              <a:ext cx="330" cy="0"/>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87" name="Line 85"/>
            <p:cNvSpPr>
              <a:spLocks noChangeShapeType="1"/>
            </p:cNvSpPr>
            <p:nvPr/>
          </p:nvSpPr>
          <p:spPr bwMode="auto">
            <a:xfrm>
              <a:off x="3270" y="10883"/>
              <a:ext cx="0" cy="112"/>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88" name="Line 86"/>
            <p:cNvSpPr>
              <a:spLocks noChangeShapeType="1"/>
            </p:cNvSpPr>
            <p:nvPr/>
          </p:nvSpPr>
          <p:spPr bwMode="auto">
            <a:xfrm>
              <a:off x="3371" y="11081"/>
              <a:ext cx="209" cy="0"/>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89" name="Line 87"/>
            <p:cNvSpPr>
              <a:spLocks noChangeShapeType="1"/>
            </p:cNvSpPr>
            <p:nvPr/>
          </p:nvSpPr>
          <p:spPr bwMode="auto">
            <a:xfrm>
              <a:off x="2442" y="10797"/>
              <a:ext cx="209" cy="0"/>
            </a:xfrm>
            <a:prstGeom prst="line">
              <a:avLst/>
            </a:prstGeom>
            <a:noFill/>
            <a:ln w="317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90" name="Line 88"/>
            <p:cNvSpPr>
              <a:spLocks noChangeShapeType="1"/>
            </p:cNvSpPr>
            <p:nvPr/>
          </p:nvSpPr>
          <p:spPr bwMode="auto">
            <a:xfrm flipV="1">
              <a:off x="2314" y="10110"/>
              <a:ext cx="1350"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89"/>
            <p:cNvSpPr>
              <a:spLocks noChangeShapeType="1"/>
            </p:cNvSpPr>
            <p:nvPr/>
          </p:nvSpPr>
          <p:spPr bwMode="auto">
            <a:xfrm flipV="1">
              <a:off x="2307" y="10231"/>
              <a:ext cx="1350"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5" name="Group 90"/>
          <p:cNvGrpSpPr>
            <a:grpSpLocks/>
          </p:cNvGrpSpPr>
          <p:nvPr/>
        </p:nvGrpSpPr>
        <p:grpSpPr bwMode="auto">
          <a:xfrm>
            <a:off x="6702141" y="2768890"/>
            <a:ext cx="881063" cy="434975"/>
            <a:chOff x="2126" y="10319"/>
            <a:chExt cx="1387" cy="685"/>
          </a:xfrm>
        </p:grpSpPr>
        <p:sp>
          <p:nvSpPr>
            <p:cNvPr id="96" name="Rectangle 91"/>
            <p:cNvSpPr>
              <a:spLocks noChangeArrowheads="1"/>
            </p:cNvSpPr>
            <p:nvPr/>
          </p:nvSpPr>
          <p:spPr bwMode="auto">
            <a:xfrm>
              <a:off x="2126" y="10335"/>
              <a:ext cx="345" cy="165"/>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7" name="Rectangle 92"/>
            <p:cNvSpPr>
              <a:spLocks noChangeArrowheads="1"/>
            </p:cNvSpPr>
            <p:nvPr/>
          </p:nvSpPr>
          <p:spPr bwMode="auto">
            <a:xfrm>
              <a:off x="3168" y="10840"/>
              <a:ext cx="345" cy="164"/>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 name="Rectangle 93"/>
            <p:cNvSpPr>
              <a:spLocks noChangeArrowheads="1"/>
            </p:cNvSpPr>
            <p:nvPr/>
          </p:nvSpPr>
          <p:spPr bwMode="auto">
            <a:xfrm>
              <a:off x="3168" y="10350"/>
              <a:ext cx="345" cy="165"/>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9" name="AutoShape 94"/>
            <p:cNvSpPr>
              <a:spLocks noChangeArrowheads="1"/>
            </p:cNvSpPr>
            <p:nvPr/>
          </p:nvSpPr>
          <p:spPr bwMode="auto">
            <a:xfrm>
              <a:off x="2611" y="10319"/>
              <a:ext cx="405" cy="195"/>
            </a:xfrm>
            <a:prstGeom prst="diamond">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0" name="AutoShape 95"/>
            <p:cNvSpPr>
              <a:spLocks noChangeArrowheads="1"/>
            </p:cNvSpPr>
            <p:nvPr/>
          </p:nvSpPr>
          <p:spPr bwMode="auto">
            <a:xfrm rot="1500000">
              <a:off x="2535" y="10613"/>
              <a:ext cx="405" cy="195"/>
            </a:xfrm>
            <a:prstGeom prst="diamond">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1" name="Line 96"/>
            <p:cNvSpPr>
              <a:spLocks noChangeShapeType="1"/>
            </p:cNvSpPr>
            <p:nvPr/>
          </p:nvSpPr>
          <p:spPr bwMode="auto">
            <a:xfrm>
              <a:off x="2299" y="10501"/>
              <a:ext cx="262" cy="12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 name="Line 97"/>
            <p:cNvSpPr>
              <a:spLocks noChangeShapeType="1"/>
            </p:cNvSpPr>
            <p:nvPr/>
          </p:nvSpPr>
          <p:spPr bwMode="auto">
            <a:xfrm>
              <a:off x="2926" y="10789"/>
              <a:ext cx="247" cy="12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98"/>
            <p:cNvSpPr>
              <a:spLocks noChangeShapeType="1"/>
            </p:cNvSpPr>
            <p:nvPr/>
          </p:nvSpPr>
          <p:spPr bwMode="auto">
            <a:xfrm>
              <a:off x="2471" y="10417"/>
              <a:ext cx="142"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Line 99"/>
            <p:cNvSpPr>
              <a:spLocks noChangeShapeType="1"/>
            </p:cNvSpPr>
            <p:nvPr/>
          </p:nvSpPr>
          <p:spPr bwMode="auto">
            <a:xfrm>
              <a:off x="3015" y="10417"/>
              <a:ext cx="142"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5" name="Group 100"/>
          <p:cNvGrpSpPr>
            <a:grpSpLocks/>
          </p:cNvGrpSpPr>
          <p:nvPr/>
        </p:nvGrpSpPr>
        <p:grpSpPr bwMode="auto">
          <a:xfrm>
            <a:off x="7159341" y="3832515"/>
            <a:ext cx="762000" cy="361950"/>
            <a:chOff x="2145" y="9780"/>
            <a:chExt cx="1320" cy="765"/>
          </a:xfrm>
        </p:grpSpPr>
        <p:sp>
          <p:nvSpPr>
            <p:cNvPr id="106" name="Rectangle 101"/>
            <p:cNvSpPr>
              <a:spLocks noChangeArrowheads="1"/>
            </p:cNvSpPr>
            <p:nvPr/>
          </p:nvSpPr>
          <p:spPr bwMode="auto">
            <a:xfrm>
              <a:off x="2145" y="9780"/>
              <a:ext cx="525" cy="24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 name="Rectangle 102"/>
            <p:cNvSpPr>
              <a:spLocks noChangeArrowheads="1"/>
            </p:cNvSpPr>
            <p:nvPr/>
          </p:nvSpPr>
          <p:spPr bwMode="auto">
            <a:xfrm>
              <a:off x="2940" y="9780"/>
              <a:ext cx="525" cy="24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 name="Line 103"/>
            <p:cNvSpPr>
              <a:spLocks noChangeShapeType="1"/>
            </p:cNvSpPr>
            <p:nvPr/>
          </p:nvSpPr>
          <p:spPr bwMode="auto">
            <a:xfrm>
              <a:off x="2400" y="10020"/>
              <a:ext cx="315" cy="285"/>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09" name="Line 104"/>
            <p:cNvSpPr>
              <a:spLocks noChangeShapeType="1"/>
            </p:cNvSpPr>
            <p:nvPr/>
          </p:nvSpPr>
          <p:spPr bwMode="auto">
            <a:xfrm flipH="1">
              <a:off x="2835" y="10015"/>
              <a:ext cx="337" cy="305"/>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10" name="Rectangle 105"/>
            <p:cNvSpPr>
              <a:spLocks noChangeArrowheads="1"/>
            </p:cNvSpPr>
            <p:nvPr/>
          </p:nvSpPr>
          <p:spPr bwMode="auto">
            <a:xfrm>
              <a:off x="2505" y="10305"/>
              <a:ext cx="525" cy="24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11" name="Group 106"/>
          <p:cNvGrpSpPr>
            <a:grpSpLocks/>
          </p:cNvGrpSpPr>
          <p:nvPr/>
        </p:nvGrpSpPr>
        <p:grpSpPr bwMode="auto">
          <a:xfrm>
            <a:off x="5863941" y="3889665"/>
            <a:ext cx="515938" cy="300038"/>
            <a:chOff x="1834" y="9913"/>
            <a:chExt cx="1226" cy="614"/>
          </a:xfrm>
        </p:grpSpPr>
        <p:sp>
          <p:nvSpPr>
            <p:cNvPr id="112" name="Rectangle 107"/>
            <p:cNvSpPr>
              <a:spLocks noChangeArrowheads="1"/>
            </p:cNvSpPr>
            <p:nvPr/>
          </p:nvSpPr>
          <p:spPr bwMode="auto">
            <a:xfrm>
              <a:off x="1845" y="9915"/>
              <a:ext cx="1215" cy="608"/>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 name="Line 108"/>
            <p:cNvSpPr>
              <a:spLocks noChangeShapeType="1"/>
            </p:cNvSpPr>
            <p:nvPr/>
          </p:nvSpPr>
          <p:spPr bwMode="auto">
            <a:xfrm>
              <a:off x="1845" y="10021"/>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109"/>
            <p:cNvSpPr>
              <a:spLocks noChangeShapeType="1"/>
            </p:cNvSpPr>
            <p:nvPr/>
          </p:nvSpPr>
          <p:spPr bwMode="auto">
            <a:xfrm>
              <a:off x="1845" y="10125"/>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 name="Line 110"/>
            <p:cNvSpPr>
              <a:spLocks noChangeShapeType="1"/>
            </p:cNvSpPr>
            <p:nvPr/>
          </p:nvSpPr>
          <p:spPr bwMode="auto">
            <a:xfrm>
              <a:off x="1834" y="10229"/>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 name="Line 111"/>
            <p:cNvSpPr>
              <a:spLocks noChangeShapeType="1"/>
            </p:cNvSpPr>
            <p:nvPr/>
          </p:nvSpPr>
          <p:spPr bwMode="auto">
            <a:xfrm>
              <a:off x="1845" y="10335"/>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112"/>
            <p:cNvSpPr>
              <a:spLocks noChangeShapeType="1"/>
            </p:cNvSpPr>
            <p:nvPr/>
          </p:nvSpPr>
          <p:spPr bwMode="auto">
            <a:xfrm>
              <a:off x="1845" y="10433"/>
              <a:ext cx="1215"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 name="Line 113"/>
            <p:cNvSpPr>
              <a:spLocks noChangeShapeType="1"/>
            </p:cNvSpPr>
            <p:nvPr/>
          </p:nvSpPr>
          <p:spPr bwMode="auto">
            <a:xfrm rot="5400000">
              <a:off x="1933" y="10217"/>
              <a:ext cx="607"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Line 114"/>
            <p:cNvSpPr>
              <a:spLocks noChangeShapeType="1"/>
            </p:cNvSpPr>
            <p:nvPr/>
          </p:nvSpPr>
          <p:spPr bwMode="auto">
            <a:xfrm rot="5400000">
              <a:off x="2342" y="10223"/>
              <a:ext cx="608"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 name="Group 115"/>
          <p:cNvGrpSpPr>
            <a:grpSpLocks/>
          </p:cNvGrpSpPr>
          <p:nvPr/>
        </p:nvGrpSpPr>
        <p:grpSpPr bwMode="auto">
          <a:xfrm>
            <a:off x="9673941" y="3543590"/>
            <a:ext cx="1066800" cy="574675"/>
            <a:chOff x="2640" y="9825"/>
            <a:chExt cx="1965" cy="904"/>
          </a:xfrm>
        </p:grpSpPr>
        <p:sp>
          <p:nvSpPr>
            <p:cNvPr id="121" name="Rectangle 116"/>
            <p:cNvSpPr>
              <a:spLocks noChangeArrowheads="1"/>
            </p:cNvSpPr>
            <p:nvPr/>
          </p:nvSpPr>
          <p:spPr bwMode="auto">
            <a:xfrm>
              <a:off x="2640" y="10215"/>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 name="Rectangle 117"/>
            <p:cNvSpPr>
              <a:spLocks noChangeArrowheads="1"/>
            </p:cNvSpPr>
            <p:nvPr/>
          </p:nvSpPr>
          <p:spPr bwMode="auto">
            <a:xfrm>
              <a:off x="3363" y="10215"/>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 name="Rectangle 118"/>
            <p:cNvSpPr>
              <a:spLocks noChangeArrowheads="1"/>
            </p:cNvSpPr>
            <p:nvPr/>
          </p:nvSpPr>
          <p:spPr bwMode="auto">
            <a:xfrm>
              <a:off x="2967" y="10550"/>
              <a:ext cx="478"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 name="Rectangle 119"/>
            <p:cNvSpPr>
              <a:spLocks noChangeArrowheads="1"/>
            </p:cNvSpPr>
            <p:nvPr/>
          </p:nvSpPr>
          <p:spPr bwMode="auto">
            <a:xfrm>
              <a:off x="4128" y="10215"/>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5" name="Rectangle 120"/>
            <p:cNvSpPr>
              <a:spLocks noChangeArrowheads="1"/>
            </p:cNvSpPr>
            <p:nvPr/>
          </p:nvSpPr>
          <p:spPr bwMode="auto">
            <a:xfrm>
              <a:off x="3363" y="9825"/>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6" name="Rectangle 121"/>
            <p:cNvSpPr>
              <a:spLocks noChangeArrowheads="1"/>
            </p:cNvSpPr>
            <p:nvPr/>
          </p:nvSpPr>
          <p:spPr bwMode="auto">
            <a:xfrm>
              <a:off x="3768" y="10549"/>
              <a:ext cx="477" cy="179"/>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7" name="Line 122"/>
            <p:cNvSpPr>
              <a:spLocks noChangeShapeType="1"/>
            </p:cNvSpPr>
            <p:nvPr/>
          </p:nvSpPr>
          <p:spPr bwMode="auto">
            <a:xfrm flipH="1">
              <a:off x="3607" y="10012"/>
              <a:ext cx="0" cy="19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123"/>
            <p:cNvSpPr>
              <a:spLocks noChangeShapeType="1"/>
            </p:cNvSpPr>
            <p:nvPr/>
          </p:nvSpPr>
          <p:spPr bwMode="auto">
            <a:xfrm flipH="1">
              <a:off x="4351" y="10118"/>
              <a:ext cx="0" cy="9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124"/>
            <p:cNvSpPr>
              <a:spLocks noChangeShapeType="1"/>
            </p:cNvSpPr>
            <p:nvPr/>
          </p:nvSpPr>
          <p:spPr bwMode="auto">
            <a:xfrm flipH="1">
              <a:off x="3592" y="10395"/>
              <a:ext cx="0" cy="8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 name="Line 125"/>
            <p:cNvSpPr>
              <a:spLocks noChangeShapeType="1"/>
            </p:cNvSpPr>
            <p:nvPr/>
          </p:nvSpPr>
          <p:spPr bwMode="auto">
            <a:xfrm>
              <a:off x="2874" y="10110"/>
              <a:ext cx="1478"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 name="Line 126"/>
            <p:cNvSpPr>
              <a:spLocks noChangeShapeType="1"/>
            </p:cNvSpPr>
            <p:nvPr/>
          </p:nvSpPr>
          <p:spPr bwMode="auto">
            <a:xfrm flipH="1">
              <a:off x="2872" y="10110"/>
              <a:ext cx="0" cy="10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 name="Line 127"/>
            <p:cNvSpPr>
              <a:spLocks noChangeShapeType="1"/>
            </p:cNvSpPr>
            <p:nvPr/>
          </p:nvSpPr>
          <p:spPr bwMode="auto">
            <a:xfrm>
              <a:off x="3211" y="10467"/>
              <a:ext cx="787"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 name="Line 128"/>
            <p:cNvSpPr>
              <a:spLocks noChangeShapeType="1"/>
            </p:cNvSpPr>
            <p:nvPr/>
          </p:nvSpPr>
          <p:spPr bwMode="auto">
            <a:xfrm flipH="1">
              <a:off x="3203" y="10467"/>
              <a:ext cx="0" cy="8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 name="Line 129"/>
            <p:cNvSpPr>
              <a:spLocks noChangeShapeType="1"/>
            </p:cNvSpPr>
            <p:nvPr/>
          </p:nvSpPr>
          <p:spPr bwMode="auto">
            <a:xfrm flipH="1">
              <a:off x="3997" y="10467"/>
              <a:ext cx="0" cy="7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 name="Group 130"/>
          <p:cNvGrpSpPr>
            <a:grpSpLocks/>
          </p:cNvGrpSpPr>
          <p:nvPr/>
        </p:nvGrpSpPr>
        <p:grpSpPr bwMode="auto">
          <a:xfrm>
            <a:off x="9673941" y="4408778"/>
            <a:ext cx="857250" cy="623887"/>
            <a:chOff x="6610" y="6037"/>
            <a:chExt cx="1351" cy="983"/>
          </a:xfrm>
        </p:grpSpPr>
        <p:sp>
          <p:nvSpPr>
            <p:cNvPr id="136" name="Rectangle 131"/>
            <p:cNvSpPr>
              <a:spLocks noChangeArrowheads="1"/>
            </p:cNvSpPr>
            <p:nvPr/>
          </p:nvSpPr>
          <p:spPr bwMode="auto">
            <a:xfrm>
              <a:off x="6611" y="6037"/>
              <a:ext cx="1350" cy="983"/>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700" i="0">
                  <a:latin typeface="Times New Roman" panose="02020603050405020304" pitchFamily="18" charset="0"/>
                </a:rPr>
                <a:t>IPO</a:t>
              </a:r>
              <a:r>
                <a:rPr kumimoji="1" lang="zh-CN" altLang="en-US" sz="700" i="0">
                  <a:latin typeface="Times New Roman" panose="02020603050405020304" pitchFamily="18" charset="0"/>
                </a:rPr>
                <a:t>表</a:t>
              </a:r>
              <a:r>
                <a:rPr kumimoji="1" lang="en-US" altLang="zh-CN" sz="700" i="0">
                  <a:latin typeface="Times New Roman" panose="02020603050405020304" pitchFamily="18" charset="0"/>
                </a:rPr>
                <a:t>……</a:t>
              </a:r>
              <a:endParaRPr kumimoji="1" lang="en-US" altLang="zh-CN" sz="1000" i="0">
                <a:latin typeface="Times New Roman" panose="02020603050405020304" pitchFamily="18" charset="0"/>
              </a:endParaRPr>
            </a:p>
            <a:p>
              <a:r>
                <a:rPr kumimoji="1" lang="zh-CN" altLang="en-US" sz="700" i="0">
                  <a:latin typeface="Times New Roman" panose="02020603050405020304" pitchFamily="18" charset="0"/>
                </a:rPr>
                <a:t>输入：</a:t>
              </a:r>
              <a:endParaRPr kumimoji="1" lang="zh-CN" altLang="en-US" sz="1000" i="0">
                <a:latin typeface="Times New Roman" panose="02020603050405020304" pitchFamily="18" charset="0"/>
              </a:endParaRPr>
            </a:p>
            <a:p>
              <a:r>
                <a:rPr kumimoji="1" lang="zh-CN" altLang="en-US" sz="700" i="0">
                  <a:latin typeface="Times New Roman" panose="02020603050405020304" pitchFamily="18" charset="0"/>
                </a:rPr>
                <a:t>输出：</a:t>
              </a:r>
              <a:endParaRPr kumimoji="1" lang="zh-CN" altLang="en-US" sz="1000" i="0">
                <a:latin typeface="Times New Roman" panose="02020603050405020304" pitchFamily="18" charset="0"/>
              </a:endParaRPr>
            </a:p>
            <a:p>
              <a:r>
                <a:rPr kumimoji="1" lang="zh-CN" altLang="en-US" sz="700" i="0">
                  <a:latin typeface="Times New Roman" panose="02020603050405020304" pitchFamily="18" charset="0"/>
                </a:rPr>
                <a:t>处理：</a:t>
              </a:r>
              <a:endParaRPr kumimoji="1" lang="zh-CN" altLang="en-US" sz="1000" i="0">
                <a:latin typeface="Times New Roman" panose="02020603050405020304" pitchFamily="18" charset="0"/>
              </a:endParaRPr>
            </a:p>
            <a:p>
              <a:endParaRPr kumimoji="1" lang="en-US" altLang="zh-CN" sz="2400" i="0">
                <a:latin typeface="Times New Roman" panose="02020603050405020304" pitchFamily="18" charset="0"/>
              </a:endParaRPr>
            </a:p>
          </p:txBody>
        </p:sp>
        <p:sp>
          <p:nvSpPr>
            <p:cNvPr id="137" name="Line 132"/>
            <p:cNvSpPr>
              <a:spLocks noChangeShapeType="1"/>
            </p:cNvSpPr>
            <p:nvPr/>
          </p:nvSpPr>
          <p:spPr bwMode="auto">
            <a:xfrm flipV="1">
              <a:off x="6626" y="6791"/>
              <a:ext cx="1328" cy="8"/>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 name="Line 133"/>
            <p:cNvSpPr>
              <a:spLocks noChangeShapeType="1"/>
            </p:cNvSpPr>
            <p:nvPr/>
          </p:nvSpPr>
          <p:spPr bwMode="auto">
            <a:xfrm>
              <a:off x="6610" y="6900"/>
              <a:ext cx="1350"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9" name="Rectangle 134"/>
          <p:cNvSpPr>
            <a:spLocks noChangeArrowheads="1"/>
          </p:cNvSpPr>
          <p:nvPr/>
        </p:nvSpPr>
        <p:spPr bwMode="auto">
          <a:xfrm>
            <a:off x="7226016" y="5261265"/>
            <a:ext cx="695325" cy="542925"/>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800" i="0">
                <a:latin typeface="Times New Roman" panose="02020603050405020304" pitchFamily="18" charset="0"/>
              </a:rPr>
              <a:t>Creat……</a:t>
            </a:r>
            <a:endParaRPr kumimoji="1" lang="en-US" altLang="zh-CN" sz="1200" i="0">
              <a:latin typeface="Times New Roman" panose="02020603050405020304" pitchFamily="18" charset="0"/>
            </a:endParaRPr>
          </a:p>
          <a:p>
            <a:pPr algn="just"/>
            <a:r>
              <a:rPr kumimoji="1" lang="en-US" altLang="zh-CN" sz="800" i="0">
                <a:latin typeface="Times New Roman" panose="02020603050405020304" pitchFamily="18" charset="0"/>
              </a:rPr>
              <a:t>……</a:t>
            </a:r>
            <a:endParaRPr kumimoji="1" lang="en-US" altLang="zh-CN" sz="2800" i="0">
              <a:latin typeface="Times New Roman" panose="02020603050405020304" pitchFamily="18" charset="0"/>
            </a:endParaRPr>
          </a:p>
        </p:txBody>
      </p:sp>
      <p:sp>
        <p:nvSpPr>
          <p:cNvPr id="140" name="Rectangle 135"/>
          <p:cNvSpPr>
            <a:spLocks noChangeArrowheads="1"/>
          </p:cNvSpPr>
          <p:nvPr/>
        </p:nvSpPr>
        <p:spPr bwMode="auto">
          <a:xfrm>
            <a:off x="9673941" y="5185065"/>
            <a:ext cx="857250" cy="842963"/>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800" i="0">
                <a:latin typeface="Times New Roman" panose="02020603050405020304" pitchFamily="18" charset="0"/>
              </a:rPr>
              <a:t>Main(    )</a:t>
            </a:r>
            <a:endParaRPr kumimoji="1" lang="en-US" altLang="zh-CN" sz="1200" i="0">
              <a:latin typeface="Times New Roman" panose="02020603050405020304" pitchFamily="18" charset="0"/>
            </a:endParaRPr>
          </a:p>
          <a:p>
            <a:pPr algn="just"/>
            <a:r>
              <a:rPr kumimoji="1" lang="en-US" altLang="zh-CN" sz="800" i="0">
                <a:latin typeface="Times New Roman" panose="02020603050405020304" pitchFamily="18" charset="0"/>
              </a:rPr>
              <a:t>……</a:t>
            </a:r>
            <a:endParaRPr kumimoji="1" lang="en-US" altLang="zh-CN" sz="1200" i="0">
              <a:latin typeface="Times New Roman" panose="02020603050405020304" pitchFamily="18" charset="0"/>
            </a:endParaRPr>
          </a:p>
          <a:p>
            <a:pPr algn="just"/>
            <a:r>
              <a:rPr kumimoji="1" lang="en-US" altLang="zh-CN" sz="800" i="0">
                <a:latin typeface="Times New Roman" panose="02020603050405020304" pitchFamily="18" charset="0"/>
              </a:rPr>
              <a:t>if……</a:t>
            </a:r>
            <a:endParaRPr kumimoji="1" lang="en-US" altLang="zh-CN" sz="1200" i="0">
              <a:latin typeface="Times New Roman" panose="02020603050405020304" pitchFamily="18" charset="0"/>
            </a:endParaRPr>
          </a:p>
          <a:p>
            <a:pPr algn="just"/>
            <a:r>
              <a:rPr kumimoji="1" lang="en-US" altLang="zh-CN" sz="800" i="0">
                <a:latin typeface="Times New Roman" panose="02020603050405020304" pitchFamily="18" charset="0"/>
              </a:rPr>
              <a:t>then</a:t>
            </a:r>
            <a:endParaRPr kumimoji="1" lang="en-US" altLang="zh-CN" sz="1200" i="0">
              <a:latin typeface="Times New Roman" panose="02020603050405020304" pitchFamily="18" charset="0"/>
            </a:endParaRPr>
          </a:p>
          <a:p>
            <a:pPr algn="just"/>
            <a:r>
              <a:rPr kumimoji="1" lang="en-US" altLang="zh-CN" sz="800" i="0">
                <a:latin typeface="Times New Roman" panose="02020603050405020304" pitchFamily="18" charset="0"/>
              </a:rPr>
              <a:t>……</a:t>
            </a:r>
            <a:endParaRPr kumimoji="1" lang="en-US" altLang="zh-CN" sz="1200" i="0">
              <a:latin typeface="Times New Roman" panose="02020603050405020304" pitchFamily="18" charset="0"/>
            </a:endParaRPr>
          </a:p>
          <a:p>
            <a:pPr algn="just"/>
            <a:r>
              <a:rPr kumimoji="1" lang="en-US" altLang="zh-CN" sz="800" i="0">
                <a:latin typeface="Times New Roman" panose="02020603050405020304" pitchFamily="18" charset="0"/>
              </a:rPr>
              <a:t>end</a:t>
            </a:r>
            <a:endParaRPr kumimoji="1" lang="en-US" altLang="zh-CN" sz="2800" i="0">
              <a:latin typeface="Times New Roman" panose="02020603050405020304" pitchFamily="18" charset="0"/>
            </a:endParaRPr>
          </a:p>
        </p:txBody>
      </p:sp>
      <p:grpSp>
        <p:nvGrpSpPr>
          <p:cNvPr id="141" name="Group 136"/>
          <p:cNvGrpSpPr>
            <a:grpSpLocks/>
          </p:cNvGrpSpPr>
          <p:nvPr/>
        </p:nvGrpSpPr>
        <p:grpSpPr bwMode="auto">
          <a:xfrm>
            <a:off x="6854541" y="4346865"/>
            <a:ext cx="790575" cy="457200"/>
            <a:chOff x="3281" y="6052"/>
            <a:chExt cx="1245" cy="720"/>
          </a:xfrm>
        </p:grpSpPr>
        <p:sp>
          <p:nvSpPr>
            <p:cNvPr id="142" name="Rectangle 137"/>
            <p:cNvSpPr>
              <a:spLocks noChangeArrowheads="1"/>
            </p:cNvSpPr>
            <p:nvPr/>
          </p:nvSpPr>
          <p:spPr bwMode="auto">
            <a:xfrm>
              <a:off x="3281" y="6052"/>
              <a:ext cx="1245" cy="72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700" i="0">
                  <a:latin typeface="Times New Roman" panose="02020603050405020304" pitchFamily="18" charset="0"/>
                </a:rPr>
                <a:t>      </a:t>
              </a:r>
              <a:r>
                <a:rPr kumimoji="1" lang="zh-CN" altLang="en-US" sz="700" b="1" i="0">
                  <a:solidFill>
                    <a:srgbClr val="003300"/>
                  </a:solidFill>
                  <a:latin typeface="Times New Roman" panose="02020603050405020304" pitchFamily="18" charset="0"/>
                </a:rPr>
                <a:t>分区</a:t>
              </a:r>
              <a:r>
                <a:rPr kumimoji="1" lang="en-US" altLang="zh-CN" sz="700" b="1" i="0">
                  <a:solidFill>
                    <a:srgbClr val="003300"/>
                  </a:solidFill>
                  <a:latin typeface="Times New Roman" panose="02020603050405020304" pitchFamily="18" charset="0"/>
                </a:rPr>
                <a:t>1      </a:t>
              </a:r>
              <a:endParaRPr kumimoji="1" lang="en-US" altLang="zh-CN" sz="1000" b="1" i="0">
                <a:solidFill>
                  <a:srgbClr val="003300"/>
                </a:solidFill>
                <a:latin typeface="Times New Roman" panose="02020603050405020304" pitchFamily="18" charset="0"/>
              </a:endParaRPr>
            </a:p>
            <a:p>
              <a:r>
                <a:rPr kumimoji="1" lang="en-US" altLang="zh-CN" sz="700" b="1" i="0">
                  <a:solidFill>
                    <a:srgbClr val="003300"/>
                  </a:solidFill>
                  <a:latin typeface="Times New Roman" panose="02020603050405020304" pitchFamily="18" charset="0"/>
                </a:rPr>
                <a:t> </a:t>
              </a:r>
              <a:endParaRPr kumimoji="1" lang="en-US" altLang="zh-CN" sz="1000" b="1" i="0">
                <a:solidFill>
                  <a:srgbClr val="003300"/>
                </a:solidFill>
                <a:latin typeface="Times New Roman" panose="02020603050405020304" pitchFamily="18" charset="0"/>
              </a:endParaRPr>
            </a:p>
            <a:p>
              <a:r>
                <a:rPr kumimoji="1" lang="en-US" altLang="zh-CN" sz="700" b="1" i="0">
                  <a:solidFill>
                    <a:srgbClr val="003300"/>
                  </a:solidFill>
                  <a:latin typeface="Times New Roman" panose="02020603050405020304" pitchFamily="18" charset="0"/>
                </a:rPr>
                <a:t>      </a:t>
              </a:r>
              <a:r>
                <a:rPr kumimoji="1" lang="zh-CN" altLang="en-US" sz="700" b="1" i="0">
                  <a:solidFill>
                    <a:srgbClr val="003300"/>
                  </a:solidFill>
                  <a:latin typeface="Times New Roman" panose="02020603050405020304" pitchFamily="18" charset="0"/>
                </a:rPr>
                <a:t>分区</a:t>
              </a:r>
              <a:r>
                <a:rPr kumimoji="1" lang="en-US" altLang="zh-CN" sz="700" b="1" i="0">
                  <a:solidFill>
                    <a:srgbClr val="003300"/>
                  </a:solidFill>
                  <a:latin typeface="Times New Roman" panose="02020603050405020304" pitchFamily="18" charset="0"/>
                </a:rPr>
                <a:t>2</a:t>
              </a:r>
              <a:endParaRPr kumimoji="1" lang="en-US" altLang="zh-CN" sz="2400" b="1" i="0">
                <a:solidFill>
                  <a:srgbClr val="003300"/>
                </a:solidFill>
                <a:latin typeface="Times New Roman" panose="02020603050405020304" pitchFamily="18" charset="0"/>
              </a:endParaRPr>
            </a:p>
          </p:txBody>
        </p:sp>
        <p:sp>
          <p:nvSpPr>
            <p:cNvPr id="143" name="Line 138"/>
            <p:cNvSpPr>
              <a:spLocks noChangeShapeType="1"/>
            </p:cNvSpPr>
            <p:nvPr/>
          </p:nvSpPr>
          <p:spPr bwMode="auto">
            <a:xfrm>
              <a:off x="3311" y="6502"/>
              <a:ext cx="1200"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 name="Line 139"/>
            <p:cNvSpPr>
              <a:spLocks noChangeShapeType="1"/>
            </p:cNvSpPr>
            <p:nvPr/>
          </p:nvSpPr>
          <p:spPr bwMode="auto">
            <a:xfrm>
              <a:off x="3296" y="6652"/>
              <a:ext cx="1215" cy="0"/>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 name="Text Box 140"/>
            <p:cNvSpPr txBox="1">
              <a:spLocks noChangeArrowheads="1"/>
            </p:cNvSpPr>
            <p:nvPr/>
          </p:nvSpPr>
          <p:spPr bwMode="auto">
            <a:xfrm>
              <a:off x="3356" y="6097"/>
              <a:ext cx="510"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700" i="0">
                  <a:latin typeface="Times New Roman" panose="02020603050405020304" pitchFamily="18" charset="0"/>
                </a:rPr>
                <a:t>……</a:t>
              </a:r>
              <a:endParaRPr kumimoji="1" lang="en-US" altLang="zh-CN" sz="1000" i="0">
                <a:latin typeface="Times New Roman" panose="02020603050405020304" pitchFamily="18" charset="0"/>
              </a:endParaRPr>
            </a:p>
            <a:p>
              <a:endParaRPr kumimoji="1" lang="en-US" altLang="zh-CN" sz="2400" i="0">
                <a:latin typeface="Times New Roman" panose="02020603050405020304" pitchFamily="18" charset="0"/>
              </a:endParaRPr>
            </a:p>
          </p:txBody>
        </p:sp>
      </p:grpSp>
      <p:sp>
        <p:nvSpPr>
          <p:cNvPr id="146" name="Rectangle 141"/>
          <p:cNvSpPr>
            <a:spLocks noChangeArrowheads="1"/>
          </p:cNvSpPr>
          <p:nvPr/>
        </p:nvSpPr>
        <p:spPr bwMode="auto">
          <a:xfrm>
            <a:off x="4492341" y="3524540"/>
            <a:ext cx="762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400" b="1" i="0">
                <a:latin typeface="Times New Roman" panose="02020603050405020304" pitchFamily="18" charset="0"/>
              </a:rPr>
              <a:t>概念</a:t>
            </a:r>
          </a:p>
          <a:p>
            <a:pPr algn="ctr" eaLnBrk="1" hangingPunct="1"/>
            <a:r>
              <a:rPr kumimoji="1" lang="zh-CN" altLang="en-US" sz="1400" b="1" i="0">
                <a:latin typeface="Times New Roman" panose="02020603050405020304" pitchFamily="18" charset="0"/>
              </a:rPr>
              <a:t>设计</a:t>
            </a:r>
            <a:endParaRPr kumimoji="1" lang="zh-CN" altLang="en-US" sz="1400" i="0">
              <a:latin typeface="Times New Roman" panose="02020603050405020304" pitchFamily="18" charset="0"/>
            </a:endParaRPr>
          </a:p>
        </p:txBody>
      </p:sp>
      <p:sp>
        <p:nvSpPr>
          <p:cNvPr id="147" name="Rectangle 142"/>
          <p:cNvSpPr>
            <a:spLocks noChangeArrowheads="1"/>
          </p:cNvSpPr>
          <p:nvPr/>
        </p:nvSpPr>
        <p:spPr bwMode="auto">
          <a:xfrm>
            <a:off x="4492341" y="2533940"/>
            <a:ext cx="838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400" b="1" i="0">
                <a:latin typeface="Times New Roman" panose="02020603050405020304" pitchFamily="18" charset="0"/>
              </a:rPr>
              <a:t>逻辑</a:t>
            </a:r>
          </a:p>
          <a:p>
            <a:pPr algn="ctr" eaLnBrk="1" hangingPunct="1"/>
            <a:r>
              <a:rPr kumimoji="1" lang="zh-CN" altLang="en-US" sz="1400" b="1" i="0">
                <a:latin typeface="Times New Roman" panose="02020603050405020304" pitchFamily="18" charset="0"/>
              </a:rPr>
              <a:t>设计</a:t>
            </a:r>
            <a:endParaRPr kumimoji="1" lang="zh-CN" altLang="en-US" sz="1400" i="0">
              <a:latin typeface="Times New Roman" panose="02020603050405020304" pitchFamily="18" charset="0"/>
            </a:endParaRPr>
          </a:p>
        </p:txBody>
      </p:sp>
      <p:sp>
        <p:nvSpPr>
          <p:cNvPr id="148" name="Rectangle 143"/>
          <p:cNvSpPr>
            <a:spLocks noChangeArrowheads="1"/>
          </p:cNvSpPr>
          <p:nvPr/>
        </p:nvSpPr>
        <p:spPr bwMode="auto">
          <a:xfrm>
            <a:off x="4568541" y="4286540"/>
            <a:ext cx="609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400" b="1" i="0">
                <a:latin typeface="Times New Roman" panose="02020603050405020304" pitchFamily="18" charset="0"/>
              </a:rPr>
              <a:t>物理设计</a:t>
            </a:r>
          </a:p>
        </p:txBody>
      </p:sp>
      <p:sp>
        <p:nvSpPr>
          <p:cNvPr id="149" name="Rectangle 144"/>
          <p:cNvSpPr>
            <a:spLocks noRot="1" noChangeArrowheads="1"/>
          </p:cNvSpPr>
          <p:nvPr/>
        </p:nvSpPr>
        <p:spPr bwMode="auto">
          <a:xfrm>
            <a:off x="151365" y="836216"/>
            <a:ext cx="4126167" cy="1078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buFont typeface="Wingdings" panose="05000000000000000000" pitchFamily="2" charset="2"/>
              <a:buChar char="Ø"/>
            </a:pPr>
            <a:r>
              <a:rPr lang="zh-CN" altLang="en-US" sz="2800" b="1" i="0" dirty="0">
                <a:solidFill>
                  <a:srgbClr val="FF3300"/>
                </a:solidFill>
                <a:latin typeface="楷体_GB2312" pitchFamily="49" charset="-122"/>
                <a:ea typeface="楷体_GB2312" pitchFamily="49" charset="-122"/>
              </a:rPr>
              <a:t>设计过程各个阶段的设计描述图</a:t>
            </a:r>
            <a:r>
              <a:rPr lang="zh-CN" altLang="en-US" sz="2800" b="1" i="0" dirty="0">
                <a:solidFill>
                  <a:srgbClr val="FF3300"/>
                </a:solidFill>
                <a:latin typeface="楷体_GB2312" pitchFamily="49" charset="-122"/>
                <a:ea typeface="楷体_GB2312" pitchFamily="49" charset="-122"/>
                <a:sym typeface="Wingdings" panose="05000000000000000000" pitchFamily="2" charset="2"/>
              </a:rPr>
              <a:t> </a:t>
            </a:r>
            <a:endParaRPr lang="zh-CN" altLang="en-US" sz="2800" b="1" i="0" dirty="0">
              <a:solidFill>
                <a:srgbClr val="FF3300"/>
              </a:solidFill>
              <a:latin typeface="楷体_GB2312" pitchFamily="49" charset="-122"/>
              <a:ea typeface="楷体_GB2312" pitchFamily="49" charset="-122"/>
            </a:endParaRPr>
          </a:p>
        </p:txBody>
      </p:sp>
      <p:sp>
        <p:nvSpPr>
          <p:cNvPr id="150"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8.1.3</a:t>
            </a:r>
            <a:r>
              <a:rPr lang="zh-CN" altLang="en-US" sz="2800" b="1" dirty="0">
                <a:solidFill>
                  <a:schemeClr val="bg1"/>
                </a:solidFill>
                <a:latin typeface="微软雅黑" panose="020B0503020204020204" pitchFamily="34" charset="-122"/>
                <a:ea typeface="微软雅黑" panose="020B0503020204020204" pitchFamily="34" charset="-122"/>
              </a:rPr>
              <a:t>数据库设计的步骤</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51" name="直接连接符 150"/>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7715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小结</a:t>
            </a:r>
          </a:p>
        </p:txBody>
      </p:sp>
      <p:sp>
        <p:nvSpPr>
          <p:cNvPr id="5" name="圆角矩形 4"/>
          <p:cNvSpPr/>
          <p:nvPr/>
        </p:nvSpPr>
        <p:spPr>
          <a:xfrm>
            <a:off x="371965" y="858981"/>
            <a:ext cx="10985119" cy="22794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数据库设计基本概念</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数据库设计的特点</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数据库设计的方法</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数据库设计的步骤</a:t>
            </a:r>
          </a:p>
        </p:txBody>
      </p:sp>
      <p:sp>
        <p:nvSpPr>
          <p:cNvPr id="2" name="矩形 1"/>
          <p:cNvSpPr/>
          <p:nvPr/>
        </p:nvSpPr>
        <p:spPr>
          <a:xfrm>
            <a:off x="4313693" y="3600884"/>
            <a:ext cx="3695242"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谢谢观看！</a:t>
            </a:r>
          </a:p>
        </p:txBody>
      </p:sp>
    </p:spTree>
    <p:extLst>
      <p:ext uri="{BB962C8B-B14F-4D97-AF65-F5344CB8AC3E}">
        <p14:creationId xmlns:p14="http://schemas.microsoft.com/office/powerpoint/2010/main" val="11054719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2444074" y="620454"/>
            <a:ext cx="8128000"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40000"/>
              </a:spcBef>
            </a:pPr>
            <a:r>
              <a:rPr lang="zh-CN" altLang="en-US" sz="4000" b="1" dirty="0">
                <a:solidFill>
                  <a:srgbClr val="003300"/>
                </a:solidFill>
              </a:rPr>
              <a:t>第七章    数据库设计</a:t>
            </a:r>
            <a:endParaRPr lang="en-US" altLang="zh-CN" sz="4000" b="1" dirty="0">
              <a:solidFill>
                <a:srgbClr val="003300"/>
              </a:solidFill>
            </a:endParaRPr>
          </a:p>
          <a:p>
            <a:pPr eaLnBrk="1" hangingPunct="1">
              <a:spcBef>
                <a:spcPct val="50000"/>
              </a:spcBef>
            </a:pPr>
            <a:r>
              <a:rPr lang="en-US" altLang="zh-CN" sz="3200" b="1" dirty="0"/>
              <a:t>	8.1 </a:t>
            </a:r>
            <a:r>
              <a:rPr lang="zh-CN" altLang="en-US" sz="3200" b="1" dirty="0"/>
              <a:t>数据库设计概述</a:t>
            </a:r>
            <a:endParaRPr lang="en-US" altLang="zh-CN" sz="3200" b="1" dirty="0"/>
          </a:p>
          <a:p>
            <a:pPr eaLnBrk="1" hangingPunct="1">
              <a:spcBef>
                <a:spcPct val="50000"/>
              </a:spcBef>
            </a:pPr>
            <a:r>
              <a:rPr lang="en-US" altLang="zh-CN" sz="3200" b="1" dirty="0"/>
              <a:t>	</a:t>
            </a:r>
            <a:r>
              <a:rPr lang="en-US" altLang="zh-CN" sz="3200" b="1" dirty="0">
                <a:solidFill>
                  <a:srgbClr val="FF0000"/>
                </a:solidFill>
              </a:rPr>
              <a:t>8.2 </a:t>
            </a:r>
            <a:r>
              <a:rPr lang="zh-CN" altLang="en-US" sz="3200" b="1" dirty="0">
                <a:solidFill>
                  <a:srgbClr val="FF0000"/>
                </a:solidFill>
              </a:rPr>
              <a:t>需求分析</a:t>
            </a:r>
            <a:endParaRPr lang="en-US" altLang="zh-CN" sz="3200" b="1" dirty="0">
              <a:solidFill>
                <a:srgbClr val="FF0000"/>
              </a:solidFill>
            </a:endParaRPr>
          </a:p>
          <a:p>
            <a:pPr eaLnBrk="1" hangingPunct="1">
              <a:spcBef>
                <a:spcPct val="50000"/>
              </a:spcBef>
            </a:pPr>
            <a:r>
              <a:rPr lang="en-US" altLang="zh-CN" sz="3200" b="1" dirty="0"/>
              <a:t>	8.3 </a:t>
            </a:r>
            <a:r>
              <a:rPr lang="zh-CN" altLang="en-US" sz="3200" b="1" dirty="0"/>
              <a:t>概念设计</a:t>
            </a:r>
            <a:endParaRPr lang="en-US" altLang="zh-CN" sz="3200" b="1" dirty="0"/>
          </a:p>
          <a:p>
            <a:pPr eaLnBrk="1" hangingPunct="1">
              <a:spcBef>
                <a:spcPct val="50000"/>
              </a:spcBef>
            </a:pPr>
            <a:r>
              <a:rPr lang="en-US" altLang="zh-CN" sz="3200" b="1" dirty="0"/>
              <a:t>        8.4 </a:t>
            </a:r>
            <a:r>
              <a:rPr lang="zh-CN" altLang="en-US" sz="3200" b="1" dirty="0"/>
              <a:t>逻辑设计</a:t>
            </a:r>
            <a:endParaRPr lang="en-US" altLang="zh-CN" sz="3200" b="1" dirty="0"/>
          </a:p>
          <a:p>
            <a:pPr eaLnBrk="1" hangingPunct="1">
              <a:spcBef>
                <a:spcPct val="50000"/>
              </a:spcBef>
            </a:pPr>
            <a:r>
              <a:rPr lang="en-US" altLang="zh-CN" sz="3200" b="1" dirty="0"/>
              <a:t>        8.5 </a:t>
            </a:r>
            <a:r>
              <a:rPr lang="zh-CN" altLang="en-US" sz="3200" b="1" dirty="0"/>
              <a:t>物理设计</a:t>
            </a:r>
            <a:endParaRPr lang="en-US" altLang="zh-CN" sz="3200" b="1" dirty="0"/>
          </a:p>
          <a:p>
            <a:pPr eaLnBrk="1" hangingPunct="1">
              <a:spcBef>
                <a:spcPct val="50000"/>
              </a:spcBef>
            </a:pPr>
            <a:r>
              <a:rPr lang="en-US" altLang="zh-CN" sz="3200" b="1" dirty="0"/>
              <a:t>        8.6 </a:t>
            </a:r>
            <a:r>
              <a:rPr lang="zh-CN" altLang="en-US" sz="3200" b="1" dirty="0"/>
              <a:t>数据库实施、运行与维护</a:t>
            </a:r>
            <a:endParaRPr lang="en-US" altLang="zh-CN" sz="3200" dirty="0"/>
          </a:p>
        </p:txBody>
      </p:sp>
    </p:spTree>
    <p:extLst>
      <p:ext uri="{BB962C8B-B14F-4D97-AF65-F5344CB8AC3E}">
        <p14:creationId xmlns:p14="http://schemas.microsoft.com/office/powerpoint/2010/main" val="2678349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310272"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cxnSp>
        <p:nvCxnSpPr>
          <p:cNvPr id="11" name="直接连接符 10"/>
          <p:cNvCxnSpPr/>
          <p:nvPr/>
        </p:nvCxnSpPr>
        <p:spPr>
          <a:xfrm rot="5400000">
            <a:off x="4354918"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Rectangle 3"/>
          <p:cNvSpPr txBox="1">
            <a:spLocks noChangeArrowheads="1"/>
          </p:cNvSpPr>
          <p:nvPr/>
        </p:nvSpPr>
        <p:spPr bwMode="auto">
          <a:xfrm>
            <a:off x="840077" y="981076"/>
            <a:ext cx="10600313" cy="19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5000"/>
              </a:lnSpc>
              <a:buClr>
                <a:srgbClr val="FF0000"/>
              </a:buClr>
              <a:buFont typeface="Wingdings" panose="05000000000000000000" pitchFamily="2" charset="2"/>
              <a:buChar char="Ø"/>
            </a:pPr>
            <a:r>
              <a:rPr lang="en-US" altLang="zh-CN" b="1" dirty="0">
                <a:solidFill>
                  <a:srgbClr val="CC3300"/>
                </a:solidFill>
                <a:latin typeface="宋体" panose="02010600030101010101" pitchFamily="2" charset="-122"/>
              </a:rPr>
              <a:t> </a:t>
            </a:r>
            <a:r>
              <a:rPr lang="zh-CN" altLang="en-US" b="1" dirty="0">
                <a:solidFill>
                  <a:srgbClr val="CC3300"/>
                </a:solidFill>
                <a:latin typeface="宋体" panose="02010600030101010101" pitchFamily="2" charset="-122"/>
              </a:rPr>
              <a:t>需求分析就是分析用户的需要与要求</a:t>
            </a:r>
            <a:r>
              <a:rPr lang="zh-CN" altLang="en-US" b="1" dirty="0">
                <a:solidFill>
                  <a:srgbClr val="000066"/>
                </a:solidFill>
                <a:latin typeface="宋体" panose="02010600030101010101" pitchFamily="2" charset="-122"/>
              </a:rPr>
              <a:t>：</a:t>
            </a:r>
          </a:p>
          <a:p>
            <a:pPr lvl="1" eaLnBrk="1" hangingPunct="1">
              <a:lnSpc>
                <a:spcPct val="105000"/>
              </a:lnSpc>
            </a:pPr>
            <a:r>
              <a:rPr lang="zh-CN" altLang="en-US" b="1" dirty="0">
                <a:solidFill>
                  <a:schemeClr val="tx2"/>
                </a:solidFill>
                <a:latin typeface="宋体" panose="02010600030101010101" pitchFamily="2" charset="-122"/>
              </a:rPr>
              <a:t>需求分析是设计数据库的起点；</a:t>
            </a:r>
          </a:p>
          <a:p>
            <a:pPr lvl="1" eaLnBrk="1" hangingPunct="1">
              <a:lnSpc>
                <a:spcPct val="105000"/>
              </a:lnSpc>
            </a:pPr>
            <a:r>
              <a:rPr lang="zh-CN" altLang="en-US" b="1" dirty="0">
                <a:solidFill>
                  <a:schemeClr val="tx2"/>
                </a:solidFill>
                <a:latin typeface="宋体" panose="02010600030101010101" pitchFamily="2" charset="-122"/>
              </a:rPr>
              <a:t>需求分析的结果是否准确地反映了用户的实际要求，将直接影响到后面各个阶段的设计，并影响到设计结果是否合理和实用。</a:t>
            </a:r>
          </a:p>
        </p:txBody>
      </p:sp>
      <p:sp>
        <p:nvSpPr>
          <p:cNvPr id="13" name="Rectangle 4"/>
          <p:cNvSpPr>
            <a:spLocks noChangeArrowheads="1"/>
          </p:cNvSpPr>
          <p:nvPr/>
        </p:nvSpPr>
        <p:spPr bwMode="auto">
          <a:xfrm>
            <a:off x="840077" y="3101183"/>
            <a:ext cx="77724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05000"/>
              </a:lnSpc>
              <a:spcBef>
                <a:spcPct val="20000"/>
              </a:spcBef>
              <a:buClr>
                <a:srgbClr val="FF0000"/>
              </a:buClr>
              <a:buSzPct val="100000"/>
              <a:buFont typeface="Wingdings" panose="05000000000000000000" pitchFamily="2" charset="2"/>
              <a:buChar char="Ø"/>
            </a:pPr>
            <a:r>
              <a:rPr lang="en-US" altLang="zh-CN" sz="2800" b="1" i="0" dirty="0">
                <a:solidFill>
                  <a:srgbClr val="CC3300"/>
                </a:solidFill>
              </a:rPr>
              <a:t>  </a:t>
            </a:r>
            <a:r>
              <a:rPr lang="zh-CN" altLang="en-US" sz="2800" b="1" i="0" dirty="0">
                <a:solidFill>
                  <a:srgbClr val="CC3300"/>
                </a:solidFill>
              </a:rPr>
              <a:t>需求分析的任务</a:t>
            </a:r>
            <a:r>
              <a:rPr lang="zh-CN" altLang="en-US" sz="2800" b="1" i="0" dirty="0">
                <a:solidFill>
                  <a:srgbClr val="000066"/>
                </a:solidFill>
              </a:rPr>
              <a:t>：</a:t>
            </a:r>
          </a:p>
        </p:txBody>
      </p:sp>
      <p:sp>
        <p:nvSpPr>
          <p:cNvPr id="14" name="Rectangle 5"/>
          <p:cNvSpPr>
            <a:spLocks noChangeArrowheads="1"/>
          </p:cNvSpPr>
          <p:nvPr/>
        </p:nvSpPr>
        <p:spPr bwMode="auto">
          <a:xfrm>
            <a:off x="1170058" y="3706235"/>
            <a:ext cx="10187206"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80000"/>
              </a:spcBef>
              <a:buClr>
                <a:schemeClr val="accent5">
                  <a:lumMod val="75000"/>
                </a:schemeClr>
              </a:buClr>
              <a:buFontTx/>
              <a:buChar char="•"/>
            </a:pPr>
            <a:r>
              <a:rPr kumimoji="1" lang="zh-CN" altLang="en-US" sz="2400" b="1" i="0" dirty="0">
                <a:solidFill>
                  <a:schemeClr val="tx2"/>
                </a:solidFill>
                <a:latin typeface="宋体" panose="02010600030101010101" pitchFamily="2" charset="-122"/>
              </a:rPr>
              <a:t>通过详细调查现实世界要处理的对象（组织、部门、企业等），充分了解原系统（手工系统或计算机系统）工作概况，明确用户各种需求，在此基础上确定新系统的功能。</a:t>
            </a:r>
          </a:p>
          <a:p>
            <a:pPr eaLnBrk="1" hangingPunct="1">
              <a:lnSpc>
                <a:spcPct val="105000"/>
              </a:lnSpc>
              <a:spcBef>
                <a:spcPct val="80000"/>
              </a:spcBef>
              <a:buClr>
                <a:schemeClr val="accent5">
                  <a:lumMod val="75000"/>
                </a:schemeClr>
              </a:buClr>
              <a:buFontTx/>
              <a:buChar char="•"/>
            </a:pPr>
            <a:r>
              <a:rPr kumimoji="1" lang="zh-CN" altLang="en-US" sz="2400" b="1" i="0" dirty="0">
                <a:solidFill>
                  <a:schemeClr val="tx2"/>
                </a:solidFill>
                <a:latin typeface="宋体" panose="02010600030101010101" pitchFamily="2" charset="-122"/>
              </a:rPr>
              <a:t>新系统必须充分考虑今后可能的扩充和改变，不能仅仅按当前应用需求来设计数据库。</a:t>
            </a:r>
          </a:p>
        </p:txBody>
      </p:sp>
      <p:sp>
        <p:nvSpPr>
          <p:cNvPr id="9"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8.2.1</a:t>
            </a:r>
            <a:r>
              <a:rPr lang="zh-CN" altLang="en-US" sz="2800" b="1" dirty="0">
                <a:solidFill>
                  <a:schemeClr val="bg1"/>
                </a:solidFill>
                <a:latin typeface="微软雅黑" panose="020B0503020204020204" pitchFamily="34" charset="-122"/>
                <a:ea typeface="微软雅黑" panose="020B0503020204020204" pitchFamily="34" charset="-122"/>
              </a:rPr>
              <a:t>需求分析的任务</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5329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blinds(horizontal)">
                                      <p:cBhvr>
                                        <p:cTn id="1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15" name="Rectangle 3"/>
          <p:cNvSpPr txBox="1">
            <a:spLocks noChangeArrowheads="1"/>
          </p:cNvSpPr>
          <p:nvPr/>
        </p:nvSpPr>
        <p:spPr bwMode="auto">
          <a:xfrm>
            <a:off x="395288" y="1700501"/>
            <a:ext cx="11149012" cy="47005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en-US" altLang="zh-CN" sz="2400" b="1" dirty="0">
                <a:solidFill>
                  <a:srgbClr val="CC3300"/>
                </a:solidFill>
              </a:rPr>
              <a:t>1. </a:t>
            </a:r>
            <a:r>
              <a:rPr lang="zh-CN" altLang="en-US" sz="2400" b="1" dirty="0">
                <a:solidFill>
                  <a:srgbClr val="CC3300"/>
                </a:solidFill>
              </a:rPr>
              <a:t>调查分析用户活动</a:t>
            </a:r>
            <a:endParaRPr lang="en-US" altLang="zh-CN" sz="2400" b="1" dirty="0">
              <a:solidFill>
                <a:srgbClr val="CC3300"/>
              </a:solidFill>
            </a:endParaRPr>
          </a:p>
          <a:p>
            <a:pPr eaLnBrk="1" hangingPunct="1">
              <a:buFontTx/>
              <a:buNone/>
            </a:pPr>
            <a:r>
              <a:rPr lang="zh-CN" altLang="en-US" sz="2400" b="1" dirty="0"/>
              <a:t>     调查组织机构情况，以及各部门的业务活动情况。</a:t>
            </a:r>
          </a:p>
          <a:p>
            <a:pPr eaLnBrk="1" hangingPunct="1">
              <a:lnSpc>
                <a:spcPct val="115000"/>
              </a:lnSpc>
              <a:buFontTx/>
              <a:buNone/>
            </a:pPr>
            <a:r>
              <a:rPr lang="en-US" altLang="zh-CN" sz="2400" b="1" dirty="0">
                <a:solidFill>
                  <a:srgbClr val="CC3300"/>
                </a:solidFill>
              </a:rPr>
              <a:t>2. </a:t>
            </a:r>
            <a:r>
              <a:rPr lang="zh-CN" altLang="en-US" sz="2400" b="1" dirty="0">
                <a:solidFill>
                  <a:srgbClr val="CC3300"/>
                </a:solidFill>
              </a:rPr>
              <a:t>收集和分析需求数据，确定系统边界</a:t>
            </a:r>
          </a:p>
          <a:p>
            <a:pPr eaLnBrk="1" hangingPunct="1">
              <a:lnSpc>
                <a:spcPct val="120000"/>
              </a:lnSpc>
              <a:buFontTx/>
              <a:buNone/>
            </a:pPr>
            <a:r>
              <a:rPr lang="zh-CN" altLang="en-US" sz="2400" b="1" dirty="0">
                <a:solidFill>
                  <a:srgbClr val="000066"/>
                </a:solidFill>
              </a:rPr>
              <a:t>    </a:t>
            </a:r>
            <a:r>
              <a:rPr lang="zh-CN" altLang="en-US" sz="2400" b="1" dirty="0"/>
              <a:t>在熟悉业务活动的基础上，协助用户明确对新系统的各种需求，包括用户的信息需求、处理需求、安全性和完整性需求等，并确定哪些功能由计算机或将来由计算机完成，哪些活动由人工完成。</a:t>
            </a:r>
          </a:p>
          <a:p>
            <a:pPr eaLnBrk="1" hangingPunct="1">
              <a:lnSpc>
                <a:spcPct val="120000"/>
              </a:lnSpc>
              <a:buFontTx/>
              <a:buNone/>
            </a:pPr>
            <a:r>
              <a:rPr lang="en-US" altLang="zh-CN" sz="2400" b="1" dirty="0">
                <a:solidFill>
                  <a:srgbClr val="CC3300"/>
                </a:solidFill>
              </a:rPr>
              <a:t>3. </a:t>
            </a:r>
            <a:r>
              <a:rPr lang="zh-CN" altLang="en-US" sz="2400" b="1" dirty="0">
                <a:solidFill>
                  <a:srgbClr val="CC3300"/>
                </a:solidFill>
              </a:rPr>
              <a:t>编写系统需求分析报告</a:t>
            </a:r>
          </a:p>
          <a:p>
            <a:pPr eaLnBrk="1" hangingPunct="1">
              <a:lnSpc>
                <a:spcPct val="120000"/>
              </a:lnSpc>
              <a:buNone/>
            </a:pPr>
            <a:r>
              <a:rPr lang="zh-CN" altLang="en-US" sz="2400" b="1" dirty="0"/>
              <a:t>     数据流图、功能模块图、数据字典等。</a:t>
            </a:r>
          </a:p>
          <a:p>
            <a:pPr lvl="1" eaLnBrk="1" hangingPunct="1">
              <a:buFontTx/>
              <a:buNone/>
            </a:pPr>
            <a:endParaRPr lang="en-US" altLang="zh-CN" b="1" dirty="0">
              <a:solidFill>
                <a:schemeClr val="tx2"/>
              </a:solidFill>
            </a:endParaRPr>
          </a:p>
        </p:txBody>
      </p:sp>
      <p:sp>
        <p:nvSpPr>
          <p:cNvPr id="16" name="Rectangle 4"/>
          <p:cNvSpPr>
            <a:spLocks noChangeArrowheads="1"/>
          </p:cNvSpPr>
          <p:nvPr/>
        </p:nvSpPr>
        <p:spPr bwMode="auto">
          <a:xfrm>
            <a:off x="533400" y="994063"/>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90000"/>
              </a:lnSpc>
              <a:spcBef>
                <a:spcPct val="20000"/>
              </a:spcBef>
              <a:buClr>
                <a:srgbClr val="0070C0"/>
              </a:buClr>
              <a:buSzPct val="100000"/>
              <a:buFont typeface="Wingdings" panose="05000000000000000000" pitchFamily="2" charset="2"/>
              <a:buChar char="Ø"/>
            </a:pPr>
            <a:r>
              <a:rPr kumimoji="1" lang="en-US" altLang="zh-CN" sz="2800" b="1" i="0" dirty="0">
                <a:solidFill>
                  <a:srgbClr val="FF0000"/>
                </a:solidFill>
                <a:latin typeface="Tahoma" panose="020B0604030504040204" pitchFamily="34" charset="0"/>
              </a:rPr>
              <a:t> </a:t>
            </a:r>
            <a:r>
              <a:rPr kumimoji="1" lang="zh-CN" altLang="en-US" sz="2800" b="1" i="0" dirty="0">
                <a:solidFill>
                  <a:srgbClr val="FF0000"/>
                </a:solidFill>
                <a:latin typeface="Tahoma" panose="020B0604030504040204" pitchFamily="34" charset="0"/>
              </a:rPr>
              <a:t>需求分析的步骤：</a:t>
            </a:r>
          </a:p>
        </p:txBody>
      </p:sp>
      <p:sp>
        <p:nvSpPr>
          <p:cNvPr id="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8.2.2 </a:t>
            </a:r>
            <a:r>
              <a:rPr lang="zh-CN" altLang="en-US" sz="2800" b="1" dirty="0">
                <a:solidFill>
                  <a:schemeClr val="bg1"/>
                </a:solidFill>
                <a:latin typeface="微软雅黑" panose="020B0503020204020204" pitchFamily="34" charset="-122"/>
                <a:ea typeface="微软雅黑" panose="020B0503020204020204" pitchFamily="34" charset="-122"/>
              </a:rPr>
              <a:t>需求分析的步骤</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80015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blinds(horizontal)">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blinds(horizontal)">
                                      <p:cBhvr>
                                        <p:cTn id="17" dur="5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blinds(horizontal)">
                                      <p:cBhvr>
                                        <p:cTn id="22" dur="500"/>
                                        <p:tgtEl>
                                          <p:spTgt spid="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animEffect transition="in" filter="blinds(horizontal)">
                                      <p:cBhvr>
                                        <p:cTn id="27" dur="500"/>
                                        <p:tgtEl>
                                          <p:spTgt spid="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
                                            <p:txEl>
                                              <p:pRg st="5" end="5"/>
                                            </p:txEl>
                                          </p:spTgt>
                                        </p:tgtEl>
                                        <p:attrNameLst>
                                          <p:attrName>style.visibility</p:attrName>
                                        </p:attrNameLst>
                                      </p:cBhvr>
                                      <p:to>
                                        <p:strVal val="visible"/>
                                      </p:to>
                                    </p:set>
                                    <p:animEffect transition="in" filter="blinds(horizontal)">
                                      <p:cBhvr>
                                        <p:cTn id="32"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581493"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533400" y="1143000"/>
            <a:ext cx="7772400"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SzPct val="100000"/>
              <a:buFont typeface="Wingdings" panose="05000000000000000000" pitchFamily="2" charset="2"/>
              <a:buChar char="Ø"/>
            </a:pPr>
            <a:r>
              <a:rPr lang="en-US" altLang="zh-CN" b="1" dirty="0">
                <a:solidFill>
                  <a:srgbClr val="000066"/>
                </a:solidFill>
              </a:rPr>
              <a:t>  </a:t>
            </a:r>
            <a:r>
              <a:rPr lang="zh-CN" altLang="en-US" b="1" dirty="0">
                <a:solidFill>
                  <a:srgbClr val="CC3300"/>
                </a:solidFill>
              </a:rPr>
              <a:t>需求分析的重点：“数据”和</a:t>
            </a:r>
            <a:r>
              <a:rPr lang="en-US" altLang="zh-CN" b="1" dirty="0">
                <a:solidFill>
                  <a:srgbClr val="CC3300"/>
                </a:solidFill>
              </a:rPr>
              <a:t>"</a:t>
            </a:r>
            <a:r>
              <a:rPr lang="zh-CN" altLang="en-US" b="1" dirty="0">
                <a:solidFill>
                  <a:srgbClr val="CC3300"/>
                </a:solidFill>
              </a:rPr>
              <a:t>处理</a:t>
            </a:r>
            <a:r>
              <a:rPr lang="en-US" altLang="zh-CN" b="1" dirty="0">
                <a:solidFill>
                  <a:srgbClr val="CC3300"/>
                </a:solidFill>
              </a:rPr>
              <a:t>"</a:t>
            </a:r>
          </a:p>
        </p:txBody>
      </p:sp>
      <p:sp>
        <p:nvSpPr>
          <p:cNvPr id="8" name="Rectangle 4"/>
          <p:cNvSpPr>
            <a:spLocks noChangeArrowheads="1"/>
          </p:cNvSpPr>
          <p:nvPr/>
        </p:nvSpPr>
        <p:spPr bwMode="auto">
          <a:xfrm>
            <a:off x="395287" y="1700213"/>
            <a:ext cx="10681421" cy="1625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lnSpc>
                <a:spcPct val="150000"/>
              </a:lnSpc>
              <a:spcBef>
                <a:spcPct val="10000"/>
              </a:spcBef>
              <a:buClr>
                <a:schemeClr val="hlink"/>
              </a:buClr>
            </a:pPr>
            <a:r>
              <a:rPr kumimoji="1" lang="en-US" altLang="zh-CN" sz="2800" b="1" i="0" dirty="0">
                <a:solidFill>
                  <a:srgbClr val="CC3300"/>
                </a:solidFill>
                <a:latin typeface="Tahoma" panose="020B0604030504040204" pitchFamily="34" charset="0"/>
              </a:rPr>
              <a:t>1</a:t>
            </a:r>
            <a:r>
              <a:rPr kumimoji="1" lang="zh-CN" altLang="en-US" sz="2800" b="1" i="0" dirty="0">
                <a:solidFill>
                  <a:srgbClr val="CC3300"/>
                </a:solidFill>
                <a:latin typeface="Tahoma" panose="020B0604030504040204" pitchFamily="34" charset="0"/>
              </a:rPr>
              <a:t>）信息要求</a:t>
            </a:r>
            <a:r>
              <a:rPr kumimoji="1" lang="zh-CN" altLang="en-US" sz="2800" b="1" i="0" dirty="0">
                <a:solidFill>
                  <a:srgbClr val="000066"/>
                </a:solidFill>
                <a:latin typeface="Tahoma" panose="020B0604030504040204" pitchFamily="34" charset="0"/>
              </a:rPr>
              <a:t>：</a:t>
            </a:r>
          </a:p>
          <a:p>
            <a:pPr lvl="1" eaLnBrk="1" hangingPunct="1">
              <a:lnSpc>
                <a:spcPct val="110000"/>
              </a:lnSpc>
              <a:spcBef>
                <a:spcPct val="10000"/>
              </a:spcBef>
              <a:buClr>
                <a:schemeClr val="tx1"/>
              </a:buClr>
              <a:buFontTx/>
              <a:buChar char="•"/>
            </a:pPr>
            <a:r>
              <a:rPr kumimoji="1" lang="zh-CN" altLang="en-US" sz="2400" b="1" i="0" dirty="0">
                <a:solidFill>
                  <a:schemeClr val="tx2"/>
                </a:solidFill>
                <a:latin typeface="Tahoma" panose="020B0604030504040204" pitchFamily="34" charset="0"/>
              </a:rPr>
              <a:t>  用户需要从数据库中获得信息的内容与性质；</a:t>
            </a:r>
          </a:p>
          <a:p>
            <a:pPr lvl="1" eaLnBrk="1" hangingPunct="1">
              <a:lnSpc>
                <a:spcPct val="110000"/>
              </a:lnSpc>
              <a:spcBef>
                <a:spcPct val="10000"/>
              </a:spcBef>
              <a:buClr>
                <a:schemeClr val="tx1"/>
              </a:buClr>
              <a:buFontTx/>
              <a:buChar char="•"/>
            </a:pPr>
            <a:r>
              <a:rPr kumimoji="1" lang="zh-CN" altLang="en-US" sz="2400" b="1" i="0" dirty="0">
                <a:solidFill>
                  <a:schemeClr val="tx2"/>
                </a:solidFill>
                <a:latin typeface="Tahoma" panose="020B0604030504040204" pitchFamily="34" charset="0"/>
              </a:rPr>
              <a:t>  由用户的信息要求可以导出数据要求，即在数据库中需要存储哪些数据。</a:t>
            </a:r>
          </a:p>
        </p:txBody>
      </p:sp>
      <p:sp>
        <p:nvSpPr>
          <p:cNvPr id="9" name="Rectangle 5"/>
          <p:cNvSpPr>
            <a:spLocks noChangeArrowheads="1"/>
          </p:cNvSpPr>
          <p:nvPr/>
        </p:nvSpPr>
        <p:spPr bwMode="auto">
          <a:xfrm>
            <a:off x="395288" y="3789363"/>
            <a:ext cx="8382000"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lnSpc>
                <a:spcPct val="95000"/>
              </a:lnSpc>
              <a:spcBef>
                <a:spcPct val="10000"/>
              </a:spcBef>
              <a:buClr>
                <a:schemeClr val="hlink"/>
              </a:buClr>
            </a:pPr>
            <a:r>
              <a:rPr kumimoji="1" lang="en-US" altLang="zh-CN" sz="2800" b="1" i="0" dirty="0">
                <a:solidFill>
                  <a:srgbClr val="CC3300"/>
                </a:solidFill>
                <a:latin typeface="宋体" panose="02010600030101010101" pitchFamily="2" charset="-122"/>
              </a:rPr>
              <a:t>2</a:t>
            </a:r>
            <a:r>
              <a:rPr kumimoji="1" lang="zh-CN" altLang="en-US" sz="2800" b="1" i="0" dirty="0">
                <a:solidFill>
                  <a:srgbClr val="CC3300"/>
                </a:solidFill>
                <a:latin typeface="宋体" panose="02010600030101010101" pitchFamily="2" charset="-122"/>
              </a:rPr>
              <a:t>）处理要求：</a:t>
            </a:r>
          </a:p>
          <a:p>
            <a:pPr lvl="1" eaLnBrk="1" hangingPunct="1">
              <a:lnSpc>
                <a:spcPct val="110000"/>
              </a:lnSpc>
              <a:spcBef>
                <a:spcPct val="10000"/>
              </a:spcBef>
              <a:buClr>
                <a:schemeClr val="tx1"/>
              </a:buClr>
              <a:buFontTx/>
              <a:buChar char="•"/>
            </a:pPr>
            <a:r>
              <a:rPr kumimoji="1" lang="zh-CN" altLang="en-US" sz="2800" b="1" i="0" dirty="0">
                <a:solidFill>
                  <a:schemeClr val="tx2"/>
                </a:solidFill>
                <a:latin typeface="Tahoma" panose="020B0604030504040204" pitchFamily="34" charset="0"/>
              </a:rPr>
              <a:t>  </a:t>
            </a:r>
            <a:r>
              <a:rPr kumimoji="1" lang="zh-CN" altLang="en-US" sz="2400" b="1" i="0" dirty="0">
                <a:solidFill>
                  <a:schemeClr val="tx2"/>
                </a:solidFill>
                <a:latin typeface="Tahoma" panose="020B0604030504040204" pitchFamily="34" charset="0"/>
              </a:rPr>
              <a:t>对处理功能的要求；</a:t>
            </a:r>
          </a:p>
          <a:p>
            <a:pPr lvl="1" eaLnBrk="1" hangingPunct="1">
              <a:lnSpc>
                <a:spcPct val="110000"/>
              </a:lnSpc>
              <a:spcBef>
                <a:spcPct val="10000"/>
              </a:spcBef>
              <a:buClr>
                <a:schemeClr val="tx1"/>
              </a:buClr>
              <a:buFontTx/>
              <a:buChar char="•"/>
            </a:pPr>
            <a:r>
              <a:rPr kumimoji="1" lang="zh-CN" altLang="en-US" sz="2400" b="1" i="0" dirty="0">
                <a:solidFill>
                  <a:schemeClr val="tx2"/>
                </a:solidFill>
                <a:latin typeface="Tahoma" panose="020B0604030504040204" pitchFamily="34" charset="0"/>
              </a:rPr>
              <a:t>  对处理响应时间的要求；</a:t>
            </a:r>
          </a:p>
          <a:p>
            <a:pPr lvl="1" eaLnBrk="1" hangingPunct="1">
              <a:lnSpc>
                <a:spcPct val="110000"/>
              </a:lnSpc>
              <a:spcBef>
                <a:spcPct val="10000"/>
              </a:spcBef>
              <a:buClr>
                <a:schemeClr val="tx1"/>
              </a:buClr>
              <a:buFontTx/>
              <a:buChar char="•"/>
            </a:pPr>
            <a:r>
              <a:rPr kumimoji="1" lang="zh-CN" altLang="en-US" sz="2400" b="1" i="0" dirty="0">
                <a:solidFill>
                  <a:schemeClr val="tx2"/>
                </a:solidFill>
                <a:latin typeface="Tahoma" panose="020B0604030504040204" pitchFamily="34" charset="0"/>
              </a:rPr>
              <a:t>  对处理方式的要求</a:t>
            </a:r>
            <a:r>
              <a:rPr kumimoji="1" lang="en-US" altLang="zh-CN" sz="2400" b="1" i="0" dirty="0">
                <a:solidFill>
                  <a:schemeClr val="tx2"/>
                </a:solidFill>
                <a:latin typeface="Tahoma" panose="020B0604030504040204" pitchFamily="34" charset="0"/>
              </a:rPr>
              <a:t>(</a:t>
            </a:r>
            <a:r>
              <a:rPr kumimoji="1" lang="zh-CN" altLang="en-US" sz="2400" b="1" i="0" dirty="0">
                <a:solidFill>
                  <a:schemeClr val="tx2"/>
                </a:solidFill>
                <a:latin typeface="Tahoma" panose="020B0604030504040204" pitchFamily="34" charset="0"/>
              </a:rPr>
              <a:t>批处理 </a:t>
            </a:r>
            <a:r>
              <a:rPr kumimoji="1" lang="en-US" altLang="zh-CN" sz="2400" b="1" i="0" dirty="0">
                <a:solidFill>
                  <a:schemeClr val="tx2"/>
                </a:solidFill>
                <a:latin typeface="Tahoma" panose="020B0604030504040204" pitchFamily="34" charset="0"/>
              </a:rPr>
              <a:t>/ </a:t>
            </a:r>
            <a:r>
              <a:rPr kumimoji="1" lang="zh-CN" altLang="en-US" sz="2400" b="1" i="0" dirty="0">
                <a:solidFill>
                  <a:schemeClr val="tx2"/>
                </a:solidFill>
                <a:latin typeface="Tahoma" panose="020B0604030504040204" pitchFamily="34" charset="0"/>
              </a:rPr>
              <a:t>联机处理</a:t>
            </a:r>
            <a:r>
              <a:rPr kumimoji="1" lang="en-US" altLang="zh-CN" sz="2400" b="1" i="0" dirty="0">
                <a:solidFill>
                  <a:schemeClr val="tx2"/>
                </a:solidFill>
                <a:latin typeface="Tahoma" panose="020B0604030504040204" pitchFamily="34" charset="0"/>
              </a:rPr>
              <a:t>)</a:t>
            </a:r>
            <a:r>
              <a:rPr kumimoji="1" lang="zh-CN" altLang="en-US" sz="2400" b="1" i="0" dirty="0">
                <a:solidFill>
                  <a:schemeClr val="tx2"/>
                </a:solidFill>
                <a:latin typeface="Tahoma" panose="020B0604030504040204" pitchFamily="34" charset="0"/>
              </a:rPr>
              <a:t>。</a:t>
            </a:r>
          </a:p>
        </p:txBody>
      </p:sp>
      <p:sp>
        <p:nvSpPr>
          <p:cNvPr id="12" name="Rectangle 6"/>
          <p:cNvSpPr>
            <a:spLocks noChangeArrowheads="1"/>
          </p:cNvSpPr>
          <p:nvPr/>
        </p:nvSpPr>
        <p:spPr bwMode="auto">
          <a:xfrm>
            <a:off x="395288" y="5516563"/>
            <a:ext cx="83820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lnSpc>
                <a:spcPct val="150000"/>
              </a:lnSpc>
              <a:spcBef>
                <a:spcPct val="50000"/>
              </a:spcBef>
              <a:buClr>
                <a:schemeClr val="hlink"/>
              </a:buClr>
            </a:pPr>
            <a:r>
              <a:rPr kumimoji="1" lang="en-US" altLang="zh-CN" sz="2800" b="1" i="0">
                <a:solidFill>
                  <a:srgbClr val="CC3300"/>
                </a:solidFill>
                <a:latin typeface="宋体" panose="02010600030101010101" pitchFamily="2" charset="-122"/>
              </a:rPr>
              <a:t>3</a:t>
            </a:r>
            <a:r>
              <a:rPr kumimoji="1" lang="zh-CN" altLang="en-US" sz="2800" b="1" i="0">
                <a:solidFill>
                  <a:srgbClr val="CC3300"/>
                </a:solidFill>
                <a:latin typeface="宋体" panose="02010600030101010101" pitchFamily="2" charset="-122"/>
              </a:rPr>
              <a:t>）安全性与完整性要求</a:t>
            </a:r>
            <a:endParaRPr kumimoji="1" lang="zh-CN" altLang="en-US" sz="2800" b="1" i="0">
              <a:solidFill>
                <a:srgbClr val="000066"/>
              </a:solidFill>
              <a:latin typeface="宋体" panose="02010600030101010101" pitchFamily="2" charset="-122"/>
            </a:endParaRP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8.2.2 </a:t>
            </a:r>
            <a:r>
              <a:rPr lang="zh-CN" altLang="en-US" sz="2800" b="1" dirty="0">
                <a:solidFill>
                  <a:schemeClr val="bg1"/>
                </a:solidFill>
                <a:latin typeface="微软雅黑" panose="020B0503020204020204" pitchFamily="34" charset="-122"/>
                <a:ea typeface="微软雅黑" panose="020B0503020204020204" pitchFamily="34" charset="-122"/>
              </a:rPr>
              <a:t>需求分析的重点和难点</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170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heckerboard(across)">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p:bldP spid="1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533400" y="1066800"/>
            <a:ext cx="7772400"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SzPct val="100000"/>
              <a:buFont typeface="Wingdings" panose="05000000000000000000" pitchFamily="2" charset="2"/>
              <a:buChar char="Ø"/>
            </a:pPr>
            <a:r>
              <a:rPr lang="en-US" altLang="zh-CN" b="1" dirty="0">
                <a:solidFill>
                  <a:srgbClr val="000066"/>
                </a:solidFill>
              </a:rPr>
              <a:t>  </a:t>
            </a:r>
            <a:r>
              <a:rPr lang="zh-CN" altLang="en-US" b="1" dirty="0">
                <a:solidFill>
                  <a:srgbClr val="CC3300"/>
                </a:solidFill>
              </a:rPr>
              <a:t>需求分析的难点：确定用户的最终需求</a:t>
            </a:r>
          </a:p>
        </p:txBody>
      </p:sp>
      <p:sp>
        <p:nvSpPr>
          <p:cNvPr id="8" name="Rectangle 4"/>
          <p:cNvSpPr>
            <a:spLocks noChangeArrowheads="1"/>
          </p:cNvSpPr>
          <p:nvPr/>
        </p:nvSpPr>
        <p:spPr bwMode="auto">
          <a:xfrm>
            <a:off x="304799" y="1676400"/>
            <a:ext cx="11270673" cy="197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lvl="1" eaLnBrk="1" hangingPunct="1">
              <a:lnSpc>
                <a:spcPct val="105000"/>
              </a:lnSpc>
              <a:spcBef>
                <a:spcPct val="45000"/>
              </a:spcBef>
              <a:buClr>
                <a:srgbClr val="FF0000"/>
              </a:buClr>
              <a:buFontTx/>
              <a:buChar char="•"/>
            </a:pPr>
            <a:r>
              <a:rPr kumimoji="1" lang="en-US" altLang="zh-CN" sz="2400" b="1" i="0" dirty="0">
                <a:solidFill>
                  <a:srgbClr val="000066"/>
                </a:solidFill>
                <a:latin typeface="Tahoma" panose="020B0604030504040204" pitchFamily="34" charset="0"/>
              </a:rPr>
              <a:t>  </a:t>
            </a:r>
            <a:r>
              <a:rPr kumimoji="1" lang="zh-CN" altLang="en-US" sz="2400" b="1" i="0" dirty="0">
                <a:solidFill>
                  <a:schemeClr val="tx2"/>
                </a:solidFill>
                <a:latin typeface="Tahoma" panose="020B0604030504040204" pitchFamily="34" charset="0"/>
              </a:rPr>
              <a:t>用户缺少计算机系统知识，开始时无法确定计算机究竟能为自己做什么，不能做什么，因此无法准确地表达自己的需求，他们所提出的需求往往不断地变化；</a:t>
            </a:r>
          </a:p>
          <a:p>
            <a:pPr marL="0" lvl="1" eaLnBrk="1" hangingPunct="1">
              <a:lnSpc>
                <a:spcPct val="105000"/>
              </a:lnSpc>
              <a:spcBef>
                <a:spcPct val="45000"/>
              </a:spcBef>
              <a:buClr>
                <a:srgbClr val="FF0000"/>
              </a:buClr>
              <a:buFontTx/>
              <a:buChar char="•"/>
            </a:pPr>
            <a:r>
              <a:rPr kumimoji="1" lang="zh-CN" altLang="en-US" sz="2400" b="1" i="0" dirty="0">
                <a:solidFill>
                  <a:schemeClr val="tx2"/>
                </a:solidFill>
                <a:latin typeface="Tahoma" panose="020B0604030504040204" pitchFamily="34" charset="0"/>
              </a:rPr>
              <a:t>  设计人员缺少用户的专业知识，不易理解用户的真正需求，甚至误解用户的需求；</a:t>
            </a:r>
          </a:p>
          <a:p>
            <a:pPr marL="0" lvl="1" eaLnBrk="1" hangingPunct="1">
              <a:lnSpc>
                <a:spcPct val="105000"/>
              </a:lnSpc>
              <a:spcBef>
                <a:spcPct val="45000"/>
              </a:spcBef>
              <a:buClr>
                <a:srgbClr val="FF0000"/>
              </a:buClr>
              <a:buFontTx/>
              <a:buChar char="•"/>
            </a:pPr>
            <a:r>
              <a:rPr kumimoji="1" lang="zh-CN" altLang="en-US" sz="2400" b="1" i="0" dirty="0">
                <a:solidFill>
                  <a:schemeClr val="tx2"/>
                </a:solidFill>
                <a:latin typeface="Tahoma" panose="020B0604030504040204" pitchFamily="34" charset="0"/>
              </a:rPr>
              <a:t>  新的硬、软件技术的出现也会使用户需求发生变化。</a:t>
            </a:r>
          </a:p>
        </p:txBody>
      </p:sp>
      <p:sp>
        <p:nvSpPr>
          <p:cNvPr id="9" name="Rectangle 5"/>
          <p:cNvSpPr>
            <a:spLocks noChangeArrowheads="1"/>
          </p:cNvSpPr>
          <p:nvPr/>
        </p:nvSpPr>
        <p:spPr bwMode="auto">
          <a:xfrm>
            <a:off x="533399" y="4201788"/>
            <a:ext cx="9971809"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buClr>
                <a:srgbClr val="FFFF66"/>
              </a:buClr>
              <a:buSzPct val="80000"/>
            </a:pPr>
            <a:r>
              <a:rPr kumimoji="1" lang="zh-CN" altLang="en-US" sz="2600" b="1" i="0" dirty="0">
                <a:solidFill>
                  <a:schemeClr val="accent2"/>
                </a:solidFill>
                <a:latin typeface="Tahoma" panose="020B0604030504040204" pitchFamily="34" charset="0"/>
              </a:rPr>
              <a:t>解决方法</a:t>
            </a:r>
            <a:r>
              <a:rPr kumimoji="1" lang="en-US" altLang="zh-CN" sz="2600" b="1" i="0" dirty="0">
                <a:solidFill>
                  <a:schemeClr val="accent2"/>
                </a:solidFill>
                <a:latin typeface="Tahoma" panose="020B0604030504040204" pitchFamily="34" charset="0"/>
              </a:rPr>
              <a:t>: </a:t>
            </a:r>
            <a:r>
              <a:rPr kumimoji="1" lang="zh-CN" altLang="en-US" sz="2600" b="1" i="0" dirty="0">
                <a:solidFill>
                  <a:schemeClr val="accent2"/>
                </a:solidFill>
                <a:latin typeface="Tahoma" panose="020B0604030504040204" pitchFamily="34" charset="0"/>
              </a:rPr>
              <a:t>设计人员必须采用有效的方法，与用户不断深入地进行交流，才能逐步确定用户的实际需求。</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8.2.2 </a:t>
            </a:r>
            <a:r>
              <a:rPr lang="zh-CN" altLang="en-US" sz="2800" b="1" dirty="0">
                <a:solidFill>
                  <a:schemeClr val="bg1"/>
                </a:solidFill>
                <a:latin typeface="微软雅黑" panose="020B0503020204020204" pitchFamily="34" charset="-122"/>
                <a:ea typeface="微软雅黑" panose="020B0503020204020204" pitchFamily="34" charset="-122"/>
              </a:rPr>
              <a:t>需求分析的重点和难点</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1095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checkerboard(across)">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checkerboard(across)">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autoUpdateAnimBg="0"/>
      <p:bldP spid="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953452"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533400" y="1143000"/>
            <a:ext cx="11145982" cy="4876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spcBef>
                <a:spcPct val="30000"/>
              </a:spcBef>
              <a:buFontTx/>
              <a:buNone/>
            </a:pPr>
            <a:r>
              <a:rPr lang="en-US" altLang="zh-CN" sz="2400" b="1" dirty="0">
                <a:solidFill>
                  <a:srgbClr val="FF0000"/>
                </a:solidFill>
              </a:rPr>
              <a:t>【</a:t>
            </a:r>
            <a:r>
              <a:rPr lang="zh-CN" altLang="en-US" sz="2400" b="1" dirty="0">
                <a:solidFill>
                  <a:srgbClr val="FF0000"/>
                </a:solidFill>
              </a:rPr>
              <a:t>实例</a:t>
            </a:r>
            <a:r>
              <a:rPr lang="en-US" altLang="zh-CN" sz="2400" b="1" dirty="0">
                <a:solidFill>
                  <a:srgbClr val="FF0000"/>
                </a:solidFill>
              </a:rPr>
              <a:t>】</a:t>
            </a:r>
            <a:r>
              <a:rPr lang="zh-CN" altLang="zh-CN" sz="2400" dirty="0"/>
              <a:t>电网设备抢修物资管理数据库设计</a:t>
            </a:r>
            <a:endParaRPr lang="en-US" altLang="zh-CN" sz="2400" dirty="0"/>
          </a:p>
          <a:p>
            <a:pPr eaLnBrk="1" hangingPunct="1">
              <a:lnSpc>
                <a:spcPct val="125000"/>
              </a:lnSpc>
              <a:spcBef>
                <a:spcPct val="30000"/>
              </a:spcBef>
              <a:buFontTx/>
              <a:buNone/>
            </a:pPr>
            <a:r>
              <a:rPr lang="en-US" altLang="zh-CN" sz="2400" dirty="0"/>
              <a:t>            </a:t>
            </a:r>
            <a:r>
              <a:rPr lang="zh-CN" altLang="zh-CN" sz="2400" dirty="0"/>
              <a:t>电网是一个设备资产密集型的电能传输网络，在整个国民经济中具有关键的地位，它在运行时不能瘫痪，这就意味着电网中众多的设备一旦开始工作，就必须连续不间断的运行。但是所有设备一旦长时间运行，由于外界环境的影响、设备设计制造的误差、设备长时间的工作等原因，都会使设备产生缺陷，这些缺陷如果不及时消除，就会影响整个设备的正常工作，甚至危及整个电网的安全运行。所以，在电力系统中设备抢修是一项很重要的工作。电力设备抢修总会涉及设备零部件的更换，所以在仓库中必须要对重要设备的常用零部件进行备货，以满足抢修所需。</a:t>
            </a:r>
            <a:endParaRPr lang="zh-CN" altLang="en-US" sz="2400" b="1" dirty="0">
              <a:solidFill>
                <a:srgbClr val="000066"/>
              </a:solidFill>
            </a:endParaRPr>
          </a:p>
        </p:txBody>
      </p:sp>
    </p:spTree>
    <p:extLst>
      <p:ext uri="{BB962C8B-B14F-4D97-AF65-F5344CB8AC3E}">
        <p14:creationId xmlns:p14="http://schemas.microsoft.com/office/powerpoint/2010/main" val="2789315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953452"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533400" y="1142999"/>
            <a:ext cx="11145982" cy="5482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spcBef>
                <a:spcPct val="30000"/>
              </a:spcBef>
              <a:buFontTx/>
              <a:buNone/>
            </a:pPr>
            <a:r>
              <a:rPr lang="en-US" altLang="zh-CN" sz="2400" b="1" dirty="0">
                <a:solidFill>
                  <a:srgbClr val="FF0000"/>
                </a:solidFill>
              </a:rPr>
              <a:t>【</a:t>
            </a:r>
            <a:r>
              <a:rPr lang="zh-CN" altLang="en-US" sz="2400" b="1" dirty="0">
                <a:solidFill>
                  <a:srgbClr val="FF0000"/>
                </a:solidFill>
              </a:rPr>
              <a:t>实例</a:t>
            </a:r>
            <a:r>
              <a:rPr lang="en-US" altLang="zh-CN" sz="2400" b="1" dirty="0">
                <a:solidFill>
                  <a:srgbClr val="FF0000"/>
                </a:solidFill>
              </a:rPr>
              <a:t>】</a:t>
            </a:r>
            <a:r>
              <a:rPr lang="zh-CN" altLang="zh-CN" sz="2400" dirty="0"/>
              <a:t>电网设备抢修物资管理数据库设计</a:t>
            </a:r>
            <a:endParaRPr lang="en-US" altLang="zh-CN" sz="2400" dirty="0"/>
          </a:p>
          <a:p>
            <a:pPr eaLnBrk="1" hangingPunct="1">
              <a:lnSpc>
                <a:spcPct val="125000"/>
              </a:lnSpc>
              <a:spcBef>
                <a:spcPct val="30000"/>
              </a:spcBef>
              <a:buNone/>
            </a:pPr>
            <a:r>
              <a:rPr lang="en-US" altLang="zh-CN" sz="2400" dirty="0"/>
              <a:t>           </a:t>
            </a:r>
            <a:r>
              <a:rPr lang="zh-CN" altLang="zh-CN" sz="2400" dirty="0"/>
              <a:t>每年初，各部门根据以往设备抢修的实际情况预计本年度所需的抢修物资种类和数量，上报电力物资部门，电力物资部门制定一个物资采购计划，然后依照物资采购计划采购物资，当物资到货后办理入库手续。</a:t>
            </a:r>
          </a:p>
          <a:p>
            <a:pPr eaLnBrk="1" hangingPunct="1">
              <a:lnSpc>
                <a:spcPct val="125000"/>
              </a:lnSpc>
              <a:spcBef>
                <a:spcPct val="30000"/>
              </a:spcBef>
              <a:buNone/>
            </a:pPr>
            <a:r>
              <a:rPr lang="en-US" altLang="zh-CN" sz="2400" dirty="0"/>
              <a:t>           </a:t>
            </a:r>
            <a:r>
              <a:rPr lang="zh-CN" altLang="zh-CN" sz="2400" dirty="0"/>
              <a:t>当电网设备发生故障后，需要安排抢修，抢修前先</a:t>
            </a:r>
            <a:r>
              <a:rPr lang="zh-CN" altLang="zh-CN" sz="2400" dirty="0">
                <a:solidFill>
                  <a:srgbClr val="FF0000"/>
                </a:solidFill>
              </a:rPr>
              <a:t>制订抢修计划</a:t>
            </a:r>
            <a:r>
              <a:rPr lang="zh-CN" altLang="zh-CN" sz="2400" dirty="0"/>
              <a:t>，</a:t>
            </a:r>
            <a:r>
              <a:rPr lang="zh-CN" altLang="zh-CN" sz="2400" dirty="0">
                <a:solidFill>
                  <a:srgbClr val="FF0000"/>
                </a:solidFill>
              </a:rPr>
              <a:t>抢修计划中包括项目名称、主要施工内容和计划领取的备品备件种类和数量</a:t>
            </a:r>
            <a:r>
              <a:rPr lang="zh-CN" altLang="zh-CN" sz="2400" dirty="0"/>
              <a:t>。实际抢修时，大部分情况抢修所需的物资品种与数量和抢修计划相同，但也有例外。</a:t>
            </a:r>
          </a:p>
          <a:p>
            <a:pPr eaLnBrk="1" hangingPunct="1">
              <a:lnSpc>
                <a:spcPct val="125000"/>
              </a:lnSpc>
              <a:spcBef>
                <a:spcPct val="30000"/>
              </a:spcBef>
              <a:buNone/>
            </a:pPr>
            <a:r>
              <a:rPr lang="en-US" altLang="zh-CN" sz="2400" dirty="0"/>
              <a:t>           </a:t>
            </a:r>
            <a:r>
              <a:rPr lang="zh-CN" altLang="zh-CN" sz="2400" dirty="0"/>
              <a:t>实际抢修物资领用时需先</a:t>
            </a:r>
            <a:r>
              <a:rPr lang="zh-CN" altLang="zh-CN" sz="2400" dirty="0">
                <a:solidFill>
                  <a:srgbClr val="FF0000"/>
                </a:solidFill>
              </a:rPr>
              <a:t>办理领用手续，填写的领料单包括领用物资的种类、数量、该物资用途</a:t>
            </a:r>
            <a:r>
              <a:rPr lang="zh-CN" altLang="zh-CN" sz="2400" dirty="0"/>
              <a:t>等，然后才能实际领用物资。</a:t>
            </a:r>
          </a:p>
        </p:txBody>
      </p:sp>
    </p:spTree>
    <p:extLst>
      <p:ext uri="{BB962C8B-B14F-4D97-AF65-F5344CB8AC3E}">
        <p14:creationId xmlns:p14="http://schemas.microsoft.com/office/powerpoint/2010/main" val="42459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3" name="文本框 94"/>
          <p:cNvSpPr txBox="1">
            <a:spLocks noChangeArrowheads="1"/>
          </p:cNvSpPr>
          <p:nvPr/>
        </p:nvSpPr>
        <p:spPr bwMode="auto">
          <a:xfrm>
            <a:off x="245870" y="65515"/>
            <a:ext cx="5953452"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4" name="Rectangle 3"/>
          <p:cNvSpPr txBox="1">
            <a:spLocks noChangeArrowheads="1"/>
          </p:cNvSpPr>
          <p:nvPr/>
        </p:nvSpPr>
        <p:spPr bwMode="auto">
          <a:xfrm>
            <a:off x="533400" y="1142999"/>
            <a:ext cx="11145982" cy="5482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spcBef>
                <a:spcPct val="30000"/>
              </a:spcBef>
              <a:buFontTx/>
              <a:buNone/>
            </a:pPr>
            <a:r>
              <a:rPr lang="en-US" altLang="zh-CN" sz="2400" b="1" dirty="0">
                <a:solidFill>
                  <a:srgbClr val="FF0000"/>
                </a:solidFill>
              </a:rPr>
              <a:t>【</a:t>
            </a:r>
            <a:r>
              <a:rPr lang="zh-CN" altLang="en-US" sz="2400" b="1" dirty="0">
                <a:solidFill>
                  <a:srgbClr val="FF0000"/>
                </a:solidFill>
              </a:rPr>
              <a:t>实例</a:t>
            </a:r>
            <a:r>
              <a:rPr lang="en-US" altLang="zh-CN" sz="2400" b="1" dirty="0">
                <a:solidFill>
                  <a:srgbClr val="FF0000"/>
                </a:solidFill>
              </a:rPr>
              <a:t>】</a:t>
            </a:r>
            <a:r>
              <a:rPr lang="zh-CN" altLang="zh-CN" sz="2400" dirty="0"/>
              <a:t>电网设备抢修物资管理数据库设计</a:t>
            </a:r>
            <a:endParaRPr lang="en-US" altLang="zh-CN" sz="2400" dirty="0"/>
          </a:p>
          <a:p>
            <a:pPr eaLnBrk="1" hangingPunct="1">
              <a:lnSpc>
                <a:spcPct val="125000"/>
              </a:lnSpc>
              <a:spcBef>
                <a:spcPct val="30000"/>
              </a:spcBef>
              <a:buNone/>
            </a:pPr>
            <a:r>
              <a:rPr lang="en-US" altLang="zh-CN" sz="2400" dirty="0"/>
              <a:t>   【</a:t>
            </a:r>
            <a:r>
              <a:rPr lang="zh-CN" altLang="en-US" sz="2400" dirty="0"/>
              <a:t>分析</a:t>
            </a:r>
            <a:r>
              <a:rPr lang="en-US" altLang="zh-CN" sz="2400" dirty="0"/>
              <a:t>】</a:t>
            </a:r>
            <a:r>
              <a:rPr lang="zh-CN" altLang="zh-CN" sz="2400" dirty="0"/>
              <a:t>根据以上用户提出的对数据库系统的需求，需求分析的主要任务是和用户反复沟通，了解用户在建设电力设备抢修管理系统时，需要数据库做什么。数据库主要用于存储数据，所以进行需求分析时，面对繁杂的用户需求叙述，必须紧紧抓住“数据存储”的关键，从中抽取出数据库的真正需求。分析方法采用数据流图的方法。</a:t>
            </a:r>
          </a:p>
        </p:txBody>
      </p:sp>
    </p:spTree>
    <p:extLst>
      <p:ext uri="{BB962C8B-B14F-4D97-AF65-F5344CB8AC3E}">
        <p14:creationId xmlns:p14="http://schemas.microsoft.com/office/powerpoint/2010/main" val="523777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3" name="文本框 94"/>
          <p:cNvSpPr txBox="1">
            <a:spLocks noChangeArrowheads="1"/>
          </p:cNvSpPr>
          <p:nvPr/>
        </p:nvSpPr>
        <p:spPr bwMode="auto">
          <a:xfrm>
            <a:off x="245870" y="65515"/>
            <a:ext cx="5953452"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pic>
        <p:nvPicPr>
          <p:cNvPr id="1026" name="Picture 2" descr="8-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6695" y="737003"/>
            <a:ext cx="6364179" cy="578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418454" y="2890434"/>
            <a:ext cx="2944677" cy="523220"/>
          </a:xfrm>
          <a:prstGeom prst="rect">
            <a:avLst/>
          </a:prstGeom>
          <a:noFill/>
        </p:spPr>
        <p:txBody>
          <a:bodyPr wrap="square" rtlCol="0">
            <a:spAutoFit/>
          </a:bodyPr>
          <a:lstStyle/>
          <a:p>
            <a:r>
              <a:rPr lang="zh-CN" altLang="zh-CN" sz="2800" dirty="0">
                <a:solidFill>
                  <a:srgbClr val="FF0000"/>
                </a:solidFill>
              </a:rPr>
              <a:t>第一层数据流图</a:t>
            </a:r>
            <a:endParaRPr lang="zh-CN" altLang="en-US" sz="2800" dirty="0">
              <a:solidFill>
                <a:srgbClr val="FF0000"/>
              </a:solidFill>
            </a:endParaRPr>
          </a:p>
        </p:txBody>
      </p:sp>
    </p:spTree>
    <p:extLst>
      <p:ext uri="{BB962C8B-B14F-4D97-AF65-F5344CB8AC3E}">
        <p14:creationId xmlns:p14="http://schemas.microsoft.com/office/powerpoint/2010/main" val="384160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3" name="文本框 94"/>
          <p:cNvSpPr txBox="1">
            <a:spLocks noChangeArrowheads="1"/>
          </p:cNvSpPr>
          <p:nvPr/>
        </p:nvSpPr>
        <p:spPr bwMode="auto">
          <a:xfrm>
            <a:off x="245870" y="65515"/>
            <a:ext cx="5953452"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pic>
        <p:nvPicPr>
          <p:cNvPr id="3074" name="Picture 2" descr="8-16"/>
          <p:cNvPicPr>
            <a:picLocks noChangeAspect="1" noChangeArrowheads="1"/>
          </p:cNvPicPr>
          <p:nvPr/>
        </p:nvPicPr>
        <p:blipFill>
          <a:blip r:embed="rId3" cstate="print">
            <a:extLst>
              <a:ext uri="{28A0092B-C50C-407E-A947-70E740481C1C}">
                <a14:useLocalDpi xmlns:a14="http://schemas.microsoft.com/office/drawing/2010/main" val="0"/>
              </a:ext>
            </a:extLst>
          </a:blip>
          <a:srcRect t="728" b="35106"/>
          <a:stretch>
            <a:fillRect/>
          </a:stretch>
        </p:blipFill>
        <p:spPr bwMode="auto">
          <a:xfrm>
            <a:off x="801769" y="924840"/>
            <a:ext cx="4134442" cy="4336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3" descr="8-16"/>
          <p:cNvPicPr>
            <a:picLocks noChangeAspect="1" noChangeArrowheads="1"/>
          </p:cNvPicPr>
          <p:nvPr/>
        </p:nvPicPr>
        <p:blipFill>
          <a:blip r:embed="rId3" cstate="print">
            <a:extLst>
              <a:ext uri="{28A0092B-C50C-407E-A947-70E740481C1C}">
                <a14:useLocalDpi xmlns:a14="http://schemas.microsoft.com/office/drawing/2010/main" val="0"/>
              </a:ext>
            </a:extLst>
          </a:blip>
          <a:srcRect t="66678"/>
          <a:stretch>
            <a:fillRect/>
          </a:stretch>
        </p:blipFill>
        <p:spPr bwMode="auto">
          <a:xfrm>
            <a:off x="5382164" y="1000475"/>
            <a:ext cx="4346064" cy="2354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8-16b"/>
          <p:cNvPicPr>
            <a:picLocks noChangeAspect="1" noChangeArrowheads="1"/>
          </p:cNvPicPr>
          <p:nvPr/>
        </p:nvPicPr>
        <p:blipFill>
          <a:blip r:embed="rId4" cstate="print">
            <a:extLst>
              <a:ext uri="{28A0092B-C50C-407E-A947-70E740481C1C}">
                <a14:useLocalDpi xmlns:a14="http://schemas.microsoft.com/office/drawing/2010/main" val="0"/>
              </a:ext>
            </a:extLst>
          </a:blip>
          <a:srcRect b="49744"/>
          <a:stretch>
            <a:fillRect/>
          </a:stretch>
        </p:blipFill>
        <p:spPr bwMode="auto">
          <a:xfrm>
            <a:off x="5300420" y="3200400"/>
            <a:ext cx="4504689" cy="2123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5" descr="8-16b"/>
          <p:cNvPicPr>
            <a:picLocks noChangeAspect="1" noChangeArrowheads="1"/>
          </p:cNvPicPr>
          <p:nvPr/>
        </p:nvPicPr>
        <p:blipFill>
          <a:blip r:embed="rId4" cstate="print">
            <a:extLst>
              <a:ext uri="{28A0092B-C50C-407E-A947-70E740481C1C}">
                <a14:useLocalDpi xmlns:a14="http://schemas.microsoft.com/office/drawing/2010/main" val="0"/>
              </a:ext>
            </a:extLst>
          </a:blip>
          <a:srcRect t="53676" r="45268"/>
          <a:stretch>
            <a:fillRect/>
          </a:stretch>
        </p:blipFill>
        <p:spPr bwMode="auto">
          <a:xfrm>
            <a:off x="9670942" y="2115518"/>
            <a:ext cx="2324746" cy="183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3222596" y="5711125"/>
            <a:ext cx="2944677" cy="523220"/>
          </a:xfrm>
          <a:prstGeom prst="rect">
            <a:avLst/>
          </a:prstGeom>
          <a:noFill/>
        </p:spPr>
        <p:txBody>
          <a:bodyPr wrap="square" rtlCol="0">
            <a:spAutoFit/>
          </a:bodyPr>
          <a:lstStyle/>
          <a:p>
            <a:r>
              <a:rPr lang="zh-CN" altLang="zh-CN" sz="2800" dirty="0">
                <a:solidFill>
                  <a:srgbClr val="FF0000"/>
                </a:solidFill>
              </a:rPr>
              <a:t>第</a:t>
            </a:r>
            <a:r>
              <a:rPr lang="zh-CN" altLang="en-US" sz="2800" dirty="0">
                <a:solidFill>
                  <a:srgbClr val="FF0000"/>
                </a:solidFill>
              </a:rPr>
              <a:t>二</a:t>
            </a:r>
            <a:r>
              <a:rPr lang="zh-CN" altLang="zh-CN" sz="2800" dirty="0">
                <a:solidFill>
                  <a:srgbClr val="FF0000"/>
                </a:solidFill>
              </a:rPr>
              <a:t>层数据流图</a:t>
            </a:r>
            <a:endParaRPr lang="zh-CN" altLang="en-US" sz="2800" dirty="0">
              <a:solidFill>
                <a:srgbClr val="FF0000"/>
              </a:solidFill>
            </a:endParaRPr>
          </a:p>
        </p:txBody>
      </p:sp>
    </p:spTree>
    <p:extLst>
      <p:ext uri="{BB962C8B-B14F-4D97-AF65-F5344CB8AC3E}">
        <p14:creationId xmlns:p14="http://schemas.microsoft.com/office/powerpoint/2010/main" val="2749722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838200" y="1472043"/>
            <a:ext cx="10155382"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Clr>
                <a:schemeClr val="tx1"/>
              </a:buClr>
            </a:pPr>
            <a:r>
              <a:rPr lang="zh-CN" altLang="en-US" b="1" dirty="0">
                <a:solidFill>
                  <a:srgbClr val="000066"/>
                </a:solidFill>
              </a:rPr>
              <a:t>数据字典是各类数据描述的集合。</a:t>
            </a:r>
          </a:p>
          <a:p>
            <a:pPr eaLnBrk="1" hangingPunct="1">
              <a:lnSpc>
                <a:spcPct val="110000"/>
              </a:lnSpc>
              <a:buClr>
                <a:schemeClr val="tx1"/>
              </a:buClr>
            </a:pPr>
            <a:r>
              <a:rPr lang="zh-CN" altLang="en-US" b="1" dirty="0">
                <a:solidFill>
                  <a:srgbClr val="000066"/>
                </a:solidFill>
              </a:rPr>
              <a:t>数据字典是进行详细的数据收集和数据分析所获得的主要结果。</a:t>
            </a:r>
          </a:p>
          <a:p>
            <a:pPr eaLnBrk="1" hangingPunct="1">
              <a:lnSpc>
                <a:spcPct val="110000"/>
              </a:lnSpc>
              <a:buClr>
                <a:schemeClr val="tx1"/>
              </a:buClr>
            </a:pPr>
            <a:r>
              <a:rPr lang="zh-CN" altLang="en-US" b="1" dirty="0">
                <a:solidFill>
                  <a:srgbClr val="000066"/>
                </a:solidFill>
              </a:rPr>
              <a:t>数据字典用来说明或描述系统中</a:t>
            </a:r>
            <a:r>
              <a:rPr lang="zh-CN" altLang="en-US" b="1" dirty="0">
                <a:solidFill>
                  <a:srgbClr val="CC3300"/>
                </a:solidFill>
              </a:rPr>
              <a:t>数据的静态组成结构</a:t>
            </a:r>
            <a:r>
              <a:rPr lang="zh-CN" altLang="en-US" b="1" dirty="0">
                <a:solidFill>
                  <a:srgbClr val="000066"/>
                </a:solidFill>
              </a:rPr>
              <a:t>，是</a:t>
            </a:r>
            <a:r>
              <a:rPr lang="zh-CN" altLang="en-US" b="1" dirty="0">
                <a:solidFill>
                  <a:srgbClr val="000066"/>
                </a:solidFill>
                <a:latin typeface="宋体" panose="02010600030101010101" pitchFamily="2" charset="-122"/>
              </a:rPr>
              <a:t>数据库系统中各类数据属性的清单，</a:t>
            </a:r>
            <a:r>
              <a:rPr lang="zh-CN" altLang="en-US" b="1" dirty="0">
                <a:solidFill>
                  <a:srgbClr val="000066"/>
                </a:solidFill>
              </a:rPr>
              <a:t>在数据库设计中占有很重要的地位。</a:t>
            </a:r>
          </a:p>
          <a:p>
            <a:pPr eaLnBrk="1" hangingPunct="1">
              <a:lnSpc>
                <a:spcPct val="110000"/>
              </a:lnSpc>
              <a:buClr>
                <a:schemeClr val="tx1"/>
              </a:buClr>
            </a:pPr>
            <a:r>
              <a:rPr lang="zh-CN" altLang="en-US" b="1" dirty="0">
                <a:solidFill>
                  <a:srgbClr val="000066"/>
                </a:solidFill>
              </a:rPr>
              <a:t>数据字典在需求分析阶段建立，在数据库设计过程中不断修改、充实、完善。</a:t>
            </a:r>
          </a:p>
        </p:txBody>
      </p:sp>
      <p:sp>
        <p:nvSpPr>
          <p:cNvPr id="8" name="Rectangle 4"/>
          <p:cNvSpPr>
            <a:spLocks noChangeArrowheads="1"/>
          </p:cNvSpPr>
          <p:nvPr/>
        </p:nvSpPr>
        <p:spPr bwMode="auto">
          <a:xfrm>
            <a:off x="533400" y="938643"/>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90000"/>
              </a:lnSpc>
              <a:spcBef>
                <a:spcPct val="20000"/>
              </a:spcBef>
              <a:buClr>
                <a:srgbClr val="FF0000"/>
              </a:buClr>
              <a:buSzPct val="100000"/>
              <a:buFont typeface="Wingdings" panose="05000000000000000000" pitchFamily="2" charset="2"/>
              <a:buChar char="Ø"/>
            </a:pPr>
            <a:r>
              <a:rPr kumimoji="1" lang="en-US" altLang="zh-CN" sz="3200" b="1" i="0" dirty="0">
                <a:solidFill>
                  <a:srgbClr val="000066"/>
                </a:solidFill>
                <a:latin typeface="Tahoma" panose="020B0604030504040204" pitchFamily="34" charset="0"/>
              </a:rPr>
              <a:t>  </a:t>
            </a:r>
            <a:r>
              <a:rPr kumimoji="1" lang="zh-CN" altLang="en-US" sz="3200" b="1" i="0" dirty="0">
                <a:solidFill>
                  <a:srgbClr val="CC3300"/>
                </a:solidFill>
                <a:latin typeface="Tahoma" panose="020B0604030504040204" pitchFamily="34" charset="0"/>
              </a:rPr>
              <a:t>数据字典</a:t>
            </a:r>
            <a:r>
              <a:rPr kumimoji="1" lang="zh-CN" altLang="en-US" sz="3200" b="1" i="0" dirty="0">
                <a:solidFill>
                  <a:srgbClr val="000066"/>
                </a:solidFill>
                <a:latin typeface="Tahoma" panose="020B0604030504040204" pitchFamily="34" charset="0"/>
              </a:rPr>
              <a:t>的用途：</a:t>
            </a:r>
          </a:p>
        </p:txBody>
      </p:sp>
      <p:sp>
        <p:nvSpPr>
          <p:cNvPr id="9"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8.2.3 </a:t>
            </a:r>
            <a:r>
              <a:rPr lang="zh-CN" altLang="en-US" sz="2800" b="1" dirty="0">
                <a:solidFill>
                  <a:schemeClr val="bg1"/>
                </a:solidFill>
                <a:latin typeface="微软雅黑" panose="020B0503020204020204" pitchFamily="34" charset="-122"/>
                <a:ea typeface="微软雅黑" panose="020B0503020204020204" pitchFamily="34" charset="-122"/>
              </a:rPr>
              <a:t>数据字典</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0559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6038693"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1106905" y="1600199"/>
            <a:ext cx="9586926" cy="352973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eaLnBrk="1" hangingPunct="1"/>
            <a:endParaRPr lang="zh-CN" altLang="en-US" b="1" dirty="0">
              <a:solidFill>
                <a:srgbClr val="000066"/>
              </a:solidFill>
            </a:endParaRPr>
          </a:p>
          <a:p>
            <a:pPr marL="228600" lvl="1" eaLnBrk="1" hangingPunct="1">
              <a:lnSpc>
                <a:spcPct val="110000"/>
              </a:lnSpc>
              <a:spcBef>
                <a:spcPts val="1000"/>
              </a:spcBef>
              <a:buClr>
                <a:schemeClr val="tx1"/>
              </a:buClr>
            </a:pPr>
            <a:r>
              <a:rPr lang="zh-CN" altLang="en-US" sz="2800" b="1" dirty="0">
                <a:solidFill>
                  <a:srgbClr val="000066"/>
                </a:solidFill>
              </a:rPr>
              <a:t>数据项 </a:t>
            </a:r>
          </a:p>
          <a:p>
            <a:pPr marL="228600" lvl="1" eaLnBrk="1" hangingPunct="1">
              <a:lnSpc>
                <a:spcPct val="110000"/>
              </a:lnSpc>
              <a:spcBef>
                <a:spcPts val="1000"/>
              </a:spcBef>
              <a:buClr>
                <a:schemeClr val="tx1"/>
              </a:buClr>
            </a:pPr>
            <a:r>
              <a:rPr lang="zh-CN" altLang="en-US" sz="2800" b="1" dirty="0">
                <a:solidFill>
                  <a:srgbClr val="000066"/>
                </a:solidFill>
              </a:rPr>
              <a:t>数据结构 </a:t>
            </a:r>
          </a:p>
          <a:p>
            <a:pPr marL="228600" lvl="1" eaLnBrk="1" hangingPunct="1">
              <a:lnSpc>
                <a:spcPct val="110000"/>
              </a:lnSpc>
              <a:spcBef>
                <a:spcPts val="1000"/>
              </a:spcBef>
              <a:buClr>
                <a:schemeClr val="tx1"/>
              </a:buClr>
            </a:pPr>
            <a:r>
              <a:rPr lang="zh-CN" altLang="en-US" sz="2800" b="1" dirty="0">
                <a:solidFill>
                  <a:srgbClr val="000066"/>
                </a:solidFill>
              </a:rPr>
              <a:t>数据流 </a:t>
            </a:r>
          </a:p>
          <a:p>
            <a:pPr marL="228600" lvl="1" eaLnBrk="1" hangingPunct="1">
              <a:lnSpc>
                <a:spcPct val="110000"/>
              </a:lnSpc>
              <a:spcBef>
                <a:spcPts val="1000"/>
              </a:spcBef>
              <a:buClr>
                <a:schemeClr val="tx1"/>
              </a:buClr>
            </a:pPr>
            <a:r>
              <a:rPr lang="zh-CN" altLang="en-US" sz="2800" b="1" dirty="0">
                <a:solidFill>
                  <a:srgbClr val="000066"/>
                </a:solidFill>
              </a:rPr>
              <a:t>数据存储 </a:t>
            </a:r>
          </a:p>
          <a:p>
            <a:pPr marL="228600" lvl="1" eaLnBrk="1" hangingPunct="1">
              <a:lnSpc>
                <a:spcPct val="110000"/>
              </a:lnSpc>
              <a:spcBef>
                <a:spcPts val="1000"/>
              </a:spcBef>
              <a:buClr>
                <a:schemeClr val="tx1"/>
              </a:buClr>
            </a:pPr>
            <a:r>
              <a:rPr lang="zh-CN" altLang="en-US" sz="2800" b="1" dirty="0">
                <a:solidFill>
                  <a:srgbClr val="000066"/>
                </a:solidFill>
              </a:rPr>
              <a:t>处理过程 </a:t>
            </a:r>
          </a:p>
          <a:p>
            <a:pPr eaLnBrk="1" hangingPunct="1">
              <a:buClr>
                <a:srgbClr val="FFFF66"/>
              </a:buClr>
            </a:pPr>
            <a:endParaRPr lang="en-US" altLang="zh-CN" sz="3600" b="1" dirty="0">
              <a:solidFill>
                <a:srgbClr val="000066"/>
              </a:solidFill>
            </a:endParaRPr>
          </a:p>
        </p:txBody>
      </p:sp>
      <p:sp>
        <p:nvSpPr>
          <p:cNvPr id="8" name="Rectangle 4"/>
          <p:cNvSpPr>
            <a:spLocks noChangeArrowheads="1"/>
          </p:cNvSpPr>
          <p:nvPr/>
        </p:nvSpPr>
        <p:spPr bwMode="auto">
          <a:xfrm>
            <a:off x="807031" y="10668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90000"/>
              </a:lnSpc>
              <a:spcBef>
                <a:spcPct val="20000"/>
              </a:spcBef>
              <a:buClr>
                <a:srgbClr val="FF0000"/>
              </a:buClr>
              <a:buSzPct val="100000"/>
              <a:buFont typeface="Wingdings" panose="05000000000000000000" pitchFamily="2" charset="2"/>
              <a:buChar char="Ø"/>
            </a:pPr>
            <a:r>
              <a:rPr kumimoji="1" lang="en-US" altLang="zh-CN" sz="3200" b="1" i="0" dirty="0">
                <a:solidFill>
                  <a:srgbClr val="000066"/>
                </a:solidFill>
                <a:latin typeface="Tahoma" panose="020B0604030504040204" pitchFamily="34" charset="0"/>
              </a:rPr>
              <a:t>  </a:t>
            </a:r>
            <a:r>
              <a:rPr kumimoji="1" lang="zh-CN" altLang="en-US" sz="3200" b="1" i="0" dirty="0">
                <a:solidFill>
                  <a:srgbClr val="000066"/>
                </a:solidFill>
                <a:latin typeface="Tahoma" panose="020B0604030504040204" pitchFamily="34" charset="0"/>
              </a:rPr>
              <a:t>数据字典的内容：</a:t>
            </a:r>
          </a:p>
        </p:txBody>
      </p:sp>
      <p:sp>
        <p:nvSpPr>
          <p:cNvPr id="9" name="Rectangle 5"/>
          <p:cNvSpPr>
            <a:spLocks noChangeArrowheads="1"/>
          </p:cNvSpPr>
          <p:nvPr/>
        </p:nvSpPr>
        <p:spPr bwMode="auto">
          <a:xfrm>
            <a:off x="1106905" y="5255217"/>
            <a:ext cx="1009303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ct val="30000"/>
              </a:spcBef>
              <a:buClr>
                <a:schemeClr val="tx1"/>
              </a:buClr>
            </a:pPr>
            <a:r>
              <a:rPr kumimoji="1" lang="zh-CN" altLang="en-US" sz="2800" b="1" i="0" dirty="0">
                <a:solidFill>
                  <a:srgbClr val="000066"/>
                </a:solidFill>
                <a:latin typeface="Tahoma" panose="020B0604030504040204" pitchFamily="34" charset="0"/>
              </a:rPr>
              <a:t>数据字典通过对数据项和数据结构的定义来描述数据流、数据存储的逻辑内容。</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8.2.3 </a:t>
            </a:r>
            <a:r>
              <a:rPr lang="zh-CN" altLang="en-US" sz="2800" b="1" dirty="0">
                <a:solidFill>
                  <a:schemeClr val="bg1"/>
                </a:solidFill>
                <a:latin typeface="微软雅黑" panose="020B0503020204020204" pitchFamily="34" charset="-122"/>
                <a:ea typeface="微软雅黑" panose="020B0503020204020204" pitchFamily="34" charset="-122"/>
              </a:rPr>
              <a:t>数据字典</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59323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609600" y="1385452"/>
            <a:ext cx="10550236" cy="1824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chemeClr val="tx1"/>
              </a:buClr>
            </a:pPr>
            <a:r>
              <a:rPr lang="zh-CN" altLang="en-US" sz="2400" b="1" dirty="0">
                <a:solidFill>
                  <a:srgbClr val="000066"/>
                </a:solidFill>
                <a:latin typeface="楷体_GB2312" pitchFamily="49" charset="-122"/>
                <a:ea typeface="楷体_GB2312" pitchFamily="49" charset="-122"/>
              </a:rPr>
              <a:t>数据项是不可再分的数据单位。</a:t>
            </a:r>
          </a:p>
          <a:p>
            <a:pPr eaLnBrk="1" hangingPunct="1">
              <a:spcBef>
                <a:spcPct val="60000"/>
              </a:spcBef>
              <a:buClr>
                <a:schemeClr val="tx1"/>
              </a:buClr>
            </a:pPr>
            <a:r>
              <a:rPr lang="zh-CN" altLang="en-US" sz="2400" b="1" dirty="0">
                <a:solidFill>
                  <a:srgbClr val="CC3300"/>
                </a:solidFill>
                <a:latin typeface="Arial" panose="020B0604020202020204" pitchFamily="34" charset="0"/>
                <a:ea typeface="楷体_GB2312" pitchFamily="49" charset="-122"/>
              </a:rPr>
              <a:t>数据项描述｛数据项名，数据项含义说明，别名，数据类型，长度，取值范围，取值含义，与其他数据项的逻辑关系｝</a:t>
            </a:r>
          </a:p>
        </p:txBody>
      </p:sp>
      <p:sp>
        <p:nvSpPr>
          <p:cNvPr id="8" name="Rectangle 4"/>
          <p:cNvSpPr>
            <a:spLocks noChangeArrowheads="1"/>
          </p:cNvSpPr>
          <p:nvPr/>
        </p:nvSpPr>
        <p:spPr bwMode="auto">
          <a:xfrm>
            <a:off x="381000" y="775852"/>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FF66"/>
              </a:buClr>
              <a:buSzPct val="75000"/>
              <a:buFont typeface="Wingdings" panose="05000000000000000000" pitchFamily="2" charset="2"/>
              <a:buNone/>
            </a:pPr>
            <a:r>
              <a:rPr kumimoji="1" lang="en-US" altLang="zh-CN" sz="3200" b="1" i="0">
                <a:solidFill>
                  <a:srgbClr val="CC3300"/>
                </a:solidFill>
                <a:latin typeface="Tahoma" panose="020B0604030504040204" pitchFamily="34" charset="0"/>
              </a:rPr>
              <a:t>1. </a:t>
            </a:r>
            <a:r>
              <a:rPr kumimoji="1" lang="zh-CN" altLang="en-US" sz="3200" b="1" i="0">
                <a:solidFill>
                  <a:srgbClr val="CC3300"/>
                </a:solidFill>
                <a:latin typeface="Tahoma" panose="020B0604030504040204" pitchFamily="34" charset="0"/>
              </a:rPr>
              <a:t>数据项</a:t>
            </a:r>
          </a:p>
        </p:txBody>
      </p:sp>
      <p:sp>
        <p:nvSpPr>
          <p:cNvPr id="9" name="Rectangle 5"/>
          <p:cNvSpPr>
            <a:spLocks noChangeArrowheads="1"/>
          </p:cNvSpPr>
          <p:nvPr/>
        </p:nvSpPr>
        <p:spPr bwMode="auto">
          <a:xfrm>
            <a:off x="611188" y="2872536"/>
            <a:ext cx="806450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buClr>
                <a:schemeClr val="accent1"/>
              </a:buClr>
            </a:pPr>
            <a:r>
              <a:rPr kumimoji="1" lang="zh-CN" altLang="en-US" sz="2400" b="1" i="0" dirty="0">
                <a:solidFill>
                  <a:srgbClr val="CC3300"/>
                </a:solidFill>
                <a:latin typeface="楷体_GB2312" pitchFamily="49" charset="-122"/>
                <a:ea typeface="楷体_GB2312" pitchFamily="49" charset="-122"/>
              </a:rPr>
              <a:t>数据项：以</a:t>
            </a:r>
            <a:r>
              <a:rPr kumimoji="1" lang="zh-CN" altLang="en-US" sz="2400" b="1" i="0" dirty="0">
                <a:solidFill>
                  <a:srgbClr val="CC3300"/>
                </a:solidFill>
                <a:latin typeface="Times New Roman" panose="02020603050405020304" pitchFamily="18" charset="0"/>
                <a:ea typeface="楷体_GB2312" pitchFamily="49" charset="-122"/>
              </a:rPr>
              <a:t>“物资编号”</a:t>
            </a:r>
            <a:r>
              <a:rPr kumimoji="1" lang="zh-CN" altLang="en-US" sz="2400" b="1" i="0" dirty="0">
                <a:solidFill>
                  <a:srgbClr val="CC3300"/>
                </a:solidFill>
                <a:latin typeface="楷体_GB2312" pitchFamily="49" charset="-122"/>
                <a:ea typeface="楷体_GB2312" pitchFamily="49" charset="-122"/>
              </a:rPr>
              <a:t>为例：</a:t>
            </a:r>
          </a:p>
          <a:p>
            <a:pPr eaLnBrk="1" hangingPunct="1">
              <a:buClr>
                <a:schemeClr val="accent1"/>
              </a:buClr>
            </a:pPr>
            <a:r>
              <a:rPr kumimoji="1" lang="zh-CN" altLang="en-US" sz="2400" b="1" i="0" dirty="0">
                <a:solidFill>
                  <a:srgbClr val="000066"/>
                </a:solidFill>
                <a:latin typeface="楷体_GB2312" pitchFamily="49" charset="-122"/>
                <a:ea typeface="楷体_GB2312" pitchFamily="49" charset="-122"/>
              </a:rPr>
              <a:t>数据项名：　 物资编号</a:t>
            </a:r>
          </a:p>
          <a:p>
            <a:pPr eaLnBrk="1" hangingPunct="1">
              <a:buClr>
                <a:schemeClr val="accent1"/>
              </a:buClr>
            </a:pPr>
            <a:r>
              <a:rPr kumimoji="1" lang="zh-CN" altLang="en-US" sz="2400" b="1" i="0" dirty="0">
                <a:solidFill>
                  <a:srgbClr val="000066"/>
                </a:solidFill>
                <a:latin typeface="楷体_GB2312" pitchFamily="49" charset="-122"/>
                <a:ea typeface="楷体_GB2312" pitchFamily="49" charset="-122"/>
              </a:rPr>
              <a:t>含义说明：   库存物资唯一标识每个项目</a:t>
            </a:r>
            <a:endParaRPr kumimoji="1" lang="en-US" altLang="zh-CN" sz="2400" b="1" i="0" dirty="0">
              <a:solidFill>
                <a:srgbClr val="000066"/>
              </a:solidFill>
              <a:latin typeface="楷体_GB2312" pitchFamily="49" charset="-122"/>
              <a:ea typeface="楷体_GB2312" pitchFamily="49" charset="-122"/>
            </a:endParaRPr>
          </a:p>
          <a:p>
            <a:pPr eaLnBrk="1" hangingPunct="1">
              <a:buClr>
                <a:schemeClr val="accent1"/>
              </a:buClr>
            </a:pPr>
            <a:r>
              <a:rPr kumimoji="1" lang="zh-CN" altLang="en-US" sz="2400" b="1" i="0" dirty="0">
                <a:solidFill>
                  <a:srgbClr val="000066"/>
                </a:solidFill>
                <a:latin typeface="楷体_GB2312" pitchFamily="49" charset="-122"/>
                <a:ea typeface="楷体_GB2312" pitchFamily="49" charset="-122"/>
              </a:rPr>
              <a:t>别名：　　   库存物资编号</a:t>
            </a:r>
          </a:p>
          <a:p>
            <a:pPr eaLnBrk="1" hangingPunct="1">
              <a:buClr>
                <a:schemeClr val="accent1"/>
              </a:buClr>
            </a:pPr>
            <a:r>
              <a:rPr kumimoji="1" lang="zh-CN" altLang="en-US" sz="2400" b="1" i="0" dirty="0">
                <a:solidFill>
                  <a:srgbClr val="000066"/>
                </a:solidFill>
                <a:latin typeface="楷体_GB2312" pitchFamily="49" charset="-122"/>
                <a:ea typeface="楷体_GB2312" pitchFamily="49" charset="-122"/>
              </a:rPr>
              <a:t>类型：　　   字符型</a:t>
            </a:r>
          </a:p>
          <a:p>
            <a:pPr eaLnBrk="1" hangingPunct="1">
              <a:buClr>
                <a:schemeClr val="accent1"/>
              </a:buClr>
            </a:pPr>
            <a:r>
              <a:rPr kumimoji="1" lang="zh-CN" altLang="en-US" sz="2400" b="1" i="0" dirty="0">
                <a:solidFill>
                  <a:srgbClr val="000066"/>
                </a:solidFill>
                <a:latin typeface="楷体_GB2312" pitchFamily="49" charset="-122"/>
                <a:ea typeface="楷体_GB2312" pitchFamily="49" charset="-122"/>
              </a:rPr>
              <a:t>长度：　　   </a:t>
            </a:r>
            <a:r>
              <a:rPr kumimoji="1" lang="en-US" altLang="zh-CN" sz="2400" b="1" i="0" dirty="0">
                <a:solidFill>
                  <a:srgbClr val="000066"/>
                </a:solidFill>
                <a:latin typeface="楷体_GB2312" pitchFamily="49" charset="-122"/>
                <a:ea typeface="楷体_GB2312" pitchFamily="49" charset="-122"/>
              </a:rPr>
              <a:t>4</a:t>
            </a:r>
          </a:p>
          <a:p>
            <a:pPr eaLnBrk="1" hangingPunct="1">
              <a:buClr>
                <a:schemeClr val="accent1"/>
              </a:buClr>
            </a:pPr>
            <a:r>
              <a:rPr kumimoji="1" lang="zh-CN" altLang="en-US" sz="2400" b="1" i="0" dirty="0">
                <a:solidFill>
                  <a:srgbClr val="000066"/>
                </a:solidFill>
                <a:latin typeface="楷体_GB2312" pitchFamily="49" charset="-122"/>
                <a:ea typeface="楷体_GB2312" pitchFamily="49" charset="-122"/>
              </a:rPr>
              <a:t>取值范围： </a:t>
            </a:r>
            <a:r>
              <a:rPr kumimoji="1" lang="en-US" altLang="zh-CN" sz="2400" b="1" i="0" dirty="0">
                <a:solidFill>
                  <a:srgbClr val="000066"/>
                </a:solidFill>
                <a:latin typeface="楷体_GB2312" pitchFamily="49" charset="-122"/>
                <a:ea typeface="楷体_GB2312" pitchFamily="49" charset="-122"/>
              </a:rPr>
              <a:t>m001-m999</a:t>
            </a:r>
          </a:p>
          <a:p>
            <a:pPr eaLnBrk="1" hangingPunct="1">
              <a:buClr>
                <a:schemeClr val="accent1"/>
              </a:buClr>
            </a:pPr>
            <a:r>
              <a:rPr kumimoji="1" lang="zh-CN" altLang="en-US" sz="2400" b="1" i="0" dirty="0">
                <a:solidFill>
                  <a:srgbClr val="000066"/>
                </a:solidFill>
                <a:latin typeface="楷体_GB2312" pitchFamily="49" charset="-122"/>
                <a:ea typeface="楷体_GB2312" pitchFamily="49" charset="-122"/>
              </a:rPr>
              <a:t>取值含义： 后</a:t>
            </a:r>
            <a:r>
              <a:rPr kumimoji="1" lang="en-US" altLang="zh-CN" sz="2400" b="1" i="0" dirty="0">
                <a:solidFill>
                  <a:srgbClr val="000066"/>
                </a:solidFill>
                <a:latin typeface="楷体_GB2312" pitchFamily="49" charset="-122"/>
                <a:ea typeface="楷体_GB2312" pitchFamily="49" charset="-122"/>
              </a:rPr>
              <a:t>3</a:t>
            </a:r>
            <a:r>
              <a:rPr kumimoji="1" lang="zh-CN" altLang="en-US" sz="2400" b="1" i="0" dirty="0">
                <a:solidFill>
                  <a:srgbClr val="000066"/>
                </a:solidFill>
                <a:latin typeface="楷体_GB2312" pitchFamily="49" charset="-122"/>
                <a:ea typeface="楷体_GB2312" pitchFamily="49" charset="-122"/>
              </a:rPr>
              <a:t>位按顺序编号。</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8.2.3 </a:t>
            </a:r>
            <a:r>
              <a:rPr lang="zh-CN" altLang="en-US" sz="2800" b="1" dirty="0">
                <a:solidFill>
                  <a:schemeClr val="bg1"/>
                </a:solidFill>
                <a:latin typeface="微软雅黑" panose="020B0503020204020204" pitchFamily="34" charset="-122"/>
                <a:ea typeface="微软雅黑" panose="020B0503020204020204" pitchFamily="34" charset="-122"/>
              </a:rPr>
              <a:t>数据字典</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9988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ox(i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ox(i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9"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620142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609599" y="1510144"/>
            <a:ext cx="10394373" cy="19500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5000"/>
              </a:lnSpc>
              <a:spcBef>
                <a:spcPct val="30000"/>
              </a:spcBef>
              <a:buClr>
                <a:schemeClr val="tx1"/>
              </a:buClr>
            </a:pPr>
            <a:r>
              <a:rPr lang="zh-CN" altLang="en-US" sz="2400" b="1" dirty="0">
                <a:solidFill>
                  <a:srgbClr val="000066"/>
                </a:solidFill>
                <a:latin typeface="楷体_GB2312" pitchFamily="49" charset="-122"/>
                <a:ea typeface="楷体_GB2312" pitchFamily="49" charset="-122"/>
              </a:rPr>
              <a:t>数据结构反映了数据之间的组合关系。</a:t>
            </a:r>
          </a:p>
          <a:p>
            <a:pPr eaLnBrk="1" hangingPunct="1">
              <a:lnSpc>
                <a:spcPct val="95000"/>
              </a:lnSpc>
              <a:spcBef>
                <a:spcPct val="30000"/>
              </a:spcBef>
              <a:buClr>
                <a:schemeClr val="tx1"/>
              </a:buClr>
            </a:pPr>
            <a:r>
              <a:rPr lang="zh-CN" altLang="en-US" sz="2400" b="1" dirty="0">
                <a:solidFill>
                  <a:srgbClr val="000066"/>
                </a:solidFill>
                <a:latin typeface="楷体_GB2312" pitchFamily="49" charset="-122"/>
                <a:ea typeface="楷体_GB2312" pitchFamily="49" charset="-122"/>
              </a:rPr>
              <a:t> 可以由若干个数据项组成，也可以由若干个数据结构组成，或由若干个数据项和数据结构混合组成。</a:t>
            </a:r>
          </a:p>
          <a:p>
            <a:pPr eaLnBrk="1" hangingPunct="1">
              <a:lnSpc>
                <a:spcPct val="95000"/>
              </a:lnSpc>
              <a:spcBef>
                <a:spcPct val="30000"/>
              </a:spcBef>
              <a:buClr>
                <a:schemeClr val="tx1"/>
              </a:buClr>
            </a:pPr>
            <a:r>
              <a:rPr lang="zh-CN" altLang="en-US" sz="2400" b="1" dirty="0">
                <a:solidFill>
                  <a:srgbClr val="CC3300"/>
                </a:solidFill>
                <a:latin typeface="Arial" panose="020B0604020202020204" pitchFamily="34" charset="0"/>
                <a:ea typeface="楷体_GB2312" pitchFamily="49" charset="-122"/>
              </a:rPr>
              <a:t>数据结构描述｛数据结构名，含义说明，组成</a:t>
            </a:r>
            <a:r>
              <a:rPr lang="en-US" altLang="zh-CN" sz="2400" b="1" dirty="0">
                <a:solidFill>
                  <a:srgbClr val="CC3300"/>
                </a:solidFill>
                <a:latin typeface="Arial" panose="020B0604020202020204" pitchFamily="34" charset="0"/>
                <a:ea typeface="楷体_GB2312" pitchFamily="49" charset="-122"/>
              </a:rPr>
              <a:t>:</a:t>
            </a:r>
            <a:r>
              <a:rPr lang="zh-CN" altLang="en-US" sz="2400" b="1" dirty="0">
                <a:solidFill>
                  <a:srgbClr val="CC3300"/>
                </a:solidFill>
                <a:latin typeface="Arial" panose="020B0604020202020204" pitchFamily="34" charset="0"/>
                <a:ea typeface="楷体_GB2312" pitchFamily="49" charset="-122"/>
              </a:rPr>
              <a:t>｛数据项或数据结构｝｝</a:t>
            </a:r>
          </a:p>
        </p:txBody>
      </p:sp>
      <p:sp>
        <p:nvSpPr>
          <p:cNvPr id="8" name="Rectangle 4"/>
          <p:cNvSpPr>
            <a:spLocks noChangeArrowheads="1"/>
          </p:cNvSpPr>
          <p:nvPr/>
        </p:nvSpPr>
        <p:spPr bwMode="auto">
          <a:xfrm>
            <a:off x="381000" y="900544"/>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FF66"/>
              </a:buClr>
              <a:buSzPct val="75000"/>
              <a:buFont typeface="Wingdings" panose="05000000000000000000" pitchFamily="2" charset="2"/>
              <a:buNone/>
            </a:pPr>
            <a:r>
              <a:rPr kumimoji="1" lang="en-US" altLang="zh-CN" sz="3200" b="1" i="0">
                <a:solidFill>
                  <a:srgbClr val="CC3300"/>
                </a:solidFill>
                <a:latin typeface="Tahoma" panose="020B0604030504040204" pitchFamily="34" charset="0"/>
              </a:rPr>
              <a:t>2. </a:t>
            </a:r>
            <a:r>
              <a:rPr kumimoji="1" lang="zh-CN" altLang="en-US" sz="3200" b="1" i="0">
                <a:solidFill>
                  <a:srgbClr val="CC3300"/>
                </a:solidFill>
                <a:latin typeface="Tahoma" panose="020B0604030504040204" pitchFamily="34" charset="0"/>
              </a:rPr>
              <a:t>数据结构</a:t>
            </a:r>
          </a:p>
        </p:txBody>
      </p:sp>
      <p:sp>
        <p:nvSpPr>
          <p:cNvPr id="9" name="Rectangle 5"/>
          <p:cNvSpPr>
            <a:spLocks noChangeArrowheads="1"/>
          </p:cNvSpPr>
          <p:nvPr/>
        </p:nvSpPr>
        <p:spPr bwMode="auto">
          <a:xfrm>
            <a:off x="539750" y="3694544"/>
            <a:ext cx="11200216"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400" b="1" i="0" dirty="0">
                <a:solidFill>
                  <a:srgbClr val="CC3300"/>
                </a:solidFill>
                <a:latin typeface="楷体_GB2312" pitchFamily="49" charset="-122"/>
                <a:ea typeface="楷体_GB2312" pitchFamily="49" charset="-122"/>
              </a:rPr>
              <a:t>数据结构 </a:t>
            </a:r>
            <a:r>
              <a:rPr lang="en-US" altLang="zh-CN" sz="2400" b="1" i="0" dirty="0">
                <a:solidFill>
                  <a:srgbClr val="CC3300"/>
                </a:solidFill>
                <a:latin typeface="楷体_GB2312" pitchFamily="49" charset="-122"/>
                <a:ea typeface="楷体_GB2312" pitchFamily="49" charset="-122"/>
              </a:rPr>
              <a:t>:    </a:t>
            </a:r>
            <a:r>
              <a:rPr lang="zh-CN" altLang="en-US" sz="2400" b="1" i="0" dirty="0">
                <a:solidFill>
                  <a:srgbClr val="CC3300"/>
                </a:solidFill>
                <a:latin typeface="楷体_GB2312" pitchFamily="49" charset="-122"/>
                <a:ea typeface="楷体_GB2312" pitchFamily="49" charset="-122"/>
              </a:rPr>
              <a:t>以</a:t>
            </a:r>
            <a:r>
              <a:rPr lang="zh-CN" altLang="en-US" sz="2400" b="1" i="0" dirty="0">
                <a:solidFill>
                  <a:srgbClr val="CC3300"/>
                </a:solidFill>
                <a:ea typeface="楷体_GB2312" pitchFamily="49" charset="-122"/>
              </a:rPr>
              <a:t>“抢修物资”</a:t>
            </a:r>
            <a:r>
              <a:rPr lang="zh-CN" altLang="en-US" sz="2400" b="1" i="0" dirty="0">
                <a:solidFill>
                  <a:srgbClr val="CC3300"/>
                </a:solidFill>
                <a:latin typeface="楷体_GB2312" pitchFamily="49" charset="-122"/>
                <a:ea typeface="楷体_GB2312" pitchFamily="49" charset="-122"/>
              </a:rPr>
              <a:t>为例</a:t>
            </a:r>
          </a:p>
          <a:p>
            <a:pPr eaLnBrk="1" hangingPunct="1">
              <a:spcBef>
                <a:spcPct val="20000"/>
              </a:spcBef>
            </a:pPr>
            <a:r>
              <a:rPr lang="zh-CN" altLang="en-US" sz="2400" b="1" i="0" dirty="0">
                <a:solidFill>
                  <a:srgbClr val="000066"/>
                </a:solidFill>
                <a:latin typeface="楷体_GB2312" pitchFamily="49" charset="-122"/>
                <a:ea typeface="楷体_GB2312" pitchFamily="49" charset="-122"/>
              </a:rPr>
              <a:t>数据结构名：抢修物资</a:t>
            </a:r>
            <a:endParaRPr lang="en-US" altLang="zh-CN" sz="2400" b="1" i="0" dirty="0">
              <a:solidFill>
                <a:srgbClr val="000066"/>
              </a:solidFill>
              <a:latin typeface="楷体_GB2312" pitchFamily="49" charset="-122"/>
              <a:ea typeface="楷体_GB2312" pitchFamily="49" charset="-122"/>
            </a:endParaRPr>
          </a:p>
          <a:p>
            <a:pPr eaLnBrk="1" hangingPunct="1">
              <a:spcBef>
                <a:spcPct val="20000"/>
              </a:spcBef>
            </a:pPr>
            <a:r>
              <a:rPr lang="zh-CN" altLang="en-US" sz="2400" b="1" i="0" dirty="0">
                <a:solidFill>
                  <a:srgbClr val="000066"/>
                </a:solidFill>
                <a:latin typeface="楷体_GB2312" pitchFamily="49" charset="-122"/>
                <a:ea typeface="楷体_GB2312" pitchFamily="49" charset="-122"/>
              </a:rPr>
              <a:t>含义说明：</a:t>
            </a:r>
            <a:r>
              <a:rPr lang="zh-CN" altLang="zh-CN" sz="2400" b="1" i="0" dirty="0">
                <a:solidFill>
                  <a:srgbClr val="000066"/>
                </a:solidFill>
                <a:latin typeface="楷体_GB2312" pitchFamily="49" charset="-122"/>
                <a:ea typeface="楷体_GB2312" pitchFamily="49" charset="-122"/>
              </a:rPr>
              <a:t>电网设备抢修物资管理</a:t>
            </a:r>
            <a:r>
              <a:rPr lang="zh-CN" altLang="en-US" sz="2400" b="1" i="0" dirty="0">
                <a:solidFill>
                  <a:srgbClr val="000066"/>
                </a:solidFill>
                <a:latin typeface="楷体_GB2312" pitchFamily="49" charset="-122"/>
                <a:ea typeface="楷体_GB2312" pitchFamily="49" charset="-122"/>
              </a:rPr>
              <a:t>系统的主体数据结构，定义了仓库中库存的抢</a:t>
            </a:r>
            <a:endParaRPr lang="en-US" altLang="zh-CN" sz="2400" b="1" i="0" dirty="0">
              <a:solidFill>
                <a:srgbClr val="000066"/>
              </a:solidFill>
              <a:latin typeface="楷体_GB2312" pitchFamily="49" charset="-122"/>
              <a:ea typeface="楷体_GB2312" pitchFamily="49" charset="-122"/>
            </a:endParaRPr>
          </a:p>
          <a:p>
            <a:pPr eaLnBrk="1" hangingPunct="1">
              <a:spcBef>
                <a:spcPct val="20000"/>
              </a:spcBef>
            </a:pPr>
            <a:r>
              <a:rPr lang="en-US" altLang="zh-CN" sz="2400" b="1" i="0" dirty="0">
                <a:solidFill>
                  <a:srgbClr val="000066"/>
                </a:solidFill>
                <a:latin typeface="楷体_GB2312" pitchFamily="49" charset="-122"/>
                <a:ea typeface="楷体_GB2312" pitchFamily="49" charset="-122"/>
              </a:rPr>
              <a:t>       </a:t>
            </a:r>
            <a:r>
              <a:rPr lang="zh-CN" altLang="en-US" sz="2400" b="1" i="0" dirty="0">
                <a:solidFill>
                  <a:srgbClr val="000066"/>
                </a:solidFill>
                <a:latin typeface="楷体_GB2312" pitchFamily="49" charset="-122"/>
                <a:ea typeface="楷体_GB2312" pitchFamily="49" charset="-122"/>
              </a:rPr>
              <a:t>   修物资的有关信息。</a:t>
            </a:r>
          </a:p>
          <a:p>
            <a:pPr eaLnBrk="1" hangingPunct="1">
              <a:spcBef>
                <a:spcPct val="20000"/>
              </a:spcBef>
            </a:pPr>
            <a:r>
              <a:rPr lang="zh-CN" altLang="en-US" sz="2400" b="1" i="0" dirty="0">
                <a:solidFill>
                  <a:srgbClr val="000066"/>
                </a:solidFill>
                <a:latin typeface="楷体_GB2312" pitchFamily="49" charset="-122"/>
                <a:ea typeface="楷体_GB2312" pitchFamily="49" charset="-122"/>
              </a:rPr>
              <a:t>组    成：物资编号，物资名称，物资规格，保存的仓库，库存数量，单价。                        </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8.2.3 </a:t>
            </a:r>
            <a:r>
              <a:rPr lang="zh-CN" altLang="en-US" sz="2800" b="1" dirty="0">
                <a:solidFill>
                  <a:schemeClr val="bg1"/>
                </a:solidFill>
                <a:latin typeface="微软雅黑" panose="020B0503020204020204" pitchFamily="34" charset="-122"/>
                <a:ea typeface="微软雅黑" panose="020B0503020204020204" pitchFamily="34" charset="-122"/>
              </a:rPr>
              <a:t>数据字典</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2574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953452"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a:spLocks noChangeArrowheads="1"/>
          </p:cNvSpPr>
          <p:nvPr/>
        </p:nvSpPr>
        <p:spPr bwMode="auto">
          <a:xfrm>
            <a:off x="381000" y="931717"/>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FF66"/>
              </a:buClr>
              <a:buSzPct val="75000"/>
              <a:buFont typeface="Wingdings" panose="05000000000000000000" pitchFamily="2" charset="2"/>
              <a:buNone/>
            </a:pPr>
            <a:r>
              <a:rPr kumimoji="1" lang="en-US" altLang="zh-CN" sz="3200" b="1" i="0">
                <a:solidFill>
                  <a:srgbClr val="CC3300"/>
                </a:solidFill>
                <a:latin typeface="Tahoma" panose="020B0604030504040204" pitchFamily="34" charset="0"/>
              </a:rPr>
              <a:t>3. </a:t>
            </a:r>
            <a:r>
              <a:rPr kumimoji="1" lang="zh-CN" altLang="en-US" sz="3200" b="1" i="0">
                <a:solidFill>
                  <a:srgbClr val="CC3300"/>
                </a:solidFill>
                <a:latin typeface="Tahoma" panose="020B0604030504040204" pitchFamily="34" charset="0"/>
              </a:rPr>
              <a:t>数据流</a:t>
            </a:r>
          </a:p>
        </p:txBody>
      </p:sp>
      <p:sp>
        <p:nvSpPr>
          <p:cNvPr id="8" name="Rectangle 4"/>
          <p:cNvSpPr txBox="1">
            <a:spLocks noChangeArrowheads="1"/>
          </p:cNvSpPr>
          <p:nvPr/>
        </p:nvSpPr>
        <p:spPr bwMode="auto">
          <a:xfrm>
            <a:off x="685799" y="1541317"/>
            <a:ext cx="9954491" cy="25347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Clr>
                <a:schemeClr val="tx1"/>
              </a:buClr>
              <a:buFont typeface="Wingdings" panose="05000000000000000000" pitchFamily="2" charset="2"/>
              <a:buChar char="l"/>
            </a:pPr>
            <a:r>
              <a:rPr lang="en-US" altLang="zh-CN" sz="2400" b="1" dirty="0">
                <a:solidFill>
                  <a:srgbClr val="000066"/>
                </a:solidFill>
                <a:latin typeface="楷体_GB2312" pitchFamily="49" charset="-122"/>
                <a:ea typeface="楷体_GB2312" pitchFamily="49" charset="-122"/>
              </a:rPr>
              <a:t> </a:t>
            </a:r>
            <a:r>
              <a:rPr lang="zh-CN" altLang="en-US" sz="2400" b="1" dirty="0">
                <a:solidFill>
                  <a:srgbClr val="000066"/>
                </a:solidFill>
                <a:latin typeface="楷体_GB2312" pitchFamily="49" charset="-122"/>
                <a:ea typeface="楷体_GB2312" pitchFamily="49" charset="-122"/>
              </a:rPr>
              <a:t>数据流是数据结构在系统内传输的路径。</a:t>
            </a:r>
          </a:p>
          <a:p>
            <a:pPr eaLnBrk="1" hangingPunct="1">
              <a:spcBef>
                <a:spcPct val="0"/>
              </a:spcBef>
              <a:buClr>
                <a:schemeClr val="tx1"/>
              </a:buClr>
              <a:buFont typeface="Wingdings" panose="05000000000000000000" pitchFamily="2" charset="2"/>
              <a:buChar char="l"/>
            </a:pPr>
            <a:r>
              <a:rPr lang="zh-CN" altLang="en-US" sz="2400" b="1" dirty="0">
                <a:solidFill>
                  <a:srgbClr val="000066"/>
                </a:solidFill>
                <a:latin typeface="楷体_GB2312" pitchFamily="49" charset="-122"/>
                <a:ea typeface="楷体_GB2312" pitchFamily="49" charset="-122"/>
              </a:rPr>
              <a:t> </a:t>
            </a:r>
            <a:r>
              <a:rPr lang="zh-CN" altLang="en-US" sz="2400" b="1" dirty="0">
                <a:solidFill>
                  <a:srgbClr val="CC3300"/>
                </a:solidFill>
                <a:latin typeface="楷体_GB2312" pitchFamily="49" charset="-122"/>
                <a:ea typeface="楷体_GB2312" pitchFamily="49" charset="-122"/>
              </a:rPr>
              <a:t>数据流描述｛数据流名，说明，数据流来源，数据流去向，组成</a:t>
            </a:r>
            <a:r>
              <a:rPr lang="en-US" altLang="zh-CN" sz="2400" b="1" dirty="0">
                <a:solidFill>
                  <a:srgbClr val="CC3300"/>
                </a:solidFill>
                <a:latin typeface="楷体_GB2312" pitchFamily="49" charset="-122"/>
                <a:ea typeface="楷体_GB2312" pitchFamily="49" charset="-122"/>
              </a:rPr>
              <a:t>:</a:t>
            </a:r>
            <a:r>
              <a:rPr lang="zh-CN" altLang="en-US" sz="2400" b="1" dirty="0">
                <a:solidFill>
                  <a:srgbClr val="CC3300"/>
                </a:solidFill>
                <a:latin typeface="楷体_GB2312" pitchFamily="49" charset="-122"/>
                <a:ea typeface="楷体_GB2312" pitchFamily="49" charset="-122"/>
              </a:rPr>
              <a:t>｛数据结构｝，平均流量，高峰期流量｝</a:t>
            </a:r>
          </a:p>
          <a:p>
            <a:pPr lvl="1" eaLnBrk="1" hangingPunct="1">
              <a:spcBef>
                <a:spcPct val="0"/>
              </a:spcBef>
              <a:buClr>
                <a:schemeClr val="accent1"/>
              </a:buClr>
              <a:buFontTx/>
              <a:buChar char="–"/>
            </a:pPr>
            <a:r>
              <a:rPr lang="zh-CN" altLang="en-US" b="1" dirty="0">
                <a:solidFill>
                  <a:schemeClr val="tx2"/>
                </a:solidFill>
                <a:latin typeface="楷体_GB2312" pitchFamily="49" charset="-122"/>
                <a:ea typeface="楷体_GB2312" pitchFamily="49" charset="-122"/>
              </a:rPr>
              <a:t>数据流来源：说明该数据流来自哪个过程；</a:t>
            </a:r>
          </a:p>
          <a:p>
            <a:pPr lvl="1" eaLnBrk="1" hangingPunct="1">
              <a:spcBef>
                <a:spcPct val="0"/>
              </a:spcBef>
              <a:buClr>
                <a:schemeClr val="accent1"/>
              </a:buClr>
              <a:buFontTx/>
              <a:buChar char="–"/>
            </a:pPr>
            <a:r>
              <a:rPr lang="zh-CN" altLang="en-US" b="1" dirty="0">
                <a:solidFill>
                  <a:schemeClr val="tx2"/>
                </a:solidFill>
                <a:latin typeface="楷体_GB2312" pitchFamily="49" charset="-122"/>
                <a:ea typeface="楷体_GB2312" pitchFamily="49" charset="-122"/>
              </a:rPr>
              <a:t>数据流去向：说明该数据流将到哪个过程去；</a:t>
            </a:r>
          </a:p>
          <a:p>
            <a:pPr lvl="1" eaLnBrk="1" hangingPunct="1">
              <a:spcBef>
                <a:spcPct val="0"/>
              </a:spcBef>
              <a:buClr>
                <a:schemeClr val="accent1"/>
              </a:buClr>
              <a:buFontTx/>
              <a:buChar char="–"/>
            </a:pPr>
            <a:r>
              <a:rPr lang="zh-CN" altLang="en-US" b="1" dirty="0">
                <a:solidFill>
                  <a:schemeClr val="tx2"/>
                </a:solidFill>
                <a:latin typeface="楷体_GB2312" pitchFamily="49" charset="-122"/>
                <a:ea typeface="楷体_GB2312" pitchFamily="49" charset="-122"/>
              </a:rPr>
              <a:t>平均流量：在单位时间里的传输次数；</a:t>
            </a:r>
          </a:p>
          <a:p>
            <a:pPr lvl="1" eaLnBrk="1" hangingPunct="1">
              <a:spcBef>
                <a:spcPct val="0"/>
              </a:spcBef>
              <a:buClr>
                <a:schemeClr val="accent1"/>
              </a:buClr>
              <a:buFontTx/>
              <a:buChar char="–"/>
            </a:pPr>
            <a:r>
              <a:rPr lang="zh-CN" altLang="en-US" b="1" dirty="0">
                <a:solidFill>
                  <a:schemeClr val="tx2"/>
                </a:solidFill>
                <a:latin typeface="楷体_GB2312" pitchFamily="49" charset="-122"/>
                <a:ea typeface="楷体_GB2312" pitchFamily="49" charset="-122"/>
              </a:rPr>
              <a:t>高峰期流量：在高峰时期的数据流量。</a:t>
            </a:r>
          </a:p>
        </p:txBody>
      </p:sp>
      <p:sp>
        <p:nvSpPr>
          <p:cNvPr id="9" name="Rectangle 5"/>
          <p:cNvSpPr>
            <a:spLocks noChangeArrowheads="1"/>
          </p:cNvSpPr>
          <p:nvPr/>
        </p:nvSpPr>
        <p:spPr bwMode="auto">
          <a:xfrm>
            <a:off x="914400" y="4230542"/>
            <a:ext cx="972589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lang="zh-CN" altLang="en-US" sz="2400" b="1" i="0" dirty="0">
                <a:solidFill>
                  <a:srgbClr val="CC3300"/>
                </a:solidFill>
                <a:latin typeface="楷体_GB2312" pitchFamily="49" charset="-122"/>
                <a:ea typeface="楷体_GB2312" pitchFamily="49" charset="-122"/>
              </a:rPr>
              <a:t>数据流</a:t>
            </a:r>
            <a:r>
              <a:rPr lang="en-US" altLang="zh-CN" sz="2400" b="1" i="0" dirty="0">
                <a:solidFill>
                  <a:srgbClr val="CC3300"/>
                </a:solidFill>
                <a:latin typeface="楷体_GB2312" pitchFamily="49" charset="-122"/>
                <a:ea typeface="楷体_GB2312" pitchFamily="49" charset="-122"/>
              </a:rPr>
              <a:t>:   </a:t>
            </a:r>
            <a:r>
              <a:rPr lang="en-US" altLang="zh-CN" sz="2400" b="1" i="0" dirty="0">
                <a:solidFill>
                  <a:srgbClr val="CC3300"/>
                </a:solidFill>
                <a:ea typeface="楷体_GB2312" pitchFamily="49" charset="-122"/>
              </a:rPr>
              <a:t>“</a:t>
            </a:r>
            <a:r>
              <a:rPr lang="zh-CN" altLang="en-US" sz="2400" b="1" i="0" dirty="0">
                <a:solidFill>
                  <a:srgbClr val="CC3300"/>
                </a:solidFill>
                <a:ea typeface="楷体_GB2312" pitchFamily="49" charset="-122"/>
              </a:rPr>
              <a:t>抢修物资领用单”</a:t>
            </a:r>
            <a:r>
              <a:rPr lang="zh-CN" altLang="en-US" sz="2400" b="1" i="0" dirty="0">
                <a:solidFill>
                  <a:srgbClr val="CC3300"/>
                </a:solidFill>
                <a:latin typeface="楷体_GB2312" pitchFamily="49" charset="-122"/>
                <a:ea typeface="楷体_GB2312" pitchFamily="49" charset="-122"/>
              </a:rPr>
              <a:t>可如下描述：</a:t>
            </a:r>
          </a:p>
          <a:p>
            <a:pPr eaLnBrk="1" hangingPunct="1"/>
            <a:r>
              <a:rPr lang="zh-CN" altLang="en-US" sz="2400" b="1" i="0" dirty="0">
                <a:solidFill>
                  <a:srgbClr val="000066"/>
                </a:solidFill>
                <a:latin typeface="楷体_GB2312" pitchFamily="49" charset="-122"/>
                <a:ea typeface="楷体_GB2312" pitchFamily="49" charset="-122"/>
              </a:rPr>
              <a:t>    数据流：　　抢修物资领用单</a:t>
            </a:r>
            <a:endParaRPr lang="en-US" altLang="zh-CN" sz="2400" b="1" i="0" dirty="0">
              <a:solidFill>
                <a:srgbClr val="000066"/>
              </a:solidFill>
              <a:latin typeface="楷体_GB2312" pitchFamily="49" charset="-122"/>
              <a:ea typeface="楷体_GB2312" pitchFamily="49" charset="-122"/>
            </a:endParaRPr>
          </a:p>
          <a:p>
            <a:pPr eaLnBrk="1" hangingPunct="1"/>
            <a:r>
              <a:rPr lang="zh-CN" altLang="en-US" sz="2400" b="1" i="0" dirty="0">
                <a:solidFill>
                  <a:srgbClr val="000066"/>
                </a:solidFill>
                <a:latin typeface="楷体_GB2312" pitchFamily="49" charset="-122"/>
                <a:ea typeface="楷体_GB2312" pitchFamily="49" charset="-122"/>
              </a:rPr>
              <a:t>    说  明：　　抢修工程需要用到的抢修物资领用信息</a:t>
            </a:r>
          </a:p>
          <a:p>
            <a:pPr eaLnBrk="1" hangingPunct="1"/>
            <a:r>
              <a:rPr lang="zh-CN" altLang="en-US" sz="2400" b="1" i="0" dirty="0">
                <a:solidFill>
                  <a:srgbClr val="000066"/>
                </a:solidFill>
                <a:latin typeface="楷体_GB2312" pitchFamily="49" charset="-122"/>
                <a:ea typeface="楷体_GB2312" pitchFamily="49" charset="-122"/>
              </a:rPr>
              <a:t>    数据流来源：抢修计划</a:t>
            </a:r>
          </a:p>
          <a:p>
            <a:pPr eaLnBrk="1" hangingPunct="1"/>
            <a:r>
              <a:rPr lang="zh-CN" altLang="en-US" sz="2400" b="1" i="0" dirty="0">
                <a:solidFill>
                  <a:srgbClr val="000066"/>
                </a:solidFill>
                <a:latin typeface="楷体_GB2312" pitchFamily="49" charset="-122"/>
                <a:ea typeface="楷体_GB2312" pitchFamily="49" charset="-122"/>
              </a:rPr>
              <a:t>    数据流去向：抢修物资出库</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8.2.3 </a:t>
            </a:r>
            <a:r>
              <a:rPr lang="zh-CN" altLang="en-US" sz="2800" b="1" dirty="0">
                <a:solidFill>
                  <a:schemeClr val="bg1"/>
                </a:solidFill>
                <a:latin typeface="微软雅黑" panose="020B0503020204020204" pitchFamily="34" charset="-122"/>
                <a:ea typeface="微软雅黑" panose="020B0503020204020204" pitchFamily="34" charset="-122"/>
              </a:rPr>
              <a:t>数据字典</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03333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850130"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a:spLocks noChangeArrowheads="1"/>
          </p:cNvSpPr>
          <p:nvPr/>
        </p:nvSpPr>
        <p:spPr bwMode="auto">
          <a:xfrm>
            <a:off x="381000" y="931717"/>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FF66"/>
              </a:buClr>
              <a:buSzPct val="75000"/>
              <a:buFont typeface="Wingdings" panose="05000000000000000000" pitchFamily="2" charset="2"/>
              <a:buNone/>
            </a:pPr>
            <a:r>
              <a:rPr kumimoji="1" lang="en-US" altLang="zh-CN" sz="3200" b="1" i="0">
                <a:solidFill>
                  <a:srgbClr val="CC3300"/>
                </a:solidFill>
                <a:latin typeface="Tahoma" panose="020B0604030504040204" pitchFamily="34" charset="0"/>
              </a:rPr>
              <a:t>4. </a:t>
            </a:r>
            <a:r>
              <a:rPr kumimoji="1" lang="zh-CN" altLang="en-US" sz="3200" b="1" i="0">
                <a:solidFill>
                  <a:srgbClr val="CC3300"/>
                </a:solidFill>
                <a:latin typeface="Tahoma" panose="020B0604030504040204" pitchFamily="34" charset="0"/>
              </a:rPr>
              <a:t>数据存储</a:t>
            </a:r>
          </a:p>
        </p:txBody>
      </p:sp>
      <p:sp>
        <p:nvSpPr>
          <p:cNvPr id="8" name="Rectangle 4"/>
          <p:cNvSpPr txBox="1">
            <a:spLocks noChangeArrowheads="1"/>
          </p:cNvSpPr>
          <p:nvPr/>
        </p:nvSpPr>
        <p:spPr bwMode="auto">
          <a:xfrm>
            <a:off x="493713" y="1465117"/>
            <a:ext cx="10364787"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5000"/>
              </a:lnSpc>
            </a:pPr>
            <a:r>
              <a:rPr lang="zh-CN" altLang="en-US" sz="2400" b="1" dirty="0">
                <a:solidFill>
                  <a:srgbClr val="000066"/>
                </a:solidFill>
                <a:latin typeface="楷体_GB2312" pitchFamily="49" charset="-122"/>
                <a:ea typeface="楷体_GB2312" pitchFamily="49" charset="-122"/>
              </a:rPr>
              <a:t>数据存储是数据结构停留或保存的地方，也是数据流的来源和去向之一。</a:t>
            </a:r>
          </a:p>
          <a:p>
            <a:pPr eaLnBrk="1" hangingPunct="1">
              <a:lnSpc>
                <a:spcPct val="115000"/>
              </a:lnSpc>
            </a:pPr>
            <a:r>
              <a:rPr lang="zh-CN" altLang="en-US" sz="2400" b="1" dirty="0">
                <a:solidFill>
                  <a:srgbClr val="CC3300"/>
                </a:solidFill>
                <a:latin typeface="楷体_GB2312" pitchFamily="49" charset="-122"/>
                <a:ea typeface="楷体_GB2312" pitchFamily="49" charset="-122"/>
              </a:rPr>
              <a:t>数据存储描述｛数据存储名，说明，编号，输入的数据流 ，输出的数据流 ，组成</a:t>
            </a:r>
            <a:r>
              <a:rPr lang="en-US" altLang="zh-CN" sz="2400" b="1" dirty="0">
                <a:solidFill>
                  <a:srgbClr val="CC3300"/>
                </a:solidFill>
                <a:latin typeface="楷体_GB2312" pitchFamily="49" charset="-122"/>
                <a:ea typeface="楷体_GB2312" pitchFamily="49" charset="-122"/>
              </a:rPr>
              <a:t>:</a:t>
            </a:r>
            <a:r>
              <a:rPr lang="zh-CN" altLang="en-US" sz="2400" b="1" dirty="0">
                <a:solidFill>
                  <a:srgbClr val="CC3300"/>
                </a:solidFill>
                <a:latin typeface="楷体_GB2312" pitchFamily="49" charset="-122"/>
                <a:ea typeface="楷体_GB2312" pitchFamily="49" charset="-122"/>
              </a:rPr>
              <a:t>｛数据结构｝，数据量，存取频度，存取方式｝</a:t>
            </a:r>
          </a:p>
        </p:txBody>
      </p:sp>
      <p:sp>
        <p:nvSpPr>
          <p:cNvPr id="9" name="Rectangle 5"/>
          <p:cNvSpPr>
            <a:spLocks noChangeArrowheads="1"/>
          </p:cNvSpPr>
          <p:nvPr/>
        </p:nvSpPr>
        <p:spPr bwMode="auto">
          <a:xfrm>
            <a:off x="539750" y="3798742"/>
            <a:ext cx="777240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20000"/>
              </a:spcBef>
            </a:pPr>
            <a:r>
              <a:rPr lang="zh-CN" altLang="en-US" sz="2400" b="1" i="0" dirty="0">
                <a:solidFill>
                  <a:srgbClr val="CC3300"/>
                </a:solidFill>
                <a:latin typeface="楷体_GB2312" pitchFamily="49" charset="-122"/>
                <a:ea typeface="楷体_GB2312" pitchFamily="49" charset="-122"/>
              </a:rPr>
              <a:t>数据存储</a:t>
            </a:r>
            <a:r>
              <a:rPr lang="en-US" altLang="zh-CN" sz="2400" b="1" i="0" dirty="0">
                <a:solidFill>
                  <a:srgbClr val="CC3300"/>
                </a:solidFill>
                <a:latin typeface="楷体_GB2312" pitchFamily="49" charset="-122"/>
                <a:ea typeface="楷体_GB2312" pitchFamily="49" charset="-122"/>
              </a:rPr>
              <a:t>:   </a:t>
            </a:r>
            <a:r>
              <a:rPr lang="en-US" altLang="zh-CN" sz="2400" b="1" i="0" dirty="0">
                <a:solidFill>
                  <a:srgbClr val="CC3300"/>
                </a:solidFill>
                <a:ea typeface="楷体_GB2312" pitchFamily="49" charset="-122"/>
              </a:rPr>
              <a:t>“</a:t>
            </a:r>
            <a:r>
              <a:rPr lang="zh-CN" altLang="en-US" sz="2400" b="1" i="0" dirty="0">
                <a:solidFill>
                  <a:srgbClr val="CC3300"/>
                </a:solidFill>
                <a:ea typeface="楷体_GB2312" pitchFamily="49" charset="-122"/>
              </a:rPr>
              <a:t>抢修物资库存信息”</a:t>
            </a:r>
            <a:r>
              <a:rPr lang="zh-CN" altLang="en-US" sz="2400" b="1" i="0" dirty="0">
                <a:solidFill>
                  <a:srgbClr val="CC3300"/>
                </a:solidFill>
                <a:latin typeface="楷体_GB2312" pitchFamily="49" charset="-122"/>
                <a:ea typeface="楷体_GB2312" pitchFamily="49" charset="-122"/>
              </a:rPr>
              <a:t>可如下描述：</a:t>
            </a:r>
          </a:p>
          <a:p>
            <a:pPr eaLnBrk="1" hangingPunct="1">
              <a:lnSpc>
                <a:spcPct val="115000"/>
              </a:lnSpc>
              <a:spcBef>
                <a:spcPct val="20000"/>
              </a:spcBef>
            </a:pPr>
            <a:r>
              <a:rPr lang="zh-CN" altLang="en-US" sz="2400" b="1" i="0" dirty="0">
                <a:solidFill>
                  <a:srgbClr val="000066"/>
                </a:solidFill>
                <a:latin typeface="楷体_GB2312" pitchFamily="49" charset="-122"/>
                <a:ea typeface="楷体_GB2312" pitchFamily="49" charset="-122"/>
              </a:rPr>
              <a:t>  数据存储：　抢修物资库存记录表</a:t>
            </a:r>
          </a:p>
          <a:p>
            <a:pPr eaLnBrk="1" hangingPunct="1">
              <a:lnSpc>
                <a:spcPct val="115000"/>
              </a:lnSpc>
              <a:spcBef>
                <a:spcPct val="20000"/>
              </a:spcBef>
            </a:pPr>
            <a:r>
              <a:rPr lang="zh-CN" altLang="en-US" sz="2400" b="1" i="0" dirty="0">
                <a:solidFill>
                  <a:srgbClr val="000066"/>
                </a:solidFill>
                <a:latin typeface="楷体_GB2312" pitchFamily="49" charset="-122"/>
                <a:ea typeface="楷体_GB2312" pitchFamily="49" charset="-122"/>
              </a:rPr>
              <a:t>  说  明：　　记录库存的抢修物资的基本情况</a:t>
            </a:r>
          </a:p>
          <a:p>
            <a:pPr eaLnBrk="1" hangingPunct="1">
              <a:lnSpc>
                <a:spcPct val="115000"/>
              </a:lnSpc>
              <a:spcBef>
                <a:spcPct val="20000"/>
              </a:spcBef>
            </a:pPr>
            <a:r>
              <a:rPr lang="zh-CN" altLang="en-US" sz="2400" b="1" i="0" dirty="0">
                <a:solidFill>
                  <a:srgbClr val="000066"/>
                </a:solidFill>
                <a:latin typeface="楷体_GB2312" pitchFamily="49" charset="-122"/>
                <a:ea typeface="楷体_GB2312" pitchFamily="49" charset="-122"/>
              </a:rPr>
              <a:t>  数据量：　　每年</a:t>
            </a:r>
            <a:r>
              <a:rPr lang="en-US" altLang="zh-CN" sz="2400" b="1" i="0" dirty="0">
                <a:solidFill>
                  <a:srgbClr val="000066"/>
                </a:solidFill>
                <a:latin typeface="楷体_GB2312" pitchFamily="49" charset="-122"/>
                <a:ea typeface="楷体_GB2312" pitchFamily="49" charset="-122"/>
              </a:rPr>
              <a:t>3000</a:t>
            </a:r>
            <a:r>
              <a:rPr lang="zh-CN" altLang="en-US" sz="2400" b="1" i="0" dirty="0">
                <a:solidFill>
                  <a:srgbClr val="000066"/>
                </a:solidFill>
                <a:latin typeface="楷体_GB2312" pitchFamily="49" charset="-122"/>
                <a:ea typeface="楷体_GB2312" pitchFamily="49" charset="-122"/>
              </a:rPr>
              <a:t>张</a:t>
            </a:r>
          </a:p>
          <a:p>
            <a:pPr eaLnBrk="1" hangingPunct="1">
              <a:lnSpc>
                <a:spcPct val="115000"/>
              </a:lnSpc>
              <a:spcBef>
                <a:spcPct val="20000"/>
              </a:spcBef>
            </a:pPr>
            <a:r>
              <a:rPr lang="zh-CN" altLang="en-US" sz="2400" b="1" i="0" dirty="0">
                <a:solidFill>
                  <a:srgbClr val="000066"/>
                </a:solidFill>
                <a:latin typeface="楷体_GB2312" pitchFamily="49" charset="-122"/>
                <a:ea typeface="楷体_GB2312" pitchFamily="49" charset="-122"/>
              </a:rPr>
              <a:t>  存取方式：　随机存取</a:t>
            </a:r>
          </a:p>
          <a:p>
            <a:pPr eaLnBrk="1" hangingPunct="1">
              <a:lnSpc>
                <a:spcPct val="80000"/>
              </a:lnSpc>
              <a:spcBef>
                <a:spcPct val="20000"/>
              </a:spcBef>
            </a:pPr>
            <a:r>
              <a:rPr lang="zh-CN" altLang="en-US" sz="2400" b="1" i="0" dirty="0">
                <a:solidFill>
                  <a:srgbClr val="000066"/>
                </a:solidFill>
                <a:latin typeface="楷体_GB2312" pitchFamily="49" charset="-122"/>
                <a:ea typeface="楷体_GB2312" pitchFamily="49" charset="-122"/>
              </a:rPr>
              <a:t>    </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8.2.3 </a:t>
            </a:r>
            <a:r>
              <a:rPr lang="zh-CN" altLang="en-US" sz="2800" b="1" dirty="0">
                <a:solidFill>
                  <a:schemeClr val="bg1"/>
                </a:solidFill>
                <a:latin typeface="微软雅黑" panose="020B0503020204020204" pitchFamily="34" charset="-122"/>
                <a:ea typeface="微软雅黑" panose="020B0503020204020204" pitchFamily="34" charset="-122"/>
              </a:rPr>
              <a:t>数据字典</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9121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需求分析阶段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a:spLocks noChangeArrowheads="1"/>
          </p:cNvSpPr>
          <p:nvPr/>
        </p:nvSpPr>
        <p:spPr bwMode="auto">
          <a:xfrm>
            <a:off x="381000" y="10668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FF66"/>
              </a:buClr>
              <a:buSzPct val="75000"/>
              <a:buFont typeface="Wingdings" panose="05000000000000000000" pitchFamily="2" charset="2"/>
              <a:buNone/>
            </a:pPr>
            <a:r>
              <a:rPr kumimoji="1" lang="en-US" altLang="zh-CN" sz="3200" b="1" i="0">
                <a:solidFill>
                  <a:srgbClr val="CC3300"/>
                </a:solidFill>
                <a:latin typeface="Tahoma" panose="020B0604030504040204" pitchFamily="34" charset="0"/>
              </a:rPr>
              <a:t>5. </a:t>
            </a:r>
            <a:r>
              <a:rPr kumimoji="1" lang="zh-CN" altLang="en-US" sz="3200" b="1" i="0">
                <a:solidFill>
                  <a:srgbClr val="CC3300"/>
                </a:solidFill>
                <a:latin typeface="Tahoma" panose="020B0604030504040204" pitchFamily="34" charset="0"/>
              </a:rPr>
              <a:t>处理过程</a:t>
            </a:r>
          </a:p>
        </p:txBody>
      </p:sp>
      <p:sp>
        <p:nvSpPr>
          <p:cNvPr id="8" name="Rectangle 4"/>
          <p:cNvSpPr txBox="1">
            <a:spLocks noChangeArrowheads="1"/>
          </p:cNvSpPr>
          <p:nvPr/>
        </p:nvSpPr>
        <p:spPr bwMode="auto">
          <a:xfrm>
            <a:off x="457200" y="1676400"/>
            <a:ext cx="10609118" cy="1752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5000"/>
              </a:lnSpc>
              <a:spcBef>
                <a:spcPct val="0"/>
              </a:spcBef>
              <a:buFont typeface="Wingdings" panose="05000000000000000000" pitchFamily="2" charset="2"/>
              <a:buChar char="l"/>
            </a:pPr>
            <a:r>
              <a:rPr lang="zh-CN" altLang="en-US" sz="2400" b="1" dirty="0">
                <a:solidFill>
                  <a:srgbClr val="000066"/>
                </a:solidFill>
                <a:latin typeface="楷体_GB2312" pitchFamily="49" charset="-122"/>
                <a:ea typeface="楷体_GB2312" pitchFamily="49" charset="-122"/>
              </a:rPr>
              <a:t>其具体处理逻辑一般用判定表或判定树来描述。</a:t>
            </a:r>
          </a:p>
          <a:p>
            <a:pPr eaLnBrk="1" hangingPunct="1">
              <a:lnSpc>
                <a:spcPct val="105000"/>
              </a:lnSpc>
              <a:spcBef>
                <a:spcPct val="0"/>
              </a:spcBef>
              <a:buFont typeface="Wingdings" panose="05000000000000000000" pitchFamily="2" charset="2"/>
              <a:buChar char="l"/>
            </a:pPr>
            <a:r>
              <a:rPr lang="zh-CN" altLang="en-US" sz="2400" b="1" dirty="0">
                <a:solidFill>
                  <a:schemeClr val="accent2"/>
                </a:solidFill>
                <a:latin typeface="楷体_GB2312" pitchFamily="49" charset="-122"/>
                <a:ea typeface="楷体_GB2312" pitchFamily="49" charset="-122"/>
              </a:rPr>
              <a:t>处理过程描述｛处理过程名，说明，输入</a:t>
            </a:r>
            <a:r>
              <a:rPr lang="en-US" altLang="zh-CN" sz="2400" b="1" dirty="0">
                <a:solidFill>
                  <a:schemeClr val="accent2"/>
                </a:solidFill>
                <a:latin typeface="楷体_GB2312" pitchFamily="49" charset="-122"/>
                <a:ea typeface="楷体_GB2312" pitchFamily="49" charset="-122"/>
              </a:rPr>
              <a:t>:</a:t>
            </a:r>
            <a:r>
              <a:rPr lang="zh-CN" altLang="en-US" sz="2400" b="1" dirty="0">
                <a:solidFill>
                  <a:schemeClr val="accent2"/>
                </a:solidFill>
                <a:latin typeface="楷体_GB2312" pitchFamily="49" charset="-122"/>
                <a:ea typeface="楷体_GB2312" pitchFamily="49" charset="-122"/>
              </a:rPr>
              <a:t>｛数据流｝，输出</a:t>
            </a:r>
            <a:r>
              <a:rPr lang="en-US" altLang="zh-CN" sz="2400" b="1" dirty="0">
                <a:solidFill>
                  <a:schemeClr val="accent2"/>
                </a:solidFill>
                <a:latin typeface="楷体_GB2312" pitchFamily="49" charset="-122"/>
                <a:ea typeface="楷体_GB2312" pitchFamily="49" charset="-122"/>
              </a:rPr>
              <a:t>:</a:t>
            </a:r>
            <a:r>
              <a:rPr lang="zh-CN" altLang="en-US" sz="2400" b="1" dirty="0">
                <a:solidFill>
                  <a:schemeClr val="accent2"/>
                </a:solidFill>
                <a:latin typeface="楷体_GB2312" pitchFamily="49" charset="-122"/>
                <a:ea typeface="楷体_GB2312" pitchFamily="49" charset="-122"/>
              </a:rPr>
              <a:t>｛数据流｝，处理</a:t>
            </a:r>
            <a:r>
              <a:rPr lang="en-US" altLang="zh-CN" sz="2400" b="1" dirty="0">
                <a:solidFill>
                  <a:schemeClr val="accent2"/>
                </a:solidFill>
                <a:latin typeface="楷体_GB2312" pitchFamily="49" charset="-122"/>
                <a:ea typeface="楷体_GB2312" pitchFamily="49" charset="-122"/>
              </a:rPr>
              <a:t>:</a:t>
            </a:r>
            <a:r>
              <a:rPr lang="zh-CN" altLang="en-US" sz="2400" b="1" dirty="0">
                <a:solidFill>
                  <a:schemeClr val="accent2"/>
                </a:solidFill>
                <a:latin typeface="楷体_GB2312" pitchFamily="49" charset="-122"/>
                <a:ea typeface="楷体_GB2312" pitchFamily="49" charset="-122"/>
              </a:rPr>
              <a:t>｛简要说明｝｝</a:t>
            </a:r>
          </a:p>
          <a:p>
            <a:pPr lvl="1" eaLnBrk="1" hangingPunct="1">
              <a:lnSpc>
                <a:spcPct val="105000"/>
              </a:lnSpc>
              <a:spcBef>
                <a:spcPct val="0"/>
              </a:spcBef>
              <a:buClr>
                <a:srgbClr val="FFFF66"/>
              </a:buClr>
              <a:buFontTx/>
              <a:buChar char="•"/>
            </a:pPr>
            <a:endParaRPr lang="en-US" altLang="zh-CN" b="1" dirty="0">
              <a:solidFill>
                <a:schemeClr val="accent2"/>
              </a:solidFill>
              <a:latin typeface="楷体_GB2312" pitchFamily="49" charset="-122"/>
              <a:ea typeface="楷体_GB2312" pitchFamily="49" charset="-122"/>
            </a:endParaRPr>
          </a:p>
        </p:txBody>
      </p:sp>
      <p:sp>
        <p:nvSpPr>
          <p:cNvPr id="9" name="Rectangle 5"/>
          <p:cNvSpPr>
            <a:spLocks noChangeArrowheads="1"/>
          </p:cNvSpPr>
          <p:nvPr/>
        </p:nvSpPr>
        <p:spPr bwMode="auto">
          <a:xfrm>
            <a:off x="684213" y="3141663"/>
            <a:ext cx="11099078" cy="338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eaLnBrk="1" hangingPunct="1">
              <a:spcBef>
                <a:spcPct val="5000"/>
              </a:spcBef>
            </a:pPr>
            <a:r>
              <a:rPr lang="zh-CN" altLang="en-US" sz="2400" b="1" i="0" dirty="0">
                <a:solidFill>
                  <a:srgbClr val="CC3300"/>
                </a:solidFill>
                <a:latin typeface="楷体_GB2312" pitchFamily="49" charset="-122"/>
                <a:ea typeface="楷体_GB2312" pitchFamily="49" charset="-122"/>
              </a:rPr>
              <a:t>处理过程</a:t>
            </a:r>
            <a:r>
              <a:rPr lang="en-US" altLang="zh-CN" sz="2400" b="1" i="0" dirty="0">
                <a:solidFill>
                  <a:srgbClr val="CC3300"/>
                </a:solidFill>
                <a:latin typeface="楷体_GB2312" pitchFamily="49" charset="-122"/>
                <a:ea typeface="楷体_GB2312" pitchFamily="49" charset="-122"/>
              </a:rPr>
              <a:t>: </a:t>
            </a:r>
            <a:r>
              <a:rPr lang="en-US" altLang="zh-CN" sz="2400" b="1" i="0" dirty="0">
                <a:solidFill>
                  <a:srgbClr val="CC3300"/>
                </a:solidFill>
                <a:ea typeface="楷体_GB2312" pitchFamily="49" charset="-122"/>
              </a:rPr>
              <a:t>“</a:t>
            </a:r>
            <a:r>
              <a:rPr lang="zh-CN" altLang="en-US" sz="2400" b="1" i="0" dirty="0">
                <a:solidFill>
                  <a:srgbClr val="CC3300"/>
                </a:solidFill>
                <a:ea typeface="楷体_GB2312" pitchFamily="49" charset="-122"/>
              </a:rPr>
              <a:t>制定抢修计划”</a:t>
            </a:r>
            <a:r>
              <a:rPr lang="zh-CN" altLang="en-US" sz="2400" b="1" i="0" dirty="0">
                <a:solidFill>
                  <a:srgbClr val="CC3300"/>
                </a:solidFill>
                <a:latin typeface="楷体_GB2312" pitchFamily="49" charset="-122"/>
                <a:ea typeface="楷体_GB2312" pitchFamily="49" charset="-122"/>
              </a:rPr>
              <a:t>可如下描述：</a:t>
            </a:r>
          </a:p>
          <a:p>
            <a:pPr marL="0" eaLnBrk="1" hangingPunct="1">
              <a:spcBef>
                <a:spcPct val="5000"/>
              </a:spcBef>
            </a:pPr>
            <a:r>
              <a:rPr lang="zh-CN" altLang="en-US" sz="2400" b="1" i="0" dirty="0">
                <a:solidFill>
                  <a:srgbClr val="000066"/>
                </a:solidFill>
                <a:latin typeface="楷体_GB2312" pitchFamily="49" charset="-122"/>
                <a:ea typeface="楷体_GB2312" pitchFamily="49" charset="-122"/>
              </a:rPr>
              <a:t>处理过程：制定抢修计划</a:t>
            </a:r>
            <a:endParaRPr lang="en-US" altLang="zh-CN" sz="2400" b="1" i="0" dirty="0">
              <a:solidFill>
                <a:srgbClr val="000066"/>
              </a:solidFill>
              <a:latin typeface="楷体_GB2312" pitchFamily="49" charset="-122"/>
              <a:ea typeface="楷体_GB2312" pitchFamily="49" charset="-122"/>
            </a:endParaRPr>
          </a:p>
          <a:p>
            <a:pPr marL="0" eaLnBrk="1" hangingPunct="1">
              <a:spcBef>
                <a:spcPct val="5000"/>
              </a:spcBef>
            </a:pPr>
            <a:r>
              <a:rPr lang="zh-CN" altLang="en-US" sz="2400" b="1" i="0" dirty="0">
                <a:solidFill>
                  <a:srgbClr val="000066"/>
                </a:solidFill>
                <a:latin typeface="楷体_GB2312" pitchFamily="49" charset="-122"/>
                <a:ea typeface="楷体_GB2312" pitchFamily="49" charset="-122"/>
              </a:rPr>
              <a:t>说明：对已经发生或为了避免发生的电力系统故障，制定抢修计划。</a:t>
            </a:r>
          </a:p>
          <a:p>
            <a:pPr marL="0" eaLnBrk="1" hangingPunct="1">
              <a:spcBef>
                <a:spcPct val="5000"/>
              </a:spcBef>
            </a:pPr>
            <a:r>
              <a:rPr lang="zh-CN" altLang="en-US" sz="2400" b="1" i="0" dirty="0">
                <a:solidFill>
                  <a:srgbClr val="000066"/>
                </a:solidFill>
                <a:latin typeface="楷体_GB2312" pitchFamily="49" charset="-122"/>
                <a:ea typeface="楷体_GB2312" pitchFamily="49" charset="-122"/>
              </a:rPr>
              <a:t>输入：抢修工程数据</a:t>
            </a:r>
            <a:endParaRPr lang="en-US" altLang="zh-CN" sz="2400" b="1" i="0" dirty="0">
              <a:solidFill>
                <a:srgbClr val="000066"/>
              </a:solidFill>
              <a:latin typeface="楷体_GB2312" pitchFamily="49" charset="-122"/>
              <a:ea typeface="楷体_GB2312" pitchFamily="49" charset="-122"/>
            </a:endParaRPr>
          </a:p>
          <a:p>
            <a:pPr marL="0" eaLnBrk="1" hangingPunct="1">
              <a:spcBef>
                <a:spcPct val="5000"/>
              </a:spcBef>
            </a:pPr>
            <a:r>
              <a:rPr lang="zh-CN" altLang="en-US" sz="2400" b="1" i="0" dirty="0">
                <a:solidFill>
                  <a:srgbClr val="000066"/>
                </a:solidFill>
                <a:latin typeface="楷体_GB2312" pitchFamily="49" charset="-122"/>
                <a:ea typeface="楷体_GB2312" pitchFamily="49" charset="-122"/>
              </a:rPr>
              <a:t>输出：抢修物资领用单</a:t>
            </a:r>
            <a:endParaRPr lang="en-US" altLang="zh-CN" sz="2400" b="1" i="0" dirty="0">
              <a:solidFill>
                <a:srgbClr val="000066"/>
              </a:solidFill>
              <a:latin typeface="楷体_GB2312" pitchFamily="49" charset="-122"/>
              <a:ea typeface="楷体_GB2312" pitchFamily="49" charset="-122"/>
            </a:endParaRPr>
          </a:p>
          <a:p>
            <a:pPr marL="0" eaLnBrk="1" hangingPunct="1">
              <a:spcBef>
                <a:spcPct val="5000"/>
              </a:spcBef>
            </a:pPr>
            <a:r>
              <a:rPr lang="zh-CN" altLang="en-US" sz="2400" b="1" i="0" dirty="0">
                <a:solidFill>
                  <a:srgbClr val="000066"/>
                </a:solidFill>
                <a:latin typeface="楷体_GB2312" pitchFamily="49" charset="-122"/>
                <a:ea typeface="楷体_GB2312" pitchFamily="49" charset="-122"/>
              </a:rPr>
              <a:t>处理：当电力故障发生，或为了避免故障发生，需要抢修一些设备。原则上要求故障的抢修修时间在</a:t>
            </a:r>
            <a:r>
              <a:rPr lang="en-US" altLang="zh-CN" sz="2400" b="1" i="0" dirty="0">
                <a:solidFill>
                  <a:srgbClr val="000066"/>
                </a:solidFill>
                <a:latin typeface="楷体_GB2312" pitchFamily="49" charset="-122"/>
                <a:ea typeface="楷体_GB2312" pitchFamily="49" charset="-122"/>
              </a:rPr>
              <a:t>2</a:t>
            </a:r>
            <a:r>
              <a:rPr lang="zh-CN" altLang="en-US" sz="2400" b="1" i="0" dirty="0">
                <a:solidFill>
                  <a:srgbClr val="000066"/>
                </a:solidFill>
                <a:latin typeface="楷体_GB2312" pitchFamily="49" charset="-122"/>
                <a:ea typeface="楷体_GB2312" pitchFamily="49" charset="-122"/>
              </a:rPr>
              <a:t>小时内完成。</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8.2.3 </a:t>
            </a:r>
            <a:r>
              <a:rPr lang="zh-CN" altLang="en-US" sz="2800" b="1" dirty="0">
                <a:solidFill>
                  <a:schemeClr val="bg1"/>
                </a:solidFill>
                <a:latin typeface="微软雅黑" panose="020B0503020204020204" pitchFamily="34" charset="-122"/>
                <a:ea typeface="微软雅黑" panose="020B0503020204020204" pitchFamily="34" charset="-122"/>
              </a:rPr>
              <a:t>数据字典</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83889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小结</a:t>
            </a:r>
          </a:p>
        </p:txBody>
      </p:sp>
      <p:sp>
        <p:nvSpPr>
          <p:cNvPr id="5" name="圆角矩形 4"/>
          <p:cNvSpPr/>
          <p:nvPr/>
        </p:nvSpPr>
        <p:spPr>
          <a:xfrm>
            <a:off x="371965" y="858982"/>
            <a:ext cx="10985119" cy="16207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需求分析是数据库设计过程中的第一个环节，也是软件工程中的重要环节，需求分析的准确性直接影响着整个数据库设计的质量，是数据库设计能顺利进行的关键。</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4313693" y="3600884"/>
            <a:ext cx="3695242"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谢谢观看！</a:t>
            </a:r>
          </a:p>
        </p:txBody>
      </p:sp>
    </p:spTree>
    <p:extLst>
      <p:ext uri="{BB962C8B-B14F-4D97-AF65-F5344CB8AC3E}">
        <p14:creationId xmlns:p14="http://schemas.microsoft.com/office/powerpoint/2010/main" val="9230224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4CC2E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3855</TotalTime>
  <Words>3141</Words>
  <Application>Microsoft Macintosh PowerPoint</Application>
  <PresentationFormat>宽屏</PresentationFormat>
  <Paragraphs>360</Paragraphs>
  <Slides>32</Slides>
  <Notes>31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楷体_GB2312</vt:lpstr>
      <vt:lpstr>宋体</vt:lpstr>
      <vt:lpstr>微软雅黑</vt:lpstr>
      <vt:lpstr>Arial</vt:lpstr>
      <vt:lpstr>Calibri</vt:lpstr>
      <vt:lpstr>Calibri Light</vt:lpstr>
      <vt:lpstr>Tahoma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zhouping</dc:creator>
  <cp:lastModifiedBy>Qingting Xu</cp:lastModifiedBy>
  <cp:revision>1463</cp:revision>
  <dcterms:created xsi:type="dcterms:W3CDTF">2014-07-02T10:42:00Z</dcterms:created>
  <dcterms:modified xsi:type="dcterms:W3CDTF">2025-09-26T01:21:57Z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所有者">
    <vt:lpwstr>大同煤炭职业技术学院</vt:lpwstr>
  </property>
  <property fmtid="{D5CDD505-2E9C-101B-9397-08002B2CF9AE}" pid="3" name="KSOProductBuildVer">
    <vt:lpwstr>2052-11.1.0.8894</vt:lpwstr>
  </property>
</Properties>
</file>