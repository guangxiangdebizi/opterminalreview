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6" r:id="rId2"/>
    <p:sldId id="454" r:id="rId3"/>
    <p:sldId id="457" r:id="rId4"/>
    <p:sldId id="464" r:id="rId5"/>
    <p:sldId id="482" r:id="rId6"/>
    <p:sldId id="483" r:id="rId7"/>
    <p:sldId id="484" r:id="rId8"/>
    <p:sldId id="460" r:id="rId9"/>
    <p:sldId id="462" r:id="rId10"/>
    <p:sldId id="465" r:id="rId11"/>
    <p:sldId id="466" r:id="rId12"/>
    <p:sldId id="469" r:id="rId13"/>
    <p:sldId id="470" r:id="rId14"/>
    <p:sldId id="478" r:id="rId15"/>
    <p:sldId id="481" r:id="rId16"/>
    <p:sldId id="480" r:id="rId17"/>
    <p:sldId id="456" r:id="rId18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61">
          <p15:clr>
            <a:srgbClr val="A4A3A4"/>
          </p15:clr>
        </p15:guide>
        <p15:guide id="4" pos="3898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7">
          <p15:clr>
            <a:srgbClr val="A4A3A4"/>
          </p15:clr>
        </p15:guide>
        <p15:guide id="2" orient="horz" pos="3002">
          <p15:clr>
            <a:srgbClr val="A4A3A4"/>
          </p15:clr>
        </p15:guide>
        <p15:guide id="3" pos="2880">
          <p15:clr>
            <a:srgbClr val="A4A3A4"/>
          </p15:clr>
        </p15:guide>
        <p15:guide id="4" pos="22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9F0"/>
    <a:srgbClr val="009AD0"/>
    <a:srgbClr val="FF0000"/>
    <a:srgbClr val="002060"/>
    <a:srgbClr val="009900"/>
    <a:srgbClr val="F79646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56056" autoAdjust="0"/>
  </p:normalViewPr>
  <p:slideViewPr>
    <p:cSldViewPr snapToGrid="0">
      <p:cViewPr varScale="1">
        <p:scale>
          <a:sx n="59" d="100"/>
          <a:sy n="59" d="100"/>
        </p:scale>
        <p:origin x="2656" y="184"/>
      </p:cViewPr>
      <p:guideLst>
        <p:guide orient="horz" pos="2214"/>
        <p:guide orient="horz" pos="2876"/>
        <p:guide orient="horz" pos="1261"/>
        <p:guide pos="3898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77"/>
        <p:guide orient="horz" pos="3002"/>
        <p:guide pos="2880"/>
        <p:guide pos="22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2025/9/26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2994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3472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>
              <a:solidFill>
                <a:srgbClr val="003300"/>
              </a:solidFill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51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2895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296303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0196523" y="6437085"/>
            <a:ext cx="1968290" cy="36687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4876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226185" y="1015365"/>
            <a:ext cx="10455910" cy="2923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第四章    </a:t>
            </a:r>
            <a:r>
              <a:rPr lang="zh-CN" sz="4000" b="1" dirty="0">
                <a:solidFill>
                  <a:srgbClr val="003300"/>
                </a:solidFill>
              </a:rPr>
              <a:t>数据库</a:t>
            </a:r>
            <a:r>
              <a:rPr lang="zh-CN" altLang="en-US" sz="4000" b="1" dirty="0">
                <a:solidFill>
                  <a:srgbClr val="003300"/>
                </a:solidFill>
              </a:rPr>
              <a:t>编程</a:t>
            </a:r>
            <a:endParaRPr lang="zh-CN" sz="4000" b="1" dirty="0">
              <a:solidFill>
                <a:srgbClr val="0033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</a:rPr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4.1 My SQL  </a:t>
            </a:r>
            <a:r>
              <a:rPr lang="zh-CN" altLang="en-US" sz="3200" b="1" dirty="0">
                <a:solidFill>
                  <a:srgbClr val="FF0000"/>
                </a:solidFill>
              </a:rPr>
              <a:t>编程语法</a:t>
            </a:r>
            <a:endParaRPr lang="zh-CN" altLang="en-US" sz="3200" b="1" dirty="0">
              <a:solidFill>
                <a:schemeClr val="tx1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chemeClr val="tx1"/>
                </a:solidFill>
              </a:rPr>
              <a:t>4.2 </a:t>
            </a:r>
            <a:r>
              <a:rPr lang="zh-CN" altLang="en-US" sz="3200" b="1" dirty="0">
                <a:solidFill>
                  <a:schemeClr val="tx1"/>
                </a:solidFill>
              </a:rPr>
              <a:t>存储过程</a:t>
            </a:r>
            <a:endParaRPr lang="zh-CN" altLang="en-US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endParaRPr lang="zh-CN" altLang="en-US" sz="3200" b="1" dirty="0"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MySQL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331779" name="Rectangle 3"/>
          <p:cNvSpPr/>
          <p:nvPr/>
        </p:nvSpPr>
        <p:spPr>
          <a:xfrm>
            <a:off x="468630" y="949960"/>
            <a:ext cx="11236325" cy="24479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变量可分为两大类：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用户变量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细化为四种类型：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局部变量、用户变量、会话变量、全局变量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363122" y="2246092"/>
            <a:ext cx="11236325" cy="461190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4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</a:t>
            </a:r>
            <a:r>
              <a:rPr lang="zh-CN" altLang="en-US" sz="2400" i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只能用在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begin/end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语句块中，比如存储过程中的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begin/end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语句块。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其作用域仅限于该语句块。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declare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语句专门用于定义局部变量，可以使用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default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来说明默认值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declare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default  0;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局部变量的赋值方式一 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=5;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局部变量的赋值方式二 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into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 where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=‘m001';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/>
      <p:bldP spid="331779" grpId="1"/>
      <p:bldP spid="6" grpId="0"/>
      <p:bldP spid="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My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331779" name="Rectangle 3"/>
          <p:cNvSpPr/>
          <p:nvPr/>
        </p:nvSpPr>
        <p:spPr>
          <a:xfrm>
            <a:off x="323215" y="906145"/>
            <a:ext cx="11868785" cy="452628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．用户变量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mysql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中用户变量不用提前申明，在用的时候直接用“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@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变量名”使用就可以了。其作用域为当前连接。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第一种用法，使用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时可以用“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:=”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两种赋值符号赋值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=5;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:=5;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第二种用法，使用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时必须用“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:=”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赋值符号赋值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select 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:=5; </a:t>
            </a: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m_amount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:=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 where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=‘m001';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1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17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17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My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331779" name="Rectangle 3"/>
          <p:cNvSpPr/>
          <p:nvPr/>
        </p:nvSpPr>
        <p:spPr>
          <a:xfrm>
            <a:off x="323215" y="906144"/>
            <a:ext cx="11868785" cy="595185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．会话变量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服务器为每个连接的客户端维护一系列会话变量。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其作用域仅限于当前连接，即每个连接中的会话变量是独立的。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显示所有的会话变量：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 session variables;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设置会话变量的值的三种方式 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session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=1;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set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session.auto_increment_increment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=2;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set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=3;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当省略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关键字时，默认缺省为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，即设置会话变量的值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查询会话变量的值的三种方式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@@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auto_increment_increment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@@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session.auto_increment_increment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show session variables like '%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auto_increment_increment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%'; -- session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关键字可省略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也可用关键字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替代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@@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local.auto_increment_increment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=1; select @@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local.auto_increment_increment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6974158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My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331779" name="Rectangle 3"/>
          <p:cNvSpPr/>
          <p:nvPr/>
        </p:nvSpPr>
        <p:spPr>
          <a:xfrm>
            <a:off x="323215" y="906144"/>
            <a:ext cx="11868785" cy="595185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．会话变量  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查询会话变量的值的三种方式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session.auto_increment_increment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show session variables like '%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%'; -- session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关键字可省略 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session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也可用关键字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替代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local.auto_increment_increment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=1;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select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local.auto_increment_increment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9720819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My SQL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4.1.1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</p:txBody>
      </p:sp>
      <p:sp>
        <p:nvSpPr>
          <p:cNvPr id="331779" name="Rectangle 3"/>
          <p:cNvSpPr/>
          <p:nvPr/>
        </p:nvSpPr>
        <p:spPr>
          <a:xfrm>
            <a:off x="245870" y="739090"/>
            <a:ext cx="11868785" cy="595185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．全局变量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全局变量影响服务器整体操作，当服务启动时，它将所有全局变量初始化为默认值。要想更改全局变量，必须具有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super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权限。其作用域为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server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的整个生命周期。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显示所有的全局变量：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 global variables;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设置全局变量的值的两种方式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set 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sql_warnings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=ON; 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global</a:t>
            </a:r>
            <a:r>
              <a:rPr lang="zh-CN" altLang="en-US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不能省略 </a:t>
            </a:r>
            <a:endParaRPr lang="en-US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set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global.sql_warnings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=OFF;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--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查询全局变量的值的两种方式 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@@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global.sql_warnings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;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show global variables like '%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sql_warnings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%';</a:t>
            </a:r>
          </a:p>
        </p:txBody>
      </p:sp>
    </p:spTree>
    <p:extLst>
      <p:ext uri="{BB962C8B-B14F-4D97-AF65-F5344CB8AC3E}">
        <p14:creationId xmlns:p14="http://schemas.microsoft.com/office/powerpoint/2010/main" val="210410360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79">
                                            <p:txEl>
                                              <p:charRg st="105" end="1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4.1.2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注释语句</a:t>
            </a:r>
          </a:p>
        </p:txBody>
      </p:sp>
      <p:sp>
        <p:nvSpPr>
          <p:cNvPr id="6147" name="Rectangle 3"/>
          <p:cNvSpPr/>
          <p:nvPr/>
        </p:nvSpPr>
        <p:spPr>
          <a:xfrm>
            <a:off x="213789" y="790796"/>
            <a:ext cx="11978211" cy="579464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单行注释‌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</a:rPr>
              <a:t>--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后面添加注释内容，注意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后必须有一个空格。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table </a:t>
            </a:r>
            <a:r>
              <a:rPr lang="en-US" altLang="zh-CN" sz="2400" i="1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 </a:t>
            </a:r>
            <a:r>
              <a:rPr lang="zh-CN" altLang="en-US" sz="2400" i="1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这是一个单行注释</a:t>
            </a:r>
            <a:r>
              <a:rPr lang="zh-CN" altLang="en-US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后面添加注释内容，无需空格。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table </a:t>
            </a:r>
            <a:r>
              <a:rPr lang="en-US" altLang="zh-CN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 </a:t>
            </a:r>
            <a:r>
              <a:rPr lang="zh-CN" altLang="en-US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这是一个单行注释 </a:t>
            </a:r>
            <a:endParaRPr lang="en-US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lvl="1" indent="0">
              <a:buNone/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‌多行注释‌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/* ... */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/*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 *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之间添加注释内容，可以跨越多行。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table </a:t>
            </a:r>
            <a:r>
              <a:rPr lang="en-US" altLang="zh-CN" sz="2400" i="1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 </a:t>
            </a:r>
            <a:r>
              <a:rPr lang="zh-CN" altLang="en-US" sz="2400" i="1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这是一个 多行注释 *</a:t>
            </a:r>
            <a:r>
              <a:rPr lang="en-US" altLang="zh-CN" sz="2400" i="1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内联注释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‌</a:t>
            </a:r>
          </a:p>
          <a:p>
            <a:pPr lvl="1">
              <a:buFont typeface="Wingdings" panose="05000000000000000000" pitchFamily="2" charset="2"/>
              <a:buChar char="l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/*! ... */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：这种注释称为内联注释，通常用于指定特定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MySQL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版本执行的代码。例如：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marL="457200" lvl="1" indent="0"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 * FROM table </a:t>
            </a:r>
            <a:r>
              <a:rPr lang="en-US" altLang="zh-CN" sz="2400" i="1" dirty="0">
                <a:solidFill>
                  <a:srgbClr val="1569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/*!50110 WHERE condition */</a:t>
            </a:r>
            <a:endParaRPr lang="en-US" altLang="zh-CN" sz="2400" dirty="0">
              <a:solidFill>
                <a:srgbClr val="1569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11267" name="Rectangle 3"/>
          <p:cNvSpPr/>
          <p:nvPr/>
        </p:nvSpPr>
        <p:spPr>
          <a:xfrm>
            <a:off x="479425" y="787400"/>
            <a:ext cx="4077335" cy="487489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BEGIN…END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语法形式：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BEGIN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．．．．．．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使用BEGIN…END语句可以将多条SQL语句封装起来，形成一个语句块，使这些语句作为一个整体执行。</a:t>
            </a:r>
          </a:p>
        </p:txBody>
      </p:sp>
      <p:sp>
        <p:nvSpPr>
          <p:cNvPr id="336900" name="Rectangle 4"/>
          <p:cNvSpPr/>
          <p:nvPr/>
        </p:nvSpPr>
        <p:spPr>
          <a:xfrm>
            <a:off x="5375910" y="862965"/>
            <a:ext cx="6185535" cy="564959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IF…ELSE</a:t>
            </a:r>
            <a:r>
              <a:rPr lang="zh-CN" altLang="en-US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语法形式：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 </a:t>
            </a:r>
            <a:r>
              <a:rPr lang="zh-CN" altLang="en-US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  </a:t>
            </a:r>
            <a:r>
              <a:rPr lang="en-US" altLang="zh-CN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THEN</a:t>
            </a:r>
            <a:endParaRPr lang="zh-CN" altLang="en-US" sz="2400" i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语句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[ELSE 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 </a:t>
            </a:r>
            <a:r>
              <a:rPr lang="en-US" altLang="zh-CN" sz="2400" i="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END IF</a:t>
            </a:r>
            <a:endParaRPr lang="en-US" altLang="zh-CN" sz="2400" i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endParaRPr lang="en-US" altLang="zh-CN" sz="2400" i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indent="-3429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i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执行过程为：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如果条件表达式为真，则执行</a:t>
            </a:r>
            <a:r>
              <a:rPr lang="en-US" altLang="zh-CN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IF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后面的语句或语句块，如果条件表达式为假，则执行</a:t>
            </a:r>
            <a:r>
              <a:rPr lang="en-US" altLang="zh-CN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ELSE</a:t>
            </a: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后面的语句或语句块。 </a:t>
            </a:r>
          </a:p>
        </p:txBody>
      </p:sp>
      <p:cxnSp>
        <p:nvCxnSpPr>
          <p:cNvPr id="11269" name="直接连接符 2"/>
          <p:cNvCxnSpPr/>
          <p:nvPr/>
        </p:nvCxnSpPr>
        <p:spPr>
          <a:xfrm>
            <a:off x="4843145" y="1025208"/>
            <a:ext cx="0" cy="5173662"/>
          </a:xfrm>
          <a:prstGeom prst="line">
            <a:avLst/>
          </a:prstGeom>
          <a:ln w="28575" cap="flat" cmpd="sng">
            <a:solidFill>
              <a:srgbClr val="7575D1"/>
            </a:solidFill>
            <a:prstDash val="dashDot"/>
            <a:headEnd type="none" w="med" len="med"/>
            <a:tailEnd type="none" w="med" len="med"/>
          </a:ln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69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36900">
                                            <p:txEl>
                                              <p:charRg st="12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36900">
                                            <p:txEl>
                                              <p:charRg st="20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369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3690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690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690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3690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12290" name="Rectangle 2"/>
          <p:cNvSpPr/>
          <p:nvPr/>
        </p:nvSpPr>
        <p:spPr>
          <a:xfrm>
            <a:off x="245745" y="663575"/>
            <a:ext cx="11477625" cy="143954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4.1】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在电力抢修工程数据库中，如果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m001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物资的库存量低于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，就显示文本：“库存不足，需要补货”；否则显示“库存充足”。</a:t>
            </a:r>
          </a:p>
        </p:txBody>
      </p:sp>
      <p:sp>
        <p:nvSpPr>
          <p:cNvPr id="338948" name="Rectangle 4"/>
          <p:cNvSpPr/>
          <p:nvPr/>
        </p:nvSpPr>
        <p:spPr>
          <a:xfrm>
            <a:off x="266543" y="1887641"/>
            <a:ext cx="11658914" cy="332398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DECLARE </a:t>
            </a:r>
            <a:r>
              <a:rPr lang="en-US" altLang="zh-CN" sz="2400" dirty="0" err="1">
                <a:solidFill>
                  <a:srgbClr val="FF0000"/>
                </a:solidFill>
              </a:rPr>
              <a:t>stock_amount</a:t>
            </a:r>
            <a:r>
              <a:rPr lang="en-US" altLang="zh-CN" sz="2400" dirty="0">
                <a:solidFill>
                  <a:srgbClr val="FF0000"/>
                </a:solidFill>
              </a:rPr>
              <a:t> INT;</a:t>
            </a:r>
          </a:p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SELECT amount INTO </a:t>
            </a:r>
            <a:r>
              <a:rPr lang="en-US" altLang="zh-CN" sz="2400" dirty="0" err="1">
                <a:solidFill>
                  <a:srgbClr val="FF0000"/>
                </a:solidFill>
              </a:rPr>
              <a:t>stock_amount</a:t>
            </a:r>
            <a:r>
              <a:rPr lang="en-US" altLang="zh-CN" sz="2400" dirty="0">
                <a:solidFill>
                  <a:srgbClr val="FF0000"/>
                </a:solidFill>
              </a:rPr>
              <a:t> FROM Stock WHERE </a:t>
            </a:r>
            <a:r>
              <a:rPr lang="en-US" altLang="zh-CN" sz="2400" dirty="0" err="1">
                <a:solidFill>
                  <a:srgbClr val="FF0000"/>
                </a:solidFill>
              </a:rPr>
              <a:t>mat_num</a:t>
            </a:r>
            <a:r>
              <a:rPr lang="en-US" altLang="zh-CN" sz="2400" dirty="0">
                <a:solidFill>
                  <a:srgbClr val="FF0000"/>
                </a:solidFill>
              </a:rPr>
              <a:t> = ‘m001’; </a:t>
            </a:r>
          </a:p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IF </a:t>
            </a:r>
            <a:r>
              <a:rPr lang="en-US" altLang="zh-CN" sz="2400" dirty="0" err="1">
                <a:solidFill>
                  <a:srgbClr val="FF0000"/>
                </a:solidFill>
              </a:rPr>
              <a:t>stock_amount</a:t>
            </a:r>
            <a:r>
              <a:rPr lang="en-US" altLang="zh-CN" sz="2400" dirty="0">
                <a:solidFill>
                  <a:srgbClr val="FF0000"/>
                </a:solidFill>
              </a:rPr>
              <a:t> &lt; 10 THEN </a:t>
            </a:r>
          </a:p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    SELECT '</a:t>
            </a:r>
            <a:r>
              <a:rPr lang="zh-CN" altLang="en-US" sz="2400" dirty="0">
                <a:solidFill>
                  <a:srgbClr val="FF0000"/>
                </a:solidFill>
              </a:rPr>
              <a:t>库存不足，需要补货</a:t>
            </a:r>
            <a:r>
              <a:rPr lang="en-US" altLang="zh-CN" sz="2400" dirty="0">
                <a:solidFill>
                  <a:srgbClr val="FF0000"/>
                </a:solidFill>
              </a:rPr>
              <a:t>';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ELSE </a:t>
            </a:r>
          </a:p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    SELECT '</a:t>
            </a:r>
            <a:r>
              <a:rPr lang="zh-CN" altLang="en-US" sz="2400" dirty="0">
                <a:solidFill>
                  <a:srgbClr val="FF0000"/>
                </a:solidFill>
              </a:rPr>
              <a:t>库存充足</a:t>
            </a:r>
            <a:r>
              <a:rPr lang="en-US" altLang="zh-CN" sz="2400" dirty="0">
                <a:solidFill>
                  <a:srgbClr val="FF0000"/>
                </a:solidFill>
              </a:rPr>
              <a:t>';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indent="266700"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rgbClr val="FF0000"/>
                </a:solidFill>
              </a:rPr>
              <a:t>END IF;</a:t>
            </a:r>
            <a:endParaRPr lang="en-US" altLang="zh-CN" sz="2400" i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8949" name="Rectangle 5"/>
          <p:cNvSpPr/>
          <p:nvPr/>
        </p:nvSpPr>
        <p:spPr>
          <a:xfrm>
            <a:off x="493395" y="5494656"/>
            <a:ext cx="10776585" cy="511807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eaLnBrk="1" latinLnBrk="0" hangingPunct="1">
              <a:lnSpc>
                <a:spcPct val="125000"/>
              </a:lnSpc>
              <a:spcBef>
                <a:spcPts val="0"/>
              </a:spcBef>
            </a:pPr>
            <a:r>
              <a:rPr lang="zh-CN" altLang="en-US" sz="2400" i="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注意：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该语句段可以在存储过程中使用</a:t>
            </a:r>
            <a:endParaRPr lang="zh-CN" altLang="en-US" sz="2400" i="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89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89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89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89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89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389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89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38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948" grpId="0" uiExpand="1" build="p"/>
      <p:bldP spid="338948" grpId="1"/>
      <p:bldP spid="338949" grpId="0"/>
      <p:bldP spid="33894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339970" name="Rectangle 2"/>
          <p:cNvSpPr/>
          <p:nvPr/>
        </p:nvSpPr>
        <p:spPr>
          <a:xfrm>
            <a:off x="455930" y="663575"/>
            <a:ext cx="11279505" cy="579247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．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循环语句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语法形式：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WHILE &lt;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[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]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</a:t>
            </a:r>
            <a:r>
              <a:rPr lang="en-US" altLang="zh-CN" sz="2400" dirty="0">
                <a:solidFill>
                  <a:srgbClr val="FF0000"/>
                </a:solidFill>
              </a:rPr>
              <a:t>END WHILE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4.2】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创建如下表：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/>
              <a:t>CREATE TABLE numbers ( id INT AUTO_INCREMENT PRIMARY KEY, value INT );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下列语句段可以在存储过程中使用：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DECLARE counter INT DEFAULT 1;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WHILE counter &lt;= 10  DO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INSERT INTO numbers (value) VALUES (counter);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   SET counter = counter + 1; 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END WHILE;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9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9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9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343042" name="Rectangle 2"/>
          <p:cNvSpPr/>
          <p:nvPr/>
        </p:nvSpPr>
        <p:spPr>
          <a:xfrm>
            <a:off x="485140" y="760095"/>
            <a:ext cx="10984865" cy="452056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6.CASE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根据条件选定某一候选值返回。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zh-CN" altLang="en-US" sz="240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(1)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格式一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WHEN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 THEN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 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[[WHEN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 THEN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2&gt;][…]]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[ELSE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n&gt;]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END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3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43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43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43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43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3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343042" name="Rectangle 2"/>
          <p:cNvSpPr/>
          <p:nvPr/>
        </p:nvSpPr>
        <p:spPr>
          <a:xfrm>
            <a:off x="245745" y="597535"/>
            <a:ext cx="11805920" cy="540448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语句格式一实现：在对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stock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表的查询中，当仓库号的值是“供电局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仓库”、“供电局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仓库”、“供电局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仓库”时分别返回“北京”、“上海”、“广州”，否则返回“未知”。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mat_num,mat_name,speci,amount,unit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CASE warehouse  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WHEN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THEN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北京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WHEN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THEN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上海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‘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WHEN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3#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THEN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广州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ELSE '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未知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END AS warehouse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    Stock;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364" y="3812563"/>
            <a:ext cx="6855636" cy="3019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344066" name="Rectangle 2"/>
          <p:cNvSpPr/>
          <p:nvPr/>
        </p:nvSpPr>
        <p:spPr>
          <a:xfrm>
            <a:off x="846455" y="663575"/>
            <a:ext cx="10685145" cy="608139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(2) 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格式二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WHEN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 THEN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1&gt;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[[WHEN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 THEN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2&gt;][…]]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    [ELSE &lt;</a:t>
            </a:r>
            <a:r>
              <a:rPr lang="zh-CN" altLang="en-US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表达式</a:t>
            </a: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n&gt;]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           END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4.5】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语句格式二实现例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SELECT mat_num,mat_name,speci,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amount,unit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 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FROM Stock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1120482" y="3704272"/>
            <a:ext cx="7694295" cy="244856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CASE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WHEN warehouse='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THEN 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北京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WHEN warehouse='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THEN 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上海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WHEN warehouse='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供电局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仓库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 THEN 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广州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ELSE '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未知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'</a:t>
            </a: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END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as warehouse    </a:t>
            </a:r>
          </a:p>
          <a:p>
            <a:pPr eaLnBrk="1" latinLnBrk="0" hangingPunct="1">
              <a:lnSpc>
                <a:spcPct val="125000"/>
              </a:lnSpc>
              <a:spcBef>
                <a:spcPts val="0"/>
              </a:spcBef>
              <a:buNone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96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66">
                                            <p:txEl>
                                              <p:charRg st="96" end="1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194" end="2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4066">
                                            <p:txEl>
                                              <p:charRg st="194" end="2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245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44066">
                                            <p:txEl>
                                              <p:charRg st="245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66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44066">
                                            <p:txEl>
                                              <p:char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1224" y="1505631"/>
            <a:ext cx="4929187" cy="4208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245870" y="2684780"/>
            <a:ext cx="6825354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2800" i="0" dirty="0"/>
              <a:t>例：学生数据库</a:t>
            </a:r>
            <a:r>
              <a:rPr lang="en-US" altLang="zh-CN" sz="2800" i="0" dirty="0"/>
              <a:t> </a:t>
            </a:r>
          </a:p>
          <a:p>
            <a:pPr eaLnBrk="1" hangingPunct="1"/>
            <a:r>
              <a:rPr lang="en-US" altLang="zh-CN" sz="2400" i="0" dirty="0"/>
              <a:t>select </a:t>
            </a:r>
            <a:r>
              <a:rPr lang="en-US" altLang="zh-CN" sz="2400" i="0" dirty="0" err="1"/>
              <a:t>s.Sno,Sname,Sdept,c.cno,cname,Grade,Ccredit</a:t>
            </a:r>
            <a:r>
              <a:rPr lang="en-US" altLang="zh-CN" sz="2400" i="0" dirty="0"/>
              <a:t> </a:t>
            </a:r>
          </a:p>
          <a:p>
            <a:pPr eaLnBrk="1" hangingPunct="1"/>
            <a:r>
              <a:rPr lang="en-US" altLang="zh-CN" sz="2400" i="0" dirty="0"/>
              <a:t>from student s </a:t>
            </a:r>
          </a:p>
          <a:p>
            <a:pPr eaLnBrk="1" hangingPunct="1"/>
            <a:r>
              <a:rPr lang="en-US" altLang="zh-CN" sz="2400" i="0" dirty="0"/>
              <a:t>inner join </a:t>
            </a:r>
            <a:r>
              <a:rPr lang="en-US" altLang="zh-CN" sz="2400" i="0" dirty="0" err="1"/>
              <a:t>sc</a:t>
            </a:r>
            <a:r>
              <a:rPr lang="en-US" altLang="zh-CN" sz="2400" i="0" dirty="0"/>
              <a:t> on </a:t>
            </a:r>
            <a:r>
              <a:rPr lang="en-US" altLang="zh-CN" sz="2400" i="0" dirty="0" err="1"/>
              <a:t>s.Sno</a:t>
            </a:r>
            <a:r>
              <a:rPr lang="en-US" altLang="zh-CN" sz="2400" i="0" dirty="0"/>
              <a:t>=</a:t>
            </a:r>
            <a:r>
              <a:rPr lang="en-US" altLang="zh-CN" sz="2400" i="0" dirty="0" err="1"/>
              <a:t>sc.Sno</a:t>
            </a:r>
            <a:r>
              <a:rPr lang="en-US" altLang="zh-CN" sz="2400" i="0" dirty="0"/>
              <a:t> inner join course c on </a:t>
            </a:r>
            <a:r>
              <a:rPr lang="en-US" altLang="zh-CN" sz="2400" i="0" dirty="0" err="1"/>
              <a:t>sc.Cno</a:t>
            </a:r>
            <a:r>
              <a:rPr lang="en-US" altLang="zh-CN" sz="2400" i="0" dirty="0"/>
              <a:t>=</a:t>
            </a:r>
            <a:r>
              <a:rPr lang="en-US" altLang="zh-CN" sz="2400" i="0" dirty="0" err="1"/>
              <a:t>c.cno</a:t>
            </a:r>
            <a:endParaRPr lang="zh-CN" altLang="en-US" sz="2400" i="0" dirty="0"/>
          </a:p>
        </p:txBody>
      </p:sp>
    </p:spTree>
    <p:extLst>
      <p:ext uri="{BB962C8B-B14F-4D97-AF65-F5344CB8AC3E}">
        <p14:creationId xmlns:p14="http://schemas.microsoft.com/office/powerpoint/2010/main" val="247070362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382630" y="362976"/>
            <a:ext cx="351464" cy="2604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54085"/>
            <a:ext cx="5053997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 SQL Server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编程语法</a:t>
            </a:r>
          </a:p>
        </p:txBody>
      </p:sp>
      <p:sp>
        <p:nvSpPr>
          <p:cNvPr id="12" name="文本框 94"/>
          <p:cNvSpPr txBox="1">
            <a:spLocks noChangeArrowheads="1"/>
          </p:cNvSpPr>
          <p:nvPr/>
        </p:nvSpPr>
        <p:spPr bwMode="auto">
          <a:xfrm>
            <a:off x="4737459" y="75566"/>
            <a:ext cx="7908779" cy="5219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4.1.3 </a:t>
            </a:r>
            <a:r>
              <a:rPr 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8" name="内容占位符 2"/>
          <p:cNvSpPr txBox="1">
            <a:spLocks/>
          </p:cNvSpPr>
          <p:nvPr/>
        </p:nvSpPr>
        <p:spPr bwMode="auto">
          <a:xfrm>
            <a:off x="1074420" y="2928938"/>
            <a:ext cx="9144000" cy="328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/>
              <a:t>  select </a:t>
            </a:r>
            <a:r>
              <a:rPr lang="en-US" altLang="zh-CN" sz="2400" dirty="0" err="1"/>
              <a:t>sdept</a:t>
            </a:r>
            <a:r>
              <a:rPr lang="en-US" altLang="zh-CN" sz="2400" dirty="0"/>
              <a:t>,</a:t>
            </a:r>
          </a:p>
          <a:p>
            <a:pPr>
              <a:buFontTx/>
              <a:buNone/>
            </a:pPr>
            <a:r>
              <a:rPr lang="en-US" altLang="zh-CN" sz="2400" dirty="0"/>
              <a:t>  </a:t>
            </a:r>
            <a:r>
              <a:rPr lang="en-US" altLang="zh-CN" sz="2400" dirty="0" err="1">
                <a:solidFill>
                  <a:srgbClr val="FF0000"/>
                </a:solidFill>
              </a:rPr>
              <a:t>avg</a:t>
            </a:r>
            <a:r>
              <a:rPr lang="en-US" altLang="zh-CN" sz="2400" dirty="0">
                <a:solidFill>
                  <a:srgbClr val="FF0000"/>
                </a:solidFill>
              </a:rPr>
              <a:t>(case when </a:t>
            </a:r>
            <a:r>
              <a:rPr lang="en-US" altLang="zh-CN" sz="2400" dirty="0" err="1">
                <a:solidFill>
                  <a:srgbClr val="FF0000"/>
                </a:solidFill>
              </a:rPr>
              <a:t>cname</a:t>
            </a:r>
            <a:r>
              <a:rPr lang="en-US" altLang="zh-CN" sz="2400" dirty="0">
                <a:solidFill>
                  <a:srgbClr val="FF0000"/>
                </a:solidFill>
              </a:rPr>
              <a:t>='</a:t>
            </a:r>
            <a:r>
              <a:rPr lang="zh-CN" altLang="en-US" sz="2400" dirty="0">
                <a:solidFill>
                  <a:srgbClr val="FF0000"/>
                </a:solidFill>
              </a:rPr>
              <a:t>数据结构</a:t>
            </a:r>
            <a:r>
              <a:rPr lang="en-US" altLang="zh-CN" sz="2400" dirty="0">
                <a:solidFill>
                  <a:srgbClr val="FF0000"/>
                </a:solidFill>
              </a:rPr>
              <a:t>' then grade end ) </a:t>
            </a:r>
            <a:r>
              <a:rPr lang="zh-CN" altLang="en-US" sz="2400" dirty="0">
                <a:solidFill>
                  <a:srgbClr val="FF0000"/>
                </a:solidFill>
              </a:rPr>
              <a:t>数据结构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</a:p>
          <a:p>
            <a:pPr>
              <a:buFontTx/>
              <a:buNone/>
            </a:pP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avg</a:t>
            </a:r>
            <a:r>
              <a:rPr lang="en-US" altLang="zh-CN" sz="2400" dirty="0">
                <a:solidFill>
                  <a:srgbClr val="FF0000"/>
                </a:solidFill>
              </a:rPr>
              <a:t>(case when </a:t>
            </a:r>
            <a:r>
              <a:rPr lang="en-US" altLang="zh-CN" sz="2400" dirty="0" err="1">
                <a:solidFill>
                  <a:srgbClr val="FF0000"/>
                </a:solidFill>
              </a:rPr>
              <a:t>cname</a:t>
            </a:r>
            <a:r>
              <a:rPr lang="en-US" altLang="zh-CN" sz="2400" dirty="0">
                <a:solidFill>
                  <a:srgbClr val="FF0000"/>
                </a:solidFill>
              </a:rPr>
              <a:t>='</a:t>
            </a:r>
            <a:r>
              <a:rPr lang="zh-CN" altLang="en-US" sz="2400" dirty="0">
                <a:solidFill>
                  <a:srgbClr val="FF0000"/>
                </a:solidFill>
              </a:rPr>
              <a:t>数据库原理</a:t>
            </a:r>
            <a:r>
              <a:rPr lang="en-US" altLang="zh-CN" sz="2400" dirty="0">
                <a:solidFill>
                  <a:srgbClr val="FF0000"/>
                </a:solidFill>
              </a:rPr>
              <a:t>' then grade end) </a:t>
            </a:r>
            <a:r>
              <a:rPr lang="zh-CN" altLang="en-US" sz="2400" dirty="0">
                <a:solidFill>
                  <a:srgbClr val="FF0000"/>
                </a:solidFill>
              </a:rPr>
              <a:t>数据库原理</a:t>
            </a:r>
            <a:r>
              <a:rPr lang="en-US" altLang="zh-CN" sz="2400" dirty="0">
                <a:solidFill>
                  <a:srgbClr val="FF0000"/>
                </a:solidFill>
              </a:rPr>
              <a:t>,</a:t>
            </a:r>
          </a:p>
          <a:p>
            <a:pPr>
              <a:buFontTx/>
              <a:buNone/>
            </a:pPr>
            <a:r>
              <a:rPr lang="en-US" altLang="zh-CN" sz="2400" dirty="0"/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avg</a:t>
            </a:r>
            <a:r>
              <a:rPr lang="en-US" altLang="zh-CN" sz="2400" dirty="0">
                <a:solidFill>
                  <a:srgbClr val="FF0000"/>
                </a:solidFill>
              </a:rPr>
              <a:t>(case when </a:t>
            </a:r>
            <a:r>
              <a:rPr lang="en-US" altLang="zh-CN" sz="2400" dirty="0" err="1">
                <a:solidFill>
                  <a:srgbClr val="FF0000"/>
                </a:solidFill>
              </a:rPr>
              <a:t>cname</a:t>
            </a:r>
            <a:r>
              <a:rPr lang="en-US" altLang="zh-CN" sz="2400" dirty="0">
                <a:solidFill>
                  <a:srgbClr val="FF0000"/>
                </a:solidFill>
              </a:rPr>
              <a:t>='</a:t>
            </a:r>
            <a:r>
              <a:rPr lang="zh-CN" altLang="en-US" sz="2400" dirty="0">
                <a:solidFill>
                  <a:srgbClr val="FF0000"/>
                </a:solidFill>
              </a:rPr>
              <a:t>操作系统</a:t>
            </a:r>
            <a:r>
              <a:rPr lang="en-US" altLang="zh-CN" sz="2400" dirty="0">
                <a:solidFill>
                  <a:srgbClr val="FF0000"/>
                </a:solidFill>
              </a:rPr>
              <a:t>' then grade end) </a:t>
            </a:r>
            <a:r>
              <a:rPr lang="zh-CN" altLang="en-US" sz="2400" dirty="0">
                <a:solidFill>
                  <a:srgbClr val="FF0000"/>
                </a:solidFill>
              </a:rPr>
              <a:t>操作系统</a:t>
            </a:r>
          </a:p>
          <a:p>
            <a:pPr>
              <a:buFontTx/>
              <a:buNone/>
            </a:pPr>
            <a:r>
              <a:rPr lang="en-US" altLang="zh-CN" sz="2400" dirty="0"/>
              <a:t>  from student s  inner  join </a:t>
            </a:r>
            <a:r>
              <a:rPr lang="en-US" altLang="zh-CN" sz="2400" dirty="0" err="1"/>
              <a:t>Sc</a:t>
            </a:r>
            <a:r>
              <a:rPr lang="en-US" altLang="zh-CN" sz="2400" dirty="0"/>
              <a:t> on </a:t>
            </a:r>
            <a:r>
              <a:rPr lang="en-US" altLang="zh-CN" sz="2400" dirty="0" err="1"/>
              <a:t>s.Sno</a:t>
            </a:r>
            <a:r>
              <a:rPr lang="en-US" altLang="zh-CN" sz="2400" dirty="0"/>
              <a:t>=</a:t>
            </a:r>
            <a:r>
              <a:rPr lang="en-US" altLang="zh-CN" sz="2400" dirty="0" err="1"/>
              <a:t>SC.Sno</a:t>
            </a:r>
            <a:r>
              <a:rPr lang="en-US" altLang="zh-CN" sz="2400" dirty="0"/>
              <a:t> </a:t>
            </a:r>
          </a:p>
          <a:p>
            <a:pPr>
              <a:buFontTx/>
              <a:buNone/>
            </a:pPr>
            <a:r>
              <a:rPr lang="en-US" altLang="zh-CN" sz="2400" dirty="0"/>
              <a:t>             inner join  course c  on  </a:t>
            </a:r>
            <a:r>
              <a:rPr lang="en-US" altLang="zh-CN" sz="2400" dirty="0" err="1"/>
              <a:t>SC.Cno</a:t>
            </a:r>
            <a:r>
              <a:rPr lang="en-US" altLang="zh-CN" sz="2400" dirty="0"/>
              <a:t>=</a:t>
            </a:r>
            <a:r>
              <a:rPr lang="en-US" altLang="zh-CN" sz="2400" dirty="0" err="1"/>
              <a:t>c.cno</a:t>
            </a:r>
            <a:endParaRPr lang="en-US" altLang="zh-CN" sz="2400" dirty="0"/>
          </a:p>
          <a:p>
            <a:pPr>
              <a:buFontTx/>
              <a:buNone/>
            </a:pPr>
            <a:r>
              <a:rPr lang="en-US" altLang="zh-CN" sz="2400" dirty="0"/>
              <a:t>  group by </a:t>
            </a:r>
            <a:r>
              <a:rPr lang="en-US" altLang="zh-CN" sz="2400" dirty="0" err="1"/>
              <a:t>Sdept</a:t>
            </a:r>
            <a:endParaRPr lang="zh-CN" altLang="en-US" sz="2400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4608" y="1428750"/>
            <a:ext cx="5143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2574608" y="785813"/>
            <a:ext cx="7286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r>
              <a:rPr lang="zh-CN" altLang="en-US" sz="3200" i="0" dirty="0"/>
              <a:t>希望得到如下查询结果</a:t>
            </a:r>
            <a:r>
              <a:rPr lang="en-US" altLang="zh-CN" sz="3200" i="0" dirty="0"/>
              <a:t>(</a:t>
            </a:r>
            <a:r>
              <a:rPr lang="zh-CN" altLang="en-US" sz="3200" i="0" dirty="0"/>
              <a:t>各系平均成绩</a:t>
            </a:r>
            <a:r>
              <a:rPr lang="en-US" altLang="zh-CN" sz="3200" i="0" dirty="0"/>
              <a:t>)</a:t>
            </a:r>
            <a:r>
              <a:rPr lang="zh-CN" altLang="en-US" sz="3200" i="0" dirty="0"/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4707036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93065" y="746125"/>
            <a:ext cx="10984865" cy="285496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显示信息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注释语句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批处理</a:t>
            </a:r>
          </a:p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流程控制语句</a:t>
            </a:r>
          </a:p>
        </p:txBody>
      </p:sp>
      <p:sp>
        <p:nvSpPr>
          <p:cNvPr id="2" name="矩形 1"/>
          <p:cNvSpPr/>
          <p:nvPr/>
        </p:nvSpPr>
        <p:spPr>
          <a:xfrm>
            <a:off x="4313693" y="360088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1730</Words>
  <Application>Microsoft Macintosh PowerPoint</Application>
  <PresentationFormat>宽屏</PresentationFormat>
  <Paragraphs>206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宋体</vt:lpstr>
      <vt:lpstr>微软雅黑</vt:lpstr>
      <vt:lpstr>Arial</vt:lpstr>
      <vt:lpstr>Calibri</vt:lpstr>
      <vt:lpstr>Calibri Light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1375</cp:revision>
  <dcterms:created xsi:type="dcterms:W3CDTF">2014-07-02T10:42:00Z</dcterms:created>
  <dcterms:modified xsi:type="dcterms:W3CDTF">2025-09-26T01:01:19Z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2052-11.1.0.10700</vt:lpwstr>
  </property>
  <property fmtid="{D5CDD505-2E9C-101B-9397-08002B2CF9AE}" pid="4" name="ICV">
    <vt:lpwstr>F7767443D39144C79FC1849EF5EA1C14</vt:lpwstr>
  </property>
</Properties>
</file>