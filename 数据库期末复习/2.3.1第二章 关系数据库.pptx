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86" r:id="rId2"/>
    <p:sldId id="454" r:id="rId3"/>
    <p:sldId id="481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50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503" r:id="rId26"/>
    <p:sldId id="504" r:id="rId27"/>
    <p:sldId id="506" r:id="rId28"/>
    <p:sldId id="507" r:id="rId29"/>
    <p:sldId id="508" r:id="rId30"/>
    <p:sldId id="509" r:id="rId31"/>
    <p:sldId id="510" r:id="rId32"/>
    <p:sldId id="511" r:id="rId33"/>
    <p:sldId id="512" r:id="rId34"/>
    <p:sldId id="513" r:id="rId35"/>
    <p:sldId id="514" r:id="rId36"/>
    <p:sldId id="515" r:id="rId37"/>
    <p:sldId id="516" r:id="rId38"/>
    <p:sldId id="517" r:id="rId39"/>
    <p:sldId id="518" r:id="rId40"/>
    <p:sldId id="519" r:id="rId41"/>
    <p:sldId id="520" r:id="rId42"/>
    <p:sldId id="456" r:id="rId43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71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0000"/>
    <a:srgbClr val="1569F0"/>
    <a:srgbClr val="009900"/>
    <a:srgbClr val="F79646"/>
    <a:srgbClr val="009AD0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75463" autoAdjust="0"/>
  </p:normalViewPr>
  <p:slideViewPr>
    <p:cSldViewPr snapToGrid="0">
      <p:cViewPr varScale="1">
        <p:scale>
          <a:sx n="83" d="100"/>
          <a:sy n="83" d="100"/>
        </p:scale>
        <p:origin x="1752" y="184"/>
      </p:cViewPr>
      <p:guideLst>
        <p:guide orient="horz" pos="2205"/>
        <p:guide orient="horz" pos="2876"/>
        <p:guide orient="horz" pos="1298"/>
        <p:guide pos="3871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60"/>
        <p:guide pos="2880"/>
        <p:guide orient="horz" pos="2924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17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65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508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93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716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858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60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219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524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625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83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79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93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430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39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65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137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66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662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635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896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926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890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02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9404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354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933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5015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965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029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70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701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53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9494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683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568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6928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0771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568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7545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3053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4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4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5" name="图片 8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5612688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第二章    关系数据库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algn="ctr"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2.1 </a:t>
            </a:r>
            <a:r>
              <a:rPr lang="zh-CN" altLang="en-US" sz="3200" b="1" dirty="0"/>
              <a:t>关系数据模型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2.2 </a:t>
            </a:r>
            <a:r>
              <a:rPr lang="zh-CN" altLang="en-US" sz="3200" b="1" dirty="0"/>
              <a:t>关系的完整性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2.3 </a:t>
            </a:r>
            <a:r>
              <a:rPr lang="zh-CN" altLang="en-US" sz="3200" b="1" dirty="0">
                <a:solidFill>
                  <a:srgbClr val="FF0000"/>
                </a:solidFill>
              </a:rPr>
              <a:t>关系代数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836298" y="4128581"/>
            <a:ext cx="9777211" cy="2394937"/>
            <a:chOff x="539118" y="4142114"/>
            <a:chExt cx="9777211" cy="2394937"/>
          </a:xfrm>
        </p:grpSpPr>
        <p:grpSp>
          <p:nvGrpSpPr>
            <p:cNvPr id="31" name="组合 30"/>
            <p:cNvGrpSpPr/>
            <p:nvPr/>
          </p:nvGrpSpPr>
          <p:grpSpPr>
            <a:xfrm>
              <a:off x="539118" y="4142114"/>
              <a:ext cx="9455122" cy="2128649"/>
              <a:chOff x="600390" y="3386704"/>
              <a:chExt cx="9455122" cy="2128649"/>
            </a:xfrm>
          </p:grpSpPr>
          <p:sp>
            <p:nvSpPr>
              <p:cNvPr id="22" name="Freeform 17"/>
              <p:cNvSpPr>
                <a:spLocks/>
              </p:cNvSpPr>
              <p:nvPr/>
            </p:nvSpPr>
            <p:spPr bwMode="auto">
              <a:xfrm>
                <a:off x="6208596" y="4353772"/>
                <a:ext cx="228600" cy="152400"/>
              </a:xfrm>
              <a:custGeom>
                <a:avLst/>
                <a:gdLst>
                  <a:gd name="T0" fmla="*/ 0 w 336"/>
                  <a:gd name="T1" fmla="*/ 0 h 336"/>
                  <a:gd name="T2" fmla="*/ 0 w 336"/>
                  <a:gd name="T3" fmla="*/ 0 h 336"/>
                  <a:gd name="T4" fmla="*/ 0 w 336"/>
                  <a:gd name="T5" fmla="*/ 0 h 336"/>
                  <a:gd name="T6" fmla="*/ 0 w 336"/>
                  <a:gd name="T7" fmla="*/ 0 h 336"/>
                  <a:gd name="T8" fmla="*/ 0 w 336"/>
                  <a:gd name="T9" fmla="*/ 0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"/>
                  <a:gd name="T16" fmla="*/ 0 h 336"/>
                  <a:gd name="T17" fmla="*/ 336 w 336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" h="336">
                    <a:moveTo>
                      <a:pt x="0" y="0"/>
                    </a:moveTo>
                    <a:lnTo>
                      <a:pt x="0" y="336"/>
                    </a:lnTo>
                    <a:lnTo>
                      <a:pt x="336" y="0"/>
                    </a:lnTo>
                    <a:lnTo>
                      <a:pt x="336" y="33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2" name="组合 1"/>
              <p:cNvGrpSpPr/>
              <p:nvPr/>
            </p:nvGrpSpPr>
            <p:grpSpPr>
              <a:xfrm>
                <a:off x="600390" y="3386704"/>
                <a:ext cx="9455122" cy="2128649"/>
                <a:chOff x="600390" y="3657600"/>
                <a:chExt cx="9455122" cy="2128649"/>
              </a:xfrm>
            </p:grpSpPr>
            <p:sp>
              <p:nvSpPr>
                <p:cNvPr id="21" name="Rectangle 16"/>
                <p:cNvSpPr>
                  <a:spLocks noChangeArrowheads="1"/>
                </p:cNvSpPr>
                <p:nvPr/>
              </p:nvSpPr>
              <p:spPr bwMode="auto">
                <a:xfrm>
                  <a:off x="2692369" y="4377675"/>
                  <a:ext cx="4546437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8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 </a:t>
                  </a:r>
                  <a:r>
                    <a:rPr kumimoji="1" lang="zh-CN" altLang="en-US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专门的关系运算：</a:t>
                  </a:r>
                  <a:r>
                    <a:rPr kumimoji="1" lang="en-US" altLang="zh-CN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σπ    ÷ </a:t>
                  </a:r>
                </a:p>
              </p:txBody>
            </p:sp>
            <p:grpSp>
              <p:nvGrpSpPr>
                <p:cNvPr id="7" name="Group 5"/>
                <p:cNvGrpSpPr>
                  <a:grpSpLocks/>
                </p:cNvGrpSpPr>
                <p:nvPr/>
              </p:nvGrpSpPr>
              <p:grpSpPr bwMode="auto">
                <a:xfrm>
                  <a:off x="7331362" y="3657600"/>
                  <a:ext cx="2514600" cy="457200"/>
                  <a:chOff x="3600" y="2304"/>
                  <a:chExt cx="1584" cy="288"/>
                </a:xfrm>
              </p:grpSpPr>
              <p:sp>
                <p:nvSpPr>
                  <p:cNvPr id="8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2448"/>
                    <a:ext cx="336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2304"/>
                    <a:ext cx="120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kumimoji="1" lang="zh-CN" altLang="en-US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行的角度</a:t>
                    </a:r>
                  </a:p>
                </p:txBody>
              </p:sp>
            </p:grpSp>
            <p:grpSp>
              <p:nvGrpSpPr>
                <p:cNvPr id="10" name="Group 8"/>
                <p:cNvGrpSpPr>
                  <a:grpSpLocks/>
                </p:cNvGrpSpPr>
                <p:nvPr/>
              </p:nvGrpSpPr>
              <p:grpSpPr bwMode="auto">
                <a:xfrm>
                  <a:off x="7331362" y="4267200"/>
                  <a:ext cx="2724150" cy="457200"/>
                  <a:chOff x="3600" y="2688"/>
                  <a:chExt cx="1716" cy="288"/>
                </a:xfrm>
              </p:grpSpPr>
              <p:sp>
                <p:nvSpPr>
                  <p:cNvPr id="11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2832"/>
                    <a:ext cx="346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2688"/>
                    <a:ext cx="13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kumimoji="1" lang="zh-CN" altLang="en-US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行和列的角度</a:t>
                    </a:r>
                  </a:p>
                </p:txBody>
              </p:sp>
            </p:grpSp>
            <p:sp>
              <p:nvSpPr>
                <p:cNvPr id="14" name="Rectangle 12"/>
                <p:cNvSpPr>
                  <a:spLocks noChangeArrowheads="1"/>
                </p:cNvSpPr>
                <p:nvPr/>
              </p:nvSpPr>
              <p:spPr bwMode="auto">
                <a:xfrm>
                  <a:off x="2451040" y="3723357"/>
                  <a:ext cx="3772186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8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 </a:t>
                  </a:r>
                  <a:r>
                    <a:rPr kumimoji="1" lang="zh-CN" altLang="en-US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集合运算：∪ ∩ － </a:t>
                  </a:r>
                  <a:r>
                    <a:rPr kumimoji="1" lang="zh-CN" altLang="zh-CN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×</a:t>
                  </a:r>
                  <a:r>
                    <a:rPr kumimoji="1" lang="en-US" altLang="zh-CN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 </a:t>
                  </a:r>
                </a:p>
              </p:txBody>
            </p:sp>
            <p:sp>
              <p:nvSpPr>
                <p:cNvPr id="19" name="AutoShape 19"/>
                <p:cNvSpPr>
                  <a:spLocks/>
                </p:cNvSpPr>
                <p:nvPr/>
              </p:nvSpPr>
              <p:spPr bwMode="auto">
                <a:xfrm>
                  <a:off x="2298639" y="3986249"/>
                  <a:ext cx="356501" cy="1800000"/>
                </a:xfrm>
                <a:prstGeom prst="leftBrace">
                  <a:avLst>
                    <a:gd name="adj1" fmla="val 137500"/>
                    <a:gd name="adj2" fmla="val 50000"/>
                  </a:avLst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" name="Rectangle 20"/>
                <p:cNvSpPr>
                  <a:spLocks noChangeArrowheads="1"/>
                </p:cNvSpPr>
                <p:nvPr/>
              </p:nvSpPr>
              <p:spPr bwMode="auto">
                <a:xfrm>
                  <a:off x="600390" y="4639285"/>
                  <a:ext cx="185064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marL="457200" indent="-457200" algn="ctr" eaLnBrk="1" hangingPunct="1">
                    <a:buFont typeface="Wingdings" panose="05000000000000000000" pitchFamily="2" charset="2"/>
                    <a:buChar char="p"/>
                  </a:pPr>
                  <a:r>
                    <a:rPr kumimoji="1" lang="zh-CN" altLang="en-US" sz="2400" b="1" dirty="0">
                      <a:solidFill>
                        <a:schemeClr val="tx2"/>
                      </a:solidFill>
                      <a:latin typeface="楷体_GB2312" pitchFamily="49" charset="-122"/>
                    </a:rPr>
                    <a:t>运算符</a:t>
                  </a:r>
                  <a:endParaRPr kumimoji="1" lang="en-US" altLang="zh-CN" sz="2400" b="1" dirty="0">
                    <a:solidFill>
                      <a:schemeClr val="tx2"/>
                    </a:solidFill>
                    <a:latin typeface="楷体_GB2312" pitchFamily="49" charset="-122"/>
                  </a:endParaRPr>
                </a:p>
              </p:txBody>
            </p:sp>
          </p:grpSp>
        </p:grpSp>
        <p:grpSp>
          <p:nvGrpSpPr>
            <p:cNvPr id="3" name="组合 2"/>
            <p:cNvGrpSpPr/>
            <p:nvPr/>
          </p:nvGrpSpPr>
          <p:grpSpPr>
            <a:xfrm>
              <a:off x="2631097" y="5543631"/>
              <a:ext cx="7685232" cy="993420"/>
              <a:chOff x="2617930" y="5127379"/>
              <a:chExt cx="7685232" cy="993420"/>
            </a:xfrm>
          </p:grpSpPr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2617930" y="5127379"/>
                <a:ext cx="420980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2400" b="1" dirty="0">
                    <a:solidFill>
                      <a:schemeClr val="tx2"/>
                    </a:solidFill>
                    <a:latin typeface="楷体_GB2312" pitchFamily="49" charset="-122"/>
                  </a:rPr>
                  <a:t>比较运算符：</a:t>
                </a:r>
                <a:r>
                  <a:rPr kumimoji="1" lang="en-US" altLang="zh-CN" sz="2400" b="1" dirty="0">
                    <a:solidFill>
                      <a:schemeClr val="tx2"/>
                    </a:solidFill>
                    <a:latin typeface="楷体_GB2312" pitchFamily="49" charset="-122"/>
                  </a:rPr>
                  <a:t>&gt; ≥ &lt; ≤</a:t>
                </a:r>
                <a:r>
                  <a:rPr kumimoji="1" lang="en-US" altLang="zh-CN" sz="2400" dirty="0">
                    <a:latin typeface="楷体_GB2312" pitchFamily="49" charset="-122"/>
                  </a:rPr>
                  <a:t> = </a:t>
                </a:r>
                <a:r>
                  <a:rPr kumimoji="1" lang="en-US" altLang="zh-CN" sz="2400" b="1" dirty="0">
                    <a:solidFill>
                      <a:schemeClr val="tx2"/>
                    </a:solidFill>
                    <a:latin typeface="楷体_GB2312" pitchFamily="49" charset="-122"/>
                  </a:rPr>
                  <a:t>&lt;&gt;</a:t>
                </a: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2652652" y="5659134"/>
                <a:ext cx="43434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 sz="2400" b="1" dirty="0">
                    <a:solidFill>
                      <a:schemeClr val="tx2"/>
                    </a:solidFill>
                    <a:latin typeface="楷体_GB2312" pitchFamily="49" charset="-122"/>
                  </a:rPr>
                  <a:t>逻辑运算符：</a:t>
                </a:r>
                <a:r>
                  <a:rPr kumimoji="1" lang="zh-CN" altLang="en-US" sz="2400" b="1" dirty="0">
                    <a:latin typeface="楷体_GB2312" pitchFamily="49" charset="-122"/>
                  </a:rPr>
                  <a:t>∧  ∨ ┐</a:t>
                </a:r>
                <a:endParaRPr kumimoji="1" lang="zh-CN" altLang="en-US" sz="2400" b="1" dirty="0">
                  <a:solidFill>
                    <a:schemeClr val="tx2"/>
                  </a:solidFill>
                  <a:latin typeface="楷体_GB2312" pitchFamily="49" charset="-122"/>
                </a:endParaRPr>
              </a:p>
            </p:txBody>
          </p:sp>
          <p:grpSp>
            <p:nvGrpSpPr>
              <p:cNvPr id="23" name="Group 21"/>
              <p:cNvGrpSpPr>
                <a:grpSpLocks/>
              </p:cNvGrpSpPr>
              <p:nvPr/>
            </p:nvGrpSpPr>
            <p:grpSpPr bwMode="auto">
              <a:xfrm>
                <a:off x="7350412" y="5138738"/>
                <a:ext cx="2952750" cy="822325"/>
                <a:chOff x="3408" y="3197"/>
                <a:chExt cx="1860" cy="518"/>
              </a:xfrm>
            </p:grpSpPr>
            <p:grpSp>
              <p:nvGrpSpPr>
                <p:cNvPr id="25" name="Group 22"/>
                <p:cNvGrpSpPr>
                  <a:grpSpLocks/>
                </p:cNvGrpSpPr>
                <p:nvPr/>
              </p:nvGrpSpPr>
              <p:grpSpPr bwMode="auto">
                <a:xfrm>
                  <a:off x="3552" y="3197"/>
                  <a:ext cx="1716" cy="518"/>
                  <a:chOff x="3600" y="2573"/>
                  <a:chExt cx="1716" cy="518"/>
                </a:xfrm>
              </p:grpSpPr>
              <p:sp>
                <p:nvSpPr>
                  <p:cNvPr id="27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2832"/>
                    <a:ext cx="346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2573"/>
                    <a:ext cx="1332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22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kumimoji="1" lang="zh-CN" altLang="en-US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辅助专门的关系运算操作</a:t>
                    </a:r>
                  </a:p>
                </p:txBody>
              </p:sp>
            </p:grpSp>
            <p:sp>
              <p:nvSpPr>
                <p:cNvPr id="26" name="AutoShape 25"/>
                <p:cNvSpPr>
                  <a:spLocks/>
                </p:cNvSpPr>
                <p:nvPr/>
              </p:nvSpPr>
              <p:spPr bwMode="auto">
                <a:xfrm>
                  <a:off x="3408" y="3216"/>
                  <a:ext cx="96" cy="480"/>
                </a:xfrm>
                <a:prstGeom prst="rightBrace">
                  <a:avLst>
                    <a:gd name="adj1" fmla="val 41667"/>
                    <a:gd name="adj2" fmla="val 50000"/>
                  </a:avLst>
                </a:prstGeom>
                <a:noFill/>
                <a:ln w="222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77455" y="704769"/>
            <a:ext cx="940723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关系代数作为研究关系数据语言的数学工具，是一种抽象的查询语言，用对关系的运算来表达查询。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lnSpc>
                <a:spcPct val="125000"/>
              </a:lnSpc>
              <a:buClr>
                <a:srgbClr val="FF0000"/>
              </a:buClr>
              <a:buNone/>
            </a:pPr>
            <a:endParaRPr lang="zh-CN" altLang="en-US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15550" y="2701972"/>
            <a:ext cx="784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运算三要素：运算对象，运算符，运算结果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376" y="3297584"/>
            <a:ext cx="4258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运算对象：关系</a:t>
            </a:r>
            <a:endParaRPr kumimoji="1"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运算结果：关系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348735" y="1822128"/>
            <a:ext cx="3488784" cy="879845"/>
            <a:chOff x="1929769" y="1805274"/>
            <a:chExt cx="3488784" cy="879845"/>
          </a:xfrm>
        </p:grpSpPr>
        <p:sp>
          <p:nvSpPr>
            <p:cNvPr id="29" name="Rectangle 12"/>
            <p:cNvSpPr>
              <a:spLocks noChangeArrowheads="1"/>
            </p:cNvSpPr>
            <p:nvPr/>
          </p:nvSpPr>
          <p:spPr bwMode="auto">
            <a:xfrm>
              <a:off x="3297460" y="1805274"/>
              <a:ext cx="212109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 dirty="0">
                  <a:solidFill>
                    <a:schemeClr val="tx2"/>
                  </a:solidFill>
                  <a:latin typeface="楷体_GB2312" pitchFamily="49" charset="-122"/>
                </a:rPr>
                <a:t> </a:t>
              </a:r>
              <a:r>
                <a:rPr kumimoji="1" lang="zh-CN" altLang="en-US" sz="2000" b="1" dirty="0">
                  <a:solidFill>
                    <a:schemeClr val="tx2"/>
                  </a:solidFill>
                  <a:latin typeface="楷体_GB2312" pitchFamily="49" charset="-122"/>
                </a:rPr>
                <a:t>传统的集合运算</a:t>
              </a:r>
              <a:endParaRPr kumimoji="1" lang="en-US" altLang="zh-CN" sz="2000" b="1" dirty="0">
                <a:solidFill>
                  <a:schemeClr val="tx2"/>
                </a:solidFill>
                <a:latin typeface="楷体_GB2312" pitchFamily="49" charset="-122"/>
              </a:endParaRP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3287449" y="2285009"/>
              <a:ext cx="212109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 dirty="0">
                  <a:solidFill>
                    <a:schemeClr val="tx2"/>
                  </a:solidFill>
                  <a:latin typeface="楷体_GB2312" pitchFamily="49" charset="-122"/>
                </a:rPr>
                <a:t> </a:t>
              </a:r>
              <a:r>
                <a:rPr kumimoji="1" lang="zh-CN" altLang="en-US" sz="2000" b="1" dirty="0">
                  <a:solidFill>
                    <a:schemeClr val="tx2"/>
                  </a:solidFill>
                  <a:latin typeface="楷体_GB2312" pitchFamily="49" charset="-122"/>
                </a:rPr>
                <a:t>专门的关系运算</a:t>
              </a:r>
              <a:endParaRPr kumimoji="1" lang="en-US" altLang="zh-CN" sz="2000" b="1" dirty="0">
                <a:solidFill>
                  <a:schemeClr val="tx2"/>
                </a:solidFill>
                <a:latin typeface="楷体_GB2312" pitchFamily="49" charset="-122"/>
              </a:endParaRPr>
            </a:p>
          </p:txBody>
        </p:sp>
        <p:sp>
          <p:nvSpPr>
            <p:cNvPr id="34" name="AutoShape 19"/>
            <p:cNvSpPr>
              <a:spLocks/>
            </p:cNvSpPr>
            <p:nvPr/>
          </p:nvSpPr>
          <p:spPr bwMode="auto">
            <a:xfrm>
              <a:off x="3179449" y="1902051"/>
              <a:ext cx="216000" cy="720000"/>
            </a:xfrm>
            <a:prstGeom prst="leftBrace">
              <a:avLst>
                <a:gd name="adj1" fmla="val 137500"/>
                <a:gd name="adj2" fmla="val 50000"/>
              </a:avLst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929769" y="2083916"/>
              <a:ext cx="1249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关系操作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694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7908" y="921010"/>
            <a:ext cx="10972800" cy="160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传统的集合运算是二目运算，包括并、交、差、广义笛卡尔积四种运算，如图。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387108" y="3435925"/>
            <a:ext cx="1447800" cy="1433513"/>
            <a:chOff x="912" y="1536"/>
            <a:chExt cx="912" cy="903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248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912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248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并</a:t>
              </a:r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2262908" y="3435925"/>
            <a:ext cx="1524000" cy="1357313"/>
            <a:chOff x="4032" y="1584"/>
            <a:chExt cx="960" cy="855"/>
          </a:xfrm>
        </p:grpSpPr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032" y="1584"/>
              <a:ext cx="576" cy="576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416" y="1584"/>
              <a:ext cx="576" cy="576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4431" y="1681"/>
              <a:ext cx="134" cy="143"/>
            </a:xfrm>
            <a:custGeom>
              <a:avLst/>
              <a:gdLst>
                <a:gd name="T0" fmla="*/ 120 w 134"/>
                <a:gd name="T1" fmla="*/ 14 h 143"/>
                <a:gd name="T2" fmla="*/ 77 w 134"/>
                <a:gd name="T3" fmla="*/ 57 h 143"/>
                <a:gd name="T4" fmla="*/ 34 w 134"/>
                <a:gd name="T5" fmla="*/ 100 h 143"/>
                <a:gd name="T6" fmla="*/ 0 w 134"/>
                <a:gd name="T7" fmla="*/ 143 h 1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143"/>
                <a:gd name="T14" fmla="*/ 134 w 134"/>
                <a:gd name="T15" fmla="*/ 143 h 1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143">
                  <a:moveTo>
                    <a:pt x="120" y="14"/>
                  </a:moveTo>
                  <a:cubicBezTo>
                    <a:pt x="75" y="83"/>
                    <a:pt x="134" y="0"/>
                    <a:pt x="77" y="57"/>
                  </a:cubicBezTo>
                  <a:cubicBezTo>
                    <a:pt x="20" y="114"/>
                    <a:pt x="103" y="55"/>
                    <a:pt x="34" y="100"/>
                  </a:cubicBezTo>
                  <a:cubicBezTo>
                    <a:pt x="13" y="133"/>
                    <a:pt x="24" y="119"/>
                    <a:pt x="0" y="143"/>
                  </a:cubicBezTo>
                </a:path>
              </a:pathLst>
            </a:custGeom>
            <a:solidFill>
              <a:srgbClr val="FF0066"/>
            </a:solidFill>
            <a:ln w="254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>
              <a:off x="4416" y="172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416" y="1776"/>
              <a:ext cx="192" cy="192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4416" y="1728"/>
              <a:ext cx="144" cy="144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416" y="1824"/>
              <a:ext cx="192" cy="192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H="1">
              <a:off x="4464" y="1920"/>
              <a:ext cx="144" cy="144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4464" y="211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交</a:t>
              </a:r>
            </a:p>
          </p:txBody>
        </p:sp>
      </p:grp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8130308" y="3435925"/>
            <a:ext cx="1524000" cy="1433513"/>
            <a:chOff x="2304" y="1536"/>
            <a:chExt cx="960" cy="903"/>
          </a:xfrm>
        </p:grpSpPr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2688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差</a:t>
              </a:r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2304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2688" y="1536"/>
              <a:ext cx="57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6" name="Group 22"/>
          <p:cNvGrpSpPr>
            <a:grpSpLocks/>
          </p:cNvGrpSpPr>
          <p:nvPr/>
        </p:nvGrpSpPr>
        <p:grpSpPr bwMode="auto">
          <a:xfrm>
            <a:off x="3939308" y="4731325"/>
            <a:ext cx="3962400" cy="1752600"/>
            <a:chOff x="1440" y="2640"/>
            <a:chExt cx="2496" cy="1104"/>
          </a:xfrm>
        </p:grpSpPr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1440" y="2640"/>
              <a:ext cx="1152" cy="1104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8" name="Group 24"/>
            <p:cNvGrpSpPr>
              <a:grpSpLocks/>
            </p:cNvGrpSpPr>
            <p:nvPr/>
          </p:nvGrpSpPr>
          <p:grpSpPr bwMode="auto">
            <a:xfrm>
              <a:off x="1536" y="2880"/>
              <a:ext cx="912" cy="576"/>
              <a:chOff x="960" y="2016"/>
              <a:chExt cx="912" cy="576"/>
            </a:xfrm>
          </p:grpSpPr>
          <p:sp>
            <p:nvSpPr>
              <p:cNvPr id="30" name="Oval 25"/>
              <p:cNvSpPr>
                <a:spLocks noChangeArrowheads="1"/>
              </p:cNvSpPr>
              <p:nvPr/>
            </p:nvSpPr>
            <p:spPr bwMode="auto">
              <a:xfrm>
                <a:off x="1296" y="2016"/>
                <a:ext cx="576" cy="57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" name="Oval 26"/>
              <p:cNvSpPr>
                <a:spLocks noChangeArrowheads="1"/>
              </p:cNvSpPr>
              <p:nvPr/>
            </p:nvSpPr>
            <p:spPr bwMode="auto">
              <a:xfrm>
                <a:off x="960" y="2016"/>
                <a:ext cx="576" cy="57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2688" y="2976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笛卡尔积</a:t>
              </a:r>
            </a:p>
          </p:txBody>
        </p:sp>
      </p:grp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4048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1350815" y="990600"/>
            <a:ext cx="77724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并（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Union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ea typeface="楷体_GB2312" pitchFamily="49" charset="-122"/>
              </a:rPr>
              <a:t>—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所有至少出现在两个关系中之一的元组的集合。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350815" y="4572000"/>
            <a:ext cx="8763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400" b="1" dirty="0">
                <a:solidFill>
                  <a:schemeClr val="hlink"/>
                </a:solidFill>
                <a:latin typeface="楷体_GB2312" pitchFamily="49" charset="-122"/>
              </a:rPr>
              <a:t>注：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两个关系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若进行并运算，则它们必须是</a:t>
            </a:r>
            <a:r>
              <a:rPr kumimoji="1" lang="zh-CN" altLang="en-US" sz="2400" b="1" dirty="0">
                <a:solidFill>
                  <a:schemeClr val="hlink"/>
                </a:solidFill>
                <a:latin typeface="楷体_GB2312" pitchFamily="49" charset="-122"/>
              </a:rPr>
              <a:t>相容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的：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  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）关系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必须是同目的，即它们的属性数目必须相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同；</a:t>
            </a:r>
            <a:endParaRPr kumimoji="1" lang="zh-CN" altLang="en-US" sz="2400" b="1" dirty="0">
              <a:solidFill>
                <a:schemeClr val="tx2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  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）对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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的第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个属性的域必须和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的第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个属性的域相同。</a:t>
            </a: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3179615" y="2057400"/>
            <a:ext cx="3890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 ={ t | t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 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 t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 }</a:t>
            </a:r>
          </a:p>
        </p:txBody>
      </p:sp>
      <p:grpSp>
        <p:nvGrpSpPr>
          <p:cNvPr id="37" name="Group 6"/>
          <p:cNvGrpSpPr>
            <a:grpSpLocks/>
          </p:cNvGrpSpPr>
          <p:nvPr/>
        </p:nvGrpSpPr>
        <p:grpSpPr bwMode="auto">
          <a:xfrm>
            <a:off x="4246415" y="2971800"/>
            <a:ext cx="2209800" cy="1433513"/>
            <a:chOff x="912" y="1536"/>
            <a:chExt cx="912" cy="903"/>
          </a:xfrm>
        </p:grpSpPr>
        <p:sp>
          <p:nvSpPr>
            <p:cNvPr id="38" name="Oval 7"/>
            <p:cNvSpPr>
              <a:spLocks noChangeArrowheads="1"/>
            </p:cNvSpPr>
            <p:nvPr/>
          </p:nvSpPr>
          <p:spPr bwMode="auto">
            <a:xfrm>
              <a:off x="1248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8"/>
            <p:cNvSpPr>
              <a:spLocks noChangeArrowheads="1"/>
            </p:cNvSpPr>
            <p:nvPr/>
          </p:nvSpPr>
          <p:spPr bwMode="auto">
            <a:xfrm>
              <a:off x="912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Text Box 9"/>
            <p:cNvSpPr txBox="1">
              <a:spLocks noChangeArrowheads="1"/>
            </p:cNvSpPr>
            <p:nvPr/>
          </p:nvSpPr>
          <p:spPr bwMode="auto">
            <a:xfrm>
              <a:off x="1248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56077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rs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144" y="1143000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320" y="1524000"/>
            <a:ext cx="369093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rs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17" y="3684588"/>
            <a:ext cx="266700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箭头连接符 10"/>
          <p:cNvCxnSpPr/>
          <p:nvPr/>
        </p:nvCxnSpPr>
        <p:spPr>
          <a:xfrm>
            <a:off x="5104244" y="2710543"/>
            <a:ext cx="1143000" cy="835932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061857" y="3241766"/>
            <a:ext cx="1185387" cy="997131"/>
          </a:xfrm>
          <a:prstGeom prst="straightConnector1">
            <a:avLst/>
          </a:prstGeom>
          <a:ln w="12700">
            <a:solidFill>
              <a:srgbClr val="1569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5201194" y="3684588"/>
            <a:ext cx="1046050" cy="116760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5201194" y="4340894"/>
            <a:ext cx="1072422" cy="1334917"/>
          </a:xfrm>
          <a:prstGeom prst="straightConnector1">
            <a:avLst/>
          </a:prstGeom>
          <a:ln w="12700">
            <a:solidFill>
              <a:srgbClr val="1569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106783" y="2534194"/>
            <a:ext cx="2054067" cy="352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147127" y="4599051"/>
            <a:ext cx="2054067" cy="352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321844" y="3429000"/>
            <a:ext cx="2645807" cy="411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06785" y="2984815"/>
            <a:ext cx="2054067" cy="352698"/>
          </a:xfrm>
          <a:prstGeom prst="rect">
            <a:avLst/>
          </a:prstGeom>
          <a:noFill/>
          <a:ln>
            <a:solidFill>
              <a:srgbClr val="1569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318191" y="4062548"/>
            <a:ext cx="2649460" cy="352698"/>
          </a:xfrm>
          <a:prstGeom prst="rect">
            <a:avLst/>
          </a:prstGeom>
          <a:noFill/>
          <a:ln>
            <a:solidFill>
              <a:srgbClr val="1569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106784" y="5499462"/>
            <a:ext cx="2054067" cy="352698"/>
          </a:xfrm>
          <a:prstGeom prst="rect">
            <a:avLst/>
          </a:prstGeom>
          <a:noFill/>
          <a:ln>
            <a:solidFill>
              <a:srgbClr val="1569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22512" y="1143000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1082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23850" y="885102"/>
            <a:ext cx="9836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</a:rPr>
              <a:t>『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</a:rPr>
              <a:t>A』</a:t>
            </a:r>
            <a:r>
              <a:rPr lang="en-US" altLang="zh-CN" sz="2800" b="1" dirty="0">
                <a:latin typeface="楷体_GB2312" pitchFamily="49" charset="-122"/>
              </a:rPr>
              <a:t>:</a:t>
            </a:r>
            <a:r>
              <a:rPr lang="zh-CN" altLang="en-US" sz="2800" b="1" dirty="0">
                <a:latin typeface="楷体_GB2312" pitchFamily="49" charset="-122"/>
              </a:rPr>
              <a:t>某学生成绩管理系统使用的数据表</a:t>
            </a:r>
            <a:r>
              <a:rPr lang="zh-CN" altLang="en-US" sz="2800" b="1" dirty="0">
                <a:solidFill>
                  <a:srgbClr val="FF0066"/>
                </a:solidFill>
                <a:latin typeface="楷体_GB2312" pitchFamily="49" charset="-122"/>
              </a:rPr>
              <a:t>部分数据</a:t>
            </a:r>
            <a:r>
              <a:rPr lang="zh-CN" altLang="en-US" sz="2800" b="1" dirty="0">
                <a:latin typeface="楷体_GB2312" pitchFamily="49" charset="-122"/>
              </a:rPr>
              <a:t>如下</a:t>
            </a:r>
            <a:r>
              <a:rPr lang="en-US" altLang="zh-CN" sz="2800" b="1" dirty="0">
                <a:latin typeface="楷体_GB2312" pitchFamily="49" charset="-122"/>
              </a:rPr>
              <a:t>: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96625"/>
              </p:ext>
            </p:extLst>
          </p:nvPr>
        </p:nvGraphicFramePr>
        <p:xfrm>
          <a:off x="1071155" y="1643784"/>
          <a:ext cx="4371513" cy="2247900"/>
        </p:xfrm>
        <a:graphic>
          <a:graphicData uri="http://schemas.openxmlformats.org/drawingml/2006/table">
            <a:tbl>
              <a:tblPr/>
              <a:tblGrid>
                <a:gridCol w="177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323850" y="1788246"/>
            <a:ext cx="792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9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057555"/>
              </p:ext>
            </p:extLst>
          </p:nvPr>
        </p:nvGraphicFramePr>
        <p:xfrm>
          <a:off x="6339604" y="1643784"/>
          <a:ext cx="4633196" cy="1685925"/>
        </p:xfrm>
        <a:graphic>
          <a:graphicData uri="http://schemas.openxmlformats.org/drawingml/2006/table">
            <a:tbl>
              <a:tblPr/>
              <a:tblGrid>
                <a:gridCol w="200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5692" y="1788247"/>
            <a:ext cx="792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en-US" altLang="zh-CN" sz="3200" b="1" baseline="-25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" name="Text Box 45"/>
          <p:cNvSpPr txBox="1">
            <a:spLocks noChangeArrowheads="1"/>
          </p:cNvSpPr>
          <p:nvPr/>
        </p:nvSpPr>
        <p:spPr bwMode="auto">
          <a:xfrm>
            <a:off x="4145679" y="4452072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en-US" altLang="zh-CN" sz="3200" b="1" baseline="-25000">
                <a:ea typeface="宋体" panose="02010600030101010101" pitchFamily="2" charset="-122"/>
              </a:rPr>
              <a:t>1</a:t>
            </a:r>
            <a:r>
              <a:rPr lang="en-US" altLang="zh-CN" sz="3200" b="1">
                <a:ea typeface="宋体" panose="02010600030101010101" pitchFamily="2" charset="-122"/>
              </a:rPr>
              <a:t>UG</a:t>
            </a:r>
            <a:r>
              <a:rPr lang="en-US" altLang="zh-CN" sz="3200" b="1" baseline="-25000"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12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34431"/>
              </p:ext>
            </p:extLst>
          </p:nvPr>
        </p:nvGraphicFramePr>
        <p:xfrm>
          <a:off x="6361611" y="3731347"/>
          <a:ext cx="4643846" cy="2809875"/>
        </p:xfrm>
        <a:graphic>
          <a:graphicData uri="http://schemas.openxmlformats.org/drawingml/2006/table">
            <a:tbl>
              <a:tblPr/>
              <a:tblGrid>
                <a:gridCol w="2037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2873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85089" y="990600"/>
            <a:ext cx="77724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差（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Difference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chemeClr val="tx2"/>
                </a:solidFill>
                <a:ea typeface="楷体_GB2312" pitchFamily="49" charset="-122"/>
              </a:rPr>
              <a:t>—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由属于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但是不属于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的元组构成的集合。</a:t>
            </a: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5814289" y="2209800"/>
            <a:ext cx="152400" cy="330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963139" y="2089150"/>
            <a:ext cx="3540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zh-CN" altLang="en-US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S={t|t∈R∧t∈S}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604489" y="3124200"/>
            <a:ext cx="2667000" cy="1433513"/>
            <a:chOff x="2304" y="1536"/>
            <a:chExt cx="960" cy="903"/>
          </a:xfrm>
        </p:grpSpPr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688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差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304" y="1536"/>
              <a:ext cx="576" cy="576"/>
            </a:xfrm>
            <a:prstGeom prst="ellipse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2688" y="1536"/>
              <a:ext cx="576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325884" y="5389563"/>
            <a:ext cx="7301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400" b="1" dirty="0">
                <a:solidFill>
                  <a:schemeClr val="hlink"/>
                </a:solidFill>
                <a:latin typeface="楷体_GB2312" pitchFamily="49" charset="-122"/>
              </a:rPr>
              <a:t>注：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必须相容（属性集相同，但属性名可不同）</a:t>
            </a:r>
          </a:p>
        </p:txBody>
      </p:sp>
    </p:spTree>
    <p:extLst>
      <p:ext uri="{BB962C8B-B14F-4D97-AF65-F5344CB8AC3E}">
        <p14:creationId xmlns:p14="http://schemas.microsoft.com/office/powerpoint/2010/main" val="328546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s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598" y="1063625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rs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598" y="3605213"/>
            <a:ext cx="266700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598" y="1981200"/>
            <a:ext cx="434340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22512" y="1143000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9926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88515" y="849890"/>
            <a:ext cx="8497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『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实例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B』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710025"/>
              </p:ext>
            </p:extLst>
          </p:nvPr>
        </p:nvGraphicFramePr>
        <p:xfrm>
          <a:off x="1619795" y="1745382"/>
          <a:ext cx="4441716" cy="2247900"/>
        </p:xfrm>
        <a:graphic>
          <a:graphicData uri="http://schemas.openxmlformats.org/drawingml/2006/table">
            <a:tbl>
              <a:tblPr/>
              <a:tblGrid>
                <a:gridCol w="1849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488515" y="1785342"/>
            <a:ext cx="792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9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85464"/>
              </p:ext>
            </p:extLst>
          </p:nvPr>
        </p:nvGraphicFramePr>
        <p:xfrm>
          <a:off x="6958447" y="1745382"/>
          <a:ext cx="4288673" cy="1685925"/>
        </p:xfrm>
        <a:graphic>
          <a:graphicData uri="http://schemas.openxmlformats.org/drawingml/2006/table">
            <a:tbl>
              <a:tblPr/>
              <a:tblGrid>
                <a:gridCol w="1826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134535" y="1889845"/>
            <a:ext cx="792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en-US" altLang="zh-CN" sz="3200" b="1" baseline="-25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" name="Text Box 45"/>
          <p:cNvSpPr txBox="1">
            <a:spLocks noChangeArrowheads="1"/>
          </p:cNvSpPr>
          <p:nvPr/>
        </p:nvSpPr>
        <p:spPr bwMode="auto">
          <a:xfrm>
            <a:off x="6181842" y="4553669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-G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12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84612"/>
              </p:ext>
            </p:extLst>
          </p:nvPr>
        </p:nvGraphicFramePr>
        <p:xfrm>
          <a:off x="7521057" y="4281165"/>
          <a:ext cx="4355011" cy="1124443"/>
        </p:xfrm>
        <a:graphic>
          <a:graphicData uri="http://schemas.openxmlformats.org/drawingml/2006/table">
            <a:tbl>
              <a:tblPr/>
              <a:tblGrid>
                <a:gridCol w="1877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4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Box 45"/>
          <p:cNvSpPr txBox="1">
            <a:spLocks noChangeArrowheads="1"/>
          </p:cNvSpPr>
          <p:nvPr/>
        </p:nvSpPr>
        <p:spPr bwMode="auto">
          <a:xfrm>
            <a:off x="245870" y="4699538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ea typeface="宋体" panose="02010600030101010101" pitchFamily="2" charset="-122"/>
              </a:rPr>
              <a:t>-G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1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79110"/>
              </p:ext>
            </p:extLst>
          </p:nvPr>
        </p:nvGraphicFramePr>
        <p:xfrm>
          <a:off x="1654284" y="4343400"/>
          <a:ext cx="4441716" cy="1680430"/>
        </p:xfrm>
        <a:graphic>
          <a:graphicData uri="http://schemas.openxmlformats.org/drawingml/2006/table">
            <a:tbl>
              <a:tblPr/>
              <a:tblGrid>
                <a:gridCol w="1849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148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15107" y="990600"/>
            <a:ext cx="7772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3300"/>
                </a:solidFill>
              </a:rPr>
              <a:t>3. </a:t>
            </a:r>
            <a:r>
              <a:rPr lang="zh-CN" altLang="en-US" b="1">
                <a:solidFill>
                  <a:srgbClr val="FF3300"/>
                </a:solidFill>
              </a:rPr>
              <a:t>交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Intersection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    </a:t>
            </a:r>
            <a:r>
              <a:rPr lang="en-US" altLang="zh-CN" sz="2400" b="1">
                <a:solidFill>
                  <a:schemeClr val="tx2"/>
                </a:solidFill>
              </a:rPr>
              <a:t>—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所有同时出现在两个关系中的元组集合。</a:t>
            </a:r>
          </a:p>
          <a:p>
            <a:pPr lvl="1" algn="ctr" eaLnBrk="1" hangingPunct="1">
              <a:buSzPct val="55000"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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 ={ t | t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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 }</a:t>
            </a:r>
            <a:endParaRPr lang="en-US" altLang="zh-CN" b="1">
              <a:solidFill>
                <a:srgbClr val="FF3300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15107" y="4125582"/>
            <a:ext cx="10795002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lvl="1" eaLnBrk="1" hangingPunct="1"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chemeClr val="hlink"/>
                </a:solidFill>
                <a:latin typeface="楷体_GB2312" pitchFamily="49" charset="-122"/>
              </a:rPr>
              <a:t>注：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 交运算可以通过差运算来表示：</a:t>
            </a:r>
          </a:p>
          <a:p>
            <a:pPr lvl="1" algn="ctr" eaLnBrk="1" hangingPunct="1"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kumimoji="1" lang="en-US" altLang="zh-CN" sz="2800" b="1" dirty="0" err="1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楷体_GB2312" pitchFamily="49" charset="-122"/>
                <a:sym typeface="Symbol" panose="05050102010706020507" pitchFamily="18" charset="2"/>
              </a:rPr>
              <a:t>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楷体_GB2312" pitchFamily="49" charset="-122"/>
              </a:rPr>
              <a:t>S</a:t>
            </a:r>
            <a:r>
              <a:rPr kumimoji="1" lang="en-US" altLang="zh-CN" sz="2800" b="1" dirty="0">
                <a:solidFill>
                  <a:srgbClr val="FF3300"/>
                </a:solidFill>
                <a:latin typeface="楷体_GB2312" pitchFamily="49" charset="-122"/>
              </a:rPr>
              <a:t> = R </a:t>
            </a:r>
            <a:r>
              <a:rPr kumimoji="1" lang="en-US" altLang="zh-CN" sz="2800" b="1" dirty="0">
                <a:solidFill>
                  <a:srgbClr val="FF3300"/>
                </a:solidFill>
                <a:latin typeface="楷体_GB2312" pitchFamily="49" charset="-122"/>
                <a:sym typeface="Symbol" panose="05050102010706020507" pitchFamily="18" charset="2"/>
              </a:rPr>
              <a:t></a:t>
            </a:r>
            <a:r>
              <a:rPr kumimoji="1" lang="en-US" altLang="zh-CN" sz="2800" b="1" dirty="0">
                <a:solidFill>
                  <a:srgbClr val="FF3300"/>
                </a:solidFill>
                <a:latin typeface="楷体_GB2312" pitchFamily="49" charset="-122"/>
              </a:rPr>
              <a:t> (R </a:t>
            </a:r>
            <a:r>
              <a:rPr kumimoji="1" lang="en-US" altLang="zh-CN" sz="2800" b="1" dirty="0">
                <a:solidFill>
                  <a:srgbClr val="FF3300"/>
                </a:solidFill>
                <a:latin typeface="楷体_GB2312" pitchFamily="49" charset="-122"/>
                <a:sym typeface="Symbol" panose="05050102010706020507" pitchFamily="18" charset="2"/>
              </a:rPr>
              <a:t></a:t>
            </a:r>
            <a:r>
              <a:rPr kumimoji="1" lang="en-US" altLang="zh-CN" sz="2800" b="1" dirty="0">
                <a:solidFill>
                  <a:srgbClr val="FF3300"/>
                </a:solidFill>
                <a:latin typeface="楷体_GB2312" pitchFamily="49" charset="-122"/>
              </a:rPr>
              <a:t> S)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 R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必须相容（属性集相同、次序相同，但属性名可不同）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3405907" y="2743200"/>
            <a:ext cx="2743200" cy="1412875"/>
            <a:chOff x="4032" y="1584"/>
            <a:chExt cx="960" cy="834"/>
          </a:xfrm>
        </p:grpSpPr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4032" y="1584"/>
              <a:ext cx="576" cy="576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4416" y="1584"/>
              <a:ext cx="576" cy="576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431" y="1681"/>
              <a:ext cx="134" cy="143"/>
            </a:xfrm>
            <a:custGeom>
              <a:avLst/>
              <a:gdLst>
                <a:gd name="T0" fmla="*/ 120 w 134"/>
                <a:gd name="T1" fmla="*/ 14 h 143"/>
                <a:gd name="T2" fmla="*/ 77 w 134"/>
                <a:gd name="T3" fmla="*/ 57 h 143"/>
                <a:gd name="T4" fmla="*/ 34 w 134"/>
                <a:gd name="T5" fmla="*/ 100 h 143"/>
                <a:gd name="T6" fmla="*/ 0 w 134"/>
                <a:gd name="T7" fmla="*/ 143 h 1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143"/>
                <a:gd name="T14" fmla="*/ 134 w 134"/>
                <a:gd name="T15" fmla="*/ 143 h 1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143">
                  <a:moveTo>
                    <a:pt x="120" y="14"/>
                  </a:moveTo>
                  <a:cubicBezTo>
                    <a:pt x="75" y="83"/>
                    <a:pt x="134" y="0"/>
                    <a:pt x="77" y="57"/>
                  </a:cubicBezTo>
                  <a:cubicBezTo>
                    <a:pt x="20" y="114"/>
                    <a:pt x="103" y="55"/>
                    <a:pt x="34" y="100"/>
                  </a:cubicBezTo>
                  <a:cubicBezTo>
                    <a:pt x="13" y="133"/>
                    <a:pt x="24" y="119"/>
                    <a:pt x="0" y="143"/>
                  </a:cubicBezTo>
                </a:path>
              </a:pathLst>
            </a:custGeom>
            <a:solidFill>
              <a:srgbClr val="FF0066"/>
            </a:solidFill>
            <a:ln w="254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4416" y="172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4416" y="1776"/>
              <a:ext cx="192" cy="192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4416" y="1728"/>
              <a:ext cx="144" cy="144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>
              <a:off x="4416" y="1824"/>
              <a:ext cx="192" cy="192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464" y="1920"/>
              <a:ext cx="144" cy="144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4464" y="2112"/>
              <a:ext cx="38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>
                  <a:solidFill>
                    <a:srgbClr val="FF7C8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1712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s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836" y="1789113"/>
            <a:ext cx="4038600" cy="290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rs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036" y="1219200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036" y="3725863"/>
            <a:ext cx="266700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22512" y="1143000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855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88515" y="836425"/>
            <a:ext cx="8497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『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实例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C』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301732"/>
              </p:ext>
            </p:extLst>
          </p:nvPr>
        </p:nvGraphicFramePr>
        <p:xfrm>
          <a:off x="1312818" y="1754617"/>
          <a:ext cx="4388475" cy="2247900"/>
        </p:xfrm>
        <a:graphic>
          <a:graphicData uri="http://schemas.openxmlformats.org/drawingml/2006/table">
            <a:tbl>
              <a:tblPr/>
              <a:tblGrid>
                <a:gridCol w="17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516516" y="1910577"/>
            <a:ext cx="792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9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8952"/>
              </p:ext>
            </p:extLst>
          </p:nvPr>
        </p:nvGraphicFramePr>
        <p:xfrm>
          <a:off x="6858001" y="1748085"/>
          <a:ext cx="4155656" cy="1685925"/>
        </p:xfrm>
        <a:graphic>
          <a:graphicData uri="http://schemas.openxmlformats.org/drawingml/2006/table">
            <a:tbl>
              <a:tblPr/>
              <a:tblGrid>
                <a:gridCol w="18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774317" y="1899080"/>
            <a:ext cx="792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en-US" altLang="zh-CN" sz="3200" b="1" baseline="-250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" name="Text Box 45"/>
          <p:cNvSpPr txBox="1">
            <a:spLocks noChangeArrowheads="1"/>
          </p:cNvSpPr>
          <p:nvPr/>
        </p:nvSpPr>
        <p:spPr bwMode="auto">
          <a:xfrm>
            <a:off x="4982154" y="4471465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ea typeface="宋体" panose="02010600030101010101" pitchFamily="2" charset="-122"/>
              </a:rPr>
              <a:t>∩G</a:t>
            </a:r>
            <a:r>
              <a:rPr lang="en-US" altLang="zh-CN" sz="3200" b="1" baseline="-25000" dirty="0"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12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560713"/>
              </p:ext>
            </p:extLst>
          </p:nvPr>
        </p:nvGraphicFramePr>
        <p:xfrm>
          <a:off x="6903720" y="4099195"/>
          <a:ext cx="4122273" cy="1123950"/>
        </p:xfrm>
        <a:graphic>
          <a:graphicData uri="http://schemas.openxmlformats.org/drawingml/2006/table">
            <a:tbl>
              <a:tblPr/>
              <a:tblGrid>
                <a:gridCol w="1809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0509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1066800"/>
            <a:ext cx="8534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3300"/>
                </a:solidFill>
              </a:rPr>
              <a:t>4. </a:t>
            </a:r>
            <a:r>
              <a:rPr lang="zh-CN" altLang="en-US" b="1">
                <a:solidFill>
                  <a:srgbClr val="FF3300"/>
                </a:solidFill>
              </a:rPr>
              <a:t>广义笛卡儿积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Extended Cartesian Product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chemeClr val="tx2"/>
                </a:solidFill>
              </a:rPr>
              <a:t>    －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是两个关系的元组集合所组成的新关系。</a:t>
            </a:r>
          </a:p>
          <a:p>
            <a:pPr algn="ctr" eaLnBrk="1" hangingPunct="1"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S={     |t</a:t>
            </a:r>
            <a:r>
              <a:rPr lang="en-US" altLang="zh-CN" b="1" baseline="-25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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t</a:t>
            </a:r>
            <a:r>
              <a:rPr lang="en-US" altLang="zh-CN" b="1" baseline="-25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 }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95287" y="3284538"/>
            <a:ext cx="10799185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hlink"/>
                </a:solidFill>
                <a:latin typeface="楷体_GB2312" pitchFamily="49" charset="-122"/>
              </a:rPr>
              <a:t>注</a:t>
            </a:r>
            <a:r>
              <a:rPr kumimoji="1" lang="zh-CN" altLang="en-US" sz="2400" b="1" dirty="0">
                <a:solidFill>
                  <a:schemeClr val="hlink"/>
                </a:solidFill>
                <a:latin typeface="楷体_GB2312" pitchFamily="49" charset="-122"/>
                <a:sym typeface="Wingdings" panose="05000000000000000000" pitchFamily="2" charset="2"/>
              </a:rPr>
              <a:t>： 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  <a:sym typeface="Wingdings" panose="05000000000000000000" pitchFamily="2" charset="2"/>
              </a:rPr>
              <a:t>）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两个关系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，其目数分别为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、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，则它们的笛卡尔积是所有这样的元组集合：元组的前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个分量是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中的一个元组，后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个分量是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中的一个元组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, R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的目数为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(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r+s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若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有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m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个元组，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有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n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个元组，则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×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有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m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×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n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个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  <a:r>
              <a:rPr kumimoji="1"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元组。</a:t>
            </a:r>
            <a:endParaRPr kumimoji="1" lang="zh-CN" altLang="en-US" sz="2400" b="1" dirty="0">
              <a:solidFill>
                <a:schemeClr val="tx2"/>
              </a:solidFill>
              <a:latin typeface="楷体_GB2312" pitchFamily="49" charset="-122"/>
            </a:endParaRP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683000" y="1960563"/>
            <a:ext cx="965200" cy="579437"/>
            <a:chOff x="1560" y="2451"/>
            <a:chExt cx="608" cy="365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560" y="2451"/>
              <a:ext cx="6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endParaRPr kumimoji="1" lang="en-US" altLang="zh-CN" sz="3200" b="1" baseline="-25000" dirty="0">
                <a:solidFill>
                  <a:srgbClr val="FF3300"/>
                </a:solidFill>
                <a:latin typeface="楷体_GB2312" pitchFamily="49" charset="-122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661" y="2485"/>
              <a:ext cx="336" cy="96"/>
            </a:xfrm>
            <a:custGeom>
              <a:avLst/>
              <a:gdLst>
                <a:gd name="T0" fmla="*/ 0 w 192"/>
                <a:gd name="T1" fmla="*/ 12288 h 48"/>
                <a:gd name="T2" fmla="*/ 8453 w 192"/>
                <a:gd name="T3" fmla="*/ 0 h 48"/>
                <a:gd name="T4" fmla="*/ 16893 w 192"/>
                <a:gd name="T5" fmla="*/ 12288 h 48"/>
                <a:gd name="T6" fmla="*/ 0 60000 65536"/>
                <a:gd name="T7" fmla="*/ 0 60000 65536"/>
                <a:gd name="T8" fmla="*/ 0 60000 65536"/>
                <a:gd name="T9" fmla="*/ 0 w 192"/>
                <a:gd name="T10" fmla="*/ 0 h 48"/>
                <a:gd name="T11" fmla="*/ 192 w 19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48">
                  <a:moveTo>
                    <a:pt x="0" y="48"/>
                  </a:moveTo>
                  <a:cubicBezTo>
                    <a:pt x="32" y="24"/>
                    <a:pt x="64" y="0"/>
                    <a:pt x="96" y="0"/>
                  </a:cubicBezTo>
                  <a:cubicBezTo>
                    <a:pt x="128" y="0"/>
                    <a:pt x="160" y="24"/>
                    <a:pt x="192" y="4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08015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s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690" y="1143000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rs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490" y="3684588"/>
            <a:ext cx="266700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4899890" y="1276350"/>
            <a:ext cx="4876800" cy="4819650"/>
            <a:chOff x="2544" y="1188"/>
            <a:chExt cx="3072" cy="3036"/>
          </a:xfrm>
        </p:grpSpPr>
        <p:pic>
          <p:nvPicPr>
            <p:cNvPr id="9" name="Picture 6" descr="rs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4" y="1188"/>
              <a:ext cx="3072" cy="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640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R.A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120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R.B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600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R.C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4104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S.A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560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S.B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040" y="1392"/>
              <a:ext cx="4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S.C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22512" y="1143000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9459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传统的集合运算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3960" y="679780"/>
            <a:ext cx="8497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『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实例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D』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38045"/>
              </p:ext>
            </p:extLst>
          </p:nvPr>
        </p:nvGraphicFramePr>
        <p:xfrm>
          <a:off x="326572" y="1372321"/>
          <a:ext cx="4318070" cy="2247900"/>
        </p:xfrm>
        <a:graphic>
          <a:graphicData uri="http://schemas.openxmlformats.org/drawingml/2006/table">
            <a:tbl>
              <a:tblPr/>
              <a:tblGrid>
                <a:gridCol w="158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3042401" y="808526"/>
            <a:ext cx="7921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endParaRPr lang="en-US" altLang="zh-CN" sz="3200" b="1" baseline="-25000" dirty="0">
              <a:ea typeface="宋体" panose="02010600030101010101" pitchFamily="2" charset="-122"/>
            </a:endParaRPr>
          </a:p>
        </p:txBody>
      </p:sp>
      <p:graphicFrame>
        <p:nvGraphicFramePr>
          <p:cNvPr id="9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28283"/>
              </p:ext>
            </p:extLst>
          </p:nvPr>
        </p:nvGraphicFramePr>
        <p:xfrm>
          <a:off x="442437" y="4180608"/>
          <a:ext cx="3057619" cy="2247900"/>
        </p:xfrm>
        <a:graphic>
          <a:graphicData uri="http://schemas.openxmlformats.org/drawingml/2006/table">
            <a:tbl>
              <a:tblPr/>
              <a:tblGrid>
                <a:gridCol w="176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050220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45"/>
          <p:cNvSpPr txBox="1">
            <a:spLocks noChangeArrowheads="1"/>
          </p:cNvSpPr>
          <p:nvPr/>
        </p:nvSpPr>
        <p:spPr bwMode="auto">
          <a:xfrm>
            <a:off x="1899809" y="3601171"/>
            <a:ext cx="792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宋体" panose="02010600030101010101" pitchFamily="2" charset="-122"/>
              </a:rPr>
              <a:t>Ｓ</a:t>
            </a:r>
            <a:endParaRPr lang="zh-CN" altLang="en-US" sz="3200" b="1" baseline="-25000">
              <a:ea typeface="宋体" panose="02010600030101010101" pitchFamily="2" charset="-122"/>
            </a:endParaRPr>
          </a:p>
        </p:txBody>
      </p:sp>
      <p:graphicFrame>
        <p:nvGraphicFramePr>
          <p:cNvPr id="12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121396"/>
              </p:ext>
            </p:extLst>
          </p:nvPr>
        </p:nvGraphicFramePr>
        <p:xfrm>
          <a:off x="5362303" y="719858"/>
          <a:ext cx="6296297" cy="4619625"/>
        </p:xfrm>
        <a:graphic>
          <a:graphicData uri="http://schemas.openxmlformats.org/drawingml/2006/table">
            <a:tbl>
              <a:tblPr/>
              <a:tblGrid>
                <a:gridCol w="144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050220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050220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050220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 Box 115"/>
          <p:cNvSpPr txBox="1">
            <a:spLocks noChangeArrowheads="1"/>
          </p:cNvSpPr>
          <p:nvPr/>
        </p:nvSpPr>
        <p:spPr bwMode="auto">
          <a:xfrm>
            <a:off x="3951654" y="4254313"/>
            <a:ext cx="134821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S×G</a:t>
            </a:r>
          </a:p>
        </p:txBody>
      </p:sp>
      <p:sp>
        <p:nvSpPr>
          <p:cNvPr id="14" name="AutoShape 116"/>
          <p:cNvSpPr>
            <a:spLocks noChangeArrowheads="1"/>
          </p:cNvSpPr>
          <p:nvPr/>
        </p:nvSpPr>
        <p:spPr bwMode="auto">
          <a:xfrm>
            <a:off x="4923997" y="5472834"/>
            <a:ext cx="5256212" cy="849590"/>
          </a:xfrm>
          <a:prstGeom prst="cloudCallout">
            <a:avLst>
              <a:gd name="adj1" fmla="val 9407"/>
              <a:gd name="adj2" fmla="val -15386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3300"/>
                </a:solidFill>
                <a:ea typeface="宋体" panose="02010600030101010101" pitchFamily="2" charset="-122"/>
              </a:rPr>
              <a:t>思考：数据合理吗？</a:t>
            </a:r>
          </a:p>
        </p:txBody>
      </p:sp>
    </p:spTree>
    <p:extLst>
      <p:ext uri="{BB962C8B-B14F-4D97-AF65-F5344CB8AC3E}">
        <p14:creationId xmlns:p14="http://schemas.microsoft.com/office/powerpoint/2010/main" val="10986616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63599" y="1052513"/>
            <a:ext cx="868680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</a:rPr>
              <a:t>选择（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</a:rPr>
              <a:t>Selection</a:t>
            </a:r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</a:rPr>
              <a:t>）</a:t>
            </a:r>
            <a:r>
              <a:rPr kumimoji="1" lang="zh-CN" altLang="en-US" sz="2800" b="1">
                <a:solidFill>
                  <a:srgbClr val="FF3300"/>
                </a:solidFill>
                <a:latin typeface="楷体_GB2312" pitchFamily="49" charset="-122"/>
              </a:rPr>
              <a:t>－</a:t>
            </a:r>
            <a:r>
              <a:rPr kumimoji="1" lang="zh-CN" altLang="en-US" sz="2800" b="1">
                <a:solidFill>
                  <a:schemeClr val="tx2"/>
                </a:solidFill>
                <a:latin typeface="楷体_GB2312" pitchFamily="49" charset="-122"/>
              </a:rPr>
              <a:t>限制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</a:rPr>
              <a:t>   －从关系</a:t>
            </a:r>
            <a:r>
              <a:rPr kumimoji="1" lang="en-US" altLang="zh-CN" sz="2800" b="1">
                <a:latin typeface="楷体_GB2312" pitchFamily="49" charset="-122"/>
              </a:rPr>
              <a:t>R</a:t>
            </a:r>
            <a:r>
              <a:rPr kumimoji="1" lang="zh-CN" altLang="en-US" sz="2800" b="1">
                <a:latin typeface="楷体_GB2312" pitchFamily="49" charset="-122"/>
              </a:rPr>
              <a:t>中选择符合条件的元组构成新的关系。</a:t>
            </a:r>
          </a:p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σ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F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(R) = {t|t∈R ∧ F(t)=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‘</a:t>
            </a:r>
            <a:r>
              <a:rPr kumimoji="1" lang="zh-CN" altLang="en-US" sz="2800" b="1">
                <a:solidFill>
                  <a:srgbClr val="FF3300"/>
                </a:solidFill>
                <a:latin typeface="楷体_GB2312" pitchFamily="49" charset="-122"/>
              </a:rPr>
              <a:t>真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’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}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30249" y="4325070"/>
            <a:ext cx="1012247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FFFF"/>
                </a:solidFill>
                <a:latin typeface="楷体_GB2312" pitchFamily="49" charset="-122"/>
              </a:rPr>
              <a:t>注：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latin typeface="楷体_GB2312" pitchFamily="49" charset="-122"/>
              </a:rPr>
              <a:t>1</a:t>
            </a:r>
            <a:r>
              <a:rPr kumimoji="1" lang="zh-CN" altLang="en-US" sz="2400" b="1" dirty="0">
                <a:latin typeface="楷体_GB2312" pitchFamily="49" charset="-122"/>
              </a:rPr>
              <a:t>）</a:t>
            </a:r>
            <a:r>
              <a:rPr lang="zh-CN" altLang="en-US" sz="2400" b="1" dirty="0">
                <a:latin typeface="楷体_GB2312" pitchFamily="49" charset="-122"/>
              </a:rPr>
              <a:t>选择条件</a:t>
            </a:r>
            <a:r>
              <a:rPr lang="en-US" altLang="zh-CN" sz="2400" b="1" dirty="0">
                <a:latin typeface="楷体_GB2312" pitchFamily="49" charset="-122"/>
              </a:rPr>
              <a:t>F</a:t>
            </a:r>
            <a:r>
              <a:rPr lang="zh-CN" altLang="en-US" sz="2400" b="1" dirty="0">
                <a:latin typeface="楷体_GB2312" pitchFamily="49" charset="-122"/>
              </a:rPr>
              <a:t>：是一个逻辑表达式，基本形式为：</a:t>
            </a:r>
            <a:r>
              <a:rPr lang="en-US" altLang="zh-CN" sz="2400" b="1" i="1" dirty="0" err="1">
                <a:solidFill>
                  <a:srgbClr val="FF3300"/>
                </a:solidFill>
                <a:latin typeface="楷体_GB2312" pitchFamily="49" charset="-122"/>
              </a:rPr>
              <a:t>X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</a:rPr>
              <a:t>θ</a:t>
            </a:r>
            <a:r>
              <a:rPr lang="en-US" altLang="zh-CN" sz="2400" b="1" i="1" dirty="0" err="1">
                <a:solidFill>
                  <a:srgbClr val="FF3300"/>
                </a:solidFill>
                <a:latin typeface="楷体_GB2312" pitchFamily="49" charset="-122"/>
              </a:rPr>
              <a:t>Y</a:t>
            </a:r>
            <a:endParaRPr lang="en-US" altLang="zh-CN" sz="2400" b="1" dirty="0">
              <a:solidFill>
                <a:srgbClr val="FF33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楷体_GB2312" pitchFamily="49" charset="-122"/>
              </a:rPr>
              <a:t>（２）</a:t>
            </a:r>
            <a:r>
              <a:rPr kumimoji="1" lang="en-US" altLang="zh-CN" sz="2400" b="1" dirty="0" err="1">
                <a:latin typeface="楷体_GB2312" pitchFamily="49" charset="-122"/>
              </a:rPr>
              <a:t>σ</a:t>
            </a:r>
            <a:r>
              <a:rPr kumimoji="1" lang="en-US" altLang="zh-CN" sz="2400" b="1" baseline="-4000" dirty="0" err="1">
                <a:latin typeface="楷体_GB2312" pitchFamily="49" charset="-122"/>
              </a:rPr>
              <a:t>F</a:t>
            </a:r>
            <a:r>
              <a:rPr kumimoji="1" lang="en-US" altLang="zh-CN" sz="2400" b="1" dirty="0">
                <a:latin typeface="楷体_GB2312" pitchFamily="49" charset="-122"/>
              </a:rPr>
              <a:t>(R) </a:t>
            </a:r>
            <a:r>
              <a:rPr kumimoji="1" lang="zh-CN" altLang="en-US" sz="2400" b="1" dirty="0">
                <a:latin typeface="楷体_GB2312" pitchFamily="49" charset="-122"/>
              </a:rPr>
              <a:t>，表示从</a:t>
            </a:r>
            <a:r>
              <a:rPr kumimoji="1" lang="en-US" altLang="zh-CN" sz="2400" b="1" dirty="0"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latin typeface="楷体_GB2312" pitchFamily="49" charset="-122"/>
              </a:rPr>
              <a:t>中选择满足条件</a:t>
            </a:r>
            <a:r>
              <a:rPr kumimoji="1" lang="en-US" altLang="zh-CN" sz="2400" b="1" dirty="0">
                <a:latin typeface="楷体_GB2312" pitchFamily="49" charset="-122"/>
              </a:rPr>
              <a:t>(</a:t>
            </a:r>
            <a:r>
              <a:rPr kumimoji="1" lang="zh-CN" altLang="en-US" sz="2400" b="1" dirty="0">
                <a:latin typeface="楷体_GB2312" pitchFamily="49" charset="-122"/>
              </a:rPr>
              <a:t>使逻辑表达式</a:t>
            </a:r>
            <a:r>
              <a:rPr kumimoji="1" lang="en-US" altLang="zh-CN" sz="2400" b="1" dirty="0">
                <a:latin typeface="楷体_GB2312" pitchFamily="49" charset="-122"/>
              </a:rPr>
              <a:t>F</a:t>
            </a:r>
            <a:r>
              <a:rPr kumimoji="1" lang="zh-CN" altLang="en-US" sz="2400" b="1" dirty="0">
                <a:latin typeface="楷体_GB2312" pitchFamily="49" charset="-122"/>
              </a:rPr>
              <a:t>为真</a:t>
            </a:r>
            <a:r>
              <a:rPr kumimoji="1" lang="en-US" altLang="zh-CN" sz="2400" b="1" dirty="0">
                <a:latin typeface="楷体_GB2312" pitchFamily="49" charset="-122"/>
              </a:rPr>
              <a:t>)</a:t>
            </a:r>
            <a:r>
              <a:rPr kumimoji="1" lang="zh-CN" altLang="en-US" sz="2400" b="1" dirty="0">
                <a:latin typeface="楷体_GB2312" pitchFamily="49" charset="-122"/>
              </a:rPr>
              <a:t>的元组；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楷体_GB2312" pitchFamily="49" charset="-122"/>
              </a:rPr>
              <a:t>（３）从行的角度进行计算。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3538537" y="2997200"/>
            <a:ext cx="4191000" cy="1219200"/>
            <a:chOff x="2448" y="1728"/>
            <a:chExt cx="2640" cy="768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7" descr="浅色下对角线"/>
            <p:cNvSpPr>
              <a:spLocks noChangeArrowheads="1"/>
            </p:cNvSpPr>
            <p:nvPr/>
          </p:nvSpPr>
          <p:spPr bwMode="auto">
            <a:xfrm>
              <a:off x="2448" y="182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11" descr="浅色下对角线"/>
            <p:cNvSpPr>
              <a:spLocks noChangeArrowheads="1"/>
            </p:cNvSpPr>
            <p:nvPr/>
          </p:nvSpPr>
          <p:spPr bwMode="auto">
            <a:xfrm>
              <a:off x="2448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13" descr="浅色下对角线"/>
            <p:cNvSpPr>
              <a:spLocks noChangeArrowheads="1"/>
            </p:cNvSpPr>
            <p:nvPr/>
          </p:nvSpPr>
          <p:spPr bwMode="auto">
            <a:xfrm>
              <a:off x="2448" y="230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14" descr="浅色下对角线"/>
            <p:cNvSpPr>
              <a:spLocks noChangeArrowheads="1"/>
            </p:cNvSpPr>
            <p:nvPr/>
          </p:nvSpPr>
          <p:spPr bwMode="auto">
            <a:xfrm>
              <a:off x="4176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15" descr="浅色下对角线"/>
            <p:cNvSpPr>
              <a:spLocks noChangeArrowheads="1"/>
            </p:cNvSpPr>
            <p:nvPr/>
          </p:nvSpPr>
          <p:spPr bwMode="auto">
            <a:xfrm>
              <a:off x="4176" y="2016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16" descr="浅色下对角线"/>
            <p:cNvSpPr>
              <a:spLocks noChangeArrowheads="1"/>
            </p:cNvSpPr>
            <p:nvPr/>
          </p:nvSpPr>
          <p:spPr bwMode="auto">
            <a:xfrm>
              <a:off x="4176" y="1920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AutoShape 17"/>
            <p:cNvSpPr>
              <a:spLocks noChangeArrowheads="1"/>
            </p:cNvSpPr>
            <p:nvPr/>
          </p:nvSpPr>
          <p:spPr bwMode="auto"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3552" y="17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σ</a:t>
              </a:r>
              <a:endPara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08722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71550" y="5589588"/>
            <a:ext cx="4465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或写作：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σ</a:t>
            </a:r>
            <a:r>
              <a:rPr kumimoji="1" lang="en-US" altLang="zh-CN" sz="3200" b="1" baseline="-4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4&lt;20 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(Student)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00113" y="1125538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『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』  </a:t>
            </a:r>
            <a:r>
              <a:rPr lang="en-US" altLang="zh-CN" sz="3200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σ</a:t>
            </a:r>
            <a:r>
              <a:rPr lang="en-US" altLang="zh-CN" sz="3200" baseline="-4000" dirty="0" err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Sage</a:t>
            </a:r>
            <a:r>
              <a:rPr lang="en-US" altLang="zh-CN" sz="3200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&lt;20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(Student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76734"/>
              </p:ext>
            </p:extLst>
          </p:nvPr>
        </p:nvGraphicFramePr>
        <p:xfrm>
          <a:off x="1776548" y="2148031"/>
          <a:ext cx="8556172" cy="2308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1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055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Ssex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sdept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17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002210</a:t>
                      </a:r>
                    </a:p>
                    <a:p>
                      <a:r>
                        <a:rPr lang="en-US" altLang="zh-CN" sz="3600" dirty="0"/>
                        <a:t>005221</a:t>
                      </a:r>
                    </a:p>
                    <a:p>
                      <a:r>
                        <a:rPr lang="en-US" altLang="zh-CN" sz="3600" dirty="0"/>
                        <a:t>005130</a:t>
                      </a:r>
                      <a:endParaRPr lang="zh-CN" altLang="en-US" sz="36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王雪莲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袁更旭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白亚春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女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男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男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20</a:t>
                      </a:r>
                    </a:p>
                    <a:p>
                      <a:pPr algn="ctr"/>
                      <a:r>
                        <a:rPr lang="en-US" altLang="zh-CN" sz="3600" dirty="0"/>
                        <a:t>19</a:t>
                      </a:r>
                    </a:p>
                    <a:p>
                      <a:pPr algn="ctr"/>
                      <a:r>
                        <a:rPr lang="en-US" altLang="zh-CN" sz="3600" dirty="0"/>
                        <a:t>18</a:t>
                      </a:r>
                      <a:endParaRPr lang="zh-CN" altLang="en-US" sz="36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软件工程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计算机系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软件工程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2389188" y="3234425"/>
            <a:ext cx="7239000" cy="1261375"/>
          </a:xfrm>
          <a:prstGeom prst="ellipse">
            <a:avLst/>
          </a:prstGeom>
          <a:solidFill>
            <a:srgbClr val="99FF66">
              <a:alpha val="50195"/>
            </a:srgbClr>
          </a:solidFill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806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9906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』 </a:t>
            </a:r>
            <a:r>
              <a:rPr lang="en-US" altLang="zh-CN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b="1" baseline="-4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Ssex</a:t>
            </a:r>
            <a:r>
              <a:rPr lang="en-US" altLang="zh-CN" b="1" baseline="-4000" dirty="0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baseline="-4000" dirty="0">
                <a:solidFill>
                  <a:srgbClr val="FF3300"/>
                </a:solidFill>
              </a:rPr>
              <a:t>‘</a:t>
            </a:r>
            <a:r>
              <a:rPr lang="zh-CN" altLang="zh-CN" b="1" baseline="-4000" dirty="0">
                <a:solidFill>
                  <a:srgbClr val="FF3300"/>
                </a:solidFill>
                <a:latin typeface="Times New Roman" panose="02020603050405020304" pitchFamily="18" charset="0"/>
              </a:rPr>
              <a:t>男</a:t>
            </a:r>
            <a:r>
              <a:rPr lang="zh-CN" altLang="en-US" b="1" baseline="-4000" dirty="0">
                <a:solidFill>
                  <a:srgbClr val="FF3300"/>
                </a:solidFill>
              </a:rPr>
              <a:t>’</a:t>
            </a:r>
            <a:r>
              <a:rPr lang="zh-CN" altLang="en-US" b="1" baseline="-4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</a:t>
            </a:r>
            <a:r>
              <a:rPr lang="zh-CN" altLang="en-US" b="1" baseline="-4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baseline="-4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Sdept</a:t>
            </a:r>
            <a:r>
              <a:rPr lang="en-US" altLang="zh-CN" b="1" baseline="-4000" dirty="0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baseline="-4000" dirty="0">
                <a:solidFill>
                  <a:srgbClr val="FF3300"/>
                </a:solidFill>
              </a:rPr>
              <a:t>‘</a:t>
            </a:r>
            <a:r>
              <a:rPr lang="zh-CN" altLang="en-US" b="1" baseline="-4000" dirty="0">
                <a:solidFill>
                  <a:srgbClr val="FF3300"/>
                </a:solidFill>
              </a:rPr>
              <a:t>计算机系</a:t>
            </a:r>
            <a:r>
              <a:rPr lang="en-US" altLang="zh-CN" b="1" baseline="-4000" dirty="0">
                <a:solidFill>
                  <a:srgbClr val="FF3300"/>
                </a:solidFill>
              </a:rPr>
              <a:t>’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(Student)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27518" y="5562600"/>
            <a:ext cx="67569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或写作：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σ</a:t>
            </a:r>
            <a:r>
              <a:rPr kumimoji="1" lang="en-US" altLang="zh-CN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= ‘</a:t>
            </a:r>
            <a:r>
              <a:rPr kumimoji="1" lang="zh-CN" altLang="zh-CN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男</a:t>
            </a:r>
            <a:r>
              <a:rPr kumimoji="1" lang="zh-CN" altLang="en-US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 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  <a:sym typeface="Symbol" panose="05050102010706020507" pitchFamily="18" charset="2"/>
              </a:rPr>
              <a:t></a:t>
            </a:r>
            <a:r>
              <a:rPr kumimoji="1" lang="zh-CN" altLang="en-US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5= ‘</a:t>
            </a:r>
            <a:r>
              <a:rPr kumimoji="1" lang="zh-CN" altLang="en-US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计算机系</a:t>
            </a:r>
            <a:r>
              <a:rPr kumimoji="1" lang="en-US" altLang="zh-CN" sz="3200" b="1" baseline="-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(Student)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50158"/>
              </p:ext>
            </p:extLst>
          </p:nvPr>
        </p:nvGraphicFramePr>
        <p:xfrm>
          <a:off x="1730829" y="1972541"/>
          <a:ext cx="7929686" cy="2308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055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Ssex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sdept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170">
                <a:tc>
                  <a:txBody>
                    <a:bodyPr/>
                    <a:lstStyle/>
                    <a:p>
                      <a:r>
                        <a:rPr lang="en-US" altLang="zh-CN" sz="3600" dirty="0"/>
                        <a:t>002210</a:t>
                      </a:r>
                    </a:p>
                    <a:p>
                      <a:r>
                        <a:rPr lang="en-US" altLang="zh-CN" sz="3600" dirty="0"/>
                        <a:t>005221</a:t>
                      </a:r>
                    </a:p>
                    <a:p>
                      <a:r>
                        <a:rPr lang="en-US" altLang="zh-CN" sz="3600" dirty="0"/>
                        <a:t>005130</a:t>
                      </a:r>
                      <a:endParaRPr lang="zh-CN" altLang="en-US" sz="36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王雪莲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袁更旭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白亚春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女男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男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20</a:t>
                      </a:r>
                    </a:p>
                    <a:p>
                      <a:pPr algn="ctr"/>
                      <a:r>
                        <a:rPr lang="en-US" altLang="zh-CN" sz="3600" dirty="0"/>
                        <a:t>19</a:t>
                      </a:r>
                    </a:p>
                    <a:p>
                      <a:pPr algn="ctr"/>
                      <a:r>
                        <a:rPr lang="en-US" altLang="zh-CN" sz="3600" dirty="0"/>
                        <a:t>18</a:t>
                      </a:r>
                      <a:endParaRPr lang="zh-CN" altLang="en-US" sz="36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软件工程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计算机系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软件工程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1819943" y="3044104"/>
            <a:ext cx="7239000" cy="685800"/>
          </a:xfrm>
          <a:prstGeom prst="ellipse">
            <a:avLst/>
          </a:prstGeom>
          <a:solidFill>
            <a:srgbClr val="99FF66">
              <a:alpha val="50195"/>
            </a:srgbClr>
          </a:solidFill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534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83058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2. 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投影（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Projection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marL="609600" indent="-609600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 －从关系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中选择若干属性列组成新的关系。</a:t>
            </a:r>
          </a:p>
          <a:p>
            <a:pPr marL="609600" indent="-60960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40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b="1" baseline="-250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(R) = {t[A]|</a:t>
            </a:r>
            <a:r>
              <a:rPr lang="en-US" altLang="zh-CN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t∈R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}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8770" y="4165600"/>
            <a:ext cx="10759786" cy="224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FFFF"/>
                </a:solidFill>
                <a:latin typeface="楷体_GB2312" pitchFamily="49" charset="-122"/>
              </a:rPr>
              <a:t>注：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 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π</a:t>
            </a:r>
            <a:r>
              <a:rPr kumimoji="1" lang="en-US" altLang="zh-CN" sz="2400" b="1" baseline="-4000" dirty="0" err="1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1,</a:t>
            </a:r>
            <a:r>
              <a:rPr kumimoji="1" lang="en-US" altLang="zh-CN" sz="2400" b="1" baseline="-4000" dirty="0" err="1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楷体_GB2312" pitchFamily="49" charset="-122"/>
              </a:rPr>
              <a:t>,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楷体_GB2312" pitchFamily="49" charset="-122"/>
              </a:rPr>
              <a:t>,</a:t>
            </a:r>
            <a:r>
              <a:rPr kumimoji="1" lang="en-US" altLang="zh-CN" sz="2400" b="1" baseline="-4000" dirty="0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(R),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表示从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中选择属性集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,A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,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, A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组成新的关系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;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latin typeface="楷体_GB2312" pitchFamily="49" charset="-122"/>
              </a:rPr>
              <a:t>2</a:t>
            </a:r>
            <a:r>
              <a:rPr kumimoji="1" lang="zh-CN" altLang="en-US" sz="2400" b="1" dirty="0">
                <a:latin typeface="楷体_GB2312" pitchFamily="49" charset="-122"/>
              </a:rPr>
              <a:t>）从列的角度进行计算；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对一个关系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进行垂直分割，消去某些列，并重新安排列的顺序。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3843627" y="3271838"/>
            <a:ext cx="2743200" cy="1096962"/>
            <a:chOff x="1536" y="1584"/>
            <a:chExt cx="1728" cy="1008"/>
          </a:xfrm>
        </p:grpSpPr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352" y="1728"/>
              <a:ext cx="432" cy="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π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9" descr="浅色下对角线"/>
            <p:cNvSpPr>
              <a:spLocks noChangeArrowheads="1"/>
            </p:cNvSpPr>
            <p:nvPr/>
          </p:nvSpPr>
          <p:spPr bwMode="auto">
            <a:xfrm>
              <a:off x="163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12" descr="浅色下对角线"/>
            <p:cNvSpPr>
              <a:spLocks noChangeArrowheads="1"/>
            </p:cNvSpPr>
            <p:nvPr/>
          </p:nvSpPr>
          <p:spPr bwMode="auto">
            <a:xfrm>
              <a:off x="1920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14" descr="浅色下对角线"/>
            <p:cNvSpPr>
              <a:spLocks noChangeArrowheads="1"/>
            </p:cNvSpPr>
            <p:nvPr/>
          </p:nvSpPr>
          <p:spPr bwMode="auto">
            <a:xfrm>
              <a:off x="307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15" descr="浅色下对角线"/>
            <p:cNvSpPr>
              <a:spLocks noChangeArrowheads="1"/>
            </p:cNvSpPr>
            <p:nvPr/>
          </p:nvSpPr>
          <p:spPr bwMode="auto">
            <a:xfrm>
              <a:off x="3168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40127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9144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』 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b="1" baseline="-4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Sname,Sage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(Student)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068388" y="5486400"/>
            <a:ext cx="41798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或写作：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π</a:t>
            </a:r>
            <a:r>
              <a:rPr kumimoji="1" lang="en-US" altLang="zh-CN" sz="3200" b="1" baseline="-4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2,4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(Student)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363351"/>
              </p:ext>
            </p:extLst>
          </p:nvPr>
        </p:nvGraphicFramePr>
        <p:xfrm>
          <a:off x="457200" y="1994246"/>
          <a:ext cx="6969034" cy="2308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4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055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Ssex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sdept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17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002210</a:t>
                      </a:r>
                    </a:p>
                    <a:p>
                      <a:r>
                        <a:rPr lang="en-US" altLang="zh-CN" sz="3200" dirty="0"/>
                        <a:t>005221</a:t>
                      </a:r>
                    </a:p>
                    <a:p>
                      <a:r>
                        <a:rPr lang="en-US" altLang="zh-CN" sz="3200" dirty="0"/>
                        <a:t>005130</a:t>
                      </a:r>
                      <a:endParaRPr lang="zh-CN" altLang="en-US" sz="32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王雪莲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袁更旭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白亚春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女男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男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20</a:t>
                      </a:r>
                    </a:p>
                    <a:p>
                      <a:pPr algn="ctr"/>
                      <a:r>
                        <a:rPr lang="en-US" altLang="zh-CN" sz="3200" dirty="0"/>
                        <a:t>19</a:t>
                      </a:r>
                    </a:p>
                    <a:p>
                      <a:pPr algn="ctr"/>
                      <a:r>
                        <a:rPr lang="en-US" altLang="zh-CN" sz="3200" dirty="0"/>
                        <a:t>18</a:t>
                      </a:r>
                      <a:endParaRPr lang="zh-CN" altLang="en-US" sz="32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软件工程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计算机系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软件工程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113212" y="1609436"/>
            <a:ext cx="3373188" cy="2900363"/>
            <a:chOff x="2311332" y="1609436"/>
            <a:chExt cx="3373188" cy="2900363"/>
          </a:xfrm>
        </p:grpSpPr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2311332" y="1609436"/>
              <a:ext cx="1495425" cy="2828925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4798695" y="1609436"/>
              <a:ext cx="885825" cy="2900363"/>
            </a:xfrm>
            <a:prstGeom prst="ellipse">
              <a:avLst/>
            </a:prstGeom>
            <a:solidFill>
              <a:srgbClr val="CCFFCC">
                <a:alpha val="50195"/>
              </a:srgbClr>
            </a:solidFill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57027"/>
              </p:ext>
            </p:extLst>
          </p:nvPr>
        </p:nvGraphicFramePr>
        <p:xfrm>
          <a:off x="8691848" y="1999407"/>
          <a:ext cx="3229040" cy="2306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53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897">
                <a:tc>
                  <a:txBody>
                    <a:bodyPr/>
                    <a:lstStyle/>
                    <a:p>
                      <a:r>
                        <a:rPr lang="zh-CN" altLang="en-US" sz="3600" dirty="0"/>
                        <a:t>王雪莲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袁更旭</a:t>
                      </a:r>
                      <a:endParaRPr lang="en-US" altLang="zh-CN" sz="3600" dirty="0"/>
                    </a:p>
                    <a:p>
                      <a:r>
                        <a:rPr lang="zh-CN" altLang="en-US" sz="3600" dirty="0"/>
                        <a:t>白亚春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20</a:t>
                      </a:r>
                    </a:p>
                    <a:p>
                      <a:pPr algn="ctr"/>
                      <a:r>
                        <a:rPr lang="en-US" altLang="zh-CN" sz="3600" dirty="0"/>
                        <a:t>19</a:t>
                      </a:r>
                    </a:p>
                    <a:p>
                      <a:pPr algn="ctr"/>
                      <a:r>
                        <a:rPr lang="en-US" altLang="zh-CN" sz="3600" dirty="0"/>
                        <a:t>18</a:t>
                      </a:r>
                      <a:endParaRPr lang="zh-CN" altLang="en-US" sz="3600" dirty="0"/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燕尾形箭头 4"/>
          <p:cNvSpPr/>
          <p:nvPr/>
        </p:nvSpPr>
        <p:spPr>
          <a:xfrm>
            <a:off x="7700554" y="3239589"/>
            <a:ext cx="907869" cy="38535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904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3400" y="10668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』 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π</a:t>
            </a:r>
            <a:r>
              <a:rPr lang="en-US" altLang="zh-CN" b="1" baseline="-4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Sdept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(student)</a:t>
            </a:r>
          </a:p>
        </p:txBody>
      </p:sp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791695"/>
              </p:ext>
            </p:extLst>
          </p:nvPr>
        </p:nvGraphicFramePr>
        <p:xfrm>
          <a:off x="9344495" y="2135776"/>
          <a:ext cx="2039785" cy="1574801"/>
        </p:xfrm>
        <a:graphic>
          <a:graphicData uri="http://schemas.openxmlformats.org/drawingml/2006/table">
            <a:tbl>
              <a:tblPr/>
              <a:tblGrid>
                <a:gridCol w="203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Sdept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5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1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533400" y="4953000"/>
            <a:ext cx="111321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FFFF"/>
                </a:solidFill>
                <a:latin typeface="楷体_GB2312" pitchFamily="49" charset="-122"/>
              </a:rPr>
              <a:t>注：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投影运算的结果中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可能会取消某些元组，因为需要删除重复元组。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597349"/>
              </p:ext>
            </p:extLst>
          </p:nvPr>
        </p:nvGraphicFramePr>
        <p:xfrm>
          <a:off x="633549" y="2009486"/>
          <a:ext cx="6969034" cy="2308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8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055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Ssex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chemeClr val="tx1"/>
                          </a:solidFill>
                        </a:rPr>
                        <a:t>sdept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17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002210</a:t>
                      </a:r>
                    </a:p>
                    <a:p>
                      <a:r>
                        <a:rPr lang="en-US" altLang="zh-CN" sz="3200" dirty="0"/>
                        <a:t>005221</a:t>
                      </a:r>
                    </a:p>
                    <a:p>
                      <a:r>
                        <a:rPr lang="en-US" altLang="zh-CN" sz="3200" dirty="0"/>
                        <a:t>005130</a:t>
                      </a:r>
                      <a:endParaRPr lang="zh-CN" altLang="en-US" sz="32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王雪莲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袁更旭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白亚春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男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男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女</a:t>
                      </a:r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20</a:t>
                      </a:r>
                    </a:p>
                    <a:p>
                      <a:pPr algn="ctr"/>
                      <a:r>
                        <a:rPr lang="en-US" altLang="zh-CN" sz="3200" dirty="0"/>
                        <a:t>19</a:t>
                      </a:r>
                    </a:p>
                    <a:p>
                      <a:pPr algn="ctr"/>
                      <a:r>
                        <a:rPr lang="en-US" altLang="zh-CN" sz="3200" dirty="0"/>
                        <a:t>18</a:t>
                      </a:r>
                      <a:endParaRPr lang="zh-CN" altLang="en-US" sz="3200" dirty="0"/>
                    </a:p>
                  </a:txBody>
                  <a:tcPr marL="91439" marR="91439" marT="45684" marB="45684"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软件工程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计算机系</a:t>
                      </a:r>
                      <a:endParaRPr lang="en-US" altLang="zh-CN" sz="3200" dirty="0"/>
                    </a:p>
                    <a:p>
                      <a:r>
                        <a:rPr lang="zh-CN" altLang="en-US" sz="3200" dirty="0"/>
                        <a:t>软件工程</a:t>
                      </a:r>
                    </a:p>
                  </a:txBody>
                  <a:tcPr marL="91439" marR="91439" marT="45684" marB="456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5554582" y="1763077"/>
            <a:ext cx="1859678" cy="2828925"/>
          </a:xfrm>
          <a:prstGeom prst="ellipse">
            <a:avLst/>
          </a:prstGeom>
          <a:solidFill>
            <a:srgbClr val="CCFFCC">
              <a:alpha val="50195"/>
            </a:srgbClr>
          </a:solidFill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燕尾形箭头 10"/>
          <p:cNvSpPr/>
          <p:nvPr/>
        </p:nvSpPr>
        <p:spPr>
          <a:xfrm>
            <a:off x="8053251" y="2984863"/>
            <a:ext cx="907869" cy="38535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8094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5726" y="990600"/>
            <a:ext cx="1051791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2. 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连接（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Join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）－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θ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连接</a:t>
            </a:r>
            <a:endParaRPr lang="zh-CN" altLang="en-US" b="1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 －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R×S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的笛卡儿积中，选取属性满足某一条件的元组。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870526" y="2743200"/>
            <a:ext cx="7772400" cy="685800"/>
            <a:chOff x="432" y="1728"/>
            <a:chExt cx="4896" cy="432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32" y="1728"/>
              <a:ext cx="48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lvl="1" eaLnBrk="1" hangingPunct="1">
                <a:spcBef>
                  <a:spcPct val="40000"/>
                </a:spcBef>
                <a:spcAft>
                  <a:spcPct val="40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  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S={t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|t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S 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 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[A]</a:t>
              </a:r>
              <a:r>
                <a:rPr kumimoji="1" lang="en-US" altLang="zh-CN" sz="32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[B]}</a:t>
              </a:r>
            </a:p>
          </p:txBody>
        </p:sp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864" y="1872"/>
              <a:ext cx="480" cy="288"/>
              <a:chOff x="576" y="2400"/>
              <a:chExt cx="480" cy="288"/>
            </a:xfrm>
          </p:grpSpPr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688" y="2400"/>
                <a:ext cx="144" cy="96"/>
              </a:xfrm>
              <a:custGeom>
                <a:avLst/>
                <a:gdLst>
                  <a:gd name="T0" fmla="*/ 0 w 336"/>
                  <a:gd name="T1" fmla="*/ 0 h 336"/>
                  <a:gd name="T2" fmla="*/ 0 w 336"/>
                  <a:gd name="T3" fmla="*/ 0 h 336"/>
                  <a:gd name="T4" fmla="*/ 0 w 336"/>
                  <a:gd name="T5" fmla="*/ 0 h 336"/>
                  <a:gd name="T6" fmla="*/ 0 w 336"/>
                  <a:gd name="T7" fmla="*/ 0 h 336"/>
                  <a:gd name="T8" fmla="*/ 0 w 336"/>
                  <a:gd name="T9" fmla="*/ 0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"/>
                  <a:gd name="T16" fmla="*/ 0 h 336"/>
                  <a:gd name="T17" fmla="*/ 336 w 336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" h="336">
                    <a:moveTo>
                      <a:pt x="0" y="0"/>
                    </a:moveTo>
                    <a:lnTo>
                      <a:pt x="0" y="336"/>
                    </a:lnTo>
                    <a:lnTo>
                      <a:pt x="336" y="0"/>
                    </a:lnTo>
                    <a:lnTo>
                      <a:pt x="336" y="33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576" y="2496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1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AθB</a:t>
                </a:r>
              </a:p>
            </p:txBody>
          </p:sp>
        </p:grp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552" y="1736"/>
              <a:ext cx="336" cy="96"/>
            </a:xfrm>
            <a:custGeom>
              <a:avLst/>
              <a:gdLst>
                <a:gd name="T0" fmla="*/ 0 w 192"/>
                <a:gd name="T1" fmla="*/ 12288 h 48"/>
                <a:gd name="T2" fmla="*/ 8453 w 192"/>
                <a:gd name="T3" fmla="*/ 0 h 48"/>
                <a:gd name="T4" fmla="*/ 16893 w 192"/>
                <a:gd name="T5" fmla="*/ 12288 h 48"/>
                <a:gd name="T6" fmla="*/ 0 60000 65536"/>
                <a:gd name="T7" fmla="*/ 0 60000 65536"/>
                <a:gd name="T8" fmla="*/ 0 60000 65536"/>
                <a:gd name="T9" fmla="*/ 0 w 192"/>
                <a:gd name="T10" fmla="*/ 0 h 48"/>
                <a:gd name="T11" fmla="*/ 192 w 19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48">
                  <a:moveTo>
                    <a:pt x="0" y="48"/>
                  </a:moveTo>
                  <a:cubicBezTo>
                    <a:pt x="32" y="24"/>
                    <a:pt x="64" y="0"/>
                    <a:pt x="96" y="0"/>
                  </a:cubicBezTo>
                  <a:cubicBezTo>
                    <a:pt x="128" y="0"/>
                    <a:pt x="160" y="24"/>
                    <a:pt x="192" y="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166089" y="3810000"/>
            <a:ext cx="87630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FFFF"/>
                </a:solidFill>
                <a:latin typeface="楷体_GB2312" pitchFamily="49" charset="-122"/>
              </a:rPr>
              <a:t>注：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分别为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上度数相等且可比的属性组；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）</a:t>
            </a:r>
            <a:r>
              <a:rPr kumimoji="1" lang="en-US" altLang="zh-CN" sz="2400" b="1" dirty="0">
                <a:latin typeface="楷体_GB2312" pitchFamily="49" charset="-122"/>
              </a:rPr>
              <a:t>θ</a:t>
            </a:r>
            <a:r>
              <a:rPr kumimoji="1" lang="zh-CN" altLang="en-US" sz="2400" b="1" dirty="0">
                <a:latin typeface="楷体_GB2312" pitchFamily="49" charset="-122"/>
              </a:rPr>
              <a:t>为比较运算符。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楷体_GB2312" pitchFamily="49" charset="-122"/>
              </a:rPr>
              <a:t>（</a:t>
            </a:r>
            <a:r>
              <a:rPr kumimoji="1" lang="en-US" altLang="zh-CN" sz="2400" b="1" dirty="0">
                <a:latin typeface="楷体_GB2312" pitchFamily="49" charset="-122"/>
              </a:rPr>
              <a:t>3</a:t>
            </a:r>
            <a:r>
              <a:rPr kumimoji="1" lang="zh-CN" altLang="en-US" sz="2400" b="1" dirty="0">
                <a:latin typeface="楷体_GB2312" pitchFamily="49" charset="-122"/>
              </a:rPr>
              <a:t>）连接运算从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中选出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t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[A]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和</a:t>
            </a:r>
            <a:r>
              <a:rPr kumimoji="1" lang="en-US" altLang="zh-CN" sz="2400" b="1" dirty="0" err="1">
                <a:solidFill>
                  <a:schemeClr val="tx2"/>
                </a:solidFill>
                <a:latin typeface="楷体_GB2312" pitchFamily="49" charset="-122"/>
              </a:rPr>
              <a:t>t</a:t>
            </a:r>
            <a:r>
              <a:rPr kumimoji="1" lang="en-US" altLang="zh-CN" sz="2400" b="1" baseline="-25000" dirty="0" err="1">
                <a:solidFill>
                  <a:schemeClr val="tx2"/>
                </a:solidFill>
                <a:latin typeface="楷体_GB2312" pitchFamily="49" charset="-122"/>
              </a:rPr>
              <a:t>s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[B]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满足</a:t>
            </a:r>
            <a:r>
              <a:rPr kumimoji="1" lang="en-US" altLang="zh-CN" sz="2400" b="1" dirty="0">
                <a:solidFill>
                  <a:schemeClr val="tx2"/>
                </a:solidFill>
                <a:latin typeface="楷体_GB2312" pitchFamily="49" charset="-122"/>
              </a:rPr>
              <a:t>θ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运算的元组。</a:t>
            </a:r>
            <a:endParaRPr kumimoji="1" lang="zh-CN" altLang="en-US" sz="2400" b="1" dirty="0"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83403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817" y="1369291"/>
            <a:ext cx="1828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817" y="1369291"/>
            <a:ext cx="13716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617" y="2359891"/>
            <a:ext cx="5105400" cy="362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6811817" y="1369291"/>
            <a:ext cx="1190625" cy="838200"/>
            <a:chOff x="3217" y="1008"/>
            <a:chExt cx="750" cy="528"/>
          </a:xfrm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88" y="1104"/>
              <a:ext cx="208" cy="144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7 w 336"/>
                <a:gd name="T5" fmla="*/ 0 h 336"/>
                <a:gd name="T6" fmla="*/ 7 w 336"/>
                <a:gd name="T7" fmla="*/ 0 h 336"/>
                <a:gd name="T8" fmla="*/ 0 w 336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0"/>
                  </a:lnTo>
                  <a:lnTo>
                    <a:pt x="336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217" y="10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744" y="100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342" y="1248"/>
              <a:ext cx="4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C&lt;E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385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1066800"/>
            <a:ext cx="7772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FFFF66"/>
              </a:buClr>
            </a:pPr>
            <a:endParaRPr lang="en-US" altLang="zh-CN" b="1" dirty="0">
              <a:solidFill>
                <a:srgbClr val="FFFF66"/>
              </a:solidFill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3300"/>
                </a:solidFill>
              </a:rPr>
              <a:t>等值连接： </a:t>
            </a:r>
            <a:r>
              <a:rPr lang="en-US" altLang="zh-CN" b="1" dirty="0">
                <a:solidFill>
                  <a:srgbClr val="FF3300"/>
                </a:solidFill>
              </a:rPr>
              <a:t>θ</a:t>
            </a:r>
            <a:r>
              <a:rPr lang="zh-CN" altLang="en-US" b="1" dirty="0">
                <a:solidFill>
                  <a:srgbClr val="FF3300"/>
                </a:solidFill>
              </a:rPr>
              <a:t>为“＝”的连接运算</a:t>
            </a:r>
          </a:p>
          <a:p>
            <a:pPr eaLnBrk="1" hangingPunct="1"/>
            <a:endParaRPr lang="en-US" altLang="zh-CN" b="1" dirty="0">
              <a:solidFill>
                <a:srgbClr val="FFFF66"/>
              </a:solidFill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547091" y="2493735"/>
            <a:ext cx="7772400" cy="685800"/>
            <a:chOff x="432" y="1728"/>
            <a:chExt cx="4896" cy="432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32" y="1728"/>
              <a:ext cx="48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lvl="1" eaLnBrk="1" hangingPunct="1">
                <a:spcBef>
                  <a:spcPct val="40000"/>
                </a:spcBef>
                <a:spcAft>
                  <a:spcPct val="40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  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S={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|t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 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 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[A]</a:t>
              </a:r>
              <a:r>
                <a:rPr kumimoji="1"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1" lang="en-US" altLang="zh-CN" sz="3200" b="1" dirty="0" err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 dirty="0" err="1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 dirty="0">
                  <a:solidFill>
                    <a:srgbClr val="FF3300"/>
                  </a:solidFill>
                  <a:latin typeface="楷体_GB2312" pitchFamily="49" charset="-122"/>
                </a:rPr>
                <a:t>[B]}</a:t>
              </a:r>
            </a:p>
          </p:txBody>
        </p:sp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864" y="1872"/>
              <a:ext cx="480" cy="288"/>
              <a:chOff x="576" y="2400"/>
              <a:chExt cx="480" cy="288"/>
            </a:xfrm>
          </p:grpSpPr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688" y="2400"/>
                <a:ext cx="144" cy="96"/>
              </a:xfrm>
              <a:custGeom>
                <a:avLst/>
                <a:gdLst>
                  <a:gd name="T0" fmla="*/ 0 w 336"/>
                  <a:gd name="T1" fmla="*/ 0 h 336"/>
                  <a:gd name="T2" fmla="*/ 0 w 336"/>
                  <a:gd name="T3" fmla="*/ 0 h 336"/>
                  <a:gd name="T4" fmla="*/ 0 w 336"/>
                  <a:gd name="T5" fmla="*/ 0 h 336"/>
                  <a:gd name="T6" fmla="*/ 0 w 336"/>
                  <a:gd name="T7" fmla="*/ 0 h 336"/>
                  <a:gd name="T8" fmla="*/ 0 w 336"/>
                  <a:gd name="T9" fmla="*/ 0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"/>
                  <a:gd name="T16" fmla="*/ 0 h 336"/>
                  <a:gd name="T17" fmla="*/ 336 w 336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" h="336">
                    <a:moveTo>
                      <a:pt x="0" y="0"/>
                    </a:moveTo>
                    <a:lnTo>
                      <a:pt x="0" y="336"/>
                    </a:lnTo>
                    <a:lnTo>
                      <a:pt x="336" y="0"/>
                    </a:lnTo>
                    <a:lnTo>
                      <a:pt x="336" y="33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576" y="2496"/>
                <a:ext cx="4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1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＝</a:t>
                </a:r>
                <a:r>
                  <a:rPr kumimoji="1" lang="en-US" altLang="zh-CN" sz="1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552" y="1736"/>
              <a:ext cx="336" cy="96"/>
            </a:xfrm>
            <a:custGeom>
              <a:avLst/>
              <a:gdLst>
                <a:gd name="T0" fmla="*/ 0 w 192"/>
                <a:gd name="T1" fmla="*/ 12288 h 48"/>
                <a:gd name="T2" fmla="*/ 8453 w 192"/>
                <a:gd name="T3" fmla="*/ 0 h 48"/>
                <a:gd name="T4" fmla="*/ 16893 w 192"/>
                <a:gd name="T5" fmla="*/ 12288 h 48"/>
                <a:gd name="T6" fmla="*/ 0 60000 65536"/>
                <a:gd name="T7" fmla="*/ 0 60000 65536"/>
                <a:gd name="T8" fmla="*/ 0 60000 65536"/>
                <a:gd name="T9" fmla="*/ 0 w 192"/>
                <a:gd name="T10" fmla="*/ 0 h 48"/>
                <a:gd name="T11" fmla="*/ 192 w 19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48">
                  <a:moveTo>
                    <a:pt x="0" y="48"/>
                  </a:moveTo>
                  <a:cubicBezTo>
                    <a:pt x="32" y="24"/>
                    <a:pt x="64" y="0"/>
                    <a:pt x="96" y="0"/>
                  </a:cubicBezTo>
                  <a:cubicBezTo>
                    <a:pt x="128" y="0"/>
                    <a:pt x="160" y="24"/>
                    <a:pt x="192" y="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57200" y="3657600"/>
            <a:ext cx="838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即：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中选出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属性组相等的那些元组</a:t>
            </a:r>
            <a:endParaRPr kumimoji="1"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82638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817" y="1445489"/>
            <a:ext cx="1828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817" y="1445489"/>
            <a:ext cx="1524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017" y="2436089"/>
            <a:ext cx="4876800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6735617" y="1369289"/>
            <a:ext cx="1306513" cy="838200"/>
            <a:chOff x="3176" y="1008"/>
            <a:chExt cx="823" cy="528"/>
          </a:xfrm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88" y="1104"/>
              <a:ext cx="208" cy="144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7 w 336"/>
                <a:gd name="T5" fmla="*/ 0 h 336"/>
                <a:gd name="T6" fmla="*/ 7 w 336"/>
                <a:gd name="T7" fmla="*/ 0 h 336"/>
                <a:gd name="T8" fmla="*/ 0 w 336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0"/>
                  </a:lnTo>
                  <a:lnTo>
                    <a:pt x="336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217" y="10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744" y="100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176" y="1248"/>
              <a:ext cx="8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R.B=S.B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06975" y="1183879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5577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990600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自然连接： 特殊的等值连接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316182" y="1871662"/>
            <a:ext cx="7772400" cy="579438"/>
            <a:chOff x="240" y="1200"/>
            <a:chExt cx="4896" cy="365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40" y="1200"/>
              <a:ext cx="48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lvl="1" eaLnBrk="1" hangingPunct="1">
                <a:spcBef>
                  <a:spcPct val="40000"/>
                </a:spcBef>
                <a:spcAft>
                  <a:spcPct val="40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  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S={t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|t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S 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  <a:sym typeface="Symbol" panose="05050102010706020507" pitchFamily="18" charset="2"/>
                </a:rPr>
                <a:t>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 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r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[B]</a:t>
              </a: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t</a:t>
              </a:r>
              <a:r>
                <a:rPr kumimoji="1" lang="en-US" altLang="zh-CN" sz="3200" b="1" baseline="-25000">
                  <a:solidFill>
                    <a:srgbClr val="FF3300"/>
                  </a:solidFill>
                  <a:latin typeface="楷体_GB2312" pitchFamily="49" charset="-122"/>
                </a:rPr>
                <a:t>s</a:t>
              </a:r>
              <a:r>
                <a:rPr kumimoji="1" lang="en-US" altLang="zh-CN" sz="3200" b="1">
                  <a:solidFill>
                    <a:srgbClr val="FF3300"/>
                  </a:solidFill>
                  <a:latin typeface="楷体_GB2312" pitchFamily="49" charset="-122"/>
                </a:rPr>
                <a:t>[B]}</a:t>
              </a: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784" y="1344"/>
              <a:ext cx="144" cy="96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0 w 336"/>
                <a:gd name="T5" fmla="*/ 0 h 336"/>
                <a:gd name="T6" fmla="*/ 0 w 336"/>
                <a:gd name="T7" fmla="*/ 0 h 336"/>
                <a:gd name="T8" fmla="*/ 0 w 336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0"/>
                  </a:lnTo>
                  <a:lnTo>
                    <a:pt x="336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360" y="1208"/>
              <a:ext cx="336" cy="96"/>
            </a:xfrm>
            <a:custGeom>
              <a:avLst/>
              <a:gdLst>
                <a:gd name="T0" fmla="*/ 0 w 192"/>
                <a:gd name="T1" fmla="*/ 12288 h 48"/>
                <a:gd name="T2" fmla="*/ 8453 w 192"/>
                <a:gd name="T3" fmla="*/ 0 h 48"/>
                <a:gd name="T4" fmla="*/ 16893 w 192"/>
                <a:gd name="T5" fmla="*/ 12288 h 48"/>
                <a:gd name="T6" fmla="*/ 0 60000 65536"/>
                <a:gd name="T7" fmla="*/ 0 60000 65536"/>
                <a:gd name="T8" fmla="*/ 0 60000 65536"/>
                <a:gd name="T9" fmla="*/ 0 w 192"/>
                <a:gd name="T10" fmla="*/ 0 h 48"/>
                <a:gd name="T11" fmla="*/ 192 w 19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48">
                  <a:moveTo>
                    <a:pt x="0" y="48"/>
                  </a:moveTo>
                  <a:cubicBezTo>
                    <a:pt x="32" y="24"/>
                    <a:pt x="64" y="0"/>
                    <a:pt x="96" y="0"/>
                  </a:cubicBezTo>
                  <a:cubicBezTo>
                    <a:pt x="128" y="0"/>
                    <a:pt x="160" y="24"/>
                    <a:pt x="192" y="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33400" y="2819400"/>
            <a:ext cx="10291618" cy="1095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hlink"/>
                </a:solidFill>
                <a:latin typeface="楷体_GB2312" pitchFamily="49" charset="-122"/>
              </a:rPr>
              <a:t>即：</a:t>
            </a:r>
            <a:r>
              <a:rPr kumimoji="1" lang="zh-CN" altLang="en-US" sz="2800" b="1" dirty="0">
                <a:latin typeface="楷体_GB2312" pitchFamily="49" charset="-122"/>
              </a:rPr>
              <a:t>要求两个关系中进行比较的分量必须是相同的属性组，并且在结果中删除重复的属性列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。</a:t>
            </a:r>
            <a:endParaRPr kumimoji="1" lang="zh-CN" altLang="en-US" sz="2800" b="1" dirty="0">
              <a:latin typeface="楷体_GB2312" pitchFamily="49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95288" y="55895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hlink"/>
                </a:solidFill>
                <a:latin typeface="楷体_GB2312" pitchFamily="49" charset="-122"/>
              </a:rPr>
              <a:t>注：</a:t>
            </a:r>
            <a:r>
              <a:rPr kumimoji="1" lang="zh-CN" altLang="en-US" sz="2800" b="1">
                <a:latin typeface="楷体_GB2312" pitchFamily="49" charset="-122"/>
              </a:rPr>
              <a:t>从</a:t>
            </a:r>
            <a:r>
              <a:rPr kumimoji="1" lang="zh-CN" altLang="en-US" sz="2800" b="1">
                <a:solidFill>
                  <a:schemeClr val="tx2"/>
                </a:solidFill>
                <a:latin typeface="楷体_GB2312" pitchFamily="49" charset="-122"/>
              </a:rPr>
              <a:t>行和列的角度进行计算</a:t>
            </a:r>
            <a:endParaRPr kumimoji="1" lang="zh-CN" altLang="en-US" sz="2800" b="1">
              <a:latin typeface="楷体_GB2312" pitchFamily="49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55203" y="4075172"/>
            <a:ext cx="8164512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666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400" b="1">
                <a:latin typeface="楷体_GB2312" pitchFamily="49" charset="-122"/>
              </a:rPr>
              <a:t>①</a:t>
            </a:r>
            <a:r>
              <a:rPr lang="zh-CN" altLang="en-US" sz="2400" b="1">
                <a:latin typeface="楷体_GB2312" pitchFamily="49" charset="-122"/>
              </a:rPr>
              <a:t>计算</a:t>
            </a:r>
            <a:r>
              <a:rPr lang="en-US" altLang="zh-CN" sz="2400" b="1">
                <a:latin typeface="楷体_GB2312" pitchFamily="49" charset="-122"/>
              </a:rPr>
              <a:t>R×S </a:t>
            </a:r>
            <a:r>
              <a:rPr lang="zh-CN" altLang="en-US" sz="2400" b="1">
                <a:latin typeface="楷体_GB2312" pitchFamily="49" charset="-12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400" b="1">
                <a:latin typeface="楷体_GB2312" pitchFamily="49" charset="-122"/>
              </a:rPr>
              <a:t>②挑选</a:t>
            </a:r>
            <a:r>
              <a:rPr lang="en-US" altLang="zh-CN" sz="2400" b="1">
                <a:latin typeface="楷体_GB2312" pitchFamily="49" charset="-122"/>
              </a:rPr>
              <a:t>R</a:t>
            </a:r>
            <a:r>
              <a:rPr lang="zh-CN" altLang="en-US" sz="2400" b="1">
                <a:latin typeface="楷体_GB2312" pitchFamily="49" charset="-122"/>
              </a:rPr>
              <a:t>和</a:t>
            </a:r>
            <a:r>
              <a:rPr lang="en-US" altLang="zh-CN" sz="2400" b="1">
                <a:latin typeface="楷体_GB2312" pitchFamily="49" charset="-122"/>
              </a:rPr>
              <a:t>S</a:t>
            </a:r>
            <a:r>
              <a:rPr lang="zh-CN" altLang="en-US" sz="2400" b="1">
                <a:latin typeface="楷体_GB2312" pitchFamily="49" charset="-122"/>
              </a:rPr>
              <a:t>中满足</a:t>
            </a:r>
            <a:r>
              <a:rPr lang="en-US" altLang="zh-CN" sz="2400" b="1">
                <a:latin typeface="楷体_GB2312" pitchFamily="49" charset="-122"/>
              </a:rPr>
              <a:t>R.A1=S.A1</a:t>
            </a:r>
            <a:r>
              <a:rPr lang="zh-CN" altLang="en-US" sz="2400" b="1">
                <a:latin typeface="楷体_GB2312" pitchFamily="49" charset="-122"/>
              </a:rPr>
              <a:t>，</a:t>
            </a:r>
            <a:r>
              <a:rPr lang="en-US" altLang="zh-CN" sz="2400" b="1">
                <a:latin typeface="华文楷体" panose="02010600040101010101" pitchFamily="2" charset="-122"/>
              </a:rPr>
              <a:t>…</a:t>
            </a:r>
            <a:r>
              <a:rPr lang="zh-CN" altLang="en-US" sz="2400" b="1">
                <a:latin typeface="楷体_GB2312" pitchFamily="49" charset="-122"/>
              </a:rPr>
              <a:t>，</a:t>
            </a:r>
            <a:r>
              <a:rPr lang="en-US" altLang="zh-CN" sz="2400" b="1">
                <a:latin typeface="楷体_GB2312" pitchFamily="49" charset="-122"/>
              </a:rPr>
              <a:t>R.Ak=S.Ak</a:t>
            </a:r>
            <a:r>
              <a:rPr lang="zh-CN" altLang="en-US" sz="2400" b="1">
                <a:latin typeface="楷体_GB2312" pitchFamily="49" charset="-122"/>
              </a:rPr>
              <a:t>的那些元组；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400" b="1">
                <a:latin typeface="楷体_GB2312" pitchFamily="49" charset="-122"/>
              </a:rPr>
              <a:t>③去掉</a:t>
            </a:r>
            <a:r>
              <a:rPr lang="en-US" altLang="zh-CN" sz="2400" b="1">
                <a:latin typeface="楷体_GB2312" pitchFamily="49" charset="-122"/>
              </a:rPr>
              <a:t>S.A1</a:t>
            </a:r>
            <a:r>
              <a:rPr lang="zh-CN" altLang="en-US" sz="2400" b="1">
                <a:latin typeface="楷体_GB2312" pitchFamily="49" charset="-122"/>
              </a:rPr>
              <a:t>，</a:t>
            </a:r>
            <a:r>
              <a:rPr lang="en-US" altLang="zh-CN" sz="2400" b="1">
                <a:latin typeface="华文楷体" panose="02010600040101010101" pitchFamily="2" charset="-122"/>
              </a:rPr>
              <a:t>…</a:t>
            </a:r>
            <a:r>
              <a:rPr lang="zh-CN" altLang="en-US" sz="2400" b="1">
                <a:latin typeface="楷体_GB2312" pitchFamily="49" charset="-122"/>
              </a:rPr>
              <a:t>，</a:t>
            </a:r>
            <a:r>
              <a:rPr lang="en-US" altLang="zh-CN" sz="2400" b="1">
                <a:latin typeface="楷体_GB2312" pitchFamily="49" charset="-122"/>
              </a:rPr>
              <a:t>S.A k</a:t>
            </a:r>
            <a:r>
              <a:rPr lang="zh-CN" altLang="en-US" sz="2400" b="1">
                <a:latin typeface="楷体_GB2312" pitchFamily="49" charset="-122"/>
              </a:rPr>
              <a:t>这些列。</a:t>
            </a:r>
          </a:p>
        </p:txBody>
      </p:sp>
    </p:spTree>
    <p:extLst>
      <p:ext uri="{BB962C8B-B14F-4D97-AF65-F5344CB8AC3E}">
        <p14:creationId xmlns:p14="http://schemas.microsoft.com/office/powerpoint/2010/main" val="19140503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r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235" y="1491671"/>
            <a:ext cx="1828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235" y="1491671"/>
            <a:ext cx="1600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rs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835" y="2177471"/>
            <a:ext cx="46482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6664035" y="1491671"/>
            <a:ext cx="1190625" cy="838200"/>
            <a:chOff x="3217" y="1008"/>
            <a:chExt cx="750" cy="528"/>
          </a:xfrm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88" y="1104"/>
              <a:ext cx="208" cy="144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7 w 336"/>
                <a:gd name="T5" fmla="*/ 0 h 336"/>
                <a:gd name="T6" fmla="*/ 7 w 336"/>
                <a:gd name="T7" fmla="*/ 0 h 336"/>
                <a:gd name="T8" fmla="*/ 0 w 336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0"/>
                  </a:lnTo>
                  <a:lnTo>
                    <a:pt x="336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217" y="10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744" y="100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529" y="1248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kumimoji="1" lang="zh-CN" altLang="zh-CN" sz="24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8548" y="1183988"/>
            <a:ext cx="107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『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525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-69697" y="766636"/>
            <a:ext cx="17322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实例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E』</a:t>
            </a:r>
            <a:endParaRPr lang="en-US" altLang="zh-CN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56619"/>
              </p:ext>
            </p:extLst>
          </p:nvPr>
        </p:nvGraphicFramePr>
        <p:xfrm>
          <a:off x="1920240" y="1065065"/>
          <a:ext cx="4360198" cy="2809875"/>
        </p:xfrm>
        <a:graphic>
          <a:graphicData uri="http://schemas.openxmlformats.org/drawingml/2006/table">
            <a:tbl>
              <a:tblPr/>
              <a:tblGrid>
                <a:gridCol w="1767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746459" y="2263614"/>
            <a:ext cx="792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endParaRPr lang="en-US" altLang="zh-CN" sz="3200" b="1" baseline="-25000" dirty="0">
              <a:ea typeface="宋体" panose="02010600030101010101" pitchFamily="2" charset="-122"/>
            </a:endParaRPr>
          </a:p>
        </p:txBody>
      </p:sp>
      <p:graphicFrame>
        <p:nvGraphicFramePr>
          <p:cNvPr id="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067239"/>
              </p:ext>
            </p:extLst>
          </p:nvPr>
        </p:nvGraphicFramePr>
        <p:xfrm>
          <a:off x="1965960" y="4306740"/>
          <a:ext cx="3417541" cy="2247900"/>
        </p:xfrm>
        <a:graphic>
          <a:graphicData uri="http://schemas.openxmlformats.org/drawingml/2006/table">
            <a:tbl>
              <a:tblPr/>
              <a:tblGrid>
                <a:gridCol w="212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870420" y="5238604"/>
            <a:ext cx="792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宋体" panose="02010600030101010101" pitchFamily="2" charset="-122"/>
              </a:rPr>
              <a:t>Ｓ</a:t>
            </a:r>
            <a:endParaRPr lang="zh-CN" altLang="en-US" sz="3200" b="1" baseline="-25000" dirty="0">
              <a:ea typeface="宋体" panose="02010600030101010101" pitchFamily="2" charset="-122"/>
            </a:endParaRPr>
          </a:p>
        </p:txBody>
      </p:sp>
      <p:graphicFrame>
        <p:nvGraphicFramePr>
          <p:cNvPr id="11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274528"/>
              </p:ext>
            </p:extLst>
          </p:nvPr>
        </p:nvGraphicFramePr>
        <p:xfrm>
          <a:off x="5858692" y="4306740"/>
          <a:ext cx="5871755" cy="1876425"/>
        </p:xfrm>
        <a:graphic>
          <a:graphicData uri="http://schemas.openxmlformats.org/drawingml/2006/table">
            <a:tbl>
              <a:tblPr/>
              <a:tblGrid>
                <a:gridCol w="1447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G.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AutoShape 77"/>
          <p:cNvSpPr>
            <a:spLocks noChangeArrowheads="1"/>
          </p:cNvSpPr>
          <p:nvPr/>
        </p:nvSpPr>
        <p:spPr bwMode="auto">
          <a:xfrm>
            <a:off x="8585488" y="3519548"/>
            <a:ext cx="503238" cy="720725"/>
          </a:xfrm>
          <a:prstGeom prst="upArrow">
            <a:avLst>
              <a:gd name="adj1" fmla="val 50000"/>
              <a:gd name="adj2" fmla="val 358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73390"/>
              </p:ext>
            </p:extLst>
          </p:nvPr>
        </p:nvGraphicFramePr>
        <p:xfrm>
          <a:off x="6774836" y="937904"/>
          <a:ext cx="4627780" cy="1836885"/>
        </p:xfrm>
        <a:graphic>
          <a:graphicData uri="http://schemas.openxmlformats.org/drawingml/2006/table">
            <a:tbl>
              <a:tblPr/>
              <a:tblGrid>
                <a:gridCol w="123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" name="Group 100"/>
          <p:cNvGrpSpPr>
            <a:grpSpLocks/>
          </p:cNvGrpSpPr>
          <p:nvPr/>
        </p:nvGrpSpPr>
        <p:grpSpPr bwMode="auto">
          <a:xfrm>
            <a:off x="8237009" y="2263614"/>
            <a:ext cx="1944687" cy="1447800"/>
            <a:chOff x="3424" y="1248"/>
            <a:chExt cx="1225" cy="912"/>
          </a:xfrm>
        </p:grpSpPr>
        <p:grpSp>
          <p:nvGrpSpPr>
            <p:cNvPr id="15" name="Group 101"/>
            <p:cNvGrpSpPr>
              <a:grpSpLocks/>
            </p:cNvGrpSpPr>
            <p:nvPr/>
          </p:nvGrpSpPr>
          <p:grpSpPr bwMode="auto">
            <a:xfrm>
              <a:off x="3515" y="1248"/>
              <a:ext cx="672" cy="912"/>
              <a:chOff x="3360" y="816"/>
              <a:chExt cx="672" cy="912"/>
            </a:xfrm>
          </p:grpSpPr>
          <p:sp>
            <p:nvSpPr>
              <p:cNvPr id="17" name="Rectangle 102"/>
              <p:cNvSpPr>
                <a:spLocks noChangeArrowheads="1"/>
              </p:cNvSpPr>
              <p:nvPr/>
            </p:nvSpPr>
            <p:spPr bwMode="auto">
              <a:xfrm>
                <a:off x="3408" y="1344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endParaRPr kumimoji="1"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8" name="Group 103"/>
              <p:cNvGrpSpPr>
                <a:grpSpLocks/>
              </p:cNvGrpSpPr>
              <p:nvPr/>
            </p:nvGrpSpPr>
            <p:grpSpPr bwMode="auto">
              <a:xfrm rot="10800000">
                <a:off x="3360" y="816"/>
                <a:ext cx="624" cy="576"/>
                <a:chOff x="6431" y="11824"/>
                <a:chExt cx="705" cy="367"/>
              </a:xfrm>
            </p:grpSpPr>
            <p:sp>
              <p:nvSpPr>
                <p:cNvPr id="19" name="AutoShape 104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6793" y="11792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" name="Text Box 105"/>
                <p:cNvSpPr txBox="1">
                  <a:spLocks noChangeArrowheads="1"/>
                </p:cNvSpPr>
                <p:nvPr/>
              </p:nvSpPr>
              <p:spPr bwMode="auto">
                <a:xfrm flipV="1">
                  <a:off x="6431" y="11828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6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endPara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6" name="Text Box 106"/>
            <p:cNvSpPr txBox="1">
              <a:spLocks noChangeArrowheads="1"/>
            </p:cNvSpPr>
            <p:nvPr/>
          </p:nvSpPr>
          <p:spPr bwMode="auto">
            <a:xfrm>
              <a:off x="3424" y="1570"/>
              <a:ext cx="12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ea typeface="宋体" panose="02010600030101010101" pitchFamily="2" charset="-122"/>
                </a:rPr>
                <a:t>S</a:t>
              </a:r>
              <a:r>
                <a:rPr lang="zh-CN" altLang="en-US" sz="3200" b="1" dirty="0">
                  <a:ea typeface="宋体" panose="02010600030101010101" pitchFamily="2" charset="-122"/>
                </a:rPr>
                <a:t>　</a:t>
              </a:r>
              <a:r>
                <a:rPr lang="en-US" altLang="zh-CN" sz="3200" b="1" dirty="0">
                  <a:ea typeface="宋体" panose="02010600030101010101" pitchFamily="2" charset="-122"/>
                </a:rPr>
                <a:t>G</a:t>
              </a:r>
            </a:p>
          </p:txBody>
        </p:sp>
      </p:grpSp>
      <p:grpSp>
        <p:nvGrpSpPr>
          <p:cNvPr id="21" name="Group 107"/>
          <p:cNvGrpSpPr>
            <a:grpSpLocks/>
          </p:cNvGrpSpPr>
          <p:nvPr/>
        </p:nvGrpSpPr>
        <p:grpSpPr bwMode="auto">
          <a:xfrm>
            <a:off x="7864763" y="5608717"/>
            <a:ext cx="1944687" cy="1447800"/>
            <a:chOff x="3379" y="3249"/>
            <a:chExt cx="1225" cy="912"/>
          </a:xfrm>
        </p:grpSpPr>
        <p:sp>
          <p:nvSpPr>
            <p:cNvPr id="22" name="Text Box 108"/>
            <p:cNvSpPr txBox="1">
              <a:spLocks noChangeArrowheads="1"/>
            </p:cNvSpPr>
            <p:nvPr/>
          </p:nvSpPr>
          <p:spPr bwMode="auto">
            <a:xfrm>
              <a:off x="3379" y="3566"/>
              <a:ext cx="12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ea typeface="宋体" panose="02010600030101010101" pitchFamily="2" charset="-122"/>
                </a:rPr>
                <a:t>S</a:t>
              </a:r>
              <a:r>
                <a:rPr lang="zh-CN" altLang="en-US" sz="3200" b="1" dirty="0">
                  <a:ea typeface="宋体" panose="02010600030101010101" pitchFamily="2" charset="-122"/>
                </a:rPr>
                <a:t>　</a:t>
              </a:r>
              <a:r>
                <a:rPr lang="en-US" altLang="zh-CN" sz="3200" b="1" dirty="0">
                  <a:ea typeface="宋体" panose="02010600030101010101" pitchFamily="2" charset="-122"/>
                </a:rPr>
                <a:t>G</a:t>
              </a:r>
            </a:p>
          </p:txBody>
        </p:sp>
        <p:grpSp>
          <p:nvGrpSpPr>
            <p:cNvPr id="23" name="Group 109"/>
            <p:cNvGrpSpPr>
              <a:grpSpLocks/>
            </p:cNvGrpSpPr>
            <p:nvPr/>
          </p:nvGrpSpPr>
          <p:grpSpPr bwMode="auto">
            <a:xfrm>
              <a:off x="3470" y="3249"/>
              <a:ext cx="672" cy="912"/>
              <a:chOff x="3360" y="816"/>
              <a:chExt cx="672" cy="912"/>
            </a:xfrm>
          </p:grpSpPr>
          <p:sp>
            <p:nvSpPr>
              <p:cNvPr id="25" name="Rectangle 110"/>
              <p:cNvSpPr>
                <a:spLocks noChangeArrowheads="1"/>
              </p:cNvSpPr>
              <p:nvPr/>
            </p:nvSpPr>
            <p:spPr bwMode="auto">
              <a:xfrm>
                <a:off x="3408" y="1344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Ｓ</a:t>
                </a: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学号</a:t>
                </a:r>
                <a:r>
                  <a:rPr lang="en-US" altLang="zh-CN" sz="16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Ｇ</a:t>
                </a:r>
                <a:r>
                  <a:rPr lang="en-US" altLang="zh-CN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</a:rPr>
                  <a:t>学号</a:t>
                </a: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" name="Group 111"/>
              <p:cNvGrpSpPr>
                <a:grpSpLocks/>
              </p:cNvGrpSpPr>
              <p:nvPr/>
            </p:nvGrpSpPr>
            <p:grpSpPr bwMode="auto">
              <a:xfrm rot="10800000">
                <a:off x="3360" y="816"/>
                <a:ext cx="624" cy="576"/>
                <a:chOff x="6431" y="11824"/>
                <a:chExt cx="705" cy="367"/>
              </a:xfrm>
            </p:grpSpPr>
            <p:sp>
              <p:nvSpPr>
                <p:cNvPr id="27" name="AutoShape 112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6793" y="11792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" name="Text Box 113"/>
                <p:cNvSpPr txBox="1">
                  <a:spLocks noChangeArrowheads="1"/>
                </p:cNvSpPr>
                <p:nvPr/>
              </p:nvSpPr>
              <p:spPr bwMode="auto">
                <a:xfrm flipV="1">
                  <a:off x="6431" y="11828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6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endPara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724737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11188" y="981075"/>
            <a:ext cx="11174412" cy="543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lnSpc>
                <a:spcPct val="125000"/>
              </a:lnSpc>
              <a:spcBef>
                <a:spcPct val="25000"/>
              </a:spcBef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</a:rPr>
              <a:t>外连接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</a:rPr>
              <a:t>  </a:t>
            </a:r>
            <a:r>
              <a:rPr lang="zh-CN" altLang="en-US" sz="2800" b="1" dirty="0">
                <a:latin typeface="楷体_GB2312" pitchFamily="49" charset="-122"/>
              </a:rPr>
              <a:t>在通常的连接中</a:t>
            </a:r>
            <a:r>
              <a:rPr lang="en-US" altLang="zh-CN" sz="2800" b="1" dirty="0">
                <a:latin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</a:rPr>
              <a:t>只有满足连接条件的元组才能构成新的关系。外连接根据连接时保留表中记录的侧重不同分为：左外连接、右外连接、全外连接。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</a:rPr>
              <a:t>A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</a:rPr>
              <a:t>、左外连接</a:t>
            </a:r>
          </a:p>
          <a:p>
            <a:pPr eaLnBrk="1" hangingPunct="1">
              <a:lnSpc>
                <a:spcPct val="125000"/>
              </a:lnSpc>
              <a:spcBef>
                <a:spcPct val="25000"/>
              </a:spcBef>
            </a:pPr>
            <a:r>
              <a:rPr lang="zh-CN" altLang="en-US" sz="2800" b="1" dirty="0">
                <a:latin typeface="楷体_GB2312" pitchFamily="49" charset="-122"/>
              </a:rPr>
              <a:t>   将左表中的所有记录分别与右表中的每条记录进行组合，结果集中除返回连接的记录以外，还在查询结果中返回左表中不符合条件的记录，并在右表的相应列中填上空值，有些不允许为空的属性值则填</a:t>
            </a:r>
            <a:r>
              <a:rPr lang="en-US" altLang="zh-CN" sz="2800" b="1" dirty="0">
                <a:latin typeface="楷体_GB2312" pitchFamily="49" charset="-122"/>
              </a:rPr>
              <a:t>0</a:t>
            </a:r>
            <a:r>
              <a:rPr lang="zh-CN" altLang="en-US" sz="2800" b="1" dirty="0">
                <a:latin typeface="楷体_GB2312" pitchFamily="49" charset="-122"/>
              </a:rPr>
              <a:t>值等。</a:t>
            </a:r>
          </a:p>
        </p:txBody>
      </p:sp>
    </p:spTree>
    <p:extLst>
      <p:ext uri="{BB962C8B-B14F-4D97-AF65-F5344CB8AC3E}">
        <p14:creationId xmlns:p14="http://schemas.microsoft.com/office/powerpoint/2010/main" val="42645125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41368" y="772079"/>
            <a:ext cx="94183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实例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E』</a:t>
            </a:r>
            <a:r>
              <a:rPr lang="zh-CN" altLang="en-US" sz="3200" b="1" dirty="0">
                <a:solidFill>
                  <a:srgbClr val="003300"/>
                </a:solidFill>
                <a:ea typeface="宋体" panose="02010600030101010101" pitchFamily="2" charset="-122"/>
              </a:rPr>
              <a:t>列出每个</a:t>
            </a:r>
            <a:r>
              <a:rPr lang="zh-CN" altLang="en-US" sz="2800" b="1" dirty="0">
                <a:solidFill>
                  <a:srgbClr val="003300"/>
                </a:solidFill>
                <a:ea typeface="宋体" panose="02010600030101010101" pitchFamily="2" charset="-122"/>
              </a:rPr>
              <a:t>学生</a:t>
            </a:r>
            <a:r>
              <a:rPr lang="zh-CN" altLang="en-US" sz="3200" b="1" dirty="0">
                <a:solidFill>
                  <a:srgbClr val="003300"/>
                </a:solidFill>
                <a:ea typeface="宋体" panose="02010600030101010101" pitchFamily="2" charset="-122"/>
              </a:rPr>
              <a:t>的基本情况及其选课情况。</a:t>
            </a:r>
          </a:p>
        </p:txBody>
      </p:sp>
      <p:cxnSp>
        <p:nvCxnSpPr>
          <p:cNvPr id="9" name="AutoShape 80"/>
          <p:cNvCxnSpPr>
            <a:cxnSpLocks noChangeShapeType="1"/>
            <a:stCxn id="7" idx="1"/>
            <a:endCxn id="7" idx="1"/>
          </p:cNvCxnSpPr>
          <p:nvPr/>
        </p:nvCxnSpPr>
        <p:spPr bwMode="auto">
          <a:xfrm>
            <a:off x="141368" y="1064467"/>
            <a:ext cx="0" cy="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grpSp>
        <p:nvGrpSpPr>
          <p:cNvPr id="21" name="组合 20"/>
          <p:cNvGrpSpPr/>
          <p:nvPr/>
        </p:nvGrpSpPr>
        <p:grpSpPr>
          <a:xfrm>
            <a:off x="7216071" y="3752782"/>
            <a:ext cx="1626982" cy="954519"/>
            <a:chOff x="6296297" y="1613263"/>
            <a:chExt cx="1626982" cy="954519"/>
          </a:xfrm>
        </p:grpSpPr>
        <p:sp>
          <p:nvSpPr>
            <p:cNvPr id="20" name="TextBox 19"/>
            <p:cNvSpPr txBox="1"/>
            <p:nvPr/>
          </p:nvSpPr>
          <p:spPr>
            <a:xfrm>
              <a:off x="6296297" y="1613263"/>
              <a:ext cx="1412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S     G</a:t>
              </a:r>
              <a:endParaRPr lang="zh-CN" altLang="en-US" sz="2400" b="1" dirty="0"/>
            </a:p>
          </p:txBody>
        </p:sp>
        <p:sp>
          <p:nvSpPr>
            <p:cNvPr id="8" name="Text Box 78"/>
            <p:cNvSpPr txBox="1">
              <a:spLocks noChangeArrowheads="1"/>
            </p:cNvSpPr>
            <p:nvPr/>
          </p:nvSpPr>
          <p:spPr bwMode="auto">
            <a:xfrm rot="10800000" flipV="1">
              <a:off x="6932679" y="1662907"/>
              <a:ext cx="990600" cy="90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" name="Group 81"/>
            <p:cNvGrpSpPr>
              <a:grpSpLocks/>
            </p:cNvGrpSpPr>
            <p:nvPr/>
          </p:nvGrpSpPr>
          <p:grpSpPr bwMode="auto">
            <a:xfrm>
              <a:off x="6643754" y="1700426"/>
              <a:ext cx="288925" cy="287337"/>
              <a:chOff x="748" y="3657"/>
              <a:chExt cx="272" cy="227"/>
            </a:xfrm>
          </p:grpSpPr>
          <p:cxnSp>
            <p:nvCxnSpPr>
              <p:cNvPr id="11" name="AutoShape 82"/>
              <p:cNvCxnSpPr>
                <a:cxnSpLocks noChangeShapeType="1"/>
              </p:cNvCxnSpPr>
              <p:nvPr/>
            </p:nvCxnSpPr>
            <p:spPr bwMode="auto">
              <a:xfrm>
                <a:off x="793" y="3702"/>
                <a:ext cx="227" cy="18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AutoShape 83"/>
              <p:cNvCxnSpPr>
                <a:cxnSpLocks noChangeShapeType="1"/>
              </p:cNvCxnSpPr>
              <p:nvPr/>
            </p:nvCxnSpPr>
            <p:spPr bwMode="auto">
              <a:xfrm flipV="1">
                <a:off x="1020" y="3657"/>
                <a:ext cx="0" cy="2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AutoShape 84"/>
              <p:cNvCxnSpPr>
                <a:cxnSpLocks noChangeShapeType="1"/>
              </p:cNvCxnSpPr>
              <p:nvPr/>
            </p:nvCxnSpPr>
            <p:spPr bwMode="auto">
              <a:xfrm flipH="1">
                <a:off x="793" y="3657"/>
                <a:ext cx="227" cy="2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AutoShape 85"/>
              <p:cNvCxnSpPr>
                <a:cxnSpLocks noChangeShapeType="1"/>
              </p:cNvCxnSpPr>
              <p:nvPr/>
            </p:nvCxnSpPr>
            <p:spPr bwMode="auto">
              <a:xfrm flipH="1">
                <a:off x="748" y="3702"/>
                <a:ext cx="45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86"/>
              <p:cNvCxnSpPr>
                <a:cxnSpLocks noChangeShapeType="1"/>
              </p:cNvCxnSpPr>
              <p:nvPr/>
            </p:nvCxnSpPr>
            <p:spPr bwMode="auto">
              <a:xfrm flipH="1">
                <a:off x="748" y="3884"/>
                <a:ext cx="45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16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390571"/>
              </p:ext>
            </p:extLst>
          </p:nvPr>
        </p:nvGraphicFramePr>
        <p:xfrm>
          <a:off x="6161210" y="1401266"/>
          <a:ext cx="4889879" cy="2333625"/>
        </p:xfrm>
        <a:graphic>
          <a:graphicData uri="http://schemas.openxmlformats.org/drawingml/2006/table">
            <a:tbl>
              <a:tblPr/>
              <a:tblGrid>
                <a:gridCol w="134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9" marR="91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L="91439" marR="91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05933"/>
              </p:ext>
            </p:extLst>
          </p:nvPr>
        </p:nvGraphicFramePr>
        <p:xfrm>
          <a:off x="1211857" y="1430382"/>
          <a:ext cx="4196165" cy="2782119"/>
        </p:xfrm>
        <a:graphic>
          <a:graphicData uri="http://schemas.openxmlformats.org/drawingml/2006/table">
            <a:tbl>
              <a:tblPr/>
              <a:tblGrid>
                <a:gridCol w="172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2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617512"/>
              </p:ext>
            </p:extLst>
          </p:nvPr>
        </p:nvGraphicFramePr>
        <p:xfrm>
          <a:off x="1226463" y="4444550"/>
          <a:ext cx="3273692" cy="2247900"/>
        </p:xfrm>
        <a:graphic>
          <a:graphicData uri="http://schemas.openxmlformats.org/drawingml/2006/table">
            <a:tbl>
              <a:tblPr/>
              <a:tblGrid>
                <a:gridCol w="1875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4949" y="2423336"/>
            <a:ext cx="60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G</a:t>
            </a:r>
            <a:endParaRPr lang="zh-CN" alt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04949" y="4963886"/>
            <a:ext cx="60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</a:t>
            </a:r>
            <a:endParaRPr lang="zh-CN" altLang="en-US" sz="2400" b="1" dirty="0"/>
          </a:p>
        </p:txBody>
      </p:sp>
      <p:graphicFrame>
        <p:nvGraphicFramePr>
          <p:cNvPr id="22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277044"/>
              </p:ext>
            </p:extLst>
          </p:nvPr>
        </p:nvGraphicFramePr>
        <p:xfrm>
          <a:off x="6204741" y="4423330"/>
          <a:ext cx="4627780" cy="1836885"/>
        </p:xfrm>
        <a:graphic>
          <a:graphicData uri="http://schemas.openxmlformats.org/drawingml/2006/table">
            <a:tbl>
              <a:tblPr/>
              <a:tblGrid>
                <a:gridCol w="123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3" name="Group 100"/>
          <p:cNvGrpSpPr>
            <a:grpSpLocks/>
          </p:cNvGrpSpPr>
          <p:nvPr/>
        </p:nvGrpSpPr>
        <p:grpSpPr bwMode="auto">
          <a:xfrm>
            <a:off x="7666914" y="5749040"/>
            <a:ext cx="1944687" cy="1447800"/>
            <a:chOff x="3424" y="1248"/>
            <a:chExt cx="1225" cy="912"/>
          </a:xfrm>
        </p:grpSpPr>
        <p:grpSp>
          <p:nvGrpSpPr>
            <p:cNvPr id="25" name="Group 101"/>
            <p:cNvGrpSpPr>
              <a:grpSpLocks/>
            </p:cNvGrpSpPr>
            <p:nvPr/>
          </p:nvGrpSpPr>
          <p:grpSpPr bwMode="auto">
            <a:xfrm>
              <a:off x="3515" y="1248"/>
              <a:ext cx="672" cy="912"/>
              <a:chOff x="3360" y="816"/>
              <a:chExt cx="672" cy="912"/>
            </a:xfrm>
          </p:grpSpPr>
          <p:sp>
            <p:nvSpPr>
              <p:cNvPr id="27" name="Rectangle 102"/>
              <p:cNvSpPr>
                <a:spLocks noChangeArrowheads="1"/>
              </p:cNvSpPr>
              <p:nvPr/>
            </p:nvSpPr>
            <p:spPr bwMode="auto">
              <a:xfrm>
                <a:off x="3408" y="1344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endParaRPr kumimoji="1"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8" name="Group 103"/>
              <p:cNvGrpSpPr>
                <a:grpSpLocks/>
              </p:cNvGrpSpPr>
              <p:nvPr/>
            </p:nvGrpSpPr>
            <p:grpSpPr bwMode="auto">
              <a:xfrm rot="10800000">
                <a:off x="3360" y="816"/>
                <a:ext cx="624" cy="576"/>
                <a:chOff x="6431" y="11824"/>
                <a:chExt cx="705" cy="367"/>
              </a:xfrm>
            </p:grpSpPr>
            <p:sp>
              <p:nvSpPr>
                <p:cNvPr id="29" name="AutoShape 104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6793" y="11792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0" name="Text Box 105"/>
                <p:cNvSpPr txBox="1">
                  <a:spLocks noChangeArrowheads="1"/>
                </p:cNvSpPr>
                <p:nvPr/>
              </p:nvSpPr>
              <p:spPr bwMode="auto">
                <a:xfrm flipV="1">
                  <a:off x="6431" y="11828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6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endPara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6" name="Text Box 106"/>
            <p:cNvSpPr txBox="1">
              <a:spLocks noChangeArrowheads="1"/>
            </p:cNvSpPr>
            <p:nvPr/>
          </p:nvSpPr>
          <p:spPr bwMode="auto">
            <a:xfrm>
              <a:off x="3424" y="1570"/>
              <a:ext cx="122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ea typeface="宋体" panose="02010600030101010101" pitchFamily="2" charset="-122"/>
                </a:rPr>
                <a:t>S</a:t>
              </a:r>
              <a:r>
                <a:rPr lang="zh-CN" altLang="en-US" sz="3200" b="1" dirty="0">
                  <a:ea typeface="宋体" panose="02010600030101010101" pitchFamily="2" charset="-122"/>
                </a:rPr>
                <a:t>　</a:t>
              </a:r>
              <a:r>
                <a:rPr lang="en-US" altLang="zh-CN" sz="3200" b="1" dirty="0">
                  <a:ea typeface="宋体" panose="02010600030101010101" pitchFamily="2" charset="-122"/>
                </a:rPr>
                <a:t>G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503605" y="37917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左外连接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3053" y="636526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自然连接</a:t>
            </a:r>
          </a:p>
        </p:txBody>
      </p:sp>
    </p:spTree>
    <p:extLst>
      <p:ext uri="{BB962C8B-B14F-4D97-AF65-F5344CB8AC3E}">
        <p14:creationId xmlns:p14="http://schemas.microsoft.com/office/powerpoint/2010/main" val="8826407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5870" y="1013258"/>
            <a:ext cx="11726285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、右外连接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      将左表中的所有记录分别与右表中的每条记录进行组合，结果集中除返回连接的记录以外，还在查询结果中返回右表中不符合条件的记录，并在左表的相应列中填上空值，有些不允许为空的属性值则填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值等。</a:t>
            </a:r>
          </a:p>
        </p:txBody>
      </p:sp>
    </p:spTree>
    <p:extLst>
      <p:ext uri="{BB962C8B-B14F-4D97-AF65-F5344CB8AC3E}">
        <p14:creationId xmlns:p14="http://schemas.microsoft.com/office/powerpoint/2010/main" val="4149434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3535" y="2331519"/>
            <a:ext cx="3431384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F』</a:t>
            </a:r>
            <a:r>
              <a:rPr lang="zh-CN" altLang="en-US" sz="2800" b="1" dirty="0">
                <a:solidFill>
                  <a:srgbClr val="003300"/>
                </a:solidFill>
                <a:ea typeface="宋体" panose="02010600030101010101" pitchFamily="2" charset="-122"/>
              </a:rPr>
              <a:t>列出所有课程，并给出选修该课程的学生学号。      </a:t>
            </a:r>
            <a:endParaRPr lang="en-US" altLang="zh-CN" sz="2800" b="1" dirty="0">
              <a:solidFill>
                <a:srgbClr val="0033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l-GR" altLang="zh-CN" sz="3600" b="1" dirty="0">
                <a:solidFill>
                  <a:srgbClr val="003300"/>
                </a:solidFill>
                <a:ea typeface="宋体" panose="02010600030101010101" pitchFamily="2" charset="-122"/>
              </a:rPr>
              <a:t>Π</a:t>
            </a:r>
            <a:r>
              <a:rPr lang="zh-CN" altLang="en-US" sz="3600" b="1" baseline="-25000" dirty="0">
                <a:solidFill>
                  <a:srgbClr val="003300"/>
                </a:solidFill>
                <a:ea typeface="宋体" panose="02010600030101010101" pitchFamily="2" charset="-122"/>
              </a:rPr>
              <a:t>学号</a:t>
            </a:r>
            <a:r>
              <a:rPr lang="en-US" altLang="zh-CN" sz="3600" b="1" baseline="-25000" dirty="0">
                <a:solidFill>
                  <a:srgbClr val="0033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3600" b="1" baseline="-25000" dirty="0">
                <a:solidFill>
                  <a:srgbClr val="003300"/>
                </a:solidFill>
                <a:ea typeface="宋体" panose="02010600030101010101" pitchFamily="2" charset="-122"/>
              </a:rPr>
              <a:t>课程号</a:t>
            </a:r>
            <a:r>
              <a:rPr lang="en-US" altLang="zh-CN" sz="3200" b="1" dirty="0">
                <a:solidFill>
                  <a:srgbClr val="003300"/>
                </a:solidFill>
                <a:ea typeface="宋体" panose="02010600030101010101" pitchFamily="2" charset="-122"/>
              </a:rPr>
              <a:t>(G)   C</a:t>
            </a:r>
          </a:p>
        </p:txBody>
      </p:sp>
      <p:sp>
        <p:nvSpPr>
          <p:cNvPr id="8" name="Text Box 82"/>
          <p:cNvSpPr txBox="1">
            <a:spLocks noChangeArrowheads="1"/>
          </p:cNvSpPr>
          <p:nvPr/>
        </p:nvSpPr>
        <p:spPr bwMode="auto">
          <a:xfrm rot="10800000" flipV="1">
            <a:off x="3558454" y="576983"/>
            <a:ext cx="990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sz="6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Group 84"/>
          <p:cNvGrpSpPr>
            <a:grpSpLocks/>
          </p:cNvGrpSpPr>
          <p:nvPr/>
        </p:nvGrpSpPr>
        <p:grpSpPr bwMode="auto">
          <a:xfrm rot="10800000">
            <a:off x="2753496" y="4118295"/>
            <a:ext cx="288925" cy="287338"/>
            <a:chOff x="748" y="3657"/>
            <a:chExt cx="272" cy="227"/>
          </a:xfrm>
        </p:grpSpPr>
        <p:cxnSp>
          <p:nvCxnSpPr>
            <p:cNvPr id="10" name="AutoShape 85"/>
            <p:cNvCxnSpPr>
              <a:cxnSpLocks noChangeShapeType="1"/>
            </p:cNvCxnSpPr>
            <p:nvPr/>
          </p:nvCxnSpPr>
          <p:spPr bwMode="auto">
            <a:xfrm>
              <a:off x="793" y="3702"/>
              <a:ext cx="227" cy="1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86"/>
            <p:cNvCxnSpPr>
              <a:cxnSpLocks noChangeShapeType="1"/>
            </p:cNvCxnSpPr>
            <p:nvPr/>
          </p:nvCxnSpPr>
          <p:spPr bwMode="auto">
            <a:xfrm flipV="1">
              <a:off x="1020" y="3657"/>
              <a:ext cx="0" cy="2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87"/>
            <p:cNvCxnSpPr>
              <a:cxnSpLocks noChangeShapeType="1"/>
            </p:cNvCxnSpPr>
            <p:nvPr/>
          </p:nvCxnSpPr>
          <p:spPr bwMode="auto">
            <a:xfrm flipH="1">
              <a:off x="793" y="3657"/>
              <a:ext cx="227" cy="2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88"/>
            <p:cNvCxnSpPr>
              <a:cxnSpLocks noChangeShapeType="1"/>
            </p:cNvCxnSpPr>
            <p:nvPr/>
          </p:nvCxnSpPr>
          <p:spPr bwMode="auto">
            <a:xfrm flipH="1">
              <a:off x="748" y="3702"/>
              <a:ext cx="4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89"/>
            <p:cNvCxnSpPr>
              <a:cxnSpLocks noChangeShapeType="1"/>
            </p:cNvCxnSpPr>
            <p:nvPr/>
          </p:nvCxnSpPr>
          <p:spPr bwMode="auto">
            <a:xfrm flipH="1">
              <a:off x="748" y="3884"/>
              <a:ext cx="4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691397"/>
              </p:ext>
            </p:extLst>
          </p:nvPr>
        </p:nvGraphicFramePr>
        <p:xfrm>
          <a:off x="3541279" y="1233199"/>
          <a:ext cx="3600450" cy="2286000"/>
        </p:xfrm>
        <a:graphic>
          <a:graphicData uri="http://schemas.openxmlformats.org/drawingml/2006/table">
            <a:tbl>
              <a:tblPr/>
              <a:tblGrid>
                <a:gridCol w="132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807511"/>
              </p:ext>
            </p:extLst>
          </p:nvPr>
        </p:nvGraphicFramePr>
        <p:xfrm>
          <a:off x="7398904" y="1233199"/>
          <a:ext cx="4500563" cy="2286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数据库原理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操作系统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离散数学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113807"/>
              </p:ext>
            </p:extLst>
          </p:nvPr>
        </p:nvGraphicFramePr>
        <p:xfrm>
          <a:off x="3541279" y="3662074"/>
          <a:ext cx="8358188" cy="3205163"/>
        </p:xfrm>
        <a:graphic>
          <a:graphicData uri="http://schemas.openxmlformats.org/drawingml/2006/table">
            <a:tbl>
              <a:tblPr/>
              <a:tblGrid>
                <a:gridCol w="201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数据库原理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数据库原理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操作系统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离散数学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49054" y="798587"/>
            <a:ext cx="658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G                                                      C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844284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9003" y="786419"/>
            <a:ext cx="11753994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</a:rPr>
              <a:t>C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</a:rPr>
              <a:t>、全外连接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      将左表中的所有记录分别与右表中的每条记录进行组合，结果集中除返回连接的记录以外，还在查询结果中返回两表中不符合条件的记录，并在左表或右表的相应列中填上空值，有些不允许为空的属性值则填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值等。</a:t>
            </a:r>
          </a:p>
        </p:txBody>
      </p:sp>
    </p:spTree>
    <p:extLst>
      <p:ext uri="{BB962C8B-B14F-4D97-AF65-F5344CB8AC3E}">
        <p14:creationId xmlns:p14="http://schemas.microsoft.com/office/powerpoint/2010/main" val="154409893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80289" y="829684"/>
            <a:ext cx="11203711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实例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G』</a:t>
            </a:r>
            <a:r>
              <a:rPr lang="zh-CN" altLang="en-US" sz="2800" b="1" dirty="0">
                <a:solidFill>
                  <a:srgbClr val="003300"/>
                </a:solidFill>
                <a:ea typeface="宋体" panose="02010600030101010101" pitchFamily="2" charset="-122"/>
              </a:rPr>
              <a:t>某公司允许销售员和非销售员都可以销售商品，希望列出所有销售人员名单和所有的销售情况。</a:t>
            </a:r>
          </a:p>
        </p:txBody>
      </p:sp>
      <p:graphicFrame>
        <p:nvGraphicFramePr>
          <p:cNvPr id="8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2094"/>
              </p:ext>
            </p:extLst>
          </p:nvPr>
        </p:nvGraphicFramePr>
        <p:xfrm>
          <a:off x="2156687" y="3156382"/>
          <a:ext cx="2459038" cy="3108624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工号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李求一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王巧敏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张零七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钱守空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周运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2023338" y="2070532"/>
            <a:ext cx="24637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3300"/>
                </a:solidFill>
                <a:ea typeface="宋体" panose="02010600030101010101" pitchFamily="2" charset="-122"/>
              </a:rPr>
              <a:t>销售人员名单（</a:t>
            </a:r>
            <a:r>
              <a:rPr lang="en-US" altLang="zh-CN" sz="2800" b="1" dirty="0">
                <a:solidFill>
                  <a:srgbClr val="003300"/>
                </a:solidFill>
                <a:ea typeface="宋体" panose="02010600030101010101" pitchFamily="2" charset="-122"/>
              </a:rPr>
              <a:t>XSMD</a:t>
            </a:r>
            <a:r>
              <a:rPr lang="zh-CN" altLang="en-US" sz="2800" b="1" dirty="0">
                <a:solidFill>
                  <a:srgbClr val="003300"/>
                </a:solidFill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0" name="Group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056058"/>
              </p:ext>
            </p:extLst>
          </p:nvPr>
        </p:nvGraphicFramePr>
        <p:xfrm>
          <a:off x="6347687" y="3132569"/>
          <a:ext cx="2732088" cy="3108624"/>
        </p:xfrm>
        <a:graphic>
          <a:graphicData uri="http://schemas.openxmlformats.org/drawingml/2006/table">
            <a:tbl>
              <a:tblPr/>
              <a:tblGrid>
                <a:gridCol w="115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工号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销售额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50000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150000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350000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650000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850000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51"/>
          <p:cNvSpPr txBox="1">
            <a:spLocks noChangeArrowheads="1"/>
          </p:cNvSpPr>
          <p:nvPr/>
        </p:nvSpPr>
        <p:spPr bwMode="auto">
          <a:xfrm>
            <a:off x="6055587" y="2070532"/>
            <a:ext cx="309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00"/>
                </a:solidFill>
                <a:ea typeface="宋体" panose="02010600030101010101" pitchFamily="2" charset="-122"/>
              </a:rPr>
              <a:t>销售业绩</a:t>
            </a:r>
            <a:r>
              <a:rPr lang="en-US" altLang="zh-CN" sz="2800" b="1">
                <a:solidFill>
                  <a:srgbClr val="003300"/>
                </a:solidFill>
                <a:ea typeface="宋体" panose="02010600030101010101" pitchFamily="2" charset="-122"/>
              </a:rPr>
              <a:t>(XSYJ)</a:t>
            </a:r>
          </a:p>
        </p:txBody>
      </p:sp>
    </p:spTree>
    <p:extLst>
      <p:ext uri="{BB962C8B-B14F-4D97-AF65-F5344CB8AC3E}">
        <p14:creationId xmlns:p14="http://schemas.microsoft.com/office/powerpoint/2010/main" val="174575128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114859" y="841371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00"/>
                </a:solidFill>
                <a:ea typeface="宋体" panose="02010600030101010101" pitchFamily="2" charset="-122"/>
              </a:rPr>
              <a:t>XSMD      XSYJ</a:t>
            </a:r>
          </a:p>
        </p:txBody>
      </p:sp>
      <p:graphicFrame>
        <p:nvGraphicFramePr>
          <p:cNvPr id="7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100258"/>
              </p:ext>
            </p:extLst>
          </p:nvPr>
        </p:nvGraphicFramePr>
        <p:xfrm>
          <a:off x="1731671" y="1997215"/>
          <a:ext cx="8867775" cy="4411664"/>
        </p:xfrm>
        <a:graphic>
          <a:graphicData uri="http://schemas.openxmlformats.org/drawingml/2006/table">
            <a:tbl>
              <a:tblPr/>
              <a:tblGrid>
                <a:gridCol w="2674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销售名单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工号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销售业绩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工号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销售额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3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李求一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50000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王巧敏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150000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3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张零七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350000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钱守空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3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周运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650000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3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600000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Box 51"/>
          <p:cNvSpPr txBox="1">
            <a:spLocks noChangeArrowheads="1"/>
          </p:cNvSpPr>
          <p:nvPr/>
        </p:nvSpPr>
        <p:spPr bwMode="auto">
          <a:xfrm>
            <a:off x="1113271" y="1273171"/>
            <a:ext cx="3600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3300"/>
                </a:solidFill>
                <a:ea typeface="宋体" panose="02010600030101010101" pitchFamily="2" charset="-122"/>
              </a:rPr>
              <a:t>XSMD.</a:t>
            </a:r>
            <a:r>
              <a:rPr lang="zh-CN" altLang="en-US" sz="2000" b="1">
                <a:solidFill>
                  <a:srgbClr val="003300"/>
                </a:solidFill>
                <a:ea typeface="宋体" panose="02010600030101010101" pitchFamily="2" charset="-122"/>
              </a:rPr>
              <a:t>工号</a:t>
            </a:r>
            <a:r>
              <a:rPr lang="en-US" altLang="zh-CN" sz="2000" b="1">
                <a:solidFill>
                  <a:srgbClr val="003300"/>
                </a:solidFill>
                <a:ea typeface="宋体" panose="02010600030101010101" pitchFamily="2" charset="-122"/>
              </a:rPr>
              <a:t>=XSYJ.</a:t>
            </a:r>
            <a:r>
              <a:rPr lang="zh-CN" altLang="en-US" sz="2000" b="1">
                <a:solidFill>
                  <a:srgbClr val="003300"/>
                </a:solidFill>
                <a:ea typeface="宋体" panose="02010600030101010101" pitchFamily="2" charset="-122"/>
              </a:rPr>
              <a:t>工号</a:t>
            </a:r>
          </a:p>
        </p:txBody>
      </p:sp>
      <p:grpSp>
        <p:nvGrpSpPr>
          <p:cNvPr id="9" name="Group 52"/>
          <p:cNvGrpSpPr>
            <a:grpSpLocks/>
          </p:cNvGrpSpPr>
          <p:nvPr/>
        </p:nvGrpSpPr>
        <p:grpSpPr bwMode="auto">
          <a:xfrm>
            <a:off x="2338821" y="984246"/>
            <a:ext cx="288925" cy="288925"/>
            <a:chOff x="2880" y="435"/>
            <a:chExt cx="182" cy="181"/>
          </a:xfrm>
        </p:grpSpPr>
        <p:cxnSp>
          <p:nvCxnSpPr>
            <p:cNvPr id="10" name="AutoShape 53"/>
            <p:cNvCxnSpPr>
              <a:cxnSpLocks noChangeShapeType="1"/>
            </p:cNvCxnSpPr>
            <p:nvPr/>
          </p:nvCxnSpPr>
          <p:spPr bwMode="auto">
            <a:xfrm rot="10800000">
              <a:off x="2880" y="435"/>
              <a:ext cx="152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54"/>
            <p:cNvCxnSpPr>
              <a:cxnSpLocks noChangeShapeType="1"/>
            </p:cNvCxnSpPr>
            <p:nvPr/>
          </p:nvCxnSpPr>
          <p:spPr bwMode="auto">
            <a:xfrm rot="10800000" flipH="1">
              <a:off x="2880" y="435"/>
              <a:ext cx="152" cy="18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55"/>
            <p:cNvCxnSpPr>
              <a:cxnSpLocks noChangeShapeType="1"/>
            </p:cNvCxnSpPr>
            <p:nvPr/>
          </p:nvCxnSpPr>
          <p:spPr bwMode="auto">
            <a:xfrm rot="10800000" flipH="1">
              <a:off x="3032" y="581"/>
              <a:ext cx="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56"/>
            <p:cNvCxnSpPr>
              <a:cxnSpLocks noChangeShapeType="1"/>
            </p:cNvCxnSpPr>
            <p:nvPr/>
          </p:nvCxnSpPr>
          <p:spPr bwMode="auto">
            <a:xfrm rot="10800000" flipH="1">
              <a:off x="3032" y="436"/>
              <a:ext cx="3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25942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70627" y="1567339"/>
            <a:ext cx="10612005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5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自连接就是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同一个表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的两个副本之间的连接。实际应用中，给两个表分别指定不同的别名。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050203" y="1052513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3300"/>
                </a:solidFill>
              </a:rPr>
              <a:t>自连接：</a:t>
            </a:r>
          </a:p>
        </p:txBody>
      </p:sp>
      <p:sp>
        <p:nvSpPr>
          <p:cNvPr id="9" name="Text Box 61"/>
          <p:cNvSpPr txBox="1">
            <a:spLocks noChangeArrowheads="1"/>
          </p:cNvSpPr>
          <p:nvPr/>
        </p:nvSpPr>
        <p:spPr bwMode="auto">
          <a:xfrm>
            <a:off x="1626175" y="2924175"/>
            <a:ext cx="20706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3300"/>
                </a:solidFill>
                <a:latin typeface="楷体_GB2312" pitchFamily="49" charset="-122"/>
              </a:rPr>
              <a:t>选课</a:t>
            </a:r>
            <a:r>
              <a:rPr lang="en-US" altLang="zh-CN" sz="2400" b="1" dirty="0">
                <a:solidFill>
                  <a:srgbClr val="003300"/>
                </a:solidFill>
                <a:latin typeface="楷体_GB2312" pitchFamily="49" charset="-122"/>
              </a:rPr>
              <a:t>(SC)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5870" y="2927296"/>
            <a:ext cx="1188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云形标注 2"/>
          <p:cNvSpPr/>
          <p:nvPr/>
        </p:nvSpPr>
        <p:spPr>
          <a:xfrm>
            <a:off x="125940" y="3812732"/>
            <a:ext cx="3745996" cy="2047048"/>
          </a:xfrm>
          <a:prstGeom prst="cloudCallout">
            <a:avLst>
              <a:gd name="adj1" fmla="val 32731"/>
              <a:gd name="adj2" fmla="val 26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</a:rPr>
              <a:t>思考：如何获得至少选修了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</a:rPr>
              <a:t>门课程的同学学号？</a:t>
            </a:r>
          </a:p>
          <a:p>
            <a:pPr algn="ctr"/>
            <a:endParaRPr lang="zh-CN" altLang="en-US" dirty="0"/>
          </a:p>
        </p:txBody>
      </p:sp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013441"/>
              </p:ext>
            </p:extLst>
          </p:nvPr>
        </p:nvGraphicFramePr>
        <p:xfrm>
          <a:off x="4936403" y="3158128"/>
          <a:ext cx="4196165" cy="2766060"/>
        </p:xfrm>
        <a:graphic>
          <a:graphicData uri="http://schemas.openxmlformats.org/drawingml/2006/table">
            <a:tbl>
              <a:tblPr/>
              <a:tblGrid>
                <a:gridCol w="172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31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68"/>
          <p:cNvGrpSpPr>
            <a:grpSpLocks/>
          </p:cNvGrpSpPr>
          <p:nvPr/>
        </p:nvGrpSpPr>
        <p:grpSpPr bwMode="auto">
          <a:xfrm>
            <a:off x="3880859" y="-30595"/>
            <a:ext cx="4397375" cy="1735140"/>
            <a:chOff x="1753" y="2611"/>
            <a:chExt cx="2770" cy="1093"/>
          </a:xfrm>
        </p:grpSpPr>
        <p:grpSp>
          <p:nvGrpSpPr>
            <p:cNvPr id="23" name="Group 69"/>
            <p:cNvGrpSpPr>
              <a:grpSpLocks/>
            </p:cNvGrpSpPr>
            <p:nvPr/>
          </p:nvGrpSpPr>
          <p:grpSpPr bwMode="auto">
            <a:xfrm>
              <a:off x="2426" y="2611"/>
              <a:ext cx="670" cy="1093"/>
              <a:chOff x="2112" y="736"/>
              <a:chExt cx="649" cy="944"/>
            </a:xfrm>
          </p:grpSpPr>
          <p:grpSp>
            <p:nvGrpSpPr>
              <p:cNvPr id="28" name="Group 70"/>
              <p:cNvGrpSpPr>
                <a:grpSpLocks/>
              </p:cNvGrpSpPr>
              <p:nvPr/>
            </p:nvGrpSpPr>
            <p:grpSpPr bwMode="auto">
              <a:xfrm rot="10800000">
                <a:off x="2135" y="736"/>
                <a:ext cx="626" cy="650"/>
                <a:chOff x="6437" y="11824"/>
                <a:chExt cx="705" cy="414"/>
              </a:xfrm>
            </p:grpSpPr>
            <p:sp>
              <p:nvSpPr>
                <p:cNvPr id="30" name="AutoShape 71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6793" y="11792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1" name="Text Box 72"/>
                <p:cNvSpPr txBox="1">
                  <a:spLocks noChangeArrowheads="1"/>
                </p:cNvSpPr>
                <p:nvPr/>
              </p:nvSpPr>
              <p:spPr bwMode="auto">
                <a:xfrm flipV="1">
                  <a:off x="6437" y="11875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80000"/>
                    </a:lnSpc>
                  </a:pPr>
                  <a:r>
                    <a:rPr lang="en-US" altLang="zh-CN" sz="6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endPara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9" name="Rectangle 73"/>
              <p:cNvSpPr>
                <a:spLocks noChangeArrowheads="1"/>
              </p:cNvSpPr>
              <p:nvPr/>
            </p:nvSpPr>
            <p:spPr bwMode="auto">
              <a:xfrm>
                <a:off x="2112" y="1296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zh-CN" sz="16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1=4</a:t>
                </a:r>
                <a:r>
                  <a:rPr lang="en-US" altLang="zh-CN" sz="16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/>
                  </a:rPr>
                  <a:t>2&lt;&gt; 5</a:t>
                </a:r>
                <a:endParaRPr lang="en-US" altLang="zh-CN" sz="1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Group 74"/>
            <p:cNvGrpSpPr>
              <a:grpSpLocks/>
            </p:cNvGrpSpPr>
            <p:nvPr/>
          </p:nvGrpSpPr>
          <p:grpSpPr bwMode="auto">
            <a:xfrm>
              <a:off x="1753" y="3091"/>
              <a:ext cx="2770" cy="378"/>
              <a:chOff x="1232" y="3472"/>
              <a:chExt cx="2682" cy="326"/>
            </a:xfrm>
          </p:grpSpPr>
          <p:sp>
            <p:nvSpPr>
              <p:cNvPr id="26" name="Text Box 75"/>
              <p:cNvSpPr txBox="1">
                <a:spLocks noChangeArrowheads="1"/>
              </p:cNvSpPr>
              <p:nvPr/>
            </p:nvSpPr>
            <p:spPr bwMode="auto">
              <a:xfrm>
                <a:off x="1329" y="3479"/>
                <a:ext cx="2585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solidFill>
                      <a:srgbClr val="FF3300"/>
                    </a:solidFill>
                    <a:ea typeface="宋体" panose="02010600030101010101" pitchFamily="2" charset="-122"/>
                  </a:rPr>
                  <a:t>　</a:t>
                </a:r>
                <a:r>
                  <a:rPr lang="en-US" altLang="zh-CN" sz="3200" b="1" dirty="0">
                    <a:solidFill>
                      <a:srgbClr val="FF3300"/>
                    </a:solidFill>
                    <a:ea typeface="宋体" panose="02010600030101010101" pitchFamily="2" charset="-122"/>
                  </a:rPr>
                  <a:t>(SC   SC)</a:t>
                </a:r>
              </a:p>
            </p:txBody>
          </p:sp>
          <p:sp>
            <p:nvSpPr>
              <p:cNvPr id="27" name="Rectangle 76"/>
              <p:cNvSpPr>
                <a:spLocks noChangeArrowheads="1"/>
              </p:cNvSpPr>
              <p:nvPr/>
            </p:nvSpPr>
            <p:spPr bwMode="auto">
              <a:xfrm>
                <a:off x="1232" y="3472"/>
                <a:ext cx="386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3300"/>
                    </a:solidFill>
                    <a:ea typeface="宋体" panose="02010600030101010101" pitchFamily="2" charset="-122"/>
                  </a:rPr>
                  <a:t>Π</a:t>
                </a:r>
                <a:r>
                  <a:rPr lang="en-US" altLang="zh-CN" sz="3200" b="1" baseline="-25000" dirty="0">
                    <a:solidFill>
                      <a:srgbClr val="FF3300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cxnSp>
        <p:nvCxnSpPr>
          <p:cNvPr id="35" name="直接连接符 34"/>
          <p:cNvCxnSpPr/>
          <p:nvPr/>
        </p:nvCxnSpPr>
        <p:spPr>
          <a:xfrm>
            <a:off x="5116590" y="2334494"/>
            <a:ext cx="642938" cy="94833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424124"/>
              </p:ext>
            </p:extLst>
          </p:nvPr>
        </p:nvGraphicFramePr>
        <p:xfrm>
          <a:off x="1218622" y="4185801"/>
          <a:ext cx="7872038" cy="1452188"/>
        </p:xfrm>
        <a:graphic>
          <a:graphicData uri="http://schemas.openxmlformats.org/drawingml/2006/table">
            <a:tbl>
              <a:tblPr/>
              <a:tblGrid>
                <a:gridCol w="159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14532"/>
              </p:ext>
            </p:extLst>
          </p:nvPr>
        </p:nvGraphicFramePr>
        <p:xfrm>
          <a:off x="1103702" y="1650083"/>
          <a:ext cx="4196165" cy="2286000"/>
        </p:xfrm>
        <a:graphic>
          <a:graphicData uri="http://schemas.openxmlformats.org/drawingml/2006/table">
            <a:tbl>
              <a:tblPr/>
              <a:tblGrid>
                <a:gridCol w="172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4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75947"/>
              </p:ext>
            </p:extLst>
          </p:nvPr>
        </p:nvGraphicFramePr>
        <p:xfrm>
          <a:off x="5757287" y="1634843"/>
          <a:ext cx="4196165" cy="2286000"/>
        </p:xfrm>
        <a:graphic>
          <a:graphicData uri="http://schemas.openxmlformats.org/drawingml/2006/table">
            <a:tbl>
              <a:tblPr/>
              <a:tblGrid>
                <a:gridCol w="172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4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4" name="直接连接符 43"/>
          <p:cNvCxnSpPr/>
          <p:nvPr/>
        </p:nvCxnSpPr>
        <p:spPr>
          <a:xfrm flipV="1">
            <a:off x="5155979" y="2457704"/>
            <a:ext cx="719458" cy="7815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2584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199" y="1066800"/>
            <a:ext cx="10885055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4. 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除法（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Division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R(</a:t>
            </a:r>
            <a:r>
              <a:rPr lang="en-US" altLang="zh-CN" b="1" i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X,Y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S(</a:t>
            </a:r>
            <a:r>
              <a:rPr lang="en-US" altLang="zh-CN" b="1" i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Y,Z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，其中</a:t>
            </a:r>
            <a:r>
              <a:rPr lang="en-US" altLang="zh-CN" b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X,Y,Z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为属性组。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必须出自同一域。则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 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÷S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得到一个新的关系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P(X)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中满足下列条件的元组在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属性列上的投影：元组在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上的分量值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的象集</a:t>
            </a:r>
            <a:r>
              <a:rPr lang="en-US" altLang="zh-CN" b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en-US" altLang="zh-CN" b="1" baseline="-25000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包含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上的投影的集合。</a:t>
            </a:r>
            <a:endParaRPr lang="zh-CN" altLang="en-US" b="1" i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73611" y="4230687"/>
            <a:ext cx="62182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kumimoji="1" lang="en-US" altLang="zh-CN" sz="32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÷</a:t>
            </a:r>
            <a:r>
              <a:rPr kumimoji="1"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 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=</a:t>
            </a:r>
            <a:r>
              <a:rPr kumimoji="1"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{t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[X]|t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r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∈R 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  <a:sym typeface="Symbol" panose="05050102010706020507" pitchFamily="18" charset="2"/>
              </a:rPr>
              <a:t></a:t>
            </a:r>
            <a:r>
              <a:rPr kumimoji="1" lang="en-US" altLang="zh-CN" sz="4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π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楷体_GB2312" pitchFamily="49" charset="-122"/>
              </a:rPr>
              <a:t>y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(S)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⊆Y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>
                <a:solidFill>
                  <a:srgbClr val="FF3300"/>
                </a:solidFill>
                <a:latin typeface="楷体_GB2312" pitchFamily="49" charset="-122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0" y="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Microsoft 公式 3.0" r:id="rId4" imgW="152268" imgH="152268" progId="Equation.3">
                  <p:embed/>
                </p:oleObj>
              </mc:Choice>
              <mc:Fallback>
                <p:oleObj name="Microsoft 公式 3.0" r:id="rId4" imgW="152268" imgH="1522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0" y="335280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Microsoft 公式 3.0" r:id="rId6" imgW="152268" imgH="152268" progId="Equation.3">
                  <p:embed/>
                </p:oleObj>
              </mc:Choice>
              <mc:Fallback>
                <p:oleObj name="Microsoft 公式 3.0" r:id="rId6" imgW="152268" imgH="1522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2800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95079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461079"/>
              </p:ext>
            </p:extLst>
          </p:nvPr>
        </p:nvGraphicFramePr>
        <p:xfrm>
          <a:off x="1958107" y="1371600"/>
          <a:ext cx="2895600" cy="36576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82377"/>
              </p:ext>
            </p:extLst>
          </p:nvPr>
        </p:nvGraphicFramePr>
        <p:xfrm>
          <a:off x="5082307" y="1447800"/>
          <a:ext cx="2438400" cy="19812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63"/>
          <p:cNvSpPr>
            <a:spLocks noChangeArrowheads="1"/>
          </p:cNvSpPr>
          <p:nvPr/>
        </p:nvSpPr>
        <p:spPr bwMode="auto">
          <a:xfrm>
            <a:off x="3329707" y="9144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" name="Rectangle 64"/>
          <p:cNvSpPr>
            <a:spLocks noChangeArrowheads="1"/>
          </p:cNvSpPr>
          <p:nvPr/>
        </p:nvSpPr>
        <p:spPr bwMode="auto">
          <a:xfrm>
            <a:off x="6072907" y="9906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0" name="Rectangle 65"/>
          <p:cNvSpPr>
            <a:spLocks noChangeArrowheads="1"/>
          </p:cNvSpPr>
          <p:nvPr/>
        </p:nvSpPr>
        <p:spPr bwMode="auto">
          <a:xfrm>
            <a:off x="5768107" y="3657600"/>
            <a:ext cx="423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{(b1,c2),(b2,c3),(b2,c1)}</a:t>
            </a:r>
          </a:p>
        </p:txBody>
      </p:sp>
      <p:sp>
        <p:nvSpPr>
          <p:cNvPr id="11" name="Rectangle 66"/>
          <p:cNvSpPr>
            <a:spLocks noChangeArrowheads="1"/>
          </p:cNvSpPr>
          <p:nvPr/>
        </p:nvSpPr>
        <p:spPr bwMode="auto">
          <a:xfrm>
            <a:off x="5768107" y="4114800"/>
            <a:ext cx="4230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{(b3,c7),(b2,c3)}</a:t>
            </a:r>
          </a:p>
        </p:txBody>
      </p:sp>
      <p:sp>
        <p:nvSpPr>
          <p:cNvPr id="12" name="Rectangle 67"/>
          <p:cNvSpPr>
            <a:spLocks noChangeArrowheads="1"/>
          </p:cNvSpPr>
          <p:nvPr/>
        </p:nvSpPr>
        <p:spPr bwMode="auto">
          <a:xfrm>
            <a:off x="5768107" y="4586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a3: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{(b4,c6)}</a:t>
            </a:r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5768107" y="502920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a4: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{(b6,c6)}</a:t>
            </a:r>
          </a:p>
        </p:txBody>
      </p:sp>
      <p:sp>
        <p:nvSpPr>
          <p:cNvPr id="14" name="Rectangle 69"/>
          <p:cNvSpPr>
            <a:spLocks noChangeArrowheads="1"/>
          </p:cNvSpPr>
          <p:nvPr/>
        </p:nvSpPr>
        <p:spPr bwMode="auto">
          <a:xfrm>
            <a:off x="5006107" y="556260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π</a:t>
            </a:r>
            <a:r>
              <a:rPr kumimoji="1" lang="en-US" altLang="zh-CN" sz="2400" b="1" baseline="-25000">
                <a:solidFill>
                  <a:schemeClr val="hlink"/>
                </a:solidFill>
                <a:latin typeface="楷体_GB2312" pitchFamily="49" charset="-122"/>
              </a:rPr>
              <a:t>B,C</a:t>
            </a:r>
            <a:r>
              <a:rPr kumimoji="1" lang="en-US" altLang="zh-CN" sz="2400" b="1">
                <a:solidFill>
                  <a:schemeClr val="hlink"/>
                </a:solidFill>
                <a:latin typeface="楷体_GB2312" pitchFamily="49" charset="-122"/>
              </a:rPr>
              <a:t>(S)</a:t>
            </a:r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{(b1,c2),(b2,c3),(b2,c1)}</a:t>
            </a:r>
          </a:p>
        </p:txBody>
      </p:sp>
      <p:grpSp>
        <p:nvGrpSpPr>
          <p:cNvPr id="15" name="Group 70"/>
          <p:cNvGrpSpPr>
            <a:grpSpLocks/>
          </p:cNvGrpSpPr>
          <p:nvPr/>
        </p:nvGrpSpPr>
        <p:grpSpPr bwMode="auto">
          <a:xfrm>
            <a:off x="8130307" y="1143000"/>
            <a:ext cx="1524000" cy="1625600"/>
            <a:chOff x="4416" y="1008"/>
            <a:chExt cx="960" cy="1024"/>
          </a:xfrm>
        </p:grpSpPr>
        <p:sp>
          <p:nvSpPr>
            <p:cNvPr id="16" name="Rectangle 71"/>
            <p:cNvSpPr>
              <a:spLocks noChangeArrowheads="1"/>
            </p:cNvSpPr>
            <p:nvPr/>
          </p:nvSpPr>
          <p:spPr bwMode="auto">
            <a:xfrm>
              <a:off x="4416" y="1344"/>
              <a:ext cx="960" cy="341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7" name="Rectangle 72"/>
            <p:cNvSpPr>
              <a:spLocks noChangeArrowheads="1"/>
            </p:cNvSpPr>
            <p:nvPr/>
          </p:nvSpPr>
          <p:spPr bwMode="auto">
            <a:xfrm>
              <a:off x="4416" y="1691"/>
              <a:ext cx="960" cy="341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>
                  <a:latin typeface="Tahoma" panose="020B0604030504040204" pitchFamily="34" charset="0"/>
                  <a:ea typeface="宋体" panose="02010600030101010101" pitchFamily="2" charset="-122"/>
                </a:rPr>
                <a:t>a1</a:t>
              </a:r>
            </a:p>
          </p:txBody>
        </p:sp>
        <p:sp>
          <p:nvSpPr>
            <p:cNvPr id="18" name="Rectangle 73"/>
            <p:cNvSpPr>
              <a:spLocks noChangeArrowheads="1"/>
            </p:cNvSpPr>
            <p:nvPr/>
          </p:nvSpPr>
          <p:spPr bwMode="auto">
            <a:xfrm>
              <a:off x="4464" y="1008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 </a:t>
              </a:r>
              <a:r>
                <a:rPr kumimoji="1" lang="en-US" altLang="zh-CN" sz="2800" dirty="0">
                  <a:solidFill>
                    <a:srgbClr val="00FF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÷</a:t>
              </a:r>
              <a:r>
                <a:rPr kumimoji="1" lang="en-US" altLang="zh-CN" sz="28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S</a:t>
              </a:r>
            </a:p>
          </p:txBody>
        </p:sp>
      </p:grpSp>
      <p:grpSp>
        <p:nvGrpSpPr>
          <p:cNvPr id="19" name="Group 74"/>
          <p:cNvGrpSpPr>
            <a:grpSpLocks/>
          </p:cNvGrpSpPr>
          <p:nvPr/>
        </p:nvGrpSpPr>
        <p:grpSpPr bwMode="auto">
          <a:xfrm>
            <a:off x="2110507" y="1854200"/>
            <a:ext cx="2514600" cy="3149600"/>
            <a:chOff x="480" y="1168"/>
            <a:chExt cx="1584" cy="1984"/>
          </a:xfrm>
        </p:grpSpPr>
        <p:sp>
          <p:nvSpPr>
            <p:cNvPr id="20" name="Oval 75"/>
            <p:cNvSpPr>
              <a:spLocks noChangeArrowheads="1"/>
            </p:cNvSpPr>
            <p:nvPr/>
          </p:nvSpPr>
          <p:spPr bwMode="auto">
            <a:xfrm>
              <a:off x="480" y="1168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Oval 76"/>
            <p:cNvSpPr>
              <a:spLocks noChangeArrowheads="1"/>
            </p:cNvSpPr>
            <p:nvPr/>
          </p:nvSpPr>
          <p:spPr bwMode="auto">
            <a:xfrm>
              <a:off x="480" y="2048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Oval 77"/>
            <p:cNvSpPr>
              <a:spLocks noChangeArrowheads="1"/>
            </p:cNvSpPr>
            <p:nvPr/>
          </p:nvSpPr>
          <p:spPr bwMode="auto">
            <a:xfrm>
              <a:off x="480" y="2912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Line 78"/>
            <p:cNvSpPr>
              <a:spLocks noChangeShapeType="1"/>
            </p:cNvSpPr>
            <p:nvPr/>
          </p:nvSpPr>
          <p:spPr bwMode="auto">
            <a:xfrm>
              <a:off x="1144" y="2264"/>
              <a:ext cx="912" cy="0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79"/>
            <p:cNvSpPr>
              <a:spLocks noChangeShapeType="1"/>
            </p:cNvSpPr>
            <p:nvPr/>
          </p:nvSpPr>
          <p:spPr bwMode="auto">
            <a:xfrm>
              <a:off x="1152" y="1392"/>
              <a:ext cx="912" cy="0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80"/>
            <p:cNvSpPr>
              <a:spLocks noChangeShapeType="1"/>
            </p:cNvSpPr>
            <p:nvPr/>
          </p:nvSpPr>
          <p:spPr bwMode="auto">
            <a:xfrm>
              <a:off x="1104" y="3120"/>
              <a:ext cx="960" cy="0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245870" y="74304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』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776784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专门的关系运算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46245"/>
              </p:ext>
            </p:extLst>
          </p:nvPr>
        </p:nvGraphicFramePr>
        <p:xfrm>
          <a:off x="1867332" y="1196975"/>
          <a:ext cx="2522537" cy="4145088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Sno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Cno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C2 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1002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1002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1003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 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1004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95687"/>
              </p:ext>
            </p:extLst>
          </p:nvPr>
        </p:nvGraphicFramePr>
        <p:xfrm>
          <a:off x="4966132" y="1382713"/>
          <a:ext cx="2566987" cy="1981200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高数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语言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49"/>
          <p:cNvSpPr>
            <a:spLocks noChangeArrowheads="1"/>
          </p:cNvSpPr>
          <p:nvPr/>
        </p:nvSpPr>
        <p:spPr bwMode="auto">
          <a:xfrm>
            <a:off x="3092346" y="737722"/>
            <a:ext cx="7344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 </a:t>
            </a:r>
          </a:p>
        </p:txBody>
      </p:sp>
      <p:sp>
        <p:nvSpPr>
          <p:cNvPr id="9" name="Rectangle 50"/>
          <p:cNvSpPr>
            <a:spLocks noChangeArrowheads="1"/>
          </p:cNvSpPr>
          <p:nvPr/>
        </p:nvSpPr>
        <p:spPr bwMode="auto">
          <a:xfrm>
            <a:off x="5982132" y="96043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0" name="Rectangle 51"/>
          <p:cNvSpPr>
            <a:spLocks noChangeArrowheads="1"/>
          </p:cNvSpPr>
          <p:nvPr/>
        </p:nvSpPr>
        <p:spPr bwMode="auto">
          <a:xfrm>
            <a:off x="5683682" y="3429000"/>
            <a:ext cx="443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1001: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 C1,C2,C3 }</a:t>
            </a:r>
          </a:p>
        </p:txBody>
      </p:sp>
      <p:sp>
        <p:nvSpPr>
          <p:cNvPr id="11" name="Rectangle 52"/>
          <p:cNvSpPr>
            <a:spLocks noChangeArrowheads="1"/>
          </p:cNvSpPr>
          <p:nvPr/>
        </p:nvSpPr>
        <p:spPr bwMode="auto">
          <a:xfrm>
            <a:off x="5677332" y="3868738"/>
            <a:ext cx="423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1002: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 C1,C3 }</a:t>
            </a:r>
          </a:p>
        </p:txBody>
      </p:sp>
      <p:sp>
        <p:nvSpPr>
          <p:cNvPr id="12" name="Rectangle 53"/>
          <p:cNvSpPr>
            <a:spLocks noChangeArrowheads="1"/>
          </p:cNvSpPr>
          <p:nvPr/>
        </p:nvSpPr>
        <p:spPr bwMode="auto">
          <a:xfrm>
            <a:off x="5677332" y="4340225"/>
            <a:ext cx="2816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1003: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 C1 }</a:t>
            </a:r>
          </a:p>
        </p:txBody>
      </p:sp>
      <p:sp>
        <p:nvSpPr>
          <p:cNvPr id="13" name="Rectangle 54"/>
          <p:cNvSpPr>
            <a:spLocks noChangeArrowheads="1"/>
          </p:cNvSpPr>
          <p:nvPr/>
        </p:nvSpPr>
        <p:spPr bwMode="auto">
          <a:xfrm>
            <a:off x="5677332" y="4783138"/>
            <a:ext cx="2673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1004:</a:t>
            </a:r>
            <a:r>
              <a:rPr kumimoji="1"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{ C2 }</a:t>
            </a:r>
          </a:p>
        </p:txBody>
      </p:sp>
      <p:sp>
        <p:nvSpPr>
          <p:cNvPr id="14" name="Rectangle 55"/>
          <p:cNvSpPr>
            <a:spLocks noChangeArrowheads="1"/>
          </p:cNvSpPr>
          <p:nvPr/>
        </p:nvSpPr>
        <p:spPr bwMode="auto">
          <a:xfrm>
            <a:off x="4913744" y="5229225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π</a:t>
            </a:r>
            <a:r>
              <a:rPr kumimoji="1" lang="en-US" altLang="zh-CN" sz="2400" b="1" baseline="-25000" dirty="0" err="1">
                <a:solidFill>
                  <a:schemeClr val="hlink"/>
                </a:solidFill>
                <a:latin typeface="楷体_GB2312" pitchFamily="49" charset="-122"/>
              </a:rPr>
              <a:t>Cno</a:t>
            </a:r>
            <a:r>
              <a:rPr kumimoji="1" lang="en-US" altLang="zh-CN" sz="2400" b="1" dirty="0">
                <a:solidFill>
                  <a:schemeClr val="hlink"/>
                </a:solidFill>
                <a:latin typeface="楷体_GB2312" pitchFamily="49" charset="-122"/>
              </a:rPr>
              <a:t>(C)</a:t>
            </a:r>
            <a:r>
              <a:rPr kumimoji="1"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 C1,C2,C3 }</a:t>
            </a:r>
          </a:p>
        </p:txBody>
      </p:sp>
      <p:sp>
        <p:nvSpPr>
          <p:cNvPr id="15" name="Rectangle 56"/>
          <p:cNvSpPr>
            <a:spLocks noChangeArrowheads="1"/>
          </p:cNvSpPr>
          <p:nvPr/>
        </p:nvSpPr>
        <p:spPr bwMode="auto">
          <a:xfrm>
            <a:off x="8060169" y="1658938"/>
            <a:ext cx="1524000" cy="541337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Sno</a:t>
            </a:r>
          </a:p>
        </p:txBody>
      </p:sp>
      <p:sp>
        <p:nvSpPr>
          <p:cNvPr id="16" name="Rectangle 57"/>
          <p:cNvSpPr>
            <a:spLocks noChangeArrowheads="1"/>
          </p:cNvSpPr>
          <p:nvPr/>
        </p:nvSpPr>
        <p:spPr bwMode="auto">
          <a:xfrm>
            <a:off x="8060169" y="2205038"/>
            <a:ext cx="1524000" cy="541337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latin typeface="Tahoma" panose="020B0604030504040204" pitchFamily="34" charset="0"/>
                <a:ea typeface="宋体" panose="02010600030101010101" pitchFamily="2" charset="-122"/>
              </a:rPr>
              <a:t>1001</a:t>
            </a:r>
          </a:p>
        </p:txBody>
      </p:sp>
      <p:sp>
        <p:nvSpPr>
          <p:cNvPr id="17" name="Rectangle 58"/>
          <p:cNvSpPr>
            <a:spLocks noChangeArrowheads="1"/>
          </p:cNvSpPr>
          <p:nvPr/>
        </p:nvSpPr>
        <p:spPr bwMode="auto">
          <a:xfrm>
            <a:off x="8136368" y="1123484"/>
            <a:ext cx="16705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800" b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 </a:t>
            </a:r>
            <a:r>
              <a:rPr kumimoji="1" lang="en-US" altLang="zh-CN" sz="2800" dirty="0">
                <a:solidFill>
                  <a:srgbClr val="00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÷</a:t>
            </a:r>
            <a:r>
              <a:rPr kumimoji="1" lang="en-US" altLang="zh-CN" sz="2800" b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</a:p>
        </p:txBody>
      </p:sp>
      <p:grpSp>
        <p:nvGrpSpPr>
          <p:cNvPr id="18" name="Group 59"/>
          <p:cNvGrpSpPr>
            <a:grpSpLocks/>
          </p:cNvGrpSpPr>
          <p:nvPr/>
        </p:nvGrpSpPr>
        <p:grpSpPr bwMode="auto">
          <a:xfrm>
            <a:off x="2084819" y="1741488"/>
            <a:ext cx="2232025" cy="1462087"/>
            <a:chOff x="521" y="1207"/>
            <a:chExt cx="1406" cy="921"/>
          </a:xfrm>
        </p:grpSpPr>
        <p:sp>
          <p:nvSpPr>
            <p:cNvPr id="19" name="Oval 60"/>
            <p:cNvSpPr>
              <a:spLocks noChangeArrowheads="1"/>
            </p:cNvSpPr>
            <p:nvPr/>
          </p:nvSpPr>
          <p:spPr bwMode="auto">
            <a:xfrm>
              <a:off x="521" y="1207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Oval 61"/>
            <p:cNvSpPr>
              <a:spLocks noChangeArrowheads="1"/>
            </p:cNvSpPr>
            <p:nvPr/>
          </p:nvSpPr>
          <p:spPr bwMode="auto">
            <a:xfrm>
              <a:off x="521" y="1525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Oval 62"/>
            <p:cNvSpPr>
              <a:spLocks noChangeArrowheads="1"/>
            </p:cNvSpPr>
            <p:nvPr/>
          </p:nvSpPr>
          <p:spPr bwMode="auto">
            <a:xfrm>
              <a:off x="567" y="1888"/>
              <a:ext cx="384" cy="240"/>
            </a:xfrm>
            <a:prstGeom prst="ellips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Line 63"/>
            <p:cNvSpPr>
              <a:spLocks noChangeShapeType="1"/>
            </p:cNvSpPr>
            <p:nvPr/>
          </p:nvSpPr>
          <p:spPr bwMode="auto">
            <a:xfrm>
              <a:off x="1202" y="1752"/>
              <a:ext cx="680" cy="0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64"/>
            <p:cNvSpPr>
              <a:spLocks noChangeShapeType="1"/>
            </p:cNvSpPr>
            <p:nvPr/>
          </p:nvSpPr>
          <p:spPr bwMode="auto">
            <a:xfrm>
              <a:off x="1193" y="1431"/>
              <a:ext cx="734" cy="3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65"/>
            <p:cNvSpPr>
              <a:spLocks noChangeShapeType="1"/>
            </p:cNvSpPr>
            <p:nvPr/>
          </p:nvSpPr>
          <p:spPr bwMode="auto">
            <a:xfrm>
              <a:off x="1202" y="2115"/>
              <a:ext cx="680" cy="0"/>
            </a:xfrm>
            <a:prstGeom prst="line">
              <a:avLst/>
            </a:prstGeom>
            <a:noFill/>
            <a:ln w="2222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" name="Oval 66"/>
          <p:cNvSpPr>
            <a:spLocks noChangeArrowheads="1"/>
          </p:cNvSpPr>
          <p:nvPr/>
        </p:nvSpPr>
        <p:spPr bwMode="auto">
          <a:xfrm>
            <a:off x="4964544" y="1412875"/>
            <a:ext cx="996950" cy="18796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2857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2732519" y="5876925"/>
            <a:ext cx="5260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0000FF"/>
                </a:solidFill>
              </a:rPr>
              <a:t>查询选修了全部课程的同学学号</a:t>
            </a:r>
            <a:endParaRPr kumimoji="1"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5870" y="74304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』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211978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nimBg="1"/>
      <p:bldP spid="16" grpId="0" animBg="1"/>
      <p:bldP spid="17" grpId="0"/>
      <p:bldP spid="26" grpId="0" animBg="1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0"/>
            <a:ext cx="10985119" cy="41898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endParaRPr lang="zh-CN" altLang="en-US" sz="20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697130" y="2415906"/>
            <a:ext cx="87135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ea typeface="宋体" panose="02010600030101010101" pitchFamily="2" charset="-122"/>
              </a:rPr>
              <a:t>关系运算三要素：运算对象，运算符，运算结果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30267" y="3099797"/>
            <a:ext cx="42584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运算对象：关系</a:t>
            </a:r>
            <a:endParaRPr kumimoji="1"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运算结果：关系</a:t>
            </a:r>
          </a:p>
        </p:txBody>
      </p:sp>
      <p:sp>
        <p:nvSpPr>
          <p:cNvPr id="63" name="矩形 62"/>
          <p:cNvSpPr/>
          <p:nvPr/>
        </p:nvSpPr>
        <p:spPr>
          <a:xfrm>
            <a:off x="3894645" y="543621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2915516" y="1108810"/>
            <a:ext cx="51876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传统的集合运算 ∪ ∩ － </a:t>
            </a:r>
            <a:r>
              <a:rPr kumimoji="1" lang="zh-CN" altLang="zh-CN" sz="2800" b="1" dirty="0">
                <a:solidFill>
                  <a:schemeClr val="tx2"/>
                </a:solidFill>
                <a:latin typeface="楷体_GB2312" pitchFamily="49" charset="-122"/>
              </a:rPr>
              <a:t>×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2824426" y="1687605"/>
            <a:ext cx="48782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专门的关系运算 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σπ    ÷</a:t>
            </a:r>
          </a:p>
        </p:txBody>
      </p:sp>
      <p:sp>
        <p:nvSpPr>
          <p:cNvPr id="22" name="AutoShape 19"/>
          <p:cNvSpPr>
            <a:spLocks/>
          </p:cNvSpPr>
          <p:nvPr/>
        </p:nvSpPr>
        <p:spPr bwMode="auto">
          <a:xfrm>
            <a:off x="2754176" y="1345757"/>
            <a:ext cx="216000" cy="720000"/>
          </a:xfrm>
          <a:prstGeom prst="leftBrace">
            <a:avLst>
              <a:gd name="adj1" fmla="val 1375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94566" y="1425995"/>
            <a:ext cx="217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800" b="1" dirty="0"/>
              <a:t>关系操作</a:t>
            </a:r>
          </a:p>
        </p:txBody>
      </p:sp>
      <p:sp>
        <p:nvSpPr>
          <p:cNvPr id="27" name="Freeform 17"/>
          <p:cNvSpPr>
            <a:spLocks/>
          </p:cNvSpPr>
          <p:nvPr/>
        </p:nvSpPr>
        <p:spPr bwMode="auto">
          <a:xfrm>
            <a:off x="6692728" y="1918223"/>
            <a:ext cx="228600" cy="152400"/>
          </a:xfrm>
          <a:custGeom>
            <a:avLst/>
            <a:gdLst>
              <a:gd name="T0" fmla="*/ 0 w 336"/>
              <a:gd name="T1" fmla="*/ 0 h 336"/>
              <a:gd name="T2" fmla="*/ 0 w 336"/>
              <a:gd name="T3" fmla="*/ 0 h 336"/>
              <a:gd name="T4" fmla="*/ 0 w 336"/>
              <a:gd name="T5" fmla="*/ 0 h 336"/>
              <a:gd name="T6" fmla="*/ 0 w 336"/>
              <a:gd name="T7" fmla="*/ 0 h 336"/>
              <a:gd name="T8" fmla="*/ 0 w 336"/>
              <a:gd name="T9" fmla="*/ 0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336"/>
              <a:gd name="T17" fmla="*/ 336 w 336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336">
                <a:moveTo>
                  <a:pt x="0" y="0"/>
                </a:moveTo>
                <a:lnTo>
                  <a:pt x="0" y="336"/>
                </a:lnTo>
                <a:lnTo>
                  <a:pt x="336" y="0"/>
                </a:lnTo>
                <a:lnTo>
                  <a:pt x="336" y="336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782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3134</Words>
  <Application>Microsoft Macintosh PowerPoint</Application>
  <PresentationFormat>宽屏</PresentationFormat>
  <Paragraphs>950</Paragraphs>
  <Slides>42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5" baseType="lpstr">
      <vt:lpstr>华文楷体</vt:lpstr>
      <vt:lpstr>楷体</vt:lpstr>
      <vt:lpstr>楷体_GB2312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1305</cp:revision>
  <dcterms:created xsi:type="dcterms:W3CDTF">2014-07-02T10:42:00Z</dcterms:created>
  <dcterms:modified xsi:type="dcterms:W3CDTF">2025-09-23T14:13:37Z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2052-11.1.0.8894</vt:lpwstr>
  </property>
</Properties>
</file>