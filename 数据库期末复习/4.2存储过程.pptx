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ags/tag1.xml" ContentType="application/vnd.openxmlformats-officedocument.presentationml.tags+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1"/>
  </p:notesMasterIdLst>
  <p:handoutMasterIdLst>
    <p:handoutMasterId r:id="rId32"/>
  </p:handoutMasterIdLst>
  <p:sldIdLst>
    <p:sldId id="286" r:id="rId2"/>
    <p:sldId id="454" r:id="rId3"/>
    <p:sldId id="457" r:id="rId4"/>
    <p:sldId id="488" r:id="rId5"/>
    <p:sldId id="475" r:id="rId6"/>
    <p:sldId id="476" r:id="rId7"/>
    <p:sldId id="477" r:id="rId8"/>
    <p:sldId id="478" r:id="rId9"/>
    <p:sldId id="479" r:id="rId10"/>
    <p:sldId id="480" r:id="rId11"/>
    <p:sldId id="481" r:id="rId12"/>
    <p:sldId id="482" r:id="rId13"/>
    <p:sldId id="483" r:id="rId14"/>
    <p:sldId id="484" r:id="rId15"/>
    <p:sldId id="485" r:id="rId16"/>
    <p:sldId id="486" r:id="rId17"/>
    <p:sldId id="487" r:id="rId18"/>
    <p:sldId id="459" r:id="rId19"/>
    <p:sldId id="462" r:id="rId20"/>
    <p:sldId id="463" r:id="rId21"/>
    <p:sldId id="464" r:id="rId22"/>
    <p:sldId id="465" r:id="rId23"/>
    <p:sldId id="466" r:id="rId24"/>
    <p:sldId id="467" r:id="rId25"/>
    <p:sldId id="468" r:id="rId26"/>
    <p:sldId id="469" r:id="rId27"/>
    <p:sldId id="470" r:id="rId28"/>
    <p:sldId id="471" r:id="rId29"/>
    <p:sldId id="456" r:id="rId30"/>
  </p:sldIdLst>
  <p:sldSz cx="12192000" cy="6858000"/>
  <p:notesSz cx="7010400" cy="9296400"/>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50">
          <p15:clr>
            <a:srgbClr val="A4A3A4"/>
          </p15:clr>
        </p15:guide>
        <p15:guide id="2" orient="horz" pos="2798">
          <p15:clr>
            <a:srgbClr val="A4A3A4"/>
          </p15:clr>
        </p15:guide>
        <p15:guide id="3" orient="horz" pos="1292">
          <p15:clr>
            <a:srgbClr val="A4A3A4"/>
          </p15:clr>
        </p15:guide>
        <p15:guide id="4" pos="3765">
          <p15:clr>
            <a:srgbClr val="A4A3A4"/>
          </p15:clr>
        </p15:guide>
        <p15:guide id="5" pos="1222">
          <p15:clr>
            <a:srgbClr val="A4A3A4"/>
          </p15:clr>
        </p15:guide>
      </p15:sldGuideLst>
    </p:ext>
    <p:ext uri="{2D200454-40CA-4A62-9FC3-DE9A4176ACB9}">
      <p15:notesGuideLst xmlns:p15="http://schemas.microsoft.com/office/powerpoint/2012/main">
        <p15:guide id="1" orient="horz" pos="2107">
          <p15:clr>
            <a:srgbClr val="A4A3A4"/>
          </p15:clr>
        </p15:guide>
        <p15:guide id="2" orient="horz" pos="2915">
          <p15:clr>
            <a:srgbClr val="A4A3A4"/>
          </p15:clr>
        </p15:guide>
        <p15:guide id="3" pos="2862">
          <p15:clr>
            <a:srgbClr val="A4A3A4"/>
          </p15:clr>
        </p15:guide>
        <p15:guide id="4" pos="2165">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009AD0"/>
    <a:srgbClr val="002060"/>
    <a:srgbClr val="009900"/>
    <a:srgbClr val="1569F0"/>
    <a:srgbClr val="F79646"/>
    <a:srgbClr val="245D60"/>
    <a:srgbClr val="DD4633"/>
    <a:srgbClr val="CCCC00"/>
    <a:srgbClr val="9933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634" autoAdjust="0"/>
    <p:restoredTop sz="71817" autoAdjust="0"/>
  </p:normalViewPr>
  <p:slideViewPr>
    <p:cSldViewPr snapToGrid="0">
      <p:cViewPr varScale="1">
        <p:scale>
          <a:sx n="78" d="100"/>
          <a:sy n="78" d="100"/>
        </p:scale>
        <p:origin x="1912" y="168"/>
      </p:cViewPr>
      <p:guideLst>
        <p:guide orient="horz" pos="2150"/>
        <p:guide orient="horz" pos="2798"/>
        <p:guide orient="horz" pos="1292"/>
        <p:guide pos="3765"/>
        <p:guide pos="1222"/>
      </p:guideLst>
    </p:cSldViewPr>
  </p:slideViewPr>
  <p:notesTextViewPr>
    <p:cViewPr>
      <p:scale>
        <a:sx n="1" d="1"/>
        <a:sy n="1" d="1"/>
      </p:scale>
      <p:origin x="0" y="0"/>
    </p:cViewPr>
  </p:notesTextViewPr>
  <p:sorterViewPr>
    <p:cViewPr>
      <p:scale>
        <a:sx n="66" d="100"/>
        <a:sy n="66" d="100"/>
      </p:scale>
      <p:origin x="0" y="0"/>
    </p:cViewPr>
  </p:sorterViewPr>
  <p:notesViewPr>
    <p:cSldViewPr snapToGrid="0">
      <p:cViewPr varScale="1">
        <p:scale>
          <a:sx n="58" d="100"/>
          <a:sy n="58" d="100"/>
        </p:scale>
        <p:origin x="-2790" y="-78"/>
      </p:cViewPr>
      <p:guideLst>
        <p:guide orient="horz" pos="2107"/>
        <p:guide orient="horz" pos="2915"/>
        <p:guide pos="2862"/>
        <p:guide pos="2165"/>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9.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3794" name="Rectangle 2"/>
          <p:cNvSpPr>
            <a:spLocks noGrp="1" noChangeArrowheads="1"/>
          </p:cNvSpPr>
          <p:nvPr>
            <p:ph type="hdr" sz="quarter"/>
          </p:nvPr>
        </p:nvSpPr>
        <p:spPr bwMode="auto">
          <a:xfrm>
            <a:off x="0" y="0"/>
            <a:ext cx="3037840" cy="464820"/>
          </a:xfrm>
          <a:prstGeom prst="rect">
            <a:avLst/>
          </a:prstGeom>
          <a:noFill/>
          <a:ln w="9525">
            <a:noFill/>
            <a:miter lim="800000"/>
          </a:ln>
          <a:effectLst/>
        </p:spPr>
        <p:txBody>
          <a:bodyPr vert="horz" wrap="square" lIns="93177" tIns="46589" rIns="93177" bIns="46589" numCol="1" anchor="t" anchorCtr="0" compatLnSpc="1"/>
          <a:lstStyle>
            <a:lvl1pPr>
              <a:defRPr sz="1200" smtClean="0">
                <a:latin typeface="Calibri" panose="020F0502020204030204" pitchFamily="34" charset="0"/>
              </a:defRPr>
            </a:lvl1pPr>
          </a:lstStyle>
          <a:p>
            <a:pPr>
              <a:defRPr/>
            </a:pPr>
            <a:endParaRPr lang="zh-CN" altLang="en-US"/>
          </a:p>
        </p:txBody>
      </p:sp>
      <p:sp>
        <p:nvSpPr>
          <p:cNvPr id="33795" name="Rectangle 3"/>
          <p:cNvSpPr>
            <a:spLocks noGrp="1" noChangeArrowheads="1"/>
          </p:cNvSpPr>
          <p:nvPr>
            <p:ph type="dt" sz="quarter" idx="1"/>
          </p:nvPr>
        </p:nvSpPr>
        <p:spPr bwMode="auto">
          <a:xfrm>
            <a:off x="3971344" y="0"/>
            <a:ext cx="3037840" cy="464820"/>
          </a:xfrm>
          <a:prstGeom prst="rect">
            <a:avLst/>
          </a:prstGeom>
          <a:noFill/>
          <a:ln w="9525">
            <a:noFill/>
            <a:miter lim="800000"/>
          </a:ln>
          <a:effectLst/>
        </p:spPr>
        <p:txBody>
          <a:bodyPr vert="horz" wrap="square" lIns="93177" tIns="46589" rIns="93177" bIns="46589" numCol="1" anchor="t" anchorCtr="0" compatLnSpc="1"/>
          <a:lstStyle>
            <a:lvl1pPr algn="r">
              <a:defRPr sz="1200" smtClean="0">
                <a:latin typeface="Calibri" panose="020F0502020204030204" pitchFamily="34" charset="0"/>
              </a:defRPr>
            </a:lvl1pPr>
          </a:lstStyle>
          <a:p>
            <a:pPr>
              <a:defRPr/>
            </a:pPr>
            <a:fld id="{3915CCEA-4D12-4250-ABBC-1F15DE901CBC}" type="datetimeFigureOut">
              <a:rPr lang="zh-CN" altLang="en-US"/>
              <a:t>2025/9/26</a:t>
            </a:fld>
            <a:endParaRPr lang="en-US" altLang="zh-CN"/>
          </a:p>
        </p:txBody>
      </p:sp>
      <p:sp>
        <p:nvSpPr>
          <p:cNvPr id="33796" name="Rectangle 4"/>
          <p:cNvSpPr>
            <a:spLocks noGrp="1" noChangeArrowheads="1"/>
          </p:cNvSpPr>
          <p:nvPr>
            <p:ph type="ftr" sz="quarter" idx="2"/>
          </p:nvPr>
        </p:nvSpPr>
        <p:spPr bwMode="auto">
          <a:xfrm>
            <a:off x="0" y="8829429"/>
            <a:ext cx="3037840" cy="464820"/>
          </a:xfrm>
          <a:prstGeom prst="rect">
            <a:avLst/>
          </a:prstGeom>
          <a:noFill/>
          <a:ln w="9525">
            <a:noFill/>
            <a:miter lim="800000"/>
          </a:ln>
          <a:effectLst/>
        </p:spPr>
        <p:txBody>
          <a:bodyPr vert="horz" wrap="square" lIns="93177" tIns="46589" rIns="93177" bIns="46589" numCol="1" anchor="b" anchorCtr="0" compatLnSpc="1"/>
          <a:lstStyle>
            <a:lvl1pPr>
              <a:defRPr sz="1200" smtClean="0">
                <a:latin typeface="Calibri" panose="020F0502020204030204" pitchFamily="34" charset="0"/>
              </a:defRPr>
            </a:lvl1pPr>
          </a:lstStyle>
          <a:p>
            <a:pPr>
              <a:defRPr/>
            </a:pPr>
            <a:endParaRPr lang="en-US" altLang="zh-CN"/>
          </a:p>
        </p:txBody>
      </p:sp>
      <p:sp>
        <p:nvSpPr>
          <p:cNvPr id="33797" name="Rectangle 5"/>
          <p:cNvSpPr>
            <a:spLocks noGrp="1" noChangeArrowheads="1"/>
          </p:cNvSpPr>
          <p:nvPr>
            <p:ph type="sldNum" sz="quarter" idx="3"/>
          </p:nvPr>
        </p:nvSpPr>
        <p:spPr bwMode="auto">
          <a:xfrm>
            <a:off x="3971344" y="8829429"/>
            <a:ext cx="3037840" cy="464820"/>
          </a:xfrm>
          <a:prstGeom prst="rect">
            <a:avLst/>
          </a:prstGeom>
          <a:noFill/>
          <a:ln w="9525">
            <a:noFill/>
            <a:miter lim="800000"/>
          </a:ln>
          <a:effectLst/>
        </p:spPr>
        <p:txBody>
          <a:bodyPr vert="horz" wrap="square" lIns="93177" tIns="46589" rIns="93177" bIns="46589" numCol="1" anchor="b" anchorCtr="0" compatLnSpc="1"/>
          <a:lstStyle>
            <a:lvl1pPr algn="r">
              <a:defRPr sz="1200" smtClean="0">
                <a:latin typeface="Calibri" panose="020F0502020204030204" pitchFamily="34" charset="0"/>
              </a:defRPr>
            </a:lvl1pPr>
          </a:lstStyle>
          <a:p>
            <a:pPr>
              <a:defRPr/>
            </a:pPr>
            <a:fld id="{C6A76C4A-4CA1-4C6A-946C-E26A5534DC95}" type="slidenum">
              <a:rPr lang="zh-CN" altLang="en-US"/>
              <a:t>‹#›</a:t>
            </a:fld>
            <a:endParaRPr lang="en-US" altLang="zh-CN"/>
          </a:p>
        </p:txBody>
      </p:sp>
    </p:spTree>
    <p:extLst>
      <p:ext uri="{BB962C8B-B14F-4D97-AF65-F5344CB8AC3E}">
        <p14:creationId xmlns:p14="http://schemas.microsoft.com/office/powerpoint/2010/main" val="26455972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1"/>
            <a:ext cx="3037840" cy="466972"/>
          </a:xfrm>
          <a:prstGeom prst="rect">
            <a:avLst/>
          </a:prstGeom>
        </p:spPr>
        <p:txBody>
          <a:bodyPr vert="horz" lIns="93177" tIns="46589" rIns="93177" bIns="46589" rtlCol="0"/>
          <a:lstStyle>
            <a:lvl1pPr algn="l" fontAlgn="auto">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idx="1"/>
          </p:nvPr>
        </p:nvSpPr>
        <p:spPr>
          <a:xfrm>
            <a:off x="3971344" y="1"/>
            <a:ext cx="3037840" cy="466972"/>
          </a:xfrm>
          <a:prstGeom prst="rect">
            <a:avLst/>
          </a:prstGeom>
        </p:spPr>
        <p:txBody>
          <a:bodyPr vert="horz" lIns="93177" tIns="46589" rIns="93177" bIns="46589" rtlCol="0"/>
          <a:lstStyle>
            <a:lvl1pPr algn="r" fontAlgn="auto">
              <a:spcBef>
                <a:spcPts val="0"/>
              </a:spcBef>
              <a:spcAft>
                <a:spcPts val="0"/>
              </a:spcAft>
              <a:defRPr sz="1200">
                <a:latin typeface="+mn-lt"/>
                <a:ea typeface="+mn-ea"/>
              </a:defRPr>
            </a:lvl1pPr>
          </a:lstStyle>
          <a:p>
            <a:pPr>
              <a:defRPr/>
            </a:pPr>
            <a:fld id="{8FAF2163-2CD8-43A9-AAB8-953EE3B200FA}" type="datetimeFigureOut">
              <a:rPr lang="zh-CN" altLang="en-US"/>
              <a:t>2025/9/26</a:t>
            </a:fld>
            <a:endParaRPr lang="zh-CN" altLang="en-US"/>
          </a:p>
        </p:txBody>
      </p:sp>
      <p:sp>
        <p:nvSpPr>
          <p:cNvPr id="4" name="幻灯片图像占位符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3177" tIns="46589" rIns="93177" bIns="46589" rtlCol="0" anchor="ctr"/>
          <a:lstStyle/>
          <a:p>
            <a:pPr lvl="0"/>
            <a:endParaRPr lang="zh-CN" altLang="en-US" noProof="0"/>
          </a:p>
        </p:txBody>
      </p:sp>
      <p:sp>
        <p:nvSpPr>
          <p:cNvPr id="5" name="备注占位符 4"/>
          <p:cNvSpPr>
            <a:spLocks noGrp="1"/>
          </p:cNvSpPr>
          <p:nvPr>
            <p:ph type="body" sz="quarter" idx="3"/>
          </p:nvPr>
        </p:nvSpPr>
        <p:spPr>
          <a:xfrm>
            <a:off x="701040" y="4473894"/>
            <a:ext cx="5608320" cy="3660456"/>
          </a:xfrm>
          <a:prstGeom prst="rect">
            <a:avLst/>
          </a:prstGeom>
        </p:spPr>
        <p:txBody>
          <a:bodyPr vert="horz" lIns="93177" tIns="46589" rIns="93177" bIns="46589"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829429"/>
            <a:ext cx="3037840" cy="466971"/>
          </a:xfrm>
          <a:prstGeom prst="rect">
            <a:avLst/>
          </a:prstGeom>
        </p:spPr>
        <p:txBody>
          <a:bodyPr vert="horz" lIns="93177" tIns="46589" rIns="93177" bIns="46589" rtlCol="0" anchor="b"/>
          <a:lstStyle>
            <a:lvl1pPr algn="l" fontAlgn="auto">
              <a:spcBef>
                <a:spcPts val="0"/>
              </a:spcBef>
              <a:spcAft>
                <a:spcPts val="0"/>
              </a:spcAft>
              <a:defRPr sz="1200">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971344" y="8829429"/>
            <a:ext cx="3037840" cy="466971"/>
          </a:xfrm>
          <a:prstGeom prst="rect">
            <a:avLst/>
          </a:prstGeom>
        </p:spPr>
        <p:txBody>
          <a:bodyPr vert="horz" lIns="93177" tIns="46589" rIns="93177" bIns="46589" rtlCol="0" anchor="b"/>
          <a:lstStyle>
            <a:lvl1pPr algn="r" fontAlgn="auto">
              <a:spcBef>
                <a:spcPts val="0"/>
              </a:spcBef>
              <a:spcAft>
                <a:spcPts val="0"/>
              </a:spcAft>
              <a:defRPr sz="1200">
                <a:latin typeface="+mn-lt"/>
                <a:ea typeface="+mn-ea"/>
              </a:defRPr>
            </a:lvl1pPr>
          </a:lstStyle>
          <a:p>
            <a:pPr>
              <a:defRPr/>
            </a:pPr>
            <a:fld id="{1798234E-E7EE-4FBE-B288-F5A88D0BAADF}" type="slidenum">
              <a:rPr lang="zh-CN" altLang="en-US"/>
              <a:t>‹#›</a:t>
            </a:fld>
            <a:endParaRPr lang="zh-CN" altLang="en-US"/>
          </a:p>
        </p:txBody>
      </p:sp>
    </p:spTree>
    <p:extLst>
      <p:ext uri="{BB962C8B-B14F-4D97-AF65-F5344CB8AC3E}">
        <p14:creationId xmlns:p14="http://schemas.microsoft.com/office/powerpoint/2010/main" val="244855432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kumimoji="1" lang="en-US" altLang="zh-CN" sz="1200" b="1" kern="1200" dirty="0">
              <a:solidFill>
                <a:schemeClr val="tx1"/>
              </a:solidFill>
              <a:latin typeface="+mn-lt"/>
              <a:ea typeface="+mn-ea"/>
              <a:cs typeface="+mn-cs"/>
            </a:endParaRPr>
          </a:p>
          <a:p>
            <a:endParaRPr lang="zh-CN"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kumimoji="1" lang="en-US" altLang="zh-CN" sz="1200" b="1" kern="1200" dirty="0">
              <a:solidFill>
                <a:schemeClr val="tx1"/>
              </a:solidFill>
              <a:latin typeface="+mn-lt"/>
              <a:ea typeface="+mn-ea"/>
              <a:cs typeface="+mn-cs"/>
            </a:endParaRPr>
          </a:p>
          <a:p>
            <a:endParaRPr lang="zh-CN"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10</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11</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n-US" altLang="zh-CN" sz="1200" kern="1200" dirty="0">
                <a:solidFill>
                  <a:schemeClr val="tx1"/>
                </a:solidFill>
                <a:latin typeface="+mn-lt"/>
                <a:ea typeface="+mn-ea"/>
                <a:cs typeface="+mn-cs"/>
              </a:rPr>
              <a:t>     </a:t>
            </a:r>
            <a:endParaRPr lang="zh-CN"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12</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n-US" altLang="zh-CN" sz="1200" kern="1200" dirty="0">
                <a:solidFill>
                  <a:schemeClr val="tx1"/>
                </a:solidFill>
                <a:latin typeface="+mn-lt"/>
                <a:ea typeface="+mn-ea"/>
                <a:cs typeface="+mn-cs"/>
              </a:rPr>
              <a:t>   </a:t>
            </a:r>
            <a:endParaRPr lang="zh-CN"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17</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18</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en-US"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19</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sz="1200" kern="0" dirty="0">
              <a:ln>
                <a:noFill/>
              </a:ln>
              <a:solidFill>
                <a:srgbClr val="0000CC"/>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20</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21</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eaLnBrk="1" latinLnBrk="0" hangingPunct="1">
              <a:lnSpc>
                <a:spcPct val="125000"/>
              </a:lnSpc>
              <a:spcBef>
                <a:spcPts val="0"/>
              </a:spcBef>
              <a:buNone/>
            </a:pPr>
            <a:endParaRPr lang="zh-CN" altLang="en-US"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22</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en-US"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23</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sz="1200" kern="12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24</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25</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26</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sz="1200" kern="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27</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28</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29</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GIF"/></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
    <p:spTree>
      <p:nvGrpSpPr>
        <p:cNvPr id="1" name=""/>
        <p:cNvGrpSpPr/>
        <p:nvPr/>
      </p:nvGrpSpPr>
      <p:grpSpPr>
        <a:xfrm>
          <a:off x="0" y="0"/>
          <a:ext cx="0" cy="0"/>
          <a:chOff x="0" y="0"/>
          <a:chExt cx="0" cy="0"/>
        </a:xfrm>
      </p:grpSpPr>
      <p:pic>
        <p:nvPicPr>
          <p:cNvPr id="4" name="图片 3" descr="logo.jpg"/>
          <p:cNvPicPr>
            <a:picLocks noChangeAspect="1"/>
          </p:cNvPicPr>
          <p:nvPr userDrawn="1"/>
        </p:nvPicPr>
        <p:blipFill>
          <a:blip r:embed="rId2" cstate="print"/>
          <a:stretch>
            <a:fillRect/>
          </a:stretch>
        </p:blipFill>
        <p:spPr>
          <a:xfrm>
            <a:off x="10196523" y="6437085"/>
            <a:ext cx="1968290" cy="366871"/>
          </a:xfrm>
          <a:prstGeom prst="rect">
            <a:avLst/>
          </a:prstGeom>
        </p:spPr>
      </p:pic>
      <p:grpSp>
        <p:nvGrpSpPr>
          <p:cNvPr id="15" name="组合 14"/>
          <p:cNvGrpSpPr/>
          <p:nvPr userDrawn="1"/>
        </p:nvGrpSpPr>
        <p:grpSpPr>
          <a:xfrm>
            <a:off x="-1" y="6817500"/>
            <a:ext cx="12204000" cy="40500"/>
            <a:chOff x="-1" y="6019811"/>
            <a:chExt cx="9144000" cy="40500"/>
          </a:xfrm>
        </p:grpSpPr>
        <p:sp>
          <p:nvSpPr>
            <p:cNvPr id="11" name="矩形 7"/>
            <p:cNvSpPr>
              <a:spLocks noChangeArrowheads="1"/>
            </p:cNvSpPr>
            <p:nvPr userDrawn="1"/>
          </p:nvSpPr>
          <p:spPr bwMode="auto">
            <a:xfrm>
              <a:off x="3973509" y="6019811"/>
              <a:ext cx="3238531" cy="40500"/>
            </a:xfrm>
            <a:prstGeom prst="rect">
              <a:avLst/>
            </a:prstGeom>
            <a:solidFill>
              <a:srgbClr val="317FB7"/>
            </a:solidFill>
            <a:ln w="25400">
              <a:noFill/>
              <a:bevel/>
            </a:ln>
          </p:spPr>
          <p:txBody>
            <a:bodyPr anchor="ct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12" name="矩形 8"/>
            <p:cNvSpPr>
              <a:spLocks noChangeArrowheads="1"/>
            </p:cNvSpPr>
            <p:nvPr userDrawn="1"/>
          </p:nvSpPr>
          <p:spPr bwMode="auto">
            <a:xfrm flipH="1">
              <a:off x="-1" y="6019811"/>
              <a:ext cx="2571763" cy="40500"/>
            </a:xfrm>
            <a:prstGeom prst="rect">
              <a:avLst/>
            </a:prstGeom>
            <a:solidFill>
              <a:srgbClr val="92D050"/>
            </a:solidFill>
            <a:ln w="25400">
              <a:noFill/>
              <a:bevel/>
            </a:ln>
          </p:spPr>
          <p:txBody>
            <a:bodyPr anchor="ct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13" name="矩形 12"/>
            <p:cNvSpPr>
              <a:spLocks noChangeArrowheads="1"/>
            </p:cNvSpPr>
            <p:nvPr userDrawn="1"/>
          </p:nvSpPr>
          <p:spPr bwMode="auto">
            <a:xfrm flipH="1">
              <a:off x="2571736" y="6019811"/>
              <a:ext cx="1404964" cy="40500"/>
            </a:xfrm>
            <a:prstGeom prst="rect">
              <a:avLst/>
            </a:prstGeom>
            <a:solidFill>
              <a:srgbClr val="F49022"/>
            </a:solidFill>
            <a:ln w="25400">
              <a:noFill/>
              <a:bevel/>
            </a:ln>
          </p:spPr>
          <p:txBody>
            <a:bodyPr anchor="ct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14" name="矩形 12"/>
            <p:cNvSpPr>
              <a:spLocks noChangeArrowheads="1"/>
            </p:cNvSpPr>
            <p:nvPr userDrawn="1"/>
          </p:nvSpPr>
          <p:spPr bwMode="auto">
            <a:xfrm flipH="1">
              <a:off x="7215205" y="6019811"/>
              <a:ext cx="1928794" cy="40500"/>
            </a:xfrm>
            <a:prstGeom prst="rect">
              <a:avLst/>
            </a:prstGeom>
            <a:solidFill>
              <a:srgbClr val="EE3636"/>
            </a:solidFill>
            <a:ln w="25400">
              <a:noFill/>
              <a:bevel/>
            </a:ln>
          </p:spPr>
          <p:txBody>
            <a:bodyPr anchor="ct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grpSp>
      <p:pic>
        <p:nvPicPr>
          <p:cNvPr id="16" name="图片 8"/>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0" y="19468"/>
            <a:ext cx="1716196" cy="500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4" name="Picture 10" descr="https://gimg2.baidu.com/image_search/src=http%3A%2F%2Fscibit.com%2Fwp-content%2Fuploads%2Fsites%2F29%2F2016%2F12%2Fmysql.jpg&amp;refer=http%3A%2F%2Fscibit.com&amp;app=2002&amp;size=f9999,10000&amp;q=a80&amp;n=0&amp;g=0n&amp;fmt=jpeg?sec=1617097019&amp;t=50d79522f2407f4e27c19386f4a66441"/>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55575" y="-136525"/>
            <a:ext cx="38100" cy="762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封底">
    <p:spTree>
      <p:nvGrpSpPr>
        <p:cNvPr id="1" name=""/>
        <p:cNvGrpSpPr/>
        <p:nvPr/>
      </p:nvGrpSpPr>
      <p:grpSpPr>
        <a:xfrm>
          <a:off x="0" y="0"/>
          <a:ext cx="0" cy="0"/>
          <a:chOff x="0" y="0"/>
          <a:chExt cx="0" cy="0"/>
        </a:xfrm>
      </p:grpSpPr>
      <p:grpSp>
        <p:nvGrpSpPr>
          <p:cNvPr id="10" name="组合 14"/>
          <p:cNvGrpSpPr/>
          <p:nvPr userDrawn="1"/>
        </p:nvGrpSpPr>
        <p:grpSpPr>
          <a:xfrm flipV="1">
            <a:off x="-1" y="6857999"/>
            <a:ext cx="12204000" cy="45719"/>
            <a:chOff x="-1" y="6019811"/>
            <a:chExt cx="9144000" cy="40500"/>
          </a:xfrm>
        </p:grpSpPr>
        <p:sp>
          <p:nvSpPr>
            <p:cNvPr id="11" name="矩形 7"/>
            <p:cNvSpPr>
              <a:spLocks noChangeArrowheads="1"/>
            </p:cNvSpPr>
            <p:nvPr userDrawn="1"/>
          </p:nvSpPr>
          <p:spPr bwMode="auto">
            <a:xfrm>
              <a:off x="3973509" y="6019811"/>
              <a:ext cx="3238531" cy="40500"/>
            </a:xfrm>
            <a:prstGeom prst="rect">
              <a:avLst/>
            </a:prstGeom>
            <a:solidFill>
              <a:srgbClr val="317FB7"/>
            </a:solidFill>
            <a:ln w="25400">
              <a:noFill/>
              <a:bevel/>
            </a:ln>
          </p:spPr>
          <p:txBody>
            <a:bodyPr anchor="ct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12" name="矩形 8"/>
            <p:cNvSpPr>
              <a:spLocks noChangeArrowheads="1"/>
            </p:cNvSpPr>
            <p:nvPr userDrawn="1"/>
          </p:nvSpPr>
          <p:spPr bwMode="auto">
            <a:xfrm flipH="1">
              <a:off x="-1" y="6019811"/>
              <a:ext cx="2571763" cy="40500"/>
            </a:xfrm>
            <a:prstGeom prst="rect">
              <a:avLst/>
            </a:prstGeom>
            <a:solidFill>
              <a:srgbClr val="92D050"/>
            </a:solidFill>
            <a:ln w="25400">
              <a:noFill/>
              <a:bevel/>
            </a:ln>
          </p:spPr>
          <p:txBody>
            <a:bodyPr anchor="ct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13" name="矩形 12"/>
            <p:cNvSpPr>
              <a:spLocks noChangeArrowheads="1"/>
            </p:cNvSpPr>
            <p:nvPr userDrawn="1"/>
          </p:nvSpPr>
          <p:spPr bwMode="auto">
            <a:xfrm flipH="1">
              <a:off x="2571736" y="6019811"/>
              <a:ext cx="1404964" cy="40500"/>
            </a:xfrm>
            <a:prstGeom prst="rect">
              <a:avLst/>
            </a:prstGeom>
            <a:solidFill>
              <a:srgbClr val="F49022"/>
            </a:solidFill>
            <a:ln w="25400">
              <a:noFill/>
              <a:bevel/>
            </a:ln>
          </p:spPr>
          <p:txBody>
            <a:bodyPr anchor="ct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14" name="矩形 12"/>
            <p:cNvSpPr>
              <a:spLocks noChangeArrowheads="1"/>
            </p:cNvSpPr>
            <p:nvPr userDrawn="1"/>
          </p:nvSpPr>
          <p:spPr bwMode="auto">
            <a:xfrm flipH="1">
              <a:off x="7215205" y="6019811"/>
              <a:ext cx="1928794" cy="40500"/>
            </a:xfrm>
            <a:prstGeom prst="rect">
              <a:avLst/>
            </a:prstGeom>
            <a:solidFill>
              <a:srgbClr val="EE3636"/>
            </a:solidFill>
            <a:ln w="25400">
              <a:noFill/>
              <a:bevel/>
            </a:ln>
          </p:spPr>
          <p:txBody>
            <a:bodyPr anchor="ct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grpSp>
      <p:pic>
        <p:nvPicPr>
          <p:cNvPr id="16" name="图片 15" descr="logo.jpg"/>
          <p:cNvPicPr>
            <a:picLocks noChangeAspect="1"/>
          </p:cNvPicPr>
          <p:nvPr userDrawn="1"/>
        </p:nvPicPr>
        <p:blipFill>
          <a:blip r:embed="rId2" cstate="print"/>
          <a:stretch>
            <a:fillRect/>
          </a:stretch>
        </p:blipFill>
        <p:spPr>
          <a:xfrm>
            <a:off x="10223710" y="6450629"/>
            <a:ext cx="1968290" cy="366871"/>
          </a:xfrm>
          <a:prstGeom prst="rect">
            <a:avLst/>
          </a:prstGeom>
        </p:spPr>
      </p:pic>
      <p:pic>
        <p:nvPicPr>
          <p:cNvPr id="17" name="图片 8"/>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 y="-125"/>
            <a:ext cx="2106613" cy="614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5"/>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8715" y="6348551"/>
            <a:ext cx="641405" cy="5094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灯片编号占位符 4"/>
          <p:cNvSpPr>
            <a:spLocks noGrp="1"/>
          </p:cNvSpPr>
          <p:nvPr>
            <p:ph type="sldNum" sz="quarter" idx="12"/>
          </p:nvPr>
        </p:nvSpPr>
        <p:spPr>
          <a:xfrm>
            <a:off x="11208327" y="6356352"/>
            <a:ext cx="796637" cy="365125"/>
          </a:xfrm>
          <a:prstGeom prst="rect">
            <a:avLst/>
          </a:prstGeom>
        </p:spPr>
        <p:txBody>
          <a:bodyPr lIns="121917" tIns="60958" rIns="121917" bIns="60958"/>
          <a:lstStyle>
            <a:lvl1pPr algn="r">
              <a:defRPr sz="1400"/>
            </a:lvl1pPr>
          </a:lstStyle>
          <a:p>
            <a:fld id="{99FE38DD-D074-4D0B-A898-33F2288C0FC4}" type="slidenum">
              <a:rPr lang="zh-CN" altLang="en-US" smtClean="0"/>
              <a:t>‹#›</a:t>
            </a:fld>
            <a:endParaRPr lang="zh-CN" altLang="en-US" dirty="0"/>
          </a:p>
        </p:txBody>
      </p:sp>
      <p:pic>
        <p:nvPicPr>
          <p:cNvPr id="4" name="Picture 5"/>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715" y="6328958"/>
            <a:ext cx="641405" cy="5094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空白TR">
    <p:bg>
      <p:bgPr>
        <a:solidFill>
          <a:schemeClr val="bg1">
            <a:lumMod val="95000"/>
          </a:schemeClr>
        </a:solidFill>
        <a:effectLst/>
      </p:bgPr>
    </p:bg>
    <p:spTree>
      <p:nvGrpSpPr>
        <p:cNvPr id="1" name=""/>
        <p:cNvGrpSpPr/>
        <p:nvPr/>
      </p:nvGrpSpPr>
      <p:grpSpPr>
        <a:xfrm>
          <a:off x="0" y="0"/>
          <a:ext cx="0" cy="0"/>
          <a:chOff x="0" y="0"/>
          <a:chExt cx="0" cy="0"/>
        </a:xfrm>
      </p:grpSpPr>
      <p:sp>
        <p:nvSpPr>
          <p:cNvPr id="10" name="灯片编号占位符 4"/>
          <p:cNvSpPr>
            <a:spLocks noGrp="1"/>
          </p:cNvSpPr>
          <p:nvPr>
            <p:ph type="sldNum" sz="quarter" idx="12"/>
          </p:nvPr>
        </p:nvSpPr>
        <p:spPr>
          <a:xfrm>
            <a:off x="11208327" y="6356352"/>
            <a:ext cx="796637" cy="365125"/>
          </a:xfrm>
          <a:prstGeom prst="rect">
            <a:avLst/>
          </a:prstGeom>
        </p:spPr>
        <p:txBody>
          <a:bodyPr lIns="121917" tIns="60958" rIns="121917" bIns="60958"/>
          <a:lstStyle>
            <a:lvl1pPr algn="r">
              <a:defRPr sz="1400"/>
            </a:lvl1pPr>
          </a:lstStyle>
          <a:p>
            <a:fld id="{99FE38DD-D074-4D0B-A898-33F2288C0FC4}" type="slidenum">
              <a:rPr lang="zh-CN" altLang="en-US" smtClean="0"/>
              <a:t>‹#›</a:t>
            </a:fld>
            <a:endParaRPr lang="zh-CN" altLang="en-US" dirty="0"/>
          </a:p>
        </p:txBody>
      </p:sp>
      <p:sp>
        <p:nvSpPr>
          <p:cNvPr id="11" name="矩形 7"/>
          <p:cNvSpPr>
            <a:spLocks noChangeArrowheads="1"/>
          </p:cNvSpPr>
          <p:nvPr userDrawn="1"/>
        </p:nvSpPr>
        <p:spPr bwMode="auto">
          <a:xfrm>
            <a:off x="5298013" y="6807215"/>
            <a:ext cx="4318041" cy="54000"/>
          </a:xfrm>
          <a:prstGeom prst="rect">
            <a:avLst/>
          </a:prstGeom>
          <a:solidFill>
            <a:srgbClr val="317FB7"/>
          </a:solidFill>
          <a:ln w="25400">
            <a:noFill/>
            <a:bevel/>
          </a:ln>
        </p:spPr>
        <p:txBody>
          <a:bodyPr lIns="121917" tIns="60958" rIns="121917" bIns="60958" anchor="ct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12" name="矩形 8"/>
          <p:cNvSpPr>
            <a:spLocks noChangeArrowheads="1"/>
          </p:cNvSpPr>
          <p:nvPr userDrawn="1"/>
        </p:nvSpPr>
        <p:spPr bwMode="auto">
          <a:xfrm flipH="1">
            <a:off x="-1" y="6807215"/>
            <a:ext cx="3429017" cy="54000"/>
          </a:xfrm>
          <a:prstGeom prst="rect">
            <a:avLst/>
          </a:prstGeom>
          <a:solidFill>
            <a:srgbClr val="92D050"/>
          </a:solidFill>
          <a:ln w="25400">
            <a:noFill/>
            <a:bevel/>
          </a:ln>
        </p:spPr>
        <p:txBody>
          <a:bodyPr lIns="121917" tIns="60958" rIns="121917" bIns="60958" anchor="ct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13" name="矩形 12"/>
          <p:cNvSpPr>
            <a:spLocks noChangeArrowheads="1"/>
          </p:cNvSpPr>
          <p:nvPr userDrawn="1"/>
        </p:nvSpPr>
        <p:spPr bwMode="auto">
          <a:xfrm flipH="1">
            <a:off x="3428982" y="6807215"/>
            <a:ext cx="1873285" cy="54000"/>
          </a:xfrm>
          <a:prstGeom prst="rect">
            <a:avLst/>
          </a:prstGeom>
          <a:solidFill>
            <a:srgbClr val="F49022"/>
          </a:solidFill>
          <a:ln w="25400">
            <a:noFill/>
            <a:bevel/>
          </a:ln>
        </p:spPr>
        <p:txBody>
          <a:bodyPr lIns="121917" tIns="60958" rIns="121917" bIns="60958" anchor="ct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14" name="矩形 12"/>
          <p:cNvSpPr>
            <a:spLocks noChangeArrowheads="1"/>
          </p:cNvSpPr>
          <p:nvPr userDrawn="1"/>
        </p:nvSpPr>
        <p:spPr bwMode="auto">
          <a:xfrm flipH="1">
            <a:off x="9620274" y="6807215"/>
            <a:ext cx="2571725" cy="54000"/>
          </a:xfrm>
          <a:prstGeom prst="rect">
            <a:avLst/>
          </a:prstGeom>
          <a:solidFill>
            <a:srgbClr val="EE3636"/>
          </a:solidFill>
          <a:ln w="25400">
            <a:noFill/>
            <a:bevel/>
          </a:ln>
        </p:spPr>
        <p:txBody>
          <a:bodyPr lIns="121917" tIns="60958" rIns="121917" bIns="60958" anchor="ct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pic>
        <p:nvPicPr>
          <p:cNvPr id="9" name="Picture 5"/>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715" y="6296303"/>
            <a:ext cx="641405" cy="5094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2_大纲">
    <p:spTree>
      <p:nvGrpSpPr>
        <p:cNvPr id="1" name=""/>
        <p:cNvGrpSpPr/>
        <p:nvPr/>
      </p:nvGrpSpPr>
      <p:grpSpPr>
        <a:xfrm>
          <a:off x="0" y="0"/>
          <a:ext cx="0" cy="0"/>
          <a:chOff x="0" y="0"/>
          <a:chExt cx="0" cy="0"/>
        </a:xfrm>
      </p:grpSpPr>
      <p:pic>
        <p:nvPicPr>
          <p:cNvPr id="9" name="图片 8" descr="logo.jpg"/>
          <p:cNvPicPr>
            <a:picLocks noChangeAspect="1"/>
          </p:cNvPicPr>
          <p:nvPr userDrawn="1"/>
        </p:nvPicPr>
        <p:blipFill>
          <a:blip r:embed="rId2" cstate="print"/>
          <a:stretch>
            <a:fillRect/>
          </a:stretch>
        </p:blipFill>
        <p:spPr>
          <a:xfrm>
            <a:off x="10223209" y="6497747"/>
            <a:ext cx="1968290" cy="366871"/>
          </a:xfrm>
          <a:prstGeom prst="rect">
            <a:avLst/>
          </a:prstGeom>
        </p:spPr>
      </p:pic>
      <p:pic>
        <p:nvPicPr>
          <p:cNvPr id="7" name="Picture 2" descr="https://www.shiep.edu.cn/_upload/article/images/ae/f5/a315f22e46eba7886e93c3942349/e87d7fad-391a-42bc-b0b3-a522274164b9.jpg"/>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25290" y="6063"/>
            <a:ext cx="1647588" cy="39288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jpe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6148" name="Picture 4"/>
          <p:cNvPicPr>
            <a:picLocks noChangeAspect="1" noChangeArrowheads="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11627143" y="1"/>
            <a:ext cx="564856" cy="6204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图片 3" descr="logo.jpg"/>
          <p:cNvPicPr>
            <a:picLocks noChangeAspect="1"/>
          </p:cNvPicPr>
          <p:nvPr userDrawn="1"/>
        </p:nvPicPr>
        <p:blipFill>
          <a:blip r:embed="rId8" cstate="print"/>
          <a:stretch>
            <a:fillRect/>
          </a:stretch>
        </p:blipFill>
        <p:spPr>
          <a:xfrm>
            <a:off x="10196523" y="6437085"/>
            <a:ext cx="1968290" cy="366871"/>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hdr="0" ftr="0" dt="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3.xml"/><Relationship Id="rId1" Type="http://schemas.openxmlformats.org/officeDocument/2006/relationships/tags" Target="../tags/tag1.xml"/><Relationship Id="rId4" Type="http://schemas.openxmlformats.org/officeDocument/2006/relationships/image" Target="../media/image16.png"/></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3.xml"/><Relationship Id="rId1" Type="http://schemas.openxmlformats.org/officeDocument/2006/relationships/vmlDrawing" Target="../drawings/vmlDrawing1.vml"/><Relationship Id="rId5" Type="http://schemas.openxmlformats.org/officeDocument/2006/relationships/image" Target="../media/image19.wmf"/><Relationship Id="rId4" Type="http://schemas.openxmlformats.org/officeDocument/2006/relationships/oleObject" Target="../embeddings/oleObject1.bin"/></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9448763" y="15"/>
            <a:ext cx="2726267" cy="1200329"/>
          </a:xfrm>
          <a:prstGeom prst="rect">
            <a:avLst/>
          </a:prstGeom>
          <a:solidFill>
            <a:schemeClr val="bg1"/>
          </a:solidFill>
        </p:spPr>
        <p:txBody>
          <a:bodyPr wrap="square" rtlCol="0">
            <a:spAutoFit/>
          </a:bodyPr>
          <a:lstStyle/>
          <a:p>
            <a:endParaRPr lang="en-US" altLang="zh-CN" dirty="0"/>
          </a:p>
          <a:p>
            <a:endParaRPr lang="en-US" altLang="zh-CN" dirty="0"/>
          </a:p>
          <a:p>
            <a:r>
              <a:rPr lang="en-US" altLang="zh-CN" dirty="0"/>
              <a:t>                                                    </a:t>
            </a:r>
          </a:p>
          <a:p>
            <a:endParaRPr lang="zh-CN" altLang="en-US" dirty="0"/>
          </a:p>
        </p:txBody>
      </p:sp>
      <p:sp>
        <p:nvSpPr>
          <p:cNvPr id="9" name="TextBox 1"/>
          <p:cNvSpPr>
            <a:spLocks noChangeArrowheads="1"/>
          </p:cNvSpPr>
          <p:nvPr/>
        </p:nvSpPr>
        <p:spPr bwMode="auto">
          <a:xfrm>
            <a:off x="2218540" y="975521"/>
            <a:ext cx="7345184" cy="1754326"/>
          </a:xfrm>
          <a:prstGeom prst="rect">
            <a:avLst/>
          </a:prstGeom>
          <a:noFill/>
          <a:ln w="9525">
            <a:noFill/>
            <a:miter lim="800000"/>
          </a:ln>
        </p:spPr>
        <p:txBody>
          <a:bodyPr wrap="square" lIns="0" rIns="0">
            <a:spAutoFit/>
          </a:bodyPr>
          <a:lstStyle/>
          <a:p>
            <a:pPr algn="ctr"/>
            <a:endParaRPr lang="en-US" altLang="zh-CN" sz="5400" b="1" dirty="0">
              <a:solidFill>
                <a:srgbClr val="00589A"/>
              </a:solidFill>
              <a:latin typeface="微软雅黑" panose="020B0503020204020204" pitchFamily="34" charset="-122"/>
              <a:ea typeface="微软雅黑" panose="020B0503020204020204" pitchFamily="34" charset="-122"/>
              <a:sym typeface="方正细圆简体"/>
            </a:endParaRPr>
          </a:p>
          <a:p>
            <a:pPr algn="ctr"/>
            <a:r>
              <a:rPr lang="zh-CN" altLang="en-US" sz="5400" b="1" dirty="0">
                <a:solidFill>
                  <a:srgbClr val="00589A"/>
                </a:solidFill>
                <a:latin typeface="微软雅黑" panose="020B0503020204020204" pitchFamily="34" charset="-122"/>
                <a:ea typeface="微软雅黑" panose="020B0503020204020204" pitchFamily="34" charset="-122"/>
                <a:sym typeface="方正细圆简体"/>
              </a:rPr>
              <a:t>数据库原理</a:t>
            </a:r>
          </a:p>
        </p:txBody>
      </p:sp>
      <p:pic>
        <p:nvPicPr>
          <p:cNvPr id="4104"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98833" y="15"/>
            <a:ext cx="5515227" cy="48185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3"/>
          <p:cNvSpPr txBox="1">
            <a:spLocks noChangeArrowheads="1"/>
          </p:cNvSpPr>
          <p:nvPr/>
        </p:nvSpPr>
        <p:spPr bwMode="auto">
          <a:xfrm>
            <a:off x="1226185" y="1015365"/>
            <a:ext cx="10455910" cy="5262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40000"/>
              </a:spcBef>
            </a:pPr>
            <a:r>
              <a:rPr lang="zh-CN" altLang="en-US" sz="4000" b="1" dirty="0">
                <a:solidFill>
                  <a:srgbClr val="003300"/>
                </a:solidFill>
              </a:rPr>
              <a:t>第四章    </a:t>
            </a:r>
            <a:r>
              <a:rPr lang="zh-CN" sz="4000" b="1" dirty="0">
                <a:solidFill>
                  <a:srgbClr val="003300"/>
                </a:solidFill>
              </a:rPr>
              <a:t>存储过程、触发器和数据库完整性</a:t>
            </a:r>
          </a:p>
          <a:p>
            <a:pPr eaLnBrk="1" hangingPunct="1">
              <a:spcBef>
                <a:spcPct val="40000"/>
              </a:spcBef>
            </a:pPr>
            <a:endParaRPr lang="zh-CN" altLang="en-US" sz="4000" b="1" dirty="0">
              <a:solidFill>
                <a:srgbClr val="FF6600"/>
              </a:solidFill>
            </a:endParaRPr>
          </a:p>
          <a:p>
            <a:pPr eaLnBrk="1" hangingPunct="1">
              <a:spcBef>
                <a:spcPct val="50000"/>
              </a:spcBef>
            </a:pPr>
            <a:r>
              <a:rPr lang="en-US" altLang="zh-CN" sz="3200" b="1" dirty="0">
                <a:solidFill>
                  <a:schemeClr val="tx1"/>
                </a:solidFill>
              </a:rPr>
              <a:t>	4.1 SQL Server </a:t>
            </a:r>
            <a:r>
              <a:rPr lang="zh-CN" altLang="en-US" sz="3200" b="1" dirty="0">
                <a:solidFill>
                  <a:schemeClr val="tx1"/>
                </a:solidFill>
              </a:rPr>
              <a:t>编程语法</a:t>
            </a:r>
          </a:p>
          <a:p>
            <a:pPr eaLnBrk="1" hangingPunct="1">
              <a:spcBef>
                <a:spcPct val="50000"/>
              </a:spcBef>
            </a:pPr>
            <a:r>
              <a:rPr lang="en-US" altLang="zh-CN" sz="3200" b="1" dirty="0"/>
              <a:t>	</a:t>
            </a:r>
            <a:r>
              <a:rPr lang="en-US" altLang="zh-CN" sz="3200" b="1" dirty="0">
                <a:solidFill>
                  <a:srgbClr val="FF0000"/>
                </a:solidFill>
              </a:rPr>
              <a:t>4.2 </a:t>
            </a:r>
            <a:r>
              <a:rPr lang="zh-CN" altLang="en-US" sz="3200" b="1" dirty="0">
                <a:solidFill>
                  <a:srgbClr val="FF0000"/>
                </a:solidFill>
              </a:rPr>
              <a:t>存储过程</a:t>
            </a:r>
            <a:endParaRPr lang="zh-CN" altLang="en-US" sz="3200" b="1" dirty="0"/>
          </a:p>
          <a:p>
            <a:pPr eaLnBrk="1" hangingPunct="1">
              <a:spcBef>
                <a:spcPct val="50000"/>
              </a:spcBef>
            </a:pPr>
            <a:r>
              <a:rPr lang="en-US" altLang="zh-CN" sz="3200" b="1" dirty="0"/>
              <a:t>	</a:t>
            </a:r>
            <a:r>
              <a:rPr lang="en-US" altLang="zh-CN" sz="3200" b="1" dirty="0">
                <a:solidFill>
                  <a:schemeClr val="tx1"/>
                </a:solidFill>
              </a:rPr>
              <a:t>4.3 </a:t>
            </a:r>
            <a:r>
              <a:rPr lang="zh-CN" altLang="en-US" sz="3200" b="1" dirty="0">
                <a:solidFill>
                  <a:schemeClr val="tx1"/>
                </a:solidFill>
              </a:rPr>
              <a:t>触发器</a:t>
            </a:r>
            <a:r>
              <a:rPr lang="en-US" altLang="zh-CN" sz="3200" dirty="0">
                <a:solidFill>
                  <a:schemeClr val="tx1"/>
                </a:solidFill>
              </a:rPr>
              <a:t> </a:t>
            </a:r>
            <a:r>
              <a:rPr lang="en-US" altLang="zh-CN" sz="3200" dirty="0"/>
              <a:t>      </a:t>
            </a:r>
            <a:r>
              <a:rPr lang="en-US" altLang="zh-CN" sz="3200" dirty="0">
                <a:solidFill>
                  <a:srgbClr val="FF0000"/>
                </a:solidFill>
              </a:rPr>
              <a:t> </a:t>
            </a:r>
          </a:p>
          <a:p>
            <a:pPr eaLnBrk="1" hangingPunct="1">
              <a:spcBef>
                <a:spcPct val="50000"/>
              </a:spcBef>
            </a:pPr>
            <a:r>
              <a:rPr lang="en-US" altLang="zh-CN" sz="3200" dirty="0">
                <a:solidFill>
                  <a:srgbClr val="FF0000"/>
                </a:solidFill>
              </a:rPr>
              <a:t>        </a:t>
            </a:r>
            <a:r>
              <a:rPr lang="en-US" altLang="zh-CN" sz="3200" b="1" dirty="0">
                <a:solidFill>
                  <a:schemeClr val="tx1"/>
                </a:solidFill>
                <a:sym typeface="+mn-ea"/>
              </a:rPr>
              <a:t>4.4 </a:t>
            </a:r>
            <a:r>
              <a:rPr lang="zh-CN" altLang="en-US" sz="3200" b="1" dirty="0">
                <a:solidFill>
                  <a:schemeClr val="tx1"/>
                </a:solidFill>
                <a:sym typeface="+mn-ea"/>
              </a:rPr>
              <a:t>数据库的完整性</a:t>
            </a:r>
            <a:endParaRPr lang="zh-CN" altLang="en-US" sz="3200" b="1" dirty="0"/>
          </a:p>
          <a:p>
            <a:pPr eaLnBrk="1" hangingPunct="1">
              <a:spcBef>
                <a:spcPct val="50000"/>
              </a:spcBef>
            </a:pPr>
            <a:endParaRPr lang="zh-CN" altLang="en-US" sz="3200" b="1" dirty="0">
              <a:sym typeface="+mn-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cxnSp>
        <p:nvCxnSpPr>
          <p:cNvPr id="13" name="直接连接符 12"/>
          <p:cNvCxnSpPr/>
          <p:nvPr/>
        </p:nvCxnSpPr>
        <p:spPr>
          <a:xfrm rot="5400000">
            <a:off x="43826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文本框 94"/>
          <p:cNvSpPr txBox="1">
            <a:spLocks noChangeArrowheads="1"/>
          </p:cNvSpPr>
          <p:nvPr/>
        </p:nvSpPr>
        <p:spPr bwMode="auto">
          <a:xfrm>
            <a:off x="245745" y="53975"/>
            <a:ext cx="4133215"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4.2 </a:t>
            </a:r>
            <a:r>
              <a:rPr lang="zh-CN" sz="2800" b="1" dirty="0">
                <a:solidFill>
                  <a:schemeClr val="bg1"/>
                </a:solidFill>
                <a:latin typeface="微软雅黑" panose="020B0503020204020204" pitchFamily="34" charset="-122"/>
                <a:ea typeface="微软雅黑" panose="020B0503020204020204" pitchFamily="34" charset="-122"/>
              </a:rPr>
              <a:t>存储过程</a:t>
            </a:r>
          </a:p>
        </p:txBody>
      </p:sp>
      <p:sp>
        <p:nvSpPr>
          <p:cNvPr id="12" name="文本框 94"/>
          <p:cNvSpPr txBox="1">
            <a:spLocks noChangeArrowheads="1"/>
          </p:cNvSpPr>
          <p:nvPr/>
        </p:nvSpPr>
        <p:spPr bwMode="auto">
          <a:xfrm>
            <a:off x="4737459" y="75566"/>
            <a:ext cx="790877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4.2.1 </a:t>
            </a:r>
            <a:r>
              <a:rPr lang="zh-CN" sz="2800" b="1" dirty="0">
                <a:solidFill>
                  <a:schemeClr val="bg1"/>
                </a:solidFill>
                <a:latin typeface="微软雅黑" panose="020B0503020204020204" pitchFamily="34" charset="-122"/>
                <a:ea typeface="微软雅黑" panose="020B0503020204020204" pitchFamily="34" charset="-122"/>
              </a:rPr>
              <a:t>存储过程的基本概念</a:t>
            </a:r>
          </a:p>
        </p:txBody>
      </p:sp>
      <p:sp>
        <p:nvSpPr>
          <p:cNvPr id="22531" name="Rectangle 3"/>
          <p:cNvSpPr/>
          <p:nvPr/>
        </p:nvSpPr>
        <p:spPr>
          <a:xfrm>
            <a:off x="164465" y="833120"/>
            <a:ext cx="11628755" cy="3166745"/>
          </a:xfrm>
          <a:prstGeom prst="rect">
            <a:avLst/>
          </a:prstGeom>
          <a:noFill/>
          <a:ln>
            <a:noFill/>
          </a:ln>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eaLnBrk="1" latinLnBrk="0" hangingPunct="1">
              <a:lnSpc>
                <a:spcPct val="125000"/>
              </a:lnSpc>
              <a:spcBef>
                <a:spcPts val="600"/>
              </a:spcBef>
              <a:buNone/>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存储在数据库服务器中的</a:t>
            </a:r>
            <a:r>
              <a:rPr lang="zh-CN" altLang="en-US"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一组编译成单个执行计划的</a:t>
            </a:r>
            <a:r>
              <a:rPr lang="en-US" altLang="zh-CN"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SQL</a:t>
            </a:r>
            <a:r>
              <a:rPr lang="zh-CN" altLang="en-US"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语句</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。使用</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Transact-SQL</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语言编程的过程中，可以将某些需要多次调用以实现某个特定任务的代码段编写成一个过程，将其保存在数据库中，并由</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SQL Server</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服务器通过过程名调用，称为</a:t>
            </a:r>
            <a:r>
              <a:rPr lang="zh-CN" altLang="en-US"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存储过程</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a:t>
            </a:r>
          </a:p>
          <a:p>
            <a:pPr eaLnBrk="1" latinLnBrk="0" hangingPunct="1">
              <a:lnSpc>
                <a:spcPct val="125000"/>
              </a:lnSpc>
              <a:spcBef>
                <a:spcPts val="600"/>
              </a:spcBef>
              <a:buNone/>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存储过程在创建时被编译和优化，可以包含程序控制流、查询子句、操作子句，还可以接受参数、输出参数、返回单个值或多个结果集。</a:t>
            </a:r>
          </a:p>
          <a:p>
            <a:pPr eaLnBrk="1" latinLnBrk="0" hangingPunct="1">
              <a:lnSpc>
                <a:spcPct val="125000"/>
              </a:lnSpc>
              <a:spcBef>
                <a:spcPts val="600"/>
              </a:spcBef>
              <a:buNone/>
            </a:pPr>
            <a:endParaRPr lang="en-US" altLang="zh-CN" sz="2400" b="1" dirty="0">
              <a:latin typeface="楷体_GB2312" pitchFamily="49" charset="-122"/>
              <a:ea typeface="楷体_GB2312" pitchFamily="49" charset="-122"/>
            </a:endParaRPr>
          </a:p>
          <a:p>
            <a:pPr eaLnBrk="1" latinLnBrk="0" hangingPunct="1">
              <a:lnSpc>
                <a:spcPct val="125000"/>
              </a:lnSpc>
              <a:spcBef>
                <a:spcPts val="600"/>
              </a:spcBef>
              <a:buNone/>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 </a:t>
            </a:r>
          </a:p>
        </p:txBody>
      </p:sp>
      <p:sp>
        <p:nvSpPr>
          <p:cNvPr id="24578" name="内容占位符 2"/>
          <p:cNvSpPr>
            <a:spLocks noGrp="1"/>
          </p:cNvSpPr>
          <p:nvPr/>
        </p:nvSpPr>
        <p:spPr>
          <a:xfrm>
            <a:off x="441325" y="3883660"/>
            <a:ext cx="10858500" cy="2087245"/>
          </a:xfrm>
          <a:prstGeom prst="rect">
            <a:avLst/>
          </a:prstGeom>
          <a:noFill/>
          <a:ln>
            <a:noFill/>
          </a:ln>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marL="0" indent="0" latinLnBrk="0">
              <a:lnSpc>
                <a:spcPct val="125000"/>
              </a:lnSpc>
              <a:spcBef>
                <a:spcPts val="0"/>
              </a:spcBef>
              <a:buNone/>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分类：</a:t>
            </a:r>
          </a:p>
          <a:p>
            <a:pPr marL="0" indent="0" latinLnBrk="0">
              <a:lnSpc>
                <a:spcPct val="125000"/>
              </a:lnSpc>
              <a:spcBef>
                <a:spcPts val="0"/>
              </a:spcBef>
              <a:buNone/>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系统存储过程</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：SQL Server本身定义的，当作命令来执行的一类存储过程，通常以sp_为前缀</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，一般以</a:t>
            </a:r>
            <a:r>
              <a:rPr lang="en-US" altLang="zh-CN"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sp_</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为前缀，</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主要功能是从系统表中获取信息</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a:p>
            <a:pPr marL="0" indent="0" latinLnBrk="0">
              <a:lnSpc>
                <a:spcPct val="125000"/>
              </a:lnSpc>
              <a:spcBef>
                <a:spcPts val="0"/>
              </a:spcBef>
              <a:buNone/>
            </a:pPr>
            <a:r>
              <a:rPr lang="en-US" altLang="zh-CN"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     用户自定义的存储过程</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用户创建并完成某一特定功能的存储过程。</a:t>
            </a: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4578"/>
                                        </p:tgtEl>
                                        <p:attrNameLst>
                                          <p:attrName>style.visibility</p:attrName>
                                        </p:attrNameLst>
                                      </p:cBhvr>
                                      <p:to>
                                        <p:strVal val="visible"/>
                                      </p:to>
                                    </p:set>
                                    <p:animEffect transition="in" filter="blinds(horizontal)">
                                      <p:cBhvr>
                                        <p:cTn id="7" dur="500"/>
                                        <p:tgtEl>
                                          <p:spTgt spid="245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8" grpId="0"/>
      <p:bldP spid="24578" grpId="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cxnSp>
        <p:nvCxnSpPr>
          <p:cNvPr id="13" name="直接连接符 12"/>
          <p:cNvCxnSpPr/>
          <p:nvPr/>
        </p:nvCxnSpPr>
        <p:spPr>
          <a:xfrm rot="5400000">
            <a:off x="43826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文本框 94"/>
          <p:cNvSpPr txBox="1">
            <a:spLocks noChangeArrowheads="1"/>
          </p:cNvSpPr>
          <p:nvPr/>
        </p:nvSpPr>
        <p:spPr bwMode="auto">
          <a:xfrm>
            <a:off x="245745" y="53975"/>
            <a:ext cx="4133215"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4.2 </a:t>
            </a:r>
            <a:r>
              <a:rPr lang="zh-CN" sz="2800" b="1" dirty="0">
                <a:solidFill>
                  <a:schemeClr val="bg1"/>
                </a:solidFill>
                <a:latin typeface="微软雅黑" panose="020B0503020204020204" pitchFamily="34" charset="-122"/>
                <a:ea typeface="微软雅黑" panose="020B0503020204020204" pitchFamily="34" charset="-122"/>
              </a:rPr>
              <a:t>存储过程</a:t>
            </a:r>
          </a:p>
        </p:txBody>
      </p:sp>
      <p:sp>
        <p:nvSpPr>
          <p:cNvPr id="12" name="文本框 94"/>
          <p:cNvSpPr txBox="1">
            <a:spLocks noChangeArrowheads="1"/>
          </p:cNvSpPr>
          <p:nvPr/>
        </p:nvSpPr>
        <p:spPr bwMode="auto">
          <a:xfrm>
            <a:off x="4737459" y="75566"/>
            <a:ext cx="790877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sym typeface="+mn-ea"/>
              </a:rPr>
              <a:t>4.2.1 </a:t>
            </a:r>
            <a:r>
              <a:rPr lang="zh-CN" sz="2800" b="1" dirty="0">
                <a:solidFill>
                  <a:schemeClr val="bg1"/>
                </a:solidFill>
                <a:latin typeface="微软雅黑" panose="020B0503020204020204" pitchFamily="34" charset="-122"/>
                <a:ea typeface="微软雅黑" panose="020B0503020204020204" pitchFamily="34" charset="-122"/>
                <a:sym typeface="+mn-ea"/>
              </a:rPr>
              <a:t>存储过程的基本概念</a:t>
            </a:r>
            <a:endParaRPr lang="zh-CN" sz="2800" b="1" dirty="0">
              <a:solidFill>
                <a:schemeClr val="bg1"/>
              </a:solidFill>
              <a:latin typeface="微软雅黑" panose="020B0503020204020204" pitchFamily="34" charset="-122"/>
              <a:ea typeface="微软雅黑" panose="020B0503020204020204" pitchFamily="34" charset="-122"/>
            </a:endParaRPr>
          </a:p>
        </p:txBody>
      </p:sp>
      <p:sp>
        <p:nvSpPr>
          <p:cNvPr id="346116" name="Rectangle 4"/>
          <p:cNvSpPr/>
          <p:nvPr/>
        </p:nvSpPr>
        <p:spPr>
          <a:xfrm>
            <a:off x="414655" y="862330"/>
            <a:ext cx="10869930" cy="1434465"/>
          </a:xfrm>
          <a:prstGeom prst="rect">
            <a:avLst/>
          </a:prstGeom>
          <a:noFill/>
          <a:ln w="9525">
            <a:noFill/>
          </a:ln>
        </p:spPr>
        <p:txBody>
          <a:bodyPr/>
          <a:lstStyle/>
          <a:p>
            <a:pPr marL="342900" indent="-342900" eaLnBrk="1" latinLnBrk="0" hangingPunct="1">
              <a:lnSpc>
                <a:spcPct val="125000"/>
              </a:lnSpc>
              <a:spcBef>
                <a:spcPts val="0"/>
              </a:spcBef>
            </a:pPr>
            <a:r>
              <a:rPr lang="zh-CN" altLang="en-US" sz="2400" i="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优点：</a:t>
            </a:r>
            <a:r>
              <a:rPr lang="en-US" altLang="zh-CN" sz="2400" i="0" dirty="0">
                <a:latin typeface="微软雅黑" panose="020B0503020204020204" pitchFamily="34" charset="-122"/>
                <a:ea typeface="微软雅黑" panose="020B0503020204020204" pitchFamily="34" charset="-122"/>
                <a:cs typeface="微软雅黑" panose="020B0503020204020204" pitchFamily="34" charset="-122"/>
              </a:rPr>
              <a:t>1) </a:t>
            </a:r>
            <a:r>
              <a:rPr lang="zh-CN" altLang="en-US" sz="2400" i="0" dirty="0">
                <a:latin typeface="微软雅黑" panose="020B0503020204020204" pitchFamily="34" charset="-122"/>
                <a:ea typeface="微软雅黑" panose="020B0503020204020204" pitchFamily="34" charset="-122"/>
                <a:cs typeface="微软雅黑" panose="020B0503020204020204" pitchFamily="34" charset="-122"/>
              </a:rPr>
              <a:t>运行效率高，提供了在服务器端快速执行</a:t>
            </a:r>
            <a:r>
              <a:rPr lang="en-US" altLang="zh-CN" sz="2400" i="0" dirty="0">
                <a:latin typeface="微软雅黑" panose="020B0503020204020204" pitchFamily="34" charset="-122"/>
                <a:ea typeface="微软雅黑" panose="020B0503020204020204" pitchFamily="34" charset="-122"/>
                <a:cs typeface="微软雅黑" panose="020B0503020204020204" pitchFamily="34" charset="-122"/>
              </a:rPr>
              <a:t>SQL</a:t>
            </a:r>
            <a:r>
              <a:rPr lang="zh-CN" altLang="en-US" sz="2400" i="0" dirty="0">
                <a:latin typeface="微软雅黑" panose="020B0503020204020204" pitchFamily="34" charset="-122"/>
                <a:ea typeface="微软雅黑" panose="020B0503020204020204" pitchFamily="34" charset="-122"/>
                <a:cs typeface="微软雅黑" panose="020B0503020204020204" pitchFamily="34" charset="-122"/>
              </a:rPr>
              <a:t>语句的有效途径。</a:t>
            </a:r>
          </a:p>
          <a:p>
            <a:pPr marL="342900" indent="-342900" eaLnBrk="1" latinLnBrk="0" hangingPunct="1">
              <a:lnSpc>
                <a:spcPct val="125000"/>
              </a:lnSpc>
              <a:spcBef>
                <a:spcPts val="0"/>
              </a:spcBef>
            </a:pPr>
            <a:r>
              <a:rPr lang="zh-CN" altLang="en-US" sz="2400" i="0"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400" i="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i="0"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400" i="0" dirty="0">
                <a:latin typeface="微软雅黑" panose="020B0503020204020204" pitchFamily="34" charset="-122"/>
                <a:ea typeface="微软雅黑" panose="020B0503020204020204" pitchFamily="34" charset="-122"/>
                <a:cs typeface="微软雅黑" panose="020B0503020204020204" pitchFamily="34" charset="-122"/>
              </a:rPr>
              <a:t>2) </a:t>
            </a:r>
            <a:r>
              <a:rPr lang="zh-CN" altLang="en-US" sz="2400" i="0" dirty="0">
                <a:latin typeface="微软雅黑" panose="020B0503020204020204" pitchFamily="34" charset="-122"/>
                <a:ea typeface="微软雅黑" panose="020B0503020204020204" pitchFamily="34" charset="-122"/>
                <a:cs typeface="微软雅黑" panose="020B0503020204020204" pitchFamily="34" charset="-122"/>
              </a:rPr>
              <a:t>降低了客户机和服务器之间的通信量。 </a:t>
            </a:r>
          </a:p>
          <a:p>
            <a:pPr marL="342900" indent="-342900" eaLnBrk="1" latinLnBrk="0" hangingPunct="1">
              <a:lnSpc>
                <a:spcPct val="125000"/>
              </a:lnSpc>
              <a:spcBef>
                <a:spcPts val="0"/>
              </a:spcBef>
            </a:pPr>
            <a:r>
              <a:rPr lang="zh-CN" altLang="en-US" sz="2400" i="0"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400" i="0" dirty="0">
                <a:latin typeface="微软雅黑" panose="020B0503020204020204" pitchFamily="34" charset="-122"/>
                <a:ea typeface="微软雅黑" panose="020B0503020204020204" pitchFamily="34" charset="-122"/>
                <a:cs typeface="微软雅黑" panose="020B0503020204020204" pitchFamily="34" charset="-122"/>
              </a:rPr>
              <a:t>    3) </a:t>
            </a:r>
            <a:r>
              <a:rPr lang="zh-CN" altLang="en-US" sz="2400" i="0" dirty="0">
                <a:latin typeface="微软雅黑" panose="020B0503020204020204" pitchFamily="34" charset="-122"/>
                <a:ea typeface="微软雅黑" panose="020B0503020204020204" pitchFamily="34" charset="-122"/>
                <a:cs typeface="微软雅黑" panose="020B0503020204020204" pitchFamily="34" charset="-122"/>
              </a:rPr>
              <a:t>方便实施企业规则。 </a:t>
            </a:r>
          </a:p>
        </p:txBody>
      </p:sp>
      <p:pic>
        <p:nvPicPr>
          <p:cNvPr id="2" name="图片 -2147482621" descr="5"/>
          <p:cNvPicPr>
            <a:picLocks noChangeAspect="1"/>
          </p:cNvPicPr>
          <p:nvPr/>
        </p:nvPicPr>
        <p:blipFill>
          <a:blip r:embed="rId3"/>
          <a:stretch>
            <a:fillRect/>
          </a:stretch>
        </p:blipFill>
        <p:spPr>
          <a:xfrm>
            <a:off x="1677035" y="2560955"/>
            <a:ext cx="8155940" cy="3133725"/>
          </a:xfrm>
          <a:prstGeom prst="rect">
            <a:avLst/>
          </a:prstGeom>
          <a:noFill/>
          <a:ln w="9525">
            <a:noFill/>
          </a:ln>
        </p:spPr>
      </p:pic>
    </p:spTree>
    <p:extLst>
      <p:ext uri="{BB962C8B-B14F-4D97-AF65-F5344CB8AC3E}">
        <p14:creationId xmlns:p14="http://schemas.microsoft.com/office/powerpoint/2010/main" val="38012132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4" name="文本框 94"/>
          <p:cNvSpPr txBox="1">
            <a:spLocks noChangeArrowheads="1"/>
          </p:cNvSpPr>
          <p:nvPr/>
        </p:nvSpPr>
        <p:spPr bwMode="auto">
          <a:xfrm>
            <a:off x="245870" y="65515"/>
            <a:ext cx="5053997"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4.2 </a:t>
            </a:r>
            <a:r>
              <a:rPr lang="zh-CN" altLang="en-US" sz="2800" b="1" dirty="0">
                <a:solidFill>
                  <a:schemeClr val="bg1"/>
                </a:solidFill>
                <a:latin typeface="微软雅黑" panose="020B0503020204020204" pitchFamily="34" charset="-122"/>
                <a:ea typeface="微软雅黑" panose="020B0503020204020204" pitchFamily="34" charset="-122"/>
              </a:rPr>
              <a:t>存储过程</a:t>
            </a:r>
          </a:p>
        </p:txBody>
      </p:sp>
      <p:sp>
        <p:nvSpPr>
          <p:cNvPr id="12" name="文本框 94"/>
          <p:cNvSpPr txBox="1">
            <a:spLocks noChangeArrowheads="1"/>
          </p:cNvSpPr>
          <p:nvPr/>
        </p:nvSpPr>
        <p:spPr bwMode="auto">
          <a:xfrm>
            <a:off x="4737459" y="75566"/>
            <a:ext cx="790877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4.2.2 </a:t>
            </a:r>
            <a:r>
              <a:rPr lang="zh-CN" altLang="en-US" sz="2800" b="1" dirty="0">
                <a:solidFill>
                  <a:schemeClr val="bg1"/>
                </a:solidFill>
                <a:latin typeface="微软雅黑" panose="020B0503020204020204" pitchFamily="34" charset="-122"/>
                <a:ea typeface="微软雅黑" panose="020B0503020204020204" pitchFamily="34" charset="-122"/>
              </a:rPr>
              <a:t>创建和管理MySQL存储过程</a:t>
            </a:r>
          </a:p>
        </p:txBody>
      </p:sp>
      <p:cxnSp>
        <p:nvCxnSpPr>
          <p:cNvPr id="13" name="直接连接符 12"/>
          <p:cNvCxnSpPr/>
          <p:nvPr/>
        </p:nvCxnSpPr>
        <p:spPr>
          <a:xfrm rot="5400000">
            <a:off x="40778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732155" y="765175"/>
            <a:ext cx="11038840" cy="5169535"/>
          </a:xfrm>
          <a:prstGeom prst="rect">
            <a:avLst/>
          </a:prstGeom>
          <a:noFill/>
        </p:spPr>
        <p:txBody>
          <a:bodyPr wrap="square" rtlCol="0" anchor="t">
            <a:spAutoFit/>
          </a:bodyPr>
          <a:lstStyle/>
          <a:p>
            <a:pPr eaLnBrk="1" latinLnBrk="0" hangingPunct="1">
              <a:lnSpc>
                <a:spcPct val="125000"/>
              </a:lnSpc>
              <a:spcBef>
                <a:spcPts val="0"/>
              </a:spcBef>
              <a:buNone/>
            </a:pP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rPr>
              <a:t>MySQL</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中创建存储过程的语句格式为：</a:t>
            </a:r>
            <a:endParaRPr lang="en-US" altLang="zh-CN"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endParaRPr>
          </a:p>
          <a:p>
            <a:pPr eaLnBrk="1" latinLnBrk="0" hangingPunct="1">
              <a:lnSpc>
                <a:spcPct val="125000"/>
              </a:lnSpc>
              <a:spcBef>
                <a:spcPts val="0"/>
              </a:spcBef>
              <a:buNone/>
            </a:pPr>
            <a:r>
              <a:rPr lang="en-US" altLang="zh-CN"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CREATE PROCEDURE 存储过程名(参数列表)</a:t>
            </a:r>
          </a:p>
          <a:p>
            <a:pPr eaLnBrk="1" latinLnBrk="0" hangingPunct="1">
              <a:lnSpc>
                <a:spcPct val="125000"/>
              </a:lnSpc>
              <a:spcBef>
                <a:spcPts val="0"/>
              </a:spcBef>
              <a:buNone/>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BEGIN</a:t>
            </a:r>
          </a:p>
          <a:p>
            <a:pPr eaLnBrk="1" latinLnBrk="0" hangingPunct="1">
              <a:lnSpc>
                <a:spcPct val="125000"/>
              </a:lnSpc>
              <a:spcBef>
                <a:spcPts val="0"/>
              </a:spcBef>
              <a:buNone/>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     SQL语句</a:t>
            </a:r>
          </a:p>
          <a:p>
            <a:pPr eaLnBrk="1" latinLnBrk="0" hangingPunct="1">
              <a:lnSpc>
                <a:spcPct val="125000"/>
              </a:lnSpc>
              <a:spcBef>
                <a:spcPts val="0"/>
              </a:spcBef>
              <a:buNone/>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END</a:t>
            </a:r>
          </a:p>
          <a:p>
            <a:pPr eaLnBrk="1" latinLnBrk="0" hangingPunct="1">
              <a:lnSpc>
                <a:spcPct val="125000"/>
              </a:lnSpc>
              <a:spcBef>
                <a:spcPts val="0"/>
              </a:spcBef>
              <a:buNone/>
            </a:pPr>
            <a:endParaRPr lang="zh-CN" altLang="en-US"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eaLnBrk="1" latinLnBrk="0" hangingPunct="1">
              <a:lnSpc>
                <a:spcPct val="125000"/>
              </a:lnSpc>
              <a:spcBef>
                <a:spcPts val="0"/>
              </a:spcBef>
              <a:buNone/>
            </a:pPr>
            <a:r>
              <a:rPr lang="zh-CN" altLang="en-US"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存储过程中的参数列表：如果没有参数，使用一个空参数列()；多个参数之间通过逗号进行分割。参数列表中的每个参数都由输入输出类型、参数名称和参数类型组成，语法如：</a:t>
            </a:r>
            <a:r>
              <a:rPr lang="zh-CN" altLang="en-US"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[IN | OUT | INOUT] 参数名称  类型</a:t>
            </a:r>
            <a:endParaRPr lang="zh-CN" altLang="en-US"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eaLnBrk="1" latinLnBrk="0" hangingPunct="1">
              <a:lnSpc>
                <a:spcPct val="125000"/>
              </a:lnSpc>
              <a:spcBef>
                <a:spcPts val="0"/>
              </a:spcBef>
              <a:buNone/>
            </a:pPr>
            <a:r>
              <a:rPr lang="zh-CN" altLang="en-US"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其中：IN表示输入参数；OUT表示输出参数；INOUT即可以是输入，也可以是输出参数。</a:t>
            </a:r>
          </a:p>
        </p:txBody>
      </p:sp>
    </p:spTree>
    <p:extLst>
      <p:ext uri="{BB962C8B-B14F-4D97-AF65-F5344CB8AC3E}">
        <p14:creationId xmlns:p14="http://schemas.microsoft.com/office/powerpoint/2010/main" val="241432960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xEl>
                                              <p:pRg st="6" end="6"/>
                                            </p:txEl>
                                          </p:spTgt>
                                        </p:tgtEl>
                                        <p:attrNameLst>
                                          <p:attrName>style.visibility</p:attrName>
                                        </p:attrNameLst>
                                      </p:cBhvr>
                                      <p:to>
                                        <p:strVal val="visible"/>
                                      </p:to>
                                    </p:set>
                                    <p:animEffect transition="in" filter="blinds(horizontal)">
                                      <p:cBhvr>
                                        <p:cTn id="7" dur="500"/>
                                        <p:tgtEl>
                                          <p:spTgt spid="2">
                                            <p:txEl>
                                              <p:pRg st="6" end="6"/>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2">
                                            <p:txEl>
                                              <p:pRg st="7" end="7"/>
                                            </p:txEl>
                                          </p:spTgt>
                                        </p:tgtEl>
                                        <p:attrNameLst>
                                          <p:attrName>style.visibility</p:attrName>
                                        </p:attrNameLst>
                                      </p:cBhvr>
                                      <p:to>
                                        <p:strVal val="visible"/>
                                      </p:to>
                                    </p:set>
                                    <p:animEffect transition="in" filter="blinds(horizontal)">
                                      <p:cBhvr>
                                        <p:cTn id="10" dur="500"/>
                                        <p:tgtEl>
                                          <p:spTgt spid="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4" name="文本框 94"/>
          <p:cNvSpPr txBox="1">
            <a:spLocks noChangeArrowheads="1"/>
          </p:cNvSpPr>
          <p:nvPr/>
        </p:nvSpPr>
        <p:spPr bwMode="auto">
          <a:xfrm>
            <a:off x="245870" y="65515"/>
            <a:ext cx="5053997"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4.2 </a:t>
            </a:r>
            <a:r>
              <a:rPr lang="zh-CN" altLang="en-US" sz="2800" b="1" dirty="0">
                <a:solidFill>
                  <a:schemeClr val="bg1"/>
                </a:solidFill>
                <a:latin typeface="微软雅黑" panose="020B0503020204020204" pitchFamily="34" charset="-122"/>
                <a:ea typeface="微软雅黑" panose="020B0503020204020204" pitchFamily="34" charset="-122"/>
              </a:rPr>
              <a:t>存储过程</a:t>
            </a:r>
          </a:p>
        </p:txBody>
      </p:sp>
      <p:sp>
        <p:nvSpPr>
          <p:cNvPr id="12" name="文本框 94"/>
          <p:cNvSpPr txBox="1">
            <a:spLocks noChangeArrowheads="1"/>
          </p:cNvSpPr>
          <p:nvPr/>
        </p:nvSpPr>
        <p:spPr bwMode="auto">
          <a:xfrm>
            <a:off x="4737459" y="75566"/>
            <a:ext cx="790877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4.2.2 </a:t>
            </a:r>
            <a:r>
              <a:rPr lang="zh-CN" altLang="en-US" sz="2800" b="1" dirty="0">
                <a:solidFill>
                  <a:schemeClr val="bg1"/>
                </a:solidFill>
                <a:latin typeface="微软雅黑" panose="020B0503020204020204" pitchFamily="34" charset="-122"/>
                <a:ea typeface="微软雅黑" panose="020B0503020204020204" pitchFamily="34" charset="-122"/>
              </a:rPr>
              <a:t>创建和管理MySQL存储过程</a:t>
            </a:r>
          </a:p>
        </p:txBody>
      </p:sp>
      <p:cxnSp>
        <p:nvCxnSpPr>
          <p:cNvPr id="13" name="直接连接符 12"/>
          <p:cNvCxnSpPr/>
          <p:nvPr/>
        </p:nvCxnSpPr>
        <p:spPr>
          <a:xfrm rot="5400000">
            <a:off x="40778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8674" name="Rectangle 2"/>
          <p:cNvSpPr/>
          <p:nvPr/>
        </p:nvSpPr>
        <p:spPr>
          <a:xfrm>
            <a:off x="395288" y="948690"/>
            <a:ext cx="8229600" cy="719138"/>
          </a:xfrm>
          <a:prstGeom prst="rect">
            <a:avLst/>
          </a:prstGeom>
          <a:noFill/>
          <a:ln>
            <a:noFill/>
          </a:ln>
        </p:spPr>
        <p:txBody>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algn="l" eaLnBrk="1" latinLnBrk="0" hangingPunct="1">
              <a:lnSpc>
                <a:spcPct val="125000"/>
              </a:lnSpc>
              <a:spcBef>
                <a:spcPts val="0"/>
              </a:spcBef>
            </a:pPr>
            <a:r>
              <a:rPr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．基本存储过程</a:t>
            </a:r>
          </a:p>
        </p:txBody>
      </p:sp>
      <p:sp>
        <p:nvSpPr>
          <p:cNvPr id="350211" name="Rectangle 3"/>
          <p:cNvSpPr/>
          <p:nvPr/>
        </p:nvSpPr>
        <p:spPr>
          <a:xfrm>
            <a:off x="395605" y="1557020"/>
            <a:ext cx="11226165" cy="2736850"/>
          </a:xfrm>
          <a:prstGeom prst="rect">
            <a:avLst/>
          </a:prstGeom>
          <a:noFill/>
          <a:ln>
            <a:noFill/>
          </a:ln>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eaLnBrk="1" latinLnBrk="0" hangingPunct="1">
              <a:lnSpc>
                <a:spcPct val="125000"/>
              </a:lnSpc>
              <a:spcBef>
                <a:spcPts val="0"/>
              </a:spcBef>
              <a:buNone/>
            </a:pP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例</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4.5】</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创建一个最简单的存储过程，用于查看</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Stock</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表中的所有记录。</a:t>
            </a:r>
          </a:p>
          <a:p>
            <a:pPr eaLnBrk="1" latinLnBrk="0" hangingPunct="1">
              <a:lnSpc>
                <a:spcPct val="125000"/>
              </a:lnSpc>
              <a:spcBef>
                <a:spcPts val="0"/>
              </a:spcBef>
              <a:buNone/>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DELIMITER &amp;&amp;</a:t>
            </a:r>
          </a:p>
          <a:p>
            <a:pPr eaLnBrk="1" latinLnBrk="0" hangingPunct="1">
              <a:lnSpc>
                <a:spcPct val="125000"/>
              </a:lnSpc>
              <a:spcBef>
                <a:spcPts val="0"/>
              </a:spcBef>
              <a:buNone/>
            </a:pPr>
            <a:r>
              <a:rPr lang="en-US" altLang="zh-CN"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   CREATE PROCEDURE pro1()</a:t>
            </a:r>
          </a:p>
          <a:p>
            <a:pPr eaLnBrk="1" latinLnBrk="0" hangingPunct="1">
              <a:lnSpc>
                <a:spcPct val="125000"/>
              </a:lnSpc>
              <a:spcBef>
                <a:spcPts val="0"/>
              </a:spcBef>
              <a:buNone/>
            </a:pPr>
            <a:r>
              <a:rPr lang="en-US"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BEGIN</a:t>
            </a:r>
          </a:p>
          <a:p>
            <a:pPr eaLnBrk="1" latinLnBrk="0" hangingPunct="1">
              <a:lnSpc>
                <a:spcPct val="125000"/>
              </a:lnSpc>
              <a:spcBef>
                <a:spcPts val="0"/>
              </a:spcBef>
              <a:buNone/>
            </a:pPr>
            <a:r>
              <a:rPr lang="en-US"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SELECT * FROM  stock;</a:t>
            </a:r>
          </a:p>
          <a:p>
            <a:pPr eaLnBrk="1" latinLnBrk="0" hangingPunct="1">
              <a:lnSpc>
                <a:spcPct val="125000"/>
              </a:lnSpc>
              <a:spcBef>
                <a:spcPts val="0"/>
              </a:spcBef>
              <a:buNone/>
            </a:pPr>
            <a:r>
              <a:rPr lang="en-US"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END </a:t>
            </a:r>
          </a:p>
        </p:txBody>
      </p:sp>
      <p:sp>
        <p:nvSpPr>
          <p:cNvPr id="5" name="Rectangle 2"/>
          <p:cNvSpPr txBox="1"/>
          <p:nvPr/>
        </p:nvSpPr>
        <p:spPr>
          <a:xfrm>
            <a:off x="1244600" y="4493578"/>
            <a:ext cx="6791325" cy="1944687"/>
          </a:xfrm>
          <a:prstGeom prst="rect">
            <a:avLst/>
          </a:prstGeom>
          <a:noFill/>
          <a:ln w="9525">
            <a:noFill/>
          </a:ln>
        </p:spPr>
        <p:txBody>
          <a:bodyPr/>
          <a:lstStyle/>
          <a:p>
            <a:pPr marL="342900" indent="-342900" eaLnBrk="1" latinLnBrk="0" hangingPunct="1">
              <a:lnSpc>
                <a:spcPct val="125000"/>
              </a:lnSpc>
              <a:spcBef>
                <a:spcPts val="0"/>
              </a:spcBef>
            </a:pPr>
            <a:r>
              <a:rPr lang="zh-CN" altLang="en-US" sz="2400" i="0" dirty="0">
                <a:latin typeface="微软雅黑" panose="020B0503020204020204" pitchFamily="34" charset="-122"/>
                <a:ea typeface="微软雅黑" panose="020B0503020204020204" pitchFamily="34" charset="-122"/>
                <a:cs typeface="微软雅黑" panose="020B0503020204020204" pitchFamily="34" charset="-122"/>
              </a:rPr>
              <a:t>执行存储过程</a:t>
            </a:r>
            <a:r>
              <a:rPr lang="en-US" altLang="zh-CN" sz="2400" i="0" dirty="0">
                <a:latin typeface="微软雅黑" panose="020B0503020204020204" pitchFamily="34" charset="-122"/>
                <a:ea typeface="微软雅黑" panose="020B0503020204020204" pitchFamily="34" charset="-122"/>
                <a:cs typeface="微软雅黑" panose="020B0503020204020204" pitchFamily="34" charset="-122"/>
              </a:rPr>
              <a:t>:</a:t>
            </a:r>
          </a:p>
          <a:p>
            <a:pPr marL="342900" indent="-342900" eaLnBrk="1" latinLnBrk="0" hangingPunct="1">
              <a:lnSpc>
                <a:spcPct val="125000"/>
              </a:lnSpc>
              <a:spcBef>
                <a:spcPts val="0"/>
              </a:spcBef>
            </a:pPr>
            <a:r>
              <a:rPr sz="2400" i="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CALL[@&lt;状态变量&gt;=] 存储过程名()</a:t>
            </a:r>
          </a:p>
          <a:p>
            <a:pPr marL="342900" indent="-342900" eaLnBrk="1" latinLnBrk="0" hangingPunct="1">
              <a:lnSpc>
                <a:spcPct val="125000"/>
              </a:lnSpc>
              <a:spcBef>
                <a:spcPts val="0"/>
              </a:spcBef>
            </a:pPr>
            <a:r>
              <a:rPr sz="2400" i="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[@&lt;参数&gt;=] {&lt;值&gt;|@&lt;变量&gt;}…]</a:t>
            </a:r>
            <a:r>
              <a:rPr lang="en-US" altLang="zh-CN" sz="2400" i="0" dirty="0">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2400" i="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Rectangle 2"/>
          <p:cNvSpPr txBox="1"/>
          <p:nvPr/>
        </p:nvSpPr>
        <p:spPr>
          <a:xfrm>
            <a:off x="7353935" y="2858135"/>
            <a:ext cx="2607945" cy="1057275"/>
          </a:xfrm>
          <a:prstGeom prst="rect">
            <a:avLst/>
          </a:prstGeom>
          <a:solidFill>
            <a:schemeClr val="bg2"/>
          </a:solidFill>
          <a:ln w="9525">
            <a:noFill/>
          </a:ln>
        </p:spPr>
        <p:txBody>
          <a:bodyPr/>
          <a:lstStyle/>
          <a:p>
            <a:pPr marL="342900" indent="-342900" eaLnBrk="1" latinLnBrk="0" hangingPunct="1">
              <a:lnSpc>
                <a:spcPct val="125000"/>
              </a:lnSpc>
              <a:spcBef>
                <a:spcPts val="0"/>
              </a:spcBef>
            </a:pPr>
            <a:r>
              <a:rPr lang="zh-CN" altLang="en-US" sz="2400" i="0" dirty="0">
                <a:latin typeface="微软雅黑" panose="020B0503020204020204" pitchFamily="34" charset="-122"/>
                <a:ea typeface="微软雅黑" panose="020B0503020204020204" pitchFamily="34" charset="-122"/>
                <a:cs typeface="微软雅黑" panose="020B0503020204020204" pitchFamily="34" charset="-122"/>
              </a:rPr>
              <a:t>执行</a:t>
            </a:r>
            <a:r>
              <a:rPr lang="zh-CN" altLang="en-US"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存储过程</a:t>
            </a:r>
            <a:r>
              <a:rPr lang="en-US" altLang="zh-CN" sz="2400" i="0" dirty="0">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400" i="0" dirty="0">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eaLnBrk="1" latinLnBrk="0" hangingPunct="1">
              <a:lnSpc>
                <a:spcPct val="125000"/>
              </a:lnSpc>
              <a:spcBef>
                <a:spcPts val="0"/>
              </a:spcBef>
            </a:pPr>
            <a:r>
              <a:rPr lang="zh-CN" altLang="en-US" sz="2400" i="0"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400" i="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CALL  pro1</a:t>
            </a:r>
          </a:p>
          <a:p>
            <a:pPr marL="342900" indent="-342900">
              <a:lnSpc>
                <a:spcPct val="90000"/>
              </a:lnSpc>
              <a:spcBef>
                <a:spcPct val="20000"/>
              </a:spcBef>
              <a:buChar char="•"/>
            </a:pPr>
            <a:endParaRPr lang="en-US" altLang="zh-CN" sz="2400" i="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extLst>
      <p:ext uri="{BB962C8B-B14F-4D97-AF65-F5344CB8AC3E}">
        <p14:creationId xmlns:p14="http://schemas.microsoft.com/office/powerpoint/2010/main" val="285362190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50211">
                                            <p:txEl>
                                              <p:pRg st="1" end="1"/>
                                            </p:txEl>
                                          </p:spTgt>
                                        </p:tgtEl>
                                        <p:attrNameLst>
                                          <p:attrName>style.visibility</p:attrName>
                                        </p:attrNameLst>
                                      </p:cBhvr>
                                      <p:to>
                                        <p:strVal val="visible"/>
                                      </p:to>
                                    </p:set>
                                    <p:animEffect transition="in" filter="blinds(horizontal)">
                                      <p:cBhvr>
                                        <p:cTn id="7" dur="500"/>
                                        <p:tgtEl>
                                          <p:spTgt spid="350211">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50211">
                                            <p:txEl>
                                              <p:pRg st="2" end="2"/>
                                            </p:txEl>
                                          </p:spTgt>
                                        </p:tgtEl>
                                        <p:attrNameLst>
                                          <p:attrName>style.visibility</p:attrName>
                                        </p:attrNameLst>
                                      </p:cBhvr>
                                      <p:to>
                                        <p:strVal val="visible"/>
                                      </p:to>
                                    </p:set>
                                    <p:animEffect transition="in" filter="blinds(horizontal)">
                                      <p:cBhvr>
                                        <p:cTn id="10" dur="500"/>
                                        <p:tgtEl>
                                          <p:spTgt spid="350211">
                                            <p:txEl>
                                              <p:pRg st="2" end="2"/>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350211">
                                            <p:txEl>
                                              <p:pRg st="3" end="3"/>
                                            </p:txEl>
                                          </p:spTgt>
                                        </p:tgtEl>
                                        <p:attrNameLst>
                                          <p:attrName>style.visibility</p:attrName>
                                        </p:attrNameLst>
                                      </p:cBhvr>
                                      <p:to>
                                        <p:strVal val="visible"/>
                                      </p:to>
                                    </p:set>
                                    <p:animEffect transition="in" filter="blinds(horizontal)">
                                      <p:cBhvr>
                                        <p:cTn id="13" dur="500"/>
                                        <p:tgtEl>
                                          <p:spTgt spid="350211">
                                            <p:txEl>
                                              <p:pRg st="3" end="3"/>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350211">
                                            <p:txEl>
                                              <p:pRg st="4" end="4"/>
                                            </p:txEl>
                                          </p:spTgt>
                                        </p:tgtEl>
                                        <p:attrNameLst>
                                          <p:attrName>style.visibility</p:attrName>
                                        </p:attrNameLst>
                                      </p:cBhvr>
                                      <p:to>
                                        <p:strVal val="visible"/>
                                      </p:to>
                                    </p:set>
                                    <p:animEffect transition="in" filter="blinds(horizontal)">
                                      <p:cBhvr>
                                        <p:cTn id="16" dur="500"/>
                                        <p:tgtEl>
                                          <p:spTgt spid="350211">
                                            <p:txEl>
                                              <p:pRg st="4" end="4"/>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350211">
                                            <p:txEl>
                                              <p:pRg st="5" end="5"/>
                                            </p:txEl>
                                          </p:spTgt>
                                        </p:tgtEl>
                                        <p:attrNameLst>
                                          <p:attrName>style.visibility</p:attrName>
                                        </p:attrNameLst>
                                      </p:cBhvr>
                                      <p:to>
                                        <p:strVal val="visible"/>
                                      </p:to>
                                    </p:set>
                                    <p:animEffect transition="in" filter="blinds(horizontal)">
                                      <p:cBhvr>
                                        <p:cTn id="19" dur="500"/>
                                        <p:tgtEl>
                                          <p:spTgt spid="350211">
                                            <p:txEl>
                                              <p:pRg st="5" end="5"/>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grpId="0" nodeType="click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blinds(horizontal)">
                                      <p:cBhvr>
                                        <p:cTn id="24" dur="500"/>
                                        <p:tgtEl>
                                          <p:spTgt spid="5"/>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blinds(horizontal)">
                                      <p:cBhvr>
                                        <p:cTn id="2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P spid="6" grpId="0" bldLvl="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4" name="文本框 94"/>
          <p:cNvSpPr txBox="1">
            <a:spLocks noChangeArrowheads="1"/>
          </p:cNvSpPr>
          <p:nvPr/>
        </p:nvSpPr>
        <p:spPr bwMode="auto">
          <a:xfrm>
            <a:off x="245870" y="65515"/>
            <a:ext cx="5053997"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4.2 </a:t>
            </a:r>
            <a:r>
              <a:rPr lang="zh-CN" altLang="en-US" sz="2800" b="1" dirty="0">
                <a:solidFill>
                  <a:schemeClr val="bg1"/>
                </a:solidFill>
                <a:latin typeface="微软雅黑" panose="020B0503020204020204" pitchFamily="34" charset="-122"/>
                <a:ea typeface="微软雅黑" panose="020B0503020204020204" pitchFamily="34" charset="-122"/>
              </a:rPr>
              <a:t>存储过程</a:t>
            </a:r>
          </a:p>
        </p:txBody>
      </p:sp>
      <p:sp>
        <p:nvSpPr>
          <p:cNvPr id="12" name="文本框 94"/>
          <p:cNvSpPr txBox="1">
            <a:spLocks noChangeArrowheads="1"/>
          </p:cNvSpPr>
          <p:nvPr/>
        </p:nvSpPr>
        <p:spPr bwMode="auto">
          <a:xfrm>
            <a:off x="4737459" y="75566"/>
            <a:ext cx="790877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4.2.2 </a:t>
            </a:r>
            <a:r>
              <a:rPr lang="zh-CN" altLang="en-US" sz="2800" b="1" dirty="0">
                <a:solidFill>
                  <a:schemeClr val="bg1"/>
                </a:solidFill>
                <a:latin typeface="微软雅黑" panose="020B0503020204020204" pitchFamily="34" charset="-122"/>
                <a:ea typeface="微软雅黑" panose="020B0503020204020204" pitchFamily="34" charset="-122"/>
              </a:rPr>
              <a:t>创建和管理MySQL存储过程</a:t>
            </a:r>
          </a:p>
        </p:txBody>
      </p:sp>
      <p:cxnSp>
        <p:nvCxnSpPr>
          <p:cNvPr id="13" name="直接连接符 12"/>
          <p:cNvCxnSpPr/>
          <p:nvPr/>
        </p:nvCxnSpPr>
        <p:spPr>
          <a:xfrm rot="5400000">
            <a:off x="40778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30727" name="Rectangle 2"/>
          <p:cNvSpPr/>
          <p:nvPr/>
        </p:nvSpPr>
        <p:spPr>
          <a:xfrm>
            <a:off x="179705" y="680720"/>
            <a:ext cx="10154920" cy="504825"/>
          </a:xfrm>
          <a:prstGeom prst="rect">
            <a:avLst/>
          </a:prstGeom>
          <a:noFill/>
          <a:ln>
            <a:noFill/>
          </a:ln>
        </p:spPr>
        <p:txBody>
          <a:bodyPr>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l" eaLnBrk="1" hangingPunct="1">
              <a:lnSpc>
                <a:spcPct val="125000"/>
              </a:lnSpc>
              <a:spcBef>
                <a:spcPts val="0"/>
              </a:spcBef>
              <a:buClrTx/>
              <a:buSzTx/>
              <a:buFontTx/>
            </a:pPr>
            <a:r>
              <a:rPr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sym typeface="+mn-ea"/>
              </a:rPr>
              <a:t>2．带输入参数的存储过程</a:t>
            </a:r>
          </a:p>
        </p:txBody>
      </p:sp>
      <p:sp>
        <p:nvSpPr>
          <p:cNvPr id="6" name="矩形 5"/>
          <p:cNvSpPr/>
          <p:nvPr/>
        </p:nvSpPr>
        <p:spPr>
          <a:xfrm>
            <a:off x="251460" y="1268730"/>
            <a:ext cx="11590655" cy="1014730"/>
          </a:xfrm>
          <a:prstGeom prst="rect">
            <a:avLst/>
          </a:prstGeom>
        </p:spPr>
        <p:txBody>
          <a:bodyPr wrap="square">
            <a:spAutoFit/>
          </a:bodyPr>
          <a:lstStyle/>
          <a:p>
            <a:pPr marL="0" marR="0" lvl="0" indent="0" algn="l" defTabSz="914400" rtl="0" eaLnBrk="1" latinLnBrk="0" hangingPunct="1">
              <a:lnSpc>
                <a:spcPct val="125000"/>
              </a:lnSpc>
              <a:spcBef>
                <a:spcPts val="0"/>
              </a:spcBef>
              <a:spcAft>
                <a:spcPct val="0"/>
              </a:spcAft>
              <a:buClrTx/>
              <a:buSzTx/>
              <a:buFontTx/>
              <a:buNone/>
              <a:defRPr/>
            </a:pPr>
            <a:r>
              <a:rPr kumimoji="0" lang="en-US" altLang="zh-CN" sz="2400" i="0" u="none" strike="noStrike" kern="120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a:t>
            </a:r>
            <a:r>
              <a:rPr kumimoji="0" lang="zh-CN" altLang="en-US" sz="2400" i="0" u="none" strike="noStrike" kern="120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在存储过程中还可以使用</a:t>
            </a:r>
            <a:r>
              <a:rPr kumimoji="0" lang="zh-CN" altLang="en-US" sz="2400" i="0" u="none" strike="noStrike" kern="1200" cap="none" spc="0" normalizeH="0" baseline="0" noProof="1">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输入参数</a:t>
            </a:r>
            <a:r>
              <a:rPr kumimoji="0" lang="zh-CN" altLang="en-US" sz="2400" i="0" u="none" strike="noStrike" kern="120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，通过存储过程每次执行时使用不同输入参数值，实现其灵活性。</a:t>
            </a:r>
            <a:endParaRPr kumimoji="0" lang="zh-CN" altLang="en-US" sz="2400" i="0" u="none" strike="noStrike" kern="1200" cap="none" spc="0" normalizeH="0" baseline="0" noProof="1">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 name="Rectangle 2"/>
          <p:cNvSpPr txBox="1"/>
          <p:nvPr/>
        </p:nvSpPr>
        <p:spPr>
          <a:xfrm>
            <a:off x="454025" y="2283460"/>
            <a:ext cx="12192000" cy="5133975"/>
          </a:xfrm>
          <a:prstGeom prst="rect">
            <a:avLst/>
          </a:prstGeom>
          <a:noFill/>
          <a:ln w="9525">
            <a:noFill/>
          </a:ln>
        </p:spPr>
        <p:txBody>
          <a:bodyPr/>
          <a:lstStyle/>
          <a:p>
            <a:pPr marL="342900" indent="-342900" eaLnBrk="1" latinLnBrk="0" hangingPunct="1">
              <a:lnSpc>
                <a:spcPct val="125000"/>
              </a:lnSpc>
              <a:spcBef>
                <a:spcPts val="0"/>
              </a:spcBef>
            </a:pPr>
            <a:r>
              <a:rPr lang="en-US" altLang="zh-CN" sz="2400" i="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400" i="0" dirty="0">
                <a:latin typeface="微软雅黑" panose="020B0503020204020204" pitchFamily="34" charset="-122"/>
                <a:ea typeface="微软雅黑" panose="020B0503020204020204" pitchFamily="34" charset="-122"/>
                <a:cs typeface="微软雅黑" panose="020B0503020204020204" pitchFamily="34" charset="-122"/>
              </a:rPr>
              <a:t>例</a:t>
            </a:r>
            <a:r>
              <a:rPr lang="en-US" altLang="zh-CN" sz="2400" i="0" dirty="0">
                <a:latin typeface="微软雅黑" panose="020B0503020204020204" pitchFamily="34" charset="-122"/>
                <a:ea typeface="微软雅黑" panose="020B0503020204020204" pitchFamily="34" charset="-122"/>
                <a:cs typeface="微软雅黑" panose="020B0503020204020204" pitchFamily="34" charset="-122"/>
              </a:rPr>
              <a:t>4.6】</a:t>
            </a:r>
            <a:r>
              <a:rPr lang="zh-CN" altLang="en-US" sz="2400" i="0" dirty="0">
                <a:latin typeface="微软雅黑" panose="020B0503020204020204" pitchFamily="34" charset="-122"/>
                <a:ea typeface="微软雅黑" panose="020B0503020204020204" pitchFamily="34" charset="-122"/>
                <a:cs typeface="微软雅黑" panose="020B0503020204020204" pitchFamily="34" charset="-122"/>
              </a:rPr>
              <a:t>创建一个带输入参数的存储过程，向</a:t>
            </a:r>
            <a:r>
              <a:rPr lang="en-US" altLang="zh-CN" sz="2400" i="0" dirty="0">
                <a:latin typeface="微软雅黑" panose="020B0503020204020204" pitchFamily="34" charset="-122"/>
                <a:ea typeface="微软雅黑" panose="020B0503020204020204" pitchFamily="34" charset="-122"/>
                <a:cs typeface="微软雅黑" panose="020B0503020204020204" pitchFamily="34" charset="-122"/>
              </a:rPr>
              <a:t>Stock</a:t>
            </a:r>
            <a:r>
              <a:rPr lang="zh-CN" altLang="en-US" sz="2400" i="0" dirty="0">
                <a:latin typeface="微软雅黑" panose="020B0503020204020204" pitchFamily="34" charset="-122"/>
                <a:ea typeface="微软雅黑" panose="020B0503020204020204" pitchFamily="34" charset="-122"/>
                <a:cs typeface="微软雅黑" panose="020B0503020204020204" pitchFamily="34" charset="-122"/>
              </a:rPr>
              <a:t>表中添加一个新的数据行。</a:t>
            </a:r>
          </a:p>
          <a:p>
            <a:pPr marL="342900" indent="-342900" eaLnBrk="1" latinLnBrk="0" hangingPunct="1">
              <a:lnSpc>
                <a:spcPct val="125000"/>
              </a:lnSpc>
              <a:spcBef>
                <a:spcPts val="0"/>
              </a:spcBef>
            </a:pPr>
            <a:r>
              <a:rPr lang="zh-CN" altLang="en-US" sz="2400" i="0" dirty="0">
                <a:latin typeface="微软雅黑" panose="020B0503020204020204" pitchFamily="34" charset="-122"/>
                <a:ea typeface="微软雅黑" panose="020B0503020204020204" pitchFamily="34" charset="-122"/>
                <a:cs typeface="微软雅黑" panose="020B0503020204020204" pitchFamily="34" charset="-122"/>
              </a:rPr>
              <a:t>DELIMITER &amp;&amp;</a:t>
            </a:r>
          </a:p>
          <a:p>
            <a:pPr marL="342900" indent="-342900" eaLnBrk="1" latinLnBrk="0" hangingPunct="1">
              <a:lnSpc>
                <a:spcPct val="125000"/>
              </a:lnSpc>
              <a:spcBef>
                <a:spcPts val="0"/>
              </a:spcBef>
            </a:pPr>
            <a:r>
              <a:rPr lang="zh-CN" altLang="en-US" sz="2400" i="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CREATE PROCEDURE pro2(</a:t>
            </a:r>
            <a:r>
              <a:rPr lang="en-US" altLang="zh-CN" sz="2400" i="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mno char(8),mname varchar(50),mspeci varchar(20)</a:t>
            </a:r>
            <a:r>
              <a:rPr lang="zh-CN" altLang="en-US" sz="2400" i="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400" i="0" dirty="0">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eaLnBrk="1" latinLnBrk="0" hangingPunct="1">
              <a:lnSpc>
                <a:spcPct val="125000"/>
              </a:lnSpc>
              <a:spcBef>
                <a:spcPts val="0"/>
              </a:spcBef>
            </a:pPr>
            <a:r>
              <a:rPr lang="zh-CN" altLang="en-US" sz="2400" i="0" dirty="0">
                <a:latin typeface="微软雅黑" panose="020B0503020204020204" pitchFamily="34" charset="-122"/>
                <a:ea typeface="微软雅黑" panose="020B0503020204020204" pitchFamily="34" charset="-122"/>
                <a:cs typeface="微软雅黑" panose="020B0503020204020204" pitchFamily="34" charset="-122"/>
              </a:rPr>
              <a:t>BEGIN</a:t>
            </a:r>
          </a:p>
          <a:p>
            <a:pPr marL="342900" indent="-342900" eaLnBrk="1" latinLnBrk="0" hangingPunct="1">
              <a:lnSpc>
                <a:spcPct val="125000"/>
              </a:lnSpc>
              <a:spcBef>
                <a:spcPts val="0"/>
              </a:spcBef>
            </a:pPr>
            <a:r>
              <a:rPr lang="zh-CN" altLang="en-US" sz="2400" i="0" dirty="0">
                <a:latin typeface="微软雅黑" panose="020B0503020204020204" pitchFamily="34" charset="-122"/>
                <a:ea typeface="微软雅黑" panose="020B0503020204020204" pitchFamily="34" charset="-122"/>
                <a:cs typeface="微软雅黑" panose="020B0503020204020204" pitchFamily="34" charset="-122"/>
              </a:rPr>
              <a:t>    INSERT INTO Stock(mat_num,mat_name,speci)</a:t>
            </a:r>
          </a:p>
          <a:p>
            <a:pPr marL="342900" indent="-342900" eaLnBrk="1" latinLnBrk="0" hangingPunct="1">
              <a:lnSpc>
                <a:spcPct val="125000"/>
              </a:lnSpc>
              <a:spcBef>
                <a:spcPts val="0"/>
              </a:spcBef>
            </a:pPr>
            <a:r>
              <a:rPr lang="zh-CN" altLang="en-US" sz="2400" i="0" dirty="0">
                <a:latin typeface="微软雅黑" panose="020B0503020204020204" pitchFamily="34" charset="-122"/>
                <a:ea typeface="微软雅黑" panose="020B0503020204020204" pitchFamily="34" charset="-122"/>
                <a:cs typeface="微软雅黑" panose="020B0503020204020204" pitchFamily="34" charset="-122"/>
              </a:rPr>
              <a:t>    VALUES(mno,mname,mspeci);</a:t>
            </a:r>
          </a:p>
          <a:p>
            <a:pPr marL="342900" indent="-342900" eaLnBrk="1" latinLnBrk="0" hangingPunct="1">
              <a:lnSpc>
                <a:spcPct val="125000"/>
              </a:lnSpc>
              <a:spcBef>
                <a:spcPts val="0"/>
              </a:spcBef>
            </a:pPr>
            <a:r>
              <a:rPr lang="zh-CN" altLang="en-US" sz="2400" i="0" dirty="0">
                <a:latin typeface="微软雅黑" panose="020B0503020204020204" pitchFamily="34" charset="-122"/>
                <a:ea typeface="微软雅黑" panose="020B0503020204020204" pitchFamily="34" charset="-122"/>
                <a:cs typeface="微软雅黑" panose="020B0503020204020204" pitchFamily="34" charset="-122"/>
              </a:rPr>
              <a:t>END</a:t>
            </a:r>
            <a:r>
              <a:rPr lang="en-US" altLang="zh-CN" sz="2400" i="0" dirty="0">
                <a:latin typeface="微软雅黑" panose="020B0503020204020204" pitchFamily="34" charset="-122"/>
                <a:ea typeface="微软雅黑" panose="020B0503020204020204" pitchFamily="34" charset="-122"/>
                <a:cs typeface="微软雅黑" panose="020B0503020204020204" pitchFamily="34" charset="-122"/>
              </a:rPr>
              <a:t>  </a:t>
            </a:r>
          </a:p>
          <a:p>
            <a:pPr marL="0" indent="0">
              <a:lnSpc>
                <a:spcPct val="90000"/>
              </a:lnSpc>
              <a:spcBef>
                <a:spcPct val="20000"/>
              </a:spcBef>
              <a:buNone/>
            </a:pPr>
            <a:endParaRPr lang="en-US" altLang="zh-CN" sz="2400" i="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矩形 1"/>
          <p:cNvSpPr/>
          <p:nvPr/>
        </p:nvSpPr>
        <p:spPr>
          <a:xfrm>
            <a:off x="1188720" y="5455285"/>
            <a:ext cx="7840345" cy="1014730"/>
          </a:xfrm>
          <a:prstGeom prst="rect">
            <a:avLst/>
          </a:prstGeom>
          <a:solidFill>
            <a:schemeClr val="bg2">
              <a:lumMod val="90000"/>
            </a:schemeClr>
          </a:solidFill>
          <a:ln w="28575" cap="flat" cmpd="sng">
            <a:noFill/>
            <a:prstDash val="solid"/>
            <a:round/>
            <a:headEnd type="none" w="med" len="med"/>
            <a:tailEnd type="none" w="med" len="med"/>
          </a:ln>
        </p:spPr>
        <p:txBody>
          <a:bodyPr wrap="square">
            <a:spAutoFit/>
          </a:bodyPr>
          <a:lstStyle/>
          <a:p>
            <a:pPr latinLnBrk="0">
              <a:lnSpc>
                <a:spcPct val="125000"/>
              </a:lnSpc>
              <a:spcBef>
                <a:spcPts val="0"/>
              </a:spcBef>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执行存储过程</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atinLnBrk="0">
              <a:lnSpc>
                <a:spcPct val="125000"/>
              </a:lnSpc>
              <a:spcBef>
                <a:spcPts val="0"/>
              </a:spcBef>
            </a:pPr>
            <a:r>
              <a:rPr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sym typeface="+mn-ea"/>
              </a:rPr>
              <a:t>   CALL  pro2 ('m030','护套绝缘电线','BVV-35');</a:t>
            </a:r>
          </a:p>
        </p:txBody>
      </p:sp>
    </p:spTree>
    <p:extLst>
      <p:ext uri="{BB962C8B-B14F-4D97-AF65-F5344CB8AC3E}">
        <p14:creationId xmlns:p14="http://schemas.microsoft.com/office/powerpoint/2010/main" val="100089697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blinds(horizontal)">
                                      <p:cBhvr>
                                        <p:cTn id="7" dur="500"/>
                                        <p:tgtEl>
                                          <p:spTgt spid="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
                                            <p:txEl>
                                              <p:pRg st="2" end="2"/>
                                            </p:txEl>
                                          </p:spTgt>
                                        </p:tgtEl>
                                        <p:attrNameLst>
                                          <p:attrName>style.visibility</p:attrName>
                                        </p:attrNameLst>
                                      </p:cBhvr>
                                      <p:to>
                                        <p:strVal val="visible"/>
                                      </p:to>
                                    </p:set>
                                    <p:animEffect transition="in" filter="blinds(horizontal)">
                                      <p:cBhvr>
                                        <p:cTn id="12" dur="500"/>
                                        <p:tgtEl>
                                          <p:spTgt spid="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7">
                                            <p:txEl>
                                              <p:pRg st="3" end="3"/>
                                            </p:txEl>
                                          </p:spTgt>
                                        </p:tgtEl>
                                        <p:attrNameLst>
                                          <p:attrName>style.visibility</p:attrName>
                                        </p:attrNameLst>
                                      </p:cBhvr>
                                      <p:to>
                                        <p:strVal val="visible"/>
                                      </p:to>
                                    </p:set>
                                    <p:animEffect transition="in" filter="blinds(horizontal)">
                                      <p:cBhvr>
                                        <p:cTn id="17" dur="500"/>
                                        <p:tgtEl>
                                          <p:spTgt spid="7">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7">
                                            <p:txEl>
                                              <p:pRg st="4" end="4"/>
                                            </p:txEl>
                                          </p:spTgt>
                                        </p:tgtEl>
                                        <p:attrNameLst>
                                          <p:attrName>style.visibility</p:attrName>
                                        </p:attrNameLst>
                                      </p:cBhvr>
                                      <p:to>
                                        <p:strVal val="visible"/>
                                      </p:to>
                                    </p:set>
                                    <p:animEffect transition="in" filter="blinds(horizontal)">
                                      <p:cBhvr>
                                        <p:cTn id="22" dur="500"/>
                                        <p:tgtEl>
                                          <p:spTgt spid="7">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7">
                                            <p:txEl>
                                              <p:pRg st="5" end="5"/>
                                            </p:txEl>
                                          </p:spTgt>
                                        </p:tgtEl>
                                        <p:attrNameLst>
                                          <p:attrName>style.visibility</p:attrName>
                                        </p:attrNameLst>
                                      </p:cBhvr>
                                      <p:to>
                                        <p:strVal val="visible"/>
                                      </p:to>
                                    </p:set>
                                    <p:animEffect transition="in" filter="blinds(horizontal)">
                                      <p:cBhvr>
                                        <p:cTn id="27" dur="500"/>
                                        <p:tgtEl>
                                          <p:spTgt spid="7">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7">
                                            <p:txEl>
                                              <p:pRg st="6" end="6"/>
                                            </p:txEl>
                                          </p:spTgt>
                                        </p:tgtEl>
                                        <p:attrNameLst>
                                          <p:attrName>style.visibility</p:attrName>
                                        </p:attrNameLst>
                                      </p:cBhvr>
                                      <p:to>
                                        <p:strVal val="visible"/>
                                      </p:to>
                                    </p:set>
                                    <p:animEffect transition="in" filter="blinds(horizontal)">
                                      <p:cBhvr>
                                        <p:cTn id="32" dur="500"/>
                                        <p:tgtEl>
                                          <p:spTgt spid="7">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
                                        </p:tgtEl>
                                        <p:attrNameLst>
                                          <p:attrName>style.visibility</p:attrName>
                                        </p:attrNameLst>
                                      </p:cBhvr>
                                      <p:to>
                                        <p:strVal val="visible"/>
                                      </p:to>
                                    </p:set>
                                    <p:animEffect transition="in" filter="blinds(horizontal)">
                                      <p:cBhvr>
                                        <p:cTn id="3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2" grpId="1"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4" name="文本框 94"/>
          <p:cNvSpPr txBox="1">
            <a:spLocks noChangeArrowheads="1"/>
          </p:cNvSpPr>
          <p:nvPr/>
        </p:nvSpPr>
        <p:spPr bwMode="auto">
          <a:xfrm>
            <a:off x="245870" y="65515"/>
            <a:ext cx="5053997"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4.2 </a:t>
            </a:r>
            <a:r>
              <a:rPr lang="zh-CN" altLang="en-US" sz="2800" b="1" dirty="0">
                <a:solidFill>
                  <a:schemeClr val="bg1"/>
                </a:solidFill>
                <a:latin typeface="微软雅黑" panose="020B0503020204020204" pitchFamily="34" charset="-122"/>
                <a:ea typeface="微软雅黑" panose="020B0503020204020204" pitchFamily="34" charset="-122"/>
              </a:rPr>
              <a:t>存储过程</a:t>
            </a:r>
          </a:p>
        </p:txBody>
      </p:sp>
      <p:sp>
        <p:nvSpPr>
          <p:cNvPr id="12" name="文本框 94"/>
          <p:cNvSpPr txBox="1">
            <a:spLocks noChangeArrowheads="1"/>
          </p:cNvSpPr>
          <p:nvPr/>
        </p:nvSpPr>
        <p:spPr bwMode="auto">
          <a:xfrm>
            <a:off x="4737459" y="75566"/>
            <a:ext cx="790877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4.2.2 </a:t>
            </a:r>
            <a:r>
              <a:rPr lang="zh-CN" altLang="en-US" sz="2800" b="1" dirty="0">
                <a:solidFill>
                  <a:schemeClr val="bg1"/>
                </a:solidFill>
                <a:latin typeface="微软雅黑" panose="020B0503020204020204" pitchFamily="34" charset="-122"/>
                <a:ea typeface="微软雅黑" panose="020B0503020204020204" pitchFamily="34" charset="-122"/>
              </a:rPr>
              <a:t>创建和管理MySQL存储过程</a:t>
            </a:r>
          </a:p>
        </p:txBody>
      </p:sp>
      <p:cxnSp>
        <p:nvCxnSpPr>
          <p:cNvPr id="13" name="直接连接符 12"/>
          <p:cNvCxnSpPr/>
          <p:nvPr/>
        </p:nvCxnSpPr>
        <p:spPr>
          <a:xfrm rot="5400000">
            <a:off x="40778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30727" name="Rectangle 2"/>
          <p:cNvSpPr/>
          <p:nvPr/>
        </p:nvSpPr>
        <p:spPr>
          <a:xfrm>
            <a:off x="179705" y="680720"/>
            <a:ext cx="10154920" cy="504825"/>
          </a:xfrm>
          <a:prstGeom prst="rect">
            <a:avLst/>
          </a:prstGeom>
          <a:noFill/>
          <a:ln>
            <a:noFill/>
          </a:ln>
        </p:spPr>
        <p:txBody>
          <a:bodyPr>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l" eaLnBrk="1" hangingPunct="1">
              <a:lnSpc>
                <a:spcPct val="125000"/>
              </a:lnSpc>
              <a:spcBef>
                <a:spcPts val="0"/>
              </a:spcBef>
              <a:buClrTx/>
              <a:buSzTx/>
              <a:buFontTx/>
            </a:pPr>
            <a:r>
              <a:rPr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sym typeface="+mn-ea"/>
              </a:rPr>
              <a:t>3．带</a:t>
            </a:r>
            <a:r>
              <a:rPr lang="zh-CN" altLang="en-US"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sym typeface="+mn-ea"/>
              </a:rPr>
              <a:t>输出</a:t>
            </a:r>
            <a:r>
              <a:rPr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sym typeface="+mn-ea"/>
              </a:rPr>
              <a:t>参数的存储过程</a:t>
            </a:r>
          </a:p>
        </p:txBody>
      </p:sp>
      <p:sp>
        <p:nvSpPr>
          <p:cNvPr id="6" name="矩形 5"/>
          <p:cNvSpPr/>
          <p:nvPr/>
        </p:nvSpPr>
        <p:spPr>
          <a:xfrm>
            <a:off x="245745" y="1137920"/>
            <a:ext cx="11590655" cy="553085"/>
          </a:xfrm>
          <a:prstGeom prst="rect">
            <a:avLst/>
          </a:prstGeom>
        </p:spPr>
        <p:txBody>
          <a:bodyPr wrap="square">
            <a:spAutoFit/>
          </a:bodyPr>
          <a:lstStyle/>
          <a:p>
            <a:pPr marL="0" marR="0" lvl="0" indent="0" algn="l" defTabSz="914400" rtl="0" eaLnBrk="1" latinLnBrk="0" hangingPunct="1">
              <a:lnSpc>
                <a:spcPct val="125000"/>
              </a:lnSpc>
              <a:spcBef>
                <a:spcPts val="0"/>
              </a:spcBef>
              <a:spcAft>
                <a:spcPct val="0"/>
              </a:spcAft>
              <a:buClrTx/>
              <a:buSzTx/>
              <a:buFontTx/>
              <a:buNone/>
              <a:defRPr/>
            </a:pPr>
            <a:r>
              <a:rPr kumimoji="0" lang="en-US" altLang="zh-CN" sz="2400" i="0" u="none" strike="noStrike" kern="120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a:t>
            </a: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rPr>
              <a:t>OUT用于指明参数为输出参数，可以返回到调用存储过程的语句或其他存储过程中。</a:t>
            </a:r>
          </a:p>
        </p:txBody>
      </p:sp>
      <p:sp>
        <p:nvSpPr>
          <p:cNvPr id="26627" name="Rectangle 3"/>
          <p:cNvSpPr>
            <a:spLocks noGrp="1" noChangeArrowheads="1"/>
          </p:cNvSpPr>
          <p:nvPr/>
        </p:nvSpPr>
        <p:spPr bwMode="auto">
          <a:xfrm>
            <a:off x="245745" y="1691005"/>
            <a:ext cx="11805285" cy="4526280"/>
          </a:xfrm>
          <a:prstGeom prst="rect">
            <a:avLst/>
          </a:prstGeom>
        </p:spPr>
        <p:txBody>
          <a:bodyPr vert="horz" wrap="square" lIns="91440" tIns="45720" rIns="91440" bIns="45720" numCol="1" anchor="t" anchorCtr="0" compatLnSpc="1"/>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marL="342900" marR="0" lvl="0" indent="0" algn="l" defTabSz="914400" rtl="0" eaLnBrk="1" latinLnBrk="0" hangingPunct="1">
              <a:lnSpc>
                <a:spcPct val="125000"/>
              </a:lnSpc>
              <a:spcBef>
                <a:spcPts val="0"/>
              </a:spcBef>
              <a:spcAft>
                <a:spcPct val="0"/>
              </a:spcAft>
              <a:buClrTx/>
              <a:buSzTx/>
              <a:buFontTx/>
              <a:buNone/>
              <a:defRPr/>
            </a:pPr>
            <a:r>
              <a:rPr kumimoji="0" lang="en-US" altLang="zh-CN" sz="24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sz="24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例</a:t>
            </a:r>
            <a:r>
              <a:rPr kumimoji="0" lang="en-US" altLang="zh-CN" sz="24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4.7】</a:t>
            </a:r>
            <a:r>
              <a:rPr kumimoji="0" lang="zh-CN" altLang="en-US" sz="24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创建一个存储过程，</a:t>
            </a:r>
            <a:r>
              <a:rPr kumimoji="0" lang="zh-CN" altLang="zh-CN" sz="24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根据</a:t>
            </a:r>
            <a:r>
              <a:rPr kumimoji="0" lang="zh-CN" altLang="zh-CN" sz="2400"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输入的抢修工程项目号</a:t>
            </a:r>
            <a:r>
              <a:rPr kumimoji="0" lang="zh-CN" altLang="zh-CN" sz="24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统计其</a:t>
            </a:r>
            <a:r>
              <a:rPr kumimoji="0" lang="zh-CN" altLang="zh-CN" sz="2400"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领取物资的总数量</a:t>
            </a:r>
            <a:r>
              <a:rPr kumimoji="0" lang="zh-CN" altLang="zh-CN" sz="24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，并要求</a:t>
            </a:r>
            <a:r>
              <a:rPr kumimoji="0" lang="zh-CN" altLang="zh-CN" sz="2400"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输出</a:t>
            </a:r>
            <a:r>
              <a:rPr kumimoji="0" lang="zh-CN" altLang="zh-CN" sz="24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endParaRPr kumimoji="0" lang="zh-CN" altLang="en-US" sz="24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algn="l" defTabSz="914400" rtl="0" eaLnBrk="0" latinLnBrk="0" hangingPunct="0">
              <a:lnSpc>
                <a:spcPct val="125000"/>
              </a:lnSpc>
              <a:spcBef>
                <a:spcPts val="0"/>
              </a:spcBef>
              <a:spcAft>
                <a:spcPct val="0"/>
              </a:spcAft>
              <a:buClrTx/>
              <a:buSzTx/>
              <a:buFontTx/>
              <a:buNone/>
              <a:defRPr/>
            </a:pPr>
            <a:r>
              <a:rPr kumimoji="0" lang="en-US" altLang="zh-CN" sz="2400"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a:t>
            </a:r>
            <a:r>
              <a:rPr kumimoji="0" lang="en-US" altLang="zh-CN" sz="24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DELIMITER &amp;&amp;</a:t>
            </a:r>
          </a:p>
          <a:p>
            <a:pPr marL="0" marR="0" lvl="0" indent="0" algn="l" defTabSz="914400" rtl="0" eaLnBrk="0" latinLnBrk="0" hangingPunct="0">
              <a:lnSpc>
                <a:spcPct val="125000"/>
              </a:lnSpc>
              <a:spcBef>
                <a:spcPts val="0"/>
              </a:spcBef>
              <a:spcAft>
                <a:spcPct val="0"/>
              </a:spcAft>
              <a:buClrTx/>
              <a:buSzTx/>
              <a:buFontTx/>
              <a:buNone/>
              <a:defRPr/>
            </a:pPr>
            <a:r>
              <a:rPr kumimoji="0" lang="en-US" altLang="zh-CN" sz="24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a:t>
            </a:r>
            <a:r>
              <a:rPr kumimoji="0" lang="en-US" altLang="zh-CN" sz="2400"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CREATE PROCEDURE pro3(</a:t>
            </a:r>
            <a:r>
              <a:rPr kumimoji="0" lang="en-US" altLang="zh-CN" sz="2400" i="0" u="none" strike="noStrike" cap="none" spc="0" normalizeH="0" baseline="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pn char(8), OUT total int</a:t>
            </a:r>
            <a:r>
              <a:rPr kumimoji="0" lang="en-US" altLang="zh-CN" sz="2400"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a:t>
            </a:r>
            <a:endParaRPr kumimoji="0" lang="en-US" altLang="zh-CN" sz="24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algn="l" defTabSz="914400" rtl="0" eaLnBrk="0" latinLnBrk="0" hangingPunct="0">
              <a:lnSpc>
                <a:spcPct val="125000"/>
              </a:lnSpc>
              <a:spcBef>
                <a:spcPts val="0"/>
              </a:spcBef>
              <a:spcAft>
                <a:spcPct val="0"/>
              </a:spcAft>
              <a:buClrTx/>
              <a:buSzTx/>
              <a:buFontTx/>
              <a:buNone/>
              <a:defRPr/>
            </a:pPr>
            <a:r>
              <a:rPr kumimoji="0" lang="en-US" altLang="zh-CN" sz="24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BEGIN</a:t>
            </a:r>
          </a:p>
          <a:p>
            <a:pPr marL="0" marR="0" lvl="0" indent="0" algn="l" defTabSz="914400" rtl="0" eaLnBrk="0" latinLnBrk="0" hangingPunct="0">
              <a:lnSpc>
                <a:spcPct val="125000"/>
              </a:lnSpc>
              <a:spcBef>
                <a:spcPts val="0"/>
              </a:spcBef>
              <a:spcAft>
                <a:spcPct val="0"/>
              </a:spcAft>
              <a:buClrTx/>
              <a:buSzTx/>
              <a:buFontTx/>
              <a:buNone/>
              <a:defRPr/>
            </a:pPr>
            <a:r>
              <a:rPr kumimoji="0" lang="en-US" altLang="zh-CN" sz="24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SELECT sum(amount) </a:t>
            </a:r>
            <a:r>
              <a:rPr kumimoji="0" lang="en-US" altLang="zh-CN" sz="2400" i="0" u="none" strike="noStrike" cap="none" spc="0" normalizeH="0" baseline="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 </a:t>
            </a:r>
          </a:p>
          <a:p>
            <a:pPr marL="0" marR="0" lvl="0" indent="0" algn="l" defTabSz="914400" rtl="0" eaLnBrk="0" latinLnBrk="0" hangingPunct="0">
              <a:lnSpc>
                <a:spcPct val="125000"/>
              </a:lnSpc>
              <a:spcBef>
                <a:spcPts val="0"/>
              </a:spcBef>
              <a:spcAft>
                <a:spcPct val="0"/>
              </a:spcAft>
              <a:buClrTx/>
              <a:buSzTx/>
              <a:buFontTx/>
              <a:buNone/>
              <a:defRPr/>
            </a:pPr>
            <a:r>
              <a:rPr kumimoji="0" lang="en-US" altLang="zh-CN" sz="24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FROM out_stock </a:t>
            </a:r>
          </a:p>
          <a:p>
            <a:pPr marL="0" marR="0" lvl="0" indent="0" algn="l" defTabSz="914400" rtl="0" eaLnBrk="0" latinLnBrk="0" hangingPunct="0">
              <a:lnSpc>
                <a:spcPct val="125000"/>
              </a:lnSpc>
              <a:spcBef>
                <a:spcPts val="0"/>
              </a:spcBef>
              <a:spcAft>
                <a:spcPct val="0"/>
              </a:spcAft>
              <a:buClrTx/>
              <a:buSzTx/>
              <a:buFontTx/>
              <a:buNone/>
              <a:defRPr/>
            </a:pPr>
            <a:r>
              <a:rPr kumimoji="0" lang="en-US" altLang="zh-CN" sz="24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WHERE prj_num=        ;</a:t>
            </a:r>
          </a:p>
          <a:p>
            <a:pPr marL="0" marR="0" lvl="0" indent="0" algn="l" defTabSz="914400" rtl="0" eaLnBrk="0" latinLnBrk="0" hangingPunct="0">
              <a:lnSpc>
                <a:spcPct val="125000"/>
              </a:lnSpc>
              <a:spcBef>
                <a:spcPts val="0"/>
              </a:spcBef>
              <a:spcAft>
                <a:spcPct val="0"/>
              </a:spcAft>
              <a:buClrTx/>
              <a:buSzTx/>
              <a:buFontTx/>
              <a:buNone/>
              <a:defRPr/>
            </a:pPr>
            <a:r>
              <a:rPr kumimoji="0" lang="en-US" altLang="zh-CN" sz="24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END</a:t>
            </a:r>
          </a:p>
        </p:txBody>
      </p:sp>
      <p:sp>
        <p:nvSpPr>
          <p:cNvPr id="3" name="矩形 2"/>
          <p:cNvSpPr/>
          <p:nvPr/>
        </p:nvSpPr>
        <p:spPr>
          <a:xfrm>
            <a:off x="3519170" y="4869498"/>
            <a:ext cx="655955" cy="553085"/>
          </a:xfrm>
          <a:prstGeom prst="rect">
            <a:avLst/>
          </a:prstGeom>
          <a:noFill/>
          <a:ln w="9525">
            <a:noFill/>
          </a:ln>
        </p:spPr>
        <p:txBody>
          <a:bodyPr wrap="none">
            <a:spAutoFit/>
          </a:bodyPr>
          <a:lstStyle/>
          <a:p>
            <a:pPr indent="0" latinLnBrk="0">
              <a:lnSpc>
                <a:spcPct val="125000"/>
              </a:lnSpc>
              <a:spcBef>
                <a:spcPts val="0"/>
              </a:spcBef>
              <a:buNone/>
            </a:pPr>
            <a:r>
              <a:rPr lang="en-US" altLang="zh-CN" sz="2400" dirty="0">
                <a:solidFill>
                  <a:srgbClr val="0000FF"/>
                </a:solidFill>
                <a:latin typeface="微软雅黑" panose="020B0503020204020204" pitchFamily="34" charset="-122"/>
                <a:ea typeface="微软雅黑" panose="020B0503020204020204" pitchFamily="34" charset="-122"/>
              </a:rPr>
              <a:t> pn</a:t>
            </a:r>
          </a:p>
        </p:txBody>
      </p:sp>
      <p:sp>
        <p:nvSpPr>
          <p:cNvPr id="5" name="矩形 4"/>
          <p:cNvSpPr/>
          <p:nvPr/>
        </p:nvSpPr>
        <p:spPr>
          <a:xfrm>
            <a:off x="4175125" y="4008120"/>
            <a:ext cx="1725930" cy="553085"/>
          </a:xfrm>
          <a:prstGeom prst="rect">
            <a:avLst/>
          </a:prstGeom>
          <a:noFill/>
          <a:ln w="9525">
            <a:noFill/>
          </a:ln>
        </p:spPr>
        <p:txBody>
          <a:bodyPr wrap="square">
            <a:spAutoFit/>
          </a:bodyPr>
          <a:lstStyle/>
          <a:p>
            <a:pPr indent="0" latinLnBrk="0">
              <a:lnSpc>
                <a:spcPct val="125000"/>
              </a:lnSpc>
              <a:spcBef>
                <a:spcPts val="0"/>
              </a:spcBef>
            </a:pPr>
            <a:r>
              <a:rPr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sym typeface="+mn-ea"/>
              </a:rPr>
              <a:t>into total</a:t>
            </a:r>
            <a:endParaRPr lang="en-US" altLang="zh-CN" sz="2400" dirty="0">
              <a:solidFill>
                <a:srgbClr val="0000FF"/>
              </a:solidFill>
              <a:latin typeface="微软雅黑" panose="020B0503020204020204" pitchFamily="34" charset="-122"/>
              <a:ea typeface="微软雅黑" panose="020B0503020204020204" pitchFamily="34" charset="-122"/>
            </a:endParaRPr>
          </a:p>
        </p:txBody>
      </p:sp>
      <p:sp>
        <p:nvSpPr>
          <p:cNvPr id="8" name="Rectangle 5"/>
          <p:cNvSpPr/>
          <p:nvPr/>
        </p:nvSpPr>
        <p:spPr>
          <a:xfrm>
            <a:off x="6721475" y="4623435"/>
            <a:ext cx="4938395" cy="1593850"/>
          </a:xfrm>
          <a:prstGeom prst="rect">
            <a:avLst/>
          </a:prstGeom>
          <a:solidFill>
            <a:schemeClr val="bg2"/>
          </a:solidFill>
          <a:ln w="9525">
            <a:noFill/>
          </a:ln>
        </p:spPr>
        <p:txBody>
          <a:bodyPr/>
          <a:lstStyle/>
          <a:p>
            <a:pPr marL="342900" indent="-342900" eaLnBrk="1" latinLnBrk="0" hangingPunct="1">
              <a:lnSpc>
                <a:spcPct val="125000"/>
              </a:lnSpc>
              <a:spcBef>
                <a:spcPts val="0"/>
              </a:spcBef>
            </a:pPr>
            <a:r>
              <a:rPr lang="zh-CN" altLang="en-US" sz="2400" i="0" dirty="0">
                <a:latin typeface="微软雅黑" panose="020B0503020204020204" pitchFamily="34" charset="-122"/>
                <a:ea typeface="微软雅黑" panose="020B0503020204020204" pitchFamily="34" charset="-122"/>
                <a:cs typeface="微软雅黑" panose="020B0503020204020204" pitchFamily="34" charset="-122"/>
              </a:rPr>
              <a:t>   执行：</a:t>
            </a:r>
          </a:p>
          <a:p>
            <a:pPr marL="342900" indent="-342900" eaLnBrk="1" latinLnBrk="0" hangingPunct="1">
              <a:lnSpc>
                <a:spcPct val="125000"/>
              </a:lnSpc>
              <a:spcBef>
                <a:spcPts val="0"/>
              </a:spcBef>
            </a:pPr>
            <a:r>
              <a:rPr lang="zh-CN" altLang="en-US" sz="2400" i="0"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400" i="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call pro3('20100015', @total);</a:t>
            </a:r>
          </a:p>
          <a:p>
            <a:pPr marL="342900" indent="-342900" eaLnBrk="1" latinLnBrk="0" hangingPunct="1">
              <a:lnSpc>
                <a:spcPct val="125000"/>
              </a:lnSpc>
              <a:spcBef>
                <a:spcPts val="0"/>
              </a:spcBef>
            </a:pPr>
            <a:r>
              <a:rPr lang="en-US" altLang="zh-CN" sz="2400" i="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   select @total;</a:t>
            </a:r>
          </a:p>
        </p:txBody>
      </p:sp>
      <p:pic>
        <p:nvPicPr>
          <p:cNvPr id="2" name="图片 1"/>
          <p:cNvPicPr>
            <a:picLocks noChangeAspect="1"/>
          </p:cNvPicPr>
          <p:nvPr/>
        </p:nvPicPr>
        <p:blipFill>
          <a:blip r:embed="rId3"/>
          <a:stretch>
            <a:fillRect/>
          </a:stretch>
        </p:blipFill>
        <p:spPr>
          <a:xfrm>
            <a:off x="8755380" y="3016885"/>
            <a:ext cx="2094230" cy="1064895"/>
          </a:xfrm>
          <a:prstGeom prst="rect">
            <a:avLst/>
          </a:prstGeom>
          <a:noFill/>
          <a:ln w="9525">
            <a:noFill/>
          </a:ln>
        </p:spPr>
      </p:pic>
    </p:spTree>
    <p:extLst>
      <p:ext uri="{BB962C8B-B14F-4D97-AF65-F5344CB8AC3E}">
        <p14:creationId xmlns:p14="http://schemas.microsoft.com/office/powerpoint/2010/main" val="194374586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6627">
                                            <p:txEl>
                                              <p:pRg st="0" end="0"/>
                                            </p:txEl>
                                          </p:spTgt>
                                        </p:tgtEl>
                                        <p:attrNameLst>
                                          <p:attrName>style.visibility</p:attrName>
                                        </p:attrNameLst>
                                      </p:cBhvr>
                                      <p:to>
                                        <p:strVal val="visible"/>
                                      </p:to>
                                    </p:set>
                                    <p:animEffect transition="in" filter="blinds(horizontal)">
                                      <p:cBhvr>
                                        <p:cTn id="7" dur="500"/>
                                        <p:tgtEl>
                                          <p:spTgt spid="2662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6627">
                                            <p:txEl>
                                              <p:pRg st="1" end="1"/>
                                            </p:txEl>
                                          </p:spTgt>
                                        </p:tgtEl>
                                        <p:attrNameLst>
                                          <p:attrName>style.visibility</p:attrName>
                                        </p:attrNameLst>
                                      </p:cBhvr>
                                      <p:to>
                                        <p:strVal val="visible"/>
                                      </p:to>
                                    </p:set>
                                    <p:animEffect transition="in" filter="blinds(horizontal)">
                                      <p:cBhvr>
                                        <p:cTn id="12" dur="500"/>
                                        <p:tgtEl>
                                          <p:spTgt spid="26627">
                                            <p:txEl>
                                              <p:pRg st="1" end="1"/>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26627">
                                            <p:txEl>
                                              <p:pRg st="2" end="2"/>
                                            </p:txEl>
                                          </p:spTgt>
                                        </p:tgtEl>
                                        <p:attrNameLst>
                                          <p:attrName>style.visibility</p:attrName>
                                        </p:attrNameLst>
                                      </p:cBhvr>
                                      <p:to>
                                        <p:strVal val="visible"/>
                                      </p:to>
                                    </p:set>
                                    <p:animEffect transition="in" filter="blinds(horizontal)">
                                      <p:cBhvr>
                                        <p:cTn id="15" dur="500"/>
                                        <p:tgtEl>
                                          <p:spTgt spid="26627">
                                            <p:txEl>
                                              <p:pRg st="2" end="2"/>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26627">
                                            <p:txEl>
                                              <p:pRg st="3" end="3"/>
                                            </p:txEl>
                                          </p:spTgt>
                                        </p:tgtEl>
                                        <p:attrNameLst>
                                          <p:attrName>style.visibility</p:attrName>
                                        </p:attrNameLst>
                                      </p:cBhvr>
                                      <p:to>
                                        <p:strVal val="visible"/>
                                      </p:to>
                                    </p:set>
                                    <p:animEffect transition="in" filter="blinds(horizontal)">
                                      <p:cBhvr>
                                        <p:cTn id="18" dur="500"/>
                                        <p:tgtEl>
                                          <p:spTgt spid="26627">
                                            <p:txEl>
                                              <p:pRg st="3" end="3"/>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26627">
                                            <p:txEl>
                                              <p:pRg st="4" end="4"/>
                                            </p:txEl>
                                          </p:spTgt>
                                        </p:tgtEl>
                                        <p:attrNameLst>
                                          <p:attrName>style.visibility</p:attrName>
                                        </p:attrNameLst>
                                      </p:cBhvr>
                                      <p:to>
                                        <p:strVal val="visible"/>
                                      </p:to>
                                    </p:set>
                                    <p:animEffect transition="in" filter="blinds(horizontal)">
                                      <p:cBhvr>
                                        <p:cTn id="21" dur="500"/>
                                        <p:tgtEl>
                                          <p:spTgt spid="26627">
                                            <p:txEl>
                                              <p:pRg st="4" end="4"/>
                                            </p:txEl>
                                          </p:spTgt>
                                        </p:tgtEl>
                                      </p:cBhvr>
                                    </p:animEffect>
                                  </p:childTnLst>
                                </p:cTn>
                              </p:par>
                              <p:par>
                                <p:cTn id="22" presetID="3" presetClass="entr" presetSubtype="10" fill="hold" nodeType="withEffect">
                                  <p:stCondLst>
                                    <p:cond delay="0"/>
                                  </p:stCondLst>
                                  <p:childTnLst>
                                    <p:set>
                                      <p:cBhvr>
                                        <p:cTn id="23" dur="1" fill="hold">
                                          <p:stCondLst>
                                            <p:cond delay="0"/>
                                          </p:stCondLst>
                                        </p:cTn>
                                        <p:tgtEl>
                                          <p:spTgt spid="26627">
                                            <p:txEl>
                                              <p:pRg st="5" end="5"/>
                                            </p:txEl>
                                          </p:spTgt>
                                        </p:tgtEl>
                                        <p:attrNameLst>
                                          <p:attrName>style.visibility</p:attrName>
                                        </p:attrNameLst>
                                      </p:cBhvr>
                                      <p:to>
                                        <p:strVal val="visible"/>
                                      </p:to>
                                    </p:set>
                                    <p:animEffect transition="in" filter="blinds(horizontal)">
                                      <p:cBhvr>
                                        <p:cTn id="24" dur="500"/>
                                        <p:tgtEl>
                                          <p:spTgt spid="26627">
                                            <p:txEl>
                                              <p:pRg st="5" end="5"/>
                                            </p:txEl>
                                          </p:spTgt>
                                        </p:tgtEl>
                                      </p:cBhvr>
                                    </p:animEffect>
                                  </p:childTnLst>
                                </p:cTn>
                              </p:par>
                              <p:par>
                                <p:cTn id="25" presetID="3" presetClass="entr" presetSubtype="10" fill="hold" nodeType="withEffect">
                                  <p:stCondLst>
                                    <p:cond delay="0"/>
                                  </p:stCondLst>
                                  <p:childTnLst>
                                    <p:set>
                                      <p:cBhvr>
                                        <p:cTn id="26" dur="1" fill="hold">
                                          <p:stCondLst>
                                            <p:cond delay="0"/>
                                          </p:stCondLst>
                                        </p:cTn>
                                        <p:tgtEl>
                                          <p:spTgt spid="26627">
                                            <p:txEl>
                                              <p:pRg st="6" end="6"/>
                                            </p:txEl>
                                          </p:spTgt>
                                        </p:tgtEl>
                                        <p:attrNameLst>
                                          <p:attrName>style.visibility</p:attrName>
                                        </p:attrNameLst>
                                      </p:cBhvr>
                                      <p:to>
                                        <p:strVal val="visible"/>
                                      </p:to>
                                    </p:set>
                                    <p:animEffect transition="in" filter="blinds(horizontal)">
                                      <p:cBhvr>
                                        <p:cTn id="27" dur="500"/>
                                        <p:tgtEl>
                                          <p:spTgt spid="26627">
                                            <p:txEl>
                                              <p:pRg st="6" end="6"/>
                                            </p:txEl>
                                          </p:spTgt>
                                        </p:tgtEl>
                                      </p:cBhvr>
                                    </p:animEffect>
                                  </p:childTnLst>
                                </p:cTn>
                              </p:par>
                              <p:par>
                                <p:cTn id="28" presetID="3" presetClass="entr" presetSubtype="10" fill="hold" nodeType="withEffect">
                                  <p:stCondLst>
                                    <p:cond delay="0"/>
                                  </p:stCondLst>
                                  <p:childTnLst>
                                    <p:set>
                                      <p:cBhvr>
                                        <p:cTn id="29" dur="1" fill="hold">
                                          <p:stCondLst>
                                            <p:cond delay="0"/>
                                          </p:stCondLst>
                                        </p:cTn>
                                        <p:tgtEl>
                                          <p:spTgt spid="26627">
                                            <p:txEl>
                                              <p:pRg st="7" end="7"/>
                                            </p:txEl>
                                          </p:spTgt>
                                        </p:tgtEl>
                                        <p:attrNameLst>
                                          <p:attrName>style.visibility</p:attrName>
                                        </p:attrNameLst>
                                      </p:cBhvr>
                                      <p:to>
                                        <p:strVal val="visible"/>
                                      </p:to>
                                    </p:set>
                                    <p:animEffect transition="in" filter="blinds(horizontal)">
                                      <p:cBhvr>
                                        <p:cTn id="30" dur="500"/>
                                        <p:tgtEl>
                                          <p:spTgt spid="26627">
                                            <p:txEl>
                                              <p:pRg st="7" end="7"/>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3"/>
                                        </p:tgtEl>
                                        <p:attrNameLst>
                                          <p:attrName>style.visibility</p:attrName>
                                        </p:attrNameLst>
                                      </p:cBhvr>
                                      <p:to>
                                        <p:strVal val="visible"/>
                                      </p:to>
                                    </p:set>
                                    <p:animEffect transition="in" filter="blinds(horizontal)">
                                      <p:cBhvr>
                                        <p:cTn id="35" dur="500"/>
                                        <p:tgtEl>
                                          <p:spTgt spid="3"/>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grpId="0" nodeType="clickEffect">
                                  <p:stCondLst>
                                    <p:cond delay="0"/>
                                  </p:stCondLst>
                                  <p:childTnLst>
                                    <p:set>
                                      <p:cBhvr>
                                        <p:cTn id="39" dur="1" fill="hold">
                                          <p:stCondLst>
                                            <p:cond delay="0"/>
                                          </p:stCondLst>
                                        </p:cTn>
                                        <p:tgtEl>
                                          <p:spTgt spid="5"/>
                                        </p:tgtEl>
                                        <p:attrNameLst>
                                          <p:attrName>style.visibility</p:attrName>
                                        </p:attrNameLst>
                                      </p:cBhvr>
                                      <p:to>
                                        <p:strVal val="visible"/>
                                      </p:to>
                                    </p:set>
                                    <p:animEffect transition="in" filter="blinds(horizontal)">
                                      <p:cBhvr>
                                        <p:cTn id="40" dur="500"/>
                                        <p:tgtEl>
                                          <p:spTgt spid="5"/>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grpId="0" nodeType="clickEffect">
                                  <p:stCondLst>
                                    <p:cond delay="0"/>
                                  </p:stCondLst>
                                  <p:childTnLst>
                                    <p:set>
                                      <p:cBhvr>
                                        <p:cTn id="44" dur="1" fill="hold">
                                          <p:stCondLst>
                                            <p:cond delay="0"/>
                                          </p:stCondLst>
                                        </p:cTn>
                                        <p:tgtEl>
                                          <p:spTgt spid="8"/>
                                        </p:tgtEl>
                                        <p:attrNameLst>
                                          <p:attrName>style.visibility</p:attrName>
                                        </p:attrNameLst>
                                      </p:cBhvr>
                                      <p:to>
                                        <p:strVal val="visible"/>
                                      </p:to>
                                    </p:set>
                                    <p:animEffect transition="in" filter="blinds(horizontal)">
                                      <p:cBhvr>
                                        <p:cTn id="45" dur="500"/>
                                        <p:tgtEl>
                                          <p:spTgt spid="8"/>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nodeType="clickEffect">
                                  <p:stCondLst>
                                    <p:cond delay="0"/>
                                  </p:stCondLst>
                                  <p:childTnLst>
                                    <p:set>
                                      <p:cBhvr>
                                        <p:cTn id="49" dur="1" fill="hold">
                                          <p:stCondLst>
                                            <p:cond delay="0"/>
                                          </p:stCondLst>
                                        </p:cTn>
                                        <p:tgtEl>
                                          <p:spTgt spid="2"/>
                                        </p:tgtEl>
                                        <p:attrNameLst>
                                          <p:attrName>style.visibility</p:attrName>
                                        </p:attrNameLst>
                                      </p:cBhvr>
                                      <p:to>
                                        <p:strVal val="visible"/>
                                      </p:to>
                                    </p:set>
                                    <p:animEffect transition="in" filter="blinds(horizontal)">
                                      <p:cBhvr>
                                        <p:cTn id="5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P spid="5" grpId="0"/>
      <p:bldP spid="5" grpId="1"/>
      <p:bldP spid="8" grpId="0" bldLvl="0" animBg="1"/>
      <p:bldP spid="8" grpId="1"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4" name="文本框 94"/>
          <p:cNvSpPr txBox="1">
            <a:spLocks noChangeArrowheads="1"/>
          </p:cNvSpPr>
          <p:nvPr/>
        </p:nvSpPr>
        <p:spPr bwMode="auto">
          <a:xfrm>
            <a:off x="245870" y="65515"/>
            <a:ext cx="5053997"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4.2 </a:t>
            </a:r>
            <a:r>
              <a:rPr lang="zh-CN" altLang="en-US" sz="2800" b="1" dirty="0">
                <a:solidFill>
                  <a:schemeClr val="bg1"/>
                </a:solidFill>
                <a:latin typeface="微软雅黑" panose="020B0503020204020204" pitchFamily="34" charset="-122"/>
                <a:ea typeface="微软雅黑" panose="020B0503020204020204" pitchFamily="34" charset="-122"/>
              </a:rPr>
              <a:t>存储过程</a:t>
            </a:r>
          </a:p>
        </p:txBody>
      </p:sp>
      <p:sp>
        <p:nvSpPr>
          <p:cNvPr id="12" name="文本框 94"/>
          <p:cNvSpPr txBox="1">
            <a:spLocks noChangeArrowheads="1"/>
          </p:cNvSpPr>
          <p:nvPr/>
        </p:nvSpPr>
        <p:spPr bwMode="auto">
          <a:xfrm>
            <a:off x="4737459" y="75566"/>
            <a:ext cx="790877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4.2.2 </a:t>
            </a:r>
            <a:r>
              <a:rPr lang="zh-CN" altLang="en-US" sz="2800" b="1" dirty="0">
                <a:solidFill>
                  <a:schemeClr val="bg1"/>
                </a:solidFill>
                <a:latin typeface="微软雅黑" panose="020B0503020204020204" pitchFamily="34" charset="-122"/>
                <a:ea typeface="微软雅黑" panose="020B0503020204020204" pitchFamily="34" charset="-122"/>
              </a:rPr>
              <a:t>创建和管理MySQL存储过程</a:t>
            </a:r>
          </a:p>
        </p:txBody>
      </p:sp>
      <p:cxnSp>
        <p:nvCxnSpPr>
          <p:cNvPr id="13" name="直接连接符 12"/>
          <p:cNvCxnSpPr/>
          <p:nvPr/>
        </p:nvCxnSpPr>
        <p:spPr>
          <a:xfrm rot="5400000">
            <a:off x="40778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8674" name="内容占位符 2"/>
          <p:cNvSpPr>
            <a:spLocks noGrp="1"/>
          </p:cNvSpPr>
          <p:nvPr/>
        </p:nvSpPr>
        <p:spPr bwMode="auto">
          <a:xfrm>
            <a:off x="245745" y="727710"/>
            <a:ext cx="11165840" cy="1059815"/>
          </a:xfrm>
          <a:prstGeom prst="rect">
            <a:avLst/>
          </a:prstGeom>
          <a:noFill/>
          <a:ln>
            <a:noFill/>
          </a:ln>
          <a:effectLst/>
          <a:scene3d>
            <a:camera prst="orthographicFront"/>
            <a:lightRig rig="balanced" dir="t"/>
          </a:scene3d>
          <a:sp3d prstMaterial="plastic"/>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no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marL="0" marR="0" lvl="0" indent="0" algn="l" defTabSz="914400" rtl="0" latinLnBrk="0">
              <a:lnSpc>
                <a:spcPct val="100000"/>
              </a:lnSpc>
              <a:spcBef>
                <a:spcPts val="0"/>
              </a:spcBef>
              <a:spcAft>
                <a:spcPts val="0"/>
              </a:spcAft>
              <a:buClrTx/>
              <a:buSzTx/>
              <a:buFontTx/>
              <a:buNone/>
              <a:defRPr/>
            </a:pPr>
            <a:r>
              <a:rPr kumimoji="0" lang="zh-CN" altLang="zh-CN" sz="2400" i="0" u="none" strike="noStrike" kern="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sz="2400" i="0" u="none" strike="noStrike" kern="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例</a:t>
            </a:r>
            <a:r>
              <a:rPr kumimoji="0" lang="en-US" altLang="zh-CN" sz="2400" i="0" u="none" strike="noStrike" kern="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4.10</a:t>
            </a:r>
            <a:r>
              <a:rPr kumimoji="0" lang="zh-CN" altLang="zh-CN" sz="2400" i="0" u="none" strike="noStrike" kern="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a:t>
            </a:r>
            <a:r>
              <a:rPr kumimoji="0" lang="zh-CN" altLang="en-US" sz="2400" i="0" u="none" strike="noStrike" kern="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创建一个存储过程，根据</a:t>
            </a:r>
            <a:r>
              <a:rPr kumimoji="0" lang="zh-CN" altLang="en-US" sz="2400" i="0" u="none" strike="noStrike" kern="0" cap="none" spc="0" normalizeH="0" baseline="0" noProof="1">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输入的工程部门及起止时间段</a:t>
            </a:r>
            <a:r>
              <a:rPr kumimoji="0" lang="zh-CN" altLang="en-US" sz="2400" i="0" u="none" strike="noStrike" kern="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，汇总该部门在对应时间段内所</a:t>
            </a:r>
            <a:r>
              <a:rPr kumimoji="0" lang="zh-CN" altLang="en-US" sz="2400" i="0" u="none" strike="noStrike" kern="0" cap="none" spc="0" normalizeH="0" baseline="0" noProof="1">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参与抢修的工程项目总数</a:t>
            </a:r>
            <a:r>
              <a:rPr kumimoji="0" lang="zh-CN" altLang="en-US" sz="2400" i="0" u="none" strike="noStrike" kern="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以及</a:t>
            </a:r>
            <a:r>
              <a:rPr kumimoji="0" lang="zh-CN" altLang="en-US" sz="2400" i="0" u="none" strike="noStrike" kern="0" cap="none" spc="0" normalizeH="0" baseline="0" noProof="1">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领取物资的总成本</a:t>
            </a:r>
            <a:r>
              <a:rPr kumimoji="0" lang="zh-CN" altLang="en-US" sz="2400" i="0" u="none" strike="noStrike" kern="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，并要求</a:t>
            </a:r>
            <a:r>
              <a:rPr kumimoji="0" lang="zh-CN" altLang="en-US" sz="2400" i="0" u="none" strike="noStrike" kern="0" cap="none" spc="0" normalizeH="0" baseline="0" noProof="1">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输出</a:t>
            </a:r>
            <a:r>
              <a:rPr kumimoji="0" lang="zh-CN" altLang="en-US" sz="2400" i="0" u="none" strike="noStrike" kern="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p>
          <a:p>
            <a:pPr marL="0" marR="0" lvl="0" indent="0" algn="l" defTabSz="914400" rtl="0" latinLnBrk="0">
              <a:lnSpc>
                <a:spcPct val="100000"/>
              </a:lnSpc>
              <a:spcBef>
                <a:spcPts val="0"/>
              </a:spcBef>
              <a:spcAft>
                <a:spcPts val="0"/>
              </a:spcAft>
              <a:buClrTx/>
              <a:buSzTx/>
              <a:buFontTx/>
              <a:buNone/>
              <a:defRPr/>
            </a:pPr>
            <a:endParaRPr kumimoji="0" lang="en-US" altLang="zh-CN" sz="2400" i="0" u="none" strike="noStrike" kern="0" cap="none" spc="0" normalizeH="0" baseline="0" noProof="1">
              <a:ln>
                <a:noFill/>
              </a:ln>
              <a:solidFill>
                <a:srgbClr val="0000CC"/>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algn="l" defTabSz="914400" rtl="0" latinLnBrk="0">
              <a:lnSpc>
                <a:spcPct val="100000"/>
              </a:lnSpc>
              <a:spcBef>
                <a:spcPts val="0"/>
              </a:spcBef>
              <a:spcAft>
                <a:spcPts val="0"/>
              </a:spcAft>
              <a:buClrTx/>
              <a:buSzTx/>
              <a:buFontTx/>
              <a:buNone/>
              <a:defRPr/>
            </a:pPr>
            <a:r>
              <a:rPr kumimoji="0" lang="en-US" altLang="zh-CN" sz="2400" i="0" u="none" strike="noStrike" kern="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a:t>
            </a:r>
          </a:p>
        </p:txBody>
      </p:sp>
      <p:sp>
        <p:nvSpPr>
          <p:cNvPr id="10" name="内容占位符 2"/>
          <p:cNvSpPr>
            <a:spLocks noGrp="1"/>
          </p:cNvSpPr>
          <p:nvPr/>
        </p:nvSpPr>
        <p:spPr bwMode="auto">
          <a:xfrm>
            <a:off x="245745" y="1975485"/>
            <a:ext cx="12464415" cy="4194175"/>
          </a:xfrm>
          <a:prstGeom prst="rect">
            <a:avLst/>
          </a:prstGeom>
          <a:noFill/>
          <a:ln>
            <a:noFill/>
          </a:ln>
          <a:effectLst/>
          <a:scene3d>
            <a:camera prst="orthographicFront"/>
            <a:lightRig rig="balanced" dir="t"/>
          </a:scene3d>
          <a:sp3d prstMaterial="plastic"/>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no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marL="0" marR="0" lvl="0" indent="0" algn="l" defTabSz="914400" rtl="0" eaLnBrk="0" latinLnBrk="0" hangingPunct="0">
              <a:lnSpc>
                <a:spcPct val="125000"/>
              </a:lnSpc>
              <a:spcBef>
                <a:spcPts val="0"/>
              </a:spcBef>
              <a:spcAft>
                <a:spcPct val="0"/>
              </a:spcAft>
              <a:buClrTx/>
              <a:buSzTx/>
              <a:buFontTx/>
              <a:buNone/>
              <a:defRPr/>
            </a:pPr>
            <a:endParaRPr kumimoji="0" lang="zh-CN" altLang="en-US" sz="2400" i="0" u="none" strike="noStrike" kern="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latinLnBrk="0" hangingPunct="0">
              <a:lnSpc>
                <a:spcPct val="125000"/>
              </a:lnSpc>
              <a:spcBef>
                <a:spcPts val="0"/>
              </a:spcBef>
              <a:spcAft>
                <a:spcPct val="0"/>
              </a:spcAft>
              <a:buClrTx/>
              <a:buSzTx/>
              <a:buFontTx/>
              <a:buNone/>
              <a:defRPr/>
            </a:pPr>
            <a:endParaRPr kumimoji="0" lang="en-US" altLang="zh-CN" sz="2400" i="0" u="none" strike="noStrike" kern="0" cap="none" spc="0" normalizeH="0" baseline="0" noProof="1">
              <a:ln>
                <a:noFill/>
              </a:ln>
              <a:solidFill>
                <a:schemeClr val="tx1"/>
              </a:solidFill>
              <a:effectLst/>
              <a:highlight>
                <a:srgbClr val="FFFF00"/>
              </a:highlight>
              <a:uLnTx/>
              <a:uFillTx/>
              <a:latin typeface="微软雅黑" panose="020B0503020204020204" pitchFamily="34" charset="-122"/>
              <a:ea typeface="微软雅黑" panose="020B0503020204020204" pitchFamily="34" charset="-122"/>
              <a:cs typeface="+mn-cs"/>
            </a:endParaRPr>
          </a:p>
          <a:p>
            <a:pPr marL="0" marR="0" lvl="0" indent="0" algn="l" defTabSz="914400" rtl="0" eaLnBrk="0" latinLnBrk="0" hangingPunct="0">
              <a:lnSpc>
                <a:spcPct val="125000"/>
              </a:lnSpc>
              <a:spcBef>
                <a:spcPts val="0"/>
              </a:spcBef>
              <a:spcAft>
                <a:spcPct val="0"/>
              </a:spcAft>
              <a:buClrTx/>
              <a:buSzTx/>
              <a:buFontTx/>
              <a:buNone/>
              <a:defRPr/>
            </a:pPr>
            <a:r>
              <a:rPr lang="en-US" altLang="zh-CN" sz="2400" kern="0">
                <a:ln>
                  <a:noFill/>
                </a:ln>
                <a:effectLst/>
                <a:uLnTx/>
                <a:uFillTx/>
                <a:latin typeface="微软雅黑" panose="020B0503020204020204" pitchFamily="34" charset="-122"/>
                <a:ea typeface="微软雅黑" panose="020B0503020204020204" pitchFamily="34" charset="-122"/>
                <a:sym typeface="+mn-ea"/>
              </a:rPr>
              <a:t>BEGIN</a:t>
            </a:r>
            <a:endParaRPr kumimoji="0" lang="en-US" altLang="zh-CN" sz="2400" i="0" u="none" strike="noStrike" kern="0" cap="none" spc="0" normalizeH="0" baseline="0">
              <a:ln>
                <a:noFill/>
              </a:ln>
              <a:solidFill>
                <a:schemeClr val="tx1"/>
              </a:solidFill>
              <a:effectLst/>
              <a:uLnTx/>
              <a:uFillTx/>
              <a:latin typeface="微软雅黑" panose="020B0503020204020204" pitchFamily="34" charset="-122"/>
              <a:ea typeface="微软雅黑" panose="020B0503020204020204" pitchFamily="34" charset="-122"/>
            </a:endParaRPr>
          </a:p>
          <a:p>
            <a:pPr marL="0" marR="0" lvl="0" indent="0" algn="l" defTabSz="914400" rtl="0" eaLnBrk="0" latinLnBrk="0" hangingPunct="0">
              <a:lnSpc>
                <a:spcPct val="125000"/>
              </a:lnSpc>
              <a:spcBef>
                <a:spcPts val="0"/>
              </a:spcBef>
              <a:spcAft>
                <a:spcPct val="0"/>
              </a:spcAft>
              <a:buClrTx/>
              <a:buSzTx/>
              <a:buFontTx/>
              <a:buNone/>
              <a:defRPr/>
            </a:pPr>
            <a:r>
              <a:rPr kumimoji="0" lang="en-US" altLang="zh-CN" sz="2400" i="0" u="none" strike="noStrike" kern="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cs typeface="+mn-cs"/>
              </a:rPr>
              <a:t>SELECT  </a:t>
            </a:r>
          </a:p>
          <a:p>
            <a:pPr marL="0" marR="0" lvl="0" indent="0" algn="l" defTabSz="914400" rtl="0" eaLnBrk="0" latinLnBrk="0" hangingPunct="0">
              <a:lnSpc>
                <a:spcPct val="125000"/>
              </a:lnSpc>
              <a:spcBef>
                <a:spcPts val="0"/>
              </a:spcBef>
              <a:spcAft>
                <a:spcPct val="0"/>
              </a:spcAft>
              <a:buClrTx/>
              <a:buSzTx/>
              <a:buFontTx/>
              <a:buNone/>
              <a:defRPr/>
            </a:pPr>
            <a:endParaRPr kumimoji="0" lang="en-US" altLang="zh-CN" sz="2400" i="0" u="none" strike="noStrike" kern="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latinLnBrk="0" hangingPunct="0">
              <a:lnSpc>
                <a:spcPct val="125000"/>
              </a:lnSpc>
              <a:spcBef>
                <a:spcPts val="0"/>
              </a:spcBef>
              <a:spcAft>
                <a:spcPct val="0"/>
              </a:spcAft>
              <a:buClrTx/>
              <a:buSzTx/>
              <a:buFontTx/>
              <a:buNone/>
              <a:defRPr/>
            </a:pPr>
            <a:r>
              <a:rPr kumimoji="0" lang="en-US" altLang="zh-CN" sz="2400" i="0" u="none" strike="noStrike" kern="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cs typeface="+mn-cs"/>
              </a:rPr>
              <a:t>FROM salvaging INNER JOIN out_stock on out_stock.prj_num=salvaging.prj_num  </a:t>
            </a:r>
          </a:p>
          <a:p>
            <a:pPr marL="0" marR="0" lvl="0" indent="0" algn="l" defTabSz="914400" rtl="0" eaLnBrk="0" latinLnBrk="0" hangingPunct="0">
              <a:lnSpc>
                <a:spcPct val="125000"/>
              </a:lnSpc>
              <a:spcBef>
                <a:spcPts val="0"/>
              </a:spcBef>
              <a:spcAft>
                <a:spcPct val="0"/>
              </a:spcAft>
              <a:buClrTx/>
              <a:buSzTx/>
              <a:buFontTx/>
              <a:buNone/>
              <a:defRPr/>
            </a:pPr>
            <a:r>
              <a:rPr kumimoji="0" lang="en-US" altLang="zh-CN" sz="2400" i="0" u="none" strike="noStrike" kern="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cs typeface="+mn-cs"/>
              </a:rPr>
              <a:t>     INNER JOIN stock on  out_stock.mat_num =Stock.mat_num </a:t>
            </a:r>
          </a:p>
          <a:p>
            <a:pPr marL="0" marR="0" lvl="0" indent="0" algn="l" defTabSz="914400" rtl="0" eaLnBrk="0" latinLnBrk="0" hangingPunct="0">
              <a:lnSpc>
                <a:spcPct val="125000"/>
              </a:lnSpc>
              <a:spcBef>
                <a:spcPts val="0"/>
              </a:spcBef>
              <a:spcAft>
                <a:spcPct val="0"/>
              </a:spcAft>
              <a:buClrTx/>
              <a:buSzTx/>
              <a:buFontTx/>
              <a:buNone/>
              <a:defRPr/>
            </a:pPr>
            <a:r>
              <a:rPr kumimoji="0" lang="en-US" altLang="zh-CN" sz="2400" i="0" u="none" strike="noStrike" kern="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cs typeface="+mn-cs"/>
              </a:rPr>
              <a:t>WHERE department =</a:t>
            </a:r>
          </a:p>
          <a:p>
            <a:pPr marL="0" marR="0" lvl="0" indent="0" algn="l" defTabSz="914400" rtl="0" eaLnBrk="0" latinLnBrk="0" hangingPunct="0">
              <a:lnSpc>
                <a:spcPct val="125000"/>
              </a:lnSpc>
              <a:spcBef>
                <a:spcPts val="0"/>
              </a:spcBef>
              <a:spcAft>
                <a:spcPct val="0"/>
              </a:spcAft>
              <a:buClrTx/>
              <a:buSzTx/>
              <a:buFontTx/>
              <a:buNone/>
              <a:defRPr/>
            </a:pPr>
            <a:r>
              <a:rPr kumimoji="0" lang="en-US" altLang="zh-CN" sz="2400" i="0" u="none" strike="noStrike" kern="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cs typeface="+mn-cs"/>
              </a:rPr>
              <a:t>      and get_date between                      and                      ;</a:t>
            </a:r>
          </a:p>
          <a:p>
            <a:pPr marL="0" marR="0" lvl="0" indent="0" algn="l" defTabSz="914400" rtl="0" eaLnBrk="0" latinLnBrk="0" hangingPunct="0">
              <a:lnSpc>
                <a:spcPct val="125000"/>
              </a:lnSpc>
              <a:spcBef>
                <a:spcPts val="0"/>
              </a:spcBef>
              <a:spcAft>
                <a:spcPct val="0"/>
              </a:spcAft>
              <a:buClrTx/>
              <a:buSzTx/>
              <a:buFontTx/>
              <a:buNone/>
              <a:defRPr/>
            </a:pPr>
            <a:r>
              <a:rPr kumimoji="0" lang="en-US" altLang="zh-CN" sz="2400" i="0" u="none" strike="noStrike" kern="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cs typeface="+mn-cs"/>
              </a:rPr>
              <a:t>END	</a:t>
            </a:r>
          </a:p>
        </p:txBody>
      </p:sp>
      <p:sp>
        <p:nvSpPr>
          <p:cNvPr id="37891" name="矩形 1"/>
          <p:cNvSpPr/>
          <p:nvPr/>
        </p:nvSpPr>
        <p:spPr>
          <a:xfrm>
            <a:off x="1453515" y="3351530"/>
            <a:ext cx="9570720" cy="553085"/>
          </a:xfrm>
          <a:prstGeom prst="rect">
            <a:avLst/>
          </a:prstGeom>
          <a:noFill/>
          <a:ln w="9525">
            <a:noFill/>
          </a:ln>
        </p:spPr>
        <p:txBody>
          <a:bodyPr wrap="square">
            <a:spAutoFit/>
          </a:bodyPr>
          <a:lstStyle/>
          <a:p>
            <a:pPr latinLnBrk="0">
              <a:lnSpc>
                <a:spcPct val="125000"/>
              </a:lnSpc>
              <a:spcBef>
                <a:spcPts val="0"/>
              </a:spcBef>
            </a:pPr>
            <a:r>
              <a:rPr lang="en-US" altLang="zh-CN" sz="2400" kern="0">
                <a:ln>
                  <a:noFill/>
                </a:ln>
                <a:solidFill>
                  <a:srgbClr val="FF0000"/>
                </a:solidFill>
                <a:effectLst/>
                <a:uLnTx/>
                <a:uFillTx/>
                <a:latin typeface="微软雅黑" panose="020B0503020204020204" pitchFamily="34" charset="-122"/>
                <a:ea typeface="微软雅黑" panose="020B0503020204020204" pitchFamily="34" charset="-122"/>
                <a:sym typeface="+mn-ea"/>
              </a:rPr>
              <a:t>COUNT(distinct salvaging.prj_num),sum(out_stock.amount*unit)</a:t>
            </a:r>
            <a:r>
              <a:rPr lang="en-US" altLang="zh-CN" sz="2400" dirty="0">
                <a:solidFill>
                  <a:srgbClr val="FF0000"/>
                </a:solidFill>
                <a:latin typeface="微软雅黑" panose="020B0503020204020204" pitchFamily="34" charset="-122"/>
                <a:ea typeface="微软雅黑" panose="020B0503020204020204" pitchFamily="34" charset="-122"/>
              </a:rPr>
              <a:t>   </a:t>
            </a:r>
          </a:p>
        </p:txBody>
      </p:sp>
      <p:sp>
        <p:nvSpPr>
          <p:cNvPr id="16" name="矩形 15"/>
          <p:cNvSpPr/>
          <p:nvPr/>
        </p:nvSpPr>
        <p:spPr>
          <a:xfrm>
            <a:off x="3577273" y="5199698"/>
            <a:ext cx="1238250" cy="553085"/>
          </a:xfrm>
          <a:prstGeom prst="rect">
            <a:avLst/>
          </a:prstGeom>
          <a:noFill/>
          <a:ln w="9525">
            <a:noFill/>
          </a:ln>
        </p:spPr>
        <p:txBody>
          <a:bodyPr wrap="none">
            <a:spAutoFit/>
          </a:bodyPr>
          <a:lstStyle/>
          <a:p>
            <a:pPr latinLnBrk="0">
              <a:lnSpc>
                <a:spcPct val="125000"/>
              </a:lnSpc>
              <a:spcBef>
                <a:spcPts val="0"/>
              </a:spcBef>
            </a:pPr>
            <a:r>
              <a:rPr lang="en-US" altLang="zh-CN" sz="2400" i="0" dirty="0">
                <a:solidFill>
                  <a:srgbClr val="0000FF"/>
                </a:solidFill>
                <a:latin typeface="微软雅黑" panose="020B0503020204020204" pitchFamily="34" charset="-122"/>
                <a:ea typeface="微软雅黑" panose="020B0503020204020204" pitchFamily="34" charset="-122"/>
              </a:rPr>
              <a:t>depart </a:t>
            </a:r>
          </a:p>
        </p:txBody>
      </p:sp>
      <p:sp>
        <p:nvSpPr>
          <p:cNvPr id="11" name="矩形 10"/>
          <p:cNvSpPr/>
          <p:nvPr/>
        </p:nvSpPr>
        <p:spPr>
          <a:xfrm>
            <a:off x="245745" y="1499235"/>
            <a:ext cx="11530330" cy="1476375"/>
          </a:xfrm>
          <a:prstGeom prst="rect">
            <a:avLst/>
          </a:prstGeom>
          <a:noFill/>
          <a:ln w="9525">
            <a:noFill/>
          </a:ln>
        </p:spPr>
        <p:txBody>
          <a:bodyPr wrap="square">
            <a:spAutoFit/>
          </a:bodyPr>
          <a:lstStyle/>
          <a:p>
            <a:pPr latinLnBrk="0">
              <a:lnSpc>
                <a:spcPct val="125000"/>
              </a:lnSpc>
              <a:spcBef>
                <a:spcPts val="0"/>
              </a:spcBef>
            </a:pPr>
            <a:r>
              <a:rPr lang="en-US" altLang="zh-CN" sz="2400" dirty="0">
                <a:solidFill>
                  <a:srgbClr val="FF0000"/>
                </a:solidFill>
                <a:latin typeface="微软雅黑" panose="020B0503020204020204" pitchFamily="34" charset="-122"/>
                <a:ea typeface="微软雅黑" panose="020B0503020204020204" pitchFamily="34" charset="-122"/>
              </a:rPr>
              <a:t>DELIMITER &amp;&amp;</a:t>
            </a:r>
          </a:p>
          <a:p>
            <a:pPr latinLnBrk="0">
              <a:lnSpc>
                <a:spcPct val="125000"/>
              </a:lnSpc>
              <a:spcBef>
                <a:spcPts val="0"/>
              </a:spcBef>
            </a:pPr>
            <a:r>
              <a:rPr lang="en-US" altLang="zh-CN" sz="2400" dirty="0">
                <a:solidFill>
                  <a:srgbClr val="FF0000"/>
                </a:solidFill>
                <a:latin typeface="微软雅黑" panose="020B0503020204020204" pitchFamily="34" charset="-122"/>
                <a:ea typeface="微软雅黑" panose="020B0503020204020204" pitchFamily="34" charset="-122"/>
              </a:rPr>
              <a:t>CREATE PROCEDURE pro4(</a:t>
            </a:r>
            <a:r>
              <a:rPr lang="en-US" altLang="zh-CN" sz="2400" dirty="0">
                <a:solidFill>
                  <a:srgbClr val="0000FF"/>
                </a:solidFill>
                <a:latin typeface="微软雅黑" panose="020B0503020204020204" pitchFamily="34" charset="-122"/>
                <a:ea typeface="微软雅黑" panose="020B0503020204020204" pitchFamily="34" charset="-122"/>
              </a:rPr>
              <a:t>INOUT depart varchar(50),start_date datetime, end_date datetime, OUT count_prj int ,out sum_cost decimal(18,2)</a:t>
            </a:r>
            <a:r>
              <a:rPr lang="en-US" altLang="zh-CN" sz="2400" dirty="0">
                <a:solidFill>
                  <a:srgbClr val="FF0000"/>
                </a:solidFill>
                <a:latin typeface="微软雅黑" panose="020B0503020204020204" pitchFamily="34" charset="-122"/>
                <a:ea typeface="微软雅黑" panose="020B0503020204020204" pitchFamily="34" charset="-122"/>
              </a:rPr>
              <a:t>)</a:t>
            </a:r>
          </a:p>
        </p:txBody>
      </p:sp>
      <p:sp>
        <p:nvSpPr>
          <p:cNvPr id="15" name="矩形 14"/>
          <p:cNvSpPr/>
          <p:nvPr/>
        </p:nvSpPr>
        <p:spPr>
          <a:xfrm>
            <a:off x="1303020" y="3830638"/>
            <a:ext cx="3909060" cy="553085"/>
          </a:xfrm>
          <a:prstGeom prst="rect">
            <a:avLst/>
          </a:prstGeom>
          <a:noFill/>
          <a:ln w="9525">
            <a:noFill/>
          </a:ln>
        </p:spPr>
        <p:txBody>
          <a:bodyPr wrap="none">
            <a:spAutoFit/>
          </a:bodyPr>
          <a:lstStyle/>
          <a:p>
            <a:pPr algn="l" latinLnBrk="0">
              <a:lnSpc>
                <a:spcPct val="125000"/>
              </a:lnSpc>
              <a:spcBef>
                <a:spcPts val="0"/>
              </a:spcBef>
            </a:pPr>
            <a:r>
              <a:rPr lang="en-US" altLang="zh-CN" sz="2400" dirty="0">
                <a:solidFill>
                  <a:srgbClr val="0000FF"/>
                </a:solidFill>
                <a:latin typeface="微软雅黑" panose="020B0503020204020204" pitchFamily="34" charset="-122"/>
                <a:ea typeface="微软雅黑" panose="020B0503020204020204" pitchFamily="34" charset="-122"/>
                <a:sym typeface="+mn-ea"/>
              </a:rPr>
              <a:t> into count_prj,sum_cost </a:t>
            </a:r>
            <a:r>
              <a:rPr lang="en-US" altLang="zh-CN" sz="2400" dirty="0">
                <a:solidFill>
                  <a:srgbClr val="FF0000"/>
                </a:solidFill>
                <a:latin typeface="微软雅黑" panose="020B0503020204020204" pitchFamily="34" charset="-122"/>
                <a:ea typeface="微软雅黑" panose="020B0503020204020204" pitchFamily="34" charset="-122"/>
              </a:rPr>
              <a:t> </a:t>
            </a:r>
            <a:endParaRPr lang="zh-CN" altLang="en-US" sz="2400" dirty="0">
              <a:solidFill>
                <a:srgbClr val="FF0000"/>
              </a:solidFill>
              <a:latin typeface="Arial" panose="020B0604020202020204" pitchFamily="34" charset="0"/>
              <a:ea typeface="微软雅黑" panose="020B0503020204020204" pitchFamily="34" charset="-122"/>
            </a:endParaRPr>
          </a:p>
        </p:txBody>
      </p:sp>
      <p:sp>
        <p:nvSpPr>
          <p:cNvPr id="17" name="矩形 16"/>
          <p:cNvSpPr/>
          <p:nvPr/>
        </p:nvSpPr>
        <p:spPr>
          <a:xfrm>
            <a:off x="4204335" y="5616575"/>
            <a:ext cx="2051050" cy="553085"/>
          </a:xfrm>
          <a:prstGeom prst="rect">
            <a:avLst/>
          </a:prstGeom>
          <a:noFill/>
          <a:ln w="9525">
            <a:noFill/>
          </a:ln>
        </p:spPr>
        <p:txBody>
          <a:bodyPr wrap="square">
            <a:spAutoFit/>
          </a:bodyPr>
          <a:lstStyle/>
          <a:p>
            <a:pPr latinLnBrk="0">
              <a:lnSpc>
                <a:spcPct val="125000"/>
              </a:lnSpc>
              <a:spcBef>
                <a:spcPts val="0"/>
              </a:spcBef>
            </a:pPr>
            <a:r>
              <a:rPr lang="en-US" altLang="zh-CN" sz="2400" i="0" dirty="0">
                <a:solidFill>
                  <a:srgbClr val="0000FF"/>
                </a:solidFill>
                <a:latin typeface="微软雅黑" panose="020B0503020204020204" pitchFamily="34" charset="-122"/>
                <a:ea typeface="微软雅黑" panose="020B0503020204020204" pitchFamily="34" charset="-122"/>
              </a:rPr>
              <a:t> start_date    </a:t>
            </a:r>
          </a:p>
        </p:txBody>
      </p:sp>
      <p:sp>
        <p:nvSpPr>
          <p:cNvPr id="18" name="矩形 17"/>
          <p:cNvSpPr/>
          <p:nvPr/>
        </p:nvSpPr>
        <p:spPr>
          <a:xfrm>
            <a:off x="6791325" y="5616258"/>
            <a:ext cx="1612265" cy="553085"/>
          </a:xfrm>
          <a:prstGeom prst="rect">
            <a:avLst/>
          </a:prstGeom>
          <a:noFill/>
          <a:ln w="9525">
            <a:noFill/>
          </a:ln>
        </p:spPr>
        <p:txBody>
          <a:bodyPr wrap="none">
            <a:spAutoFit/>
          </a:bodyPr>
          <a:lstStyle/>
          <a:p>
            <a:pPr latinLnBrk="0">
              <a:lnSpc>
                <a:spcPct val="125000"/>
              </a:lnSpc>
              <a:spcBef>
                <a:spcPts val="0"/>
              </a:spcBef>
            </a:pPr>
            <a:r>
              <a:rPr lang="en-US" altLang="zh-CN" sz="2400" i="0" dirty="0">
                <a:solidFill>
                  <a:srgbClr val="0000FF"/>
                </a:solidFill>
                <a:latin typeface="微软雅黑" panose="020B0503020204020204" pitchFamily="34" charset="-122"/>
                <a:ea typeface="微软雅黑" panose="020B0503020204020204" pitchFamily="34" charset="-122"/>
              </a:rPr>
              <a:t>end_date </a:t>
            </a:r>
          </a:p>
        </p:txBody>
      </p:sp>
    </p:spTree>
    <p:extLst>
      <p:ext uri="{BB962C8B-B14F-4D97-AF65-F5344CB8AC3E}">
        <p14:creationId xmlns:p14="http://schemas.microsoft.com/office/powerpoint/2010/main" val="83578211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28674">
                                            <p:txEl>
                                              <p:pRg st="2" end="2"/>
                                            </p:txEl>
                                          </p:spTgt>
                                        </p:tgtEl>
                                        <p:attrNameLst>
                                          <p:attrName>style.visibility</p:attrName>
                                        </p:attrNameLst>
                                      </p:cBhvr>
                                      <p:to>
                                        <p:strVal val="visible"/>
                                      </p:to>
                                    </p:set>
                                    <p:animEffect transition="in" filter="wipe(down)">
                                      <p:cBhvr>
                                        <p:cTn id="7" dur="500"/>
                                        <p:tgtEl>
                                          <p:spTgt spid="28674">
                                            <p:txEl>
                                              <p:pRg st="2" end="2"/>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11">
                                            <p:txEl>
                                              <p:pRg st="1" end="1"/>
                                            </p:txEl>
                                          </p:spTgt>
                                        </p:tgtEl>
                                        <p:attrNameLst>
                                          <p:attrName>style.visibility</p:attrName>
                                        </p:attrNameLst>
                                      </p:cBhvr>
                                      <p:to>
                                        <p:strVal val="visible"/>
                                      </p:to>
                                    </p:set>
                                    <p:animEffect transition="in" filter="blinds(horizontal)">
                                      <p:cBhvr>
                                        <p:cTn id="10" dur="500"/>
                                        <p:tgtEl>
                                          <p:spTgt spid="11">
                                            <p:txEl>
                                              <p:pRg st="1" end="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11">
                                            <p:txEl>
                                              <p:pRg st="0" end="0"/>
                                            </p:txEl>
                                          </p:spTgt>
                                        </p:tgtEl>
                                        <p:attrNameLst>
                                          <p:attrName>style.visibility</p:attrName>
                                        </p:attrNameLst>
                                      </p:cBhvr>
                                      <p:to>
                                        <p:strVal val="visible"/>
                                      </p:to>
                                    </p:set>
                                    <p:animEffect transition="in" filter="blinds(horizontal)">
                                      <p:cBhvr>
                                        <p:cTn id="13" dur="500"/>
                                        <p:tgtEl>
                                          <p:spTgt spid="11">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10">
                                            <p:txEl>
                                              <p:pRg st="2" end="2"/>
                                            </p:txEl>
                                          </p:spTgt>
                                        </p:tgtEl>
                                        <p:attrNameLst>
                                          <p:attrName>style.visibility</p:attrName>
                                        </p:attrNameLst>
                                      </p:cBhvr>
                                      <p:to>
                                        <p:strVal val="visible"/>
                                      </p:to>
                                    </p:set>
                                    <p:animEffect transition="in" filter="blinds(horizontal)">
                                      <p:cBhvr>
                                        <p:cTn id="18" dur="500"/>
                                        <p:tgtEl>
                                          <p:spTgt spid="10">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10">
                                            <p:txEl>
                                              <p:pRg st="3" end="3"/>
                                            </p:txEl>
                                          </p:spTgt>
                                        </p:tgtEl>
                                        <p:attrNameLst>
                                          <p:attrName>style.visibility</p:attrName>
                                        </p:attrNameLst>
                                      </p:cBhvr>
                                      <p:to>
                                        <p:strVal val="visible"/>
                                      </p:to>
                                    </p:set>
                                    <p:animEffect transition="in" filter="blinds(horizontal)">
                                      <p:cBhvr>
                                        <p:cTn id="23" dur="500"/>
                                        <p:tgtEl>
                                          <p:spTgt spid="10">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nodeType="clickEffect">
                                  <p:stCondLst>
                                    <p:cond delay="0"/>
                                  </p:stCondLst>
                                  <p:childTnLst>
                                    <p:set>
                                      <p:cBhvr>
                                        <p:cTn id="27" dur="1" fill="hold">
                                          <p:stCondLst>
                                            <p:cond delay="0"/>
                                          </p:stCondLst>
                                        </p:cTn>
                                        <p:tgtEl>
                                          <p:spTgt spid="10">
                                            <p:txEl>
                                              <p:pRg st="5" end="5"/>
                                            </p:txEl>
                                          </p:spTgt>
                                        </p:tgtEl>
                                        <p:attrNameLst>
                                          <p:attrName>style.visibility</p:attrName>
                                        </p:attrNameLst>
                                      </p:cBhvr>
                                      <p:to>
                                        <p:strVal val="visible"/>
                                      </p:to>
                                    </p:set>
                                    <p:animEffect transition="in" filter="blinds(horizontal)">
                                      <p:cBhvr>
                                        <p:cTn id="28" dur="500"/>
                                        <p:tgtEl>
                                          <p:spTgt spid="10">
                                            <p:txEl>
                                              <p:pRg st="5" end="5"/>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nodeType="clickEffect">
                                  <p:stCondLst>
                                    <p:cond delay="0"/>
                                  </p:stCondLst>
                                  <p:childTnLst>
                                    <p:set>
                                      <p:cBhvr>
                                        <p:cTn id="32" dur="1" fill="hold">
                                          <p:stCondLst>
                                            <p:cond delay="0"/>
                                          </p:stCondLst>
                                        </p:cTn>
                                        <p:tgtEl>
                                          <p:spTgt spid="10">
                                            <p:txEl>
                                              <p:pRg st="6" end="6"/>
                                            </p:txEl>
                                          </p:spTgt>
                                        </p:tgtEl>
                                        <p:attrNameLst>
                                          <p:attrName>style.visibility</p:attrName>
                                        </p:attrNameLst>
                                      </p:cBhvr>
                                      <p:to>
                                        <p:strVal val="visible"/>
                                      </p:to>
                                    </p:set>
                                    <p:animEffect transition="in" filter="blinds(horizontal)">
                                      <p:cBhvr>
                                        <p:cTn id="33" dur="500"/>
                                        <p:tgtEl>
                                          <p:spTgt spid="10">
                                            <p:txEl>
                                              <p:pRg st="6" end="6"/>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nodeType="clickEffect">
                                  <p:stCondLst>
                                    <p:cond delay="0"/>
                                  </p:stCondLst>
                                  <p:childTnLst>
                                    <p:set>
                                      <p:cBhvr>
                                        <p:cTn id="37" dur="1" fill="hold">
                                          <p:stCondLst>
                                            <p:cond delay="0"/>
                                          </p:stCondLst>
                                        </p:cTn>
                                        <p:tgtEl>
                                          <p:spTgt spid="10">
                                            <p:txEl>
                                              <p:pRg st="7" end="7"/>
                                            </p:txEl>
                                          </p:spTgt>
                                        </p:tgtEl>
                                        <p:attrNameLst>
                                          <p:attrName>style.visibility</p:attrName>
                                        </p:attrNameLst>
                                      </p:cBhvr>
                                      <p:to>
                                        <p:strVal val="visible"/>
                                      </p:to>
                                    </p:set>
                                    <p:animEffect transition="in" filter="blinds(horizontal)">
                                      <p:cBhvr>
                                        <p:cTn id="38" dur="500"/>
                                        <p:tgtEl>
                                          <p:spTgt spid="10">
                                            <p:txEl>
                                              <p:pRg st="7" end="7"/>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nodeType="clickEffect">
                                  <p:stCondLst>
                                    <p:cond delay="0"/>
                                  </p:stCondLst>
                                  <p:childTnLst>
                                    <p:set>
                                      <p:cBhvr>
                                        <p:cTn id="42" dur="1" fill="hold">
                                          <p:stCondLst>
                                            <p:cond delay="0"/>
                                          </p:stCondLst>
                                        </p:cTn>
                                        <p:tgtEl>
                                          <p:spTgt spid="10">
                                            <p:txEl>
                                              <p:pRg st="8" end="8"/>
                                            </p:txEl>
                                          </p:spTgt>
                                        </p:tgtEl>
                                        <p:attrNameLst>
                                          <p:attrName>style.visibility</p:attrName>
                                        </p:attrNameLst>
                                      </p:cBhvr>
                                      <p:to>
                                        <p:strVal val="visible"/>
                                      </p:to>
                                    </p:set>
                                    <p:animEffect transition="in" filter="blinds(horizontal)">
                                      <p:cBhvr>
                                        <p:cTn id="43" dur="500"/>
                                        <p:tgtEl>
                                          <p:spTgt spid="10">
                                            <p:txEl>
                                              <p:pRg st="8" end="8"/>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grpId="0" nodeType="clickEffect">
                                  <p:stCondLst>
                                    <p:cond delay="0"/>
                                  </p:stCondLst>
                                  <p:childTnLst>
                                    <p:set>
                                      <p:cBhvr>
                                        <p:cTn id="47" dur="1" fill="hold">
                                          <p:stCondLst>
                                            <p:cond delay="0"/>
                                          </p:stCondLst>
                                        </p:cTn>
                                        <p:tgtEl>
                                          <p:spTgt spid="16"/>
                                        </p:tgtEl>
                                        <p:attrNameLst>
                                          <p:attrName>style.visibility</p:attrName>
                                        </p:attrNameLst>
                                      </p:cBhvr>
                                      <p:to>
                                        <p:strVal val="visible"/>
                                      </p:to>
                                    </p:set>
                                    <p:animEffect transition="in" filter="blinds(horizontal)">
                                      <p:cBhvr>
                                        <p:cTn id="48" dur="500"/>
                                        <p:tgtEl>
                                          <p:spTgt spid="16"/>
                                        </p:tgtEl>
                                      </p:cBhvr>
                                    </p:animEffect>
                                  </p:childTnLst>
                                </p:cTn>
                              </p:par>
                              <p:par>
                                <p:cTn id="49" presetID="3" presetClass="entr" presetSubtype="10" fill="hold" grpId="0" nodeType="withEffect">
                                  <p:stCondLst>
                                    <p:cond delay="0"/>
                                  </p:stCondLst>
                                  <p:childTnLst>
                                    <p:set>
                                      <p:cBhvr>
                                        <p:cTn id="50" dur="1" fill="hold">
                                          <p:stCondLst>
                                            <p:cond delay="0"/>
                                          </p:stCondLst>
                                        </p:cTn>
                                        <p:tgtEl>
                                          <p:spTgt spid="17"/>
                                        </p:tgtEl>
                                        <p:attrNameLst>
                                          <p:attrName>style.visibility</p:attrName>
                                        </p:attrNameLst>
                                      </p:cBhvr>
                                      <p:to>
                                        <p:strVal val="visible"/>
                                      </p:to>
                                    </p:set>
                                    <p:animEffect transition="in" filter="blinds(horizontal)">
                                      <p:cBhvr>
                                        <p:cTn id="51" dur="500"/>
                                        <p:tgtEl>
                                          <p:spTgt spid="17"/>
                                        </p:tgtEl>
                                      </p:cBhvr>
                                    </p:animEffect>
                                  </p:childTnLst>
                                </p:cTn>
                              </p:par>
                              <p:par>
                                <p:cTn id="52" presetID="3" presetClass="entr" presetSubtype="10" fill="hold" grpId="0" nodeType="withEffect">
                                  <p:stCondLst>
                                    <p:cond delay="0"/>
                                  </p:stCondLst>
                                  <p:childTnLst>
                                    <p:set>
                                      <p:cBhvr>
                                        <p:cTn id="53" dur="1" fill="hold">
                                          <p:stCondLst>
                                            <p:cond delay="0"/>
                                          </p:stCondLst>
                                        </p:cTn>
                                        <p:tgtEl>
                                          <p:spTgt spid="18"/>
                                        </p:tgtEl>
                                        <p:attrNameLst>
                                          <p:attrName>style.visibility</p:attrName>
                                        </p:attrNameLst>
                                      </p:cBhvr>
                                      <p:to>
                                        <p:strVal val="visible"/>
                                      </p:to>
                                    </p:set>
                                    <p:animEffect transition="in" filter="blinds(horizontal)">
                                      <p:cBhvr>
                                        <p:cTn id="54" dur="500"/>
                                        <p:tgtEl>
                                          <p:spTgt spid="18"/>
                                        </p:tgtEl>
                                      </p:cBhvr>
                                    </p:animEffect>
                                  </p:childTnLst>
                                </p:cTn>
                              </p:par>
                            </p:childTnLst>
                          </p:cTn>
                        </p:par>
                      </p:childTnLst>
                    </p:cTn>
                  </p:par>
                  <p:par>
                    <p:cTn id="55" fill="hold">
                      <p:stCondLst>
                        <p:cond delay="indefinite"/>
                      </p:stCondLst>
                      <p:childTnLst>
                        <p:par>
                          <p:cTn id="56" fill="hold">
                            <p:stCondLst>
                              <p:cond delay="0"/>
                            </p:stCondLst>
                            <p:childTnLst>
                              <p:par>
                                <p:cTn id="57" presetID="3" presetClass="entr" presetSubtype="10" fill="hold" grpId="0" nodeType="clickEffect">
                                  <p:stCondLst>
                                    <p:cond delay="0"/>
                                  </p:stCondLst>
                                  <p:childTnLst>
                                    <p:set>
                                      <p:cBhvr>
                                        <p:cTn id="58" dur="1" fill="hold">
                                          <p:stCondLst>
                                            <p:cond delay="0"/>
                                          </p:stCondLst>
                                        </p:cTn>
                                        <p:tgtEl>
                                          <p:spTgt spid="37891"/>
                                        </p:tgtEl>
                                        <p:attrNameLst>
                                          <p:attrName>style.visibility</p:attrName>
                                        </p:attrNameLst>
                                      </p:cBhvr>
                                      <p:to>
                                        <p:strVal val="visible"/>
                                      </p:to>
                                    </p:set>
                                    <p:animEffect transition="in" filter="blinds(horizontal)">
                                      <p:cBhvr>
                                        <p:cTn id="59" dur="500"/>
                                        <p:tgtEl>
                                          <p:spTgt spid="37891"/>
                                        </p:tgtEl>
                                      </p:cBhvr>
                                    </p:animEffect>
                                  </p:childTnLst>
                                </p:cTn>
                              </p:par>
                            </p:childTnLst>
                          </p:cTn>
                        </p:par>
                      </p:childTnLst>
                    </p:cTn>
                  </p:par>
                  <p:par>
                    <p:cTn id="60" fill="hold">
                      <p:stCondLst>
                        <p:cond delay="indefinite"/>
                      </p:stCondLst>
                      <p:childTnLst>
                        <p:par>
                          <p:cTn id="61" fill="hold">
                            <p:stCondLst>
                              <p:cond delay="0"/>
                            </p:stCondLst>
                            <p:childTnLst>
                              <p:par>
                                <p:cTn id="62" presetID="3" presetClass="entr" presetSubtype="10" fill="hold" grpId="0" nodeType="clickEffect">
                                  <p:stCondLst>
                                    <p:cond delay="0"/>
                                  </p:stCondLst>
                                  <p:childTnLst>
                                    <p:set>
                                      <p:cBhvr>
                                        <p:cTn id="63" dur="1" fill="hold">
                                          <p:stCondLst>
                                            <p:cond delay="0"/>
                                          </p:stCondLst>
                                        </p:cTn>
                                        <p:tgtEl>
                                          <p:spTgt spid="15"/>
                                        </p:tgtEl>
                                        <p:attrNameLst>
                                          <p:attrName>style.visibility</p:attrName>
                                        </p:attrNameLst>
                                      </p:cBhvr>
                                      <p:to>
                                        <p:strVal val="visible"/>
                                      </p:to>
                                    </p:set>
                                    <p:animEffect transition="in" filter="blinds(horizontal)">
                                      <p:cBhvr>
                                        <p:cTn id="64"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1" grpId="0"/>
      <p:bldP spid="37891" grpId="1"/>
      <p:bldP spid="16" grpId="0"/>
      <p:bldP spid="16" grpId="1"/>
      <p:bldP spid="15" grpId="0"/>
      <p:bldP spid="15" grpId="1"/>
      <p:bldP spid="17" grpId="0"/>
      <p:bldP spid="17" grpId="1"/>
      <p:bldP spid="18" grpId="0"/>
      <p:bldP spid="18" grpId="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4" name="文本框 94"/>
          <p:cNvSpPr txBox="1">
            <a:spLocks noChangeArrowheads="1"/>
          </p:cNvSpPr>
          <p:nvPr/>
        </p:nvSpPr>
        <p:spPr bwMode="auto">
          <a:xfrm>
            <a:off x="245870" y="65515"/>
            <a:ext cx="5053997"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4.2 </a:t>
            </a:r>
            <a:r>
              <a:rPr lang="zh-CN" altLang="en-US" sz="2800" b="1" dirty="0">
                <a:solidFill>
                  <a:schemeClr val="bg1"/>
                </a:solidFill>
                <a:latin typeface="微软雅黑" panose="020B0503020204020204" pitchFamily="34" charset="-122"/>
                <a:ea typeface="微软雅黑" panose="020B0503020204020204" pitchFamily="34" charset="-122"/>
              </a:rPr>
              <a:t>存储过程</a:t>
            </a:r>
          </a:p>
        </p:txBody>
      </p:sp>
      <p:sp>
        <p:nvSpPr>
          <p:cNvPr id="12" name="文本框 94"/>
          <p:cNvSpPr txBox="1">
            <a:spLocks noChangeArrowheads="1"/>
          </p:cNvSpPr>
          <p:nvPr/>
        </p:nvSpPr>
        <p:spPr bwMode="auto">
          <a:xfrm>
            <a:off x="4737459" y="75566"/>
            <a:ext cx="790877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4.2.2 </a:t>
            </a:r>
            <a:r>
              <a:rPr lang="zh-CN" altLang="en-US" sz="2800" b="1" dirty="0">
                <a:solidFill>
                  <a:schemeClr val="bg1"/>
                </a:solidFill>
                <a:latin typeface="微软雅黑" panose="020B0503020204020204" pitchFamily="34" charset="-122"/>
                <a:ea typeface="微软雅黑" panose="020B0503020204020204" pitchFamily="34" charset="-122"/>
              </a:rPr>
              <a:t>创建和管理MySQL存储过程</a:t>
            </a:r>
          </a:p>
        </p:txBody>
      </p:sp>
      <p:cxnSp>
        <p:nvCxnSpPr>
          <p:cNvPr id="13" name="直接连接符 12"/>
          <p:cNvCxnSpPr/>
          <p:nvPr/>
        </p:nvCxnSpPr>
        <p:spPr>
          <a:xfrm rot="5400000">
            <a:off x="40778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30722" name="内容占位符 2"/>
          <p:cNvSpPr>
            <a:spLocks noGrp="1"/>
          </p:cNvSpPr>
          <p:nvPr/>
        </p:nvSpPr>
        <p:spPr>
          <a:xfrm>
            <a:off x="873760" y="955675"/>
            <a:ext cx="10161270" cy="2376170"/>
          </a:xfrm>
          <a:prstGeom prst="rect">
            <a:avLst/>
          </a:prstGeom>
          <a:noFill/>
          <a:ln>
            <a:noFill/>
          </a:ln>
        </p:spPr>
        <p:txBody>
          <a:bodyPr lIns="68580" tIns="34290" rIns="68580" bIns="3429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latinLnBrk="0">
              <a:lnSpc>
                <a:spcPct val="125000"/>
              </a:lnSpc>
              <a:spcBef>
                <a:spcPts val="0"/>
              </a:spcBef>
              <a:buNone/>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执行存储过程</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pro4</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的语句如下：</a:t>
            </a:r>
          </a:p>
          <a:p>
            <a:pPr latinLnBrk="0">
              <a:lnSpc>
                <a:spcPct val="125000"/>
              </a:lnSpc>
              <a:spcBef>
                <a:spcPts val="0"/>
              </a:spcBef>
              <a:buNone/>
            </a:pP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latinLnBrk="0">
              <a:lnSpc>
                <a:spcPct val="125000"/>
              </a:lnSpc>
              <a:spcBef>
                <a:spcPts val="0"/>
              </a:spcBef>
              <a:buNone/>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set </a:t>
            </a:r>
            <a:r>
              <a:rPr lang="zh-CN" altLang="en-US"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@depart</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='工程2部';</a:t>
            </a:r>
          </a:p>
          <a:p>
            <a:pPr latinLnBrk="0">
              <a:lnSpc>
                <a:spcPct val="125000"/>
              </a:lnSpc>
              <a:spcBef>
                <a:spcPts val="0"/>
              </a:spcBef>
              <a:buNone/>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call pro4(</a:t>
            </a:r>
            <a:r>
              <a:rPr lang="zh-CN" altLang="en-US"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@depart</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,'2011-1-1','2011-1-31',</a:t>
            </a:r>
            <a:r>
              <a:rPr lang="zh-CN" altLang="en-US"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@prjcounts,@sumcosts</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a:t>
            </a:r>
          </a:p>
          <a:p>
            <a:pPr latinLnBrk="0">
              <a:lnSpc>
                <a:spcPct val="125000"/>
              </a:lnSpc>
              <a:spcBef>
                <a:spcPts val="0"/>
              </a:spcBef>
              <a:buNone/>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select </a:t>
            </a:r>
            <a:r>
              <a:rPr lang="zh-CN" altLang="en-US"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@depart,@prjcounts,@sumcosts</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a:t>
            </a:r>
          </a:p>
          <a:p>
            <a:pPr latinLnBrk="0">
              <a:lnSpc>
                <a:spcPct val="125000"/>
              </a:lnSpc>
              <a:spcBef>
                <a:spcPts val="0"/>
              </a:spcBef>
              <a:buNone/>
            </a:pP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a:p>
            <a:pPr latinLnBrk="0">
              <a:lnSpc>
                <a:spcPct val="125000"/>
              </a:lnSpc>
              <a:spcBef>
                <a:spcPts val="0"/>
              </a:spcBef>
              <a:buNone/>
            </a:pP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latinLnBrk="0">
              <a:lnSpc>
                <a:spcPct val="125000"/>
              </a:lnSpc>
              <a:spcBef>
                <a:spcPts val="0"/>
              </a:spcBef>
              <a:buNone/>
            </a:pPr>
            <a:endParaRPr lang="zh-CN"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latinLnBrk="0">
              <a:lnSpc>
                <a:spcPct val="125000"/>
              </a:lnSpc>
              <a:spcBef>
                <a:spcPts val="0"/>
              </a:spcBef>
              <a:buNone/>
            </a:pPr>
            <a:endParaRPr lang="zh-CN"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a:buNone/>
            </a:pPr>
            <a:endParaRPr lang="zh-CN" altLang="zh-CN" sz="2400" dirty="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2" name="图片 -2147482597"/>
          <p:cNvPicPr>
            <a:picLocks noChangeAspect="1"/>
          </p:cNvPicPr>
          <p:nvPr/>
        </p:nvPicPr>
        <p:blipFill>
          <a:blip r:embed="rId3"/>
          <a:stretch>
            <a:fillRect/>
          </a:stretch>
        </p:blipFill>
        <p:spPr>
          <a:xfrm>
            <a:off x="3739515" y="3928745"/>
            <a:ext cx="4480560" cy="803275"/>
          </a:xfrm>
          <a:prstGeom prst="rect">
            <a:avLst/>
          </a:prstGeom>
          <a:noFill/>
          <a:ln w="9525">
            <a:noFill/>
          </a:ln>
        </p:spPr>
      </p:pic>
    </p:spTree>
    <p:extLst>
      <p:ext uri="{BB962C8B-B14F-4D97-AF65-F5344CB8AC3E}">
        <p14:creationId xmlns:p14="http://schemas.microsoft.com/office/powerpoint/2010/main" val="302446475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4" name="文本框 94"/>
          <p:cNvSpPr txBox="1">
            <a:spLocks noChangeArrowheads="1"/>
          </p:cNvSpPr>
          <p:nvPr/>
        </p:nvSpPr>
        <p:spPr bwMode="auto">
          <a:xfrm>
            <a:off x="245870" y="65515"/>
            <a:ext cx="5053997"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4.2 </a:t>
            </a:r>
            <a:r>
              <a:rPr lang="zh-CN" altLang="en-US" sz="2800" b="1" dirty="0">
                <a:solidFill>
                  <a:schemeClr val="bg1"/>
                </a:solidFill>
                <a:latin typeface="微软雅黑" panose="020B0503020204020204" pitchFamily="34" charset="-122"/>
                <a:ea typeface="微软雅黑" panose="020B0503020204020204" pitchFamily="34" charset="-122"/>
              </a:rPr>
              <a:t>存储过程</a:t>
            </a:r>
          </a:p>
        </p:txBody>
      </p:sp>
      <p:sp>
        <p:nvSpPr>
          <p:cNvPr id="12" name="文本框 94"/>
          <p:cNvSpPr txBox="1">
            <a:spLocks noChangeArrowheads="1"/>
          </p:cNvSpPr>
          <p:nvPr/>
        </p:nvSpPr>
        <p:spPr bwMode="auto">
          <a:xfrm>
            <a:off x="4737459" y="75566"/>
            <a:ext cx="790877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4.2.2 </a:t>
            </a:r>
            <a:r>
              <a:rPr lang="zh-CN" altLang="en-US" sz="2800" b="1" dirty="0">
                <a:solidFill>
                  <a:schemeClr val="bg1"/>
                </a:solidFill>
                <a:latin typeface="微软雅黑" panose="020B0503020204020204" pitchFamily="34" charset="-122"/>
                <a:ea typeface="微软雅黑" panose="020B0503020204020204" pitchFamily="34" charset="-122"/>
              </a:rPr>
              <a:t>创建和管理MySQL存储过程</a:t>
            </a:r>
          </a:p>
        </p:txBody>
      </p:sp>
      <p:cxnSp>
        <p:nvCxnSpPr>
          <p:cNvPr id="13" name="直接连接符 12"/>
          <p:cNvCxnSpPr/>
          <p:nvPr/>
        </p:nvCxnSpPr>
        <p:spPr>
          <a:xfrm rot="5400000">
            <a:off x="40778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39950" name="Rectangle 2"/>
          <p:cNvSpPr/>
          <p:nvPr/>
        </p:nvSpPr>
        <p:spPr>
          <a:xfrm>
            <a:off x="-189230" y="623570"/>
            <a:ext cx="4234815" cy="647700"/>
          </a:xfrm>
          <a:prstGeom prst="rect">
            <a:avLst/>
          </a:prstGeom>
          <a:noFill/>
          <a:ln>
            <a:noFill/>
          </a:ln>
        </p:spPr>
        <p:txBody>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eaLnBrk="1" latinLnBrk="0" hangingPunct="1">
              <a:lnSpc>
                <a:spcPct val="125000"/>
              </a:lnSpc>
            </a:pPr>
            <a:r>
              <a:rPr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5．嵌套调用存储过程</a:t>
            </a:r>
          </a:p>
        </p:txBody>
      </p:sp>
      <p:sp>
        <p:nvSpPr>
          <p:cNvPr id="2" name="矩形 1"/>
          <p:cNvSpPr/>
          <p:nvPr/>
        </p:nvSpPr>
        <p:spPr>
          <a:xfrm>
            <a:off x="245745" y="1111885"/>
            <a:ext cx="11494770" cy="553085"/>
          </a:xfrm>
          <a:prstGeom prst="rect">
            <a:avLst/>
          </a:prstGeom>
          <a:noFill/>
          <a:ln w="9525">
            <a:noFill/>
          </a:ln>
        </p:spPr>
        <p:txBody>
          <a:bodyPr wrap="square">
            <a:spAutoFit/>
          </a:bodyPr>
          <a:lstStyle/>
          <a:p>
            <a:pPr eaLnBrk="1" latinLnBrk="0" hangingPunct="1">
              <a:lnSpc>
                <a:spcPct val="125000"/>
              </a:lnSpc>
            </a:pPr>
            <a:r>
              <a:rPr lang="zh-CN" altLang="zh-CN" sz="2400" i="0" dirty="0">
                <a:latin typeface="微软雅黑" panose="020B0503020204020204" pitchFamily="34" charset="-122"/>
                <a:ea typeface="微软雅黑" panose="020B0503020204020204" pitchFamily="34" charset="-122"/>
                <a:cs typeface="微软雅黑" panose="020B0503020204020204" pitchFamily="34" charset="-122"/>
              </a:rPr>
              <a:t>【例</a:t>
            </a:r>
            <a:r>
              <a:rPr lang="en-US" altLang="zh-CN" sz="2400" i="0" dirty="0">
                <a:latin typeface="微软雅黑" panose="020B0503020204020204" pitchFamily="34" charset="-122"/>
                <a:ea typeface="微软雅黑" panose="020B0503020204020204" pitchFamily="34" charset="-122"/>
                <a:cs typeface="微软雅黑" panose="020B0503020204020204" pitchFamily="34" charset="-122"/>
              </a:rPr>
              <a:t>4.9</a:t>
            </a:r>
            <a:r>
              <a:rPr lang="zh-CN" altLang="zh-CN" sz="2400" i="0" dirty="0">
                <a:latin typeface="微软雅黑" panose="020B0503020204020204" pitchFamily="34" charset="-122"/>
                <a:ea typeface="微软雅黑" panose="020B0503020204020204" pitchFamily="34" charset="-122"/>
                <a:cs typeface="微软雅黑" panose="020B0503020204020204" pitchFamily="34" charset="-122"/>
              </a:rPr>
              <a:t>】 嵌套调用存储过程，查看使用</a:t>
            </a:r>
            <a:r>
              <a:rPr lang="zh-CN" altLang="zh-CN" sz="2400" i="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抢修物资总数最多</a:t>
            </a:r>
            <a:r>
              <a:rPr lang="zh-CN" altLang="zh-CN" sz="2400" i="0" dirty="0">
                <a:latin typeface="微软雅黑" panose="020B0503020204020204" pitchFamily="34" charset="-122"/>
                <a:ea typeface="微软雅黑" panose="020B0503020204020204" pitchFamily="34" charset="-122"/>
                <a:cs typeface="微软雅黑" panose="020B0503020204020204" pitchFamily="34" charset="-122"/>
              </a:rPr>
              <a:t>的工程项目信息。</a:t>
            </a:r>
          </a:p>
        </p:txBody>
      </p:sp>
      <p:sp>
        <p:nvSpPr>
          <p:cNvPr id="6" name="矩形 5"/>
          <p:cNvSpPr/>
          <p:nvPr/>
        </p:nvSpPr>
        <p:spPr>
          <a:xfrm>
            <a:off x="662940" y="1676400"/>
            <a:ext cx="5543550" cy="4707890"/>
          </a:xfrm>
          <a:prstGeom prst="rect">
            <a:avLst/>
          </a:prstGeom>
          <a:noFill/>
          <a:ln w="9525">
            <a:noFill/>
          </a:ln>
        </p:spPr>
        <p:txBody>
          <a:bodyPr>
            <a:spAutoFit/>
          </a:bodyPr>
          <a:lstStyle/>
          <a:p>
            <a:pPr eaLnBrk="1" latinLnBrk="0" hangingPunct="1">
              <a:lnSpc>
                <a:spcPct val="125000"/>
              </a:lnSpc>
            </a:pPr>
            <a:r>
              <a:rPr lang="en-US" altLang="zh-CN" sz="2400" i="0" dirty="0">
                <a:solidFill>
                  <a:schemeClr val="tx1"/>
                </a:solidFill>
                <a:latin typeface="微软雅黑" panose="020B0503020204020204" pitchFamily="34" charset="-122"/>
                <a:ea typeface="微软雅黑" panose="020B0503020204020204" pitchFamily="34" charset="-122"/>
              </a:rPr>
              <a:t>DELIMITER &amp;&amp;</a:t>
            </a:r>
          </a:p>
          <a:p>
            <a:pPr eaLnBrk="1" latinLnBrk="0" hangingPunct="1">
              <a:lnSpc>
                <a:spcPct val="125000"/>
              </a:lnSpc>
            </a:pPr>
            <a:r>
              <a:rPr lang="en-US" altLang="zh-CN" sz="2400" i="0" dirty="0">
                <a:solidFill>
                  <a:srgbClr val="FF0000"/>
                </a:solidFill>
                <a:latin typeface="微软雅黑" panose="020B0503020204020204" pitchFamily="34" charset="-122"/>
                <a:ea typeface="微软雅黑" panose="020B0503020204020204" pitchFamily="34" charset="-122"/>
              </a:rPr>
              <a:t>CREATE PROCEDURE pro5(</a:t>
            </a:r>
            <a:r>
              <a:rPr lang="en-US" altLang="zh-CN" sz="2400" i="0" dirty="0">
                <a:solidFill>
                  <a:srgbClr val="0000FF"/>
                </a:solidFill>
                <a:latin typeface="微软雅黑" panose="020B0503020204020204" pitchFamily="34" charset="-122"/>
                <a:ea typeface="微软雅黑" panose="020B0503020204020204" pitchFamily="34" charset="-122"/>
              </a:rPr>
              <a:t>OUT prj_no char(8)</a:t>
            </a:r>
            <a:r>
              <a:rPr lang="en-US" altLang="zh-CN" sz="2400" i="0" dirty="0">
                <a:solidFill>
                  <a:srgbClr val="FF0000"/>
                </a:solidFill>
                <a:latin typeface="微软雅黑" panose="020B0503020204020204" pitchFamily="34" charset="-122"/>
                <a:ea typeface="微软雅黑" panose="020B0503020204020204" pitchFamily="34" charset="-122"/>
              </a:rPr>
              <a:t>)</a:t>
            </a:r>
          </a:p>
          <a:p>
            <a:pPr eaLnBrk="1" latinLnBrk="0" hangingPunct="1">
              <a:lnSpc>
                <a:spcPct val="125000"/>
              </a:lnSpc>
            </a:pPr>
            <a:r>
              <a:rPr lang="en-US" altLang="zh-CN" sz="2400" i="0" dirty="0">
                <a:solidFill>
                  <a:schemeClr val="tx1"/>
                </a:solidFill>
                <a:latin typeface="微软雅黑" panose="020B0503020204020204" pitchFamily="34" charset="-122"/>
                <a:ea typeface="微软雅黑" panose="020B0503020204020204" pitchFamily="34" charset="-122"/>
              </a:rPr>
              <a:t>BEGIN</a:t>
            </a:r>
          </a:p>
          <a:p>
            <a:pPr eaLnBrk="1" latinLnBrk="0" hangingPunct="1">
              <a:lnSpc>
                <a:spcPct val="125000"/>
              </a:lnSpc>
            </a:pPr>
            <a:r>
              <a:rPr lang="en-US" altLang="zh-CN" sz="2400" i="0" dirty="0">
                <a:solidFill>
                  <a:schemeClr val="tx1"/>
                </a:solidFill>
                <a:latin typeface="微软雅黑" panose="020B0503020204020204" pitchFamily="34" charset="-122"/>
                <a:ea typeface="微软雅黑" panose="020B0503020204020204" pitchFamily="34" charset="-122"/>
              </a:rPr>
              <a:t>  SELECT </a:t>
            </a:r>
            <a:r>
              <a:rPr lang="en-US" altLang="zh-CN" sz="2400" i="0" dirty="0">
                <a:solidFill>
                  <a:srgbClr val="0000FF"/>
                </a:solidFill>
                <a:latin typeface="微软雅黑" panose="020B0503020204020204" pitchFamily="34" charset="-122"/>
                <a:ea typeface="微软雅黑" panose="020B0503020204020204" pitchFamily="34" charset="-122"/>
              </a:rPr>
              <a:t>prj_num into prj_no</a:t>
            </a:r>
            <a:endParaRPr lang="en-US" altLang="zh-CN" sz="2400" i="0" dirty="0">
              <a:solidFill>
                <a:schemeClr val="tx1"/>
              </a:solidFill>
              <a:latin typeface="微软雅黑" panose="020B0503020204020204" pitchFamily="34" charset="-122"/>
              <a:ea typeface="微软雅黑" panose="020B0503020204020204" pitchFamily="34" charset="-122"/>
            </a:endParaRPr>
          </a:p>
          <a:p>
            <a:pPr eaLnBrk="1" latinLnBrk="0" hangingPunct="1">
              <a:lnSpc>
                <a:spcPct val="125000"/>
              </a:lnSpc>
            </a:pPr>
            <a:r>
              <a:rPr lang="en-US" altLang="zh-CN" sz="2400" i="0" dirty="0">
                <a:solidFill>
                  <a:schemeClr val="tx1"/>
                </a:solidFill>
                <a:latin typeface="微软雅黑" panose="020B0503020204020204" pitchFamily="34" charset="-122"/>
                <a:ea typeface="微软雅黑" panose="020B0503020204020204" pitchFamily="34" charset="-122"/>
              </a:rPr>
              <a:t>  FROM out_stock</a:t>
            </a:r>
          </a:p>
          <a:p>
            <a:pPr eaLnBrk="1" latinLnBrk="0" hangingPunct="1">
              <a:lnSpc>
                <a:spcPct val="125000"/>
              </a:lnSpc>
            </a:pPr>
            <a:r>
              <a:rPr lang="en-US" altLang="zh-CN" sz="2400" i="0" dirty="0">
                <a:solidFill>
                  <a:schemeClr val="tx1"/>
                </a:solidFill>
                <a:latin typeface="微软雅黑" panose="020B0503020204020204" pitchFamily="34" charset="-122"/>
                <a:ea typeface="微软雅黑" panose="020B0503020204020204" pitchFamily="34" charset="-122"/>
              </a:rPr>
              <a:t>  GROUP BY prj_num</a:t>
            </a:r>
          </a:p>
          <a:p>
            <a:pPr eaLnBrk="1" latinLnBrk="0" hangingPunct="1">
              <a:lnSpc>
                <a:spcPct val="125000"/>
              </a:lnSpc>
            </a:pPr>
            <a:r>
              <a:rPr lang="en-US" altLang="zh-CN" sz="2400" i="0" dirty="0">
                <a:solidFill>
                  <a:schemeClr val="tx1"/>
                </a:solidFill>
                <a:latin typeface="微软雅黑" panose="020B0503020204020204" pitchFamily="34" charset="-122"/>
                <a:ea typeface="微软雅黑" panose="020B0503020204020204" pitchFamily="34" charset="-122"/>
              </a:rPr>
              <a:t>  ORDER BY SUM(amount) DESC </a:t>
            </a:r>
          </a:p>
          <a:p>
            <a:pPr eaLnBrk="1" latinLnBrk="0" hangingPunct="1">
              <a:lnSpc>
                <a:spcPct val="125000"/>
              </a:lnSpc>
            </a:pPr>
            <a:r>
              <a:rPr lang="en-US" altLang="zh-CN" sz="2400" i="0" dirty="0">
                <a:solidFill>
                  <a:schemeClr val="tx1"/>
                </a:solidFill>
                <a:latin typeface="微软雅黑" panose="020B0503020204020204" pitchFamily="34" charset="-122"/>
                <a:ea typeface="微软雅黑" panose="020B0503020204020204" pitchFamily="34" charset="-122"/>
              </a:rPr>
              <a:t> </a:t>
            </a:r>
            <a:r>
              <a:rPr lang="en-US" altLang="zh-CN" sz="2400" i="0" dirty="0">
                <a:solidFill>
                  <a:srgbClr val="0000FF"/>
                </a:solidFill>
                <a:latin typeface="微软雅黑" panose="020B0503020204020204" pitchFamily="34" charset="-122"/>
                <a:ea typeface="微软雅黑" panose="020B0503020204020204" pitchFamily="34" charset="-122"/>
              </a:rPr>
              <a:t> LIMIT 1</a:t>
            </a:r>
            <a:r>
              <a:rPr lang="en-US" altLang="zh-CN" sz="2400" i="0" dirty="0">
                <a:solidFill>
                  <a:schemeClr val="tx1"/>
                </a:solidFill>
                <a:latin typeface="微软雅黑" panose="020B0503020204020204" pitchFamily="34" charset="-122"/>
                <a:ea typeface="微软雅黑" panose="020B0503020204020204" pitchFamily="34" charset="-122"/>
              </a:rPr>
              <a:t>;</a:t>
            </a:r>
          </a:p>
          <a:p>
            <a:pPr eaLnBrk="1" latinLnBrk="0" hangingPunct="1">
              <a:lnSpc>
                <a:spcPct val="125000"/>
              </a:lnSpc>
            </a:pPr>
            <a:r>
              <a:rPr lang="en-US" altLang="zh-CN" sz="2400" i="0" dirty="0">
                <a:solidFill>
                  <a:schemeClr val="tx1"/>
                </a:solidFill>
                <a:latin typeface="微软雅黑" panose="020B0503020204020204" pitchFamily="34" charset="-122"/>
                <a:ea typeface="微软雅黑" panose="020B0503020204020204" pitchFamily="34" charset="-122"/>
              </a:rPr>
              <a:t>END</a:t>
            </a:r>
          </a:p>
        </p:txBody>
      </p:sp>
      <p:sp>
        <p:nvSpPr>
          <p:cNvPr id="7" name="矩形 6"/>
          <p:cNvSpPr/>
          <p:nvPr/>
        </p:nvSpPr>
        <p:spPr>
          <a:xfrm>
            <a:off x="6826885" y="1676400"/>
            <a:ext cx="4747895" cy="4246245"/>
          </a:xfrm>
          <a:prstGeom prst="rect">
            <a:avLst/>
          </a:prstGeom>
          <a:noFill/>
          <a:ln w="9525">
            <a:noFill/>
          </a:ln>
        </p:spPr>
        <p:txBody>
          <a:bodyPr wrap="square">
            <a:spAutoFit/>
          </a:bodyPr>
          <a:lstStyle/>
          <a:p>
            <a:pPr eaLnBrk="1" latinLnBrk="0" hangingPunct="1">
              <a:lnSpc>
                <a:spcPct val="125000"/>
              </a:lnSpc>
            </a:pPr>
            <a:r>
              <a:rPr lang="en-US" altLang="zh-CN" sz="2400" i="0" dirty="0">
                <a:solidFill>
                  <a:schemeClr val="tx1"/>
                </a:solidFill>
                <a:latin typeface="微软雅黑" panose="020B0503020204020204" pitchFamily="34" charset="-122"/>
                <a:ea typeface="微软雅黑" panose="020B0503020204020204" pitchFamily="34" charset="-122"/>
              </a:rPr>
              <a:t>DELIMITER &amp;&amp;</a:t>
            </a:r>
          </a:p>
          <a:p>
            <a:pPr eaLnBrk="1" latinLnBrk="0" hangingPunct="1">
              <a:lnSpc>
                <a:spcPct val="125000"/>
              </a:lnSpc>
            </a:pPr>
            <a:r>
              <a:rPr lang="en-US" altLang="zh-CN" sz="2400" i="0" dirty="0">
                <a:solidFill>
                  <a:srgbClr val="FF3300"/>
                </a:solidFill>
                <a:latin typeface="微软雅黑" panose="020B0503020204020204" pitchFamily="34" charset="-122"/>
                <a:ea typeface="微软雅黑" panose="020B0503020204020204" pitchFamily="34" charset="-122"/>
              </a:rPr>
              <a:t>CREATE PROCEDURE pro6()</a:t>
            </a:r>
          </a:p>
          <a:p>
            <a:pPr eaLnBrk="1" latinLnBrk="0" hangingPunct="1">
              <a:lnSpc>
                <a:spcPct val="125000"/>
              </a:lnSpc>
            </a:pPr>
            <a:r>
              <a:rPr lang="en-US" altLang="zh-CN" sz="2400" i="0" dirty="0">
                <a:solidFill>
                  <a:schemeClr val="tx1"/>
                </a:solidFill>
                <a:latin typeface="微软雅黑" panose="020B0503020204020204" pitchFamily="34" charset="-122"/>
                <a:ea typeface="微软雅黑" panose="020B0503020204020204" pitchFamily="34" charset="-122"/>
              </a:rPr>
              <a:t>BEGIN</a:t>
            </a:r>
          </a:p>
          <a:p>
            <a:pPr eaLnBrk="1" latinLnBrk="0" hangingPunct="1">
              <a:lnSpc>
                <a:spcPct val="125000"/>
              </a:lnSpc>
            </a:pPr>
            <a:r>
              <a:rPr lang="en-US" altLang="zh-CN" sz="2400" i="0" dirty="0">
                <a:solidFill>
                  <a:schemeClr val="tx1"/>
                </a:solidFill>
                <a:latin typeface="微软雅黑" panose="020B0503020204020204" pitchFamily="34" charset="-122"/>
                <a:ea typeface="微软雅黑" panose="020B0503020204020204" pitchFamily="34" charset="-122"/>
              </a:rPr>
              <a:t> DECLARE prj_id char(8);</a:t>
            </a:r>
          </a:p>
          <a:p>
            <a:pPr eaLnBrk="1" latinLnBrk="0" hangingPunct="1">
              <a:lnSpc>
                <a:spcPct val="125000"/>
              </a:lnSpc>
            </a:pPr>
            <a:r>
              <a:rPr lang="en-US" altLang="zh-CN" sz="2400" i="0" dirty="0">
                <a:solidFill>
                  <a:schemeClr val="tx1"/>
                </a:solidFill>
                <a:latin typeface="微软雅黑" panose="020B0503020204020204" pitchFamily="34" charset="-122"/>
                <a:ea typeface="微软雅黑" panose="020B0503020204020204" pitchFamily="34" charset="-122"/>
              </a:rPr>
              <a:t> </a:t>
            </a:r>
            <a:r>
              <a:rPr lang="en-US" altLang="zh-CN" sz="2400" i="0" dirty="0">
                <a:solidFill>
                  <a:srgbClr val="0000FF"/>
                </a:solidFill>
                <a:latin typeface="微软雅黑" panose="020B0503020204020204" pitchFamily="34" charset="-122"/>
                <a:ea typeface="微软雅黑" panose="020B0503020204020204" pitchFamily="34" charset="-122"/>
              </a:rPr>
              <a:t>call pro5(@prj_id);</a:t>
            </a:r>
            <a:endParaRPr lang="en-US" altLang="zh-CN" sz="2400" i="0" dirty="0">
              <a:solidFill>
                <a:schemeClr val="tx1"/>
              </a:solidFill>
              <a:latin typeface="微软雅黑" panose="020B0503020204020204" pitchFamily="34" charset="-122"/>
              <a:ea typeface="微软雅黑" panose="020B0503020204020204" pitchFamily="34" charset="-122"/>
            </a:endParaRPr>
          </a:p>
          <a:p>
            <a:pPr eaLnBrk="1" latinLnBrk="0" hangingPunct="1">
              <a:lnSpc>
                <a:spcPct val="125000"/>
              </a:lnSpc>
            </a:pPr>
            <a:r>
              <a:rPr lang="en-US" altLang="zh-CN" sz="2400" i="0" dirty="0">
                <a:solidFill>
                  <a:schemeClr val="tx1"/>
                </a:solidFill>
                <a:latin typeface="微软雅黑" panose="020B0503020204020204" pitchFamily="34" charset="-122"/>
                <a:ea typeface="微软雅黑" panose="020B0503020204020204" pitchFamily="34" charset="-122"/>
              </a:rPr>
              <a:t> SELECT *</a:t>
            </a:r>
          </a:p>
          <a:p>
            <a:pPr eaLnBrk="1" latinLnBrk="0" hangingPunct="1">
              <a:lnSpc>
                <a:spcPct val="125000"/>
              </a:lnSpc>
            </a:pPr>
            <a:r>
              <a:rPr lang="en-US" altLang="zh-CN" sz="2400" i="0" dirty="0">
                <a:solidFill>
                  <a:schemeClr val="tx1"/>
                </a:solidFill>
                <a:latin typeface="微软雅黑" panose="020B0503020204020204" pitchFamily="34" charset="-122"/>
                <a:ea typeface="微软雅黑" panose="020B0503020204020204" pitchFamily="34" charset="-122"/>
              </a:rPr>
              <a:t> FROM Salvaging</a:t>
            </a:r>
          </a:p>
          <a:p>
            <a:pPr eaLnBrk="1" latinLnBrk="0" hangingPunct="1">
              <a:lnSpc>
                <a:spcPct val="125000"/>
              </a:lnSpc>
            </a:pPr>
            <a:r>
              <a:rPr lang="en-US" altLang="zh-CN" sz="2400" i="0" dirty="0">
                <a:solidFill>
                  <a:schemeClr val="tx1"/>
                </a:solidFill>
                <a:latin typeface="微软雅黑" panose="020B0503020204020204" pitchFamily="34" charset="-122"/>
                <a:ea typeface="微软雅黑" panose="020B0503020204020204" pitchFamily="34" charset="-122"/>
              </a:rPr>
              <a:t> WHERE prj_num=@prj_id;</a:t>
            </a:r>
          </a:p>
          <a:p>
            <a:pPr eaLnBrk="1" latinLnBrk="0" hangingPunct="1">
              <a:lnSpc>
                <a:spcPct val="125000"/>
              </a:lnSpc>
            </a:pPr>
            <a:r>
              <a:rPr lang="en-US" altLang="zh-CN" sz="2400" i="0" dirty="0">
                <a:solidFill>
                  <a:schemeClr val="tx1"/>
                </a:solidFill>
                <a:latin typeface="微软雅黑" panose="020B0503020204020204" pitchFamily="34" charset="-122"/>
                <a:ea typeface="微软雅黑" panose="020B0503020204020204" pitchFamily="34" charset="-122"/>
              </a:rPr>
              <a:t>End</a:t>
            </a:r>
          </a:p>
        </p:txBody>
      </p:sp>
      <p:cxnSp>
        <p:nvCxnSpPr>
          <p:cNvPr id="9" name="直接连接符 8"/>
          <p:cNvCxnSpPr/>
          <p:nvPr/>
        </p:nvCxnSpPr>
        <p:spPr bwMode="auto">
          <a:xfrm>
            <a:off x="6537960" y="1847215"/>
            <a:ext cx="0" cy="3874135"/>
          </a:xfrm>
          <a:prstGeom prst="line">
            <a:avLst/>
          </a:prstGeom>
          <a:solidFill>
            <a:schemeClr val="accent1"/>
          </a:solidFill>
          <a:ln w="28575" cap="flat" cmpd="sng" algn="ctr">
            <a:solidFill>
              <a:schemeClr val="accent2">
                <a:lumMod val="60000"/>
                <a:lumOff val="40000"/>
              </a:schemeClr>
            </a:solidFill>
            <a:prstDash val="dashDot"/>
            <a:round/>
            <a:headEnd type="none" w="med" len="med"/>
            <a:tailEnd type="none" w="med" len="med"/>
          </a:ln>
          <a:effectLst/>
        </p:spPr>
      </p:cxnSp>
      <p:sp>
        <p:nvSpPr>
          <p:cNvPr id="8" name="矩形 7"/>
          <p:cNvSpPr/>
          <p:nvPr/>
        </p:nvSpPr>
        <p:spPr>
          <a:xfrm>
            <a:off x="1685290" y="5831205"/>
            <a:ext cx="3811270" cy="553085"/>
          </a:xfrm>
          <a:prstGeom prst="rect">
            <a:avLst/>
          </a:prstGeom>
          <a:solidFill>
            <a:schemeClr val="bg2">
              <a:lumMod val="90000"/>
            </a:schemeClr>
          </a:solidFill>
          <a:ln w="9525">
            <a:noFill/>
          </a:ln>
        </p:spPr>
        <p:txBody>
          <a:bodyPr wrap="square">
            <a:spAutoFit/>
          </a:bodyPr>
          <a:lstStyle/>
          <a:p>
            <a:pPr eaLnBrk="1" latinLnBrk="0" hangingPunct="1">
              <a:lnSpc>
                <a:spcPct val="125000"/>
              </a:lnSpc>
            </a:pPr>
            <a:r>
              <a:rPr lang="zh-CN" altLang="zh-CN" sz="2400" i="0" dirty="0">
                <a:latin typeface="微软雅黑" panose="020B0503020204020204" pitchFamily="34" charset="-122"/>
                <a:ea typeface="微软雅黑" panose="020B0503020204020204" pitchFamily="34" charset="-122"/>
                <a:cs typeface="微软雅黑" panose="020B0503020204020204" pitchFamily="34" charset="-122"/>
              </a:rPr>
              <a:t>执行存储过程：</a:t>
            </a:r>
            <a:r>
              <a:rPr lang="en-US" altLang="zh-CN" sz="2400" i="0" dirty="0">
                <a:solidFill>
                  <a:srgbClr val="0000FF"/>
                </a:solidFill>
                <a:latin typeface="微软雅黑" panose="020B0503020204020204" pitchFamily="34" charset="-122"/>
                <a:ea typeface="微软雅黑" panose="020B0503020204020204" pitchFamily="34" charset="-122"/>
              </a:rPr>
              <a:t>call pro6();</a:t>
            </a:r>
          </a:p>
        </p:txBody>
      </p:sp>
      <p:pic>
        <p:nvPicPr>
          <p:cNvPr id="3" name="图片 -2147482596"/>
          <p:cNvPicPr>
            <a:picLocks noChangeAspect="1"/>
          </p:cNvPicPr>
          <p:nvPr/>
        </p:nvPicPr>
        <p:blipFill>
          <a:blip r:embed="rId3"/>
          <a:stretch>
            <a:fillRect/>
          </a:stretch>
        </p:blipFill>
        <p:spPr>
          <a:xfrm>
            <a:off x="5642610" y="5831205"/>
            <a:ext cx="6195060" cy="678815"/>
          </a:xfrm>
          <a:prstGeom prst="rect">
            <a:avLst/>
          </a:prstGeom>
          <a:noFill/>
          <a:ln w="9525">
            <a:noFill/>
          </a:ln>
        </p:spPr>
      </p:pic>
    </p:spTree>
    <p:extLst>
      <p:ext uri="{BB962C8B-B14F-4D97-AF65-F5344CB8AC3E}">
        <p14:creationId xmlns:p14="http://schemas.microsoft.com/office/powerpoint/2010/main" val="176075951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linds(horizontal)">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blinds(horizontal)">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blinds(horizontal)">
                                      <p:cBhvr>
                                        <p:cTn id="2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P spid="7" grpId="0"/>
      <p:bldP spid="7" grpId="1"/>
      <p:bldP spid="8" grpId="0" animBg="1"/>
      <p:bldP spid="8" grpId="1"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cxnSp>
        <p:nvCxnSpPr>
          <p:cNvPr id="13" name="直接连接符 12"/>
          <p:cNvCxnSpPr/>
          <p:nvPr/>
        </p:nvCxnSpPr>
        <p:spPr>
          <a:xfrm rot="5400000">
            <a:off x="43826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文本框 94"/>
          <p:cNvSpPr txBox="1">
            <a:spLocks noChangeArrowheads="1"/>
          </p:cNvSpPr>
          <p:nvPr/>
        </p:nvSpPr>
        <p:spPr bwMode="auto">
          <a:xfrm>
            <a:off x="245745" y="53975"/>
            <a:ext cx="4133215"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4.2 </a:t>
            </a:r>
            <a:r>
              <a:rPr lang="zh-CN" sz="2800" b="1" dirty="0">
                <a:solidFill>
                  <a:schemeClr val="bg1"/>
                </a:solidFill>
                <a:latin typeface="微软雅黑" panose="020B0503020204020204" pitchFamily="34" charset="-122"/>
                <a:ea typeface="微软雅黑" panose="020B0503020204020204" pitchFamily="34" charset="-122"/>
              </a:rPr>
              <a:t>存储过程</a:t>
            </a:r>
          </a:p>
        </p:txBody>
      </p:sp>
      <p:sp>
        <p:nvSpPr>
          <p:cNvPr id="39950" name="Rectangle 2"/>
          <p:cNvSpPr/>
          <p:nvPr/>
        </p:nvSpPr>
        <p:spPr>
          <a:xfrm>
            <a:off x="-189230" y="623570"/>
            <a:ext cx="5228590" cy="647700"/>
          </a:xfrm>
          <a:prstGeom prst="rect">
            <a:avLst/>
          </a:prstGeom>
          <a:noFill/>
          <a:ln>
            <a:noFill/>
          </a:ln>
        </p:spPr>
        <p:txBody>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eaLnBrk="1" latinLnBrk="0" hangingPunct="1">
              <a:lnSpc>
                <a:spcPct val="125000"/>
              </a:lnSpc>
            </a:pPr>
            <a:r>
              <a:rPr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6．在存储过程中定义和使用游标</a:t>
            </a:r>
          </a:p>
        </p:txBody>
      </p:sp>
      <p:sp>
        <p:nvSpPr>
          <p:cNvPr id="100" name="文本框 99"/>
          <p:cNvSpPr txBox="1"/>
          <p:nvPr/>
        </p:nvSpPr>
        <p:spPr>
          <a:xfrm>
            <a:off x="359410" y="1271270"/>
            <a:ext cx="11478260" cy="5077460"/>
          </a:xfrm>
          <a:prstGeom prst="rect">
            <a:avLst/>
          </a:prstGeom>
          <a:noFill/>
          <a:ln w="9525">
            <a:noFill/>
          </a:ln>
        </p:spPr>
        <p:txBody>
          <a:bodyPr wrap="square">
            <a:spAutoFit/>
          </a:bodyPr>
          <a:lstStyle/>
          <a:p>
            <a:pPr marL="0" indent="269875" eaLnBrk="1" latinLnBrk="0" hangingPunct="1">
              <a:lnSpc>
                <a:spcPct val="150000"/>
              </a:lnSpc>
            </a:pPr>
            <a:r>
              <a:rPr lang="en-US" altLang="zh-CN" sz="24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查询语句可能返回多条记录，如果数据量非常大，需要在存储过程和函数中使用游标来逐条读取查询结果集中的记录。游标必须在程序之前且在变量和条件之后声明，而且游标使用完成一定要关闭。</a:t>
            </a:r>
          </a:p>
          <a:p>
            <a:pPr marL="0" indent="269875" eaLnBrk="1" latinLnBrk="0" hangingPunct="1">
              <a:lnSpc>
                <a:spcPct val="150000"/>
              </a:lnSpc>
            </a:pPr>
            <a:r>
              <a:rPr lang="en-US" altLang="zh-CN" sz="24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声明游标：</a:t>
            </a:r>
            <a:r>
              <a:rPr lang="en-US" altLang="zh-CN" sz="2400" b="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DECLARE 游标名 CURSOR FOR SELECT语句;</a:t>
            </a:r>
          </a:p>
          <a:p>
            <a:pPr marL="0" indent="269875" eaLnBrk="1" latinLnBrk="0" hangingPunct="1">
              <a:lnSpc>
                <a:spcPct val="150000"/>
              </a:lnSpc>
            </a:pPr>
            <a:r>
              <a:rPr lang="en-US" altLang="zh-CN" sz="24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打开游标：</a:t>
            </a:r>
            <a:r>
              <a:rPr lang="en-US" altLang="zh-CN" sz="2400" b="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OPEN 游标名;</a:t>
            </a:r>
            <a:endParaRPr lang="en-US" altLang="zh-CN" sz="24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marL="0" indent="269875" eaLnBrk="1" latinLnBrk="0" hangingPunct="1">
              <a:lnSpc>
                <a:spcPct val="150000"/>
              </a:lnSpc>
            </a:pPr>
            <a:r>
              <a:rPr lang="en-US" altLang="zh-CN" sz="24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使用游标：</a:t>
            </a:r>
            <a:r>
              <a:rPr lang="en-US" altLang="zh-CN" sz="2400" b="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FETCH 游标名 INTO 参数名1[,参数名2…];</a:t>
            </a:r>
          </a:p>
          <a:p>
            <a:pPr marL="0" indent="269875" eaLnBrk="1" latinLnBrk="0" hangingPunct="1">
              <a:lnSpc>
                <a:spcPct val="150000"/>
              </a:lnSpc>
            </a:pPr>
            <a:r>
              <a:rPr lang="en-US" altLang="zh-CN" sz="24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其中：参数名表示将游标中的SELECT语句查询出来的信息存入到该参数中，参数名必须在声明游标之前就以及定义。</a:t>
            </a:r>
          </a:p>
          <a:p>
            <a:pPr marL="0" indent="269875" eaLnBrk="1" latinLnBrk="0" hangingPunct="1">
              <a:lnSpc>
                <a:spcPct val="150000"/>
              </a:lnSpc>
            </a:pPr>
            <a:r>
              <a:rPr lang="en-US" altLang="zh-CN" sz="24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关闭游标：</a:t>
            </a:r>
            <a:r>
              <a:rPr lang="en-US" altLang="zh-CN" sz="2400" b="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CLOSE 游标名;</a:t>
            </a:r>
          </a:p>
        </p:txBody>
      </p:sp>
      <p:sp>
        <p:nvSpPr>
          <p:cNvPr id="2" name="文本框 94"/>
          <p:cNvSpPr txBox="1">
            <a:spLocks noChangeArrowheads="1"/>
          </p:cNvSpPr>
          <p:nvPr/>
        </p:nvSpPr>
        <p:spPr bwMode="auto">
          <a:xfrm>
            <a:off x="4737459" y="75566"/>
            <a:ext cx="790877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4.2.2 </a:t>
            </a:r>
            <a:r>
              <a:rPr lang="zh-CN" altLang="en-US" sz="2800" b="1" dirty="0">
                <a:solidFill>
                  <a:schemeClr val="bg1"/>
                </a:solidFill>
                <a:latin typeface="微软雅黑" panose="020B0503020204020204" pitchFamily="34" charset="-122"/>
                <a:ea typeface="微软雅黑" panose="020B0503020204020204" pitchFamily="34" charset="-122"/>
              </a:rPr>
              <a:t>创建和管理MySQL存储过程</a:t>
            </a:r>
          </a:p>
        </p:txBody>
      </p:sp>
    </p:spTree>
    <p:extLst>
      <p:ext uri="{BB962C8B-B14F-4D97-AF65-F5344CB8AC3E}">
        <p14:creationId xmlns:p14="http://schemas.microsoft.com/office/powerpoint/2010/main" val="29586719"/>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99FE38DD-D074-4D0B-A898-33F2288C0FC4}" type="slidenum">
              <a:rPr lang="zh-CN" altLang="en-US" smtClean="0"/>
              <a:t>13</a:t>
            </a:fld>
            <a:endParaRPr lang="zh-CN" altLang="en-US" dirty="0"/>
          </a:p>
        </p:txBody>
      </p:sp>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cxnSp>
        <p:nvCxnSpPr>
          <p:cNvPr id="13" name="直接连接符 12"/>
          <p:cNvCxnSpPr/>
          <p:nvPr/>
        </p:nvCxnSpPr>
        <p:spPr>
          <a:xfrm rot="5400000">
            <a:off x="43826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文本框 94"/>
          <p:cNvSpPr txBox="1">
            <a:spLocks noChangeArrowheads="1"/>
          </p:cNvSpPr>
          <p:nvPr/>
        </p:nvSpPr>
        <p:spPr bwMode="auto">
          <a:xfrm>
            <a:off x="245745" y="53975"/>
            <a:ext cx="4133215"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4.2 </a:t>
            </a:r>
            <a:r>
              <a:rPr lang="zh-CN" sz="2800" b="1" dirty="0">
                <a:solidFill>
                  <a:schemeClr val="bg1"/>
                </a:solidFill>
                <a:latin typeface="微软雅黑" panose="020B0503020204020204" pitchFamily="34" charset="-122"/>
                <a:ea typeface="微软雅黑" panose="020B0503020204020204" pitchFamily="34" charset="-122"/>
              </a:rPr>
              <a:t>存储过程</a:t>
            </a:r>
          </a:p>
        </p:txBody>
      </p:sp>
      <p:sp>
        <p:nvSpPr>
          <p:cNvPr id="3" name="文本框 94"/>
          <p:cNvSpPr txBox="1">
            <a:spLocks noChangeArrowheads="1"/>
          </p:cNvSpPr>
          <p:nvPr/>
        </p:nvSpPr>
        <p:spPr bwMode="auto">
          <a:xfrm>
            <a:off x="4737459" y="75566"/>
            <a:ext cx="790877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4.2.2 </a:t>
            </a:r>
            <a:r>
              <a:rPr lang="zh-CN" altLang="en-US" sz="2800" b="1" dirty="0">
                <a:solidFill>
                  <a:schemeClr val="bg1"/>
                </a:solidFill>
                <a:latin typeface="微软雅黑" panose="020B0503020204020204" pitchFamily="34" charset="-122"/>
                <a:ea typeface="微软雅黑" panose="020B0503020204020204" pitchFamily="34" charset="-122"/>
              </a:rPr>
              <a:t>创建和管理MySQL存储过程</a:t>
            </a:r>
          </a:p>
        </p:txBody>
      </p:sp>
      <p:sp>
        <p:nvSpPr>
          <p:cNvPr id="5" name="矩形 4"/>
          <p:cNvSpPr/>
          <p:nvPr/>
        </p:nvSpPr>
        <p:spPr>
          <a:xfrm>
            <a:off x="245745" y="704850"/>
            <a:ext cx="11494770" cy="1014730"/>
          </a:xfrm>
          <a:prstGeom prst="rect">
            <a:avLst/>
          </a:prstGeom>
          <a:noFill/>
          <a:ln w="9525">
            <a:noFill/>
          </a:ln>
        </p:spPr>
        <p:txBody>
          <a:bodyPr wrap="square">
            <a:spAutoFit/>
          </a:bodyPr>
          <a:lstStyle/>
          <a:p>
            <a:pPr eaLnBrk="1" latinLnBrk="0" hangingPunct="1">
              <a:lnSpc>
                <a:spcPct val="125000"/>
              </a:lnSpc>
            </a:pPr>
            <a:r>
              <a:rPr lang="zh-CN" altLang="zh-CN" sz="2400" i="0" dirty="0">
                <a:latin typeface="微软雅黑" panose="020B0503020204020204" pitchFamily="34" charset="-122"/>
                <a:ea typeface="微软雅黑" panose="020B0503020204020204" pitchFamily="34" charset="-122"/>
                <a:cs typeface="微软雅黑" panose="020B0503020204020204" pitchFamily="34" charset="-122"/>
              </a:rPr>
              <a:t>【例</a:t>
            </a:r>
            <a:r>
              <a:rPr lang="en-US" altLang="zh-CN" sz="2400" i="0" dirty="0">
                <a:latin typeface="微软雅黑" panose="020B0503020204020204" pitchFamily="34" charset="-122"/>
                <a:ea typeface="微软雅黑" panose="020B0503020204020204" pitchFamily="34" charset="-122"/>
                <a:cs typeface="微软雅黑" panose="020B0503020204020204" pitchFamily="34" charset="-122"/>
              </a:rPr>
              <a:t>4.10</a:t>
            </a:r>
            <a:r>
              <a:rPr lang="zh-CN" altLang="zh-CN" sz="2400" i="0" dirty="0">
                <a:latin typeface="微软雅黑" panose="020B0503020204020204" pitchFamily="34" charset="-122"/>
                <a:ea typeface="微软雅黑" panose="020B0503020204020204" pitchFamily="34" charset="-122"/>
                <a:cs typeface="微软雅黑" panose="020B0503020204020204" pitchFamily="34" charset="-122"/>
              </a:rPr>
              <a:t>】在存储过程中使用游标，把stock表中所有的仓库名称连接为一个字符串，并进行显示输出。</a:t>
            </a:r>
          </a:p>
        </p:txBody>
      </p:sp>
      <p:sp>
        <p:nvSpPr>
          <p:cNvPr id="6" name="矩形 5"/>
          <p:cNvSpPr/>
          <p:nvPr/>
        </p:nvSpPr>
        <p:spPr>
          <a:xfrm>
            <a:off x="662940" y="1826895"/>
            <a:ext cx="10997565" cy="3784600"/>
          </a:xfrm>
          <a:prstGeom prst="rect">
            <a:avLst/>
          </a:prstGeom>
          <a:noFill/>
          <a:ln w="9525">
            <a:noFill/>
          </a:ln>
        </p:spPr>
        <p:txBody>
          <a:bodyPr wrap="square">
            <a:spAutoFit/>
          </a:bodyPr>
          <a:lstStyle/>
          <a:p>
            <a:pPr eaLnBrk="1" latinLnBrk="0" hangingPunct="1">
              <a:lnSpc>
                <a:spcPct val="125000"/>
              </a:lnSpc>
            </a:pPr>
            <a:r>
              <a:rPr lang="en-US" altLang="zh-CN" sz="2400" i="0" dirty="0">
                <a:solidFill>
                  <a:schemeClr val="tx1"/>
                </a:solidFill>
                <a:latin typeface="微软雅黑" panose="020B0503020204020204" pitchFamily="34" charset="-122"/>
                <a:ea typeface="微软雅黑" panose="020B0503020204020204" pitchFamily="34" charset="-122"/>
              </a:rPr>
              <a:t>DELIMITER &amp;&amp;</a:t>
            </a:r>
          </a:p>
          <a:p>
            <a:pPr eaLnBrk="1" latinLnBrk="0" hangingPunct="1">
              <a:lnSpc>
                <a:spcPct val="125000"/>
              </a:lnSpc>
            </a:pPr>
            <a:r>
              <a:rPr lang="en-US" altLang="zh-CN" sz="2400" i="0" dirty="0">
                <a:solidFill>
                  <a:srgbClr val="FF0000"/>
                </a:solidFill>
                <a:latin typeface="微软雅黑" panose="020B0503020204020204" pitchFamily="34" charset="-122"/>
                <a:ea typeface="微软雅黑" panose="020B0503020204020204" pitchFamily="34" charset="-122"/>
              </a:rPr>
              <a:t>CREATE PROCEDURE pro7()</a:t>
            </a:r>
          </a:p>
          <a:p>
            <a:pPr eaLnBrk="1" latinLnBrk="0" hangingPunct="1">
              <a:lnSpc>
                <a:spcPct val="125000"/>
              </a:lnSpc>
            </a:pPr>
            <a:r>
              <a:rPr lang="en-US" altLang="zh-CN" sz="2400" i="0" dirty="0">
                <a:solidFill>
                  <a:schemeClr val="tx1"/>
                </a:solidFill>
                <a:latin typeface="微软雅黑" panose="020B0503020204020204" pitchFamily="34" charset="-122"/>
                <a:ea typeface="微软雅黑" panose="020B0503020204020204" pitchFamily="34" charset="-122"/>
              </a:rPr>
              <a:t>BEGIN</a:t>
            </a:r>
          </a:p>
          <a:p>
            <a:pPr eaLnBrk="1" latinLnBrk="0" hangingPunct="1">
              <a:lnSpc>
                <a:spcPct val="125000"/>
              </a:lnSpc>
            </a:pPr>
            <a:r>
              <a:rPr lang="en-US" altLang="zh-CN" sz="2400" i="0" dirty="0">
                <a:solidFill>
                  <a:schemeClr val="tx1"/>
                </a:solidFill>
                <a:latin typeface="微软雅黑" panose="020B0503020204020204" pitchFamily="34" charset="-122"/>
                <a:ea typeface="微软雅黑" panose="020B0503020204020204" pitchFamily="34" charset="-122"/>
              </a:rPr>
              <a:t>   DECLARE done INT DEFAULT 0;</a:t>
            </a:r>
          </a:p>
          <a:p>
            <a:pPr eaLnBrk="1" latinLnBrk="0" hangingPunct="1">
              <a:lnSpc>
                <a:spcPct val="125000"/>
              </a:lnSpc>
            </a:pPr>
            <a:r>
              <a:rPr lang="en-US" altLang="zh-CN" sz="2400" i="0" dirty="0">
                <a:solidFill>
                  <a:schemeClr val="tx1"/>
                </a:solidFill>
                <a:latin typeface="微软雅黑" panose="020B0503020204020204" pitchFamily="34" charset="-122"/>
                <a:ea typeface="微软雅黑" panose="020B0503020204020204" pitchFamily="34" charset="-122"/>
              </a:rPr>
              <a:t>   DECLARE whname varchar(10) DEFAULT '';  </a:t>
            </a:r>
          </a:p>
          <a:p>
            <a:pPr eaLnBrk="1" latinLnBrk="0" hangingPunct="1">
              <a:lnSpc>
                <a:spcPct val="125000"/>
              </a:lnSpc>
            </a:pPr>
            <a:r>
              <a:rPr lang="en-US" altLang="zh-CN" sz="2400" i="0" dirty="0">
                <a:solidFill>
                  <a:schemeClr val="tx1"/>
                </a:solidFill>
                <a:latin typeface="微软雅黑" panose="020B0503020204020204" pitchFamily="34" charset="-122"/>
                <a:ea typeface="微软雅黑" panose="020B0503020204020204" pitchFamily="34" charset="-122"/>
              </a:rPr>
              <a:t>   DECLARE allname varchar(1000) DEFAULT '';  </a:t>
            </a:r>
          </a:p>
          <a:p>
            <a:pPr eaLnBrk="1" latinLnBrk="0" hangingPunct="1">
              <a:lnSpc>
                <a:spcPct val="125000"/>
              </a:lnSpc>
            </a:pPr>
            <a:r>
              <a:rPr lang="en-US" altLang="zh-CN" sz="2400" i="0" dirty="0">
                <a:solidFill>
                  <a:schemeClr val="tx1"/>
                </a:solidFill>
                <a:latin typeface="微软雅黑" panose="020B0503020204020204" pitchFamily="34" charset="-122"/>
                <a:ea typeface="微软雅黑" panose="020B0503020204020204" pitchFamily="34" charset="-122"/>
              </a:rPr>
              <a:t>   DECLARE </a:t>
            </a:r>
            <a:r>
              <a:rPr lang="en-US" altLang="zh-CN" sz="2400" i="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cur1 CURSOR FOR SELECT distinct warehouse FROM stock;</a:t>
            </a:r>
          </a:p>
          <a:p>
            <a:pPr eaLnBrk="1" latinLnBrk="0" hangingPunct="1">
              <a:lnSpc>
                <a:spcPct val="125000"/>
              </a:lnSpc>
            </a:pPr>
            <a:r>
              <a:rPr lang="en-US" altLang="zh-CN" sz="2400" i="0" dirty="0">
                <a:solidFill>
                  <a:schemeClr val="tx1"/>
                </a:solidFill>
                <a:latin typeface="微软雅黑" panose="020B0503020204020204" pitchFamily="34" charset="-122"/>
                <a:ea typeface="微软雅黑" panose="020B0503020204020204" pitchFamily="34" charset="-122"/>
              </a:rPr>
              <a:t>   DECLARE CONTINUE HANDLER FOR NOT FOUND SET done=1;</a:t>
            </a:r>
          </a:p>
        </p:txBody>
      </p:sp>
    </p:spTree>
    <p:extLst>
      <p:ext uri="{BB962C8B-B14F-4D97-AF65-F5344CB8AC3E}">
        <p14:creationId xmlns:p14="http://schemas.microsoft.com/office/powerpoint/2010/main" val="18947276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blinds(horizontal)">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blinds(horizontal)">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blinds(horizontal)">
                                      <p:cBhvr>
                                        <p:cTn id="17" dur="500"/>
                                        <p:tgtEl>
                                          <p:spTgt spid="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Effect transition="in" filter="blinds(horizontal)">
                                      <p:cBhvr>
                                        <p:cTn id="22" dur="500"/>
                                        <p:tgtEl>
                                          <p:spTgt spid="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6">
                                            <p:txEl>
                                              <p:pRg st="4" end="4"/>
                                            </p:txEl>
                                          </p:spTgt>
                                        </p:tgtEl>
                                        <p:attrNameLst>
                                          <p:attrName>style.visibility</p:attrName>
                                        </p:attrNameLst>
                                      </p:cBhvr>
                                      <p:to>
                                        <p:strVal val="visible"/>
                                      </p:to>
                                    </p:set>
                                    <p:animEffect transition="in" filter="blinds(horizontal)">
                                      <p:cBhvr>
                                        <p:cTn id="27" dur="500"/>
                                        <p:tgtEl>
                                          <p:spTgt spid="6">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6">
                                            <p:txEl>
                                              <p:pRg st="5" end="5"/>
                                            </p:txEl>
                                          </p:spTgt>
                                        </p:tgtEl>
                                        <p:attrNameLst>
                                          <p:attrName>style.visibility</p:attrName>
                                        </p:attrNameLst>
                                      </p:cBhvr>
                                      <p:to>
                                        <p:strVal val="visible"/>
                                      </p:to>
                                    </p:set>
                                    <p:animEffect transition="in" filter="blinds(horizontal)">
                                      <p:cBhvr>
                                        <p:cTn id="32" dur="500"/>
                                        <p:tgtEl>
                                          <p:spTgt spid="6">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6">
                                            <p:txEl>
                                              <p:pRg st="6" end="6"/>
                                            </p:txEl>
                                          </p:spTgt>
                                        </p:tgtEl>
                                        <p:attrNameLst>
                                          <p:attrName>style.visibility</p:attrName>
                                        </p:attrNameLst>
                                      </p:cBhvr>
                                      <p:to>
                                        <p:strVal val="visible"/>
                                      </p:to>
                                    </p:set>
                                    <p:animEffect transition="in" filter="blinds(horizontal)">
                                      <p:cBhvr>
                                        <p:cTn id="37" dur="500"/>
                                        <p:tgtEl>
                                          <p:spTgt spid="6">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6">
                                            <p:txEl>
                                              <p:pRg st="7" end="7"/>
                                            </p:txEl>
                                          </p:spTgt>
                                        </p:tgtEl>
                                        <p:attrNameLst>
                                          <p:attrName>style.visibility</p:attrName>
                                        </p:attrNameLst>
                                      </p:cBhvr>
                                      <p:to>
                                        <p:strVal val="visible"/>
                                      </p:to>
                                    </p:set>
                                    <p:animEffect transition="in" filter="blinds(horizontal)">
                                      <p:cBhvr>
                                        <p:cTn id="42" dur="500"/>
                                        <p:tgtEl>
                                          <p:spTgt spid="6">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99FE38DD-D074-4D0B-A898-33F2288C0FC4}" type="slidenum">
              <a:rPr lang="zh-CN" altLang="en-US" smtClean="0"/>
              <a:t>14</a:t>
            </a:fld>
            <a:endParaRPr lang="zh-CN" altLang="en-US" dirty="0"/>
          </a:p>
        </p:txBody>
      </p:sp>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cxnSp>
        <p:nvCxnSpPr>
          <p:cNvPr id="13" name="直接连接符 12"/>
          <p:cNvCxnSpPr/>
          <p:nvPr/>
        </p:nvCxnSpPr>
        <p:spPr>
          <a:xfrm rot="5400000">
            <a:off x="43826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文本框 94"/>
          <p:cNvSpPr txBox="1">
            <a:spLocks noChangeArrowheads="1"/>
          </p:cNvSpPr>
          <p:nvPr/>
        </p:nvSpPr>
        <p:spPr bwMode="auto">
          <a:xfrm>
            <a:off x="245745" y="53975"/>
            <a:ext cx="4133215"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4.2 </a:t>
            </a:r>
            <a:r>
              <a:rPr lang="zh-CN" sz="2800" b="1" dirty="0">
                <a:solidFill>
                  <a:schemeClr val="bg1"/>
                </a:solidFill>
                <a:latin typeface="微软雅黑" panose="020B0503020204020204" pitchFamily="34" charset="-122"/>
                <a:ea typeface="微软雅黑" panose="020B0503020204020204" pitchFamily="34" charset="-122"/>
              </a:rPr>
              <a:t>存储过程</a:t>
            </a:r>
          </a:p>
        </p:txBody>
      </p:sp>
      <p:sp>
        <p:nvSpPr>
          <p:cNvPr id="3" name="文本框 94"/>
          <p:cNvSpPr txBox="1">
            <a:spLocks noChangeArrowheads="1"/>
          </p:cNvSpPr>
          <p:nvPr/>
        </p:nvSpPr>
        <p:spPr bwMode="auto">
          <a:xfrm>
            <a:off x="4737459" y="75566"/>
            <a:ext cx="790877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4.2.2 </a:t>
            </a:r>
            <a:r>
              <a:rPr lang="zh-CN" altLang="en-US" sz="2800" b="1" dirty="0">
                <a:solidFill>
                  <a:schemeClr val="bg1"/>
                </a:solidFill>
                <a:latin typeface="微软雅黑" panose="020B0503020204020204" pitchFamily="34" charset="-122"/>
                <a:ea typeface="微软雅黑" panose="020B0503020204020204" pitchFamily="34" charset="-122"/>
              </a:rPr>
              <a:t>创建和管理MySQL存储过程</a:t>
            </a:r>
          </a:p>
        </p:txBody>
      </p:sp>
      <p:sp>
        <p:nvSpPr>
          <p:cNvPr id="6" name="矩形 5"/>
          <p:cNvSpPr/>
          <p:nvPr/>
        </p:nvSpPr>
        <p:spPr>
          <a:xfrm>
            <a:off x="662940" y="792480"/>
            <a:ext cx="10997565" cy="4707890"/>
          </a:xfrm>
          <a:prstGeom prst="rect">
            <a:avLst/>
          </a:prstGeom>
          <a:noFill/>
          <a:ln w="9525">
            <a:noFill/>
          </a:ln>
        </p:spPr>
        <p:txBody>
          <a:bodyPr wrap="square">
            <a:spAutoFit/>
          </a:bodyPr>
          <a:lstStyle/>
          <a:p>
            <a:pPr eaLnBrk="1" latinLnBrk="0" hangingPunct="1">
              <a:lnSpc>
                <a:spcPct val="125000"/>
              </a:lnSpc>
            </a:pPr>
            <a:r>
              <a:rPr lang="en-US" altLang="zh-CN" sz="2400" i="0" dirty="0">
                <a:solidFill>
                  <a:schemeClr val="tx1"/>
                </a:solidFill>
                <a:latin typeface="微软雅黑" panose="020B0503020204020204" pitchFamily="34" charset="-122"/>
                <a:ea typeface="微软雅黑" panose="020B0503020204020204" pitchFamily="34" charset="-122"/>
              </a:rPr>
              <a:t>   </a:t>
            </a:r>
            <a:r>
              <a:rPr lang="en-US" altLang="zh-CN" sz="2400" i="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OPEN cur1;</a:t>
            </a:r>
          </a:p>
          <a:p>
            <a:pPr eaLnBrk="1" latinLnBrk="0" hangingPunct="1">
              <a:lnSpc>
                <a:spcPct val="125000"/>
              </a:lnSpc>
            </a:pPr>
            <a:r>
              <a:rPr lang="en-US" altLang="zh-CN" sz="2400" i="0" dirty="0">
                <a:solidFill>
                  <a:schemeClr val="tx1"/>
                </a:solidFill>
                <a:latin typeface="微软雅黑" panose="020B0503020204020204" pitchFamily="34" charset="-122"/>
                <a:ea typeface="微软雅黑" panose="020B0503020204020204" pitchFamily="34" charset="-122"/>
              </a:rPr>
              <a:t>   REPEAT </a:t>
            </a:r>
          </a:p>
          <a:p>
            <a:pPr algn="l" eaLnBrk="1" latinLnBrk="0" hangingPunct="1">
              <a:lnSpc>
                <a:spcPct val="125000"/>
              </a:lnSpc>
              <a:buClrTx/>
              <a:buSzTx/>
              <a:buFontTx/>
            </a:pPr>
            <a:r>
              <a:rPr lang="en-US" altLang="zh-CN" sz="2400" i="0" dirty="0">
                <a:solidFill>
                  <a:schemeClr val="tx1"/>
                </a:solidFill>
                <a:latin typeface="微软雅黑" panose="020B0503020204020204" pitchFamily="34" charset="-122"/>
                <a:ea typeface="微软雅黑" panose="020B0503020204020204" pitchFamily="34" charset="-122"/>
              </a:rPr>
              <a:t>        </a:t>
            </a:r>
            <a:r>
              <a:rPr lang="en-US" altLang="zh-CN" sz="2400" i="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FETCH cur1 INTO whname;</a:t>
            </a:r>
          </a:p>
          <a:p>
            <a:pPr eaLnBrk="1" latinLnBrk="0" hangingPunct="1">
              <a:lnSpc>
                <a:spcPct val="125000"/>
              </a:lnSpc>
            </a:pPr>
            <a:r>
              <a:rPr lang="en-US" altLang="zh-CN" sz="2400" i="0" dirty="0">
                <a:solidFill>
                  <a:schemeClr val="tx1"/>
                </a:solidFill>
                <a:latin typeface="微软雅黑" panose="020B0503020204020204" pitchFamily="34" charset="-122"/>
                <a:ea typeface="微软雅黑" panose="020B0503020204020204" pitchFamily="34" charset="-122"/>
              </a:rPr>
              <a:t>        IF NOT done THEN</a:t>
            </a:r>
          </a:p>
          <a:p>
            <a:pPr eaLnBrk="1" latinLnBrk="0" hangingPunct="1">
              <a:lnSpc>
                <a:spcPct val="125000"/>
              </a:lnSpc>
            </a:pPr>
            <a:r>
              <a:rPr lang="en-US" altLang="zh-CN" sz="2400" i="0" dirty="0">
                <a:solidFill>
                  <a:schemeClr val="tx1"/>
                </a:solidFill>
                <a:latin typeface="微软雅黑" panose="020B0503020204020204" pitchFamily="34" charset="-122"/>
                <a:ea typeface="微软雅黑" panose="020B0503020204020204" pitchFamily="34" charset="-122"/>
              </a:rPr>
              <a:t>            SET allname = CONCAT(allname,whname); </a:t>
            </a:r>
          </a:p>
          <a:p>
            <a:pPr eaLnBrk="1" latinLnBrk="0" hangingPunct="1">
              <a:lnSpc>
                <a:spcPct val="125000"/>
              </a:lnSpc>
            </a:pPr>
            <a:r>
              <a:rPr lang="en-US" altLang="zh-CN" sz="2400" i="0" dirty="0">
                <a:solidFill>
                  <a:schemeClr val="tx1"/>
                </a:solidFill>
                <a:latin typeface="微软雅黑" panose="020B0503020204020204" pitchFamily="34" charset="-122"/>
                <a:ea typeface="微软雅黑" panose="020B0503020204020204" pitchFamily="34" charset="-122"/>
              </a:rPr>
              <a:t>        END IF;</a:t>
            </a:r>
          </a:p>
          <a:p>
            <a:pPr eaLnBrk="1" latinLnBrk="0" hangingPunct="1">
              <a:lnSpc>
                <a:spcPct val="125000"/>
              </a:lnSpc>
            </a:pPr>
            <a:r>
              <a:rPr lang="en-US" altLang="zh-CN" sz="2400" i="0" dirty="0">
                <a:solidFill>
                  <a:schemeClr val="tx1"/>
                </a:solidFill>
                <a:latin typeface="微软雅黑" panose="020B0503020204020204" pitchFamily="34" charset="-122"/>
                <a:ea typeface="微软雅黑" panose="020B0503020204020204" pitchFamily="34" charset="-122"/>
              </a:rPr>
              <a:t>    UNTIL done END REPEAT;</a:t>
            </a:r>
          </a:p>
          <a:p>
            <a:pPr eaLnBrk="1" latinLnBrk="0" hangingPunct="1">
              <a:lnSpc>
                <a:spcPct val="125000"/>
              </a:lnSpc>
            </a:pPr>
            <a:r>
              <a:rPr lang="en-US" altLang="zh-CN" sz="2400" i="0" dirty="0">
                <a:solidFill>
                  <a:schemeClr val="tx1"/>
                </a:solidFill>
                <a:latin typeface="微软雅黑" panose="020B0503020204020204" pitchFamily="34" charset="-122"/>
                <a:ea typeface="微软雅黑" panose="020B0503020204020204" pitchFamily="34" charset="-122"/>
              </a:rPr>
              <a:t> </a:t>
            </a:r>
            <a:r>
              <a:rPr lang="en-US" altLang="zh-CN" sz="2400" i="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  CLOSE cur1;</a:t>
            </a:r>
            <a:endParaRPr lang="en-US" altLang="zh-CN" sz="2400" i="0" dirty="0">
              <a:solidFill>
                <a:schemeClr val="tx1"/>
              </a:solidFill>
              <a:latin typeface="微软雅黑" panose="020B0503020204020204" pitchFamily="34" charset="-122"/>
              <a:ea typeface="微软雅黑" panose="020B0503020204020204" pitchFamily="34" charset="-122"/>
            </a:endParaRPr>
          </a:p>
          <a:p>
            <a:pPr eaLnBrk="1" latinLnBrk="0" hangingPunct="1">
              <a:lnSpc>
                <a:spcPct val="125000"/>
              </a:lnSpc>
            </a:pPr>
            <a:r>
              <a:rPr lang="en-US" altLang="zh-CN" sz="2400" i="0" dirty="0">
                <a:solidFill>
                  <a:schemeClr val="tx1"/>
                </a:solidFill>
                <a:latin typeface="微软雅黑" panose="020B0503020204020204" pitchFamily="34" charset="-122"/>
                <a:ea typeface="微软雅黑" panose="020B0503020204020204" pitchFamily="34" charset="-122"/>
              </a:rPr>
              <a:t>   SELECT allname;</a:t>
            </a:r>
          </a:p>
          <a:p>
            <a:pPr eaLnBrk="1" latinLnBrk="0" hangingPunct="1">
              <a:lnSpc>
                <a:spcPct val="125000"/>
              </a:lnSpc>
            </a:pPr>
            <a:r>
              <a:rPr lang="en-US" altLang="zh-CN" sz="2400" i="0" dirty="0">
                <a:solidFill>
                  <a:schemeClr val="tx1"/>
                </a:solidFill>
                <a:latin typeface="微软雅黑" panose="020B0503020204020204" pitchFamily="34" charset="-122"/>
                <a:ea typeface="微软雅黑" panose="020B0503020204020204" pitchFamily="34" charset="-122"/>
              </a:rPr>
              <a:t>END</a:t>
            </a:r>
          </a:p>
        </p:txBody>
      </p:sp>
      <p:sp>
        <p:nvSpPr>
          <p:cNvPr id="8" name="矩形 7"/>
          <p:cNvSpPr/>
          <p:nvPr/>
        </p:nvSpPr>
        <p:spPr>
          <a:xfrm>
            <a:off x="6786245" y="1316355"/>
            <a:ext cx="3811270" cy="553085"/>
          </a:xfrm>
          <a:prstGeom prst="rect">
            <a:avLst/>
          </a:prstGeom>
          <a:solidFill>
            <a:schemeClr val="bg2">
              <a:lumMod val="90000"/>
            </a:schemeClr>
          </a:solidFill>
          <a:ln w="9525">
            <a:noFill/>
          </a:ln>
        </p:spPr>
        <p:txBody>
          <a:bodyPr wrap="square">
            <a:spAutoFit/>
          </a:bodyPr>
          <a:lstStyle/>
          <a:p>
            <a:pPr eaLnBrk="1" latinLnBrk="0" hangingPunct="1">
              <a:lnSpc>
                <a:spcPct val="125000"/>
              </a:lnSpc>
            </a:pPr>
            <a:r>
              <a:rPr lang="zh-CN" altLang="zh-CN" sz="2400" i="0" dirty="0">
                <a:latin typeface="微软雅黑" panose="020B0503020204020204" pitchFamily="34" charset="-122"/>
                <a:ea typeface="微软雅黑" panose="020B0503020204020204" pitchFamily="34" charset="-122"/>
                <a:cs typeface="微软雅黑" panose="020B0503020204020204" pitchFamily="34" charset="-122"/>
              </a:rPr>
              <a:t>执行存储过程：</a:t>
            </a:r>
            <a:r>
              <a:rPr lang="en-US" altLang="zh-CN" sz="2400" i="0" dirty="0">
                <a:solidFill>
                  <a:srgbClr val="0000FF"/>
                </a:solidFill>
                <a:latin typeface="微软雅黑" panose="020B0503020204020204" pitchFamily="34" charset="-122"/>
                <a:ea typeface="微软雅黑" panose="020B0503020204020204" pitchFamily="34" charset="-122"/>
              </a:rPr>
              <a:t>call pro7();</a:t>
            </a:r>
          </a:p>
        </p:txBody>
      </p:sp>
      <p:pic>
        <p:nvPicPr>
          <p:cNvPr id="5" name="图片 1"/>
          <p:cNvPicPr>
            <a:picLocks noChangeAspect="1"/>
          </p:cNvPicPr>
          <p:nvPr/>
        </p:nvPicPr>
        <p:blipFill>
          <a:blip r:embed="rId2"/>
          <a:stretch>
            <a:fillRect/>
          </a:stretch>
        </p:blipFill>
        <p:spPr>
          <a:xfrm>
            <a:off x="6003925" y="4034155"/>
            <a:ext cx="5657215" cy="715010"/>
          </a:xfrm>
          <a:prstGeom prst="rect">
            <a:avLst/>
          </a:prstGeom>
          <a:noFill/>
          <a:ln w="9525">
            <a:noFill/>
          </a:ln>
        </p:spPr>
      </p:pic>
    </p:spTree>
    <p:extLst>
      <p:ext uri="{BB962C8B-B14F-4D97-AF65-F5344CB8AC3E}">
        <p14:creationId xmlns:p14="http://schemas.microsoft.com/office/powerpoint/2010/main" val="31154195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blinds(horizontal)">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blinds(horizontal)">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blinds(horizontal)">
                                      <p:cBhvr>
                                        <p:cTn id="17" dur="500"/>
                                        <p:tgtEl>
                                          <p:spTgt spid="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Effect transition="in" filter="blinds(horizontal)">
                                      <p:cBhvr>
                                        <p:cTn id="22" dur="500"/>
                                        <p:tgtEl>
                                          <p:spTgt spid="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6">
                                            <p:txEl>
                                              <p:pRg st="4" end="4"/>
                                            </p:txEl>
                                          </p:spTgt>
                                        </p:tgtEl>
                                        <p:attrNameLst>
                                          <p:attrName>style.visibility</p:attrName>
                                        </p:attrNameLst>
                                      </p:cBhvr>
                                      <p:to>
                                        <p:strVal val="visible"/>
                                      </p:to>
                                    </p:set>
                                    <p:animEffect transition="in" filter="blinds(horizontal)">
                                      <p:cBhvr>
                                        <p:cTn id="27" dur="500"/>
                                        <p:tgtEl>
                                          <p:spTgt spid="6">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6">
                                            <p:txEl>
                                              <p:pRg st="5" end="5"/>
                                            </p:txEl>
                                          </p:spTgt>
                                        </p:tgtEl>
                                        <p:attrNameLst>
                                          <p:attrName>style.visibility</p:attrName>
                                        </p:attrNameLst>
                                      </p:cBhvr>
                                      <p:to>
                                        <p:strVal val="visible"/>
                                      </p:to>
                                    </p:set>
                                    <p:animEffect transition="in" filter="blinds(horizontal)">
                                      <p:cBhvr>
                                        <p:cTn id="32" dur="500"/>
                                        <p:tgtEl>
                                          <p:spTgt spid="6">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6">
                                            <p:txEl>
                                              <p:pRg st="6" end="6"/>
                                            </p:txEl>
                                          </p:spTgt>
                                        </p:tgtEl>
                                        <p:attrNameLst>
                                          <p:attrName>style.visibility</p:attrName>
                                        </p:attrNameLst>
                                      </p:cBhvr>
                                      <p:to>
                                        <p:strVal val="visible"/>
                                      </p:to>
                                    </p:set>
                                    <p:animEffect transition="in" filter="blinds(horizontal)">
                                      <p:cBhvr>
                                        <p:cTn id="37" dur="500"/>
                                        <p:tgtEl>
                                          <p:spTgt spid="6">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6">
                                            <p:txEl>
                                              <p:pRg st="7" end="7"/>
                                            </p:txEl>
                                          </p:spTgt>
                                        </p:tgtEl>
                                        <p:attrNameLst>
                                          <p:attrName>style.visibility</p:attrName>
                                        </p:attrNameLst>
                                      </p:cBhvr>
                                      <p:to>
                                        <p:strVal val="visible"/>
                                      </p:to>
                                    </p:set>
                                    <p:animEffect transition="in" filter="blinds(horizontal)">
                                      <p:cBhvr>
                                        <p:cTn id="42" dur="500"/>
                                        <p:tgtEl>
                                          <p:spTgt spid="6">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6">
                                            <p:txEl>
                                              <p:pRg st="8" end="8"/>
                                            </p:txEl>
                                          </p:spTgt>
                                        </p:tgtEl>
                                        <p:attrNameLst>
                                          <p:attrName>style.visibility</p:attrName>
                                        </p:attrNameLst>
                                      </p:cBhvr>
                                      <p:to>
                                        <p:strVal val="visible"/>
                                      </p:to>
                                    </p:set>
                                    <p:animEffect transition="in" filter="blinds(horizontal)">
                                      <p:cBhvr>
                                        <p:cTn id="47" dur="500"/>
                                        <p:tgtEl>
                                          <p:spTgt spid="6">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6">
                                            <p:txEl>
                                              <p:pRg st="9" end="9"/>
                                            </p:txEl>
                                          </p:spTgt>
                                        </p:tgtEl>
                                        <p:attrNameLst>
                                          <p:attrName>style.visibility</p:attrName>
                                        </p:attrNameLst>
                                      </p:cBhvr>
                                      <p:to>
                                        <p:strVal val="visible"/>
                                      </p:to>
                                    </p:set>
                                    <p:animEffect transition="in" filter="blinds(horizontal)">
                                      <p:cBhvr>
                                        <p:cTn id="52" dur="500"/>
                                        <p:tgtEl>
                                          <p:spTgt spid="6">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8"/>
                                        </p:tgtEl>
                                        <p:attrNameLst>
                                          <p:attrName>style.visibility</p:attrName>
                                        </p:attrNameLst>
                                      </p:cBhvr>
                                      <p:to>
                                        <p:strVal val="visible"/>
                                      </p:to>
                                    </p:set>
                                    <p:animEffect transition="in" filter="blinds(horizontal)">
                                      <p:cBhvr>
                                        <p:cTn id="57" dur="500"/>
                                        <p:tgtEl>
                                          <p:spTgt spid="8"/>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nodeType="clickEffect">
                                  <p:stCondLst>
                                    <p:cond delay="0"/>
                                  </p:stCondLst>
                                  <p:childTnLst>
                                    <p:set>
                                      <p:cBhvr>
                                        <p:cTn id="61" dur="1" fill="hold">
                                          <p:stCondLst>
                                            <p:cond delay="0"/>
                                          </p:stCondLst>
                                        </p:cTn>
                                        <p:tgtEl>
                                          <p:spTgt spid="5"/>
                                        </p:tgtEl>
                                        <p:attrNameLst>
                                          <p:attrName>style.visibility</p:attrName>
                                        </p:attrNameLst>
                                      </p:cBhvr>
                                      <p:to>
                                        <p:strVal val="visible"/>
                                      </p:to>
                                    </p:set>
                                    <p:animEffect transition="in" filter="blinds(horizontal)">
                                      <p:cBhvr>
                                        <p:cTn id="6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P spid="8" grpId="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99FE38DD-D074-4D0B-A898-33F2288C0FC4}" type="slidenum">
              <a:rPr lang="zh-CN" altLang="en-US" smtClean="0"/>
              <a:t>15</a:t>
            </a:fld>
            <a:endParaRPr lang="zh-CN" altLang="en-US" dirty="0"/>
          </a:p>
        </p:txBody>
      </p:sp>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cxnSp>
        <p:nvCxnSpPr>
          <p:cNvPr id="13" name="直接连接符 12"/>
          <p:cNvCxnSpPr/>
          <p:nvPr/>
        </p:nvCxnSpPr>
        <p:spPr>
          <a:xfrm rot="5400000">
            <a:off x="43826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文本框 94"/>
          <p:cNvSpPr txBox="1">
            <a:spLocks noChangeArrowheads="1"/>
          </p:cNvSpPr>
          <p:nvPr/>
        </p:nvSpPr>
        <p:spPr bwMode="auto">
          <a:xfrm>
            <a:off x="245745" y="53975"/>
            <a:ext cx="4133215"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4.2 </a:t>
            </a:r>
            <a:r>
              <a:rPr lang="zh-CN" sz="2800" b="1" dirty="0">
                <a:solidFill>
                  <a:schemeClr val="bg1"/>
                </a:solidFill>
                <a:latin typeface="微软雅黑" panose="020B0503020204020204" pitchFamily="34" charset="-122"/>
                <a:ea typeface="微软雅黑" panose="020B0503020204020204" pitchFamily="34" charset="-122"/>
              </a:rPr>
              <a:t>存储过程</a:t>
            </a:r>
          </a:p>
        </p:txBody>
      </p:sp>
      <p:sp>
        <p:nvSpPr>
          <p:cNvPr id="3" name="文本框 94"/>
          <p:cNvSpPr txBox="1">
            <a:spLocks noChangeArrowheads="1"/>
          </p:cNvSpPr>
          <p:nvPr/>
        </p:nvSpPr>
        <p:spPr bwMode="auto">
          <a:xfrm>
            <a:off x="4737459" y="75566"/>
            <a:ext cx="790877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4.2.2 </a:t>
            </a:r>
            <a:r>
              <a:rPr lang="zh-CN" altLang="en-US" sz="2800" b="1" dirty="0">
                <a:solidFill>
                  <a:schemeClr val="bg1"/>
                </a:solidFill>
                <a:latin typeface="微软雅黑" panose="020B0503020204020204" pitchFamily="34" charset="-122"/>
                <a:ea typeface="微软雅黑" panose="020B0503020204020204" pitchFamily="34" charset="-122"/>
              </a:rPr>
              <a:t>创建和管理MySQL存储过程</a:t>
            </a:r>
          </a:p>
        </p:txBody>
      </p:sp>
      <p:sp>
        <p:nvSpPr>
          <p:cNvPr id="39950" name="Rectangle 2"/>
          <p:cNvSpPr/>
          <p:nvPr/>
        </p:nvSpPr>
        <p:spPr>
          <a:xfrm>
            <a:off x="245110" y="623570"/>
            <a:ext cx="3322320" cy="647700"/>
          </a:xfrm>
          <a:prstGeom prst="rect">
            <a:avLst/>
          </a:prstGeom>
          <a:noFill/>
          <a:ln>
            <a:noFill/>
          </a:ln>
        </p:spPr>
        <p:txBody>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algn="l" eaLnBrk="1" latinLnBrk="0" hangingPunct="1">
              <a:lnSpc>
                <a:spcPct val="125000"/>
              </a:lnSpc>
            </a:pPr>
            <a:r>
              <a:rPr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7．</a:t>
            </a:r>
            <a:r>
              <a:rPr lang="zh-CN" altLang="en-US"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查看</a:t>
            </a:r>
            <a:r>
              <a:rPr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存储过程</a:t>
            </a:r>
          </a:p>
        </p:txBody>
      </p:sp>
      <p:sp>
        <p:nvSpPr>
          <p:cNvPr id="5" name="矩形 4"/>
          <p:cNvSpPr/>
          <p:nvPr/>
        </p:nvSpPr>
        <p:spPr>
          <a:xfrm>
            <a:off x="431165" y="1271270"/>
            <a:ext cx="11494770" cy="1014730"/>
          </a:xfrm>
          <a:prstGeom prst="rect">
            <a:avLst/>
          </a:prstGeom>
          <a:noFill/>
          <a:ln w="9525">
            <a:noFill/>
          </a:ln>
        </p:spPr>
        <p:txBody>
          <a:bodyPr wrap="square">
            <a:spAutoFit/>
          </a:bodyPr>
          <a:lstStyle/>
          <a:p>
            <a:pPr eaLnBrk="1" latinLnBrk="0" hangingPunct="1">
              <a:lnSpc>
                <a:spcPct val="125000"/>
              </a:lnSpc>
            </a:pPr>
            <a:r>
              <a:rPr altLang="zh-CN" sz="2400" i="0" dirty="0">
                <a:latin typeface="微软雅黑" panose="020B0503020204020204" pitchFamily="34" charset="-122"/>
                <a:ea typeface="微软雅黑" panose="020B0503020204020204" pitchFamily="34" charset="-122"/>
                <a:cs typeface="微软雅黑" panose="020B0503020204020204" pitchFamily="34" charset="-122"/>
              </a:rPr>
              <a:t>（1）SHOW STATUS语句可以查看存储过程的状态</a:t>
            </a:r>
          </a:p>
          <a:p>
            <a:pPr eaLnBrk="1" latinLnBrk="0" hangingPunct="1">
              <a:lnSpc>
                <a:spcPct val="125000"/>
              </a:lnSpc>
            </a:pPr>
            <a:r>
              <a:rPr altLang="zh-CN" sz="2400" i="0" dirty="0">
                <a:latin typeface="微软雅黑" panose="020B0503020204020204" pitchFamily="34" charset="-122"/>
                <a:ea typeface="微软雅黑" panose="020B0503020204020204" pitchFamily="34" charset="-122"/>
                <a:cs typeface="微软雅黑" panose="020B0503020204020204" pitchFamily="34" charset="-122"/>
              </a:rPr>
              <a:t>基本语法结构：</a:t>
            </a:r>
            <a:r>
              <a:rPr altLang="zh-CN" sz="2400" i="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SHOW PROCEDURE STATUS [LIKE 'pattern'];</a:t>
            </a:r>
          </a:p>
        </p:txBody>
      </p:sp>
      <p:sp>
        <p:nvSpPr>
          <p:cNvPr id="100" name="文本框 99"/>
          <p:cNvSpPr txBox="1"/>
          <p:nvPr/>
        </p:nvSpPr>
        <p:spPr>
          <a:xfrm>
            <a:off x="547370" y="3291205"/>
            <a:ext cx="7192010" cy="553085"/>
          </a:xfrm>
          <a:prstGeom prst="rect">
            <a:avLst/>
          </a:prstGeom>
          <a:noFill/>
          <a:ln w="9525">
            <a:noFill/>
          </a:ln>
        </p:spPr>
        <p:txBody>
          <a:bodyPr wrap="square">
            <a:spAutoFit/>
          </a:bodyPr>
          <a:lstStyle/>
          <a:p>
            <a:pPr marL="0">
              <a:lnSpc>
                <a:spcPct val="125000"/>
              </a:lnSpc>
              <a:buClrTx/>
              <a:buSzTx/>
              <a:buFontTx/>
            </a:pPr>
            <a:r>
              <a:rPr lang="zh-CN" altLang="en-US" sz="2400" b="0" dirty="0">
                <a:latin typeface="微软雅黑" panose="020B0503020204020204" pitchFamily="34" charset="-122"/>
                <a:ea typeface="微软雅黑" panose="020B0503020204020204" pitchFamily="34" charset="-122"/>
                <a:cs typeface="微软雅黑" panose="020B0503020204020204" pitchFamily="34" charset="-122"/>
              </a:rPr>
              <a:t>如：</a:t>
            </a:r>
            <a:r>
              <a:rPr lang="zh-CN" altLang="en-US" sz="2400" b="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SHOW PROCEDURE STATUS like 'pro_';</a:t>
            </a:r>
          </a:p>
        </p:txBody>
      </p:sp>
      <p:pic>
        <p:nvPicPr>
          <p:cNvPr id="6" name="图片 1"/>
          <p:cNvPicPr>
            <a:picLocks noChangeAspect="1"/>
          </p:cNvPicPr>
          <p:nvPr/>
        </p:nvPicPr>
        <p:blipFill>
          <a:blip r:embed="rId2"/>
          <a:stretch>
            <a:fillRect/>
          </a:stretch>
        </p:blipFill>
        <p:spPr>
          <a:xfrm>
            <a:off x="6072505" y="3931920"/>
            <a:ext cx="6058535" cy="1995805"/>
          </a:xfrm>
          <a:prstGeom prst="rect">
            <a:avLst/>
          </a:prstGeom>
          <a:noFill/>
          <a:ln w="9525">
            <a:noFill/>
          </a:ln>
        </p:spPr>
      </p:pic>
      <p:sp>
        <p:nvSpPr>
          <p:cNvPr id="7" name="文本框 6"/>
          <p:cNvSpPr txBox="1"/>
          <p:nvPr/>
        </p:nvSpPr>
        <p:spPr>
          <a:xfrm>
            <a:off x="245745" y="2373630"/>
            <a:ext cx="11561445" cy="829945"/>
          </a:xfrm>
          <a:prstGeom prst="rect">
            <a:avLst/>
          </a:prstGeom>
          <a:noFill/>
          <a:ln w="9525">
            <a:noFill/>
          </a:ln>
        </p:spPr>
        <p:txBody>
          <a:bodyPr wrap="square">
            <a:spAutoFit/>
          </a:bodyPr>
          <a:lstStyle/>
          <a:p>
            <a:pPr marL="0" indent="269875"/>
            <a:r>
              <a:rPr altLang="zh-CN" sz="2400" b="0" dirty="0">
                <a:latin typeface="微软雅黑" panose="020B0503020204020204" pitchFamily="34" charset="-122"/>
                <a:ea typeface="微软雅黑" panose="020B0503020204020204" pitchFamily="34" charset="-122"/>
                <a:cs typeface="微软雅黑" panose="020B0503020204020204" pitchFamily="34" charset="-122"/>
              </a:rPr>
              <a:t>其中：LIKE 'pattern'为可选项，用来匹配存储过程名称。如果不指定LIKE子句，则查询当前数据库下的所有存储过程。</a:t>
            </a:r>
          </a:p>
        </p:txBody>
      </p:sp>
      <p:sp>
        <p:nvSpPr>
          <p:cNvPr id="8" name="文本框 7"/>
          <p:cNvSpPr txBox="1"/>
          <p:nvPr/>
        </p:nvSpPr>
        <p:spPr>
          <a:xfrm>
            <a:off x="547370" y="4237355"/>
            <a:ext cx="5617845" cy="1568450"/>
          </a:xfrm>
          <a:prstGeom prst="rect">
            <a:avLst/>
          </a:prstGeom>
          <a:noFill/>
          <a:ln w="9525">
            <a:noFill/>
          </a:ln>
        </p:spPr>
        <p:txBody>
          <a:bodyPr wrap="square">
            <a:spAutoFit/>
          </a:bodyPr>
          <a:lstStyle/>
          <a:p>
            <a:pPr marL="0" indent="0"/>
            <a:r>
              <a:rPr altLang="zh-CN" sz="2400" b="0" dirty="0">
                <a:latin typeface="微软雅黑" panose="020B0503020204020204" pitchFamily="34" charset="-122"/>
                <a:ea typeface="微软雅黑" panose="020B0503020204020204" pitchFamily="34" charset="-122"/>
                <a:cs typeface="微软雅黑" panose="020B0503020204020204" pitchFamily="34" charset="-122"/>
              </a:rPr>
              <a:t>注：SHOW STATUS语句只能查看存储过程的名称、类型、谁定义的、创建和修改时间、字符编码等信息，不能查询存储过程或函数的具体定义。</a:t>
            </a:r>
          </a:p>
        </p:txBody>
      </p:sp>
    </p:spTree>
    <p:extLst>
      <p:ext uri="{BB962C8B-B14F-4D97-AF65-F5344CB8AC3E}">
        <p14:creationId xmlns:p14="http://schemas.microsoft.com/office/powerpoint/2010/main" val="28182363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00"/>
                                        </p:tgtEl>
                                        <p:attrNameLst>
                                          <p:attrName>style.visibility</p:attrName>
                                        </p:attrNameLst>
                                      </p:cBhvr>
                                      <p:to>
                                        <p:strVal val="visible"/>
                                      </p:to>
                                    </p:set>
                                    <p:animEffect transition="in" filter="blinds(horizontal)">
                                      <p:cBhvr>
                                        <p:cTn id="12" dur="500"/>
                                        <p:tgtEl>
                                          <p:spTgt spid="100"/>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blinds(horizontal)">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blinds(horizontal)">
                                      <p:cBhvr>
                                        <p:cTn id="2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 grpId="0"/>
      <p:bldP spid="100" grpId="1"/>
      <p:bldP spid="7" grpId="0"/>
      <p:bldP spid="7" grpId="1"/>
      <p:bldP spid="8" grpId="0"/>
      <p:bldP spid="8" grpId="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99FE38DD-D074-4D0B-A898-33F2288C0FC4}" type="slidenum">
              <a:rPr lang="zh-CN" altLang="en-US" smtClean="0"/>
              <a:t>16</a:t>
            </a:fld>
            <a:endParaRPr lang="zh-CN" altLang="en-US" dirty="0"/>
          </a:p>
        </p:txBody>
      </p:sp>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cxnSp>
        <p:nvCxnSpPr>
          <p:cNvPr id="13" name="直接连接符 12"/>
          <p:cNvCxnSpPr/>
          <p:nvPr/>
        </p:nvCxnSpPr>
        <p:spPr>
          <a:xfrm rot="5400000">
            <a:off x="43826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文本框 94"/>
          <p:cNvSpPr txBox="1">
            <a:spLocks noChangeArrowheads="1"/>
          </p:cNvSpPr>
          <p:nvPr/>
        </p:nvSpPr>
        <p:spPr bwMode="auto">
          <a:xfrm>
            <a:off x="245745" y="53975"/>
            <a:ext cx="4133215"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4.2 </a:t>
            </a:r>
            <a:r>
              <a:rPr lang="zh-CN" sz="2800" b="1" dirty="0">
                <a:solidFill>
                  <a:schemeClr val="bg1"/>
                </a:solidFill>
                <a:latin typeface="微软雅黑" panose="020B0503020204020204" pitchFamily="34" charset="-122"/>
                <a:ea typeface="微软雅黑" panose="020B0503020204020204" pitchFamily="34" charset="-122"/>
              </a:rPr>
              <a:t>存储过程</a:t>
            </a:r>
          </a:p>
        </p:txBody>
      </p:sp>
      <p:sp>
        <p:nvSpPr>
          <p:cNvPr id="3" name="文本框 94"/>
          <p:cNvSpPr txBox="1">
            <a:spLocks noChangeArrowheads="1"/>
          </p:cNvSpPr>
          <p:nvPr/>
        </p:nvSpPr>
        <p:spPr bwMode="auto">
          <a:xfrm>
            <a:off x="4737459" y="75566"/>
            <a:ext cx="790877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4.2.2 </a:t>
            </a:r>
            <a:r>
              <a:rPr lang="zh-CN" altLang="en-US" sz="2800" b="1" dirty="0">
                <a:solidFill>
                  <a:schemeClr val="bg1"/>
                </a:solidFill>
                <a:latin typeface="微软雅黑" panose="020B0503020204020204" pitchFamily="34" charset="-122"/>
                <a:ea typeface="微软雅黑" panose="020B0503020204020204" pitchFamily="34" charset="-122"/>
              </a:rPr>
              <a:t>创建和管理MySQL存储过程</a:t>
            </a:r>
          </a:p>
        </p:txBody>
      </p:sp>
      <p:sp>
        <p:nvSpPr>
          <p:cNvPr id="5" name="矩形 4"/>
          <p:cNvSpPr/>
          <p:nvPr/>
        </p:nvSpPr>
        <p:spPr>
          <a:xfrm>
            <a:off x="431165" y="1011555"/>
            <a:ext cx="11494770" cy="1014730"/>
          </a:xfrm>
          <a:prstGeom prst="rect">
            <a:avLst/>
          </a:prstGeom>
          <a:noFill/>
          <a:ln w="9525">
            <a:noFill/>
          </a:ln>
        </p:spPr>
        <p:txBody>
          <a:bodyPr wrap="square">
            <a:spAutoFit/>
          </a:bodyPr>
          <a:lstStyle/>
          <a:p>
            <a:pPr eaLnBrk="1" latinLnBrk="0" hangingPunct="1">
              <a:lnSpc>
                <a:spcPct val="125000"/>
              </a:lnSpc>
            </a:pPr>
            <a:r>
              <a:rPr altLang="zh-CN" sz="2400" i="0" dirty="0">
                <a:latin typeface="微软雅黑" panose="020B0503020204020204" pitchFamily="34" charset="-122"/>
                <a:ea typeface="微软雅黑" panose="020B0503020204020204" pitchFamily="34" charset="-122"/>
                <a:cs typeface="微软雅黑" panose="020B0503020204020204" pitchFamily="34" charset="-122"/>
              </a:rPr>
              <a:t>（</a:t>
            </a:r>
            <a:r>
              <a:rPr lang="en-US" sz="2400" i="0" dirty="0">
                <a:latin typeface="微软雅黑" panose="020B0503020204020204" pitchFamily="34" charset="-122"/>
                <a:ea typeface="微软雅黑" panose="020B0503020204020204" pitchFamily="34" charset="-122"/>
                <a:cs typeface="微软雅黑" panose="020B0503020204020204" pitchFamily="34" charset="-122"/>
              </a:rPr>
              <a:t>2</a:t>
            </a:r>
            <a:r>
              <a:rPr altLang="zh-CN" sz="2400" i="0" dirty="0">
                <a:latin typeface="微软雅黑" panose="020B0503020204020204" pitchFamily="34" charset="-122"/>
                <a:ea typeface="微软雅黑" panose="020B0503020204020204" pitchFamily="34" charset="-122"/>
                <a:cs typeface="微软雅黑" panose="020B0503020204020204" pitchFamily="34" charset="-122"/>
              </a:rPr>
              <a:t>）SHOW CREATE语句也可以查看存储过程的状态</a:t>
            </a:r>
          </a:p>
          <a:p>
            <a:pPr eaLnBrk="1" latinLnBrk="0" hangingPunct="1">
              <a:lnSpc>
                <a:spcPct val="125000"/>
              </a:lnSpc>
            </a:pPr>
            <a:r>
              <a:rPr altLang="zh-CN" sz="2400" i="0" dirty="0">
                <a:latin typeface="微软雅黑" panose="020B0503020204020204" pitchFamily="34" charset="-122"/>
                <a:ea typeface="微软雅黑" panose="020B0503020204020204" pitchFamily="34" charset="-122"/>
                <a:cs typeface="微软雅黑" panose="020B0503020204020204" pitchFamily="34" charset="-122"/>
              </a:rPr>
              <a:t>基本语法结构：</a:t>
            </a:r>
            <a:r>
              <a:rPr altLang="zh-CN" sz="2400" i="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SHOW CREATE PROCEDURE</a:t>
            </a:r>
            <a:r>
              <a:rPr lang="en-US" sz="2400" i="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 </a:t>
            </a:r>
            <a:r>
              <a:rPr altLang="zh-CN" sz="2400" i="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存储过程名;</a:t>
            </a:r>
          </a:p>
        </p:txBody>
      </p:sp>
      <p:sp>
        <p:nvSpPr>
          <p:cNvPr id="100" name="文本框 99"/>
          <p:cNvSpPr txBox="1"/>
          <p:nvPr/>
        </p:nvSpPr>
        <p:spPr>
          <a:xfrm>
            <a:off x="547370" y="2242185"/>
            <a:ext cx="7192010" cy="553085"/>
          </a:xfrm>
          <a:prstGeom prst="rect">
            <a:avLst/>
          </a:prstGeom>
          <a:noFill/>
          <a:ln w="9525">
            <a:noFill/>
          </a:ln>
        </p:spPr>
        <p:txBody>
          <a:bodyPr wrap="square">
            <a:spAutoFit/>
          </a:bodyPr>
          <a:lstStyle/>
          <a:p>
            <a:pPr marL="0">
              <a:lnSpc>
                <a:spcPct val="125000"/>
              </a:lnSpc>
              <a:buClrTx/>
              <a:buSzTx/>
              <a:buFontTx/>
            </a:pPr>
            <a:r>
              <a:rPr lang="zh-CN" altLang="en-US" sz="2400" b="0" dirty="0">
                <a:latin typeface="微软雅黑" panose="020B0503020204020204" pitchFamily="34" charset="-122"/>
                <a:ea typeface="微软雅黑" panose="020B0503020204020204" pitchFamily="34" charset="-122"/>
                <a:cs typeface="微软雅黑" panose="020B0503020204020204" pitchFamily="34" charset="-122"/>
              </a:rPr>
              <a:t>如：</a:t>
            </a:r>
            <a:r>
              <a:rPr lang="zh-CN" altLang="en-US" sz="2400" b="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SHOW CREATE PROCEDURE pro1;</a:t>
            </a:r>
          </a:p>
        </p:txBody>
      </p:sp>
      <p:pic>
        <p:nvPicPr>
          <p:cNvPr id="6" name="图片 1"/>
          <p:cNvPicPr>
            <a:picLocks noChangeAspect="1"/>
          </p:cNvPicPr>
          <p:nvPr/>
        </p:nvPicPr>
        <p:blipFill>
          <a:blip r:embed="rId2"/>
          <a:stretch>
            <a:fillRect/>
          </a:stretch>
        </p:blipFill>
        <p:spPr>
          <a:xfrm>
            <a:off x="2578735" y="3209290"/>
            <a:ext cx="7710805" cy="682625"/>
          </a:xfrm>
          <a:prstGeom prst="rect">
            <a:avLst/>
          </a:prstGeom>
          <a:noFill/>
          <a:ln w="9525">
            <a:noFill/>
          </a:ln>
        </p:spPr>
      </p:pic>
      <p:sp>
        <p:nvSpPr>
          <p:cNvPr id="8" name="文本框 7"/>
          <p:cNvSpPr txBox="1"/>
          <p:nvPr/>
        </p:nvSpPr>
        <p:spPr>
          <a:xfrm>
            <a:off x="589280" y="4345940"/>
            <a:ext cx="10661015" cy="460375"/>
          </a:xfrm>
          <a:prstGeom prst="rect">
            <a:avLst/>
          </a:prstGeom>
          <a:noFill/>
          <a:ln w="9525">
            <a:noFill/>
          </a:ln>
        </p:spPr>
        <p:txBody>
          <a:bodyPr wrap="square">
            <a:spAutoFit/>
          </a:bodyPr>
          <a:lstStyle/>
          <a:p>
            <a:pPr marL="0" indent="0"/>
            <a:r>
              <a:rPr altLang="zh-CN" sz="2400" b="0" dirty="0">
                <a:latin typeface="微软雅黑" panose="020B0503020204020204" pitchFamily="34" charset="-122"/>
                <a:ea typeface="微软雅黑" panose="020B0503020204020204" pitchFamily="34" charset="-122"/>
                <a:cs typeface="微软雅黑" panose="020B0503020204020204" pitchFamily="34" charset="-122"/>
              </a:rPr>
              <a:t>注：SHOW CREATE语句查询结果显示了存储过程的定义、字符集等信息。</a:t>
            </a:r>
          </a:p>
        </p:txBody>
      </p:sp>
    </p:spTree>
    <p:extLst>
      <p:ext uri="{BB962C8B-B14F-4D97-AF65-F5344CB8AC3E}">
        <p14:creationId xmlns:p14="http://schemas.microsoft.com/office/powerpoint/2010/main" val="38747287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0"/>
                                        </p:tgtEl>
                                        <p:attrNameLst>
                                          <p:attrName>style.visibility</p:attrName>
                                        </p:attrNameLst>
                                      </p:cBhvr>
                                      <p:to>
                                        <p:strVal val="visible"/>
                                      </p:to>
                                    </p:set>
                                    <p:animEffect transition="in" filter="blinds(horizontal)">
                                      <p:cBhvr>
                                        <p:cTn id="7" dur="500"/>
                                        <p:tgtEl>
                                          <p:spTgt spid="10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blinds(horizontal)">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 grpId="0"/>
      <p:bldP spid="100" grpId="1"/>
      <p:bldP spid="8" grpId="0"/>
      <p:bldP spid="8" grpId="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cxnSp>
        <p:nvCxnSpPr>
          <p:cNvPr id="13" name="直接连接符 12"/>
          <p:cNvCxnSpPr/>
          <p:nvPr/>
        </p:nvCxnSpPr>
        <p:spPr>
          <a:xfrm rot="5400000">
            <a:off x="43826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文本框 94"/>
          <p:cNvSpPr txBox="1">
            <a:spLocks noChangeArrowheads="1"/>
          </p:cNvSpPr>
          <p:nvPr/>
        </p:nvSpPr>
        <p:spPr bwMode="auto">
          <a:xfrm>
            <a:off x="245745" y="53975"/>
            <a:ext cx="4133215"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4.2 </a:t>
            </a:r>
            <a:r>
              <a:rPr lang="zh-CN" sz="2800" b="1" dirty="0">
                <a:solidFill>
                  <a:schemeClr val="bg1"/>
                </a:solidFill>
                <a:latin typeface="微软雅黑" panose="020B0503020204020204" pitchFamily="34" charset="-122"/>
                <a:ea typeface="微软雅黑" panose="020B0503020204020204" pitchFamily="34" charset="-122"/>
              </a:rPr>
              <a:t>存储过程</a:t>
            </a:r>
          </a:p>
        </p:txBody>
      </p:sp>
      <p:sp>
        <p:nvSpPr>
          <p:cNvPr id="360451" name="Rectangle 3"/>
          <p:cNvSpPr/>
          <p:nvPr/>
        </p:nvSpPr>
        <p:spPr>
          <a:xfrm>
            <a:off x="913765" y="1383030"/>
            <a:ext cx="10862310" cy="4526280"/>
          </a:xfrm>
          <a:prstGeom prst="rect">
            <a:avLst/>
          </a:prstGeom>
          <a:noFill/>
          <a:ln>
            <a:noFill/>
          </a:ln>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eaLnBrk="1" latinLnBrk="0" hangingPunct="1">
              <a:lnSpc>
                <a:spcPct val="125000"/>
              </a:lnSpc>
              <a:spcBef>
                <a:spcPts val="0"/>
              </a:spcBef>
              <a:buNone/>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修改存储过程的语句是：</a:t>
            </a:r>
          </a:p>
          <a:p>
            <a:pPr eaLnBrk="1" latinLnBrk="0" hangingPunct="1">
              <a:lnSpc>
                <a:spcPct val="125000"/>
              </a:lnSpc>
              <a:spcBef>
                <a:spcPts val="0"/>
              </a:spcBef>
              <a:buNone/>
            </a:pPr>
            <a:r>
              <a:rPr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ALTER PROCEDURE 存储过程名(参数列表)</a:t>
            </a:r>
          </a:p>
          <a:p>
            <a:pPr eaLnBrk="1" latinLnBrk="0" hangingPunct="1">
              <a:lnSpc>
                <a:spcPct val="125000"/>
              </a:lnSpc>
              <a:spcBef>
                <a:spcPts val="0"/>
              </a:spcBef>
              <a:buNone/>
            </a:pPr>
            <a:r>
              <a:rPr sz="2400" dirty="0">
                <a:latin typeface="微软雅黑" panose="020B0503020204020204" pitchFamily="34" charset="-122"/>
                <a:ea typeface="微软雅黑" panose="020B0503020204020204" pitchFamily="34" charset="-122"/>
                <a:cs typeface="微软雅黑" panose="020B0503020204020204" pitchFamily="34" charset="-122"/>
              </a:rPr>
              <a:t>  BEGIN</a:t>
            </a:r>
          </a:p>
          <a:p>
            <a:pPr eaLnBrk="1" latinLnBrk="0" hangingPunct="1">
              <a:lnSpc>
                <a:spcPct val="125000"/>
              </a:lnSpc>
              <a:spcBef>
                <a:spcPts val="0"/>
              </a:spcBef>
              <a:buNone/>
            </a:pPr>
            <a:r>
              <a:rPr sz="2400" dirty="0">
                <a:latin typeface="微软雅黑" panose="020B0503020204020204" pitchFamily="34" charset="-122"/>
                <a:ea typeface="微软雅黑" panose="020B0503020204020204" pitchFamily="34" charset="-122"/>
                <a:cs typeface="微软雅黑" panose="020B0503020204020204" pitchFamily="34" charset="-122"/>
              </a:rPr>
              <a:t>     SQL语句</a:t>
            </a:r>
          </a:p>
          <a:p>
            <a:pPr eaLnBrk="1" latinLnBrk="0" hangingPunct="1">
              <a:lnSpc>
                <a:spcPct val="125000"/>
              </a:lnSpc>
              <a:spcBef>
                <a:spcPts val="0"/>
              </a:spcBef>
              <a:buNone/>
            </a:pPr>
            <a:r>
              <a:rPr sz="2400" dirty="0">
                <a:latin typeface="微软雅黑" panose="020B0503020204020204" pitchFamily="34" charset="-122"/>
                <a:ea typeface="微软雅黑" panose="020B0503020204020204" pitchFamily="34" charset="-122"/>
                <a:cs typeface="微软雅黑" panose="020B0503020204020204" pitchFamily="34" charset="-122"/>
              </a:rPr>
              <a:t>  END</a:t>
            </a:r>
          </a:p>
          <a:p>
            <a:pPr eaLnBrk="1" latinLnBrk="0" hangingPunct="1">
              <a:lnSpc>
                <a:spcPct val="125000"/>
              </a:lnSpc>
              <a:spcBef>
                <a:spcPts val="0"/>
              </a:spcBef>
              <a:buNone/>
            </a:pPr>
            <a:endParaRPr sz="2400" dirty="0">
              <a:latin typeface="微软雅黑" panose="020B0503020204020204" pitchFamily="34" charset="-122"/>
              <a:ea typeface="微软雅黑" panose="020B0503020204020204" pitchFamily="34" charset="-122"/>
              <a:cs typeface="微软雅黑" panose="020B0503020204020204" pitchFamily="34" charset="-122"/>
            </a:endParaRPr>
          </a:p>
          <a:p>
            <a:pPr eaLnBrk="1" latinLnBrk="0" hangingPunct="1">
              <a:lnSpc>
                <a:spcPct val="125000"/>
              </a:lnSpc>
              <a:spcBef>
                <a:spcPts val="0"/>
              </a:spcBef>
              <a:buNone/>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删除存储过程的语句是：</a:t>
            </a:r>
          </a:p>
          <a:p>
            <a:pPr eaLnBrk="1" latinLnBrk="0" hangingPunct="1">
              <a:lnSpc>
                <a:spcPct val="125000"/>
              </a:lnSpc>
              <a:spcBef>
                <a:spcPts val="0"/>
              </a:spcBef>
              <a:buNone/>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   </a:t>
            </a:r>
            <a:r>
              <a:rPr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DROP PROCEDURE存储过程名</a:t>
            </a:r>
          </a:p>
        </p:txBody>
      </p:sp>
      <p:sp>
        <p:nvSpPr>
          <p:cNvPr id="2" name="文本框 94"/>
          <p:cNvSpPr txBox="1">
            <a:spLocks noChangeArrowheads="1"/>
          </p:cNvSpPr>
          <p:nvPr/>
        </p:nvSpPr>
        <p:spPr bwMode="auto">
          <a:xfrm>
            <a:off x="4737459" y="75566"/>
            <a:ext cx="790877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4.2.2 </a:t>
            </a:r>
            <a:r>
              <a:rPr lang="zh-CN" altLang="en-US" sz="2800" b="1" dirty="0">
                <a:solidFill>
                  <a:schemeClr val="bg1"/>
                </a:solidFill>
                <a:latin typeface="微软雅黑" panose="020B0503020204020204" pitchFamily="34" charset="-122"/>
                <a:ea typeface="微软雅黑" panose="020B0503020204020204" pitchFamily="34" charset="-122"/>
              </a:rPr>
              <a:t>创建和管理MySQL存储过程</a:t>
            </a:r>
          </a:p>
        </p:txBody>
      </p:sp>
      <p:sp>
        <p:nvSpPr>
          <p:cNvPr id="39950" name="Rectangle 2"/>
          <p:cNvSpPr/>
          <p:nvPr/>
        </p:nvSpPr>
        <p:spPr>
          <a:xfrm>
            <a:off x="245745" y="699135"/>
            <a:ext cx="4015740" cy="647700"/>
          </a:xfrm>
          <a:prstGeom prst="rect">
            <a:avLst/>
          </a:prstGeom>
          <a:noFill/>
          <a:ln>
            <a:noFill/>
          </a:ln>
        </p:spPr>
        <p:txBody>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algn="l" eaLnBrk="1" latinLnBrk="0" hangingPunct="1">
              <a:lnSpc>
                <a:spcPct val="125000"/>
              </a:lnSpc>
            </a:pPr>
            <a:r>
              <a:rPr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8．</a:t>
            </a:r>
            <a:r>
              <a:rPr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修改和删除存储过程</a:t>
            </a:r>
          </a:p>
        </p:txBody>
      </p:sp>
    </p:spTree>
    <p:extLst>
      <p:ext uri="{BB962C8B-B14F-4D97-AF65-F5344CB8AC3E}">
        <p14:creationId xmlns:p14="http://schemas.microsoft.com/office/powerpoint/2010/main" val="67499973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60451">
                                            <p:txEl>
                                              <p:charRg st="101" end="101"/>
                                            </p:txEl>
                                          </p:spTgt>
                                        </p:tgtEl>
                                        <p:attrNameLst>
                                          <p:attrName>style.visibility</p:attrName>
                                        </p:attrNameLst>
                                      </p:cBhvr>
                                      <p:to>
                                        <p:strVal val="visible"/>
                                      </p:to>
                                    </p:set>
                                    <p:animEffect transition="in" filter="blinds(horizontal)">
                                      <p:cBhvr>
                                        <p:cTn id="7" dur="500"/>
                                        <p:tgtEl>
                                          <p:spTgt spid="360451">
                                            <p:txEl>
                                              <p:charRg st="101" end="10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60451">
                                            <p:txEl>
                                              <p:charRg st="101" end="101"/>
                                            </p:txEl>
                                          </p:spTgt>
                                        </p:tgtEl>
                                        <p:attrNameLst>
                                          <p:attrName>style.visibility</p:attrName>
                                        </p:attrNameLst>
                                      </p:cBhvr>
                                      <p:to>
                                        <p:strVal val="visible"/>
                                      </p:to>
                                    </p:set>
                                    <p:animEffect transition="in" filter="blinds(horizontal)">
                                      <p:cBhvr>
                                        <p:cTn id="10" dur="500"/>
                                        <p:tgtEl>
                                          <p:spTgt spid="360451">
                                            <p:txEl>
                                              <p:charRg st="101" end="10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cxnSp>
        <p:nvCxnSpPr>
          <p:cNvPr id="13" name="直接连接符 12"/>
          <p:cNvCxnSpPr/>
          <p:nvPr/>
        </p:nvCxnSpPr>
        <p:spPr>
          <a:xfrm rot="5400000">
            <a:off x="43826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文本框 94"/>
          <p:cNvSpPr txBox="1">
            <a:spLocks noChangeArrowheads="1"/>
          </p:cNvSpPr>
          <p:nvPr/>
        </p:nvSpPr>
        <p:spPr bwMode="auto">
          <a:xfrm>
            <a:off x="245745" y="53975"/>
            <a:ext cx="4133215"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4.2 </a:t>
            </a:r>
            <a:r>
              <a:rPr lang="zh-CN" sz="2800" b="1" dirty="0">
                <a:solidFill>
                  <a:schemeClr val="bg1"/>
                </a:solidFill>
                <a:latin typeface="微软雅黑" panose="020B0503020204020204" pitchFamily="34" charset="-122"/>
                <a:ea typeface="微软雅黑" panose="020B0503020204020204" pitchFamily="34" charset="-122"/>
              </a:rPr>
              <a:t>存储过程</a:t>
            </a:r>
          </a:p>
        </p:txBody>
      </p:sp>
      <p:sp>
        <p:nvSpPr>
          <p:cNvPr id="12" name="文本框 94"/>
          <p:cNvSpPr txBox="1">
            <a:spLocks noChangeArrowheads="1"/>
          </p:cNvSpPr>
          <p:nvPr/>
        </p:nvSpPr>
        <p:spPr bwMode="auto">
          <a:xfrm>
            <a:off x="4737459" y="75566"/>
            <a:ext cx="790877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4.2.2 </a:t>
            </a:r>
            <a:r>
              <a:rPr lang="zh-CN" altLang="en-US" sz="2800" b="1" dirty="0">
                <a:solidFill>
                  <a:schemeClr val="bg1"/>
                </a:solidFill>
                <a:latin typeface="微软雅黑" panose="020B0503020204020204" pitchFamily="34" charset="-122"/>
                <a:ea typeface="微软雅黑" panose="020B0503020204020204" pitchFamily="34" charset="-122"/>
              </a:rPr>
              <a:t>创建和管理</a:t>
            </a:r>
            <a:r>
              <a:rPr lang="en-US" altLang="zh-CN" sz="2800" b="1" dirty="0" err="1">
                <a:solidFill>
                  <a:schemeClr val="bg1"/>
                </a:solidFill>
                <a:latin typeface="微软雅黑" panose="020B0503020204020204" pitchFamily="34" charset="-122"/>
                <a:ea typeface="微软雅黑" panose="020B0503020204020204" pitchFamily="34" charset="-122"/>
              </a:rPr>
              <a:t>SQLServer</a:t>
            </a:r>
            <a:r>
              <a:rPr lang="zh-CN" sz="2800" b="1" dirty="0">
                <a:solidFill>
                  <a:schemeClr val="bg1"/>
                </a:solidFill>
                <a:latin typeface="微软雅黑" panose="020B0503020204020204" pitchFamily="34" charset="-122"/>
                <a:ea typeface="微软雅黑" panose="020B0503020204020204" pitchFamily="34" charset="-122"/>
              </a:rPr>
              <a:t>存储过程</a:t>
            </a:r>
          </a:p>
        </p:txBody>
      </p:sp>
      <p:sp>
        <p:nvSpPr>
          <p:cNvPr id="21507" name="Rectangle 3"/>
          <p:cNvSpPr/>
          <p:nvPr/>
        </p:nvSpPr>
        <p:spPr>
          <a:xfrm>
            <a:off x="704850" y="886460"/>
            <a:ext cx="10962640" cy="4526280"/>
          </a:xfrm>
          <a:prstGeom prst="rect">
            <a:avLst/>
          </a:prstGeom>
          <a:noFill/>
          <a:ln>
            <a:noFill/>
          </a:ln>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eaLnBrk="1" latinLnBrk="0" hangingPunct="1">
              <a:lnSpc>
                <a:spcPct val="125000"/>
              </a:lnSpc>
              <a:spcBef>
                <a:spcPts val="0"/>
              </a:spcBef>
              <a:buNone/>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      创建存储过程的</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SQL</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语句格式为：</a:t>
            </a:r>
          </a:p>
          <a:p>
            <a:pPr eaLnBrk="1" latinLnBrk="0" hangingPunct="1">
              <a:lnSpc>
                <a:spcPct val="125000"/>
              </a:lnSpc>
              <a:spcBef>
                <a:spcPts val="0"/>
              </a:spcBef>
              <a:buNone/>
            </a:pP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a:p>
            <a:pPr eaLnBrk="1" latinLnBrk="0" hangingPunct="1">
              <a:lnSpc>
                <a:spcPct val="125000"/>
              </a:lnSpc>
              <a:spcBef>
                <a:spcPts val="0"/>
              </a:spcBef>
              <a:buNone/>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CREATE PROCEDURE </a:t>
            </a:r>
            <a:r>
              <a:rPr lang="zh-CN" altLang="en-US"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存储过程名</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；版本号</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a:t>
            </a:r>
          </a:p>
          <a:p>
            <a:pPr eaLnBrk="1" latinLnBrk="0" hangingPunct="1">
              <a:lnSpc>
                <a:spcPct val="125000"/>
              </a:lnSpc>
              <a:spcBef>
                <a:spcPts val="0"/>
              </a:spcBef>
              <a:buNone/>
            </a:pP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    [ {@</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参数 数据类型</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 [ VARYING ] [= </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默认值</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 OUTPUT ],</a:t>
            </a:r>
          </a:p>
          <a:p>
            <a:pPr eaLnBrk="1" latinLnBrk="0" hangingPunct="1">
              <a:lnSpc>
                <a:spcPct val="125000"/>
              </a:lnSpc>
              <a:spcBef>
                <a:spcPts val="0"/>
              </a:spcBef>
              <a:buNone/>
            </a:pP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       ……]</a:t>
            </a:r>
          </a:p>
          <a:p>
            <a:pPr eaLnBrk="1" latinLnBrk="0" hangingPunct="1">
              <a:lnSpc>
                <a:spcPct val="125000"/>
              </a:lnSpc>
              <a:spcBef>
                <a:spcPts val="0"/>
              </a:spcBef>
              <a:buNone/>
            </a:pP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    [ WITH{RECOMPILE|ENCRYPTION|RECOMPILE,ENCRYPTION}] </a:t>
            </a:r>
            <a:b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b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  [ FOR REPLICATION ] </a:t>
            </a:r>
          </a:p>
          <a:p>
            <a:pPr eaLnBrk="1" latinLnBrk="0" hangingPunct="1">
              <a:lnSpc>
                <a:spcPct val="125000"/>
              </a:lnSpc>
              <a:spcBef>
                <a:spcPts val="0"/>
              </a:spcBef>
              <a:buNone/>
            </a:pP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AS </a:t>
            </a:r>
          </a:p>
          <a:p>
            <a:pPr eaLnBrk="1" latinLnBrk="0" hangingPunct="1">
              <a:lnSpc>
                <a:spcPct val="125000"/>
              </a:lnSpc>
              <a:spcBef>
                <a:spcPts val="0"/>
              </a:spcBef>
              <a:buNone/>
            </a:pPr>
            <a:r>
              <a:rPr lang="en-US" altLang="zh-CN"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      SQL</a:t>
            </a:r>
            <a:r>
              <a:rPr lang="zh-CN" altLang="en-US"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语句</a:t>
            </a:r>
          </a:p>
        </p:txBody>
      </p:sp>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cxnSp>
        <p:nvCxnSpPr>
          <p:cNvPr id="13" name="直接连接符 12"/>
          <p:cNvCxnSpPr/>
          <p:nvPr/>
        </p:nvCxnSpPr>
        <p:spPr>
          <a:xfrm rot="5400000">
            <a:off x="43826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文本框 94"/>
          <p:cNvSpPr txBox="1">
            <a:spLocks noChangeArrowheads="1"/>
          </p:cNvSpPr>
          <p:nvPr/>
        </p:nvSpPr>
        <p:spPr bwMode="auto">
          <a:xfrm>
            <a:off x="245745" y="53975"/>
            <a:ext cx="4133215"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4.2 </a:t>
            </a:r>
            <a:r>
              <a:rPr lang="zh-CN" sz="2800" b="1" dirty="0">
                <a:solidFill>
                  <a:schemeClr val="bg1"/>
                </a:solidFill>
                <a:latin typeface="微软雅黑" panose="020B0503020204020204" pitchFamily="34" charset="-122"/>
                <a:ea typeface="微软雅黑" panose="020B0503020204020204" pitchFamily="34" charset="-122"/>
              </a:rPr>
              <a:t>存储过程</a:t>
            </a:r>
          </a:p>
        </p:txBody>
      </p:sp>
      <p:sp>
        <p:nvSpPr>
          <p:cNvPr id="12" name="文本框 94"/>
          <p:cNvSpPr txBox="1">
            <a:spLocks noChangeArrowheads="1"/>
          </p:cNvSpPr>
          <p:nvPr/>
        </p:nvSpPr>
        <p:spPr bwMode="auto">
          <a:xfrm>
            <a:off x="4737459" y="75566"/>
            <a:ext cx="7908779" cy="954107"/>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4.2.2</a:t>
            </a:r>
            <a:r>
              <a:rPr lang="zh-CN" altLang="en-US" sz="2800" b="1" dirty="0">
                <a:solidFill>
                  <a:schemeClr val="bg1"/>
                </a:solidFill>
                <a:latin typeface="微软雅黑" panose="020B0503020204020204" pitchFamily="34" charset="-122"/>
                <a:ea typeface="微软雅黑" panose="020B0503020204020204" pitchFamily="34" charset="-122"/>
              </a:rPr>
              <a:t>创建和管理</a:t>
            </a:r>
            <a:r>
              <a:rPr lang="en-US" altLang="zh-CN" sz="2800" b="1" dirty="0" err="1">
                <a:solidFill>
                  <a:schemeClr val="bg1"/>
                </a:solidFill>
                <a:latin typeface="微软雅黑" panose="020B0503020204020204" pitchFamily="34" charset="-122"/>
                <a:ea typeface="微软雅黑" panose="020B0503020204020204" pitchFamily="34" charset="-122"/>
              </a:rPr>
              <a:t>SQLServer</a:t>
            </a:r>
            <a:r>
              <a:rPr lang="zh-CN" altLang="zh-CN" sz="2800" b="1" dirty="0">
                <a:solidFill>
                  <a:schemeClr val="bg1"/>
                </a:solidFill>
                <a:latin typeface="微软雅黑" panose="020B0503020204020204" pitchFamily="34" charset="-122"/>
                <a:ea typeface="微软雅黑" panose="020B0503020204020204" pitchFamily="34" charset="-122"/>
              </a:rPr>
              <a:t>存储过程</a:t>
            </a:r>
          </a:p>
          <a:p>
            <a:endParaRPr lang="zh-CN" sz="2800" b="1" dirty="0">
              <a:solidFill>
                <a:schemeClr val="bg1"/>
              </a:solidFill>
              <a:latin typeface="微软雅黑" panose="020B0503020204020204" pitchFamily="34" charset="-122"/>
              <a:ea typeface="微软雅黑" panose="020B0503020204020204" pitchFamily="34" charset="-122"/>
            </a:endParaRPr>
          </a:p>
        </p:txBody>
      </p:sp>
      <p:sp>
        <p:nvSpPr>
          <p:cNvPr id="28674" name="Rectangle 2"/>
          <p:cNvSpPr/>
          <p:nvPr/>
        </p:nvSpPr>
        <p:spPr>
          <a:xfrm>
            <a:off x="395288" y="948690"/>
            <a:ext cx="8229600" cy="719138"/>
          </a:xfrm>
          <a:prstGeom prst="rect">
            <a:avLst/>
          </a:prstGeom>
          <a:noFill/>
          <a:ln>
            <a:noFill/>
          </a:ln>
        </p:spPr>
        <p:txBody>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algn="l" eaLnBrk="1" latinLnBrk="0" hangingPunct="1">
              <a:lnSpc>
                <a:spcPct val="125000"/>
              </a:lnSpc>
              <a:spcBef>
                <a:spcPts val="0"/>
              </a:spcBef>
            </a:pPr>
            <a:r>
              <a:rPr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．基本存储过程</a:t>
            </a:r>
          </a:p>
        </p:txBody>
      </p:sp>
      <p:sp>
        <p:nvSpPr>
          <p:cNvPr id="350211" name="Rectangle 3"/>
          <p:cNvSpPr/>
          <p:nvPr/>
        </p:nvSpPr>
        <p:spPr>
          <a:xfrm>
            <a:off x="395605" y="1557020"/>
            <a:ext cx="11226165" cy="2736850"/>
          </a:xfrm>
          <a:prstGeom prst="rect">
            <a:avLst/>
          </a:prstGeom>
          <a:noFill/>
          <a:ln>
            <a:noFill/>
          </a:ln>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eaLnBrk="1" latinLnBrk="0" hangingPunct="1">
              <a:lnSpc>
                <a:spcPct val="125000"/>
              </a:lnSpc>
              <a:spcBef>
                <a:spcPts val="0"/>
              </a:spcBef>
              <a:buNone/>
            </a:pP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例</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4.6】</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创建一个最简单的存储过程，用于查看</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Stock</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表中的所有记录。</a:t>
            </a:r>
          </a:p>
          <a:p>
            <a:pPr eaLnBrk="1" latinLnBrk="0" hangingPunct="1">
              <a:lnSpc>
                <a:spcPct val="125000"/>
              </a:lnSpc>
              <a:spcBef>
                <a:spcPts val="0"/>
              </a:spcBef>
              <a:buNone/>
            </a:pPr>
            <a:r>
              <a:rPr lang="zh-CN" altLang="en-US"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CREATE PROCEDURE exp1</a:t>
            </a:r>
          </a:p>
          <a:p>
            <a:pPr eaLnBrk="1" latinLnBrk="0" hangingPunct="1">
              <a:lnSpc>
                <a:spcPct val="125000"/>
              </a:lnSpc>
              <a:spcBef>
                <a:spcPts val="0"/>
              </a:spcBef>
              <a:buNone/>
            </a:pPr>
            <a:r>
              <a:rPr lang="en-US" altLang="zh-CN"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    AS</a:t>
            </a:r>
          </a:p>
          <a:p>
            <a:pPr eaLnBrk="1" latinLnBrk="0" hangingPunct="1">
              <a:lnSpc>
                <a:spcPct val="125000"/>
              </a:lnSpc>
              <a:spcBef>
                <a:spcPts val="0"/>
              </a:spcBef>
              <a:buNone/>
            </a:pP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      SELECT * </a:t>
            </a:r>
          </a:p>
          <a:p>
            <a:pPr eaLnBrk="1" latinLnBrk="0" hangingPunct="1">
              <a:lnSpc>
                <a:spcPct val="125000"/>
              </a:lnSpc>
              <a:spcBef>
                <a:spcPts val="0"/>
              </a:spcBef>
              <a:buNone/>
            </a:pP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      FROM  Stock</a:t>
            </a:r>
          </a:p>
          <a:p>
            <a:pPr eaLnBrk="1" hangingPunct="1">
              <a:buNone/>
            </a:pP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 name="Rectangle 2"/>
          <p:cNvSpPr txBox="1"/>
          <p:nvPr/>
        </p:nvSpPr>
        <p:spPr>
          <a:xfrm>
            <a:off x="653415" y="4165283"/>
            <a:ext cx="6791325" cy="1944687"/>
          </a:xfrm>
          <a:prstGeom prst="rect">
            <a:avLst/>
          </a:prstGeom>
          <a:noFill/>
          <a:ln w="9525">
            <a:noFill/>
          </a:ln>
        </p:spPr>
        <p:txBody>
          <a:bodyPr/>
          <a:lstStyle/>
          <a:p>
            <a:pPr marL="342900" indent="-342900" eaLnBrk="1" latinLnBrk="0" hangingPunct="1">
              <a:lnSpc>
                <a:spcPct val="125000"/>
              </a:lnSpc>
              <a:spcBef>
                <a:spcPts val="0"/>
              </a:spcBef>
            </a:pPr>
            <a:r>
              <a:rPr lang="zh-CN" altLang="en-US" sz="2400" i="0" dirty="0">
                <a:latin typeface="微软雅黑" panose="020B0503020204020204" pitchFamily="34" charset="-122"/>
                <a:ea typeface="微软雅黑" panose="020B0503020204020204" pitchFamily="34" charset="-122"/>
                <a:cs typeface="微软雅黑" panose="020B0503020204020204" pitchFamily="34" charset="-122"/>
              </a:rPr>
              <a:t>执行存储过程</a:t>
            </a:r>
            <a:r>
              <a:rPr lang="en-US" altLang="zh-CN" sz="2400" i="0" dirty="0">
                <a:latin typeface="微软雅黑" panose="020B0503020204020204" pitchFamily="34" charset="-122"/>
                <a:ea typeface="微软雅黑" panose="020B0503020204020204" pitchFamily="34" charset="-122"/>
                <a:cs typeface="微软雅黑" panose="020B0503020204020204" pitchFamily="34" charset="-122"/>
              </a:rPr>
              <a:t>:</a:t>
            </a:r>
          </a:p>
          <a:p>
            <a:pPr marL="342900" indent="-342900" eaLnBrk="1" latinLnBrk="0" hangingPunct="1">
              <a:lnSpc>
                <a:spcPct val="125000"/>
              </a:lnSpc>
              <a:spcBef>
                <a:spcPts val="0"/>
              </a:spcBef>
            </a:pPr>
            <a:r>
              <a:rPr lang="en-US" altLang="zh-CN" sz="2400" i="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EXECUTE  [@&lt;</a:t>
            </a:r>
            <a:r>
              <a:rPr lang="zh-CN" altLang="en-US" sz="2400" i="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状态变量</a:t>
            </a:r>
            <a:r>
              <a:rPr lang="en-US" altLang="zh-CN" sz="2400" i="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&gt;=] </a:t>
            </a:r>
            <a:r>
              <a:rPr lang="zh-CN" altLang="en-US" sz="2400" i="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存储过程名</a:t>
            </a:r>
          </a:p>
          <a:p>
            <a:pPr marL="342900" indent="-342900" eaLnBrk="1" latinLnBrk="0" hangingPunct="1">
              <a:lnSpc>
                <a:spcPct val="125000"/>
              </a:lnSpc>
              <a:spcBef>
                <a:spcPts val="0"/>
              </a:spcBef>
            </a:pPr>
            <a:r>
              <a:rPr lang="zh-CN" altLang="en-US" sz="2400" i="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400" i="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[@&lt;</a:t>
            </a:r>
            <a:r>
              <a:rPr lang="zh-CN" altLang="en-US" sz="2400" i="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参数</a:t>
            </a:r>
            <a:r>
              <a:rPr lang="en-US" altLang="zh-CN" sz="2400" i="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&gt;=] {&lt;</a:t>
            </a:r>
            <a:r>
              <a:rPr lang="zh-CN" altLang="en-US" sz="2400" i="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值</a:t>
            </a:r>
            <a:r>
              <a:rPr lang="en-US" altLang="zh-CN" sz="2400" i="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&gt;|@&lt;</a:t>
            </a:r>
            <a:r>
              <a:rPr lang="zh-CN" altLang="en-US" sz="2400" i="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变量</a:t>
            </a:r>
            <a:r>
              <a:rPr lang="en-US" altLang="zh-CN" sz="2400" i="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&gt;}…]</a:t>
            </a:r>
            <a:endParaRPr lang="en-US" altLang="zh-CN" sz="2400" i="0" dirty="0">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eaLnBrk="1" latinLnBrk="0" hangingPunct="1">
              <a:lnSpc>
                <a:spcPct val="125000"/>
              </a:lnSpc>
              <a:spcBef>
                <a:spcPts val="0"/>
              </a:spcBef>
            </a:pPr>
            <a:r>
              <a:rPr lang="en-US" altLang="zh-CN" sz="2400" i="0" dirty="0">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2400" i="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Rectangle 2"/>
          <p:cNvSpPr txBox="1"/>
          <p:nvPr/>
        </p:nvSpPr>
        <p:spPr>
          <a:xfrm>
            <a:off x="6603365" y="2420620"/>
            <a:ext cx="3468370" cy="2016125"/>
          </a:xfrm>
          <a:prstGeom prst="rect">
            <a:avLst/>
          </a:prstGeom>
          <a:solidFill>
            <a:schemeClr val="bg2"/>
          </a:solidFill>
          <a:ln w="9525">
            <a:noFill/>
          </a:ln>
        </p:spPr>
        <p:txBody>
          <a:bodyPr/>
          <a:lstStyle/>
          <a:p>
            <a:pPr marL="342900" indent="-342900" eaLnBrk="1" latinLnBrk="0" hangingPunct="1">
              <a:lnSpc>
                <a:spcPct val="125000"/>
              </a:lnSpc>
              <a:spcBef>
                <a:spcPts val="0"/>
              </a:spcBef>
            </a:pPr>
            <a:r>
              <a:rPr lang="zh-CN" altLang="en-US" sz="2400" i="0" dirty="0">
                <a:latin typeface="微软雅黑" panose="020B0503020204020204" pitchFamily="34" charset="-122"/>
                <a:ea typeface="微软雅黑" panose="020B0503020204020204" pitchFamily="34" charset="-122"/>
                <a:cs typeface="微软雅黑" panose="020B0503020204020204" pitchFamily="34" charset="-122"/>
              </a:rPr>
              <a:t>执行</a:t>
            </a:r>
            <a:r>
              <a:rPr lang="zh-CN" altLang="en-US"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存储过程</a:t>
            </a:r>
            <a:r>
              <a:rPr lang="en-US" altLang="zh-CN" sz="2400" i="0" dirty="0">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400" i="0" dirty="0">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eaLnBrk="1" latinLnBrk="0" hangingPunct="1">
              <a:lnSpc>
                <a:spcPct val="125000"/>
              </a:lnSpc>
              <a:spcBef>
                <a:spcPts val="0"/>
              </a:spcBef>
            </a:pPr>
            <a:r>
              <a:rPr lang="zh-CN" altLang="en-US" sz="2400" i="0"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400" i="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EXECUTE  exp1</a:t>
            </a:r>
          </a:p>
          <a:p>
            <a:pPr marL="342900" indent="-342900" eaLnBrk="1" latinLnBrk="0" hangingPunct="1">
              <a:lnSpc>
                <a:spcPct val="125000"/>
              </a:lnSpc>
              <a:spcBef>
                <a:spcPts val="0"/>
              </a:spcBef>
            </a:pPr>
            <a:r>
              <a:rPr lang="zh-CN" altLang="en-US" sz="2400" i="0" dirty="0">
                <a:latin typeface="微软雅黑" panose="020B0503020204020204" pitchFamily="34" charset="-122"/>
                <a:ea typeface="微软雅黑" panose="020B0503020204020204" pitchFamily="34" charset="-122"/>
                <a:cs typeface="微软雅黑" panose="020B0503020204020204" pitchFamily="34" charset="-122"/>
              </a:rPr>
              <a:t>或者：</a:t>
            </a:r>
          </a:p>
          <a:p>
            <a:pPr marL="342900" indent="-342900" eaLnBrk="1" latinLnBrk="0" hangingPunct="1">
              <a:lnSpc>
                <a:spcPct val="125000"/>
              </a:lnSpc>
              <a:spcBef>
                <a:spcPts val="0"/>
              </a:spcBef>
            </a:pPr>
            <a:r>
              <a:rPr lang="zh-CN" altLang="en-US" sz="2400" i="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400" i="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EXEC  exp1</a:t>
            </a:r>
          </a:p>
          <a:p>
            <a:pPr marL="342900" indent="-342900">
              <a:lnSpc>
                <a:spcPct val="90000"/>
              </a:lnSpc>
              <a:spcBef>
                <a:spcPct val="20000"/>
              </a:spcBef>
              <a:buChar char="•"/>
            </a:pPr>
            <a:endParaRPr lang="en-US" altLang="zh-CN" sz="2400" i="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50211">
                                            <p:txEl>
                                              <p:pRg st="1" end="1"/>
                                            </p:txEl>
                                          </p:spTgt>
                                        </p:tgtEl>
                                        <p:attrNameLst>
                                          <p:attrName>style.visibility</p:attrName>
                                        </p:attrNameLst>
                                      </p:cBhvr>
                                      <p:to>
                                        <p:strVal val="visible"/>
                                      </p:to>
                                    </p:set>
                                    <p:animEffect transition="in" filter="blinds(horizontal)">
                                      <p:cBhvr>
                                        <p:cTn id="7" dur="500"/>
                                        <p:tgtEl>
                                          <p:spTgt spid="350211">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50211">
                                            <p:txEl>
                                              <p:pRg st="2" end="2"/>
                                            </p:txEl>
                                          </p:spTgt>
                                        </p:tgtEl>
                                        <p:attrNameLst>
                                          <p:attrName>style.visibility</p:attrName>
                                        </p:attrNameLst>
                                      </p:cBhvr>
                                      <p:to>
                                        <p:strVal val="visible"/>
                                      </p:to>
                                    </p:set>
                                    <p:animEffect transition="in" filter="blinds(horizontal)">
                                      <p:cBhvr>
                                        <p:cTn id="10" dur="500"/>
                                        <p:tgtEl>
                                          <p:spTgt spid="350211">
                                            <p:txEl>
                                              <p:pRg st="2" end="2"/>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350211">
                                            <p:txEl>
                                              <p:pRg st="3" end="3"/>
                                            </p:txEl>
                                          </p:spTgt>
                                        </p:tgtEl>
                                        <p:attrNameLst>
                                          <p:attrName>style.visibility</p:attrName>
                                        </p:attrNameLst>
                                      </p:cBhvr>
                                      <p:to>
                                        <p:strVal val="visible"/>
                                      </p:to>
                                    </p:set>
                                    <p:animEffect transition="in" filter="blinds(horizontal)">
                                      <p:cBhvr>
                                        <p:cTn id="13" dur="500"/>
                                        <p:tgtEl>
                                          <p:spTgt spid="350211">
                                            <p:txEl>
                                              <p:pRg st="3" end="3"/>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350211">
                                            <p:txEl>
                                              <p:pRg st="4" end="4"/>
                                            </p:txEl>
                                          </p:spTgt>
                                        </p:tgtEl>
                                        <p:attrNameLst>
                                          <p:attrName>style.visibility</p:attrName>
                                        </p:attrNameLst>
                                      </p:cBhvr>
                                      <p:to>
                                        <p:strVal val="visible"/>
                                      </p:to>
                                    </p:set>
                                    <p:animEffect transition="in" filter="blinds(horizontal)">
                                      <p:cBhvr>
                                        <p:cTn id="16" dur="500"/>
                                        <p:tgtEl>
                                          <p:spTgt spid="350211">
                                            <p:txEl>
                                              <p:pRg st="4" end="4"/>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blinds(horizontal)">
                                      <p:cBhvr>
                                        <p:cTn id="21" dur="500"/>
                                        <p:tgtEl>
                                          <p:spTgt spid="5"/>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blinds(horizontal)">
                                      <p:cBhvr>
                                        <p:cTn id="26"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P spid="6"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cxnSp>
        <p:nvCxnSpPr>
          <p:cNvPr id="13" name="直接连接符 12"/>
          <p:cNvCxnSpPr/>
          <p:nvPr/>
        </p:nvCxnSpPr>
        <p:spPr>
          <a:xfrm rot="5400000">
            <a:off x="43826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文本框 94"/>
          <p:cNvSpPr txBox="1">
            <a:spLocks noChangeArrowheads="1"/>
          </p:cNvSpPr>
          <p:nvPr/>
        </p:nvSpPr>
        <p:spPr bwMode="auto">
          <a:xfrm>
            <a:off x="245745" y="53975"/>
            <a:ext cx="4133215"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4.2 </a:t>
            </a:r>
            <a:r>
              <a:rPr lang="zh-CN" sz="2800" b="1" dirty="0">
                <a:solidFill>
                  <a:schemeClr val="bg1"/>
                </a:solidFill>
                <a:latin typeface="微软雅黑" panose="020B0503020204020204" pitchFamily="34" charset="-122"/>
                <a:ea typeface="微软雅黑" panose="020B0503020204020204" pitchFamily="34" charset="-122"/>
              </a:rPr>
              <a:t>存储过程</a:t>
            </a:r>
          </a:p>
        </p:txBody>
      </p:sp>
      <p:sp>
        <p:nvSpPr>
          <p:cNvPr id="12" name="文本框 94"/>
          <p:cNvSpPr txBox="1">
            <a:spLocks noChangeArrowheads="1"/>
          </p:cNvSpPr>
          <p:nvPr/>
        </p:nvSpPr>
        <p:spPr bwMode="auto">
          <a:xfrm>
            <a:off x="4737459" y="75566"/>
            <a:ext cx="7908779" cy="954107"/>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4.2.2</a:t>
            </a:r>
            <a:r>
              <a:rPr lang="zh-CN" altLang="en-US" sz="2800" b="1" dirty="0">
                <a:solidFill>
                  <a:schemeClr val="bg1"/>
                </a:solidFill>
                <a:latin typeface="微软雅黑" panose="020B0503020204020204" pitchFamily="34" charset="-122"/>
                <a:ea typeface="微软雅黑" panose="020B0503020204020204" pitchFamily="34" charset="-122"/>
              </a:rPr>
              <a:t>创建和管理</a:t>
            </a:r>
            <a:r>
              <a:rPr lang="en-US" altLang="zh-CN" sz="2800" b="1" dirty="0" err="1">
                <a:solidFill>
                  <a:schemeClr val="bg1"/>
                </a:solidFill>
                <a:latin typeface="微软雅黑" panose="020B0503020204020204" pitchFamily="34" charset="-122"/>
                <a:ea typeface="微软雅黑" panose="020B0503020204020204" pitchFamily="34" charset="-122"/>
              </a:rPr>
              <a:t>SQLServer</a:t>
            </a:r>
            <a:r>
              <a:rPr lang="zh-CN" altLang="zh-CN" sz="2800" b="1" dirty="0">
                <a:solidFill>
                  <a:schemeClr val="bg1"/>
                </a:solidFill>
                <a:latin typeface="微软雅黑" panose="020B0503020204020204" pitchFamily="34" charset="-122"/>
                <a:ea typeface="微软雅黑" panose="020B0503020204020204" pitchFamily="34" charset="-122"/>
              </a:rPr>
              <a:t>存储过程</a:t>
            </a:r>
          </a:p>
          <a:p>
            <a:endParaRPr lang="zh-CN" sz="2800" b="1" dirty="0">
              <a:solidFill>
                <a:schemeClr val="bg1"/>
              </a:solidFill>
              <a:latin typeface="微软雅黑" panose="020B0503020204020204" pitchFamily="34" charset="-122"/>
              <a:ea typeface="微软雅黑" panose="020B0503020204020204" pitchFamily="34" charset="-122"/>
            </a:endParaRPr>
          </a:p>
        </p:txBody>
      </p:sp>
      <p:sp>
        <p:nvSpPr>
          <p:cNvPr id="21507" name="Rectangle 3"/>
          <p:cNvSpPr>
            <a:spLocks noGrp="1" noChangeArrowheads="1"/>
          </p:cNvSpPr>
          <p:nvPr/>
        </p:nvSpPr>
        <p:spPr bwMode="auto">
          <a:xfrm>
            <a:off x="245745" y="2424430"/>
            <a:ext cx="11375390" cy="2355850"/>
          </a:xfrm>
          <a:prstGeom prst="rect">
            <a:avLst/>
          </a:prstGeom>
          <a:noFill/>
          <a:ln>
            <a:noFill/>
          </a:ln>
          <a:effectLst/>
          <a:scene3d>
            <a:camera prst="orthographicFront"/>
            <a:lightRig rig="balanced" dir="t"/>
          </a:scene3d>
          <a:sp3d prstMaterial="plastic"/>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no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marL="342900" marR="0" lvl="0" indent="-342900" algn="l" defTabSz="914400" rtl="0" eaLnBrk="1" latinLnBrk="0" hangingPunct="1">
              <a:lnSpc>
                <a:spcPct val="125000"/>
              </a:lnSpc>
              <a:spcBef>
                <a:spcPts val="0"/>
              </a:spcBef>
              <a:spcAft>
                <a:spcPct val="0"/>
              </a:spcAft>
              <a:buClrTx/>
              <a:buSzTx/>
              <a:buFontTx/>
              <a:buNone/>
              <a:defRPr/>
            </a:pPr>
            <a:r>
              <a:rPr kumimoji="0" lang="en-US" altLang="zh-CN" sz="2400" i="0" u="none" strike="noStrike" kern="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sz="2400" i="0" u="none" strike="noStrike" kern="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例</a:t>
            </a:r>
            <a:r>
              <a:rPr kumimoji="0" lang="en-US" altLang="zh-CN" sz="2400" i="0" u="none" strike="noStrike" kern="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sz="2400" i="0" u="none" strike="noStrike" kern="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创建一个存储过程，通过</a:t>
            </a:r>
            <a:r>
              <a:rPr kumimoji="0" lang="zh-CN" altLang="en-US" sz="2400" i="0" u="none" strike="noStrike" kern="0" cap="none" spc="0" normalizeH="0" baseline="0" noProof="1">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输入的仓库名称</a:t>
            </a:r>
            <a:r>
              <a:rPr kumimoji="0" lang="zh-CN" altLang="en-US" sz="2400" i="0" u="none" strike="noStrike" kern="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显示出该仓库的所有库存物资信息。 </a:t>
            </a:r>
          </a:p>
          <a:p>
            <a:pPr marL="342900" marR="0" lvl="0" indent="-342900" algn="l" defTabSz="914400" rtl="0" eaLnBrk="1" latinLnBrk="0" hangingPunct="1">
              <a:lnSpc>
                <a:spcPct val="125000"/>
              </a:lnSpc>
              <a:spcBef>
                <a:spcPts val="0"/>
              </a:spcBef>
              <a:spcAft>
                <a:spcPct val="0"/>
              </a:spcAft>
              <a:buClrTx/>
              <a:buSzTx/>
              <a:buFontTx/>
              <a:buNone/>
              <a:defRPr/>
            </a:pPr>
            <a:r>
              <a:rPr kumimoji="0" lang="zh-CN" altLang="en-US" sz="2400" i="0" u="none" strike="noStrike" kern="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a:t>
            </a:r>
            <a:r>
              <a:rPr kumimoji="0" lang="en-US" altLang="zh-CN" sz="2400" i="0" u="none" strike="noStrike" kern="0" cap="none" spc="0" normalizeH="0" baseline="0" noProof="1">
                <a:ln>
                  <a:noFill/>
                </a:ln>
                <a:solidFill>
                  <a:srgbClr val="FF33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CREATE PROCEDURE exp </a:t>
            </a:r>
          </a:p>
          <a:p>
            <a:pPr marL="342900" marR="0" lvl="0" indent="-342900" algn="l" defTabSz="914400" rtl="0" eaLnBrk="0" latinLnBrk="0" hangingPunct="0">
              <a:lnSpc>
                <a:spcPct val="125000"/>
              </a:lnSpc>
              <a:spcBef>
                <a:spcPts val="0"/>
              </a:spcBef>
              <a:spcAft>
                <a:spcPct val="0"/>
              </a:spcAft>
              <a:buClrTx/>
              <a:buSzTx/>
              <a:buFontTx/>
              <a:buNone/>
              <a:defRPr/>
            </a:pPr>
            <a:r>
              <a:rPr kumimoji="0" lang="en-US" altLang="zh-CN" sz="2400" i="0" u="none" strike="noStrike" kern="0" cap="none" spc="0" normalizeH="0" baseline="0" noProof="1">
                <a:ln>
                  <a:noFill/>
                </a:ln>
                <a:solidFill>
                  <a:srgbClr val="000099"/>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a:t>
            </a:r>
            <a:r>
              <a:rPr kumimoji="0" lang="en-US" altLang="zh-CN" sz="2400" i="0" u="none" strike="noStrike" kern="0" cap="none" spc="0" normalizeH="0" baseline="0" noProof="1">
                <a:ln>
                  <a:noFill/>
                </a:ln>
                <a:solidFill>
                  <a:srgbClr val="0000CC"/>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@warehousename  varchar(50)</a:t>
            </a:r>
          </a:p>
          <a:p>
            <a:pPr marL="342900" marR="0" lvl="0" indent="-342900" algn="l" defTabSz="914400" rtl="0" eaLnBrk="1" latinLnBrk="0" hangingPunct="1">
              <a:lnSpc>
                <a:spcPct val="125000"/>
              </a:lnSpc>
              <a:spcBef>
                <a:spcPts val="0"/>
              </a:spcBef>
              <a:spcAft>
                <a:spcPct val="0"/>
              </a:spcAft>
              <a:buClrTx/>
              <a:buSzTx/>
              <a:buFontTx/>
              <a:buNone/>
              <a:defRPr/>
            </a:pPr>
            <a:r>
              <a:rPr kumimoji="0" lang="en-US" altLang="zh-CN" sz="2400" i="0" u="none" strike="noStrike" kern="0" cap="none" spc="0" normalizeH="0" baseline="0" noProof="1">
                <a:ln>
                  <a:noFill/>
                </a:ln>
                <a:solidFill>
                  <a:srgbClr val="FF33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AS</a:t>
            </a:r>
          </a:p>
          <a:p>
            <a:pPr marL="342900" marR="0" lvl="0" indent="-342900" algn="l" defTabSz="914400" rtl="0" eaLnBrk="1" latinLnBrk="0" hangingPunct="1">
              <a:lnSpc>
                <a:spcPct val="125000"/>
              </a:lnSpc>
              <a:spcBef>
                <a:spcPts val="0"/>
              </a:spcBef>
              <a:spcAft>
                <a:spcPct val="0"/>
              </a:spcAft>
              <a:buClrTx/>
              <a:buSzTx/>
              <a:buFontTx/>
              <a:buNone/>
              <a:defRPr/>
            </a:pPr>
            <a:r>
              <a:rPr kumimoji="0" lang="en-US" altLang="zh-CN" sz="2400" i="0" u="none" strike="noStrike" kern="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SELECT * </a:t>
            </a:r>
          </a:p>
          <a:p>
            <a:pPr marL="342900" marR="0" lvl="0" indent="-342900" algn="l" defTabSz="914400" rtl="0" eaLnBrk="1" latinLnBrk="0" hangingPunct="1">
              <a:lnSpc>
                <a:spcPct val="125000"/>
              </a:lnSpc>
              <a:spcBef>
                <a:spcPts val="0"/>
              </a:spcBef>
              <a:spcAft>
                <a:spcPct val="0"/>
              </a:spcAft>
              <a:buClrTx/>
              <a:buSzTx/>
              <a:buFontTx/>
              <a:buNone/>
              <a:defRPr/>
            </a:pPr>
            <a:r>
              <a:rPr kumimoji="0" lang="en-US" altLang="zh-CN" sz="2400" i="0" u="none" strike="noStrike" kern="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FROM  stock </a:t>
            </a:r>
          </a:p>
          <a:p>
            <a:pPr marL="342900" marR="0" lvl="0" indent="-342900" algn="l" defTabSz="914400" rtl="0" eaLnBrk="0" latinLnBrk="0" hangingPunct="0">
              <a:lnSpc>
                <a:spcPct val="125000"/>
              </a:lnSpc>
              <a:spcBef>
                <a:spcPts val="0"/>
              </a:spcBef>
              <a:spcAft>
                <a:spcPct val="0"/>
              </a:spcAft>
              <a:buClrTx/>
              <a:buSzTx/>
              <a:buFontTx/>
              <a:buNone/>
              <a:defRPr/>
            </a:pPr>
            <a:r>
              <a:rPr kumimoji="0" lang="en-US" altLang="zh-CN" sz="2400" i="0" u="none" strike="noStrike" kern="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WHERE warehouse</a:t>
            </a:r>
            <a:r>
              <a:rPr kumimoji="0" lang="en-US" altLang="zh-CN" sz="2400" i="0" u="none" strike="noStrike" kern="0" cap="none" spc="0" normalizeH="0" baseline="0" noProof="1">
                <a:ln>
                  <a:noFill/>
                </a:ln>
                <a:solidFill>
                  <a:srgbClr val="0000CC"/>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p>
        </p:txBody>
      </p:sp>
      <p:sp>
        <p:nvSpPr>
          <p:cNvPr id="2" name="矩形 1"/>
          <p:cNvSpPr/>
          <p:nvPr/>
        </p:nvSpPr>
        <p:spPr>
          <a:xfrm>
            <a:off x="6976745" y="3765550"/>
            <a:ext cx="4277995" cy="1014730"/>
          </a:xfrm>
          <a:prstGeom prst="rect">
            <a:avLst/>
          </a:prstGeom>
          <a:solidFill>
            <a:schemeClr val="bg2">
              <a:lumMod val="90000"/>
            </a:schemeClr>
          </a:solidFill>
          <a:ln w="28575" cap="flat" cmpd="sng">
            <a:noFill/>
            <a:prstDash val="solid"/>
            <a:round/>
            <a:headEnd type="none" w="med" len="med"/>
            <a:tailEnd type="none" w="med" len="med"/>
          </a:ln>
        </p:spPr>
        <p:txBody>
          <a:bodyPr wrap="square">
            <a:spAutoFit/>
          </a:bodyPr>
          <a:lstStyle/>
          <a:p>
            <a:pPr latinLnBrk="0">
              <a:lnSpc>
                <a:spcPct val="125000"/>
              </a:lnSpc>
              <a:spcBef>
                <a:spcPts val="0"/>
              </a:spcBef>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执行存储过程</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atinLnBrk="0">
              <a:lnSpc>
                <a:spcPct val="125000"/>
              </a:lnSpc>
              <a:spcBef>
                <a:spcPts val="0"/>
              </a:spcBef>
            </a:pPr>
            <a:r>
              <a:rPr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sym typeface="+mn-ea"/>
              </a:rPr>
              <a:t>   exec  exp  '供电局1#仓库'</a:t>
            </a:r>
            <a:endParaRPr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5"/>
          <p:cNvSpPr/>
          <p:nvPr/>
        </p:nvSpPr>
        <p:spPr>
          <a:xfrm>
            <a:off x="251460" y="1485265"/>
            <a:ext cx="11590655" cy="1014730"/>
          </a:xfrm>
          <a:prstGeom prst="rect">
            <a:avLst/>
          </a:prstGeom>
        </p:spPr>
        <p:txBody>
          <a:bodyPr wrap="square">
            <a:spAutoFit/>
          </a:bodyPr>
          <a:lstStyle/>
          <a:p>
            <a:pPr marL="0" marR="0" lvl="0" indent="0" algn="l" defTabSz="914400" rtl="0" eaLnBrk="1" latinLnBrk="0" hangingPunct="1">
              <a:lnSpc>
                <a:spcPct val="125000"/>
              </a:lnSpc>
              <a:spcBef>
                <a:spcPts val="0"/>
              </a:spcBef>
              <a:spcAft>
                <a:spcPct val="0"/>
              </a:spcAft>
              <a:buClrTx/>
              <a:buSzTx/>
              <a:buFontTx/>
              <a:buNone/>
              <a:defRPr/>
            </a:pPr>
            <a:r>
              <a:rPr kumimoji="0" lang="en-US" altLang="zh-CN" sz="2400" i="0" u="none" strike="noStrike" kern="120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a:t>
            </a:r>
            <a:r>
              <a:rPr kumimoji="0" lang="zh-CN" altLang="en-US" sz="2400" i="0" u="none" strike="noStrike" kern="120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在存储过程中还可以使用</a:t>
            </a:r>
            <a:r>
              <a:rPr kumimoji="0" lang="zh-CN" altLang="en-US" sz="2400" i="0" u="none" strike="noStrike" kern="1200" cap="none" spc="0" normalizeH="0" baseline="0" noProof="1">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输入参数</a:t>
            </a:r>
            <a:r>
              <a:rPr kumimoji="0" lang="zh-CN" altLang="en-US" sz="2400" i="0" u="none" strike="noStrike" kern="120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，通过存储过程每次执行时使用不同输入参数值，实现其灵活性。</a:t>
            </a:r>
            <a:endParaRPr kumimoji="0" lang="zh-CN" altLang="en-US" sz="2400" i="0" u="none" strike="noStrike" kern="1200" cap="none" spc="0" normalizeH="0" baseline="0" noProof="1">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0727" name="Rectangle 2"/>
          <p:cNvSpPr/>
          <p:nvPr/>
        </p:nvSpPr>
        <p:spPr>
          <a:xfrm>
            <a:off x="179705" y="913130"/>
            <a:ext cx="10154920" cy="504825"/>
          </a:xfrm>
          <a:prstGeom prst="rect">
            <a:avLst/>
          </a:prstGeom>
          <a:noFill/>
          <a:ln>
            <a:noFill/>
          </a:ln>
        </p:spPr>
        <p:txBody>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algn="l" eaLnBrk="1" latinLnBrk="0" hangingPunct="1">
              <a:lnSpc>
                <a:spcPct val="125000"/>
              </a:lnSpc>
              <a:spcBef>
                <a:spcPts val="0"/>
              </a:spcBef>
            </a:pPr>
            <a:r>
              <a:rPr lang="en-US" altLang="zh-CN"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．带参数的存储过程</a:t>
            </a:r>
          </a:p>
        </p:txBody>
      </p:sp>
      <p:sp>
        <p:nvSpPr>
          <p:cNvPr id="3" name="矩形 2"/>
          <p:cNvSpPr/>
          <p:nvPr/>
        </p:nvSpPr>
        <p:spPr>
          <a:xfrm>
            <a:off x="3813175" y="5192713"/>
            <a:ext cx="2888615" cy="460375"/>
          </a:xfrm>
          <a:prstGeom prst="rect">
            <a:avLst/>
          </a:prstGeom>
          <a:noFill/>
          <a:ln w="9525">
            <a:noFill/>
          </a:ln>
        </p:spPr>
        <p:txBody>
          <a:bodyPr wrap="none">
            <a:spAutoFit/>
          </a:bodyPr>
          <a:lstStyle/>
          <a:p>
            <a:r>
              <a:rPr lang="en-US" altLang="zh-CN" sz="2400" dirty="0">
                <a:solidFill>
                  <a:srgbClr val="0000CC"/>
                </a:solidFill>
                <a:latin typeface="微软雅黑" panose="020B0503020204020204" pitchFamily="34" charset="-122"/>
                <a:ea typeface="微软雅黑" panose="020B0503020204020204" pitchFamily="34" charset="-122"/>
              </a:rPr>
              <a:t>@warehousename</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1507">
                                            <p:txEl>
                                              <p:pRg st="1" end="1"/>
                                            </p:txEl>
                                          </p:spTgt>
                                        </p:tgtEl>
                                        <p:attrNameLst>
                                          <p:attrName>style.visibility</p:attrName>
                                        </p:attrNameLst>
                                      </p:cBhvr>
                                      <p:to>
                                        <p:strVal val="visible"/>
                                      </p:to>
                                    </p:set>
                                    <p:animEffect transition="in" filter="blinds(horizontal)">
                                      <p:cBhvr>
                                        <p:cTn id="7" dur="500"/>
                                        <p:tgtEl>
                                          <p:spTgt spid="21507">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21507">
                                            <p:txEl>
                                              <p:pRg st="2" end="2"/>
                                            </p:txEl>
                                          </p:spTgt>
                                        </p:tgtEl>
                                        <p:attrNameLst>
                                          <p:attrName>style.visibility</p:attrName>
                                        </p:attrNameLst>
                                      </p:cBhvr>
                                      <p:to>
                                        <p:strVal val="visible"/>
                                      </p:to>
                                    </p:set>
                                    <p:animEffect transition="in" filter="blinds(horizontal)">
                                      <p:cBhvr>
                                        <p:cTn id="10" dur="500"/>
                                        <p:tgtEl>
                                          <p:spTgt spid="21507">
                                            <p:txEl>
                                              <p:pRg st="2" end="2"/>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21507">
                                            <p:txEl>
                                              <p:pRg st="3" end="3"/>
                                            </p:txEl>
                                          </p:spTgt>
                                        </p:tgtEl>
                                        <p:attrNameLst>
                                          <p:attrName>style.visibility</p:attrName>
                                        </p:attrNameLst>
                                      </p:cBhvr>
                                      <p:to>
                                        <p:strVal val="visible"/>
                                      </p:to>
                                    </p:set>
                                    <p:animEffect transition="in" filter="blinds(horizontal)">
                                      <p:cBhvr>
                                        <p:cTn id="13" dur="500"/>
                                        <p:tgtEl>
                                          <p:spTgt spid="21507">
                                            <p:txEl>
                                              <p:pRg st="3" end="3"/>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21507">
                                            <p:txEl>
                                              <p:pRg st="4" end="4"/>
                                            </p:txEl>
                                          </p:spTgt>
                                        </p:tgtEl>
                                        <p:attrNameLst>
                                          <p:attrName>style.visibility</p:attrName>
                                        </p:attrNameLst>
                                      </p:cBhvr>
                                      <p:to>
                                        <p:strVal val="visible"/>
                                      </p:to>
                                    </p:set>
                                    <p:animEffect transition="in" filter="blinds(horizontal)">
                                      <p:cBhvr>
                                        <p:cTn id="16" dur="500"/>
                                        <p:tgtEl>
                                          <p:spTgt spid="21507">
                                            <p:txEl>
                                              <p:pRg st="4" end="4"/>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21507">
                                            <p:txEl>
                                              <p:pRg st="5" end="5"/>
                                            </p:txEl>
                                          </p:spTgt>
                                        </p:tgtEl>
                                        <p:attrNameLst>
                                          <p:attrName>style.visibility</p:attrName>
                                        </p:attrNameLst>
                                      </p:cBhvr>
                                      <p:to>
                                        <p:strVal val="visible"/>
                                      </p:to>
                                    </p:set>
                                    <p:animEffect transition="in" filter="blinds(horizontal)">
                                      <p:cBhvr>
                                        <p:cTn id="19" dur="500"/>
                                        <p:tgtEl>
                                          <p:spTgt spid="21507">
                                            <p:txEl>
                                              <p:pRg st="5" end="5"/>
                                            </p:txEl>
                                          </p:spTgt>
                                        </p:tgtEl>
                                      </p:cBhvr>
                                    </p:animEffect>
                                  </p:childTnLst>
                                </p:cTn>
                              </p:par>
                              <p:par>
                                <p:cTn id="20" presetID="3" presetClass="entr" presetSubtype="10" fill="hold" nodeType="withEffect">
                                  <p:stCondLst>
                                    <p:cond delay="0"/>
                                  </p:stCondLst>
                                  <p:childTnLst>
                                    <p:set>
                                      <p:cBhvr>
                                        <p:cTn id="21" dur="1" fill="hold">
                                          <p:stCondLst>
                                            <p:cond delay="0"/>
                                          </p:stCondLst>
                                        </p:cTn>
                                        <p:tgtEl>
                                          <p:spTgt spid="21507">
                                            <p:txEl>
                                              <p:pRg st="6" end="6"/>
                                            </p:txEl>
                                          </p:spTgt>
                                        </p:tgtEl>
                                        <p:attrNameLst>
                                          <p:attrName>style.visibility</p:attrName>
                                        </p:attrNameLst>
                                      </p:cBhvr>
                                      <p:to>
                                        <p:strVal val="visible"/>
                                      </p:to>
                                    </p:set>
                                    <p:animEffect transition="in" filter="blinds(horizontal)">
                                      <p:cBhvr>
                                        <p:cTn id="22" dur="500"/>
                                        <p:tgtEl>
                                          <p:spTgt spid="21507">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blinds(horizontal)">
                                      <p:cBhvr>
                                        <p:cTn id="27" dur="500"/>
                                        <p:tgtEl>
                                          <p:spTgt spid="3"/>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blinds(horizontal)">
                                      <p:cBhvr>
                                        <p:cTn id="3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2" grpId="1" animBg="1"/>
      <p:bldP spid="3" grpId="0"/>
      <p:bldP spid="3" grpId="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cxnSp>
        <p:nvCxnSpPr>
          <p:cNvPr id="13" name="直接连接符 12"/>
          <p:cNvCxnSpPr/>
          <p:nvPr/>
        </p:nvCxnSpPr>
        <p:spPr>
          <a:xfrm rot="5400000">
            <a:off x="43826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文本框 94"/>
          <p:cNvSpPr txBox="1">
            <a:spLocks noChangeArrowheads="1"/>
          </p:cNvSpPr>
          <p:nvPr/>
        </p:nvSpPr>
        <p:spPr bwMode="auto">
          <a:xfrm>
            <a:off x="245745" y="53975"/>
            <a:ext cx="4133215"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4.2 </a:t>
            </a:r>
            <a:r>
              <a:rPr lang="zh-CN" sz="2800" b="1" dirty="0">
                <a:solidFill>
                  <a:schemeClr val="bg1"/>
                </a:solidFill>
                <a:latin typeface="微软雅黑" panose="020B0503020204020204" pitchFamily="34" charset="-122"/>
                <a:ea typeface="微软雅黑" panose="020B0503020204020204" pitchFamily="34" charset="-122"/>
              </a:rPr>
              <a:t>存储过程</a:t>
            </a:r>
          </a:p>
        </p:txBody>
      </p:sp>
      <p:sp>
        <p:nvSpPr>
          <p:cNvPr id="12" name="文本框 94"/>
          <p:cNvSpPr txBox="1">
            <a:spLocks noChangeArrowheads="1"/>
          </p:cNvSpPr>
          <p:nvPr/>
        </p:nvSpPr>
        <p:spPr bwMode="auto">
          <a:xfrm>
            <a:off x="4737459" y="75566"/>
            <a:ext cx="790877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4.2.2</a:t>
            </a:r>
            <a:r>
              <a:rPr lang="zh-CN" altLang="en-US" sz="2800" b="1" dirty="0">
                <a:solidFill>
                  <a:schemeClr val="bg1"/>
                </a:solidFill>
                <a:latin typeface="微软雅黑" panose="020B0503020204020204" pitchFamily="34" charset="-122"/>
                <a:ea typeface="微软雅黑" panose="020B0503020204020204" pitchFamily="34" charset="-122"/>
              </a:rPr>
              <a:t>创建和管理</a:t>
            </a:r>
            <a:r>
              <a:rPr lang="en-US" altLang="zh-CN" sz="2800" b="1" dirty="0" err="1">
                <a:solidFill>
                  <a:schemeClr val="bg1"/>
                </a:solidFill>
                <a:latin typeface="微软雅黑" panose="020B0503020204020204" pitchFamily="34" charset="-122"/>
                <a:ea typeface="微软雅黑" panose="020B0503020204020204" pitchFamily="34" charset="-122"/>
              </a:rPr>
              <a:t>SQLServer</a:t>
            </a:r>
            <a:r>
              <a:rPr lang="zh-CN" altLang="zh-CN" sz="2800" b="1" dirty="0">
                <a:solidFill>
                  <a:schemeClr val="bg1"/>
                </a:solidFill>
                <a:latin typeface="微软雅黑" panose="020B0503020204020204" pitchFamily="34" charset="-122"/>
                <a:ea typeface="微软雅黑" panose="020B0503020204020204" pitchFamily="34" charset="-122"/>
              </a:rPr>
              <a:t>存储过程</a:t>
            </a:r>
          </a:p>
        </p:txBody>
      </p:sp>
      <p:sp>
        <p:nvSpPr>
          <p:cNvPr id="7" name="Rectangle 2"/>
          <p:cNvSpPr txBox="1"/>
          <p:nvPr/>
        </p:nvSpPr>
        <p:spPr>
          <a:xfrm>
            <a:off x="0" y="837565"/>
            <a:ext cx="12192000" cy="5133975"/>
          </a:xfrm>
          <a:prstGeom prst="rect">
            <a:avLst/>
          </a:prstGeom>
          <a:noFill/>
          <a:ln w="9525">
            <a:noFill/>
          </a:ln>
        </p:spPr>
        <p:txBody>
          <a:bodyPr/>
          <a:lstStyle/>
          <a:p>
            <a:pPr marL="342900" indent="-342900" eaLnBrk="1" latinLnBrk="0" hangingPunct="1">
              <a:lnSpc>
                <a:spcPct val="125000"/>
              </a:lnSpc>
              <a:spcBef>
                <a:spcPts val="0"/>
              </a:spcBef>
            </a:pPr>
            <a:r>
              <a:rPr lang="en-US" altLang="zh-CN" sz="2400" i="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400" i="0" dirty="0">
                <a:latin typeface="微软雅黑" panose="020B0503020204020204" pitchFamily="34" charset="-122"/>
                <a:ea typeface="微软雅黑" panose="020B0503020204020204" pitchFamily="34" charset="-122"/>
                <a:cs typeface="微软雅黑" panose="020B0503020204020204" pitchFamily="34" charset="-122"/>
              </a:rPr>
              <a:t>例</a:t>
            </a:r>
            <a:r>
              <a:rPr lang="en-US" altLang="zh-CN" sz="2400" i="0" dirty="0">
                <a:latin typeface="微软雅黑" panose="020B0503020204020204" pitchFamily="34" charset="-122"/>
                <a:ea typeface="微软雅黑" panose="020B0503020204020204" pitchFamily="34" charset="-122"/>
                <a:cs typeface="微软雅黑" panose="020B0503020204020204" pitchFamily="34" charset="-122"/>
              </a:rPr>
              <a:t>4.7】</a:t>
            </a:r>
            <a:r>
              <a:rPr lang="zh-CN" altLang="en-US" sz="2400" i="0" dirty="0">
                <a:latin typeface="微软雅黑" panose="020B0503020204020204" pitchFamily="34" charset="-122"/>
                <a:ea typeface="微软雅黑" panose="020B0503020204020204" pitchFamily="34" charset="-122"/>
                <a:cs typeface="微软雅黑" panose="020B0503020204020204" pitchFamily="34" charset="-122"/>
              </a:rPr>
              <a:t>创建一个带输入参数的存储过程，向</a:t>
            </a:r>
            <a:r>
              <a:rPr lang="en-US" altLang="zh-CN" sz="2400" i="0" dirty="0">
                <a:latin typeface="微软雅黑" panose="020B0503020204020204" pitchFamily="34" charset="-122"/>
                <a:ea typeface="微软雅黑" panose="020B0503020204020204" pitchFamily="34" charset="-122"/>
                <a:cs typeface="微软雅黑" panose="020B0503020204020204" pitchFamily="34" charset="-122"/>
              </a:rPr>
              <a:t>Stock</a:t>
            </a:r>
            <a:r>
              <a:rPr lang="zh-CN" altLang="en-US" sz="2400" i="0" dirty="0">
                <a:latin typeface="微软雅黑" panose="020B0503020204020204" pitchFamily="34" charset="-122"/>
                <a:ea typeface="微软雅黑" panose="020B0503020204020204" pitchFamily="34" charset="-122"/>
                <a:cs typeface="微软雅黑" panose="020B0503020204020204" pitchFamily="34" charset="-122"/>
              </a:rPr>
              <a:t>表中添加一个新的数据行。</a:t>
            </a:r>
          </a:p>
          <a:p>
            <a:pPr marL="342900" indent="-342900" eaLnBrk="1" latinLnBrk="0" hangingPunct="1">
              <a:lnSpc>
                <a:spcPct val="125000"/>
              </a:lnSpc>
              <a:spcBef>
                <a:spcPts val="0"/>
              </a:spcBef>
            </a:pPr>
            <a:r>
              <a:rPr lang="zh-CN" altLang="en-US" sz="2400" i="0"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400" i="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CREATE PROCEDURE exp2</a:t>
            </a:r>
            <a:r>
              <a:rPr lang="en-US" altLang="zh-CN" sz="2400" i="0" dirty="0">
                <a:latin typeface="微软雅黑" panose="020B0503020204020204" pitchFamily="34" charset="-122"/>
                <a:ea typeface="微软雅黑" panose="020B0503020204020204" pitchFamily="34" charset="-122"/>
                <a:cs typeface="微软雅黑" panose="020B0503020204020204" pitchFamily="34" charset="-122"/>
              </a:rPr>
              <a:t> </a:t>
            </a:r>
          </a:p>
          <a:p>
            <a:pPr marL="342900" indent="-342900" eaLnBrk="1" latinLnBrk="0" hangingPunct="1">
              <a:lnSpc>
                <a:spcPct val="125000"/>
              </a:lnSpc>
              <a:spcBef>
                <a:spcPts val="0"/>
              </a:spcBef>
            </a:pPr>
            <a:r>
              <a:rPr lang="en-US" altLang="zh-CN" sz="2400" i="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    @mno char(8), @mname varchar(50), @mspeci varchar(20)</a:t>
            </a:r>
          </a:p>
          <a:p>
            <a:pPr marL="342900" indent="-342900" eaLnBrk="1" latinLnBrk="0" hangingPunct="1">
              <a:lnSpc>
                <a:spcPct val="125000"/>
              </a:lnSpc>
              <a:spcBef>
                <a:spcPts val="0"/>
              </a:spcBef>
            </a:pPr>
            <a:r>
              <a:rPr lang="en-US" altLang="zh-CN" sz="2400" i="0"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400" i="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AS</a:t>
            </a:r>
          </a:p>
          <a:p>
            <a:pPr marL="342900" indent="-342900" eaLnBrk="1" latinLnBrk="0" hangingPunct="1">
              <a:lnSpc>
                <a:spcPct val="125000"/>
              </a:lnSpc>
              <a:spcBef>
                <a:spcPts val="0"/>
              </a:spcBef>
            </a:pPr>
            <a:r>
              <a:rPr lang="en-US" altLang="zh-CN" sz="2400" i="0" dirty="0">
                <a:latin typeface="微软雅黑" panose="020B0503020204020204" pitchFamily="34" charset="-122"/>
                <a:ea typeface="微软雅黑" panose="020B0503020204020204" pitchFamily="34" charset="-122"/>
                <a:cs typeface="微软雅黑" panose="020B0503020204020204" pitchFamily="34" charset="-122"/>
              </a:rPr>
              <a:t>    INSERT </a:t>
            </a:r>
          </a:p>
          <a:p>
            <a:pPr marL="342900" indent="-342900" eaLnBrk="1" latinLnBrk="0" hangingPunct="1">
              <a:lnSpc>
                <a:spcPct val="125000"/>
              </a:lnSpc>
              <a:spcBef>
                <a:spcPts val="0"/>
              </a:spcBef>
            </a:pPr>
            <a:r>
              <a:rPr lang="en-US" altLang="zh-CN" sz="2400" i="0" dirty="0">
                <a:latin typeface="微软雅黑" panose="020B0503020204020204" pitchFamily="34" charset="-122"/>
                <a:ea typeface="微软雅黑" panose="020B0503020204020204" pitchFamily="34" charset="-122"/>
                <a:cs typeface="微软雅黑" panose="020B0503020204020204" pitchFamily="34" charset="-122"/>
              </a:rPr>
              <a:t>    INTO  Stock(mat_num,mat_name,speci)</a:t>
            </a:r>
          </a:p>
          <a:p>
            <a:pPr marL="342900" indent="-342900" eaLnBrk="1" latinLnBrk="0" hangingPunct="1">
              <a:lnSpc>
                <a:spcPct val="125000"/>
              </a:lnSpc>
              <a:spcBef>
                <a:spcPts val="0"/>
              </a:spcBef>
            </a:pPr>
            <a:r>
              <a:rPr lang="en-US" altLang="zh-CN" sz="2400" i="0" dirty="0">
                <a:latin typeface="微软雅黑" panose="020B0503020204020204" pitchFamily="34" charset="-122"/>
                <a:ea typeface="微软雅黑" panose="020B0503020204020204" pitchFamily="34" charset="-122"/>
                <a:cs typeface="微软雅黑" panose="020B0503020204020204" pitchFamily="34" charset="-122"/>
              </a:rPr>
              <a:t>    VALUES</a:t>
            </a:r>
            <a:endParaRPr lang="en-US" altLang="zh-CN" sz="2400" i="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eaLnBrk="1" latinLnBrk="0" hangingPunct="1">
              <a:lnSpc>
                <a:spcPct val="125000"/>
              </a:lnSpc>
              <a:spcBef>
                <a:spcPts val="0"/>
              </a:spcBef>
            </a:pPr>
            <a:endParaRPr lang="en-US" altLang="zh-CN" sz="2400" i="0" dirty="0">
              <a:latin typeface="微软雅黑" panose="020B0503020204020204" pitchFamily="34" charset="-122"/>
              <a:ea typeface="微软雅黑" panose="020B0503020204020204" pitchFamily="34" charset="-122"/>
              <a:cs typeface="微软雅黑" panose="020B0503020204020204" pitchFamily="34" charset="-122"/>
            </a:endParaRPr>
          </a:p>
          <a:p>
            <a:pPr marL="0" indent="0">
              <a:lnSpc>
                <a:spcPct val="90000"/>
              </a:lnSpc>
              <a:spcBef>
                <a:spcPct val="20000"/>
              </a:spcBef>
              <a:buNone/>
            </a:pPr>
            <a:endParaRPr lang="en-US" altLang="zh-CN" sz="2400" i="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3" name="图片 2"/>
          <p:cNvPicPr>
            <a:picLocks noChangeAspect="1"/>
          </p:cNvPicPr>
          <p:nvPr>
            <p:custDataLst>
              <p:tags r:id="rId1"/>
            </p:custDataLst>
          </p:nvPr>
        </p:nvPicPr>
        <p:blipFill>
          <a:blip r:embed="rId4"/>
          <a:stretch>
            <a:fillRect/>
          </a:stretch>
        </p:blipFill>
        <p:spPr>
          <a:xfrm>
            <a:off x="7661275" y="2366645"/>
            <a:ext cx="3336925" cy="2075815"/>
          </a:xfrm>
          <a:prstGeom prst="rect">
            <a:avLst/>
          </a:prstGeom>
          <a:noFill/>
          <a:ln w="9525">
            <a:noFill/>
          </a:ln>
        </p:spPr>
      </p:pic>
      <p:sp>
        <p:nvSpPr>
          <p:cNvPr id="5" name="矩形 4"/>
          <p:cNvSpPr/>
          <p:nvPr/>
        </p:nvSpPr>
        <p:spPr>
          <a:xfrm>
            <a:off x="7661275" y="2651760"/>
            <a:ext cx="3336925" cy="762000"/>
          </a:xfrm>
          <a:prstGeom prst="rect">
            <a:avLst/>
          </a:prstGeom>
          <a:noFill/>
          <a:ln w="28575">
            <a:solidFill>
              <a:srgbClr val="0000CC"/>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latinLnBrk="0" hangingPunct="1">
              <a:lnSpc>
                <a:spcPct val="125000"/>
              </a:lnSpc>
              <a:spcBef>
                <a:spcPts val="0"/>
              </a:spcBef>
              <a:spcAft>
                <a:spcPct val="0"/>
              </a:spcAft>
              <a:buClrTx/>
              <a:buSzTx/>
              <a:buFontTx/>
              <a:buNone/>
              <a:defRPr/>
            </a:pPr>
            <a:endParaRPr kumimoji="0" lang="zh-CN" altLang="en-US" sz="2400" i="1" u="none" strike="noStrike" kern="1200" cap="none" spc="0" normalizeH="0" baseline="0" noProof="1">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2" name="文本框 1"/>
          <p:cNvSpPr txBox="1"/>
          <p:nvPr/>
        </p:nvSpPr>
        <p:spPr>
          <a:xfrm>
            <a:off x="1704975" y="3646805"/>
            <a:ext cx="4272915" cy="460375"/>
          </a:xfrm>
          <a:prstGeom prst="rect">
            <a:avLst/>
          </a:prstGeom>
          <a:noFill/>
        </p:spPr>
        <p:txBody>
          <a:bodyPr wrap="none" rtlCol="0" anchor="t">
            <a:spAutoFit/>
          </a:bodyPr>
          <a:lstStyle/>
          <a:p>
            <a:r>
              <a:rPr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sym typeface="+mn-ea"/>
              </a:rPr>
              <a:t>(@mno,@mname,@mspeci)</a:t>
            </a:r>
          </a:p>
        </p:txBody>
      </p:sp>
      <p:sp>
        <p:nvSpPr>
          <p:cNvPr id="6" name="Rectangle 2"/>
          <p:cNvSpPr txBox="1"/>
          <p:nvPr/>
        </p:nvSpPr>
        <p:spPr>
          <a:xfrm>
            <a:off x="0" y="4636770"/>
            <a:ext cx="12192000" cy="1489710"/>
          </a:xfrm>
          <a:prstGeom prst="rect">
            <a:avLst/>
          </a:prstGeom>
          <a:solidFill>
            <a:schemeClr val="bg2"/>
          </a:solidFill>
          <a:ln w="9525">
            <a:noFill/>
          </a:ln>
        </p:spPr>
        <p:txBody>
          <a:bodyPr/>
          <a:lstStyle/>
          <a:p>
            <a:pPr marL="342900" indent="-342900" eaLnBrk="1" latinLnBrk="0" hangingPunct="1">
              <a:lnSpc>
                <a:spcPct val="125000"/>
              </a:lnSpc>
              <a:spcBef>
                <a:spcPts val="0"/>
              </a:spcBef>
            </a:pPr>
            <a:r>
              <a:rPr lang="zh-CN" altLang="en-US" sz="2400" i="0" dirty="0">
                <a:latin typeface="微软雅黑" panose="020B0503020204020204" pitchFamily="34" charset="-122"/>
                <a:ea typeface="微软雅黑" panose="020B0503020204020204" pitchFamily="34" charset="-122"/>
                <a:cs typeface="微软雅黑" panose="020B0503020204020204" pitchFamily="34" charset="-122"/>
              </a:rPr>
              <a:t>执行存储过程：</a:t>
            </a:r>
            <a:r>
              <a:rPr lang="en-US" altLang="zh-CN" sz="2400" i="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EXECUTE  exp2 'm030','</a:t>
            </a:r>
            <a:r>
              <a:rPr lang="zh-CN" altLang="en-US" sz="2400" i="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护套绝缘电线</a:t>
            </a:r>
            <a:r>
              <a:rPr lang="en-US" altLang="zh-CN" sz="2400" i="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','BVV-35'</a:t>
            </a:r>
          </a:p>
          <a:p>
            <a:pPr marL="342900" indent="-342900" eaLnBrk="1" latinLnBrk="0" hangingPunct="1">
              <a:lnSpc>
                <a:spcPct val="125000"/>
              </a:lnSpc>
              <a:spcBef>
                <a:spcPts val="0"/>
              </a:spcBef>
            </a:pPr>
            <a:r>
              <a:rPr lang="zh-CN" altLang="en-US" sz="2400" i="0" dirty="0">
                <a:latin typeface="微软雅黑" panose="020B0503020204020204" pitchFamily="34" charset="-122"/>
                <a:ea typeface="微软雅黑" panose="020B0503020204020204" pitchFamily="34" charset="-122"/>
                <a:cs typeface="微软雅黑" panose="020B0503020204020204" pitchFamily="34" charset="-122"/>
              </a:rPr>
              <a:t>或：</a:t>
            </a:r>
            <a:r>
              <a:rPr lang="en-US" altLang="zh-CN" sz="2400" i="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EXECUTE exp2 @mno='m030', @mname='</a:t>
            </a:r>
            <a:r>
              <a:rPr lang="zh-CN" altLang="en-US" sz="2400" i="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护套绝缘电线</a:t>
            </a:r>
            <a:r>
              <a:rPr lang="en-US" altLang="zh-CN" sz="2400" i="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 @mspeci='BVV-35‘</a:t>
            </a:r>
          </a:p>
          <a:p>
            <a:pPr marL="342900" indent="-342900" eaLnBrk="1" latinLnBrk="0" hangingPunct="1">
              <a:lnSpc>
                <a:spcPct val="125000"/>
              </a:lnSpc>
              <a:spcBef>
                <a:spcPts val="0"/>
              </a:spcBef>
            </a:pPr>
            <a:r>
              <a:rPr lang="zh-CN" altLang="en-US" sz="2400" i="0" dirty="0">
                <a:latin typeface="微软雅黑" panose="020B0503020204020204" pitchFamily="34" charset="-122"/>
                <a:ea typeface="微软雅黑" panose="020B0503020204020204" pitchFamily="34" charset="-122"/>
                <a:cs typeface="微软雅黑" panose="020B0503020204020204" pitchFamily="34" charset="-122"/>
              </a:rPr>
              <a:t>或：</a:t>
            </a:r>
            <a:r>
              <a:rPr lang="en-US" altLang="zh-CN" sz="2400" i="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EXECUTE exp2 @mname='</a:t>
            </a:r>
            <a:r>
              <a:rPr lang="zh-CN" altLang="en-US" sz="2400" i="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护套绝缘电线</a:t>
            </a:r>
            <a:r>
              <a:rPr lang="en-US" altLang="zh-CN" sz="2400" i="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 @mspeci='BVV-35', @mno='m030'</a:t>
            </a:r>
          </a:p>
          <a:p>
            <a:pPr marL="342900" indent="-342900">
              <a:lnSpc>
                <a:spcPct val="90000"/>
              </a:lnSpc>
              <a:spcBef>
                <a:spcPct val="20000"/>
              </a:spcBef>
              <a:buChar char="•"/>
            </a:pPr>
            <a:endParaRPr lang="en-US" altLang="zh-CN" sz="2400" i="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7">
                                            <p:txEl>
                                              <p:pRg st="1" end="1"/>
                                            </p:txEl>
                                          </p:spTgt>
                                        </p:tgtEl>
                                        <p:attrNameLst>
                                          <p:attrName>style.visibility</p:attrName>
                                        </p:attrNameLst>
                                      </p:cBhvr>
                                      <p:to>
                                        <p:strVal val="visible"/>
                                      </p:to>
                                    </p:set>
                                    <p:animEffect transition="in" filter="blinds(horizontal)">
                                      <p:cBhvr>
                                        <p:cTn id="15" dur="500"/>
                                        <p:tgtEl>
                                          <p:spTgt spid="7">
                                            <p:txEl>
                                              <p:pRg st="1" end="1"/>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7">
                                            <p:txEl>
                                              <p:pRg st="2" end="2"/>
                                            </p:txEl>
                                          </p:spTgt>
                                        </p:tgtEl>
                                        <p:attrNameLst>
                                          <p:attrName>style.visibility</p:attrName>
                                        </p:attrNameLst>
                                      </p:cBhvr>
                                      <p:to>
                                        <p:strVal val="visible"/>
                                      </p:to>
                                    </p:set>
                                    <p:animEffect transition="in" filter="blinds(horizontal)">
                                      <p:cBhvr>
                                        <p:cTn id="18" dur="500"/>
                                        <p:tgtEl>
                                          <p:spTgt spid="7">
                                            <p:txEl>
                                              <p:pRg st="2" end="2"/>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7">
                                            <p:txEl>
                                              <p:pRg st="3" end="3"/>
                                            </p:txEl>
                                          </p:spTgt>
                                        </p:tgtEl>
                                        <p:attrNameLst>
                                          <p:attrName>style.visibility</p:attrName>
                                        </p:attrNameLst>
                                      </p:cBhvr>
                                      <p:to>
                                        <p:strVal val="visible"/>
                                      </p:to>
                                    </p:set>
                                    <p:animEffect transition="in" filter="blinds(horizontal)">
                                      <p:cBhvr>
                                        <p:cTn id="21" dur="500"/>
                                        <p:tgtEl>
                                          <p:spTgt spid="7">
                                            <p:txEl>
                                              <p:pRg st="3" end="3"/>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7">
                                            <p:txEl>
                                              <p:pRg st="4" end="4"/>
                                            </p:txEl>
                                          </p:spTgt>
                                        </p:tgtEl>
                                        <p:attrNameLst>
                                          <p:attrName>style.visibility</p:attrName>
                                        </p:attrNameLst>
                                      </p:cBhvr>
                                      <p:to>
                                        <p:strVal val="visible"/>
                                      </p:to>
                                    </p:set>
                                    <p:animEffect transition="in" filter="blinds(horizontal)">
                                      <p:cBhvr>
                                        <p:cTn id="26" dur="500"/>
                                        <p:tgtEl>
                                          <p:spTgt spid="7">
                                            <p:txEl>
                                              <p:pRg st="4" end="4"/>
                                            </p:txEl>
                                          </p:spTgt>
                                        </p:tgtEl>
                                      </p:cBhvr>
                                    </p:animEffect>
                                  </p:childTnLst>
                                </p:cTn>
                              </p:par>
                              <p:par>
                                <p:cTn id="27" presetID="3" presetClass="entr" presetSubtype="10" fill="hold" nodeType="withEffect">
                                  <p:stCondLst>
                                    <p:cond delay="0"/>
                                  </p:stCondLst>
                                  <p:childTnLst>
                                    <p:set>
                                      <p:cBhvr>
                                        <p:cTn id="28" dur="1" fill="hold">
                                          <p:stCondLst>
                                            <p:cond delay="0"/>
                                          </p:stCondLst>
                                        </p:cTn>
                                        <p:tgtEl>
                                          <p:spTgt spid="7">
                                            <p:txEl>
                                              <p:pRg st="5" end="5"/>
                                            </p:txEl>
                                          </p:spTgt>
                                        </p:tgtEl>
                                        <p:attrNameLst>
                                          <p:attrName>style.visibility</p:attrName>
                                        </p:attrNameLst>
                                      </p:cBhvr>
                                      <p:to>
                                        <p:strVal val="visible"/>
                                      </p:to>
                                    </p:set>
                                    <p:animEffect transition="in" filter="blinds(horizontal)">
                                      <p:cBhvr>
                                        <p:cTn id="29" dur="500"/>
                                        <p:tgtEl>
                                          <p:spTgt spid="7">
                                            <p:txEl>
                                              <p:pRg st="5" end="5"/>
                                            </p:txEl>
                                          </p:spTgt>
                                        </p:tgtEl>
                                      </p:cBhvr>
                                    </p:animEffect>
                                  </p:childTnLst>
                                </p:cTn>
                              </p:par>
                              <p:par>
                                <p:cTn id="30" presetID="3" presetClass="entr" presetSubtype="10" fill="hold" nodeType="withEffect">
                                  <p:stCondLst>
                                    <p:cond delay="0"/>
                                  </p:stCondLst>
                                  <p:childTnLst>
                                    <p:set>
                                      <p:cBhvr>
                                        <p:cTn id="31" dur="1" fill="hold">
                                          <p:stCondLst>
                                            <p:cond delay="0"/>
                                          </p:stCondLst>
                                        </p:cTn>
                                        <p:tgtEl>
                                          <p:spTgt spid="7">
                                            <p:txEl>
                                              <p:pRg st="6" end="6"/>
                                            </p:txEl>
                                          </p:spTgt>
                                        </p:tgtEl>
                                        <p:attrNameLst>
                                          <p:attrName>style.visibility</p:attrName>
                                        </p:attrNameLst>
                                      </p:cBhvr>
                                      <p:to>
                                        <p:strVal val="visible"/>
                                      </p:to>
                                    </p:set>
                                    <p:animEffect transition="in" filter="blinds(horizontal)">
                                      <p:cBhvr>
                                        <p:cTn id="32" dur="500"/>
                                        <p:tgtEl>
                                          <p:spTgt spid="7">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
                                        </p:tgtEl>
                                        <p:attrNameLst>
                                          <p:attrName>style.visibility</p:attrName>
                                        </p:attrNameLst>
                                      </p:cBhvr>
                                      <p:to>
                                        <p:strVal val="visible"/>
                                      </p:to>
                                    </p:set>
                                    <p:animEffect transition="in" filter="blinds(horizontal)">
                                      <p:cBhvr>
                                        <p:cTn id="37" dur="500"/>
                                        <p:tgtEl>
                                          <p:spTgt spid="2"/>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6"/>
                                        </p:tgtEl>
                                        <p:attrNameLst>
                                          <p:attrName>style.visibility</p:attrName>
                                        </p:attrNameLst>
                                      </p:cBhvr>
                                      <p:to>
                                        <p:strVal val="visible"/>
                                      </p:to>
                                    </p:set>
                                    <p:animEffect transition="in" filter="blinds(horizontal)">
                                      <p:cBhvr>
                                        <p:cTn id="4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2" grpId="0"/>
      <p:bldP spid="6" grpId="0" bldLvl="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cxnSp>
        <p:nvCxnSpPr>
          <p:cNvPr id="13" name="直接连接符 12"/>
          <p:cNvCxnSpPr/>
          <p:nvPr/>
        </p:nvCxnSpPr>
        <p:spPr>
          <a:xfrm rot="5400000">
            <a:off x="43826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文本框 94"/>
          <p:cNvSpPr txBox="1">
            <a:spLocks noChangeArrowheads="1"/>
          </p:cNvSpPr>
          <p:nvPr/>
        </p:nvSpPr>
        <p:spPr bwMode="auto">
          <a:xfrm>
            <a:off x="245745" y="53975"/>
            <a:ext cx="4133215"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4.2 </a:t>
            </a:r>
            <a:r>
              <a:rPr lang="zh-CN" sz="2800" b="1" dirty="0">
                <a:solidFill>
                  <a:schemeClr val="bg1"/>
                </a:solidFill>
                <a:latin typeface="微软雅黑" panose="020B0503020204020204" pitchFamily="34" charset="-122"/>
                <a:ea typeface="微软雅黑" panose="020B0503020204020204" pitchFamily="34" charset="-122"/>
              </a:rPr>
              <a:t>存储过程</a:t>
            </a:r>
          </a:p>
        </p:txBody>
      </p:sp>
      <p:sp>
        <p:nvSpPr>
          <p:cNvPr id="12" name="文本框 94"/>
          <p:cNvSpPr txBox="1">
            <a:spLocks noChangeArrowheads="1"/>
          </p:cNvSpPr>
          <p:nvPr/>
        </p:nvSpPr>
        <p:spPr bwMode="auto">
          <a:xfrm>
            <a:off x="4737459" y="75566"/>
            <a:ext cx="7908779" cy="954107"/>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4.2.2</a:t>
            </a:r>
            <a:r>
              <a:rPr lang="zh-CN" altLang="en-US" sz="2800" b="1" dirty="0">
                <a:solidFill>
                  <a:schemeClr val="bg1"/>
                </a:solidFill>
                <a:latin typeface="微软雅黑" panose="020B0503020204020204" pitchFamily="34" charset="-122"/>
                <a:ea typeface="微软雅黑" panose="020B0503020204020204" pitchFamily="34" charset="-122"/>
              </a:rPr>
              <a:t>创建和管理</a:t>
            </a:r>
            <a:r>
              <a:rPr lang="en-US" altLang="zh-CN" sz="2800" b="1" dirty="0" err="1">
                <a:solidFill>
                  <a:schemeClr val="bg1"/>
                </a:solidFill>
                <a:latin typeface="微软雅黑" panose="020B0503020204020204" pitchFamily="34" charset="-122"/>
                <a:ea typeface="微软雅黑" panose="020B0503020204020204" pitchFamily="34" charset="-122"/>
              </a:rPr>
              <a:t>SQLServer</a:t>
            </a:r>
            <a:r>
              <a:rPr lang="zh-CN" altLang="zh-CN" sz="2800" b="1" dirty="0">
                <a:solidFill>
                  <a:schemeClr val="bg1"/>
                </a:solidFill>
                <a:latin typeface="微软雅黑" panose="020B0503020204020204" pitchFamily="34" charset="-122"/>
                <a:ea typeface="微软雅黑" panose="020B0503020204020204" pitchFamily="34" charset="-122"/>
              </a:rPr>
              <a:t>存储过程</a:t>
            </a:r>
          </a:p>
          <a:p>
            <a:endParaRPr lang="zh-CN" sz="2800" b="1" dirty="0">
              <a:solidFill>
                <a:schemeClr val="bg1"/>
              </a:solidFill>
              <a:latin typeface="微软雅黑" panose="020B0503020204020204" pitchFamily="34" charset="-122"/>
              <a:ea typeface="微软雅黑" panose="020B0503020204020204" pitchFamily="34" charset="-122"/>
            </a:endParaRPr>
          </a:p>
        </p:txBody>
      </p:sp>
      <p:sp>
        <p:nvSpPr>
          <p:cNvPr id="32770" name="Rectangle 2"/>
          <p:cNvSpPr/>
          <p:nvPr/>
        </p:nvSpPr>
        <p:spPr>
          <a:xfrm>
            <a:off x="505460" y="991235"/>
            <a:ext cx="11477625" cy="3554095"/>
          </a:xfrm>
          <a:prstGeom prst="rect">
            <a:avLst/>
          </a:prstGeom>
          <a:noFill/>
          <a:ln>
            <a:noFill/>
          </a:ln>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eaLnBrk="1" latinLnBrk="0" hangingPunct="1">
              <a:lnSpc>
                <a:spcPct val="125000"/>
              </a:lnSpc>
              <a:spcBef>
                <a:spcPts val="0"/>
              </a:spcBef>
              <a:buNone/>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注意</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为了确保</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Create</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命令能成功执行，可以在</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Create Procedure</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之前执行如下语句：</a:t>
            </a:r>
          </a:p>
          <a:p>
            <a:pPr eaLnBrk="1" latinLnBrk="0" hangingPunct="1">
              <a:lnSpc>
                <a:spcPct val="125000"/>
              </a:lnSpc>
              <a:spcBef>
                <a:spcPts val="0"/>
              </a:spcBef>
              <a:buNone/>
            </a:pPr>
            <a:r>
              <a:rPr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IF EXISTS (SELECT name FROM sysobjects WHERE name='exp2' and type='P')</a:t>
            </a:r>
          </a:p>
          <a:p>
            <a:pPr eaLnBrk="1" latinLnBrk="0" hangingPunct="1">
              <a:lnSpc>
                <a:spcPct val="125000"/>
              </a:lnSpc>
              <a:spcBef>
                <a:spcPts val="0"/>
              </a:spcBef>
              <a:buNone/>
            </a:pPr>
            <a:r>
              <a:rPr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    DROP PROCEDURE exp2</a:t>
            </a:r>
          </a:p>
          <a:p>
            <a:pPr eaLnBrk="1" latinLnBrk="0" hangingPunct="1">
              <a:lnSpc>
                <a:spcPct val="125000"/>
              </a:lnSpc>
              <a:spcBef>
                <a:spcPts val="0"/>
              </a:spcBef>
              <a:buNone/>
            </a:pPr>
            <a:r>
              <a:rPr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 GO </a:t>
            </a:r>
          </a:p>
          <a:p>
            <a:pPr eaLnBrk="1" hangingPunct="1">
              <a:buNone/>
            </a:pPr>
            <a:endParaRPr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2" name="图片 1"/>
          <p:cNvPicPr>
            <a:picLocks noChangeAspect="1"/>
          </p:cNvPicPr>
          <p:nvPr/>
        </p:nvPicPr>
        <p:blipFill>
          <a:blip r:embed="rId3"/>
          <a:stretch>
            <a:fillRect/>
          </a:stretch>
        </p:blipFill>
        <p:spPr>
          <a:xfrm>
            <a:off x="1422400" y="2889250"/>
            <a:ext cx="7862888" cy="3209925"/>
          </a:xfrm>
          <a:prstGeom prst="rect">
            <a:avLst/>
          </a:prstGeom>
          <a:noFill/>
          <a:ln w="9525">
            <a:noFill/>
          </a:ln>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cxnSp>
        <p:nvCxnSpPr>
          <p:cNvPr id="13" name="直接连接符 12"/>
          <p:cNvCxnSpPr/>
          <p:nvPr/>
        </p:nvCxnSpPr>
        <p:spPr>
          <a:xfrm rot="5400000">
            <a:off x="43826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文本框 94"/>
          <p:cNvSpPr txBox="1">
            <a:spLocks noChangeArrowheads="1"/>
          </p:cNvSpPr>
          <p:nvPr/>
        </p:nvSpPr>
        <p:spPr bwMode="auto">
          <a:xfrm>
            <a:off x="245745" y="53975"/>
            <a:ext cx="4133215"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4.2 </a:t>
            </a:r>
            <a:r>
              <a:rPr lang="zh-CN" sz="2800" b="1" dirty="0">
                <a:solidFill>
                  <a:schemeClr val="bg1"/>
                </a:solidFill>
                <a:latin typeface="微软雅黑" panose="020B0503020204020204" pitchFamily="34" charset="-122"/>
                <a:ea typeface="微软雅黑" panose="020B0503020204020204" pitchFamily="34" charset="-122"/>
              </a:rPr>
              <a:t>存储过程</a:t>
            </a:r>
          </a:p>
        </p:txBody>
      </p:sp>
      <p:sp>
        <p:nvSpPr>
          <p:cNvPr id="12" name="文本框 94"/>
          <p:cNvSpPr txBox="1">
            <a:spLocks noChangeArrowheads="1"/>
          </p:cNvSpPr>
          <p:nvPr/>
        </p:nvSpPr>
        <p:spPr bwMode="auto">
          <a:xfrm>
            <a:off x="4737459" y="75566"/>
            <a:ext cx="7908779" cy="954107"/>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4.2.2</a:t>
            </a:r>
            <a:r>
              <a:rPr lang="zh-CN" altLang="en-US" sz="2800" b="1" dirty="0">
                <a:solidFill>
                  <a:schemeClr val="bg1"/>
                </a:solidFill>
                <a:latin typeface="微软雅黑" panose="020B0503020204020204" pitchFamily="34" charset="-122"/>
                <a:ea typeface="微软雅黑" panose="020B0503020204020204" pitchFamily="34" charset="-122"/>
              </a:rPr>
              <a:t>创建和管理</a:t>
            </a:r>
            <a:r>
              <a:rPr lang="en-US" altLang="zh-CN" sz="2800" b="1" dirty="0" err="1">
                <a:solidFill>
                  <a:schemeClr val="bg1"/>
                </a:solidFill>
                <a:latin typeface="微软雅黑" panose="020B0503020204020204" pitchFamily="34" charset="-122"/>
                <a:ea typeface="微软雅黑" panose="020B0503020204020204" pitchFamily="34" charset="-122"/>
              </a:rPr>
              <a:t>SQLServer</a:t>
            </a:r>
            <a:r>
              <a:rPr lang="zh-CN" altLang="zh-CN" sz="2800" b="1" dirty="0">
                <a:solidFill>
                  <a:schemeClr val="bg1"/>
                </a:solidFill>
                <a:latin typeface="微软雅黑" panose="020B0503020204020204" pitchFamily="34" charset="-122"/>
                <a:ea typeface="微软雅黑" panose="020B0503020204020204" pitchFamily="34" charset="-122"/>
              </a:rPr>
              <a:t>存储过程</a:t>
            </a:r>
          </a:p>
          <a:p>
            <a:endParaRPr lang="zh-CN" sz="2800" b="1" dirty="0">
              <a:solidFill>
                <a:schemeClr val="bg1"/>
              </a:solidFill>
              <a:latin typeface="微软雅黑" panose="020B0503020204020204" pitchFamily="34" charset="-122"/>
              <a:ea typeface="微软雅黑" panose="020B0503020204020204" pitchFamily="34" charset="-122"/>
            </a:endParaRPr>
          </a:p>
        </p:txBody>
      </p:sp>
      <p:sp>
        <p:nvSpPr>
          <p:cNvPr id="26626" name="Rectangle 2"/>
          <p:cNvSpPr/>
          <p:nvPr/>
        </p:nvSpPr>
        <p:spPr>
          <a:xfrm>
            <a:off x="129540" y="663575"/>
            <a:ext cx="4364990" cy="576580"/>
          </a:xfrm>
          <a:prstGeom prst="rect">
            <a:avLst/>
          </a:prstGeom>
          <a:noFill/>
          <a:ln>
            <a:noFill/>
          </a:ln>
        </p:spPr>
        <p:txBody>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eaLnBrk="1" latinLnBrk="0" hangingPunct="1">
              <a:lnSpc>
                <a:spcPct val="125000"/>
              </a:lnSpc>
              <a:spcBef>
                <a:spcPts val="0"/>
              </a:spcBef>
            </a:pPr>
            <a:r>
              <a:rPr lang="en-US" altLang="zh-CN"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．带默认参数的存储过程</a:t>
            </a:r>
          </a:p>
        </p:txBody>
      </p:sp>
      <p:sp>
        <p:nvSpPr>
          <p:cNvPr id="355331" name="Rectangle 3"/>
          <p:cNvSpPr/>
          <p:nvPr/>
        </p:nvSpPr>
        <p:spPr>
          <a:xfrm>
            <a:off x="129540" y="1240155"/>
            <a:ext cx="11252835" cy="5039995"/>
          </a:xfrm>
          <a:prstGeom prst="rect">
            <a:avLst/>
          </a:prstGeom>
          <a:noFill/>
          <a:ln>
            <a:noFill/>
          </a:ln>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eaLnBrk="1" latinLnBrk="0" hangingPunct="1">
              <a:lnSpc>
                <a:spcPct val="125000"/>
              </a:lnSpc>
              <a:spcBef>
                <a:spcPts val="0"/>
              </a:spcBef>
              <a:buNone/>
            </a:pP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例</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4.8】</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创建一个带默认参数的存储过程，通过传递的参数显示物资的名称、规格、项目名称、是否按期完工等信息，如果没有提供参数，则使用预设的默认值。</a:t>
            </a:r>
          </a:p>
          <a:p>
            <a:pPr eaLnBrk="1" latinLnBrk="0" hangingPunct="1">
              <a:lnSpc>
                <a:spcPct val="125000"/>
              </a:lnSpc>
              <a:spcBef>
                <a:spcPts val="0"/>
              </a:spcBef>
              <a:buNone/>
            </a:pPr>
            <a:r>
              <a:rPr lang="en-US" altLang="zh-CN"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CREATE PROCEDURE exp4 </a:t>
            </a:r>
          </a:p>
          <a:p>
            <a:pPr eaLnBrk="1" latinLnBrk="0" hangingPunct="1">
              <a:lnSpc>
                <a:spcPct val="125000"/>
              </a:lnSpc>
              <a:spcBef>
                <a:spcPts val="0"/>
              </a:spcBef>
              <a:buNone/>
            </a:pPr>
            <a:r>
              <a:rPr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@mname varchar(50)='%</a:t>
            </a:r>
            <a:r>
              <a:rPr lang="zh-CN" altLang="en-US"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绝缘</a:t>
            </a:r>
            <a:r>
              <a:rPr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 @pno char(8)='20110001'</a:t>
            </a:r>
          </a:p>
          <a:p>
            <a:pPr eaLnBrk="1" latinLnBrk="0" hangingPunct="1">
              <a:lnSpc>
                <a:spcPct val="125000"/>
              </a:lnSpc>
              <a:spcBef>
                <a:spcPts val="0"/>
              </a:spcBef>
              <a:buNone/>
            </a:pPr>
            <a:r>
              <a:rPr lang="en-US" altLang="zh-CN"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   AS</a:t>
            </a:r>
          </a:p>
          <a:p>
            <a:pPr eaLnBrk="1" latinLnBrk="0" hangingPunct="1">
              <a:lnSpc>
                <a:spcPct val="125000"/>
              </a:lnSpc>
              <a:spcBef>
                <a:spcPts val="0"/>
              </a:spcBef>
              <a:buNone/>
            </a:pP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        SELECT mat_name,speci,prj_name,prj_status  </a:t>
            </a:r>
          </a:p>
          <a:p>
            <a:pPr eaLnBrk="1" latinLnBrk="0" hangingPunct="1">
              <a:lnSpc>
                <a:spcPct val="125000"/>
              </a:lnSpc>
              <a:spcBef>
                <a:spcPts val="0"/>
              </a:spcBef>
              <a:buNone/>
            </a:pP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        FROM  stock, salvaging, out_stock </a:t>
            </a:r>
          </a:p>
          <a:p>
            <a:pPr eaLnBrk="1" latinLnBrk="0" hangingPunct="1">
              <a:lnSpc>
                <a:spcPct val="125000"/>
              </a:lnSpc>
              <a:spcBef>
                <a:spcPts val="0"/>
              </a:spcBef>
              <a:buNone/>
            </a:pP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        WHERE stock.mat_num=out_stock.mat_num </a:t>
            </a:r>
          </a:p>
          <a:p>
            <a:pPr eaLnBrk="1" latinLnBrk="0" hangingPunct="1">
              <a:lnSpc>
                <a:spcPct val="125000"/>
              </a:lnSpc>
              <a:spcBef>
                <a:spcPts val="0"/>
              </a:spcBef>
              <a:buNone/>
            </a:pP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          and salvaging.prj_num=out_stock.prj_num</a:t>
            </a:r>
          </a:p>
          <a:p>
            <a:pPr eaLnBrk="1" latinLnBrk="0" hangingPunct="1">
              <a:lnSpc>
                <a:spcPct val="125000"/>
              </a:lnSpc>
              <a:spcBef>
                <a:spcPts val="0"/>
              </a:spcBef>
              <a:buNone/>
            </a:pP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          and </a:t>
            </a:r>
            <a:r>
              <a:rPr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mat_name like @mname </a:t>
            </a:r>
          </a:p>
          <a:p>
            <a:pPr eaLnBrk="1" latinLnBrk="0" hangingPunct="1">
              <a:lnSpc>
                <a:spcPct val="125000"/>
              </a:lnSpc>
              <a:spcBef>
                <a:spcPts val="0"/>
              </a:spcBef>
              <a:buNone/>
            </a:pP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          and </a:t>
            </a:r>
            <a:r>
              <a:rPr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salvaging.prj_num=@pno</a:t>
            </a:r>
          </a:p>
        </p:txBody>
      </p:sp>
      <p:sp>
        <p:nvSpPr>
          <p:cNvPr id="2" name="矩形 1"/>
          <p:cNvSpPr/>
          <p:nvPr/>
        </p:nvSpPr>
        <p:spPr>
          <a:xfrm>
            <a:off x="5438775" y="3411855"/>
            <a:ext cx="6753225" cy="3180080"/>
          </a:xfrm>
          <a:prstGeom prst="rect">
            <a:avLst/>
          </a:prstGeom>
          <a:solidFill>
            <a:schemeClr val="bg2"/>
          </a:solidFill>
          <a:ln w="9525" cap="flat" cmpd="sng">
            <a:solidFill>
              <a:schemeClr val="bg1"/>
            </a:solidFill>
            <a:prstDash val="solid"/>
            <a:round/>
            <a:headEnd type="none" w="med" len="med"/>
            <a:tailEnd type="none" w="med" len="med"/>
          </a:ln>
        </p:spPr>
        <p:txBody>
          <a:bodyPr/>
          <a:lstStyle/>
          <a:p>
            <a:pPr eaLnBrk="1" latinLnBrk="0" hangingPunct="1"/>
            <a:r>
              <a:rPr lang="zh-CN" altLang="en-US" sz="2400" i="0" dirty="0">
                <a:latin typeface="微软雅黑" panose="020B0503020204020204" pitchFamily="34" charset="-122"/>
                <a:ea typeface="微软雅黑" panose="020B0503020204020204" pitchFamily="34" charset="-122"/>
                <a:cs typeface="微软雅黑" panose="020B0503020204020204" pitchFamily="34" charset="-122"/>
              </a:rPr>
              <a:t>执行创建的存储过程</a:t>
            </a:r>
            <a:r>
              <a:rPr lang="en-US" altLang="zh-CN" sz="2400" i="0" dirty="0">
                <a:latin typeface="微软雅黑" panose="020B0503020204020204" pitchFamily="34" charset="-122"/>
                <a:ea typeface="微软雅黑" panose="020B0503020204020204" pitchFamily="34" charset="-122"/>
                <a:cs typeface="微软雅黑" panose="020B0503020204020204" pitchFamily="34" charset="-122"/>
              </a:rPr>
              <a:t>exp4</a:t>
            </a:r>
            <a:r>
              <a:rPr lang="zh-CN" altLang="en-US" sz="2400" i="0" dirty="0">
                <a:latin typeface="微软雅黑" panose="020B0503020204020204" pitchFamily="34" charset="-122"/>
                <a:ea typeface="微软雅黑" panose="020B0503020204020204" pitchFamily="34" charset="-122"/>
                <a:cs typeface="微软雅黑" panose="020B0503020204020204" pitchFamily="34" charset="-122"/>
              </a:rPr>
              <a:t>。</a:t>
            </a:r>
          </a:p>
          <a:p>
            <a:pPr eaLnBrk="1" latinLnBrk="0" hangingPunct="1"/>
            <a:r>
              <a:rPr lang="zh-CN" altLang="en-US" sz="2400" i="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400" i="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EXECUTE  exp4 </a:t>
            </a:r>
          </a:p>
          <a:p>
            <a:pPr eaLnBrk="1" latinLnBrk="0" hangingPunct="1"/>
            <a:r>
              <a:rPr lang="zh-CN" altLang="en-US" sz="2400" i="0" dirty="0">
                <a:latin typeface="微软雅黑" panose="020B0503020204020204" pitchFamily="34" charset="-122"/>
                <a:ea typeface="微软雅黑" panose="020B0503020204020204" pitchFamily="34" charset="-122"/>
                <a:cs typeface="微软雅黑" panose="020B0503020204020204" pitchFamily="34" charset="-122"/>
              </a:rPr>
              <a:t>或：</a:t>
            </a:r>
          </a:p>
          <a:p>
            <a:pPr eaLnBrk="1" latinLnBrk="0" hangingPunct="1"/>
            <a:r>
              <a:rPr lang="zh-CN" altLang="en-US" sz="2400" i="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400" i="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EXECUTE  exp4 '%</a:t>
            </a:r>
            <a:r>
              <a:rPr lang="zh-CN" altLang="en-US" sz="2400" i="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绝缘电线</a:t>
            </a:r>
            <a:r>
              <a:rPr lang="en-US" altLang="zh-CN" sz="2400" i="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a:t>
            </a:r>
          </a:p>
          <a:p>
            <a:pPr eaLnBrk="1" latinLnBrk="0" hangingPunct="1"/>
            <a:r>
              <a:rPr lang="zh-CN" altLang="en-US" sz="2400" i="0" dirty="0">
                <a:latin typeface="微软雅黑" panose="020B0503020204020204" pitchFamily="34" charset="-122"/>
                <a:ea typeface="微软雅黑" panose="020B0503020204020204" pitchFamily="34" charset="-122"/>
                <a:cs typeface="微软雅黑" panose="020B0503020204020204" pitchFamily="34" charset="-122"/>
              </a:rPr>
              <a:t>或：</a:t>
            </a:r>
          </a:p>
          <a:p>
            <a:pPr eaLnBrk="1" latinLnBrk="0" hangingPunct="1"/>
            <a:r>
              <a:rPr lang="zh-CN" altLang="en-US" sz="2400" i="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400" i="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EXECUTE  exp4 @pno='20110002'</a:t>
            </a:r>
          </a:p>
          <a:p>
            <a:pPr eaLnBrk="1" latinLnBrk="0" hangingPunct="1"/>
            <a:r>
              <a:rPr lang="zh-CN" altLang="en-US" sz="2400" i="0" dirty="0">
                <a:latin typeface="微软雅黑" panose="020B0503020204020204" pitchFamily="34" charset="-122"/>
                <a:ea typeface="微软雅黑" panose="020B0503020204020204" pitchFamily="34" charset="-122"/>
                <a:cs typeface="微软雅黑" panose="020B0503020204020204" pitchFamily="34" charset="-122"/>
              </a:rPr>
              <a:t>或：</a:t>
            </a:r>
          </a:p>
          <a:p>
            <a:pPr eaLnBrk="1" latinLnBrk="0" hangingPunct="1"/>
            <a:r>
              <a:rPr lang="zh-CN" altLang="en-US" sz="2400" i="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400" i="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EXECUTE  exp4 ‘</a:t>
            </a:r>
            <a:r>
              <a:rPr lang="zh-CN" altLang="en-US" sz="2400" i="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护套绝缘电线 </a:t>
            </a:r>
            <a:r>
              <a:rPr lang="en-US" altLang="zh-CN" sz="2400" i="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','20110002'</a:t>
            </a:r>
          </a:p>
          <a:p>
            <a:endParaRPr lang="en-US" altLang="zh-CN" sz="2400" i="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55331">
                                            <p:txEl>
                                              <p:pRg st="1" end="1"/>
                                            </p:txEl>
                                          </p:spTgt>
                                        </p:tgtEl>
                                        <p:attrNameLst>
                                          <p:attrName>style.visibility</p:attrName>
                                        </p:attrNameLst>
                                      </p:cBhvr>
                                      <p:to>
                                        <p:strVal val="visible"/>
                                      </p:to>
                                    </p:set>
                                    <p:animEffect transition="in" filter="blinds(horizontal)">
                                      <p:cBhvr>
                                        <p:cTn id="7" dur="500"/>
                                        <p:tgtEl>
                                          <p:spTgt spid="355331">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55331">
                                            <p:txEl>
                                              <p:pRg st="2" end="2"/>
                                            </p:txEl>
                                          </p:spTgt>
                                        </p:tgtEl>
                                        <p:attrNameLst>
                                          <p:attrName>style.visibility</p:attrName>
                                        </p:attrNameLst>
                                      </p:cBhvr>
                                      <p:to>
                                        <p:strVal val="visible"/>
                                      </p:to>
                                    </p:set>
                                    <p:animEffect transition="in" filter="blinds(horizontal)">
                                      <p:cBhvr>
                                        <p:cTn id="10" dur="500"/>
                                        <p:tgtEl>
                                          <p:spTgt spid="355331">
                                            <p:txEl>
                                              <p:pRg st="2" end="2"/>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355331">
                                            <p:txEl>
                                              <p:pRg st="3" end="3"/>
                                            </p:txEl>
                                          </p:spTgt>
                                        </p:tgtEl>
                                        <p:attrNameLst>
                                          <p:attrName>style.visibility</p:attrName>
                                        </p:attrNameLst>
                                      </p:cBhvr>
                                      <p:to>
                                        <p:strVal val="visible"/>
                                      </p:to>
                                    </p:set>
                                    <p:animEffect transition="in" filter="blinds(horizontal)">
                                      <p:cBhvr>
                                        <p:cTn id="13" dur="500"/>
                                        <p:tgtEl>
                                          <p:spTgt spid="355331">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355331">
                                            <p:txEl>
                                              <p:pRg st="4" end="4"/>
                                            </p:txEl>
                                          </p:spTgt>
                                        </p:tgtEl>
                                        <p:attrNameLst>
                                          <p:attrName>style.visibility</p:attrName>
                                        </p:attrNameLst>
                                      </p:cBhvr>
                                      <p:to>
                                        <p:strVal val="visible"/>
                                      </p:to>
                                    </p:set>
                                    <p:animEffect transition="in" filter="blinds(horizontal)">
                                      <p:cBhvr>
                                        <p:cTn id="18" dur="500"/>
                                        <p:tgtEl>
                                          <p:spTgt spid="355331">
                                            <p:txEl>
                                              <p:pRg st="4" end="4"/>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355331">
                                            <p:txEl>
                                              <p:pRg st="5" end="5"/>
                                            </p:txEl>
                                          </p:spTgt>
                                        </p:tgtEl>
                                        <p:attrNameLst>
                                          <p:attrName>style.visibility</p:attrName>
                                        </p:attrNameLst>
                                      </p:cBhvr>
                                      <p:to>
                                        <p:strVal val="visible"/>
                                      </p:to>
                                    </p:set>
                                    <p:animEffect transition="in" filter="blinds(horizontal)">
                                      <p:cBhvr>
                                        <p:cTn id="21" dur="500"/>
                                        <p:tgtEl>
                                          <p:spTgt spid="355331">
                                            <p:txEl>
                                              <p:pRg st="5" end="5"/>
                                            </p:txEl>
                                          </p:spTgt>
                                        </p:tgtEl>
                                      </p:cBhvr>
                                    </p:animEffect>
                                  </p:childTnLst>
                                </p:cTn>
                              </p:par>
                              <p:par>
                                <p:cTn id="22" presetID="3" presetClass="entr" presetSubtype="10" fill="hold" nodeType="withEffect">
                                  <p:stCondLst>
                                    <p:cond delay="0"/>
                                  </p:stCondLst>
                                  <p:childTnLst>
                                    <p:set>
                                      <p:cBhvr>
                                        <p:cTn id="23" dur="1" fill="hold">
                                          <p:stCondLst>
                                            <p:cond delay="0"/>
                                          </p:stCondLst>
                                        </p:cTn>
                                        <p:tgtEl>
                                          <p:spTgt spid="355331">
                                            <p:txEl>
                                              <p:pRg st="6" end="6"/>
                                            </p:txEl>
                                          </p:spTgt>
                                        </p:tgtEl>
                                        <p:attrNameLst>
                                          <p:attrName>style.visibility</p:attrName>
                                        </p:attrNameLst>
                                      </p:cBhvr>
                                      <p:to>
                                        <p:strVal val="visible"/>
                                      </p:to>
                                    </p:set>
                                    <p:animEffect transition="in" filter="blinds(horizontal)">
                                      <p:cBhvr>
                                        <p:cTn id="24" dur="500"/>
                                        <p:tgtEl>
                                          <p:spTgt spid="355331">
                                            <p:txEl>
                                              <p:pRg st="6" end="6"/>
                                            </p:txEl>
                                          </p:spTgt>
                                        </p:tgtEl>
                                      </p:cBhvr>
                                    </p:animEffect>
                                  </p:childTnLst>
                                </p:cTn>
                              </p:par>
                              <p:par>
                                <p:cTn id="25" presetID="3" presetClass="entr" presetSubtype="10" fill="hold" nodeType="withEffect">
                                  <p:stCondLst>
                                    <p:cond delay="0"/>
                                  </p:stCondLst>
                                  <p:childTnLst>
                                    <p:set>
                                      <p:cBhvr>
                                        <p:cTn id="26" dur="1" fill="hold">
                                          <p:stCondLst>
                                            <p:cond delay="0"/>
                                          </p:stCondLst>
                                        </p:cTn>
                                        <p:tgtEl>
                                          <p:spTgt spid="355331">
                                            <p:txEl>
                                              <p:pRg st="7" end="7"/>
                                            </p:txEl>
                                          </p:spTgt>
                                        </p:tgtEl>
                                        <p:attrNameLst>
                                          <p:attrName>style.visibility</p:attrName>
                                        </p:attrNameLst>
                                      </p:cBhvr>
                                      <p:to>
                                        <p:strVal val="visible"/>
                                      </p:to>
                                    </p:set>
                                    <p:animEffect transition="in" filter="blinds(horizontal)">
                                      <p:cBhvr>
                                        <p:cTn id="27" dur="500"/>
                                        <p:tgtEl>
                                          <p:spTgt spid="355331">
                                            <p:txEl>
                                              <p:pRg st="7" end="7"/>
                                            </p:txEl>
                                          </p:spTgt>
                                        </p:tgtEl>
                                      </p:cBhvr>
                                    </p:animEffect>
                                  </p:childTnLst>
                                </p:cTn>
                              </p:par>
                              <p:par>
                                <p:cTn id="28" presetID="3" presetClass="entr" presetSubtype="10" fill="hold" nodeType="withEffect">
                                  <p:stCondLst>
                                    <p:cond delay="0"/>
                                  </p:stCondLst>
                                  <p:childTnLst>
                                    <p:set>
                                      <p:cBhvr>
                                        <p:cTn id="29" dur="1" fill="hold">
                                          <p:stCondLst>
                                            <p:cond delay="0"/>
                                          </p:stCondLst>
                                        </p:cTn>
                                        <p:tgtEl>
                                          <p:spTgt spid="355331">
                                            <p:txEl>
                                              <p:pRg st="8" end="8"/>
                                            </p:txEl>
                                          </p:spTgt>
                                        </p:tgtEl>
                                        <p:attrNameLst>
                                          <p:attrName>style.visibility</p:attrName>
                                        </p:attrNameLst>
                                      </p:cBhvr>
                                      <p:to>
                                        <p:strVal val="visible"/>
                                      </p:to>
                                    </p:set>
                                    <p:animEffect transition="in" filter="blinds(horizontal)">
                                      <p:cBhvr>
                                        <p:cTn id="30" dur="500"/>
                                        <p:tgtEl>
                                          <p:spTgt spid="355331">
                                            <p:txEl>
                                              <p:pRg st="8" end="8"/>
                                            </p:txEl>
                                          </p:spTgt>
                                        </p:tgtEl>
                                      </p:cBhvr>
                                    </p:animEffect>
                                  </p:childTnLst>
                                </p:cTn>
                              </p:par>
                              <p:par>
                                <p:cTn id="31" presetID="3" presetClass="entr" presetSubtype="10" fill="hold" nodeType="withEffect">
                                  <p:stCondLst>
                                    <p:cond delay="0"/>
                                  </p:stCondLst>
                                  <p:childTnLst>
                                    <p:set>
                                      <p:cBhvr>
                                        <p:cTn id="32" dur="1" fill="hold">
                                          <p:stCondLst>
                                            <p:cond delay="0"/>
                                          </p:stCondLst>
                                        </p:cTn>
                                        <p:tgtEl>
                                          <p:spTgt spid="355331">
                                            <p:txEl>
                                              <p:pRg st="9" end="9"/>
                                            </p:txEl>
                                          </p:spTgt>
                                        </p:tgtEl>
                                        <p:attrNameLst>
                                          <p:attrName>style.visibility</p:attrName>
                                        </p:attrNameLst>
                                      </p:cBhvr>
                                      <p:to>
                                        <p:strVal val="visible"/>
                                      </p:to>
                                    </p:set>
                                    <p:animEffect transition="in" filter="blinds(horizontal)">
                                      <p:cBhvr>
                                        <p:cTn id="33" dur="500"/>
                                        <p:tgtEl>
                                          <p:spTgt spid="355331">
                                            <p:txEl>
                                              <p:pRg st="9" end="9"/>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2">
                                            <p:bg/>
                                          </p:spTgt>
                                        </p:tgtEl>
                                        <p:attrNameLst>
                                          <p:attrName>style.visibility</p:attrName>
                                        </p:attrNameLst>
                                      </p:cBhvr>
                                      <p:to>
                                        <p:strVal val="visible"/>
                                      </p:to>
                                    </p:set>
                                    <p:animEffect transition="in" filter="blinds(horizontal)">
                                      <p:cBhvr>
                                        <p:cTn id="38" dur="500"/>
                                        <p:tgtEl>
                                          <p:spTgt spid="2">
                                            <p:bg/>
                                          </p:spTgt>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2">
                                            <p:txEl>
                                              <p:pRg st="0" end="0"/>
                                            </p:txEl>
                                          </p:spTgt>
                                        </p:tgtEl>
                                        <p:attrNameLst>
                                          <p:attrName>style.visibility</p:attrName>
                                        </p:attrNameLst>
                                      </p:cBhvr>
                                      <p:to>
                                        <p:strVal val="visible"/>
                                      </p:to>
                                    </p:set>
                                    <p:animEffect transition="in" filter="blinds(horizontal)">
                                      <p:cBhvr>
                                        <p:cTn id="43" dur="500"/>
                                        <p:tgtEl>
                                          <p:spTgt spid="2">
                                            <p:txEl>
                                              <p:pRg st="0" end="0"/>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grpId="0" nodeType="clickEffect">
                                  <p:stCondLst>
                                    <p:cond delay="0"/>
                                  </p:stCondLst>
                                  <p:childTnLst>
                                    <p:set>
                                      <p:cBhvr>
                                        <p:cTn id="47" dur="1" fill="hold">
                                          <p:stCondLst>
                                            <p:cond delay="0"/>
                                          </p:stCondLst>
                                        </p:cTn>
                                        <p:tgtEl>
                                          <p:spTgt spid="2">
                                            <p:txEl>
                                              <p:pRg st="1" end="1"/>
                                            </p:txEl>
                                          </p:spTgt>
                                        </p:tgtEl>
                                        <p:attrNameLst>
                                          <p:attrName>style.visibility</p:attrName>
                                        </p:attrNameLst>
                                      </p:cBhvr>
                                      <p:to>
                                        <p:strVal val="visible"/>
                                      </p:to>
                                    </p:set>
                                    <p:animEffect transition="in" filter="blinds(horizontal)">
                                      <p:cBhvr>
                                        <p:cTn id="48" dur="500"/>
                                        <p:tgtEl>
                                          <p:spTgt spid="2">
                                            <p:txEl>
                                              <p:pRg st="1" end="1"/>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3" presetClass="entr" presetSubtype="10" fill="hold" grpId="0" nodeType="clickEffect">
                                  <p:stCondLst>
                                    <p:cond delay="0"/>
                                  </p:stCondLst>
                                  <p:childTnLst>
                                    <p:set>
                                      <p:cBhvr>
                                        <p:cTn id="52" dur="1" fill="hold">
                                          <p:stCondLst>
                                            <p:cond delay="0"/>
                                          </p:stCondLst>
                                        </p:cTn>
                                        <p:tgtEl>
                                          <p:spTgt spid="2">
                                            <p:txEl>
                                              <p:pRg st="2" end="2"/>
                                            </p:txEl>
                                          </p:spTgt>
                                        </p:tgtEl>
                                        <p:attrNameLst>
                                          <p:attrName>style.visibility</p:attrName>
                                        </p:attrNameLst>
                                      </p:cBhvr>
                                      <p:to>
                                        <p:strVal val="visible"/>
                                      </p:to>
                                    </p:set>
                                    <p:animEffect transition="in" filter="blinds(horizontal)">
                                      <p:cBhvr>
                                        <p:cTn id="53" dur="500"/>
                                        <p:tgtEl>
                                          <p:spTgt spid="2">
                                            <p:txEl>
                                              <p:pRg st="2" end="2"/>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3" presetClass="entr" presetSubtype="10" fill="hold" grpId="0" nodeType="clickEffect">
                                  <p:stCondLst>
                                    <p:cond delay="0"/>
                                  </p:stCondLst>
                                  <p:childTnLst>
                                    <p:set>
                                      <p:cBhvr>
                                        <p:cTn id="57" dur="1" fill="hold">
                                          <p:stCondLst>
                                            <p:cond delay="0"/>
                                          </p:stCondLst>
                                        </p:cTn>
                                        <p:tgtEl>
                                          <p:spTgt spid="2">
                                            <p:txEl>
                                              <p:pRg st="3" end="3"/>
                                            </p:txEl>
                                          </p:spTgt>
                                        </p:tgtEl>
                                        <p:attrNameLst>
                                          <p:attrName>style.visibility</p:attrName>
                                        </p:attrNameLst>
                                      </p:cBhvr>
                                      <p:to>
                                        <p:strVal val="visible"/>
                                      </p:to>
                                    </p:set>
                                    <p:animEffect transition="in" filter="blinds(horizontal)">
                                      <p:cBhvr>
                                        <p:cTn id="58" dur="500"/>
                                        <p:tgtEl>
                                          <p:spTgt spid="2">
                                            <p:txEl>
                                              <p:pRg st="3" end="3"/>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3" presetClass="entr" presetSubtype="10" fill="hold" grpId="0" nodeType="clickEffect">
                                  <p:stCondLst>
                                    <p:cond delay="0"/>
                                  </p:stCondLst>
                                  <p:childTnLst>
                                    <p:set>
                                      <p:cBhvr>
                                        <p:cTn id="62" dur="1" fill="hold">
                                          <p:stCondLst>
                                            <p:cond delay="0"/>
                                          </p:stCondLst>
                                        </p:cTn>
                                        <p:tgtEl>
                                          <p:spTgt spid="2">
                                            <p:txEl>
                                              <p:pRg st="4" end="4"/>
                                            </p:txEl>
                                          </p:spTgt>
                                        </p:tgtEl>
                                        <p:attrNameLst>
                                          <p:attrName>style.visibility</p:attrName>
                                        </p:attrNameLst>
                                      </p:cBhvr>
                                      <p:to>
                                        <p:strVal val="visible"/>
                                      </p:to>
                                    </p:set>
                                    <p:animEffect transition="in" filter="blinds(horizontal)">
                                      <p:cBhvr>
                                        <p:cTn id="63" dur="500"/>
                                        <p:tgtEl>
                                          <p:spTgt spid="2">
                                            <p:txEl>
                                              <p:pRg st="4" end="4"/>
                                            </p:txEl>
                                          </p:spTgt>
                                        </p:tgtEl>
                                      </p:cBhvr>
                                    </p:animEffect>
                                  </p:childTnLst>
                                </p:cTn>
                              </p:par>
                            </p:childTnLst>
                          </p:cTn>
                        </p:par>
                      </p:childTnLst>
                    </p:cTn>
                  </p:par>
                  <p:par>
                    <p:cTn id="64" fill="hold">
                      <p:stCondLst>
                        <p:cond delay="indefinite"/>
                      </p:stCondLst>
                      <p:childTnLst>
                        <p:par>
                          <p:cTn id="65" fill="hold">
                            <p:stCondLst>
                              <p:cond delay="0"/>
                            </p:stCondLst>
                            <p:childTnLst>
                              <p:par>
                                <p:cTn id="66" presetID="3" presetClass="entr" presetSubtype="10" fill="hold" grpId="0" nodeType="clickEffect">
                                  <p:stCondLst>
                                    <p:cond delay="0"/>
                                  </p:stCondLst>
                                  <p:childTnLst>
                                    <p:set>
                                      <p:cBhvr>
                                        <p:cTn id="67" dur="1" fill="hold">
                                          <p:stCondLst>
                                            <p:cond delay="0"/>
                                          </p:stCondLst>
                                        </p:cTn>
                                        <p:tgtEl>
                                          <p:spTgt spid="2">
                                            <p:txEl>
                                              <p:pRg st="5" end="5"/>
                                            </p:txEl>
                                          </p:spTgt>
                                        </p:tgtEl>
                                        <p:attrNameLst>
                                          <p:attrName>style.visibility</p:attrName>
                                        </p:attrNameLst>
                                      </p:cBhvr>
                                      <p:to>
                                        <p:strVal val="visible"/>
                                      </p:to>
                                    </p:set>
                                    <p:animEffect transition="in" filter="blinds(horizontal)">
                                      <p:cBhvr>
                                        <p:cTn id="68" dur="500"/>
                                        <p:tgtEl>
                                          <p:spTgt spid="2">
                                            <p:txEl>
                                              <p:pRg st="5" end="5"/>
                                            </p:txEl>
                                          </p:spTgt>
                                        </p:tgtEl>
                                      </p:cBhvr>
                                    </p:animEffect>
                                  </p:childTnLst>
                                </p:cTn>
                              </p:par>
                            </p:childTnLst>
                          </p:cTn>
                        </p:par>
                      </p:childTnLst>
                    </p:cTn>
                  </p:par>
                  <p:par>
                    <p:cTn id="69" fill="hold">
                      <p:stCondLst>
                        <p:cond delay="indefinite"/>
                      </p:stCondLst>
                      <p:childTnLst>
                        <p:par>
                          <p:cTn id="70" fill="hold">
                            <p:stCondLst>
                              <p:cond delay="0"/>
                            </p:stCondLst>
                            <p:childTnLst>
                              <p:par>
                                <p:cTn id="71" presetID="3" presetClass="entr" presetSubtype="10" fill="hold" grpId="0" nodeType="clickEffect">
                                  <p:stCondLst>
                                    <p:cond delay="0"/>
                                  </p:stCondLst>
                                  <p:childTnLst>
                                    <p:set>
                                      <p:cBhvr>
                                        <p:cTn id="72" dur="1" fill="hold">
                                          <p:stCondLst>
                                            <p:cond delay="0"/>
                                          </p:stCondLst>
                                        </p:cTn>
                                        <p:tgtEl>
                                          <p:spTgt spid="2">
                                            <p:txEl>
                                              <p:pRg st="6" end="6"/>
                                            </p:txEl>
                                          </p:spTgt>
                                        </p:tgtEl>
                                        <p:attrNameLst>
                                          <p:attrName>style.visibility</p:attrName>
                                        </p:attrNameLst>
                                      </p:cBhvr>
                                      <p:to>
                                        <p:strVal val="visible"/>
                                      </p:to>
                                    </p:set>
                                    <p:animEffect transition="in" filter="blinds(horizontal)">
                                      <p:cBhvr>
                                        <p:cTn id="73" dur="500"/>
                                        <p:tgtEl>
                                          <p:spTgt spid="2">
                                            <p:txEl>
                                              <p:pRg st="6" end="6"/>
                                            </p:txEl>
                                          </p:spTgt>
                                        </p:tgtEl>
                                      </p:cBhvr>
                                    </p:animEffect>
                                  </p:childTnLst>
                                </p:cTn>
                              </p:par>
                            </p:childTnLst>
                          </p:cTn>
                        </p:par>
                      </p:childTnLst>
                    </p:cTn>
                  </p:par>
                  <p:par>
                    <p:cTn id="74" fill="hold">
                      <p:stCondLst>
                        <p:cond delay="indefinite"/>
                      </p:stCondLst>
                      <p:childTnLst>
                        <p:par>
                          <p:cTn id="75" fill="hold">
                            <p:stCondLst>
                              <p:cond delay="0"/>
                            </p:stCondLst>
                            <p:childTnLst>
                              <p:par>
                                <p:cTn id="76" presetID="3" presetClass="entr" presetSubtype="10" fill="hold" grpId="0" nodeType="clickEffect">
                                  <p:stCondLst>
                                    <p:cond delay="0"/>
                                  </p:stCondLst>
                                  <p:childTnLst>
                                    <p:set>
                                      <p:cBhvr>
                                        <p:cTn id="77" dur="1" fill="hold">
                                          <p:stCondLst>
                                            <p:cond delay="0"/>
                                          </p:stCondLst>
                                        </p:cTn>
                                        <p:tgtEl>
                                          <p:spTgt spid="2">
                                            <p:txEl>
                                              <p:pRg st="7" end="7"/>
                                            </p:txEl>
                                          </p:spTgt>
                                        </p:tgtEl>
                                        <p:attrNameLst>
                                          <p:attrName>style.visibility</p:attrName>
                                        </p:attrNameLst>
                                      </p:cBhvr>
                                      <p:to>
                                        <p:strVal val="visible"/>
                                      </p:to>
                                    </p:set>
                                    <p:animEffect transition="in" filter="blinds(horizontal)">
                                      <p:cBhvr>
                                        <p:cTn id="78" dur="500"/>
                                        <p:tgtEl>
                                          <p:spTgt spid="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nimBg="1"/>
      <p:bldP spid="2" grpId="1"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cxnSp>
        <p:nvCxnSpPr>
          <p:cNvPr id="13" name="直接连接符 12"/>
          <p:cNvCxnSpPr/>
          <p:nvPr/>
        </p:nvCxnSpPr>
        <p:spPr>
          <a:xfrm rot="5400000">
            <a:off x="43826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文本框 94"/>
          <p:cNvSpPr txBox="1">
            <a:spLocks noChangeArrowheads="1"/>
          </p:cNvSpPr>
          <p:nvPr/>
        </p:nvSpPr>
        <p:spPr bwMode="auto">
          <a:xfrm>
            <a:off x="245745" y="53975"/>
            <a:ext cx="4133215"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4.2 </a:t>
            </a:r>
            <a:r>
              <a:rPr lang="zh-CN" sz="2800" b="1" dirty="0">
                <a:solidFill>
                  <a:schemeClr val="bg1"/>
                </a:solidFill>
                <a:latin typeface="微软雅黑" panose="020B0503020204020204" pitchFamily="34" charset="-122"/>
                <a:ea typeface="微软雅黑" panose="020B0503020204020204" pitchFamily="34" charset="-122"/>
              </a:rPr>
              <a:t>存储过程</a:t>
            </a:r>
          </a:p>
        </p:txBody>
      </p:sp>
      <p:sp>
        <p:nvSpPr>
          <p:cNvPr id="12" name="文本框 94"/>
          <p:cNvSpPr txBox="1">
            <a:spLocks noChangeArrowheads="1"/>
          </p:cNvSpPr>
          <p:nvPr/>
        </p:nvSpPr>
        <p:spPr bwMode="auto">
          <a:xfrm>
            <a:off x="4737459" y="75566"/>
            <a:ext cx="7908779" cy="954107"/>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4.2.2</a:t>
            </a:r>
            <a:r>
              <a:rPr lang="zh-CN" altLang="en-US" sz="2800" b="1" dirty="0">
                <a:solidFill>
                  <a:schemeClr val="bg1"/>
                </a:solidFill>
                <a:latin typeface="微软雅黑" panose="020B0503020204020204" pitchFamily="34" charset="-122"/>
                <a:ea typeface="微软雅黑" panose="020B0503020204020204" pitchFamily="34" charset="-122"/>
              </a:rPr>
              <a:t>创建和管理</a:t>
            </a:r>
            <a:r>
              <a:rPr lang="en-US" altLang="zh-CN" sz="2800" b="1" dirty="0" err="1">
                <a:solidFill>
                  <a:schemeClr val="bg1"/>
                </a:solidFill>
                <a:latin typeface="微软雅黑" panose="020B0503020204020204" pitchFamily="34" charset="-122"/>
                <a:ea typeface="微软雅黑" panose="020B0503020204020204" pitchFamily="34" charset="-122"/>
              </a:rPr>
              <a:t>SQLServer</a:t>
            </a:r>
            <a:r>
              <a:rPr lang="zh-CN" altLang="zh-CN" sz="2800" b="1" dirty="0">
                <a:solidFill>
                  <a:schemeClr val="bg1"/>
                </a:solidFill>
                <a:latin typeface="微软雅黑" panose="020B0503020204020204" pitchFamily="34" charset="-122"/>
                <a:ea typeface="微软雅黑" panose="020B0503020204020204" pitchFamily="34" charset="-122"/>
              </a:rPr>
              <a:t>存储过程</a:t>
            </a:r>
          </a:p>
          <a:p>
            <a:endParaRPr lang="zh-CN" sz="2800" b="1" dirty="0">
              <a:solidFill>
                <a:schemeClr val="bg1"/>
              </a:solidFill>
              <a:latin typeface="微软雅黑" panose="020B0503020204020204" pitchFamily="34" charset="-122"/>
              <a:ea typeface="微软雅黑" panose="020B0503020204020204" pitchFamily="34" charset="-122"/>
            </a:endParaRPr>
          </a:p>
        </p:txBody>
      </p:sp>
      <p:sp>
        <p:nvSpPr>
          <p:cNvPr id="34818" name="Rectangle 2"/>
          <p:cNvSpPr/>
          <p:nvPr/>
        </p:nvSpPr>
        <p:spPr>
          <a:xfrm>
            <a:off x="-266065" y="663258"/>
            <a:ext cx="5003800" cy="647700"/>
          </a:xfrm>
          <a:prstGeom prst="rect">
            <a:avLst/>
          </a:prstGeom>
          <a:noFill/>
          <a:ln>
            <a:noFill/>
          </a:ln>
        </p:spPr>
        <p:txBody>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indent="0" eaLnBrk="1" latinLnBrk="0" hangingPunct="1">
              <a:lnSpc>
                <a:spcPct val="125000"/>
              </a:lnSpc>
              <a:spcBef>
                <a:spcPts val="0"/>
              </a:spcBef>
            </a:pPr>
            <a:r>
              <a:rPr lang="en-US" altLang="zh-CN"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4</a:t>
            </a:r>
            <a:r>
              <a:rPr lang="zh-CN" altLang="en-US"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．带输出参数的存储过程</a:t>
            </a:r>
          </a:p>
        </p:txBody>
      </p:sp>
      <p:sp>
        <p:nvSpPr>
          <p:cNvPr id="26627" name="Rectangle 3"/>
          <p:cNvSpPr>
            <a:spLocks noGrp="1" noChangeArrowheads="1"/>
          </p:cNvSpPr>
          <p:nvPr/>
        </p:nvSpPr>
        <p:spPr bwMode="auto">
          <a:xfrm>
            <a:off x="245745" y="1691005"/>
            <a:ext cx="11805285" cy="4526280"/>
          </a:xfrm>
          <a:prstGeom prst="rect">
            <a:avLst/>
          </a:prstGeom>
        </p:spPr>
        <p:txBody>
          <a:bodyPr vert="horz" wrap="square" lIns="91440" tIns="45720" rIns="91440" bIns="45720" numCol="1" anchor="t" anchorCtr="0" compatLnSpc="1"/>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marL="342900" marR="0" lvl="0" indent="0" algn="l" defTabSz="914400" rtl="0" eaLnBrk="1" latinLnBrk="0" hangingPunct="1">
              <a:lnSpc>
                <a:spcPct val="125000"/>
              </a:lnSpc>
              <a:spcBef>
                <a:spcPts val="0"/>
              </a:spcBef>
              <a:spcAft>
                <a:spcPct val="0"/>
              </a:spcAft>
              <a:buClrTx/>
              <a:buSzTx/>
              <a:buFontTx/>
              <a:buNone/>
              <a:defRPr/>
            </a:pPr>
            <a:r>
              <a:rPr kumimoji="0" lang="en-US" altLang="zh-CN" sz="24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sz="24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例</a:t>
            </a:r>
            <a:r>
              <a:rPr kumimoji="0" lang="en-US" altLang="zh-CN" sz="24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4.9】</a:t>
            </a:r>
            <a:r>
              <a:rPr kumimoji="0" lang="zh-CN" altLang="en-US" sz="24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创建一个存储过程，</a:t>
            </a:r>
            <a:r>
              <a:rPr kumimoji="0" lang="zh-CN" altLang="zh-CN" sz="24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根据</a:t>
            </a:r>
            <a:r>
              <a:rPr kumimoji="0" lang="zh-CN" altLang="zh-CN" sz="2400"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输入的抢修工程项目号</a:t>
            </a:r>
            <a:r>
              <a:rPr kumimoji="0" lang="zh-CN" altLang="zh-CN" sz="24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统计其</a:t>
            </a:r>
            <a:r>
              <a:rPr kumimoji="0" lang="zh-CN" altLang="zh-CN" sz="2400"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领取物资的总数量</a:t>
            </a:r>
            <a:r>
              <a:rPr kumimoji="0" lang="zh-CN" altLang="zh-CN" sz="24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，并要求</a:t>
            </a:r>
            <a:r>
              <a:rPr kumimoji="0" lang="zh-CN" altLang="zh-CN" sz="2400"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输出</a:t>
            </a:r>
            <a:r>
              <a:rPr kumimoji="0" lang="zh-CN" altLang="zh-CN" sz="24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endParaRPr kumimoji="0" lang="zh-CN" altLang="en-US" sz="24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algn="l" defTabSz="914400" rtl="0" eaLnBrk="0" latinLnBrk="0" hangingPunct="0">
              <a:lnSpc>
                <a:spcPct val="125000"/>
              </a:lnSpc>
              <a:spcBef>
                <a:spcPts val="0"/>
              </a:spcBef>
              <a:spcAft>
                <a:spcPct val="0"/>
              </a:spcAft>
              <a:buClrTx/>
              <a:buSzTx/>
              <a:buFontTx/>
              <a:buNone/>
              <a:defRPr/>
            </a:pPr>
            <a:r>
              <a:rPr kumimoji="0" lang="en-US" altLang="zh-CN" sz="2400"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CREATE PROCEDURE exp4</a:t>
            </a:r>
            <a:endParaRPr kumimoji="0" lang="zh-CN" altLang="zh-CN" sz="2400"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algn="l" defTabSz="914400" rtl="0" eaLnBrk="0" latinLnBrk="0" hangingPunct="0">
              <a:lnSpc>
                <a:spcPct val="125000"/>
              </a:lnSpc>
              <a:spcBef>
                <a:spcPts val="0"/>
              </a:spcBef>
              <a:spcAft>
                <a:spcPct val="0"/>
              </a:spcAft>
              <a:buClrTx/>
              <a:buSzTx/>
              <a:buFontTx/>
              <a:buNone/>
              <a:defRPr/>
            </a:pPr>
            <a:endParaRPr kumimoji="0" lang="en-US" altLang="zh-CN" sz="2400"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algn="l" defTabSz="914400" rtl="0" eaLnBrk="0" latinLnBrk="0" hangingPunct="0">
              <a:lnSpc>
                <a:spcPct val="125000"/>
              </a:lnSpc>
              <a:spcBef>
                <a:spcPts val="0"/>
              </a:spcBef>
              <a:spcAft>
                <a:spcPct val="0"/>
              </a:spcAft>
              <a:buClrTx/>
              <a:buSzTx/>
              <a:buFontTx/>
              <a:buNone/>
              <a:defRPr/>
            </a:pPr>
            <a:r>
              <a:rPr kumimoji="0" lang="en-US" altLang="zh-CN" sz="2400"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AS</a:t>
            </a:r>
            <a:endParaRPr kumimoji="0" lang="zh-CN" altLang="zh-CN" sz="2400"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algn="l" defTabSz="914400" rtl="0" eaLnBrk="0" latinLnBrk="0" hangingPunct="0">
              <a:lnSpc>
                <a:spcPct val="125000"/>
              </a:lnSpc>
              <a:spcBef>
                <a:spcPts val="0"/>
              </a:spcBef>
              <a:spcAft>
                <a:spcPct val="0"/>
              </a:spcAft>
              <a:buClrTx/>
              <a:buSzTx/>
              <a:buFontTx/>
              <a:buNone/>
              <a:defRPr/>
            </a:pPr>
            <a:r>
              <a:rPr kumimoji="0" lang="en-US" altLang="zh-CN" sz="24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SELECT </a:t>
            </a:r>
            <a:r>
              <a:rPr kumimoji="0" lang="en-US" altLang="zh-CN" sz="2400" i="0" u="none" strike="noStrike" kern="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a:t>
            </a:r>
            <a:r>
              <a:rPr kumimoji="0" lang="en-US" altLang="zh-CN" sz="24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sum(amount)</a:t>
            </a:r>
            <a:endParaRPr kumimoji="0" lang="zh-CN" altLang="zh-CN" sz="24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algn="l" defTabSz="914400" rtl="0" eaLnBrk="0" latinLnBrk="0" hangingPunct="0">
              <a:lnSpc>
                <a:spcPct val="125000"/>
              </a:lnSpc>
              <a:spcBef>
                <a:spcPts val="0"/>
              </a:spcBef>
              <a:spcAft>
                <a:spcPct val="0"/>
              </a:spcAft>
              <a:buClrTx/>
              <a:buSzTx/>
              <a:buFontTx/>
              <a:buNone/>
              <a:defRPr/>
            </a:pPr>
            <a:r>
              <a:rPr kumimoji="0" lang="en-US" altLang="zh-CN" sz="24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FROM </a:t>
            </a:r>
            <a:r>
              <a:rPr kumimoji="0" lang="en-US" altLang="zh-CN" sz="2400" i="0" u="none" strike="noStrike" kern="0" cap="none" spc="0" normalizeH="0" baseline="0" noProof="0" dirty="0" err="1">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Out_stock</a:t>
            </a:r>
            <a:endParaRPr kumimoji="0" lang="zh-CN" altLang="zh-CN" sz="24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algn="l" defTabSz="914400" rtl="0" eaLnBrk="0" latinLnBrk="0" hangingPunct="0">
              <a:lnSpc>
                <a:spcPct val="125000"/>
              </a:lnSpc>
              <a:spcBef>
                <a:spcPts val="0"/>
              </a:spcBef>
              <a:spcAft>
                <a:spcPct val="0"/>
              </a:spcAft>
              <a:buClrTx/>
              <a:buSzTx/>
              <a:buFontTx/>
              <a:buNone/>
              <a:defRPr/>
            </a:pPr>
            <a:r>
              <a:rPr kumimoji="0" lang="en-US" altLang="zh-CN" sz="24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WHERE </a:t>
            </a:r>
            <a:r>
              <a:rPr kumimoji="0" lang="en-US" altLang="zh-CN" sz="2400" i="0" u="none" strike="noStrike" kern="0" cap="none" spc="0" normalizeH="0" baseline="0" noProof="0" dirty="0" err="1">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prj_num</a:t>
            </a:r>
            <a:r>
              <a:rPr kumimoji="0" lang="en-US" altLang="zh-CN" sz="24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endParaRPr kumimoji="0" lang="en-US" altLang="zh-CN" sz="2400" i="0" u="none" strike="noStrike" kern="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矩形 1"/>
          <p:cNvSpPr/>
          <p:nvPr/>
        </p:nvSpPr>
        <p:spPr>
          <a:xfrm>
            <a:off x="1557020" y="3974465"/>
            <a:ext cx="1725930" cy="553085"/>
          </a:xfrm>
          <a:prstGeom prst="rect">
            <a:avLst/>
          </a:prstGeom>
          <a:noFill/>
          <a:ln w="9525">
            <a:noFill/>
          </a:ln>
        </p:spPr>
        <p:txBody>
          <a:bodyPr wrap="square">
            <a:spAutoFit/>
          </a:bodyPr>
          <a:lstStyle/>
          <a:p>
            <a:pPr indent="0" latinLnBrk="0">
              <a:lnSpc>
                <a:spcPct val="125000"/>
              </a:lnSpc>
              <a:spcBef>
                <a:spcPts val="0"/>
              </a:spcBef>
            </a:pPr>
            <a:r>
              <a:rPr lang="en-US" altLang="zh-CN" sz="2400" dirty="0">
                <a:solidFill>
                  <a:srgbClr val="0000FF"/>
                </a:solidFill>
                <a:latin typeface="微软雅黑" panose="020B0503020204020204" pitchFamily="34" charset="-122"/>
                <a:ea typeface="微软雅黑" panose="020B0503020204020204" pitchFamily="34" charset="-122"/>
              </a:rPr>
              <a:t>@sum=  </a:t>
            </a:r>
          </a:p>
        </p:txBody>
      </p:sp>
      <p:sp>
        <p:nvSpPr>
          <p:cNvPr id="3" name="矩形 2"/>
          <p:cNvSpPr/>
          <p:nvPr/>
        </p:nvSpPr>
        <p:spPr>
          <a:xfrm>
            <a:off x="3121025" y="4869498"/>
            <a:ext cx="880110" cy="553085"/>
          </a:xfrm>
          <a:prstGeom prst="rect">
            <a:avLst/>
          </a:prstGeom>
          <a:noFill/>
          <a:ln w="9525">
            <a:noFill/>
          </a:ln>
        </p:spPr>
        <p:txBody>
          <a:bodyPr wrap="none">
            <a:spAutoFit/>
          </a:bodyPr>
          <a:lstStyle/>
          <a:p>
            <a:pPr indent="0" latinLnBrk="0">
              <a:lnSpc>
                <a:spcPct val="125000"/>
              </a:lnSpc>
              <a:spcBef>
                <a:spcPts val="0"/>
              </a:spcBef>
              <a:buNone/>
            </a:pPr>
            <a:r>
              <a:rPr lang="en-US" altLang="zh-CN" sz="2400" dirty="0">
                <a:solidFill>
                  <a:srgbClr val="0000FF"/>
                </a:solidFill>
                <a:latin typeface="微软雅黑" panose="020B0503020204020204" pitchFamily="34" charset="-122"/>
                <a:ea typeface="微软雅黑" panose="020B0503020204020204" pitchFamily="34" charset="-122"/>
              </a:rPr>
              <a:t>@pn</a:t>
            </a:r>
          </a:p>
        </p:txBody>
      </p:sp>
      <p:sp>
        <p:nvSpPr>
          <p:cNvPr id="5" name="矩形 4"/>
          <p:cNvSpPr/>
          <p:nvPr/>
        </p:nvSpPr>
        <p:spPr>
          <a:xfrm>
            <a:off x="701993" y="3078798"/>
            <a:ext cx="5052695" cy="553085"/>
          </a:xfrm>
          <a:prstGeom prst="rect">
            <a:avLst/>
          </a:prstGeom>
          <a:noFill/>
          <a:ln w="9525">
            <a:noFill/>
          </a:ln>
        </p:spPr>
        <p:txBody>
          <a:bodyPr wrap="none">
            <a:spAutoFit/>
          </a:bodyPr>
          <a:lstStyle/>
          <a:p>
            <a:pPr indent="0" latinLnBrk="0">
              <a:lnSpc>
                <a:spcPct val="125000"/>
              </a:lnSpc>
              <a:spcBef>
                <a:spcPts val="0"/>
              </a:spcBef>
            </a:pPr>
            <a:r>
              <a:rPr lang="en-US" altLang="zh-CN" sz="2400" dirty="0">
                <a:solidFill>
                  <a:srgbClr val="0000FF"/>
                </a:solidFill>
                <a:latin typeface="微软雅黑" panose="020B0503020204020204" pitchFamily="34" charset="-122"/>
                <a:ea typeface="微软雅黑" panose="020B0503020204020204" pitchFamily="34" charset="-122"/>
              </a:rPr>
              <a:t>@pn char(8),  @sum int OUTPUT </a:t>
            </a:r>
          </a:p>
        </p:txBody>
      </p:sp>
      <p:sp>
        <p:nvSpPr>
          <p:cNvPr id="6" name="矩形 5"/>
          <p:cNvSpPr/>
          <p:nvPr/>
        </p:nvSpPr>
        <p:spPr>
          <a:xfrm>
            <a:off x="245745" y="1137920"/>
            <a:ext cx="11590655" cy="553085"/>
          </a:xfrm>
          <a:prstGeom prst="rect">
            <a:avLst/>
          </a:prstGeom>
        </p:spPr>
        <p:txBody>
          <a:bodyPr wrap="square">
            <a:spAutoFit/>
          </a:bodyPr>
          <a:lstStyle/>
          <a:p>
            <a:pPr marL="0" marR="0" lvl="0" indent="0" algn="l" defTabSz="914400" rtl="0" eaLnBrk="1" latinLnBrk="0" hangingPunct="1">
              <a:lnSpc>
                <a:spcPct val="125000"/>
              </a:lnSpc>
              <a:spcBef>
                <a:spcPts val="0"/>
              </a:spcBef>
              <a:spcAft>
                <a:spcPct val="0"/>
              </a:spcAft>
              <a:buClrTx/>
              <a:buSzTx/>
              <a:buFontTx/>
              <a:buNone/>
              <a:defRPr/>
            </a:pPr>
            <a:r>
              <a:rPr kumimoji="0" lang="en-US" altLang="zh-CN" sz="2400" i="0" u="none" strike="noStrike" kern="120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a:t>
            </a: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rPr>
              <a:t>OUTPUT指明输出参数，可以返回到调用存储过程的批处理或其他存储过程中。</a:t>
            </a:r>
            <a:endParaRPr kumimoji="0" lang="zh-CN" altLang="en-US" sz="2400" i="0" u="none" strike="noStrike" kern="1200" cap="none" spc="0" normalizeH="0" baseline="0" noProof="1">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7" name="Picture 6"/>
          <p:cNvPicPr>
            <a:picLocks noChangeAspect="1"/>
          </p:cNvPicPr>
          <p:nvPr/>
        </p:nvPicPr>
        <p:blipFill>
          <a:blip r:embed="rId3"/>
          <a:stretch>
            <a:fillRect/>
          </a:stretch>
        </p:blipFill>
        <p:spPr>
          <a:xfrm>
            <a:off x="6916420" y="2569210"/>
            <a:ext cx="3550920" cy="709295"/>
          </a:xfrm>
          <a:prstGeom prst="rect">
            <a:avLst/>
          </a:prstGeom>
          <a:noFill/>
          <a:ln w="9525">
            <a:noFill/>
          </a:ln>
        </p:spPr>
      </p:pic>
      <p:sp>
        <p:nvSpPr>
          <p:cNvPr id="8" name="Rectangle 5"/>
          <p:cNvSpPr/>
          <p:nvPr/>
        </p:nvSpPr>
        <p:spPr>
          <a:xfrm>
            <a:off x="5306060" y="3775710"/>
            <a:ext cx="6771640" cy="2441575"/>
          </a:xfrm>
          <a:prstGeom prst="rect">
            <a:avLst/>
          </a:prstGeom>
          <a:solidFill>
            <a:schemeClr val="bg2"/>
          </a:solidFill>
          <a:ln w="9525">
            <a:noFill/>
          </a:ln>
        </p:spPr>
        <p:txBody>
          <a:bodyPr/>
          <a:lstStyle/>
          <a:p>
            <a:pPr marL="342900" indent="-342900" eaLnBrk="1" latinLnBrk="0" hangingPunct="1">
              <a:lnSpc>
                <a:spcPct val="125000"/>
              </a:lnSpc>
              <a:spcBef>
                <a:spcPts val="0"/>
              </a:spcBef>
            </a:pPr>
            <a:r>
              <a:rPr lang="zh-CN" altLang="en-US" sz="2400" i="0" dirty="0">
                <a:latin typeface="微软雅黑" panose="020B0503020204020204" pitchFamily="34" charset="-122"/>
                <a:ea typeface="微软雅黑" panose="020B0503020204020204" pitchFamily="34" charset="-122"/>
                <a:cs typeface="微软雅黑" panose="020B0503020204020204" pitchFamily="34" charset="-122"/>
              </a:rPr>
              <a:t>   执行：</a:t>
            </a:r>
          </a:p>
          <a:p>
            <a:pPr marL="342900" indent="-342900" eaLnBrk="1" latinLnBrk="0" hangingPunct="1">
              <a:lnSpc>
                <a:spcPct val="125000"/>
              </a:lnSpc>
              <a:spcBef>
                <a:spcPts val="0"/>
              </a:spcBef>
            </a:pPr>
            <a:r>
              <a:rPr lang="zh-CN" altLang="en-US" sz="2400" i="0"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400" i="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DECLARE @total int </a:t>
            </a:r>
          </a:p>
          <a:p>
            <a:pPr marL="342900" indent="-342900" eaLnBrk="1" latinLnBrk="0" hangingPunct="1">
              <a:lnSpc>
                <a:spcPct val="125000"/>
              </a:lnSpc>
              <a:spcBef>
                <a:spcPts val="0"/>
              </a:spcBef>
            </a:pPr>
            <a:r>
              <a:rPr lang="en-US" altLang="zh-CN" sz="2400" i="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   EXECUTE exp4 '20110001', @total OUTPUT</a:t>
            </a:r>
          </a:p>
          <a:p>
            <a:pPr marL="342900" indent="-342900" eaLnBrk="1" latinLnBrk="0" hangingPunct="1">
              <a:lnSpc>
                <a:spcPct val="125000"/>
              </a:lnSpc>
              <a:spcBef>
                <a:spcPts val="0"/>
              </a:spcBef>
            </a:pPr>
            <a:r>
              <a:rPr lang="en-US" altLang="zh-CN" sz="2400" i="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   PRINT '</a:t>
            </a:r>
            <a:r>
              <a:rPr lang="zh-CN" altLang="en-US" sz="2400" i="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该项目领取物资总量为：</a:t>
            </a:r>
            <a:r>
              <a:rPr lang="en-US" altLang="zh-CN" sz="2400" i="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 CAST(@total AS varchar(20)) </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6627">
                                            <p:txEl>
                                              <p:pRg st="1" end="1"/>
                                            </p:txEl>
                                          </p:spTgt>
                                        </p:tgtEl>
                                        <p:attrNameLst>
                                          <p:attrName>style.visibility</p:attrName>
                                        </p:attrNameLst>
                                      </p:cBhvr>
                                      <p:to>
                                        <p:strVal val="visible"/>
                                      </p:to>
                                    </p:set>
                                    <p:animEffect transition="in" filter="blinds(horizontal)">
                                      <p:cBhvr>
                                        <p:cTn id="7" dur="500"/>
                                        <p:tgtEl>
                                          <p:spTgt spid="26627">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26627">
                                            <p:txEl>
                                              <p:pRg st="3" end="3"/>
                                            </p:txEl>
                                          </p:spTgt>
                                        </p:tgtEl>
                                        <p:attrNameLst>
                                          <p:attrName>style.visibility</p:attrName>
                                        </p:attrNameLst>
                                      </p:cBhvr>
                                      <p:to>
                                        <p:strVal val="visible"/>
                                      </p:to>
                                    </p:set>
                                    <p:animEffect transition="in" filter="blinds(horizontal)">
                                      <p:cBhvr>
                                        <p:cTn id="10" dur="500"/>
                                        <p:tgtEl>
                                          <p:spTgt spid="26627">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blinds(horizontal)">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26627">
                                            <p:txEl>
                                              <p:pRg st="4" end="4"/>
                                            </p:txEl>
                                          </p:spTgt>
                                        </p:tgtEl>
                                        <p:attrNameLst>
                                          <p:attrName>style.visibility</p:attrName>
                                        </p:attrNameLst>
                                      </p:cBhvr>
                                      <p:to>
                                        <p:strVal val="visible"/>
                                      </p:to>
                                    </p:set>
                                    <p:animEffect transition="in" filter="blinds(horizontal)">
                                      <p:cBhvr>
                                        <p:cTn id="20" dur="500"/>
                                        <p:tgtEl>
                                          <p:spTgt spid="26627">
                                            <p:txEl>
                                              <p:pRg st="4" end="4"/>
                                            </p:txEl>
                                          </p:spTgt>
                                        </p:tgtEl>
                                      </p:cBhvr>
                                    </p:animEffect>
                                  </p:childTnLst>
                                </p:cTn>
                              </p:par>
                              <p:par>
                                <p:cTn id="21" presetID="3" presetClass="entr" presetSubtype="10" fill="hold" nodeType="withEffect">
                                  <p:stCondLst>
                                    <p:cond delay="0"/>
                                  </p:stCondLst>
                                  <p:childTnLst>
                                    <p:set>
                                      <p:cBhvr>
                                        <p:cTn id="22" dur="1" fill="hold">
                                          <p:stCondLst>
                                            <p:cond delay="0"/>
                                          </p:stCondLst>
                                        </p:cTn>
                                        <p:tgtEl>
                                          <p:spTgt spid="26627">
                                            <p:txEl>
                                              <p:pRg st="5" end="5"/>
                                            </p:txEl>
                                          </p:spTgt>
                                        </p:tgtEl>
                                        <p:attrNameLst>
                                          <p:attrName>style.visibility</p:attrName>
                                        </p:attrNameLst>
                                      </p:cBhvr>
                                      <p:to>
                                        <p:strVal val="visible"/>
                                      </p:to>
                                    </p:set>
                                    <p:animEffect transition="in" filter="blinds(horizontal)">
                                      <p:cBhvr>
                                        <p:cTn id="23" dur="500"/>
                                        <p:tgtEl>
                                          <p:spTgt spid="26627">
                                            <p:txEl>
                                              <p:pRg st="5" end="5"/>
                                            </p:txEl>
                                          </p:spTgt>
                                        </p:tgtEl>
                                      </p:cBhvr>
                                    </p:animEffect>
                                  </p:childTnLst>
                                </p:cTn>
                              </p:par>
                              <p:par>
                                <p:cTn id="24" presetID="3" presetClass="entr" presetSubtype="10" fill="hold" nodeType="withEffect">
                                  <p:stCondLst>
                                    <p:cond delay="0"/>
                                  </p:stCondLst>
                                  <p:childTnLst>
                                    <p:set>
                                      <p:cBhvr>
                                        <p:cTn id="25" dur="1" fill="hold">
                                          <p:stCondLst>
                                            <p:cond delay="0"/>
                                          </p:stCondLst>
                                        </p:cTn>
                                        <p:tgtEl>
                                          <p:spTgt spid="26627">
                                            <p:txEl>
                                              <p:pRg st="6" end="6"/>
                                            </p:txEl>
                                          </p:spTgt>
                                        </p:tgtEl>
                                        <p:attrNameLst>
                                          <p:attrName>style.visibility</p:attrName>
                                        </p:attrNameLst>
                                      </p:cBhvr>
                                      <p:to>
                                        <p:strVal val="visible"/>
                                      </p:to>
                                    </p:set>
                                    <p:animEffect transition="in" filter="blinds(horizontal)">
                                      <p:cBhvr>
                                        <p:cTn id="26" dur="500"/>
                                        <p:tgtEl>
                                          <p:spTgt spid="26627">
                                            <p:txEl>
                                              <p:pRg st="6" end="6"/>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3"/>
                                        </p:tgtEl>
                                        <p:attrNameLst>
                                          <p:attrName>style.visibility</p:attrName>
                                        </p:attrNameLst>
                                      </p:cBhvr>
                                      <p:to>
                                        <p:strVal val="visible"/>
                                      </p:to>
                                    </p:set>
                                    <p:animEffect transition="in" filter="blinds(horizontal)">
                                      <p:cBhvr>
                                        <p:cTn id="31" dur="500"/>
                                        <p:tgtEl>
                                          <p:spTgt spid="3"/>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2"/>
                                        </p:tgtEl>
                                        <p:attrNameLst>
                                          <p:attrName>style.visibility</p:attrName>
                                        </p:attrNameLst>
                                      </p:cBhvr>
                                      <p:to>
                                        <p:strVal val="visible"/>
                                      </p:to>
                                    </p:set>
                                    <p:animEffect transition="in" filter="blinds(horizontal)">
                                      <p:cBhvr>
                                        <p:cTn id="36" dur="500"/>
                                        <p:tgtEl>
                                          <p:spTgt spid="2"/>
                                        </p:tgtEl>
                                      </p:cBhvr>
                                    </p:animEffec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grpId="0" nodeType="clickEffect">
                                  <p:stCondLst>
                                    <p:cond delay="0"/>
                                  </p:stCondLst>
                                  <p:childTnLst>
                                    <p:set>
                                      <p:cBhvr>
                                        <p:cTn id="40" dur="1" fill="hold">
                                          <p:stCondLst>
                                            <p:cond delay="0"/>
                                          </p:stCondLst>
                                        </p:cTn>
                                        <p:tgtEl>
                                          <p:spTgt spid="8"/>
                                        </p:tgtEl>
                                        <p:attrNameLst>
                                          <p:attrName>style.visibility</p:attrName>
                                        </p:attrNameLst>
                                      </p:cBhvr>
                                      <p:to>
                                        <p:strVal val="visible"/>
                                      </p:to>
                                    </p:set>
                                    <p:animEffect transition="in" filter="blinds(horizontal)">
                                      <p:cBhvr>
                                        <p:cTn id="41" dur="500"/>
                                        <p:tgtEl>
                                          <p:spTgt spid="8"/>
                                        </p:tgtEl>
                                      </p:cBhvr>
                                    </p:animEffect>
                                  </p:childTnLst>
                                </p:cTn>
                              </p:par>
                            </p:childTnLst>
                          </p:cTn>
                        </p:par>
                      </p:childTnLst>
                    </p:cTn>
                  </p:par>
                  <p:par>
                    <p:cTn id="42" fill="hold">
                      <p:stCondLst>
                        <p:cond delay="indefinite"/>
                      </p:stCondLst>
                      <p:childTnLst>
                        <p:par>
                          <p:cTn id="43" fill="hold">
                            <p:stCondLst>
                              <p:cond delay="0"/>
                            </p:stCondLst>
                            <p:childTnLst>
                              <p:par>
                                <p:cTn id="44" presetID="3" presetClass="entr" presetSubtype="10" fill="hold" nodeType="clickEffect">
                                  <p:stCondLst>
                                    <p:cond delay="0"/>
                                  </p:stCondLst>
                                  <p:childTnLst>
                                    <p:set>
                                      <p:cBhvr>
                                        <p:cTn id="45" dur="1" fill="hold">
                                          <p:stCondLst>
                                            <p:cond delay="0"/>
                                          </p:stCondLst>
                                        </p:cTn>
                                        <p:tgtEl>
                                          <p:spTgt spid="7"/>
                                        </p:tgtEl>
                                        <p:attrNameLst>
                                          <p:attrName>style.visibility</p:attrName>
                                        </p:attrNameLst>
                                      </p:cBhvr>
                                      <p:to>
                                        <p:strVal val="visible"/>
                                      </p:to>
                                    </p:set>
                                    <p:animEffect transition="in" filter="blinds(horizontal)">
                                      <p:cBhvr>
                                        <p:cTn id="4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3" grpId="0"/>
      <p:bldP spid="3" grpId="1"/>
      <p:bldP spid="5" grpId="0"/>
      <p:bldP spid="5" grpId="1"/>
      <p:bldP spid="8" grpId="0" bldLvl="0" animBg="1"/>
      <p:bldP spid="8" grpId="1"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cxnSp>
        <p:nvCxnSpPr>
          <p:cNvPr id="13" name="直接连接符 12"/>
          <p:cNvCxnSpPr/>
          <p:nvPr/>
        </p:nvCxnSpPr>
        <p:spPr>
          <a:xfrm rot="5400000">
            <a:off x="43826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文本框 94"/>
          <p:cNvSpPr txBox="1">
            <a:spLocks noChangeArrowheads="1"/>
          </p:cNvSpPr>
          <p:nvPr/>
        </p:nvSpPr>
        <p:spPr bwMode="auto">
          <a:xfrm>
            <a:off x="245745" y="53975"/>
            <a:ext cx="4133215"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4.2 </a:t>
            </a:r>
            <a:r>
              <a:rPr lang="zh-CN" sz="2800" b="1" dirty="0">
                <a:solidFill>
                  <a:schemeClr val="bg1"/>
                </a:solidFill>
                <a:latin typeface="微软雅黑" panose="020B0503020204020204" pitchFamily="34" charset="-122"/>
                <a:ea typeface="微软雅黑" panose="020B0503020204020204" pitchFamily="34" charset="-122"/>
              </a:rPr>
              <a:t>存储过程</a:t>
            </a:r>
          </a:p>
        </p:txBody>
      </p:sp>
      <p:sp>
        <p:nvSpPr>
          <p:cNvPr id="12" name="文本框 94"/>
          <p:cNvSpPr txBox="1">
            <a:spLocks noChangeArrowheads="1"/>
          </p:cNvSpPr>
          <p:nvPr/>
        </p:nvSpPr>
        <p:spPr bwMode="auto">
          <a:xfrm>
            <a:off x="4737459" y="75566"/>
            <a:ext cx="7908779" cy="954107"/>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4.2.2</a:t>
            </a:r>
            <a:r>
              <a:rPr lang="zh-CN" altLang="en-US" sz="2800" b="1" dirty="0">
                <a:solidFill>
                  <a:schemeClr val="bg1"/>
                </a:solidFill>
                <a:latin typeface="微软雅黑" panose="020B0503020204020204" pitchFamily="34" charset="-122"/>
                <a:ea typeface="微软雅黑" panose="020B0503020204020204" pitchFamily="34" charset="-122"/>
              </a:rPr>
              <a:t>创建和管理</a:t>
            </a:r>
            <a:r>
              <a:rPr lang="en-US" altLang="zh-CN" sz="2800" b="1" dirty="0" err="1">
                <a:solidFill>
                  <a:schemeClr val="bg1"/>
                </a:solidFill>
                <a:latin typeface="微软雅黑" panose="020B0503020204020204" pitchFamily="34" charset="-122"/>
                <a:ea typeface="微软雅黑" panose="020B0503020204020204" pitchFamily="34" charset="-122"/>
              </a:rPr>
              <a:t>SQLServer</a:t>
            </a:r>
            <a:r>
              <a:rPr lang="zh-CN" altLang="zh-CN" sz="2800" b="1" dirty="0">
                <a:solidFill>
                  <a:schemeClr val="bg1"/>
                </a:solidFill>
                <a:latin typeface="微软雅黑" panose="020B0503020204020204" pitchFamily="34" charset="-122"/>
                <a:ea typeface="微软雅黑" panose="020B0503020204020204" pitchFamily="34" charset="-122"/>
              </a:rPr>
              <a:t>存储过程</a:t>
            </a:r>
          </a:p>
          <a:p>
            <a:endParaRPr lang="zh-CN" sz="2800" b="1" dirty="0">
              <a:solidFill>
                <a:schemeClr val="bg1"/>
              </a:solidFill>
              <a:latin typeface="微软雅黑" panose="020B0503020204020204" pitchFamily="34" charset="-122"/>
              <a:ea typeface="微软雅黑" panose="020B0503020204020204" pitchFamily="34" charset="-122"/>
            </a:endParaRPr>
          </a:p>
        </p:txBody>
      </p:sp>
      <p:sp>
        <p:nvSpPr>
          <p:cNvPr id="28674" name="内容占位符 2"/>
          <p:cNvSpPr>
            <a:spLocks noGrp="1"/>
          </p:cNvSpPr>
          <p:nvPr/>
        </p:nvSpPr>
        <p:spPr bwMode="auto">
          <a:xfrm>
            <a:off x="245745" y="727710"/>
            <a:ext cx="11165840" cy="1059815"/>
          </a:xfrm>
          <a:prstGeom prst="rect">
            <a:avLst/>
          </a:prstGeom>
          <a:noFill/>
          <a:ln>
            <a:noFill/>
          </a:ln>
          <a:effectLst/>
          <a:scene3d>
            <a:camera prst="orthographicFront"/>
            <a:lightRig rig="balanced" dir="t"/>
          </a:scene3d>
          <a:sp3d prstMaterial="plastic"/>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no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marL="0" marR="0" lvl="0" indent="0" algn="l" defTabSz="914400" rtl="0" latinLnBrk="0">
              <a:lnSpc>
                <a:spcPct val="100000"/>
              </a:lnSpc>
              <a:spcBef>
                <a:spcPts val="0"/>
              </a:spcBef>
              <a:spcAft>
                <a:spcPts val="0"/>
              </a:spcAft>
              <a:buClrTx/>
              <a:buSzTx/>
              <a:buFontTx/>
              <a:buNone/>
              <a:defRPr/>
            </a:pPr>
            <a:r>
              <a:rPr kumimoji="0" lang="zh-CN" altLang="zh-CN" sz="2400" i="0" u="none" strike="noStrike" kern="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sz="2400" i="0" u="none" strike="noStrike" kern="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例</a:t>
            </a:r>
            <a:r>
              <a:rPr kumimoji="0" lang="en-US" altLang="zh-CN" sz="2400" i="0" u="none" strike="noStrike" kern="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4.10</a:t>
            </a:r>
            <a:r>
              <a:rPr kumimoji="0" lang="zh-CN" altLang="zh-CN" sz="2400" i="0" u="none" strike="noStrike" kern="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a:t>
            </a:r>
            <a:r>
              <a:rPr kumimoji="0" lang="zh-CN" altLang="en-US" sz="2400" i="0" u="none" strike="noStrike" kern="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创建一个存储过程，根据</a:t>
            </a:r>
            <a:r>
              <a:rPr kumimoji="0" lang="zh-CN" altLang="en-US" sz="2400" i="0" u="none" strike="noStrike" kern="0" cap="none" spc="0" normalizeH="0" baseline="0" noProof="1">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输入的工程部门及起止时间段</a:t>
            </a:r>
            <a:r>
              <a:rPr kumimoji="0" lang="zh-CN" altLang="en-US" sz="2400" i="0" u="none" strike="noStrike" kern="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，汇总该部门在对应时间段内所</a:t>
            </a:r>
            <a:r>
              <a:rPr kumimoji="0" lang="zh-CN" altLang="en-US" sz="2400" i="0" u="none" strike="noStrike" kern="0" cap="none" spc="0" normalizeH="0" baseline="0" noProof="1">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参与抢修的工程项目总数</a:t>
            </a:r>
            <a:r>
              <a:rPr kumimoji="0" lang="zh-CN" altLang="en-US" sz="2400" i="0" u="none" strike="noStrike" kern="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以及</a:t>
            </a:r>
            <a:r>
              <a:rPr kumimoji="0" lang="zh-CN" altLang="en-US" sz="2400" i="0" u="none" strike="noStrike" kern="0" cap="none" spc="0" normalizeH="0" baseline="0" noProof="1">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领取物资的总成本</a:t>
            </a:r>
            <a:r>
              <a:rPr kumimoji="0" lang="zh-CN" altLang="en-US" sz="2400" i="0" u="none" strike="noStrike" kern="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，并要求</a:t>
            </a:r>
            <a:r>
              <a:rPr kumimoji="0" lang="zh-CN" altLang="en-US" sz="2400" i="0" u="none" strike="noStrike" kern="0" cap="none" spc="0" normalizeH="0" baseline="0" noProof="1">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输出</a:t>
            </a:r>
            <a:r>
              <a:rPr kumimoji="0" lang="zh-CN" altLang="en-US" sz="2400" i="0" u="none" strike="noStrike" kern="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p>
          <a:p>
            <a:pPr marL="0" marR="0" lvl="0" indent="0" algn="l" defTabSz="914400" rtl="0" latinLnBrk="0">
              <a:lnSpc>
                <a:spcPct val="100000"/>
              </a:lnSpc>
              <a:spcBef>
                <a:spcPts val="0"/>
              </a:spcBef>
              <a:spcAft>
                <a:spcPts val="0"/>
              </a:spcAft>
              <a:buClrTx/>
              <a:buSzTx/>
              <a:buFontTx/>
              <a:buNone/>
              <a:defRPr/>
            </a:pPr>
            <a:endParaRPr kumimoji="0" lang="en-US" altLang="zh-CN" sz="2400" i="0" u="none" strike="noStrike" kern="0" cap="none" spc="0" normalizeH="0" baseline="0" noProof="1">
              <a:ln>
                <a:noFill/>
              </a:ln>
              <a:solidFill>
                <a:srgbClr val="0000CC"/>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algn="l" defTabSz="914400" rtl="0" latinLnBrk="0">
              <a:lnSpc>
                <a:spcPct val="100000"/>
              </a:lnSpc>
              <a:spcBef>
                <a:spcPts val="0"/>
              </a:spcBef>
              <a:spcAft>
                <a:spcPts val="0"/>
              </a:spcAft>
              <a:buClrTx/>
              <a:buSzTx/>
              <a:buFontTx/>
              <a:buNone/>
              <a:defRPr/>
            </a:pPr>
            <a:r>
              <a:rPr kumimoji="0" lang="en-US" altLang="zh-CN" sz="2400" i="0" u="none" strike="noStrike" kern="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a:t>
            </a:r>
          </a:p>
        </p:txBody>
      </p:sp>
      <p:sp>
        <p:nvSpPr>
          <p:cNvPr id="10" name="内容占位符 2"/>
          <p:cNvSpPr>
            <a:spLocks noGrp="1"/>
          </p:cNvSpPr>
          <p:nvPr/>
        </p:nvSpPr>
        <p:spPr bwMode="auto">
          <a:xfrm>
            <a:off x="551180" y="1851660"/>
            <a:ext cx="8974455" cy="4194175"/>
          </a:xfrm>
          <a:prstGeom prst="rect">
            <a:avLst/>
          </a:prstGeom>
          <a:noFill/>
          <a:ln>
            <a:noFill/>
          </a:ln>
          <a:effectLst/>
          <a:scene3d>
            <a:camera prst="orthographicFront"/>
            <a:lightRig rig="balanced" dir="t"/>
          </a:scene3d>
          <a:sp3d prstMaterial="plastic"/>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no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marL="0" marR="0" lvl="0" indent="0" algn="l" defTabSz="914400" rtl="0" eaLnBrk="0" latinLnBrk="0" hangingPunct="0">
              <a:lnSpc>
                <a:spcPct val="125000"/>
              </a:lnSpc>
              <a:spcBef>
                <a:spcPts val="0"/>
              </a:spcBef>
              <a:spcAft>
                <a:spcPct val="0"/>
              </a:spcAft>
              <a:buClrTx/>
              <a:buSzTx/>
              <a:buFontTx/>
              <a:buNone/>
              <a:defRPr/>
            </a:pPr>
            <a:endParaRPr kumimoji="0" lang="zh-CN" altLang="en-US" sz="2400" i="0" u="none" strike="noStrike" kern="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latinLnBrk="0" hangingPunct="0">
              <a:lnSpc>
                <a:spcPct val="125000"/>
              </a:lnSpc>
              <a:spcBef>
                <a:spcPts val="0"/>
              </a:spcBef>
              <a:spcAft>
                <a:spcPct val="0"/>
              </a:spcAft>
              <a:buClrTx/>
              <a:buSzTx/>
              <a:buFontTx/>
              <a:buNone/>
              <a:defRPr/>
            </a:pPr>
            <a:endParaRPr kumimoji="0" lang="en-US" altLang="zh-CN" sz="2400" i="0" u="none" strike="noStrike" kern="0" cap="none" spc="0" normalizeH="0" baseline="0" noProof="1">
              <a:ln>
                <a:noFill/>
              </a:ln>
              <a:solidFill>
                <a:schemeClr val="tx1"/>
              </a:solidFill>
              <a:effectLst/>
              <a:highlight>
                <a:srgbClr val="FFFF00"/>
              </a:highlight>
              <a:uLnTx/>
              <a:uFillTx/>
              <a:latin typeface="微软雅黑" panose="020B0503020204020204" pitchFamily="34" charset="-122"/>
              <a:ea typeface="微软雅黑" panose="020B0503020204020204" pitchFamily="34" charset="-122"/>
              <a:cs typeface="+mn-cs"/>
            </a:endParaRPr>
          </a:p>
          <a:p>
            <a:pPr marL="0" marR="0" lvl="0" indent="0" algn="l" defTabSz="914400" rtl="0" eaLnBrk="0" latinLnBrk="0" hangingPunct="0">
              <a:lnSpc>
                <a:spcPct val="125000"/>
              </a:lnSpc>
              <a:spcBef>
                <a:spcPts val="0"/>
              </a:spcBef>
              <a:spcAft>
                <a:spcPct val="0"/>
              </a:spcAft>
              <a:buClrTx/>
              <a:buSzTx/>
              <a:buFontTx/>
              <a:buNone/>
              <a:defRPr/>
            </a:pPr>
            <a:endParaRPr kumimoji="0" lang="en-US" altLang="zh-CN" sz="2400" i="0" u="none" strike="noStrike" kern="0" cap="none" spc="0" normalizeH="0" baseline="0" noProof="1">
              <a:ln>
                <a:noFill/>
              </a:ln>
              <a:solidFill>
                <a:schemeClr val="tx1"/>
              </a:solidFill>
              <a:effectLst/>
              <a:highlight>
                <a:srgbClr val="FFFF00"/>
              </a:highlight>
              <a:uLnTx/>
              <a:uFillTx/>
              <a:latin typeface="微软雅黑" panose="020B0503020204020204" pitchFamily="34" charset="-122"/>
              <a:ea typeface="微软雅黑" panose="020B0503020204020204" pitchFamily="34" charset="-122"/>
              <a:cs typeface="+mn-cs"/>
            </a:endParaRPr>
          </a:p>
          <a:p>
            <a:pPr marL="0" marR="0" lvl="0" indent="0" algn="l" defTabSz="914400" rtl="0" eaLnBrk="0" latinLnBrk="0" hangingPunct="0">
              <a:lnSpc>
                <a:spcPct val="125000"/>
              </a:lnSpc>
              <a:spcBef>
                <a:spcPts val="0"/>
              </a:spcBef>
              <a:spcAft>
                <a:spcPct val="0"/>
              </a:spcAft>
              <a:buClrTx/>
              <a:buSzTx/>
              <a:buFontTx/>
              <a:buNone/>
              <a:defRPr/>
            </a:pPr>
            <a:r>
              <a:rPr kumimoji="0" lang="en-US" altLang="zh-CN" sz="2400" i="0" u="none" strike="noStrike" kern="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cs typeface="+mn-cs"/>
              </a:rPr>
              <a:t>select </a:t>
            </a:r>
          </a:p>
          <a:p>
            <a:pPr marL="0" marR="0" lvl="0" indent="0" algn="l" defTabSz="914400" rtl="0" eaLnBrk="0" latinLnBrk="0" hangingPunct="0">
              <a:lnSpc>
                <a:spcPct val="125000"/>
              </a:lnSpc>
              <a:spcBef>
                <a:spcPts val="0"/>
              </a:spcBef>
              <a:spcAft>
                <a:spcPct val="0"/>
              </a:spcAft>
              <a:buClrTx/>
              <a:buSzTx/>
              <a:buFontTx/>
              <a:buNone/>
              <a:defRPr/>
            </a:pPr>
            <a:endParaRPr kumimoji="0" lang="en-US" altLang="zh-CN" sz="2400" i="0" u="none" strike="noStrike" kern="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latinLnBrk="0" hangingPunct="0">
              <a:lnSpc>
                <a:spcPct val="125000"/>
              </a:lnSpc>
              <a:spcBef>
                <a:spcPts val="0"/>
              </a:spcBef>
              <a:spcAft>
                <a:spcPct val="0"/>
              </a:spcAft>
              <a:buClrTx/>
              <a:buSzTx/>
              <a:buFontTx/>
              <a:buNone/>
              <a:defRPr/>
            </a:pPr>
            <a:r>
              <a:rPr kumimoji="0" lang="en-US" altLang="zh-CN" sz="2400" i="0" u="none" strike="noStrike" kern="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cs typeface="+mn-cs"/>
              </a:rPr>
              <a:t>FROM salvaging,out_stock,stock </a:t>
            </a:r>
          </a:p>
          <a:p>
            <a:pPr marL="0" marR="0" lvl="0" indent="0" algn="l" defTabSz="914400" rtl="0" eaLnBrk="0" latinLnBrk="0" hangingPunct="0">
              <a:lnSpc>
                <a:spcPct val="125000"/>
              </a:lnSpc>
              <a:spcBef>
                <a:spcPts val="0"/>
              </a:spcBef>
              <a:spcAft>
                <a:spcPct val="0"/>
              </a:spcAft>
              <a:buClrTx/>
              <a:buSzTx/>
              <a:buFontTx/>
              <a:buNone/>
              <a:defRPr/>
            </a:pPr>
            <a:r>
              <a:rPr kumimoji="0" lang="en-US" altLang="zh-CN" sz="2400" i="0" u="none" strike="noStrike" kern="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cs typeface="+mn-cs"/>
              </a:rPr>
              <a:t>WHERE out_stock.prj_num =salvaging.prj_num </a:t>
            </a:r>
          </a:p>
          <a:p>
            <a:pPr marL="0" marR="0" lvl="0" indent="0" algn="l" defTabSz="914400" rtl="0" eaLnBrk="0" latinLnBrk="0" hangingPunct="0">
              <a:lnSpc>
                <a:spcPct val="125000"/>
              </a:lnSpc>
              <a:spcBef>
                <a:spcPts val="0"/>
              </a:spcBef>
              <a:spcAft>
                <a:spcPct val="0"/>
              </a:spcAft>
              <a:buClrTx/>
              <a:buSzTx/>
              <a:buFontTx/>
              <a:buNone/>
              <a:defRPr/>
            </a:pPr>
            <a:r>
              <a:rPr kumimoji="0" lang="en-US" altLang="zh-CN" sz="2400" i="0" u="none" strike="noStrike" kern="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cs typeface="+mn-cs"/>
              </a:rPr>
              <a:t>	and out_stock.mat_num =Stock.mat_num</a:t>
            </a:r>
          </a:p>
          <a:p>
            <a:pPr marL="0" marR="0" lvl="0" indent="0" algn="l" defTabSz="914400" rtl="0" eaLnBrk="0" latinLnBrk="0" hangingPunct="0">
              <a:lnSpc>
                <a:spcPct val="125000"/>
              </a:lnSpc>
              <a:spcBef>
                <a:spcPts val="0"/>
              </a:spcBef>
              <a:spcAft>
                <a:spcPct val="0"/>
              </a:spcAft>
              <a:buClrTx/>
              <a:buSzTx/>
              <a:buFontTx/>
              <a:buNone/>
              <a:defRPr/>
            </a:pPr>
            <a:r>
              <a:rPr kumimoji="0" lang="en-US" altLang="zh-CN" sz="2400" i="0" u="none" strike="noStrike" kern="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cs typeface="+mn-cs"/>
              </a:rPr>
              <a:t>	and department =</a:t>
            </a:r>
          </a:p>
          <a:p>
            <a:pPr marL="0" marR="0" lvl="0" indent="0" algn="l" defTabSz="914400" rtl="0" eaLnBrk="0" latinLnBrk="0" hangingPunct="0">
              <a:lnSpc>
                <a:spcPct val="125000"/>
              </a:lnSpc>
              <a:spcBef>
                <a:spcPts val="0"/>
              </a:spcBef>
              <a:spcAft>
                <a:spcPct val="0"/>
              </a:spcAft>
              <a:buClrTx/>
              <a:buSzTx/>
              <a:buFontTx/>
              <a:buNone/>
              <a:defRPr/>
            </a:pPr>
            <a:r>
              <a:rPr kumimoji="0" lang="en-US" altLang="zh-CN" sz="2400" i="0" u="none" strike="noStrike" kern="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cs typeface="+mn-cs"/>
              </a:rPr>
              <a:t>	and get_date between                      and  </a:t>
            </a:r>
          </a:p>
          <a:p>
            <a:pPr marL="0" marR="0" lvl="0" indent="0" algn="l" defTabSz="914400" rtl="0" eaLnBrk="0" latinLnBrk="0" hangingPunct="0">
              <a:lnSpc>
                <a:spcPct val="125000"/>
              </a:lnSpc>
              <a:spcBef>
                <a:spcPts val="0"/>
              </a:spcBef>
              <a:spcAft>
                <a:spcPct val="0"/>
              </a:spcAft>
              <a:buClrTx/>
              <a:buSzTx/>
              <a:buFontTx/>
              <a:buNone/>
              <a:defRPr/>
            </a:pPr>
            <a:r>
              <a:rPr kumimoji="0" lang="en-US" altLang="zh-CN" sz="2400" i="0" u="none" strike="noStrike" kern="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cs typeface="+mn-cs"/>
              </a:rPr>
              <a:t>	</a:t>
            </a:r>
          </a:p>
        </p:txBody>
      </p:sp>
      <p:sp>
        <p:nvSpPr>
          <p:cNvPr id="37891" name="矩形 1"/>
          <p:cNvSpPr/>
          <p:nvPr/>
        </p:nvSpPr>
        <p:spPr>
          <a:xfrm>
            <a:off x="3665855" y="3237230"/>
            <a:ext cx="5988050" cy="553085"/>
          </a:xfrm>
          <a:prstGeom prst="rect">
            <a:avLst/>
          </a:prstGeom>
          <a:noFill/>
          <a:ln w="9525">
            <a:noFill/>
          </a:ln>
        </p:spPr>
        <p:txBody>
          <a:bodyPr wrap="square">
            <a:spAutoFit/>
          </a:bodyPr>
          <a:lstStyle/>
          <a:p>
            <a:pPr latinLnBrk="0">
              <a:lnSpc>
                <a:spcPct val="125000"/>
              </a:lnSpc>
              <a:spcBef>
                <a:spcPts val="0"/>
              </a:spcBef>
            </a:pPr>
            <a:r>
              <a:rPr lang="en-US" altLang="zh-CN" sz="2400" dirty="0">
                <a:solidFill>
                  <a:srgbClr val="FF0000"/>
                </a:solidFill>
                <a:latin typeface="微软雅黑" panose="020B0503020204020204" pitchFamily="34" charset="-122"/>
                <a:ea typeface="微软雅黑" panose="020B0503020204020204" pitchFamily="34" charset="-122"/>
              </a:rPr>
              <a:t>COUNT(DISTINCT out_stock.prj_num),     </a:t>
            </a:r>
          </a:p>
        </p:txBody>
      </p:sp>
      <p:sp>
        <p:nvSpPr>
          <p:cNvPr id="16" name="矩形 15"/>
          <p:cNvSpPr/>
          <p:nvPr/>
        </p:nvSpPr>
        <p:spPr>
          <a:xfrm>
            <a:off x="4378643" y="5506403"/>
            <a:ext cx="2312670" cy="553085"/>
          </a:xfrm>
          <a:prstGeom prst="rect">
            <a:avLst/>
          </a:prstGeom>
          <a:noFill/>
          <a:ln w="9525">
            <a:noFill/>
          </a:ln>
        </p:spPr>
        <p:txBody>
          <a:bodyPr wrap="none">
            <a:spAutoFit/>
          </a:bodyPr>
          <a:lstStyle/>
          <a:p>
            <a:pPr latinLnBrk="0">
              <a:lnSpc>
                <a:spcPct val="125000"/>
              </a:lnSpc>
              <a:spcBef>
                <a:spcPts val="0"/>
              </a:spcBef>
            </a:pPr>
            <a:r>
              <a:rPr lang="en-US" altLang="zh-CN" sz="2400" i="0" dirty="0">
                <a:solidFill>
                  <a:srgbClr val="0000FF"/>
                </a:solidFill>
                <a:latin typeface="微软雅黑" panose="020B0503020204020204" pitchFamily="34" charset="-122"/>
                <a:ea typeface="微软雅黑" panose="020B0503020204020204" pitchFamily="34" charset="-122"/>
              </a:rPr>
              <a:t>@department </a:t>
            </a:r>
          </a:p>
        </p:txBody>
      </p:sp>
      <p:sp>
        <p:nvSpPr>
          <p:cNvPr id="11" name="矩形 10"/>
          <p:cNvSpPr/>
          <p:nvPr/>
        </p:nvSpPr>
        <p:spPr>
          <a:xfrm>
            <a:off x="245745" y="1499235"/>
            <a:ext cx="11530330" cy="1938020"/>
          </a:xfrm>
          <a:prstGeom prst="rect">
            <a:avLst/>
          </a:prstGeom>
          <a:noFill/>
          <a:ln w="9525">
            <a:noFill/>
          </a:ln>
        </p:spPr>
        <p:txBody>
          <a:bodyPr wrap="square">
            <a:spAutoFit/>
          </a:bodyPr>
          <a:lstStyle/>
          <a:p>
            <a:pPr latinLnBrk="0">
              <a:lnSpc>
                <a:spcPct val="125000"/>
              </a:lnSpc>
              <a:spcBef>
                <a:spcPts val="0"/>
              </a:spcBef>
            </a:pPr>
            <a:r>
              <a:rPr lang="en-US" altLang="zh-CN" sz="2400" dirty="0">
                <a:solidFill>
                  <a:srgbClr val="FF0000"/>
                </a:solidFill>
                <a:latin typeface="微软雅黑" panose="020B0503020204020204" pitchFamily="34" charset="-122"/>
                <a:ea typeface="微软雅黑" panose="020B0503020204020204" pitchFamily="34" charset="-122"/>
              </a:rPr>
              <a:t>CREATE PROCEDURE exp5</a:t>
            </a:r>
          </a:p>
          <a:p>
            <a:pPr latinLnBrk="0">
              <a:lnSpc>
                <a:spcPct val="125000"/>
              </a:lnSpc>
              <a:spcBef>
                <a:spcPts val="0"/>
              </a:spcBef>
            </a:pPr>
            <a:r>
              <a:rPr lang="en-US" altLang="zh-CN" sz="2400" dirty="0">
                <a:latin typeface="微软雅黑" panose="020B0503020204020204" pitchFamily="34" charset="-122"/>
                <a:ea typeface="微软雅黑" panose="020B0503020204020204" pitchFamily="34" charset="-122"/>
              </a:rPr>
              <a:t>     </a:t>
            </a:r>
            <a:r>
              <a:rPr lang="en-US" altLang="zh-CN" sz="2400" dirty="0">
                <a:solidFill>
                  <a:srgbClr val="0000FF"/>
                </a:solidFill>
                <a:latin typeface="微软雅黑" panose="020B0503020204020204" pitchFamily="34" charset="-122"/>
                <a:ea typeface="微软雅黑" panose="020B0503020204020204" pitchFamily="34" charset="-122"/>
              </a:rPr>
              <a:t>  @department varchar(50),@start_date datetime,@end_date datetime,</a:t>
            </a:r>
          </a:p>
          <a:p>
            <a:pPr latinLnBrk="0">
              <a:lnSpc>
                <a:spcPct val="125000"/>
              </a:lnSpc>
              <a:spcBef>
                <a:spcPts val="0"/>
              </a:spcBef>
            </a:pPr>
            <a:r>
              <a:rPr lang="en-US" altLang="zh-CN" sz="2400" dirty="0">
                <a:solidFill>
                  <a:srgbClr val="0000FF"/>
                </a:solidFill>
                <a:latin typeface="微软雅黑" panose="020B0503020204020204" pitchFamily="34" charset="-122"/>
                <a:ea typeface="微软雅黑" panose="020B0503020204020204" pitchFamily="34" charset="-122"/>
              </a:rPr>
              <a:t>      @count_prj int OUTPUT, @sum_cost decimal(18,2) OUTPUT  </a:t>
            </a:r>
          </a:p>
          <a:p>
            <a:pPr latinLnBrk="0">
              <a:lnSpc>
                <a:spcPct val="125000"/>
              </a:lnSpc>
              <a:spcBef>
                <a:spcPts val="0"/>
              </a:spcBef>
            </a:pPr>
            <a:r>
              <a:rPr lang="en-US" altLang="zh-CN" sz="2400" dirty="0">
                <a:solidFill>
                  <a:srgbClr val="FF0000"/>
                </a:solidFill>
                <a:latin typeface="微软雅黑" panose="020B0503020204020204" pitchFamily="34" charset="-122"/>
                <a:ea typeface="微软雅黑" panose="020B0503020204020204" pitchFamily="34" charset="-122"/>
              </a:rPr>
              <a:t>AS</a:t>
            </a:r>
          </a:p>
        </p:txBody>
      </p:sp>
      <p:sp>
        <p:nvSpPr>
          <p:cNvPr id="14" name="矩形 13"/>
          <p:cNvSpPr/>
          <p:nvPr/>
        </p:nvSpPr>
        <p:spPr>
          <a:xfrm>
            <a:off x="1651000" y="3686175"/>
            <a:ext cx="2727960" cy="553085"/>
          </a:xfrm>
          <a:prstGeom prst="rect">
            <a:avLst/>
          </a:prstGeom>
          <a:noFill/>
          <a:ln w="9525">
            <a:noFill/>
          </a:ln>
        </p:spPr>
        <p:txBody>
          <a:bodyPr wrap="square">
            <a:spAutoFit/>
          </a:bodyPr>
          <a:lstStyle/>
          <a:p>
            <a:pPr latinLnBrk="0">
              <a:lnSpc>
                <a:spcPct val="125000"/>
              </a:lnSpc>
              <a:spcBef>
                <a:spcPts val="0"/>
              </a:spcBef>
            </a:pPr>
            <a:r>
              <a:rPr lang="en-US" altLang="zh-CN" sz="2400" dirty="0">
                <a:solidFill>
                  <a:srgbClr val="0000CC"/>
                </a:solidFill>
                <a:latin typeface="微软雅黑" panose="020B0503020204020204" pitchFamily="34" charset="-122"/>
                <a:ea typeface="微软雅黑" panose="020B0503020204020204" pitchFamily="34" charset="-122"/>
              </a:rPr>
              <a:t>@sum_cost= </a:t>
            </a:r>
          </a:p>
        </p:txBody>
      </p:sp>
      <p:sp>
        <p:nvSpPr>
          <p:cNvPr id="15" name="矩形 14"/>
          <p:cNvSpPr/>
          <p:nvPr/>
        </p:nvSpPr>
        <p:spPr>
          <a:xfrm>
            <a:off x="1651000" y="3236913"/>
            <a:ext cx="2178685" cy="553085"/>
          </a:xfrm>
          <a:prstGeom prst="rect">
            <a:avLst/>
          </a:prstGeom>
          <a:noFill/>
          <a:ln w="9525">
            <a:noFill/>
          </a:ln>
        </p:spPr>
        <p:txBody>
          <a:bodyPr wrap="none">
            <a:spAutoFit/>
          </a:bodyPr>
          <a:lstStyle/>
          <a:p>
            <a:pPr latinLnBrk="0">
              <a:lnSpc>
                <a:spcPct val="125000"/>
              </a:lnSpc>
              <a:spcBef>
                <a:spcPts val="0"/>
              </a:spcBef>
            </a:pPr>
            <a:r>
              <a:rPr lang="en-US" altLang="zh-CN" sz="2400" dirty="0">
                <a:solidFill>
                  <a:srgbClr val="0000CC"/>
                </a:solidFill>
                <a:latin typeface="微软雅黑" panose="020B0503020204020204" pitchFamily="34" charset="-122"/>
                <a:ea typeface="微软雅黑" panose="020B0503020204020204" pitchFamily="34" charset="-122"/>
              </a:rPr>
              <a:t>@count_prj=</a:t>
            </a:r>
            <a:r>
              <a:rPr lang="en-US" altLang="zh-CN" sz="2400" dirty="0">
                <a:solidFill>
                  <a:srgbClr val="FF0000"/>
                </a:solidFill>
                <a:latin typeface="微软雅黑" panose="020B0503020204020204" pitchFamily="34" charset="-122"/>
                <a:ea typeface="微软雅黑" panose="020B0503020204020204" pitchFamily="34" charset="-122"/>
              </a:rPr>
              <a:t> </a:t>
            </a:r>
            <a:endParaRPr lang="zh-CN" altLang="en-US" sz="2400" dirty="0">
              <a:solidFill>
                <a:srgbClr val="FF0000"/>
              </a:solidFill>
              <a:latin typeface="Arial" panose="020B0604020202020204" pitchFamily="34" charset="0"/>
              <a:ea typeface="微软雅黑" panose="020B0503020204020204" pitchFamily="34" charset="-122"/>
            </a:endParaRPr>
          </a:p>
        </p:txBody>
      </p:sp>
      <p:sp>
        <p:nvSpPr>
          <p:cNvPr id="37899" name="矩形 10"/>
          <p:cNvSpPr/>
          <p:nvPr/>
        </p:nvSpPr>
        <p:spPr>
          <a:xfrm>
            <a:off x="2969895" y="3712845"/>
            <a:ext cx="6081395" cy="553085"/>
          </a:xfrm>
          <a:prstGeom prst="rect">
            <a:avLst/>
          </a:prstGeom>
          <a:noFill/>
          <a:ln w="9525">
            <a:noFill/>
          </a:ln>
        </p:spPr>
        <p:txBody>
          <a:bodyPr wrap="square">
            <a:spAutoFit/>
          </a:bodyPr>
          <a:lstStyle/>
          <a:p>
            <a:pPr latinLnBrk="0">
              <a:lnSpc>
                <a:spcPct val="125000"/>
              </a:lnSpc>
              <a:spcBef>
                <a:spcPts val="0"/>
              </a:spcBef>
            </a:pPr>
            <a:r>
              <a:rPr lang="en-US" altLang="zh-CN" sz="2400" dirty="0">
                <a:solidFill>
                  <a:srgbClr val="FF0000"/>
                </a:solidFill>
                <a:latin typeface="微软雅黑" panose="020B0503020204020204" pitchFamily="34" charset="-122"/>
                <a:ea typeface="微软雅黑" panose="020B0503020204020204" pitchFamily="34" charset="-122"/>
              </a:rPr>
              <a:t>        SUM(Out_stock.amount*Stock.unit)</a:t>
            </a:r>
          </a:p>
        </p:txBody>
      </p:sp>
      <p:sp>
        <p:nvSpPr>
          <p:cNvPr id="17" name="矩形 16"/>
          <p:cNvSpPr/>
          <p:nvPr/>
        </p:nvSpPr>
        <p:spPr>
          <a:xfrm>
            <a:off x="4784725" y="5924550"/>
            <a:ext cx="2051050" cy="553085"/>
          </a:xfrm>
          <a:prstGeom prst="rect">
            <a:avLst/>
          </a:prstGeom>
          <a:noFill/>
          <a:ln w="9525">
            <a:noFill/>
          </a:ln>
        </p:spPr>
        <p:txBody>
          <a:bodyPr wrap="square">
            <a:spAutoFit/>
          </a:bodyPr>
          <a:lstStyle/>
          <a:p>
            <a:pPr latinLnBrk="0">
              <a:lnSpc>
                <a:spcPct val="125000"/>
              </a:lnSpc>
              <a:spcBef>
                <a:spcPts val="0"/>
              </a:spcBef>
            </a:pPr>
            <a:r>
              <a:rPr lang="en-US" altLang="zh-CN" sz="2400" i="0" dirty="0">
                <a:solidFill>
                  <a:srgbClr val="0000FF"/>
                </a:solidFill>
                <a:latin typeface="微软雅黑" panose="020B0503020204020204" pitchFamily="34" charset="-122"/>
                <a:ea typeface="微软雅黑" panose="020B0503020204020204" pitchFamily="34" charset="-122"/>
              </a:rPr>
              <a:t>@start_date </a:t>
            </a:r>
          </a:p>
        </p:txBody>
      </p:sp>
      <p:sp>
        <p:nvSpPr>
          <p:cNvPr id="18" name="矩形 17"/>
          <p:cNvSpPr/>
          <p:nvPr/>
        </p:nvSpPr>
        <p:spPr>
          <a:xfrm>
            <a:off x="7381240" y="5924233"/>
            <a:ext cx="1926590" cy="553085"/>
          </a:xfrm>
          <a:prstGeom prst="rect">
            <a:avLst/>
          </a:prstGeom>
          <a:noFill/>
          <a:ln w="9525">
            <a:noFill/>
          </a:ln>
        </p:spPr>
        <p:txBody>
          <a:bodyPr wrap="none">
            <a:spAutoFit/>
          </a:bodyPr>
          <a:lstStyle/>
          <a:p>
            <a:pPr latinLnBrk="0">
              <a:lnSpc>
                <a:spcPct val="125000"/>
              </a:lnSpc>
              <a:spcBef>
                <a:spcPts val="0"/>
              </a:spcBef>
            </a:pPr>
            <a:r>
              <a:rPr lang="en-US" altLang="zh-CN" sz="2400" i="0" dirty="0">
                <a:solidFill>
                  <a:srgbClr val="0000FF"/>
                </a:solidFill>
                <a:latin typeface="微软雅黑" panose="020B0503020204020204" pitchFamily="34" charset="-122"/>
                <a:ea typeface="微软雅黑" panose="020B0503020204020204" pitchFamily="34" charset="-122"/>
              </a:rPr>
              <a:t>@end_date </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28674">
                                            <p:txEl>
                                              <p:pRg st="2" end="2"/>
                                            </p:txEl>
                                          </p:spTgt>
                                        </p:tgtEl>
                                        <p:attrNameLst>
                                          <p:attrName>style.visibility</p:attrName>
                                        </p:attrNameLst>
                                      </p:cBhvr>
                                      <p:to>
                                        <p:strVal val="visible"/>
                                      </p:to>
                                    </p:set>
                                    <p:animEffect transition="in" filter="wipe(down)">
                                      <p:cBhvr>
                                        <p:cTn id="7" dur="500"/>
                                        <p:tgtEl>
                                          <p:spTgt spid="28674">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1">
                                            <p:txEl>
                                              <p:pRg st="0" end="0"/>
                                            </p:txEl>
                                          </p:spTgt>
                                        </p:tgtEl>
                                        <p:attrNameLst>
                                          <p:attrName>style.visibility</p:attrName>
                                        </p:attrNameLst>
                                      </p:cBhvr>
                                      <p:to>
                                        <p:strVal val="visible"/>
                                      </p:to>
                                    </p:set>
                                    <p:animEffect transition="in" filter="blinds(horizontal)">
                                      <p:cBhvr>
                                        <p:cTn id="12" dur="500"/>
                                        <p:tgtEl>
                                          <p:spTgt spid="11">
                                            <p:txEl>
                                              <p:pRg st="0" end="0"/>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11">
                                            <p:txEl>
                                              <p:pRg st="1" end="1"/>
                                            </p:txEl>
                                          </p:spTgt>
                                        </p:tgtEl>
                                        <p:attrNameLst>
                                          <p:attrName>style.visibility</p:attrName>
                                        </p:attrNameLst>
                                      </p:cBhvr>
                                      <p:to>
                                        <p:strVal val="visible"/>
                                      </p:to>
                                    </p:set>
                                    <p:animEffect transition="in" filter="blinds(horizontal)">
                                      <p:cBhvr>
                                        <p:cTn id="15" dur="500"/>
                                        <p:tgtEl>
                                          <p:spTgt spid="11">
                                            <p:txEl>
                                              <p:pRg st="1" end="1"/>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11">
                                            <p:txEl>
                                              <p:pRg st="2" end="2"/>
                                            </p:txEl>
                                          </p:spTgt>
                                        </p:tgtEl>
                                        <p:attrNameLst>
                                          <p:attrName>style.visibility</p:attrName>
                                        </p:attrNameLst>
                                      </p:cBhvr>
                                      <p:to>
                                        <p:strVal val="visible"/>
                                      </p:to>
                                    </p:set>
                                    <p:animEffect transition="in" filter="blinds(horizontal)">
                                      <p:cBhvr>
                                        <p:cTn id="18" dur="500"/>
                                        <p:tgtEl>
                                          <p:spTgt spid="11">
                                            <p:txEl>
                                              <p:pRg st="2" end="2"/>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11">
                                            <p:txEl>
                                              <p:pRg st="3" end="3"/>
                                            </p:txEl>
                                          </p:spTgt>
                                        </p:tgtEl>
                                        <p:attrNameLst>
                                          <p:attrName>style.visibility</p:attrName>
                                        </p:attrNameLst>
                                      </p:cBhvr>
                                      <p:to>
                                        <p:strVal val="visible"/>
                                      </p:to>
                                    </p:set>
                                    <p:animEffect transition="in" filter="blinds(horizontal)">
                                      <p:cBhvr>
                                        <p:cTn id="21" dur="500"/>
                                        <p:tgtEl>
                                          <p:spTgt spid="11">
                                            <p:txEl>
                                              <p:pRg st="3" end="3"/>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10">
                                            <p:txEl>
                                              <p:pRg st="3" end="3"/>
                                            </p:txEl>
                                          </p:spTgt>
                                        </p:tgtEl>
                                        <p:attrNameLst>
                                          <p:attrName>style.visibility</p:attrName>
                                        </p:attrNameLst>
                                      </p:cBhvr>
                                      <p:to>
                                        <p:strVal val="visible"/>
                                      </p:to>
                                    </p:set>
                                    <p:animEffect transition="in" filter="blinds(horizontal)">
                                      <p:cBhvr>
                                        <p:cTn id="26" dur="500"/>
                                        <p:tgtEl>
                                          <p:spTgt spid="10">
                                            <p:txEl>
                                              <p:pRg st="3" end="3"/>
                                            </p:txEl>
                                          </p:spTgt>
                                        </p:tgtEl>
                                      </p:cBhvr>
                                    </p:animEffect>
                                  </p:childTnLst>
                                </p:cTn>
                              </p:par>
                              <p:par>
                                <p:cTn id="27" presetID="3" presetClass="entr" presetSubtype="10" fill="hold" nodeType="withEffect">
                                  <p:stCondLst>
                                    <p:cond delay="0"/>
                                  </p:stCondLst>
                                  <p:childTnLst>
                                    <p:set>
                                      <p:cBhvr>
                                        <p:cTn id="28" dur="1" fill="hold">
                                          <p:stCondLst>
                                            <p:cond delay="0"/>
                                          </p:stCondLst>
                                        </p:cTn>
                                        <p:tgtEl>
                                          <p:spTgt spid="10">
                                            <p:txEl>
                                              <p:pRg st="5" end="5"/>
                                            </p:txEl>
                                          </p:spTgt>
                                        </p:tgtEl>
                                        <p:attrNameLst>
                                          <p:attrName>style.visibility</p:attrName>
                                        </p:attrNameLst>
                                      </p:cBhvr>
                                      <p:to>
                                        <p:strVal val="visible"/>
                                      </p:to>
                                    </p:set>
                                    <p:animEffect transition="in" filter="blinds(horizontal)">
                                      <p:cBhvr>
                                        <p:cTn id="29" dur="500"/>
                                        <p:tgtEl>
                                          <p:spTgt spid="10">
                                            <p:txEl>
                                              <p:pRg st="5" end="5"/>
                                            </p:txEl>
                                          </p:spTgt>
                                        </p:tgtEl>
                                      </p:cBhvr>
                                    </p:animEffect>
                                  </p:childTnLst>
                                </p:cTn>
                              </p:par>
                              <p:par>
                                <p:cTn id="30" presetID="3" presetClass="entr" presetSubtype="10" fill="hold" nodeType="withEffect">
                                  <p:stCondLst>
                                    <p:cond delay="0"/>
                                  </p:stCondLst>
                                  <p:childTnLst>
                                    <p:set>
                                      <p:cBhvr>
                                        <p:cTn id="31" dur="1" fill="hold">
                                          <p:stCondLst>
                                            <p:cond delay="0"/>
                                          </p:stCondLst>
                                        </p:cTn>
                                        <p:tgtEl>
                                          <p:spTgt spid="10">
                                            <p:txEl>
                                              <p:pRg st="6" end="6"/>
                                            </p:txEl>
                                          </p:spTgt>
                                        </p:tgtEl>
                                        <p:attrNameLst>
                                          <p:attrName>style.visibility</p:attrName>
                                        </p:attrNameLst>
                                      </p:cBhvr>
                                      <p:to>
                                        <p:strVal val="visible"/>
                                      </p:to>
                                    </p:set>
                                    <p:animEffect transition="in" filter="blinds(horizontal)">
                                      <p:cBhvr>
                                        <p:cTn id="32" dur="500"/>
                                        <p:tgtEl>
                                          <p:spTgt spid="10">
                                            <p:txEl>
                                              <p:pRg st="6" end="6"/>
                                            </p:txEl>
                                          </p:spTgt>
                                        </p:tgtEl>
                                      </p:cBhvr>
                                    </p:animEffect>
                                  </p:childTnLst>
                                </p:cTn>
                              </p:par>
                              <p:par>
                                <p:cTn id="33" presetID="3" presetClass="entr" presetSubtype="10" fill="hold" nodeType="withEffect">
                                  <p:stCondLst>
                                    <p:cond delay="0"/>
                                  </p:stCondLst>
                                  <p:childTnLst>
                                    <p:set>
                                      <p:cBhvr>
                                        <p:cTn id="34" dur="1" fill="hold">
                                          <p:stCondLst>
                                            <p:cond delay="0"/>
                                          </p:stCondLst>
                                        </p:cTn>
                                        <p:tgtEl>
                                          <p:spTgt spid="10">
                                            <p:txEl>
                                              <p:pRg st="7" end="7"/>
                                            </p:txEl>
                                          </p:spTgt>
                                        </p:tgtEl>
                                        <p:attrNameLst>
                                          <p:attrName>style.visibility</p:attrName>
                                        </p:attrNameLst>
                                      </p:cBhvr>
                                      <p:to>
                                        <p:strVal val="visible"/>
                                      </p:to>
                                    </p:set>
                                    <p:animEffect transition="in" filter="blinds(horizontal)">
                                      <p:cBhvr>
                                        <p:cTn id="35" dur="500"/>
                                        <p:tgtEl>
                                          <p:spTgt spid="10">
                                            <p:txEl>
                                              <p:pRg st="7" end="7"/>
                                            </p:txEl>
                                          </p:spTgt>
                                        </p:tgtEl>
                                      </p:cBhvr>
                                    </p:animEffect>
                                  </p:childTnLst>
                                </p:cTn>
                              </p:par>
                              <p:par>
                                <p:cTn id="36" presetID="3" presetClass="entr" presetSubtype="10" fill="hold" nodeType="withEffect">
                                  <p:stCondLst>
                                    <p:cond delay="0"/>
                                  </p:stCondLst>
                                  <p:childTnLst>
                                    <p:set>
                                      <p:cBhvr>
                                        <p:cTn id="37" dur="1" fill="hold">
                                          <p:stCondLst>
                                            <p:cond delay="0"/>
                                          </p:stCondLst>
                                        </p:cTn>
                                        <p:tgtEl>
                                          <p:spTgt spid="10">
                                            <p:txEl>
                                              <p:pRg st="8" end="8"/>
                                            </p:txEl>
                                          </p:spTgt>
                                        </p:tgtEl>
                                        <p:attrNameLst>
                                          <p:attrName>style.visibility</p:attrName>
                                        </p:attrNameLst>
                                      </p:cBhvr>
                                      <p:to>
                                        <p:strVal val="visible"/>
                                      </p:to>
                                    </p:set>
                                    <p:animEffect transition="in" filter="blinds(horizontal)">
                                      <p:cBhvr>
                                        <p:cTn id="38" dur="500"/>
                                        <p:tgtEl>
                                          <p:spTgt spid="10">
                                            <p:txEl>
                                              <p:pRg st="8" end="8"/>
                                            </p:txEl>
                                          </p:spTgt>
                                        </p:tgtEl>
                                      </p:cBhvr>
                                    </p:animEffect>
                                  </p:childTnLst>
                                </p:cTn>
                              </p:par>
                              <p:par>
                                <p:cTn id="39" presetID="3" presetClass="entr" presetSubtype="10" fill="hold" nodeType="withEffect">
                                  <p:stCondLst>
                                    <p:cond delay="0"/>
                                  </p:stCondLst>
                                  <p:childTnLst>
                                    <p:set>
                                      <p:cBhvr>
                                        <p:cTn id="40" dur="1" fill="hold">
                                          <p:stCondLst>
                                            <p:cond delay="0"/>
                                          </p:stCondLst>
                                        </p:cTn>
                                        <p:tgtEl>
                                          <p:spTgt spid="10">
                                            <p:txEl>
                                              <p:pRg st="9" end="9"/>
                                            </p:txEl>
                                          </p:spTgt>
                                        </p:tgtEl>
                                        <p:attrNameLst>
                                          <p:attrName>style.visibility</p:attrName>
                                        </p:attrNameLst>
                                      </p:cBhvr>
                                      <p:to>
                                        <p:strVal val="visible"/>
                                      </p:to>
                                    </p:set>
                                    <p:animEffect transition="in" filter="blinds(horizontal)">
                                      <p:cBhvr>
                                        <p:cTn id="41" dur="500"/>
                                        <p:tgtEl>
                                          <p:spTgt spid="10">
                                            <p:txEl>
                                              <p:pRg st="9" end="9"/>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3" presetClass="entr" presetSubtype="10" fill="hold" grpId="0" nodeType="click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blinds(horizontal)">
                                      <p:cBhvr>
                                        <p:cTn id="46" dur="500"/>
                                        <p:tgtEl>
                                          <p:spTgt spid="16"/>
                                        </p:tgtEl>
                                      </p:cBhvr>
                                    </p:animEffect>
                                  </p:childTnLst>
                                </p:cTn>
                              </p:par>
                              <p:par>
                                <p:cTn id="47" presetID="3" presetClass="entr" presetSubtype="10" fill="hold" grpId="0" nodeType="with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blinds(horizontal)">
                                      <p:cBhvr>
                                        <p:cTn id="49" dur="500"/>
                                        <p:tgtEl>
                                          <p:spTgt spid="17"/>
                                        </p:tgtEl>
                                      </p:cBhvr>
                                    </p:animEffect>
                                  </p:childTnLst>
                                </p:cTn>
                              </p:par>
                              <p:par>
                                <p:cTn id="50" presetID="3" presetClass="entr" presetSubtype="1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blinds(horizontal)">
                                      <p:cBhvr>
                                        <p:cTn id="52" dur="500"/>
                                        <p:tgtEl>
                                          <p:spTgt spid="18"/>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37891"/>
                                        </p:tgtEl>
                                        <p:attrNameLst>
                                          <p:attrName>style.visibility</p:attrName>
                                        </p:attrNameLst>
                                      </p:cBhvr>
                                      <p:to>
                                        <p:strVal val="visible"/>
                                      </p:to>
                                    </p:set>
                                    <p:animEffect transition="in" filter="blinds(horizontal)">
                                      <p:cBhvr>
                                        <p:cTn id="57" dur="500"/>
                                        <p:tgtEl>
                                          <p:spTgt spid="37891"/>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37899"/>
                                        </p:tgtEl>
                                        <p:attrNameLst>
                                          <p:attrName>style.visibility</p:attrName>
                                        </p:attrNameLst>
                                      </p:cBhvr>
                                      <p:to>
                                        <p:strVal val="visible"/>
                                      </p:to>
                                    </p:set>
                                    <p:animEffect transition="in" filter="blinds(horizontal)">
                                      <p:cBhvr>
                                        <p:cTn id="62" dur="500"/>
                                        <p:tgtEl>
                                          <p:spTgt spid="37899"/>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15"/>
                                        </p:tgtEl>
                                        <p:attrNameLst>
                                          <p:attrName>style.visibility</p:attrName>
                                        </p:attrNameLst>
                                      </p:cBhvr>
                                      <p:to>
                                        <p:strVal val="visible"/>
                                      </p:to>
                                    </p:set>
                                    <p:animEffect transition="in" filter="blinds(horizontal)">
                                      <p:cBhvr>
                                        <p:cTn id="67" dur="500"/>
                                        <p:tgtEl>
                                          <p:spTgt spid="15"/>
                                        </p:tgtEl>
                                      </p:cBhvr>
                                    </p:animEffect>
                                  </p:childTnLst>
                                </p:cTn>
                              </p:par>
                              <p:par>
                                <p:cTn id="68" presetID="3" presetClass="entr" presetSubtype="10" fill="hold" grpId="0" nodeType="withEffect">
                                  <p:stCondLst>
                                    <p:cond delay="0"/>
                                  </p:stCondLst>
                                  <p:childTnLst>
                                    <p:set>
                                      <p:cBhvr>
                                        <p:cTn id="69" dur="1" fill="hold">
                                          <p:stCondLst>
                                            <p:cond delay="0"/>
                                          </p:stCondLst>
                                        </p:cTn>
                                        <p:tgtEl>
                                          <p:spTgt spid="14"/>
                                        </p:tgtEl>
                                        <p:attrNameLst>
                                          <p:attrName>style.visibility</p:attrName>
                                        </p:attrNameLst>
                                      </p:cBhvr>
                                      <p:to>
                                        <p:strVal val="visible"/>
                                      </p:to>
                                    </p:set>
                                    <p:animEffect transition="in" filter="blinds(horizontal)">
                                      <p:cBhvr>
                                        <p:cTn id="70"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1" grpId="0"/>
      <p:bldP spid="37891" grpId="1"/>
      <p:bldP spid="16" grpId="0"/>
      <p:bldP spid="16" grpId="1"/>
      <p:bldP spid="14" grpId="0"/>
      <p:bldP spid="14" grpId="1"/>
      <p:bldP spid="15" grpId="0"/>
      <p:bldP spid="15" grpId="1"/>
      <p:bldP spid="37899" grpId="0"/>
      <p:bldP spid="37899" grpId="1"/>
      <p:bldP spid="17" grpId="0"/>
      <p:bldP spid="17" grpId="1"/>
      <p:bldP spid="18" grpId="0"/>
      <p:bldP spid="18" grpId="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cxnSp>
        <p:nvCxnSpPr>
          <p:cNvPr id="13" name="直接连接符 12"/>
          <p:cNvCxnSpPr/>
          <p:nvPr/>
        </p:nvCxnSpPr>
        <p:spPr>
          <a:xfrm rot="5400000">
            <a:off x="43826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文本框 94"/>
          <p:cNvSpPr txBox="1">
            <a:spLocks noChangeArrowheads="1"/>
          </p:cNvSpPr>
          <p:nvPr/>
        </p:nvSpPr>
        <p:spPr bwMode="auto">
          <a:xfrm>
            <a:off x="245745" y="53975"/>
            <a:ext cx="4133215"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4.2 </a:t>
            </a:r>
            <a:r>
              <a:rPr lang="zh-CN" sz="2800" b="1" dirty="0">
                <a:solidFill>
                  <a:schemeClr val="bg1"/>
                </a:solidFill>
                <a:latin typeface="微软雅黑" panose="020B0503020204020204" pitchFamily="34" charset="-122"/>
                <a:ea typeface="微软雅黑" panose="020B0503020204020204" pitchFamily="34" charset="-122"/>
              </a:rPr>
              <a:t>存储过程</a:t>
            </a:r>
          </a:p>
        </p:txBody>
      </p:sp>
      <p:sp>
        <p:nvSpPr>
          <p:cNvPr id="12" name="文本框 94"/>
          <p:cNvSpPr txBox="1">
            <a:spLocks noChangeArrowheads="1"/>
          </p:cNvSpPr>
          <p:nvPr/>
        </p:nvSpPr>
        <p:spPr bwMode="auto">
          <a:xfrm>
            <a:off x="4737459" y="75566"/>
            <a:ext cx="790877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4.2.2</a:t>
            </a:r>
            <a:r>
              <a:rPr lang="zh-CN" altLang="en-US" sz="2800" b="1" dirty="0">
                <a:solidFill>
                  <a:schemeClr val="bg1"/>
                </a:solidFill>
                <a:latin typeface="微软雅黑" panose="020B0503020204020204" pitchFamily="34" charset="-122"/>
                <a:ea typeface="微软雅黑" panose="020B0503020204020204" pitchFamily="34" charset="-122"/>
              </a:rPr>
              <a:t>创建和管理</a:t>
            </a:r>
            <a:r>
              <a:rPr lang="en-US" altLang="zh-CN" sz="2800" b="1" dirty="0" err="1">
                <a:solidFill>
                  <a:schemeClr val="bg1"/>
                </a:solidFill>
                <a:latin typeface="微软雅黑" panose="020B0503020204020204" pitchFamily="34" charset="-122"/>
                <a:ea typeface="微软雅黑" panose="020B0503020204020204" pitchFamily="34" charset="-122"/>
              </a:rPr>
              <a:t>SQLServer</a:t>
            </a:r>
            <a:r>
              <a:rPr lang="zh-CN" altLang="zh-CN" sz="2800" b="1" dirty="0">
                <a:solidFill>
                  <a:schemeClr val="bg1"/>
                </a:solidFill>
                <a:latin typeface="微软雅黑" panose="020B0503020204020204" pitchFamily="34" charset="-122"/>
                <a:ea typeface="微软雅黑" panose="020B0503020204020204" pitchFamily="34" charset="-122"/>
              </a:rPr>
              <a:t>存储过程</a:t>
            </a:r>
          </a:p>
        </p:txBody>
      </p:sp>
      <p:sp>
        <p:nvSpPr>
          <p:cNvPr id="30722" name="内容占位符 2"/>
          <p:cNvSpPr>
            <a:spLocks noGrp="1"/>
          </p:cNvSpPr>
          <p:nvPr/>
        </p:nvSpPr>
        <p:spPr>
          <a:xfrm>
            <a:off x="250825" y="1052830"/>
            <a:ext cx="11666220" cy="4379595"/>
          </a:xfrm>
          <a:prstGeom prst="rect">
            <a:avLst/>
          </a:prstGeom>
          <a:noFill/>
          <a:ln>
            <a:noFill/>
          </a:ln>
        </p:spPr>
        <p:txBody>
          <a:bodyPr lIns="68580" tIns="34290" rIns="68580" bIns="3429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latinLnBrk="0">
              <a:lnSpc>
                <a:spcPct val="125000"/>
              </a:lnSpc>
              <a:spcBef>
                <a:spcPts val="0"/>
              </a:spcBef>
              <a:buNone/>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执行存储过程</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exp5</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的语句如下：</a:t>
            </a: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latinLnBrk="0">
              <a:lnSpc>
                <a:spcPct val="125000"/>
              </a:lnSpc>
              <a:spcBef>
                <a:spcPts val="0"/>
              </a:spcBef>
              <a:buNone/>
            </a:pP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a:p>
            <a:pPr latinLnBrk="0">
              <a:lnSpc>
                <a:spcPct val="125000"/>
              </a:lnSpc>
              <a:spcBef>
                <a:spcPts val="0"/>
              </a:spcBef>
              <a:buNone/>
            </a:pP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DECLARE </a:t>
            </a:r>
            <a:r>
              <a:rPr lang="en-US" altLang="zh-CN"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@prjcounts </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int, </a:t>
            </a:r>
            <a:r>
              <a:rPr lang="en-US" altLang="zh-CN"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@sumcosts</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 decimal(18,2)</a:t>
            </a:r>
            <a:endParaRPr lang="zh-CN"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latinLnBrk="0">
              <a:lnSpc>
                <a:spcPct val="125000"/>
              </a:lnSpc>
              <a:spcBef>
                <a:spcPts val="0"/>
              </a:spcBef>
              <a:buNone/>
            </a:pP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EXEC exp5 '</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工程</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部</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','2011-1-1','2011-1-31’, </a:t>
            </a:r>
            <a:r>
              <a:rPr lang="en-US" altLang="zh-CN"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@prjcounts OUTPUT,   @sumcosts OUTPUT</a:t>
            </a:r>
            <a:endParaRPr lang="zh-CN" altLang="zh-CN"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a:p>
            <a:pPr latinLnBrk="0">
              <a:lnSpc>
                <a:spcPct val="125000"/>
              </a:lnSpc>
              <a:spcBef>
                <a:spcPts val="0"/>
              </a:spcBef>
              <a:buNone/>
            </a:pP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PRINT '</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该部门参与抢修工程项目</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 CAST(</a:t>
            </a:r>
            <a:r>
              <a:rPr lang="en-US" altLang="zh-CN"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@prjcounts </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AS varchar(20))+'</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个，总成本为</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'+CAST(</a:t>
            </a:r>
            <a:r>
              <a:rPr lang="en-US" altLang="zh-CN"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@sumcosts</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 AS varchar(20))</a:t>
            </a:r>
            <a:endParaRPr lang="zh-CN"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latinLnBrk="0">
              <a:lnSpc>
                <a:spcPct val="125000"/>
              </a:lnSpc>
              <a:spcBef>
                <a:spcPts val="0"/>
              </a:spcBef>
              <a:buNone/>
            </a:pP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latinLnBrk="0">
              <a:lnSpc>
                <a:spcPct val="125000"/>
              </a:lnSpc>
              <a:spcBef>
                <a:spcPts val="0"/>
              </a:spcBef>
              <a:buNone/>
            </a:pPr>
            <a:endParaRPr lang="zh-CN"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latinLnBrk="0">
              <a:lnSpc>
                <a:spcPct val="125000"/>
              </a:lnSpc>
              <a:spcBef>
                <a:spcPts val="0"/>
              </a:spcBef>
              <a:buNone/>
            </a:pPr>
            <a:endParaRPr lang="zh-CN"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a:buNone/>
            </a:pPr>
            <a:endParaRPr lang="zh-CN" altLang="zh-CN" sz="2400" dirty="0">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3" name="对象 2"/>
          <p:cNvGraphicFramePr/>
          <p:nvPr/>
        </p:nvGraphicFramePr>
        <p:xfrm>
          <a:off x="4051300" y="4732020"/>
          <a:ext cx="3878580" cy="700405"/>
        </p:xfrm>
        <a:graphic>
          <a:graphicData uri="http://schemas.openxmlformats.org/presentationml/2006/ole">
            <mc:AlternateContent xmlns:mc="http://schemas.openxmlformats.org/markup-compatibility/2006">
              <mc:Choice xmlns:v="urn:schemas-microsoft-com:vml" Requires="v">
                <p:oleObj spid="_x0000_s1043" r:id="rId4" imgW="2667000" imgH="368300" progId="Paint.Picture">
                  <p:embed/>
                </p:oleObj>
              </mc:Choice>
              <mc:Fallback>
                <p:oleObj r:id="rId4" imgW="2667000" imgH="368300" progId="Paint.Picture">
                  <p:embed/>
                  <p:pic>
                    <p:nvPicPr>
                      <p:cNvPr id="0" name="图片 4"/>
                      <p:cNvPicPr/>
                      <p:nvPr/>
                    </p:nvPicPr>
                    <p:blipFill>
                      <a:blip r:embed="rId5"/>
                      <a:stretch>
                        <a:fillRect/>
                      </a:stretch>
                    </p:blipFill>
                    <p:spPr>
                      <a:xfrm>
                        <a:off x="4051300" y="4732020"/>
                        <a:ext cx="3878580" cy="700405"/>
                      </a:xfrm>
                      <a:prstGeom prst="rect">
                        <a:avLst/>
                      </a:prstGeom>
                    </p:spPr>
                  </p:pic>
                </p:oleObj>
              </mc:Fallback>
            </mc:AlternateContent>
          </a:graphicData>
        </a:graphic>
      </p:graphicFrame>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0722">
                                            <p:txEl>
                                              <p:pRg st="2" end="2"/>
                                            </p:txEl>
                                          </p:spTgt>
                                        </p:tgtEl>
                                        <p:attrNameLst>
                                          <p:attrName>style.visibility</p:attrName>
                                        </p:attrNameLst>
                                      </p:cBhvr>
                                      <p:to>
                                        <p:strVal val="visible"/>
                                      </p:to>
                                    </p:set>
                                    <p:animEffect transition="in" filter="blinds(horizontal)">
                                      <p:cBhvr>
                                        <p:cTn id="7" dur="500"/>
                                        <p:tgtEl>
                                          <p:spTgt spid="30722">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0722">
                                            <p:txEl>
                                              <p:pRg st="3" end="3"/>
                                            </p:txEl>
                                          </p:spTgt>
                                        </p:tgtEl>
                                        <p:attrNameLst>
                                          <p:attrName>style.visibility</p:attrName>
                                        </p:attrNameLst>
                                      </p:cBhvr>
                                      <p:to>
                                        <p:strVal val="visible"/>
                                      </p:to>
                                    </p:set>
                                    <p:animEffect transition="in" filter="blinds(horizontal)">
                                      <p:cBhvr>
                                        <p:cTn id="12" dur="500"/>
                                        <p:tgtEl>
                                          <p:spTgt spid="30722">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0722">
                                            <p:txEl>
                                              <p:pRg st="4" end="4"/>
                                            </p:txEl>
                                          </p:spTgt>
                                        </p:tgtEl>
                                        <p:attrNameLst>
                                          <p:attrName>style.visibility</p:attrName>
                                        </p:attrNameLst>
                                      </p:cBhvr>
                                      <p:to>
                                        <p:strVal val="visible"/>
                                      </p:to>
                                    </p:set>
                                    <p:animEffect transition="in" filter="blinds(horizontal)">
                                      <p:cBhvr>
                                        <p:cTn id="17" dur="500"/>
                                        <p:tgtEl>
                                          <p:spTgt spid="30722">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blinds(horizontal)">
                                      <p:cBhvr>
                                        <p:cTn id="2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cxnSp>
        <p:nvCxnSpPr>
          <p:cNvPr id="13" name="直接连接符 12"/>
          <p:cNvCxnSpPr/>
          <p:nvPr/>
        </p:nvCxnSpPr>
        <p:spPr>
          <a:xfrm rot="5400000">
            <a:off x="43826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文本框 94"/>
          <p:cNvSpPr txBox="1">
            <a:spLocks noChangeArrowheads="1"/>
          </p:cNvSpPr>
          <p:nvPr/>
        </p:nvSpPr>
        <p:spPr bwMode="auto">
          <a:xfrm>
            <a:off x="245745" y="53975"/>
            <a:ext cx="4133215"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4.2 </a:t>
            </a:r>
            <a:r>
              <a:rPr lang="zh-CN" sz="2800" b="1" dirty="0">
                <a:solidFill>
                  <a:schemeClr val="bg1"/>
                </a:solidFill>
                <a:latin typeface="微软雅黑" panose="020B0503020204020204" pitchFamily="34" charset="-122"/>
                <a:ea typeface="微软雅黑" panose="020B0503020204020204" pitchFamily="34" charset="-122"/>
              </a:rPr>
              <a:t>存储过程</a:t>
            </a:r>
          </a:p>
        </p:txBody>
      </p:sp>
      <p:sp>
        <p:nvSpPr>
          <p:cNvPr id="12" name="文本框 94"/>
          <p:cNvSpPr txBox="1">
            <a:spLocks noChangeArrowheads="1"/>
          </p:cNvSpPr>
          <p:nvPr/>
        </p:nvSpPr>
        <p:spPr bwMode="auto">
          <a:xfrm>
            <a:off x="4737459" y="75566"/>
            <a:ext cx="7908779" cy="954107"/>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4.2.2</a:t>
            </a:r>
            <a:r>
              <a:rPr lang="zh-CN" altLang="en-US" sz="2800" b="1" dirty="0">
                <a:solidFill>
                  <a:schemeClr val="bg1"/>
                </a:solidFill>
                <a:latin typeface="微软雅黑" panose="020B0503020204020204" pitchFamily="34" charset="-122"/>
                <a:ea typeface="微软雅黑" panose="020B0503020204020204" pitchFamily="34" charset="-122"/>
              </a:rPr>
              <a:t>创建和管理</a:t>
            </a:r>
            <a:r>
              <a:rPr lang="en-US" altLang="zh-CN" sz="2800" b="1" dirty="0" err="1">
                <a:solidFill>
                  <a:schemeClr val="bg1"/>
                </a:solidFill>
                <a:latin typeface="微软雅黑" panose="020B0503020204020204" pitchFamily="34" charset="-122"/>
                <a:ea typeface="微软雅黑" panose="020B0503020204020204" pitchFamily="34" charset="-122"/>
              </a:rPr>
              <a:t>SQLServer</a:t>
            </a:r>
            <a:r>
              <a:rPr lang="zh-CN" altLang="zh-CN" sz="2800" b="1" dirty="0">
                <a:solidFill>
                  <a:schemeClr val="bg1"/>
                </a:solidFill>
                <a:latin typeface="微软雅黑" panose="020B0503020204020204" pitchFamily="34" charset="-122"/>
                <a:ea typeface="微软雅黑" panose="020B0503020204020204" pitchFamily="34" charset="-122"/>
              </a:rPr>
              <a:t>存储过程</a:t>
            </a:r>
          </a:p>
          <a:p>
            <a:endParaRPr lang="zh-CN" sz="2800" b="1" dirty="0">
              <a:solidFill>
                <a:schemeClr val="bg1"/>
              </a:solidFill>
              <a:latin typeface="微软雅黑" panose="020B0503020204020204" pitchFamily="34" charset="-122"/>
              <a:ea typeface="微软雅黑" panose="020B0503020204020204" pitchFamily="34" charset="-122"/>
            </a:endParaRPr>
          </a:p>
        </p:txBody>
      </p:sp>
      <p:sp>
        <p:nvSpPr>
          <p:cNvPr id="39950" name="Rectangle 2"/>
          <p:cNvSpPr/>
          <p:nvPr/>
        </p:nvSpPr>
        <p:spPr>
          <a:xfrm>
            <a:off x="-189230" y="623570"/>
            <a:ext cx="4234815" cy="647700"/>
          </a:xfrm>
          <a:prstGeom prst="rect">
            <a:avLst/>
          </a:prstGeom>
          <a:noFill/>
          <a:ln>
            <a:noFill/>
          </a:ln>
        </p:spPr>
        <p:txBody>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eaLnBrk="1" latinLnBrk="0" hangingPunct="1">
              <a:lnSpc>
                <a:spcPct val="125000"/>
              </a:lnSpc>
            </a:pPr>
            <a:r>
              <a:rPr lang="en-US" altLang="zh-CN"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5</a:t>
            </a:r>
            <a:r>
              <a:rPr lang="zh-CN" altLang="en-US"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．嵌套调用存储过程</a:t>
            </a:r>
          </a:p>
        </p:txBody>
      </p:sp>
      <p:sp>
        <p:nvSpPr>
          <p:cNvPr id="39951" name="矩形 1"/>
          <p:cNvSpPr/>
          <p:nvPr/>
        </p:nvSpPr>
        <p:spPr>
          <a:xfrm>
            <a:off x="245745" y="1111885"/>
            <a:ext cx="11494770" cy="553085"/>
          </a:xfrm>
          <a:prstGeom prst="rect">
            <a:avLst/>
          </a:prstGeom>
          <a:noFill/>
          <a:ln w="9525">
            <a:noFill/>
          </a:ln>
        </p:spPr>
        <p:txBody>
          <a:bodyPr wrap="square">
            <a:spAutoFit/>
          </a:bodyPr>
          <a:lstStyle/>
          <a:p>
            <a:pPr eaLnBrk="1" latinLnBrk="0" hangingPunct="1">
              <a:lnSpc>
                <a:spcPct val="125000"/>
              </a:lnSpc>
            </a:pPr>
            <a:r>
              <a:rPr lang="zh-CN" altLang="zh-CN" sz="2400" i="0" dirty="0">
                <a:latin typeface="微软雅黑" panose="020B0503020204020204" pitchFamily="34" charset="-122"/>
                <a:ea typeface="微软雅黑" panose="020B0503020204020204" pitchFamily="34" charset="-122"/>
                <a:cs typeface="微软雅黑" panose="020B0503020204020204" pitchFamily="34" charset="-122"/>
              </a:rPr>
              <a:t>【例</a:t>
            </a:r>
            <a:r>
              <a:rPr lang="en-US" altLang="zh-CN" sz="2400" i="0" dirty="0">
                <a:latin typeface="微软雅黑" panose="020B0503020204020204" pitchFamily="34" charset="-122"/>
                <a:ea typeface="微软雅黑" panose="020B0503020204020204" pitchFamily="34" charset="-122"/>
                <a:cs typeface="微软雅黑" panose="020B0503020204020204" pitchFamily="34" charset="-122"/>
              </a:rPr>
              <a:t>4.11</a:t>
            </a:r>
            <a:r>
              <a:rPr lang="zh-CN" altLang="zh-CN" sz="2400" i="0" dirty="0">
                <a:latin typeface="微软雅黑" panose="020B0503020204020204" pitchFamily="34" charset="-122"/>
                <a:ea typeface="微软雅黑" panose="020B0503020204020204" pitchFamily="34" charset="-122"/>
                <a:cs typeface="微软雅黑" panose="020B0503020204020204" pitchFamily="34" charset="-122"/>
              </a:rPr>
              <a:t>】 嵌套调用存储过程，查看使用</a:t>
            </a:r>
            <a:r>
              <a:rPr lang="zh-CN" altLang="zh-CN" sz="2400" i="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抢修物资总数最多</a:t>
            </a:r>
            <a:r>
              <a:rPr lang="zh-CN" altLang="zh-CN" sz="2400" i="0" dirty="0">
                <a:latin typeface="微软雅黑" panose="020B0503020204020204" pitchFamily="34" charset="-122"/>
                <a:ea typeface="微软雅黑" panose="020B0503020204020204" pitchFamily="34" charset="-122"/>
                <a:cs typeface="微软雅黑" panose="020B0503020204020204" pitchFamily="34" charset="-122"/>
              </a:rPr>
              <a:t>的工程项目信息。</a:t>
            </a:r>
          </a:p>
        </p:txBody>
      </p:sp>
      <p:sp>
        <p:nvSpPr>
          <p:cNvPr id="6" name="矩形 5"/>
          <p:cNvSpPr/>
          <p:nvPr/>
        </p:nvSpPr>
        <p:spPr>
          <a:xfrm>
            <a:off x="662940" y="1676400"/>
            <a:ext cx="5543550" cy="3784600"/>
          </a:xfrm>
          <a:prstGeom prst="rect">
            <a:avLst/>
          </a:prstGeom>
          <a:noFill/>
          <a:ln w="9525">
            <a:noFill/>
          </a:ln>
        </p:spPr>
        <p:txBody>
          <a:bodyPr>
            <a:spAutoFit/>
          </a:bodyPr>
          <a:lstStyle/>
          <a:p>
            <a:pPr eaLnBrk="1" latinLnBrk="0" hangingPunct="1">
              <a:lnSpc>
                <a:spcPct val="125000"/>
              </a:lnSpc>
            </a:pPr>
            <a:r>
              <a:rPr lang="en-US" altLang="zh-CN" sz="2400" i="0" dirty="0">
                <a:solidFill>
                  <a:srgbClr val="FF0000"/>
                </a:solidFill>
                <a:latin typeface="微软雅黑" panose="020B0503020204020204" pitchFamily="34" charset="-122"/>
                <a:ea typeface="微软雅黑" panose="020B0503020204020204" pitchFamily="34" charset="-122"/>
              </a:rPr>
              <a:t>CREATE PROCEDURE exp6</a:t>
            </a:r>
            <a:endParaRPr lang="zh-CN" altLang="zh-CN" sz="2400" i="0" dirty="0">
              <a:solidFill>
                <a:srgbClr val="FF0000"/>
              </a:solidFill>
              <a:latin typeface="微软雅黑" panose="020B0503020204020204" pitchFamily="34" charset="-122"/>
              <a:ea typeface="微软雅黑" panose="020B0503020204020204" pitchFamily="34" charset="-122"/>
            </a:endParaRPr>
          </a:p>
          <a:p>
            <a:pPr eaLnBrk="1" latinLnBrk="0" hangingPunct="1">
              <a:lnSpc>
                <a:spcPct val="125000"/>
              </a:lnSpc>
            </a:pPr>
            <a:r>
              <a:rPr lang="en-US" altLang="zh-CN" sz="2400" i="0" dirty="0">
                <a:solidFill>
                  <a:srgbClr val="0000FF"/>
                </a:solidFill>
                <a:latin typeface="微软雅黑" panose="020B0503020204020204" pitchFamily="34" charset="-122"/>
                <a:ea typeface="微软雅黑" panose="020B0503020204020204" pitchFamily="34" charset="-122"/>
              </a:rPr>
              <a:t>@prj_no char(8) OUTPUT</a:t>
            </a:r>
          </a:p>
          <a:p>
            <a:pPr eaLnBrk="1" latinLnBrk="0" hangingPunct="1">
              <a:lnSpc>
                <a:spcPct val="125000"/>
              </a:lnSpc>
            </a:pPr>
            <a:r>
              <a:rPr lang="en-US" altLang="zh-CN" sz="2400" i="0" dirty="0">
                <a:solidFill>
                  <a:srgbClr val="FF0000"/>
                </a:solidFill>
                <a:latin typeface="微软雅黑" panose="020B0503020204020204" pitchFamily="34" charset="-122"/>
                <a:ea typeface="微软雅黑" panose="020B0503020204020204" pitchFamily="34" charset="-122"/>
              </a:rPr>
              <a:t>AS</a:t>
            </a:r>
            <a:endParaRPr lang="zh-CN" altLang="zh-CN" sz="2400" i="0" dirty="0">
              <a:solidFill>
                <a:srgbClr val="FF0000"/>
              </a:solidFill>
              <a:latin typeface="微软雅黑" panose="020B0503020204020204" pitchFamily="34" charset="-122"/>
              <a:ea typeface="微软雅黑" panose="020B0503020204020204" pitchFamily="34" charset="-122"/>
            </a:endParaRPr>
          </a:p>
          <a:p>
            <a:pPr eaLnBrk="1" latinLnBrk="0" hangingPunct="1">
              <a:lnSpc>
                <a:spcPct val="125000"/>
              </a:lnSpc>
            </a:pPr>
            <a:r>
              <a:rPr lang="en-US" altLang="zh-CN" sz="2400" i="0" dirty="0">
                <a:solidFill>
                  <a:srgbClr val="FF0000"/>
                </a:solidFill>
                <a:latin typeface="微软雅黑" panose="020B0503020204020204" pitchFamily="34" charset="-122"/>
                <a:ea typeface="微软雅黑" panose="020B0503020204020204" pitchFamily="34" charset="-122"/>
              </a:rPr>
              <a:t>  </a:t>
            </a:r>
            <a:r>
              <a:rPr lang="en-US" altLang="zh-CN" sz="2400" i="0" dirty="0">
                <a:solidFill>
                  <a:schemeClr val="tx1"/>
                </a:solidFill>
                <a:latin typeface="微软雅黑" panose="020B0503020204020204" pitchFamily="34" charset="-122"/>
                <a:ea typeface="微软雅黑" panose="020B0503020204020204" pitchFamily="34" charset="-122"/>
              </a:rPr>
              <a:t>SELECT </a:t>
            </a:r>
            <a:r>
              <a:rPr lang="en-US" altLang="zh-CN" sz="2400" i="0" dirty="0">
                <a:solidFill>
                  <a:srgbClr val="0000FF"/>
                </a:solidFill>
                <a:latin typeface="微软雅黑" panose="020B0503020204020204" pitchFamily="34" charset="-122"/>
                <a:ea typeface="微软雅黑" panose="020B0503020204020204" pitchFamily="34" charset="-122"/>
              </a:rPr>
              <a:t>TOP 1   @prj_no=prj_num</a:t>
            </a:r>
            <a:endParaRPr lang="zh-CN" altLang="zh-CN" sz="2400" i="0" dirty="0">
              <a:solidFill>
                <a:schemeClr val="tx1"/>
              </a:solidFill>
              <a:latin typeface="微软雅黑" panose="020B0503020204020204" pitchFamily="34" charset="-122"/>
              <a:ea typeface="微软雅黑" panose="020B0503020204020204" pitchFamily="34" charset="-122"/>
            </a:endParaRPr>
          </a:p>
          <a:p>
            <a:pPr eaLnBrk="1" latinLnBrk="0" hangingPunct="1">
              <a:lnSpc>
                <a:spcPct val="125000"/>
              </a:lnSpc>
            </a:pPr>
            <a:r>
              <a:rPr lang="en-US" altLang="zh-CN" sz="2400" i="0" dirty="0">
                <a:solidFill>
                  <a:schemeClr val="tx1"/>
                </a:solidFill>
                <a:latin typeface="微软雅黑" panose="020B0503020204020204" pitchFamily="34" charset="-122"/>
                <a:ea typeface="微软雅黑" panose="020B0503020204020204" pitchFamily="34" charset="-122"/>
              </a:rPr>
              <a:t>  FROM out_stock</a:t>
            </a:r>
            <a:endParaRPr lang="zh-CN" altLang="zh-CN" sz="2400" i="0" dirty="0">
              <a:solidFill>
                <a:schemeClr val="tx1"/>
              </a:solidFill>
              <a:latin typeface="微软雅黑" panose="020B0503020204020204" pitchFamily="34" charset="-122"/>
              <a:ea typeface="微软雅黑" panose="020B0503020204020204" pitchFamily="34" charset="-122"/>
            </a:endParaRPr>
          </a:p>
          <a:p>
            <a:pPr eaLnBrk="1" latinLnBrk="0" hangingPunct="1">
              <a:lnSpc>
                <a:spcPct val="125000"/>
              </a:lnSpc>
            </a:pPr>
            <a:r>
              <a:rPr lang="en-US" altLang="zh-CN" sz="2400" i="0" dirty="0">
                <a:solidFill>
                  <a:schemeClr val="tx1"/>
                </a:solidFill>
                <a:latin typeface="微软雅黑" panose="020B0503020204020204" pitchFamily="34" charset="-122"/>
                <a:ea typeface="微软雅黑" panose="020B0503020204020204" pitchFamily="34" charset="-122"/>
              </a:rPr>
              <a:t>  GROUP BY prj_num</a:t>
            </a:r>
            <a:endParaRPr lang="zh-CN" altLang="zh-CN" sz="2400" i="0" dirty="0">
              <a:solidFill>
                <a:schemeClr val="tx1"/>
              </a:solidFill>
              <a:latin typeface="微软雅黑" panose="020B0503020204020204" pitchFamily="34" charset="-122"/>
              <a:ea typeface="微软雅黑" panose="020B0503020204020204" pitchFamily="34" charset="-122"/>
            </a:endParaRPr>
          </a:p>
          <a:p>
            <a:pPr eaLnBrk="1" latinLnBrk="0" hangingPunct="1">
              <a:lnSpc>
                <a:spcPct val="125000"/>
              </a:lnSpc>
            </a:pPr>
            <a:r>
              <a:rPr lang="en-US" altLang="zh-CN" sz="2400" i="0" dirty="0">
                <a:solidFill>
                  <a:schemeClr val="tx1"/>
                </a:solidFill>
                <a:latin typeface="微软雅黑" panose="020B0503020204020204" pitchFamily="34" charset="-122"/>
                <a:ea typeface="微软雅黑" panose="020B0503020204020204" pitchFamily="34" charset="-122"/>
              </a:rPr>
              <a:t>  ORDER BY SUM(amount)   DESC</a:t>
            </a:r>
            <a:endParaRPr lang="zh-CN" altLang="zh-CN" sz="2400" i="0" dirty="0">
              <a:solidFill>
                <a:schemeClr val="tx1"/>
              </a:solidFill>
              <a:latin typeface="微软雅黑" panose="020B0503020204020204" pitchFamily="34" charset="-122"/>
              <a:ea typeface="微软雅黑" panose="020B0503020204020204" pitchFamily="34" charset="-122"/>
            </a:endParaRPr>
          </a:p>
          <a:p>
            <a:pPr eaLnBrk="1" latinLnBrk="0" hangingPunct="1">
              <a:lnSpc>
                <a:spcPct val="125000"/>
              </a:lnSpc>
            </a:pPr>
            <a:r>
              <a:rPr lang="en-US" altLang="zh-CN" sz="2400" i="0" dirty="0">
                <a:solidFill>
                  <a:schemeClr val="tx1"/>
                </a:solidFill>
                <a:latin typeface="微软雅黑" panose="020B0503020204020204" pitchFamily="34" charset="-122"/>
                <a:ea typeface="微软雅黑" panose="020B0503020204020204" pitchFamily="34" charset="-122"/>
              </a:rPr>
              <a:t>GO</a:t>
            </a:r>
          </a:p>
        </p:txBody>
      </p:sp>
      <p:sp>
        <p:nvSpPr>
          <p:cNvPr id="7" name="矩形 6"/>
          <p:cNvSpPr/>
          <p:nvPr/>
        </p:nvSpPr>
        <p:spPr>
          <a:xfrm>
            <a:off x="6992620" y="1664970"/>
            <a:ext cx="4747895" cy="3784600"/>
          </a:xfrm>
          <a:prstGeom prst="rect">
            <a:avLst/>
          </a:prstGeom>
          <a:noFill/>
          <a:ln w="9525">
            <a:noFill/>
          </a:ln>
        </p:spPr>
        <p:txBody>
          <a:bodyPr wrap="square">
            <a:spAutoFit/>
          </a:bodyPr>
          <a:lstStyle/>
          <a:p>
            <a:pPr eaLnBrk="1" latinLnBrk="0" hangingPunct="1">
              <a:lnSpc>
                <a:spcPct val="125000"/>
              </a:lnSpc>
            </a:pPr>
            <a:r>
              <a:rPr lang="en-US" altLang="zh-CN" sz="2400" i="0" dirty="0">
                <a:solidFill>
                  <a:srgbClr val="FF3300"/>
                </a:solidFill>
                <a:latin typeface="微软雅黑" panose="020B0503020204020204" pitchFamily="34" charset="-122"/>
                <a:ea typeface="微软雅黑" panose="020B0503020204020204" pitchFamily="34" charset="-122"/>
              </a:rPr>
              <a:t>CREATE PROCEDURE exp7</a:t>
            </a:r>
            <a:endParaRPr lang="zh-CN" altLang="zh-CN" sz="2400" i="0" dirty="0">
              <a:solidFill>
                <a:srgbClr val="FF3300"/>
              </a:solidFill>
              <a:latin typeface="微软雅黑" panose="020B0503020204020204" pitchFamily="34" charset="-122"/>
              <a:ea typeface="微软雅黑" panose="020B0503020204020204" pitchFamily="34" charset="-122"/>
            </a:endParaRPr>
          </a:p>
          <a:p>
            <a:pPr eaLnBrk="1" latinLnBrk="0" hangingPunct="1">
              <a:lnSpc>
                <a:spcPct val="125000"/>
              </a:lnSpc>
            </a:pPr>
            <a:r>
              <a:rPr lang="en-US" altLang="zh-CN" sz="2400" i="0" dirty="0">
                <a:solidFill>
                  <a:srgbClr val="FF3300"/>
                </a:solidFill>
                <a:latin typeface="微软雅黑" panose="020B0503020204020204" pitchFamily="34" charset="-122"/>
                <a:ea typeface="微软雅黑" panose="020B0503020204020204" pitchFamily="34" charset="-122"/>
              </a:rPr>
              <a:t>AS</a:t>
            </a:r>
            <a:endParaRPr lang="zh-CN" altLang="zh-CN" sz="2400" i="0" dirty="0">
              <a:solidFill>
                <a:srgbClr val="FF3300"/>
              </a:solidFill>
              <a:latin typeface="微软雅黑" panose="020B0503020204020204" pitchFamily="34" charset="-122"/>
              <a:ea typeface="微软雅黑" panose="020B0503020204020204" pitchFamily="34" charset="-122"/>
            </a:endParaRPr>
          </a:p>
          <a:p>
            <a:pPr eaLnBrk="1" latinLnBrk="0" hangingPunct="1">
              <a:lnSpc>
                <a:spcPct val="125000"/>
              </a:lnSpc>
            </a:pPr>
            <a:r>
              <a:rPr lang="en-US" altLang="zh-CN" sz="2400" i="0" dirty="0">
                <a:solidFill>
                  <a:srgbClr val="0000FF"/>
                </a:solidFill>
                <a:latin typeface="微软雅黑" panose="020B0503020204020204" pitchFamily="34" charset="-122"/>
                <a:ea typeface="微软雅黑" panose="020B0503020204020204" pitchFamily="34" charset="-122"/>
              </a:rPr>
              <a:t>  </a:t>
            </a:r>
            <a:r>
              <a:rPr lang="en-US" altLang="zh-CN" sz="2400" i="0" dirty="0">
                <a:solidFill>
                  <a:schemeClr val="tx1"/>
                </a:solidFill>
                <a:latin typeface="微软雅黑" panose="020B0503020204020204" pitchFamily="34" charset="-122"/>
                <a:ea typeface="微软雅黑" panose="020B0503020204020204" pitchFamily="34" charset="-122"/>
              </a:rPr>
              <a:t>DECLARE @prj_id char(8)</a:t>
            </a:r>
            <a:endParaRPr lang="zh-CN" altLang="zh-CN" sz="2400" i="0" dirty="0">
              <a:solidFill>
                <a:schemeClr val="tx1"/>
              </a:solidFill>
              <a:latin typeface="微软雅黑" panose="020B0503020204020204" pitchFamily="34" charset="-122"/>
              <a:ea typeface="微软雅黑" panose="020B0503020204020204" pitchFamily="34" charset="-122"/>
            </a:endParaRPr>
          </a:p>
          <a:p>
            <a:pPr eaLnBrk="1" latinLnBrk="0" hangingPunct="1">
              <a:lnSpc>
                <a:spcPct val="125000"/>
              </a:lnSpc>
            </a:pPr>
            <a:r>
              <a:rPr lang="en-US" altLang="zh-CN" sz="2400" i="0" dirty="0">
                <a:solidFill>
                  <a:schemeClr val="tx1"/>
                </a:solidFill>
                <a:latin typeface="微软雅黑" panose="020B0503020204020204" pitchFamily="34" charset="-122"/>
                <a:ea typeface="微软雅黑" panose="020B0503020204020204" pitchFamily="34" charset="-122"/>
              </a:rPr>
              <a:t>  </a:t>
            </a:r>
            <a:r>
              <a:rPr lang="en-US" altLang="zh-CN" sz="2400" i="0" dirty="0">
                <a:solidFill>
                  <a:srgbClr val="0000FF"/>
                </a:solidFill>
                <a:latin typeface="微软雅黑" panose="020B0503020204020204" pitchFamily="34" charset="-122"/>
                <a:ea typeface="微软雅黑" panose="020B0503020204020204" pitchFamily="34" charset="-122"/>
              </a:rPr>
              <a:t>EXEC exp6 @prj_id OUTPUT</a:t>
            </a:r>
            <a:endParaRPr lang="zh-CN" altLang="zh-CN" sz="2400" i="0" dirty="0">
              <a:solidFill>
                <a:srgbClr val="FF0000"/>
              </a:solidFill>
              <a:latin typeface="微软雅黑" panose="020B0503020204020204" pitchFamily="34" charset="-122"/>
              <a:ea typeface="微软雅黑" panose="020B0503020204020204" pitchFamily="34" charset="-122"/>
            </a:endParaRPr>
          </a:p>
          <a:p>
            <a:pPr eaLnBrk="1" latinLnBrk="0" hangingPunct="1">
              <a:lnSpc>
                <a:spcPct val="125000"/>
              </a:lnSpc>
            </a:pPr>
            <a:r>
              <a:rPr lang="en-US" altLang="zh-CN" sz="2400" i="0" dirty="0">
                <a:solidFill>
                  <a:schemeClr val="tx1"/>
                </a:solidFill>
                <a:latin typeface="微软雅黑" panose="020B0503020204020204" pitchFamily="34" charset="-122"/>
                <a:ea typeface="微软雅黑" panose="020B0503020204020204" pitchFamily="34" charset="-122"/>
              </a:rPr>
              <a:t>  SELECT *</a:t>
            </a:r>
            <a:endParaRPr lang="zh-CN" altLang="zh-CN" sz="2400" i="0" dirty="0">
              <a:solidFill>
                <a:schemeClr val="tx1"/>
              </a:solidFill>
              <a:latin typeface="微软雅黑" panose="020B0503020204020204" pitchFamily="34" charset="-122"/>
              <a:ea typeface="微软雅黑" panose="020B0503020204020204" pitchFamily="34" charset="-122"/>
            </a:endParaRPr>
          </a:p>
          <a:p>
            <a:pPr eaLnBrk="1" latinLnBrk="0" hangingPunct="1">
              <a:lnSpc>
                <a:spcPct val="125000"/>
              </a:lnSpc>
            </a:pPr>
            <a:r>
              <a:rPr lang="en-US" altLang="zh-CN" sz="2400" i="0" dirty="0">
                <a:solidFill>
                  <a:schemeClr val="tx1"/>
                </a:solidFill>
                <a:latin typeface="微软雅黑" panose="020B0503020204020204" pitchFamily="34" charset="-122"/>
                <a:ea typeface="微软雅黑" panose="020B0503020204020204" pitchFamily="34" charset="-122"/>
              </a:rPr>
              <a:t>  FROM Salvaging</a:t>
            </a:r>
            <a:endParaRPr lang="zh-CN" altLang="zh-CN" sz="2400" i="0" dirty="0">
              <a:solidFill>
                <a:schemeClr val="tx1"/>
              </a:solidFill>
              <a:latin typeface="微软雅黑" panose="020B0503020204020204" pitchFamily="34" charset="-122"/>
              <a:ea typeface="微软雅黑" panose="020B0503020204020204" pitchFamily="34" charset="-122"/>
            </a:endParaRPr>
          </a:p>
          <a:p>
            <a:pPr eaLnBrk="1" latinLnBrk="0" hangingPunct="1">
              <a:lnSpc>
                <a:spcPct val="125000"/>
              </a:lnSpc>
            </a:pPr>
            <a:r>
              <a:rPr lang="en-US" altLang="zh-CN" sz="2400" i="0" dirty="0">
                <a:solidFill>
                  <a:schemeClr val="tx1"/>
                </a:solidFill>
                <a:latin typeface="微软雅黑" panose="020B0503020204020204" pitchFamily="34" charset="-122"/>
                <a:ea typeface="微软雅黑" panose="020B0503020204020204" pitchFamily="34" charset="-122"/>
              </a:rPr>
              <a:t>  WHERE </a:t>
            </a:r>
            <a:r>
              <a:rPr lang="en-US" altLang="zh-CN" sz="2400" i="0" dirty="0">
                <a:solidFill>
                  <a:srgbClr val="0000FF"/>
                </a:solidFill>
                <a:latin typeface="微软雅黑" panose="020B0503020204020204" pitchFamily="34" charset="-122"/>
                <a:ea typeface="微软雅黑" panose="020B0503020204020204" pitchFamily="34" charset="-122"/>
              </a:rPr>
              <a:t>prj_num=@prj_id</a:t>
            </a:r>
            <a:endParaRPr lang="zh-CN" altLang="zh-CN" sz="2400" i="0" dirty="0">
              <a:solidFill>
                <a:schemeClr val="tx1"/>
              </a:solidFill>
              <a:latin typeface="微软雅黑" panose="020B0503020204020204" pitchFamily="34" charset="-122"/>
              <a:ea typeface="微软雅黑" panose="020B0503020204020204" pitchFamily="34" charset="-122"/>
            </a:endParaRPr>
          </a:p>
          <a:p>
            <a:pPr eaLnBrk="1" latinLnBrk="0" hangingPunct="1">
              <a:lnSpc>
                <a:spcPct val="125000"/>
              </a:lnSpc>
            </a:pPr>
            <a:r>
              <a:rPr lang="en-US" altLang="zh-CN" sz="2400" i="0" dirty="0">
                <a:solidFill>
                  <a:schemeClr val="tx1"/>
                </a:solidFill>
                <a:latin typeface="微软雅黑" panose="020B0503020204020204" pitchFamily="34" charset="-122"/>
                <a:ea typeface="微软雅黑" panose="020B0503020204020204" pitchFamily="34" charset="-122"/>
              </a:rPr>
              <a:t>GO</a:t>
            </a:r>
          </a:p>
        </p:txBody>
      </p:sp>
      <p:sp>
        <p:nvSpPr>
          <p:cNvPr id="8" name="矩形 7"/>
          <p:cNvSpPr/>
          <p:nvPr/>
        </p:nvSpPr>
        <p:spPr>
          <a:xfrm>
            <a:off x="1464310" y="5168265"/>
            <a:ext cx="4618990" cy="553085"/>
          </a:xfrm>
          <a:prstGeom prst="rect">
            <a:avLst/>
          </a:prstGeom>
          <a:solidFill>
            <a:schemeClr val="bg2">
              <a:lumMod val="90000"/>
            </a:schemeClr>
          </a:solidFill>
          <a:ln w="9525">
            <a:noFill/>
          </a:ln>
        </p:spPr>
        <p:txBody>
          <a:bodyPr wrap="square">
            <a:spAutoFit/>
          </a:bodyPr>
          <a:lstStyle/>
          <a:p>
            <a:pPr eaLnBrk="1" latinLnBrk="0" hangingPunct="1">
              <a:lnSpc>
                <a:spcPct val="125000"/>
              </a:lnSpc>
            </a:pPr>
            <a:r>
              <a:rPr lang="zh-CN" altLang="zh-CN" sz="2400" i="0" dirty="0">
                <a:latin typeface="微软雅黑" panose="020B0503020204020204" pitchFamily="34" charset="-122"/>
                <a:ea typeface="微软雅黑" panose="020B0503020204020204" pitchFamily="34" charset="-122"/>
                <a:cs typeface="微软雅黑" panose="020B0503020204020204" pitchFamily="34" charset="-122"/>
              </a:rPr>
              <a:t>执行存储过程：</a:t>
            </a:r>
            <a:r>
              <a:rPr lang="en-US" altLang="zh-CN" sz="2400" i="0" dirty="0">
                <a:solidFill>
                  <a:srgbClr val="0000FF"/>
                </a:solidFill>
                <a:latin typeface="微软雅黑" panose="020B0503020204020204" pitchFamily="34" charset="-122"/>
                <a:ea typeface="微软雅黑" panose="020B0503020204020204" pitchFamily="34" charset="-122"/>
              </a:rPr>
              <a:t>EXECUTE  exp7</a:t>
            </a:r>
          </a:p>
        </p:txBody>
      </p:sp>
      <p:pic>
        <p:nvPicPr>
          <p:cNvPr id="70658" name="Picture 2"/>
          <p:cNvPicPr>
            <a:picLocks noChangeAspect="1"/>
          </p:cNvPicPr>
          <p:nvPr/>
        </p:nvPicPr>
        <p:blipFill>
          <a:blip r:embed="rId3"/>
          <a:stretch>
            <a:fillRect/>
          </a:stretch>
        </p:blipFill>
        <p:spPr>
          <a:xfrm>
            <a:off x="3480118" y="5801360"/>
            <a:ext cx="7186612" cy="693738"/>
          </a:xfrm>
          <a:prstGeom prst="rect">
            <a:avLst/>
          </a:prstGeom>
          <a:noFill/>
          <a:ln w="9525">
            <a:noFill/>
          </a:ln>
        </p:spPr>
      </p:pic>
      <p:cxnSp>
        <p:nvCxnSpPr>
          <p:cNvPr id="9" name="直接连接符 8"/>
          <p:cNvCxnSpPr/>
          <p:nvPr/>
        </p:nvCxnSpPr>
        <p:spPr bwMode="auto">
          <a:xfrm>
            <a:off x="6537960" y="1847215"/>
            <a:ext cx="0" cy="3874135"/>
          </a:xfrm>
          <a:prstGeom prst="line">
            <a:avLst/>
          </a:prstGeom>
          <a:solidFill>
            <a:schemeClr val="accent1"/>
          </a:solidFill>
          <a:ln w="28575" cap="flat" cmpd="sng" algn="ctr">
            <a:solidFill>
              <a:schemeClr val="accent2">
                <a:lumMod val="60000"/>
                <a:lumOff val="40000"/>
              </a:schemeClr>
            </a:solidFill>
            <a:prstDash val="dashDot"/>
            <a:round/>
            <a:headEnd type="none" w="med" len="med"/>
            <a:tailEnd type="none" w="med" len="med"/>
          </a:ln>
          <a:effectLst/>
        </p:spPr>
      </p:cxn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blinds(horizontal)">
                                      <p:cBhvr>
                                        <p:cTn id="7" dur="500"/>
                                        <p:tgtEl>
                                          <p:spTgt spid="6">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6">
                                            <p:txEl>
                                              <p:pRg st="1" end="1"/>
                                            </p:txEl>
                                          </p:spTgt>
                                        </p:tgtEl>
                                        <p:attrNameLst>
                                          <p:attrName>style.visibility</p:attrName>
                                        </p:attrNameLst>
                                      </p:cBhvr>
                                      <p:to>
                                        <p:strVal val="visible"/>
                                      </p:to>
                                    </p:set>
                                    <p:animEffect transition="in" filter="blinds(horizontal)">
                                      <p:cBhvr>
                                        <p:cTn id="10" dur="500"/>
                                        <p:tgtEl>
                                          <p:spTgt spid="6">
                                            <p:txEl>
                                              <p:pRg st="1" end="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animEffect transition="in" filter="blinds(horizontal)">
                                      <p:cBhvr>
                                        <p:cTn id="13" dur="500"/>
                                        <p:tgtEl>
                                          <p:spTgt spid="6">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6">
                                            <p:txEl>
                                              <p:pRg st="3" end="3"/>
                                            </p:txEl>
                                          </p:spTgt>
                                        </p:tgtEl>
                                        <p:attrNameLst>
                                          <p:attrName>style.visibility</p:attrName>
                                        </p:attrNameLst>
                                      </p:cBhvr>
                                      <p:to>
                                        <p:strVal val="visible"/>
                                      </p:to>
                                    </p:set>
                                    <p:animEffect transition="in" filter="blinds(horizontal)">
                                      <p:cBhvr>
                                        <p:cTn id="18" dur="500"/>
                                        <p:tgtEl>
                                          <p:spTgt spid="6">
                                            <p:txEl>
                                              <p:pRg st="3" end="3"/>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6">
                                            <p:txEl>
                                              <p:pRg st="4" end="4"/>
                                            </p:txEl>
                                          </p:spTgt>
                                        </p:tgtEl>
                                        <p:attrNameLst>
                                          <p:attrName>style.visibility</p:attrName>
                                        </p:attrNameLst>
                                      </p:cBhvr>
                                      <p:to>
                                        <p:strVal val="visible"/>
                                      </p:to>
                                    </p:set>
                                    <p:animEffect transition="in" filter="blinds(horizontal)">
                                      <p:cBhvr>
                                        <p:cTn id="21" dur="500"/>
                                        <p:tgtEl>
                                          <p:spTgt spid="6">
                                            <p:txEl>
                                              <p:pRg st="4" end="4"/>
                                            </p:txEl>
                                          </p:spTgt>
                                        </p:tgtEl>
                                      </p:cBhvr>
                                    </p:animEffect>
                                  </p:childTnLst>
                                </p:cTn>
                              </p:par>
                              <p:par>
                                <p:cTn id="22" presetID="3" presetClass="entr" presetSubtype="10" fill="hold" nodeType="withEffect">
                                  <p:stCondLst>
                                    <p:cond delay="0"/>
                                  </p:stCondLst>
                                  <p:childTnLst>
                                    <p:set>
                                      <p:cBhvr>
                                        <p:cTn id="23" dur="1" fill="hold">
                                          <p:stCondLst>
                                            <p:cond delay="0"/>
                                          </p:stCondLst>
                                        </p:cTn>
                                        <p:tgtEl>
                                          <p:spTgt spid="6">
                                            <p:txEl>
                                              <p:pRg st="5" end="5"/>
                                            </p:txEl>
                                          </p:spTgt>
                                        </p:tgtEl>
                                        <p:attrNameLst>
                                          <p:attrName>style.visibility</p:attrName>
                                        </p:attrNameLst>
                                      </p:cBhvr>
                                      <p:to>
                                        <p:strVal val="visible"/>
                                      </p:to>
                                    </p:set>
                                    <p:animEffect transition="in" filter="blinds(horizontal)">
                                      <p:cBhvr>
                                        <p:cTn id="24" dur="500"/>
                                        <p:tgtEl>
                                          <p:spTgt spid="6">
                                            <p:txEl>
                                              <p:pRg st="5" end="5"/>
                                            </p:txEl>
                                          </p:spTgt>
                                        </p:tgtEl>
                                      </p:cBhvr>
                                    </p:animEffect>
                                  </p:childTnLst>
                                </p:cTn>
                              </p:par>
                              <p:par>
                                <p:cTn id="25" presetID="3" presetClass="entr" presetSubtype="10" fill="hold" nodeType="withEffect">
                                  <p:stCondLst>
                                    <p:cond delay="0"/>
                                  </p:stCondLst>
                                  <p:childTnLst>
                                    <p:set>
                                      <p:cBhvr>
                                        <p:cTn id="26" dur="1" fill="hold">
                                          <p:stCondLst>
                                            <p:cond delay="0"/>
                                          </p:stCondLst>
                                        </p:cTn>
                                        <p:tgtEl>
                                          <p:spTgt spid="6">
                                            <p:txEl>
                                              <p:pRg st="6" end="6"/>
                                            </p:txEl>
                                          </p:spTgt>
                                        </p:tgtEl>
                                        <p:attrNameLst>
                                          <p:attrName>style.visibility</p:attrName>
                                        </p:attrNameLst>
                                      </p:cBhvr>
                                      <p:to>
                                        <p:strVal val="visible"/>
                                      </p:to>
                                    </p:set>
                                    <p:animEffect transition="in" filter="blinds(horizontal)">
                                      <p:cBhvr>
                                        <p:cTn id="27" dur="500"/>
                                        <p:tgtEl>
                                          <p:spTgt spid="6">
                                            <p:txEl>
                                              <p:pRg st="6" end="6"/>
                                            </p:txEl>
                                          </p:spTgt>
                                        </p:tgtEl>
                                      </p:cBhvr>
                                    </p:animEffect>
                                  </p:childTnLst>
                                </p:cTn>
                              </p:par>
                              <p:par>
                                <p:cTn id="28" presetID="3" presetClass="entr" presetSubtype="10" fill="hold" nodeType="withEffect">
                                  <p:stCondLst>
                                    <p:cond delay="0"/>
                                  </p:stCondLst>
                                  <p:childTnLst>
                                    <p:set>
                                      <p:cBhvr>
                                        <p:cTn id="29" dur="1" fill="hold">
                                          <p:stCondLst>
                                            <p:cond delay="0"/>
                                          </p:stCondLst>
                                        </p:cTn>
                                        <p:tgtEl>
                                          <p:spTgt spid="6">
                                            <p:txEl>
                                              <p:pRg st="7" end="7"/>
                                            </p:txEl>
                                          </p:spTgt>
                                        </p:tgtEl>
                                        <p:attrNameLst>
                                          <p:attrName>style.visibility</p:attrName>
                                        </p:attrNameLst>
                                      </p:cBhvr>
                                      <p:to>
                                        <p:strVal val="visible"/>
                                      </p:to>
                                    </p:set>
                                    <p:animEffect transition="in" filter="blinds(horizontal)">
                                      <p:cBhvr>
                                        <p:cTn id="30" dur="500"/>
                                        <p:tgtEl>
                                          <p:spTgt spid="6">
                                            <p:txEl>
                                              <p:pRg st="7" end="7"/>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nodeType="clickEffect">
                                  <p:stCondLst>
                                    <p:cond delay="0"/>
                                  </p:stCondLst>
                                  <p:childTnLst>
                                    <p:set>
                                      <p:cBhvr>
                                        <p:cTn id="34" dur="1" fill="hold">
                                          <p:stCondLst>
                                            <p:cond delay="0"/>
                                          </p:stCondLst>
                                        </p:cTn>
                                        <p:tgtEl>
                                          <p:spTgt spid="7">
                                            <p:txEl>
                                              <p:pRg st="0" end="0"/>
                                            </p:txEl>
                                          </p:spTgt>
                                        </p:tgtEl>
                                        <p:attrNameLst>
                                          <p:attrName>style.visibility</p:attrName>
                                        </p:attrNameLst>
                                      </p:cBhvr>
                                      <p:to>
                                        <p:strVal val="visible"/>
                                      </p:to>
                                    </p:set>
                                    <p:animEffect transition="in" filter="blinds(horizontal)">
                                      <p:cBhvr>
                                        <p:cTn id="35" dur="500"/>
                                        <p:tgtEl>
                                          <p:spTgt spid="7">
                                            <p:txEl>
                                              <p:pRg st="0" end="0"/>
                                            </p:txEl>
                                          </p:spTgt>
                                        </p:tgtEl>
                                      </p:cBhvr>
                                    </p:animEffect>
                                  </p:childTnLst>
                                </p:cTn>
                              </p:par>
                              <p:par>
                                <p:cTn id="36" presetID="3" presetClass="entr" presetSubtype="10" fill="hold" nodeType="withEffect">
                                  <p:stCondLst>
                                    <p:cond delay="0"/>
                                  </p:stCondLst>
                                  <p:childTnLst>
                                    <p:set>
                                      <p:cBhvr>
                                        <p:cTn id="37" dur="1" fill="hold">
                                          <p:stCondLst>
                                            <p:cond delay="0"/>
                                          </p:stCondLst>
                                        </p:cTn>
                                        <p:tgtEl>
                                          <p:spTgt spid="7">
                                            <p:txEl>
                                              <p:pRg st="1" end="1"/>
                                            </p:txEl>
                                          </p:spTgt>
                                        </p:tgtEl>
                                        <p:attrNameLst>
                                          <p:attrName>style.visibility</p:attrName>
                                        </p:attrNameLst>
                                      </p:cBhvr>
                                      <p:to>
                                        <p:strVal val="visible"/>
                                      </p:to>
                                    </p:set>
                                    <p:animEffect transition="in" filter="blinds(horizontal)">
                                      <p:cBhvr>
                                        <p:cTn id="38" dur="500"/>
                                        <p:tgtEl>
                                          <p:spTgt spid="7">
                                            <p:txEl>
                                              <p:pRg st="1" end="1"/>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nodeType="clickEffect">
                                  <p:stCondLst>
                                    <p:cond delay="0"/>
                                  </p:stCondLst>
                                  <p:childTnLst>
                                    <p:set>
                                      <p:cBhvr>
                                        <p:cTn id="42" dur="1" fill="hold">
                                          <p:stCondLst>
                                            <p:cond delay="0"/>
                                          </p:stCondLst>
                                        </p:cTn>
                                        <p:tgtEl>
                                          <p:spTgt spid="7">
                                            <p:txEl>
                                              <p:pRg st="2" end="2"/>
                                            </p:txEl>
                                          </p:spTgt>
                                        </p:tgtEl>
                                        <p:attrNameLst>
                                          <p:attrName>style.visibility</p:attrName>
                                        </p:attrNameLst>
                                      </p:cBhvr>
                                      <p:to>
                                        <p:strVal val="visible"/>
                                      </p:to>
                                    </p:set>
                                    <p:animEffect transition="in" filter="blinds(horizontal)">
                                      <p:cBhvr>
                                        <p:cTn id="43" dur="500"/>
                                        <p:tgtEl>
                                          <p:spTgt spid="7">
                                            <p:txEl>
                                              <p:pRg st="2" end="2"/>
                                            </p:txEl>
                                          </p:spTgt>
                                        </p:tgtEl>
                                      </p:cBhvr>
                                    </p:animEffect>
                                  </p:childTnLst>
                                </p:cTn>
                              </p:par>
                              <p:par>
                                <p:cTn id="44" presetID="3" presetClass="entr" presetSubtype="10" fill="hold" nodeType="withEffect">
                                  <p:stCondLst>
                                    <p:cond delay="0"/>
                                  </p:stCondLst>
                                  <p:childTnLst>
                                    <p:set>
                                      <p:cBhvr>
                                        <p:cTn id="45" dur="1" fill="hold">
                                          <p:stCondLst>
                                            <p:cond delay="0"/>
                                          </p:stCondLst>
                                        </p:cTn>
                                        <p:tgtEl>
                                          <p:spTgt spid="7">
                                            <p:txEl>
                                              <p:pRg st="3" end="3"/>
                                            </p:txEl>
                                          </p:spTgt>
                                        </p:tgtEl>
                                        <p:attrNameLst>
                                          <p:attrName>style.visibility</p:attrName>
                                        </p:attrNameLst>
                                      </p:cBhvr>
                                      <p:to>
                                        <p:strVal val="visible"/>
                                      </p:to>
                                    </p:set>
                                    <p:animEffect transition="in" filter="blinds(horizontal)">
                                      <p:cBhvr>
                                        <p:cTn id="46" dur="500"/>
                                        <p:tgtEl>
                                          <p:spTgt spid="7">
                                            <p:txEl>
                                              <p:pRg st="3" end="3"/>
                                            </p:txEl>
                                          </p:spTgt>
                                        </p:tgtEl>
                                      </p:cBhvr>
                                    </p:animEffect>
                                  </p:childTnLst>
                                </p:cTn>
                              </p:par>
                              <p:par>
                                <p:cTn id="47" presetID="3" presetClass="entr" presetSubtype="10" fill="hold" nodeType="withEffect">
                                  <p:stCondLst>
                                    <p:cond delay="0"/>
                                  </p:stCondLst>
                                  <p:childTnLst>
                                    <p:set>
                                      <p:cBhvr>
                                        <p:cTn id="48" dur="1" fill="hold">
                                          <p:stCondLst>
                                            <p:cond delay="0"/>
                                          </p:stCondLst>
                                        </p:cTn>
                                        <p:tgtEl>
                                          <p:spTgt spid="7">
                                            <p:txEl>
                                              <p:pRg st="4" end="4"/>
                                            </p:txEl>
                                          </p:spTgt>
                                        </p:tgtEl>
                                        <p:attrNameLst>
                                          <p:attrName>style.visibility</p:attrName>
                                        </p:attrNameLst>
                                      </p:cBhvr>
                                      <p:to>
                                        <p:strVal val="visible"/>
                                      </p:to>
                                    </p:set>
                                    <p:animEffect transition="in" filter="blinds(horizontal)">
                                      <p:cBhvr>
                                        <p:cTn id="49" dur="500"/>
                                        <p:tgtEl>
                                          <p:spTgt spid="7">
                                            <p:txEl>
                                              <p:pRg st="4" end="4"/>
                                            </p:txEl>
                                          </p:spTgt>
                                        </p:tgtEl>
                                      </p:cBhvr>
                                    </p:animEffect>
                                  </p:childTnLst>
                                </p:cTn>
                              </p:par>
                              <p:par>
                                <p:cTn id="50" presetID="3" presetClass="entr" presetSubtype="10" fill="hold" nodeType="withEffect">
                                  <p:stCondLst>
                                    <p:cond delay="0"/>
                                  </p:stCondLst>
                                  <p:childTnLst>
                                    <p:set>
                                      <p:cBhvr>
                                        <p:cTn id="51" dur="1" fill="hold">
                                          <p:stCondLst>
                                            <p:cond delay="0"/>
                                          </p:stCondLst>
                                        </p:cTn>
                                        <p:tgtEl>
                                          <p:spTgt spid="7">
                                            <p:txEl>
                                              <p:pRg st="5" end="5"/>
                                            </p:txEl>
                                          </p:spTgt>
                                        </p:tgtEl>
                                        <p:attrNameLst>
                                          <p:attrName>style.visibility</p:attrName>
                                        </p:attrNameLst>
                                      </p:cBhvr>
                                      <p:to>
                                        <p:strVal val="visible"/>
                                      </p:to>
                                    </p:set>
                                    <p:animEffect transition="in" filter="blinds(horizontal)">
                                      <p:cBhvr>
                                        <p:cTn id="52" dur="500"/>
                                        <p:tgtEl>
                                          <p:spTgt spid="7">
                                            <p:txEl>
                                              <p:pRg st="5" end="5"/>
                                            </p:txEl>
                                          </p:spTgt>
                                        </p:tgtEl>
                                      </p:cBhvr>
                                    </p:animEffect>
                                  </p:childTnLst>
                                </p:cTn>
                              </p:par>
                              <p:par>
                                <p:cTn id="53" presetID="3" presetClass="entr" presetSubtype="10" fill="hold" nodeType="withEffect">
                                  <p:stCondLst>
                                    <p:cond delay="0"/>
                                  </p:stCondLst>
                                  <p:childTnLst>
                                    <p:set>
                                      <p:cBhvr>
                                        <p:cTn id="54" dur="1" fill="hold">
                                          <p:stCondLst>
                                            <p:cond delay="0"/>
                                          </p:stCondLst>
                                        </p:cTn>
                                        <p:tgtEl>
                                          <p:spTgt spid="7">
                                            <p:txEl>
                                              <p:pRg st="6" end="6"/>
                                            </p:txEl>
                                          </p:spTgt>
                                        </p:tgtEl>
                                        <p:attrNameLst>
                                          <p:attrName>style.visibility</p:attrName>
                                        </p:attrNameLst>
                                      </p:cBhvr>
                                      <p:to>
                                        <p:strVal val="visible"/>
                                      </p:to>
                                    </p:set>
                                    <p:animEffect transition="in" filter="blinds(horizontal)">
                                      <p:cBhvr>
                                        <p:cTn id="55" dur="500"/>
                                        <p:tgtEl>
                                          <p:spTgt spid="7">
                                            <p:txEl>
                                              <p:pRg st="6" end="6"/>
                                            </p:txEl>
                                          </p:spTgt>
                                        </p:tgtEl>
                                      </p:cBhvr>
                                    </p:animEffect>
                                  </p:childTnLst>
                                </p:cTn>
                              </p:par>
                              <p:par>
                                <p:cTn id="56" presetID="3" presetClass="entr" presetSubtype="10" fill="hold" nodeType="withEffect">
                                  <p:stCondLst>
                                    <p:cond delay="0"/>
                                  </p:stCondLst>
                                  <p:childTnLst>
                                    <p:set>
                                      <p:cBhvr>
                                        <p:cTn id="57" dur="1" fill="hold">
                                          <p:stCondLst>
                                            <p:cond delay="0"/>
                                          </p:stCondLst>
                                        </p:cTn>
                                        <p:tgtEl>
                                          <p:spTgt spid="7">
                                            <p:txEl>
                                              <p:pRg st="7" end="7"/>
                                            </p:txEl>
                                          </p:spTgt>
                                        </p:tgtEl>
                                        <p:attrNameLst>
                                          <p:attrName>style.visibility</p:attrName>
                                        </p:attrNameLst>
                                      </p:cBhvr>
                                      <p:to>
                                        <p:strVal val="visible"/>
                                      </p:to>
                                    </p:set>
                                    <p:animEffect transition="in" filter="blinds(horizontal)">
                                      <p:cBhvr>
                                        <p:cTn id="58" dur="500"/>
                                        <p:tgtEl>
                                          <p:spTgt spid="7">
                                            <p:txEl>
                                              <p:pRg st="7" end="7"/>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3" presetClass="entr" presetSubtype="10" fill="hold" grpId="0" nodeType="clickEffect">
                                  <p:stCondLst>
                                    <p:cond delay="0"/>
                                  </p:stCondLst>
                                  <p:childTnLst>
                                    <p:set>
                                      <p:cBhvr>
                                        <p:cTn id="62" dur="1" fill="hold">
                                          <p:stCondLst>
                                            <p:cond delay="0"/>
                                          </p:stCondLst>
                                        </p:cTn>
                                        <p:tgtEl>
                                          <p:spTgt spid="8"/>
                                        </p:tgtEl>
                                        <p:attrNameLst>
                                          <p:attrName>style.visibility</p:attrName>
                                        </p:attrNameLst>
                                      </p:cBhvr>
                                      <p:to>
                                        <p:strVal val="visible"/>
                                      </p:to>
                                    </p:set>
                                    <p:animEffect transition="in" filter="blinds(horizontal)">
                                      <p:cBhvr>
                                        <p:cTn id="63" dur="500"/>
                                        <p:tgtEl>
                                          <p:spTgt spid="8"/>
                                        </p:tgtEl>
                                      </p:cBhvr>
                                    </p:animEffect>
                                  </p:childTnLst>
                                </p:cTn>
                              </p:par>
                            </p:childTnLst>
                          </p:cTn>
                        </p:par>
                      </p:childTnLst>
                    </p:cTn>
                  </p:par>
                  <p:par>
                    <p:cTn id="64" fill="hold">
                      <p:stCondLst>
                        <p:cond delay="indefinite"/>
                      </p:stCondLst>
                      <p:childTnLst>
                        <p:par>
                          <p:cTn id="65" fill="hold">
                            <p:stCondLst>
                              <p:cond delay="0"/>
                            </p:stCondLst>
                            <p:childTnLst>
                              <p:par>
                                <p:cTn id="66" presetID="3" presetClass="entr" presetSubtype="10" fill="hold" nodeType="clickEffect">
                                  <p:stCondLst>
                                    <p:cond delay="0"/>
                                  </p:stCondLst>
                                  <p:childTnLst>
                                    <p:set>
                                      <p:cBhvr>
                                        <p:cTn id="67" dur="1" fill="hold">
                                          <p:stCondLst>
                                            <p:cond delay="0"/>
                                          </p:stCondLst>
                                        </p:cTn>
                                        <p:tgtEl>
                                          <p:spTgt spid="70658"/>
                                        </p:tgtEl>
                                        <p:attrNameLst>
                                          <p:attrName>style.visibility</p:attrName>
                                        </p:attrNameLst>
                                      </p:cBhvr>
                                      <p:to>
                                        <p:strVal val="visible"/>
                                      </p:to>
                                    </p:set>
                                    <p:animEffect transition="in" filter="blinds(horizontal)">
                                      <p:cBhvr>
                                        <p:cTn id="68" dur="500"/>
                                        <p:tgtEl>
                                          <p:spTgt spid="706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P spid="8" grpId="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cxnSp>
        <p:nvCxnSpPr>
          <p:cNvPr id="13" name="直接连接符 12"/>
          <p:cNvCxnSpPr/>
          <p:nvPr/>
        </p:nvCxnSpPr>
        <p:spPr>
          <a:xfrm rot="5400000">
            <a:off x="43826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文本框 94"/>
          <p:cNvSpPr txBox="1">
            <a:spLocks noChangeArrowheads="1"/>
          </p:cNvSpPr>
          <p:nvPr/>
        </p:nvSpPr>
        <p:spPr bwMode="auto">
          <a:xfrm>
            <a:off x="245745" y="53975"/>
            <a:ext cx="4133215"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4.2 </a:t>
            </a:r>
            <a:r>
              <a:rPr lang="zh-CN" sz="2800" b="1" dirty="0">
                <a:solidFill>
                  <a:schemeClr val="bg1"/>
                </a:solidFill>
                <a:latin typeface="微软雅黑" panose="020B0503020204020204" pitchFamily="34" charset="-122"/>
                <a:ea typeface="微软雅黑" panose="020B0503020204020204" pitchFamily="34" charset="-122"/>
              </a:rPr>
              <a:t>存储过程</a:t>
            </a:r>
          </a:p>
        </p:txBody>
      </p:sp>
      <p:sp>
        <p:nvSpPr>
          <p:cNvPr id="12" name="文本框 94"/>
          <p:cNvSpPr txBox="1">
            <a:spLocks noChangeArrowheads="1"/>
          </p:cNvSpPr>
          <p:nvPr/>
        </p:nvSpPr>
        <p:spPr bwMode="auto">
          <a:xfrm>
            <a:off x="4737459" y="75566"/>
            <a:ext cx="7908779" cy="954107"/>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4.2.3</a:t>
            </a:r>
            <a:r>
              <a:rPr lang="zh-CN" altLang="en-US" sz="2800" b="1" dirty="0">
                <a:solidFill>
                  <a:schemeClr val="bg1"/>
                </a:solidFill>
                <a:latin typeface="微软雅黑" panose="020B0503020204020204" pitchFamily="34" charset="-122"/>
                <a:ea typeface="微软雅黑" panose="020B0503020204020204" pitchFamily="34" charset="-122"/>
              </a:rPr>
              <a:t>创建和管理</a:t>
            </a:r>
            <a:r>
              <a:rPr lang="en-US" altLang="zh-CN" sz="2800" b="1" dirty="0" err="1">
                <a:solidFill>
                  <a:schemeClr val="bg1"/>
                </a:solidFill>
                <a:latin typeface="微软雅黑" panose="020B0503020204020204" pitchFamily="34" charset="-122"/>
                <a:ea typeface="微软雅黑" panose="020B0503020204020204" pitchFamily="34" charset="-122"/>
              </a:rPr>
              <a:t>SQLServer</a:t>
            </a:r>
            <a:r>
              <a:rPr lang="zh-CN" altLang="zh-CN" sz="2800" b="1" dirty="0">
                <a:solidFill>
                  <a:schemeClr val="bg1"/>
                </a:solidFill>
                <a:latin typeface="微软雅黑" panose="020B0503020204020204" pitchFamily="34" charset="-122"/>
                <a:ea typeface="微软雅黑" panose="020B0503020204020204" pitchFamily="34" charset="-122"/>
              </a:rPr>
              <a:t>存储过程</a:t>
            </a:r>
          </a:p>
          <a:p>
            <a:endParaRPr lang="zh-CN" sz="2800" b="1" dirty="0">
              <a:solidFill>
                <a:schemeClr val="bg1"/>
              </a:solidFill>
              <a:latin typeface="微软雅黑" panose="020B0503020204020204" pitchFamily="34" charset="-122"/>
              <a:ea typeface="微软雅黑" panose="020B0503020204020204" pitchFamily="34" charset="-122"/>
            </a:endParaRPr>
          </a:p>
        </p:txBody>
      </p:sp>
      <p:sp>
        <p:nvSpPr>
          <p:cNvPr id="360451" name="Rectangle 3"/>
          <p:cNvSpPr/>
          <p:nvPr/>
        </p:nvSpPr>
        <p:spPr>
          <a:xfrm>
            <a:off x="913765" y="913765"/>
            <a:ext cx="10862310" cy="4526280"/>
          </a:xfrm>
          <a:prstGeom prst="rect">
            <a:avLst/>
          </a:prstGeom>
          <a:noFill/>
          <a:ln>
            <a:noFill/>
          </a:ln>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eaLnBrk="1" latinLnBrk="0" hangingPunct="1">
              <a:lnSpc>
                <a:spcPct val="125000"/>
              </a:lnSpc>
              <a:spcBef>
                <a:spcPts val="0"/>
              </a:spcBef>
              <a:buNone/>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修改存储过程的语句是：</a:t>
            </a:r>
          </a:p>
          <a:p>
            <a:pPr eaLnBrk="1" latinLnBrk="0" hangingPunct="1">
              <a:lnSpc>
                <a:spcPct val="125000"/>
              </a:lnSpc>
              <a:spcBef>
                <a:spcPts val="0"/>
              </a:spcBef>
              <a:buNone/>
            </a:pPr>
            <a:r>
              <a:rPr lang="en-US" altLang="zh-CN"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ALTER PROCEDURE </a:t>
            </a:r>
            <a:r>
              <a:rPr lang="zh-CN" altLang="en-US"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存储过程名</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；版本号</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a:t>
            </a:r>
          </a:p>
          <a:p>
            <a:pPr eaLnBrk="1" latinLnBrk="0" hangingPunct="1">
              <a:lnSpc>
                <a:spcPct val="125000"/>
              </a:lnSpc>
              <a:spcBef>
                <a:spcPts val="0"/>
              </a:spcBef>
              <a:buNone/>
            </a:pP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参数 数据类型</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 [ VARYING ] [=</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默认值</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 OUTPUT ],</a:t>
            </a:r>
          </a:p>
          <a:p>
            <a:pPr eaLnBrk="1" latinLnBrk="0" hangingPunct="1">
              <a:lnSpc>
                <a:spcPct val="125000"/>
              </a:lnSpc>
              <a:spcBef>
                <a:spcPts val="0"/>
              </a:spcBef>
              <a:buNone/>
            </a:pP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a:t>
            </a:r>
          </a:p>
          <a:p>
            <a:pPr eaLnBrk="1" latinLnBrk="0" hangingPunct="1">
              <a:lnSpc>
                <a:spcPct val="125000"/>
              </a:lnSpc>
              <a:spcBef>
                <a:spcPts val="0"/>
              </a:spcBef>
              <a:buNone/>
            </a:pP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[WITH{ RECOMPILE|ENCRYPTION|RECOMPILE,ENCRYPTION}] </a:t>
            </a:r>
          </a:p>
          <a:p>
            <a:pPr eaLnBrk="1" latinLnBrk="0" hangingPunct="1">
              <a:lnSpc>
                <a:spcPct val="125000"/>
              </a:lnSpc>
              <a:spcBef>
                <a:spcPts val="0"/>
              </a:spcBef>
              <a:buNone/>
            </a:pP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 FOR REPLICATION ] </a:t>
            </a:r>
          </a:p>
          <a:p>
            <a:pPr eaLnBrk="1" latinLnBrk="0" hangingPunct="1">
              <a:lnSpc>
                <a:spcPct val="125000"/>
              </a:lnSpc>
              <a:spcBef>
                <a:spcPts val="0"/>
              </a:spcBef>
              <a:buNone/>
            </a:pPr>
            <a:r>
              <a:rPr lang="en-US" altLang="zh-CN"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AS </a:t>
            </a:r>
          </a:p>
          <a:p>
            <a:pPr eaLnBrk="1" latinLnBrk="0" hangingPunct="1">
              <a:lnSpc>
                <a:spcPct val="125000"/>
              </a:lnSpc>
              <a:spcBef>
                <a:spcPts val="0"/>
              </a:spcBef>
              <a:buNone/>
            </a:pP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   SQL</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语句</a:t>
            </a:r>
          </a:p>
          <a:p>
            <a:pPr eaLnBrk="1" latinLnBrk="0" hangingPunct="1">
              <a:lnSpc>
                <a:spcPct val="125000"/>
              </a:lnSpc>
              <a:spcBef>
                <a:spcPts val="0"/>
              </a:spcBef>
              <a:buNone/>
            </a:pP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a:p>
            <a:pPr eaLnBrk="1" latinLnBrk="0" hangingPunct="1">
              <a:lnSpc>
                <a:spcPct val="125000"/>
              </a:lnSpc>
              <a:spcBef>
                <a:spcPts val="0"/>
              </a:spcBef>
              <a:buNone/>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删除存储过程的语句是：</a:t>
            </a:r>
          </a:p>
          <a:p>
            <a:pPr eaLnBrk="1" latinLnBrk="0" hangingPunct="1">
              <a:lnSpc>
                <a:spcPct val="125000"/>
              </a:lnSpc>
              <a:spcBef>
                <a:spcPts val="0"/>
              </a:spcBef>
              <a:buNone/>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DROP PROCEDURE   </a:t>
            </a:r>
            <a:r>
              <a:rPr lang="zh-CN" altLang="en-US"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存储过程名</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60451">
                                            <p:txEl>
                                              <p:pRg st="9" end="9"/>
                                            </p:txEl>
                                          </p:spTgt>
                                        </p:tgtEl>
                                        <p:attrNameLst>
                                          <p:attrName>style.visibility</p:attrName>
                                        </p:attrNameLst>
                                      </p:cBhvr>
                                      <p:to>
                                        <p:strVal val="visible"/>
                                      </p:to>
                                    </p:set>
                                    <p:animEffect transition="in" filter="blinds(horizontal)">
                                      <p:cBhvr>
                                        <p:cTn id="7" dur="500"/>
                                        <p:tgtEl>
                                          <p:spTgt spid="360451">
                                            <p:txEl>
                                              <p:pRg st="9" end="9"/>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60451">
                                            <p:txEl>
                                              <p:pRg st="10" end="10"/>
                                            </p:txEl>
                                          </p:spTgt>
                                        </p:tgtEl>
                                        <p:attrNameLst>
                                          <p:attrName>style.visibility</p:attrName>
                                        </p:attrNameLst>
                                      </p:cBhvr>
                                      <p:to>
                                        <p:strVal val="visible"/>
                                      </p:to>
                                    </p:set>
                                    <p:animEffect transition="in" filter="blinds(horizontal)">
                                      <p:cBhvr>
                                        <p:cTn id="10" dur="500"/>
                                        <p:tgtEl>
                                          <p:spTgt spid="360451">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4" name="文本框 94"/>
          <p:cNvSpPr txBox="1">
            <a:spLocks noChangeArrowheads="1"/>
          </p:cNvSpPr>
          <p:nvPr/>
        </p:nvSpPr>
        <p:spPr bwMode="auto">
          <a:xfrm>
            <a:off x="245870" y="65515"/>
            <a:ext cx="5053997" cy="523220"/>
          </a:xfrm>
          <a:prstGeom prst="rect">
            <a:avLst/>
          </a:prstGeom>
          <a:noFill/>
          <a:ln w="9525">
            <a:noFill/>
            <a:miter lim="800000"/>
          </a:ln>
        </p:spPr>
        <p:txBody>
          <a:bodyPr wrap="square">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小结</a:t>
            </a:r>
          </a:p>
        </p:txBody>
      </p:sp>
      <p:sp>
        <p:nvSpPr>
          <p:cNvPr id="5" name="圆角矩形 4"/>
          <p:cNvSpPr/>
          <p:nvPr/>
        </p:nvSpPr>
        <p:spPr>
          <a:xfrm>
            <a:off x="393065" y="746125"/>
            <a:ext cx="10984865" cy="1981835"/>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defTabSz="1600200">
              <a:lnSpc>
                <a:spcPct val="150000"/>
              </a:lnSpc>
              <a:spcAft>
                <a:spcPct val="35000"/>
              </a:spcAft>
              <a:buFont typeface="Wingdings" panose="05000000000000000000" pitchFamily="2" charset="2"/>
              <a:buChar char="n"/>
            </a:pPr>
            <a:r>
              <a:rPr lang="zh-CN" sz="2000" dirty="0">
                <a:solidFill>
                  <a:schemeClr val="tx1"/>
                </a:solidFill>
                <a:latin typeface="微软雅黑" panose="020B0503020204020204" pitchFamily="34" charset="-122"/>
                <a:ea typeface="微软雅黑" panose="020B0503020204020204" pitchFamily="34" charset="-122"/>
              </a:rPr>
              <a:t>存储过程的基本概念</a:t>
            </a:r>
          </a:p>
          <a:p>
            <a:pPr marL="342900" indent="-342900" defTabSz="1600200">
              <a:lnSpc>
                <a:spcPct val="150000"/>
              </a:lnSpc>
              <a:spcAft>
                <a:spcPct val="35000"/>
              </a:spcAft>
              <a:buFont typeface="Wingdings" panose="05000000000000000000" pitchFamily="2" charset="2"/>
              <a:buChar char="n"/>
            </a:pPr>
            <a:r>
              <a:rPr lang="zh-CN" altLang="en-US" sz="2000" dirty="0">
                <a:solidFill>
                  <a:schemeClr val="tx1"/>
                </a:solidFill>
                <a:latin typeface="微软雅黑" panose="020B0503020204020204" pitchFamily="34" charset="-122"/>
                <a:ea typeface="微软雅黑" panose="020B0503020204020204" pitchFamily="34" charset="-122"/>
              </a:rPr>
              <a:t>创建存储过程</a:t>
            </a:r>
          </a:p>
          <a:p>
            <a:pPr marL="342900" indent="-342900" defTabSz="1600200">
              <a:lnSpc>
                <a:spcPct val="150000"/>
              </a:lnSpc>
              <a:spcAft>
                <a:spcPct val="35000"/>
              </a:spcAft>
              <a:buFont typeface="Wingdings" panose="05000000000000000000" pitchFamily="2" charset="2"/>
              <a:buChar char="n"/>
            </a:pPr>
            <a:r>
              <a:rPr lang="zh-CN" altLang="en-US" sz="2000" dirty="0">
                <a:solidFill>
                  <a:schemeClr val="tx1"/>
                </a:solidFill>
                <a:latin typeface="微软雅黑" panose="020B0503020204020204" pitchFamily="34" charset="-122"/>
                <a:ea typeface="微软雅黑" panose="020B0503020204020204" pitchFamily="34" charset="-122"/>
              </a:rPr>
              <a:t>修改和删除存储过程</a:t>
            </a:r>
          </a:p>
        </p:txBody>
      </p:sp>
      <p:sp>
        <p:nvSpPr>
          <p:cNvPr id="2" name="矩形 1"/>
          <p:cNvSpPr/>
          <p:nvPr/>
        </p:nvSpPr>
        <p:spPr>
          <a:xfrm>
            <a:off x="4313693" y="3600884"/>
            <a:ext cx="3695242" cy="923330"/>
          </a:xfrm>
          <a:prstGeom prst="rect">
            <a:avLst/>
          </a:prstGeom>
          <a:noFill/>
        </p:spPr>
        <p:txBody>
          <a:bodyPr wrap="non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zh-CN" altLang="en-US" sz="54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谢谢观看！</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ags/tag1.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3394.0629921259842,&quot;width&quot;:5974.672440944882}"/>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a:solidFill>
            <a:srgbClr val="4CC2EA"/>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TotalTime>
  <Words>2774</Words>
  <Application>Microsoft Macintosh PowerPoint</Application>
  <PresentationFormat>宽屏</PresentationFormat>
  <Paragraphs>396</Paragraphs>
  <Slides>29</Slides>
  <Notes>25</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1</vt:i4>
      </vt:variant>
      <vt:variant>
        <vt:lpstr>幻灯片标题</vt:lpstr>
      </vt:variant>
      <vt:variant>
        <vt:i4>29</vt:i4>
      </vt:variant>
    </vt:vector>
  </HeadingPairs>
  <TitlesOfParts>
    <vt:vector size="38" baseType="lpstr">
      <vt:lpstr>楷体_GB2312</vt:lpstr>
      <vt:lpstr>宋体</vt:lpstr>
      <vt:lpstr>微软雅黑</vt:lpstr>
      <vt:lpstr>Arial</vt:lpstr>
      <vt:lpstr>Calibri</vt:lpstr>
      <vt:lpstr>Calibri Light</vt:lpstr>
      <vt:lpstr>Wingdings</vt:lpstr>
      <vt:lpstr>Office 主题</vt:lpstr>
      <vt:lpstr>Paint.Picture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zhouping</dc:creator>
  <cp:lastModifiedBy>Qingting Xu</cp:lastModifiedBy>
  <cp:revision>1385</cp:revision>
  <dcterms:created xsi:type="dcterms:W3CDTF">2014-07-02T10:42:00Z</dcterms:created>
  <dcterms:modified xsi:type="dcterms:W3CDTF">2025-09-26T01:02:25Z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所有者">
    <vt:lpwstr>大同煤炭职业技术学院</vt:lpwstr>
  </property>
  <property fmtid="{D5CDD505-2E9C-101B-9397-08002B2CF9AE}" pid="3" name="KSOProductBuildVer">
    <vt:lpwstr>2052-11.1.0.10700</vt:lpwstr>
  </property>
  <property fmtid="{D5CDD505-2E9C-101B-9397-08002B2CF9AE}" pid="4" name="ICV">
    <vt:lpwstr>701D26AD0697497FAA1A18514AA02AC5</vt:lpwstr>
  </property>
</Properties>
</file>