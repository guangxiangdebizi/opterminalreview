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86" r:id="rId2"/>
    <p:sldId id="454" r:id="rId3"/>
    <p:sldId id="457" r:id="rId4"/>
    <p:sldId id="459" r:id="rId5"/>
    <p:sldId id="460" r:id="rId6"/>
    <p:sldId id="465" r:id="rId7"/>
    <p:sldId id="466" r:id="rId8"/>
    <p:sldId id="456" r:id="rId9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915">
          <p15:clr>
            <a:srgbClr val="A4A3A4"/>
          </p15:clr>
        </p15:guide>
        <p15:guide id="3" orient="horz" pos="1298">
          <p15:clr>
            <a:srgbClr val="A4A3A4"/>
          </p15:clr>
        </p15:guide>
        <p15:guide id="4" pos="3840">
          <p15:clr>
            <a:srgbClr val="A4A3A4"/>
          </p15:clr>
        </p15:guide>
        <p15:guide id="5" pos="1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7">
          <p15:clr>
            <a:srgbClr val="A4A3A4"/>
          </p15:clr>
        </p15:guide>
        <p15:guide id="2" orient="horz" pos="2927">
          <p15:clr>
            <a:srgbClr val="A4A3A4"/>
          </p15:clr>
        </p15:guide>
        <p15:guide id="3" pos="2880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9F0"/>
    <a:srgbClr val="FF0000"/>
    <a:srgbClr val="63B6FF"/>
    <a:srgbClr val="FFFFFF"/>
    <a:srgbClr val="009AD0"/>
    <a:srgbClr val="002060"/>
    <a:srgbClr val="009900"/>
    <a:srgbClr val="F79646"/>
    <a:srgbClr val="245D60"/>
    <a:srgbClr val="DD4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53494" autoAdjust="0"/>
  </p:normalViewPr>
  <p:slideViewPr>
    <p:cSldViewPr snapToGrid="0">
      <p:cViewPr varScale="1">
        <p:scale>
          <a:sx n="56" d="100"/>
          <a:sy n="56" d="100"/>
        </p:scale>
        <p:origin x="2768" y="176"/>
      </p:cViewPr>
      <p:guideLst>
        <p:guide orient="horz" pos="2160"/>
        <p:guide orient="horz" pos="2915"/>
        <p:guide orient="horz" pos="1298"/>
        <p:guide pos="3840"/>
        <p:guide pos="12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177"/>
        <p:guide orient="horz" pos="2927"/>
        <p:guide pos="2880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2025/9/23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973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4339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 flipV="1">
            <a:off x="-1" y="6857999"/>
            <a:ext cx="12204000" cy="45719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  <p:pic>
        <p:nvPicPr>
          <p:cNvPr id="17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25"/>
            <a:ext cx="21066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51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2895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296303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7" name="Picture 2" descr="https://www.shiep.edu.cn/_upload/article/images/ae/f5/a315f22e46eba7886e93c3942349/e87d7fad-391a-42bc-b0b3-a522274164b9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" y="6063"/>
            <a:ext cx="1647588" cy="3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4876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sp>
        <p:nvSpPr>
          <p:cNvPr id="9" name="TextBox 1"/>
          <p:cNvSpPr>
            <a:spLocks noChangeArrowheads="1"/>
          </p:cNvSpPr>
          <p:nvPr/>
        </p:nvSpPr>
        <p:spPr bwMode="auto">
          <a:xfrm>
            <a:off x="2218540" y="975521"/>
            <a:ext cx="7345184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rIns="0">
            <a:spAutoFit/>
          </a:bodyPr>
          <a:lstStyle/>
          <a:p>
            <a:pPr algn="ctr"/>
            <a:endParaRPr lang="en-US" altLang="zh-CN" sz="5400" b="1" dirty="0">
              <a:solidFill>
                <a:srgbClr val="0058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细圆简体"/>
            </a:endParaRPr>
          </a:p>
          <a:p>
            <a:pPr algn="ctr"/>
            <a:r>
              <a:rPr lang="zh-CN" altLang="en-US" sz="5400" b="1" dirty="0">
                <a:solidFill>
                  <a:srgbClr val="0058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细圆简体"/>
              </a:rPr>
              <a:t>数据库原理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44074" y="1015661"/>
            <a:ext cx="8128000" cy="526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第三章    </a:t>
            </a:r>
            <a:r>
              <a:rPr lang="zh-CN" sz="4000" b="1" dirty="0">
                <a:solidFill>
                  <a:srgbClr val="003300"/>
                </a:solidFill>
              </a:rPr>
              <a:t>结构化查询语言</a:t>
            </a:r>
            <a:r>
              <a:rPr lang="en-US" altLang="zh-CN" sz="4000" b="1" dirty="0">
                <a:solidFill>
                  <a:srgbClr val="003300"/>
                </a:solidFill>
              </a:rPr>
              <a:t>SQL</a:t>
            </a:r>
          </a:p>
          <a:p>
            <a:pPr eaLnBrk="1" hangingPunct="1">
              <a:spcBef>
                <a:spcPct val="40000"/>
              </a:spcBef>
            </a:pPr>
            <a:endParaRPr lang="zh-CN" altLang="en-US" sz="4000" b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</a:rPr>
              <a:t>	3.1 SQL</a:t>
            </a:r>
            <a:r>
              <a:rPr lang="zh-CN" altLang="en-US" sz="3200" b="1" dirty="0">
                <a:solidFill>
                  <a:schemeClr val="tx1"/>
                </a:solidFill>
              </a:rPr>
              <a:t>概述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chemeClr val="tx1"/>
                </a:solidFill>
              </a:rPr>
              <a:t>3.2 </a:t>
            </a:r>
            <a:r>
              <a:rPr lang="zh-CN" altLang="en-US" sz="3200" b="1" dirty="0">
                <a:solidFill>
                  <a:schemeClr val="tx1"/>
                </a:solidFill>
              </a:rPr>
              <a:t>数据定义语句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rgbClr val="FF0000"/>
                </a:solidFill>
              </a:rPr>
              <a:t>3.3 </a:t>
            </a:r>
            <a:r>
              <a:rPr lang="zh-CN" altLang="en-US" sz="3200" b="1" dirty="0">
                <a:solidFill>
                  <a:srgbClr val="FF0000"/>
                </a:solidFill>
              </a:rPr>
              <a:t>查询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/>
              <a:t>       </a:t>
            </a:r>
            <a:r>
              <a:rPr lang="en-US" altLang="zh-CN" sz="3200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3.4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数据更新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ym typeface="+mn-ea"/>
              </a:rPr>
              <a:t>	3.5 </a:t>
            </a:r>
            <a:r>
              <a:rPr lang="zh-CN" altLang="en-US" sz="3200" b="1" dirty="0">
                <a:sym typeface="+mn-ea"/>
              </a:rPr>
              <a:t>视图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集合查询</a:t>
            </a:r>
          </a:p>
        </p:txBody>
      </p:sp>
      <p:sp>
        <p:nvSpPr>
          <p:cNvPr id="281603" name="Rectangle 3"/>
          <p:cNvSpPr>
            <a:spLocks noGrp="1"/>
          </p:cNvSpPr>
          <p:nvPr/>
        </p:nvSpPr>
        <p:spPr>
          <a:xfrm>
            <a:off x="572770" y="946150"/>
            <a:ext cx="11362690" cy="48006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语句的结果是一个元组的集合，多个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语句的结果可以进行集合操作。</a:t>
            </a:r>
          </a:p>
          <a:p>
            <a:pPr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集合操作种类：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并操作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(UNION)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交操作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(INTERSECT)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差操作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(EXCEPT)</a:t>
            </a:r>
          </a:p>
        </p:txBody>
      </p:sp>
      <p:sp>
        <p:nvSpPr>
          <p:cNvPr id="281604" name="Rectangle 4"/>
          <p:cNvSpPr/>
          <p:nvPr/>
        </p:nvSpPr>
        <p:spPr>
          <a:xfrm>
            <a:off x="400685" y="3582988"/>
            <a:ext cx="9163050" cy="239966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注：参加集合操作的结果集必须是相容的：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属性个数及对应的数据类型必须一致；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属性名无关，最后结果集采用第一个结果的属性名；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缺省为自动去除重复元组；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只能在整个语句的最后使用一次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Order By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8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281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8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3" grpId="0" build="p"/>
      <p:bldP spid="281604" grpId="0"/>
      <p:bldP spid="28160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集合查询</a:t>
            </a:r>
          </a:p>
        </p:txBody>
      </p:sp>
      <p:sp>
        <p:nvSpPr>
          <p:cNvPr id="212995" name="Rectangle 3"/>
          <p:cNvSpPr/>
          <p:nvPr/>
        </p:nvSpPr>
        <p:spPr>
          <a:xfrm>
            <a:off x="346075" y="756285"/>
            <a:ext cx="10022205" cy="468757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3.61】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查询存放在供电局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仓库的物资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或者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单价不大于50的物资。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SELECT *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WHERE warehouse='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1D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UNION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SELECT *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WHERE unit&lt;=50;</a:t>
            </a:r>
          </a:p>
        </p:txBody>
      </p:sp>
      <p:sp>
        <p:nvSpPr>
          <p:cNvPr id="212997" name="Rectangle 5"/>
          <p:cNvSpPr/>
          <p:nvPr/>
        </p:nvSpPr>
        <p:spPr>
          <a:xfrm>
            <a:off x="6186170" y="1899920"/>
            <a:ext cx="5682615" cy="239966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 DISTINCT  *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WHERE warehouse = 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unit &lt;=50;</a:t>
            </a:r>
          </a:p>
        </p:txBody>
      </p:sp>
      <p:sp>
        <p:nvSpPr>
          <p:cNvPr id="280583" name="Rectangle 7"/>
          <p:cNvSpPr/>
          <p:nvPr/>
        </p:nvSpPr>
        <p:spPr>
          <a:xfrm>
            <a:off x="2131695" y="3094673"/>
            <a:ext cx="990600" cy="4781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0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</a:t>
            </a:r>
          </a:p>
        </p:txBody>
      </p:sp>
      <p:sp>
        <p:nvSpPr>
          <p:cNvPr id="280582" name="Rectangle 6"/>
          <p:cNvSpPr/>
          <p:nvPr/>
        </p:nvSpPr>
        <p:spPr>
          <a:xfrm>
            <a:off x="655955" y="5324475"/>
            <a:ext cx="10561320" cy="101473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UNION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操作自动去除重复元组，如果要保留重复元组的话，必须使用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all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关键词。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8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8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7" grpId="0"/>
      <p:bldP spid="280583" grpId="0"/>
      <p:bldP spid="280583" grpId="1"/>
      <p:bldP spid="28058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集合查询</a:t>
            </a:r>
          </a:p>
        </p:txBody>
      </p:sp>
      <p:sp>
        <p:nvSpPr>
          <p:cNvPr id="132098" name="Rectangle 3"/>
          <p:cNvSpPr>
            <a:spLocks noGrp="1"/>
          </p:cNvSpPr>
          <p:nvPr/>
        </p:nvSpPr>
        <p:spPr>
          <a:xfrm>
            <a:off x="358775" y="751205"/>
            <a:ext cx="12287250" cy="5334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3.62】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查询使用了物资编号为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m001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m002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的抢修工程的工程号。</a:t>
            </a:r>
          </a:p>
        </p:txBody>
      </p:sp>
      <p:sp>
        <p:nvSpPr>
          <p:cNvPr id="280580" name="Rectangle 4"/>
          <p:cNvSpPr/>
          <p:nvPr/>
        </p:nvSpPr>
        <p:spPr>
          <a:xfrm>
            <a:off x="704850" y="1482090"/>
            <a:ext cx="6650990" cy="332295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prj_num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Out_s 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 mat_num ='m001'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UNION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prj_num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Out_stock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 mat_num ='m002';</a:t>
            </a:r>
          </a:p>
        </p:txBody>
      </p:sp>
      <p:sp>
        <p:nvSpPr>
          <p:cNvPr id="280581" name="Rectangle 5"/>
          <p:cNvSpPr/>
          <p:nvPr/>
        </p:nvSpPr>
        <p:spPr>
          <a:xfrm>
            <a:off x="6080760" y="1877060"/>
            <a:ext cx="5221605" cy="295338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 DISTINCT prj_num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Out_stock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mat_num ='m001'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mat_num ='m002'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0" grpId="0"/>
      <p:bldP spid="28058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通过中间表查询</a:t>
            </a:r>
            <a:endParaRPr 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170" name="Rectangle 3"/>
          <p:cNvSpPr/>
          <p:nvPr/>
        </p:nvSpPr>
        <p:spPr>
          <a:xfrm>
            <a:off x="457200" y="852805"/>
            <a:ext cx="10771505" cy="511807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3.63】</a:t>
            </a: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查询使用的抢修物资数量前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名的抢修工程编号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284677" name="Rectangle 5"/>
          <p:cNvSpPr/>
          <p:nvPr/>
        </p:nvSpPr>
        <p:spPr>
          <a:xfrm>
            <a:off x="761365" y="1595120"/>
            <a:ext cx="6607175" cy="3323987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prj_num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 (select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prj_num,sum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(amount) as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sum_amount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from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out_stock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group by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prj_num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  as S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order by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sum_amount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DESC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limit 3;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523" y="2347595"/>
            <a:ext cx="2547017" cy="2547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87618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通过中间表查询</a:t>
            </a:r>
            <a:endParaRPr 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170" name="Rectangle 3"/>
          <p:cNvSpPr/>
          <p:nvPr/>
        </p:nvSpPr>
        <p:spPr>
          <a:xfrm>
            <a:off x="457200" y="852805"/>
            <a:ext cx="10771505" cy="511807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3.64】</a:t>
            </a: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查询每个抢修工程的抢修工程编号、名称及使用的抢修物资总数量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4677" name="Rectangle 5"/>
          <p:cNvSpPr/>
          <p:nvPr/>
        </p:nvSpPr>
        <p:spPr>
          <a:xfrm>
            <a:off x="761365" y="1595120"/>
            <a:ext cx="8496935" cy="2862322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salvaging.prj_num,prj_name,sum_amount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salvaging </a:t>
            </a: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inner join </a:t>
            </a:r>
            <a:endParaRPr lang="zh-CN" altLang="zh-CN" sz="2400" dirty="0">
              <a:solidFill>
                <a:srgbClr val="1569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(select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prj_num,sum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(amount) as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sum_amount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from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out_stock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group by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prj_num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 as S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on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salvaging.prj_num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S.prj_num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36565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1965" y="858982"/>
            <a:ext cx="10985119" cy="170895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并操作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交操作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差操作</a:t>
            </a:r>
          </a:p>
        </p:txBody>
      </p:sp>
      <p:sp>
        <p:nvSpPr>
          <p:cNvPr id="2" name="矩形 1"/>
          <p:cNvSpPr/>
          <p:nvPr/>
        </p:nvSpPr>
        <p:spPr>
          <a:xfrm>
            <a:off x="4313693" y="3600884"/>
            <a:ext cx="3695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谢谢观看！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500</Words>
  <Application>Microsoft Macintosh PowerPoint</Application>
  <PresentationFormat>宽屏</PresentationFormat>
  <Paragraphs>88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宋体</vt:lpstr>
      <vt:lpstr>微软雅黑</vt:lpstr>
      <vt:lpstr>Arial</vt:lpstr>
      <vt:lpstr>Calibri</vt:lpstr>
      <vt:lpstr>Calibri Light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1305</cp:revision>
  <dcterms:created xsi:type="dcterms:W3CDTF">2014-07-02T10:42:00Z</dcterms:created>
  <dcterms:modified xsi:type="dcterms:W3CDTF">2025-09-23T14:23:45Z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2052-11.1.0.10700</vt:lpwstr>
  </property>
  <property fmtid="{D5CDD505-2E9C-101B-9397-08002B2CF9AE}" pid="4" name="ICV">
    <vt:lpwstr>F7767443D39144C79FC1849EF5EA1C14</vt:lpwstr>
  </property>
</Properties>
</file>