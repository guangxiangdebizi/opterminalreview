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86" r:id="rId2"/>
    <p:sldId id="454" r:id="rId3"/>
    <p:sldId id="483" r:id="rId4"/>
    <p:sldId id="495" r:id="rId5"/>
    <p:sldId id="496" r:id="rId6"/>
    <p:sldId id="455" r:id="rId7"/>
    <p:sldId id="509" r:id="rId8"/>
    <p:sldId id="457" r:id="rId9"/>
    <p:sldId id="458" r:id="rId10"/>
    <p:sldId id="459" r:id="rId11"/>
    <p:sldId id="460" r:id="rId12"/>
    <p:sldId id="513" r:id="rId13"/>
    <p:sldId id="472" r:id="rId14"/>
    <p:sldId id="497" r:id="rId15"/>
    <p:sldId id="467" r:id="rId16"/>
    <p:sldId id="515" r:id="rId17"/>
    <p:sldId id="516" r:id="rId18"/>
    <p:sldId id="456" r:id="rId19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>
          <p15:clr>
            <a:srgbClr val="A4A3A4"/>
          </p15:clr>
        </p15:guide>
        <p15:guide id="2" orient="horz" pos="2876">
          <p15:clr>
            <a:srgbClr val="A4A3A4"/>
          </p15:clr>
        </p15:guide>
        <p15:guide id="3" orient="horz" pos="1298">
          <p15:clr>
            <a:srgbClr val="A4A3A4"/>
          </p15:clr>
        </p15:guide>
        <p15:guide id="4" pos="3840">
          <p15:clr>
            <a:srgbClr val="A4A3A4"/>
          </p15:clr>
        </p15:guide>
        <p15:guide id="5" pos="1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099">
          <p15:clr>
            <a:srgbClr val="A4A3A4"/>
          </p15:clr>
        </p15:guide>
        <p15:guide id="2" orient="horz" pos="2936">
          <p15:clr>
            <a:srgbClr val="A4A3A4"/>
          </p15:clr>
        </p15:guide>
        <p15:guide id="3" pos="2880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AD0"/>
    <a:srgbClr val="FF0000"/>
    <a:srgbClr val="002060"/>
    <a:srgbClr val="009900"/>
    <a:srgbClr val="1569F0"/>
    <a:srgbClr val="F79646"/>
    <a:srgbClr val="245D60"/>
    <a:srgbClr val="DD4633"/>
    <a:srgbClr val="CCCC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74146" autoAdjust="0"/>
  </p:normalViewPr>
  <p:slideViewPr>
    <p:cSldViewPr snapToGrid="0">
      <p:cViewPr varScale="1">
        <p:scale>
          <a:sx n="80" d="100"/>
          <a:sy n="80" d="100"/>
        </p:scale>
        <p:origin x="1856" y="192"/>
      </p:cViewPr>
      <p:guideLst>
        <p:guide orient="horz" pos="2166"/>
        <p:guide orient="horz" pos="2876"/>
        <p:guide orient="horz" pos="1298"/>
        <p:guide pos="3840"/>
        <p:guide pos="12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099"/>
        <p:guide orient="horz" pos="2936"/>
        <p:guide pos="2880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2025/9/23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53335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2556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zh-CN" altLang="en-US" sz="1200" b="1" kern="1200" dirty="0">
              <a:solidFill>
                <a:srgbClr val="FF3300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None/>
            </a:pPr>
            <a:endParaRPr lang="en-US" altLang="zh-CN" sz="1200" kern="12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 flipV="1">
            <a:off x="-1" y="6857999"/>
            <a:ext cx="12204000" cy="45719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  <p:pic>
        <p:nvPicPr>
          <p:cNvPr id="17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25"/>
            <a:ext cx="21066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51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2895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296303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7" name="Picture 2" descr="https://www.shiep.edu.cn/_upload/article/images/ae/f5/a315f22e46eba7886e93c3942349/e87d7fad-391a-42bc-b0b3-a522274164b9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" y="6063"/>
            <a:ext cx="1647588" cy="3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4876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sp>
        <p:nvSpPr>
          <p:cNvPr id="9" name="TextBox 1"/>
          <p:cNvSpPr>
            <a:spLocks noChangeArrowheads="1"/>
          </p:cNvSpPr>
          <p:nvPr/>
        </p:nvSpPr>
        <p:spPr bwMode="auto">
          <a:xfrm>
            <a:off x="2218540" y="975521"/>
            <a:ext cx="7345184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rIns="0">
            <a:spAutoFit/>
          </a:bodyPr>
          <a:lstStyle/>
          <a:p>
            <a:pPr algn="ctr"/>
            <a:endParaRPr lang="en-US" altLang="zh-CN" sz="5400" b="1" dirty="0">
              <a:solidFill>
                <a:srgbClr val="0058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细圆简体"/>
            </a:endParaRPr>
          </a:p>
          <a:p>
            <a:pPr algn="ctr"/>
            <a:r>
              <a:rPr lang="zh-CN" altLang="en-US" sz="5400" b="1" dirty="0">
                <a:solidFill>
                  <a:srgbClr val="0058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细圆简体"/>
              </a:rPr>
              <a:t>数据库原理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44074" y="1015661"/>
            <a:ext cx="8128000" cy="526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第三章    </a:t>
            </a:r>
            <a:r>
              <a:rPr lang="zh-CN" sz="4000" b="1" dirty="0">
                <a:solidFill>
                  <a:srgbClr val="003300"/>
                </a:solidFill>
              </a:rPr>
              <a:t>结构化查询语言</a:t>
            </a:r>
            <a:r>
              <a:rPr lang="en-US" altLang="zh-CN" sz="4000" b="1" dirty="0">
                <a:solidFill>
                  <a:srgbClr val="003300"/>
                </a:solidFill>
              </a:rPr>
              <a:t>SQL</a:t>
            </a:r>
          </a:p>
          <a:p>
            <a:pPr eaLnBrk="1" hangingPunct="1">
              <a:spcBef>
                <a:spcPct val="40000"/>
              </a:spcBef>
            </a:pPr>
            <a:endParaRPr lang="zh-CN" altLang="en-US" sz="4000" b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</a:rPr>
              <a:t>	3.1 SQL</a:t>
            </a:r>
            <a:r>
              <a:rPr lang="zh-CN" altLang="en-US" sz="3200" b="1" dirty="0">
                <a:solidFill>
                  <a:schemeClr val="tx1"/>
                </a:solidFill>
              </a:rPr>
              <a:t>概述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rgbClr val="FF0000"/>
                </a:solidFill>
              </a:rPr>
              <a:t>3.2 </a:t>
            </a:r>
            <a:r>
              <a:rPr lang="zh-CN" altLang="en-US" sz="3200" b="1" dirty="0">
                <a:solidFill>
                  <a:srgbClr val="FF0000"/>
                </a:solidFill>
              </a:rPr>
              <a:t>数据定义语句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3.3 </a:t>
            </a:r>
            <a:r>
              <a:rPr lang="zh-CN" altLang="en-US" sz="3200" b="1" dirty="0"/>
              <a:t>查询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/>
              <a:t>        </a:t>
            </a:r>
            <a:r>
              <a:rPr lang="en-US" altLang="zh-CN" sz="3200" b="1" dirty="0">
                <a:sym typeface="+mn-ea"/>
              </a:rPr>
              <a:t>3.4 </a:t>
            </a:r>
            <a:r>
              <a:rPr lang="zh-CN" altLang="en-US" sz="3200" b="1" dirty="0">
                <a:sym typeface="+mn-ea"/>
              </a:rPr>
              <a:t>数据更新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ym typeface="+mn-ea"/>
              </a:rPr>
              <a:t>	3.5 </a:t>
            </a:r>
            <a:r>
              <a:rPr lang="zh-CN" altLang="en-US" sz="3200" b="1" dirty="0">
                <a:sym typeface="+mn-ea"/>
              </a:rPr>
              <a:t>视图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graphicFrame>
        <p:nvGraphicFramePr>
          <p:cNvPr id="113703" name="Group 3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86535" y="1454785"/>
          <a:ext cx="8445500" cy="3288665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14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对象</a:t>
                      </a:r>
                    </a:p>
                  </a:txBody>
                  <a:tcPr marL="68571" marR="68571" marT="34281" marB="3428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操作方式</a:t>
                      </a: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</a:t>
                      </a: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删除</a:t>
                      </a: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修改</a:t>
                      </a: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</a:t>
                      </a:r>
                    </a:p>
                  </a:txBody>
                  <a:tcPr marL="68571" marR="68571" marT="34281" marB="3428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CREAT TABLE</a:t>
                      </a: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DROP TABLE</a:t>
                      </a: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ALTER TABLE</a:t>
                      </a: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视图</a:t>
                      </a:r>
                    </a:p>
                  </a:txBody>
                  <a:tcPr marL="68571" marR="68571" marT="34281" marB="3428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CREAT VIEW</a:t>
                      </a: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DROP VIEW</a:t>
                      </a: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索引</a:t>
                      </a:r>
                    </a:p>
                  </a:txBody>
                  <a:tcPr marL="68571" marR="68571" marT="34281" marB="3428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CREAT INDEX</a:t>
                      </a: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DROP INDEX</a:t>
                      </a: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1" marR="68571" marT="34281" marB="342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705860" y="948055"/>
            <a:ext cx="2896870" cy="4235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eaLnBrk="1" hangingPunct="1">
              <a:lnSpc>
                <a:spcPct val="90000"/>
              </a:lnSpc>
              <a:buClr>
                <a:srgbClr val="FFFF66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的数据定义语句</a:t>
            </a:r>
          </a:p>
        </p:txBody>
      </p:sp>
      <p:sp>
        <p:nvSpPr>
          <p:cNvPr id="113702" name="Text Box 38"/>
          <p:cNvSpPr txBox="1"/>
          <p:nvPr/>
        </p:nvSpPr>
        <p:spPr>
          <a:xfrm>
            <a:off x="1239203" y="5383213"/>
            <a:ext cx="8939212" cy="460375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通常不提供修改视图定义和索引定义的操作。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1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70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补充：数据库的定义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2" name="Rectangle 3"/>
          <p:cNvSpPr>
            <a:spLocks noGrp="1"/>
          </p:cNvSpPr>
          <p:nvPr/>
        </p:nvSpPr>
        <p:spPr>
          <a:xfrm>
            <a:off x="505778" y="851535"/>
            <a:ext cx="8382000" cy="6858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FFFF66"/>
              </a:buClr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数据库定义语句：</a:t>
            </a:r>
          </a:p>
        </p:txBody>
      </p:sp>
      <p:sp>
        <p:nvSpPr>
          <p:cNvPr id="15363" name="Rectangle 4"/>
          <p:cNvSpPr/>
          <p:nvPr/>
        </p:nvSpPr>
        <p:spPr>
          <a:xfrm>
            <a:off x="250825" y="1537335"/>
            <a:ext cx="8893175" cy="424732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CREATE DATABASE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</a:t>
            </a:r>
            <a:r>
              <a:rPr lang="zh-CN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名&gt;</a:t>
            </a:r>
            <a:endParaRPr lang="en-US" altLang="zh-CN" sz="2400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补充：数据库的定义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715" name="Rectangle 3"/>
          <p:cNvSpPr>
            <a:spLocks noGrp="1"/>
          </p:cNvSpPr>
          <p:nvPr/>
        </p:nvSpPr>
        <p:spPr>
          <a:xfrm>
            <a:off x="1623060" y="1691640"/>
            <a:ext cx="8403590" cy="60325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CREATE DATABASE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SampleDB;</a:t>
            </a:r>
          </a:p>
        </p:txBody>
      </p:sp>
      <p:sp>
        <p:nvSpPr>
          <p:cNvPr id="16387" name="Rectangle 4"/>
          <p:cNvSpPr/>
          <p:nvPr/>
        </p:nvSpPr>
        <p:spPr>
          <a:xfrm>
            <a:off x="420370" y="1049655"/>
            <a:ext cx="113830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电力抢修工程数据库的数据库名为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SampleDB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，建立电力抢修工程数据库的命令：</a:t>
            </a:r>
          </a:p>
        </p:txBody>
      </p:sp>
      <p:sp>
        <p:nvSpPr>
          <p:cNvPr id="115717" name="Rectangle 5"/>
          <p:cNvSpPr/>
          <p:nvPr/>
        </p:nvSpPr>
        <p:spPr>
          <a:xfrm>
            <a:off x="1087120" y="2732405"/>
            <a:ext cx="6148705" cy="68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删除数据库语句：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718" name="Rectangle 6"/>
          <p:cNvSpPr/>
          <p:nvPr/>
        </p:nvSpPr>
        <p:spPr>
          <a:xfrm>
            <a:off x="1484630" y="3347720"/>
            <a:ext cx="10707370" cy="42354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DROP DATABASE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</a:t>
            </a:r>
            <a:r>
              <a:rPr lang="zh-CN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名&gt;</a:t>
            </a:r>
            <a:endParaRPr lang="en-US" altLang="zh-CN" sz="2400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5719" name="Rectangle 7"/>
          <p:cNvSpPr/>
          <p:nvPr/>
        </p:nvSpPr>
        <p:spPr>
          <a:xfrm>
            <a:off x="420370" y="4002405"/>
            <a:ext cx="8114030" cy="575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DROP DATABASE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SampleDB;</a:t>
            </a:r>
          </a:p>
        </p:txBody>
      </p:sp>
      <p:pic>
        <p:nvPicPr>
          <p:cNvPr id="16391" name="Picture 8" descr="j02055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650" y="4408488"/>
            <a:ext cx="1776413" cy="16303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build="p"/>
      <p:bldP spid="115717" grpId="0"/>
      <p:bldP spid="115718" grpId="0"/>
      <p:bldP spid="1157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基本表的定义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60" name="Rectangle 4"/>
          <p:cNvSpPr/>
          <p:nvPr/>
        </p:nvSpPr>
        <p:spPr>
          <a:xfrm>
            <a:off x="975995" y="1069340"/>
            <a:ext cx="8726805" cy="249047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CREATE TABLE &lt;</a:t>
            </a:r>
            <a:r>
              <a:rPr lang="zh-CN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表名&gt;</a:t>
            </a:r>
            <a:endParaRPr lang="en-US" altLang="zh-CN" sz="2400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 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数据类型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&gt;[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列级完整性约束条件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</a:p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[,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数据类型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&gt;[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列级完整性约束条件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]]</a:t>
            </a:r>
          </a:p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…</a:t>
            </a:r>
          </a:p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[,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表级完整性约束条件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);</a:t>
            </a:r>
          </a:p>
        </p:txBody>
      </p:sp>
      <p:sp>
        <p:nvSpPr>
          <p:cNvPr id="121861" name="Text Box 5"/>
          <p:cNvSpPr txBox="1"/>
          <p:nvPr/>
        </p:nvSpPr>
        <p:spPr>
          <a:xfrm>
            <a:off x="584835" y="5046980"/>
            <a:ext cx="10595610" cy="82994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若完整性约束条件涉及多个属性列，则必须定义在表级上，否则即可定义在列级也可定义在表级。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8035" y="3848100"/>
            <a:ext cx="1110107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eaLnBrk="1" latinLnBrk="0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&lt;列级完整性约束条件&gt;：涉及相应属性列的完整性约束条件。</a:t>
            </a:r>
          </a:p>
          <a:p>
            <a:pPr marL="342900" indent="-342900" eaLnBrk="1" latinLnBrk="0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&lt;表级完整性约束条件&gt;：涉及一个或多个属性列的完整性约束条件</a:t>
            </a:r>
          </a:p>
          <a:p>
            <a:pPr marL="342900" indent="-342900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/>
      <p:bldP spid="121861" grpId="0"/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3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基本表的定义</a:t>
            </a:r>
          </a:p>
        </p:txBody>
      </p:sp>
      <p:sp>
        <p:nvSpPr>
          <p:cNvPr id="22532" name="Rectangle 4"/>
          <p:cNvSpPr/>
          <p:nvPr/>
        </p:nvSpPr>
        <p:spPr>
          <a:xfrm>
            <a:off x="918845" y="810260"/>
            <a:ext cx="1035431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FF66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定义表的各个属性时需要指明其数据类型及长度。要注意，不同的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RDBMS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支持的数据类型不完全相同。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978660" y="1729105"/>
            <a:ext cx="8233410" cy="4766310"/>
            <a:chOff x="3116" y="2723"/>
            <a:chExt cx="12966" cy="7506"/>
          </a:xfrm>
        </p:grpSpPr>
        <p:pic>
          <p:nvPicPr>
            <p:cNvPr id="22530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6" y="2723"/>
              <a:ext cx="12967" cy="750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" name="矩形 3"/>
            <p:cNvSpPr/>
            <p:nvPr/>
          </p:nvSpPr>
          <p:spPr>
            <a:xfrm>
              <a:off x="12214" y="5878"/>
              <a:ext cx="248" cy="3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</a:rPr>
                <a:t>S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3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基本表的定义</a:t>
            </a:r>
          </a:p>
        </p:txBody>
      </p:sp>
      <p:sp>
        <p:nvSpPr>
          <p:cNvPr id="140290" name="Rectangle 2"/>
          <p:cNvSpPr/>
          <p:nvPr/>
        </p:nvSpPr>
        <p:spPr>
          <a:xfrm>
            <a:off x="728980" y="1026160"/>
            <a:ext cx="10255885" cy="345630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　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创建表语句中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常用完整性约束：</a:t>
            </a:r>
          </a:p>
          <a:p>
            <a:pPr marL="800100" lvl="1" indent="-342900" eaLnBrk="1" latinLnBrk="0" hangingPunct="1">
              <a:lnSpc>
                <a:spcPct val="150000"/>
              </a:lnSpc>
              <a:spcBef>
                <a:spcPts val="0"/>
              </a:spcBef>
              <a:buSzPct val="50000"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主码约束：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PRIMARY  KEY</a:t>
            </a:r>
          </a:p>
          <a:p>
            <a:pPr marL="800100" lvl="1" indent="-342900" eaLnBrk="1" latinLnBrk="0" hangingPunct="1">
              <a:lnSpc>
                <a:spcPct val="150000"/>
              </a:lnSpc>
              <a:spcBef>
                <a:spcPts val="0"/>
              </a:spcBef>
              <a:buSzPct val="50000"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唯一性约束：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UNIQUE</a:t>
            </a:r>
          </a:p>
          <a:p>
            <a:pPr marL="800100" lvl="1" indent="-342900" eaLnBrk="1" latinLnBrk="0" hangingPunct="1">
              <a:lnSpc>
                <a:spcPct val="150000"/>
              </a:lnSpc>
              <a:spcBef>
                <a:spcPts val="0"/>
              </a:spcBef>
              <a:buSzPct val="50000"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非空值约束：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NOT NULL</a:t>
            </a:r>
          </a:p>
          <a:p>
            <a:pPr marL="800100" lvl="1" indent="-342900" eaLnBrk="1" latinLnBrk="0" hangingPunct="1">
              <a:lnSpc>
                <a:spcPct val="150000"/>
              </a:lnSpc>
              <a:spcBef>
                <a:spcPts val="0"/>
              </a:spcBef>
              <a:buSzPct val="50000"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参照完整性约束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FOREIGN KEY REFERENCES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引用表名（引用列）</a:t>
            </a:r>
          </a:p>
          <a:p>
            <a:pPr marL="800100" lvl="1" indent="-342900" eaLnBrk="1" latinLnBrk="0" hangingPunct="1">
              <a:lnSpc>
                <a:spcPct val="150000"/>
              </a:lnSpc>
              <a:spcBef>
                <a:spcPts val="0"/>
              </a:spcBef>
              <a:buSzPct val="50000"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检查约束：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CHECK(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检查表达式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marL="800100" lvl="1" indent="-342900" eaLnBrk="1" latinLnBrk="0" hangingPunct="1">
              <a:lnSpc>
                <a:spcPct val="150000"/>
              </a:lnSpc>
              <a:spcBef>
                <a:spcPts val="0"/>
              </a:spcBef>
              <a:buSzPct val="50000"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默认值约束：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DEFAULT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默认值</a:t>
            </a:r>
          </a:p>
          <a:p>
            <a:pPr marL="800100" lvl="1" indent="-342900" eaLnBrk="1" hangingPunct="1">
              <a:spcBef>
                <a:spcPct val="20000"/>
              </a:spcBef>
              <a:buChar char="–"/>
            </a:pPr>
            <a:endParaRPr lang="zh-CN" altLang="en-US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基本表的定义</a:t>
            </a:r>
          </a:p>
        </p:txBody>
      </p:sp>
      <p:sp>
        <p:nvSpPr>
          <p:cNvPr id="20481" name="Rectangle 2"/>
          <p:cNvSpPr/>
          <p:nvPr/>
        </p:nvSpPr>
        <p:spPr>
          <a:xfrm>
            <a:off x="480060" y="1459230"/>
            <a:ext cx="10922000" cy="398843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171450" indent="-171450" algn="l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18865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2294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25723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29152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 “抢修工程计划表”表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Salvaging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Salvaging(prj_num, prj_name, start_date, end_date, prj_status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CREATE TABLE Salvaging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(  prj_num char(8)  PRIMARY KEY ,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/*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列级完整性约束，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prj_num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是主码*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  prj_name varchar(50) 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  start_date datetime 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  end_date datetime 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  prj_status bit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);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</p:txBody>
      </p:sp>
      <p:sp>
        <p:nvSpPr>
          <p:cNvPr id="9" name="Rectangle 2"/>
          <p:cNvSpPr txBox="1"/>
          <p:nvPr/>
        </p:nvSpPr>
        <p:spPr>
          <a:xfrm>
            <a:off x="7697470" y="2837180"/>
            <a:ext cx="3909060" cy="215646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各属性含义如下：</a:t>
            </a: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工程项目编号：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prj_num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工程项目名称：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prj_name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开始日期：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start_date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结束日期：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end_date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是否按期完成：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prj_status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64490" y="868045"/>
            <a:ext cx="9472930" cy="3860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本章所有例子均来自电力抢修工程数据库，该数据库包括三个表。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20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20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20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2000"/>
                                        <p:tgtEl>
                                          <p:spTgt spid="204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2" dur="2000"/>
                                        <p:tgtEl>
                                          <p:spTgt spid="204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204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2000"/>
                                        <p:tgtEl>
                                          <p:spTgt spid="204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1" dur="2000"/>
                                        <p:tgtEl>
                                          <p:spTgt spid="204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0241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14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基本表的定义</a:t>
            </a:r>
          </a:p>
        </p:txBody>
      </p:sp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647700" y="767715"/>
            <a:ext cx="10896600" cy="57118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3.2】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建立一个“配电物资库存记录表”表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Stock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Stock(mat_num, mat_name, speci, warehouse, amount, unit,total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CREATE TABLE Stock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  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mat_num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char(4)  PRIMARY KEY,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mat_name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varchar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(50)  NOT NULL,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speci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varchar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(20)  NOT NULL,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warehouse char(20) NULL ,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4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amount  </a:t>
            </a:r>
            <a:r>
              <a:rPr lang="en-US" altLang="zh-CN" sz="240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</a:t>
            </a:r>
            <a:r>
              <a:rPr lang="en-US" altLang="zh-CN" sz="24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NULL check(amount&gt;0),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unit decimal(18, 2) ,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CHECK(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mat_num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like'[m][0-9][0-9][0-9]'),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</a:p>
        </p:txBody>
      </p:sp>
      <p:sp>
        <p:nvSpPr>
          <p:cNvPr id="15" name="Rectangle 2"/>
          <p:cNvSpPr txBox="1"/>
          <p:nvPr/>
        </p:nvSpPr>
        <p:spPr>
          <a:xfrm>
            <a:off x="7767320" y="2221230"/>
            <a:ext cx="4016375" cy="2889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各属性含义如下：</a:t>
            </a: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物资编号：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mat_num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物资名称：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mat_name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规格：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speci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仓库名称：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warehouse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数量：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amount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单价：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unit</a:t>
            </a: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总金额：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total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45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145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145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145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145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45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145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2000"/>
                                        <p:tgtEl>
                                          <p:spTgt spid="1454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2000"/>
                                        <p:tgtEl>
                                          <p:spTgt spid="1454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19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基本表的定义</a:t>
            </a:r>
          </a:p>
        </p:txBody>
      </p:sp>
      <p:sp>
        <p:nvSpPr>
          <p:cNvPr id="21506" name="Rectangle 2"/>
          <p:cNvSpPr/>
          <p:nvPr/>
        </p:nvSpPr>
        <p:spPr>
          <a:xfrm>
            <a:off x="648970" y="845820"/>
            <a:ext cx="11370310" cy="451358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171450" indent="-171450" algn="l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18865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2294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25723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29152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建立一个“配电物资领料出库表”表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Out_stock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Out_stock(prj_num, mat_num, amount, get_date, department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  <a:p>
            <a:pPr eaLnBrk="1" hangingPunct="1">
              <a:lnSpc>
                <a:spcPct val="80000"/>
              </a:lnSpc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CREATE TABLE Out_stock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   prj_num char(8) 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mat_num char(4) 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amount int 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get_date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datetime default NOW()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department char(20) 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PRIMARY KEY(prj_num,mat_num),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/*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主码由两个属性构成，必须作为表级完整性约束 *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FOREIGN KEY (prj_num) REFERENCES Salvaging(prj_num),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FOREIGN KEY (mat_num) REFERENCES Stock(</a:t>
            </a:r>
            <a:r>
              <a:rPr lang="en-US" altLang="zh-CN" sz="2400" dirty="0" err="1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mat_num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</a:p>
        </p:txBody>
      </p:sp>
      <p:sp>
        <p:nvSpPr>
          <p:cNvPr id="20" name="Rectangle 2"/>
          <p:cNvSpPr txBox="1"/>
          <p:nvPr/>
        </p:nvSpPr>
        <p:spPr>
          <a:xfrm>
            <a:off x="7137400" y="2182495"/>
            <a:ext cx="4364990" cy="1510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各属性含义如下：</a:t>
            </a: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工程项目编号：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prj_num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物资编号：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mat_num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领取数量：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amount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领料日期：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get_date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领料部门：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department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2000"/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2000"/>
                                        <p:tgtEl>
                                          <p:spTgt spid="215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2000"/>
                                        <p:tgtEl>
                                          <p:spTgt spid="215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15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7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基本表的修改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052" name="Rectangle 4"/>
          <p:cNvSpPr/>
          <p:nvPr/>
        </p:nvSpPr>
        <p:spPr>
          <a:xfrm>
            <a:off x="1196975" y="814070"/>
            <a:ext cx="9069070" cy="197358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ALTER TABLE &lt;表名&gt;</a:t>
            </a:r>
          </a:p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[ADD &lt;新列名&gt;&lt;数据类型&gt; | [完整性约束]]</a:t>
            </a:r>
          </a:p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[DROP COLUMN &lt;列名&gt;  | &lt;完整性约束名&gt;]</a:t>
            </a:r>
          </a:p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[MODIFY COLUMN &lt;列名&gt;  &lt;数据类型&gt; &lt;完整性约束&gt;]</a:t>
            </a:r>
          </a:p>
        </p:txBody>
      </p:sp>
      <p:sp>
        <p:nvSpPr>
          <p:cNvPr id="130053" name="Text Box 5"/>
          <p:cNvSpPr txBox="1"/>
          <p:nvPr/>
        </p:nvSpPr>
        <p:spPr>
          <a:xfrm>
            <a:off x="850900" y="2787650"/>
            <a:ext cx="10044430" cy="134683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其中：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ADD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－增加新列和新的完整性约束条件；</a:t>
            </a:r>
          </a:p>
          <a:p>
            <a:pPr>
              <a:spcBef>
                <a:spcPct val="20000"/>
              </a:spcBef>
              <a:buClr>
                <a:schemeClr val="accent1"/>
              </a:buClr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DROP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－删除指定列或者完整性约束条件；</a:t>
            </a:r>
          </a:p>
          <a:p>
            <a:pPr>
              <a:spcBef>
                <a:spcPct val="20000"/>
              </a:spcBef>
              <a:buClr>
                <a:schemeClr val="accent1"/>
              </a:buClr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MODIFY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－修改原有的列定义，包括修改列名和数据类型。</a:t>
            </a:r>
          </a:p>
        </p:txBody>
      </p:sp>
      <p:sp>
        <p:nvSpPr>
          <p:cNvPr id="131082" name="Rectangle 10"/>
          <p:cNvSpPr/>
          <p:nvPr/>
        </p:nvSpPr>
        <p:spPr>
          <a:xfrm>
            <a:off x="744379" y="5886768"/>
            <a:ext cx="577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注意：修改原有的列定义有可能会破坏已有数据。</a:t>
            </a:r>
          </a:p>
        </p:txBody>
      </p:sp>
    </p:spTree>
    <p:extLst>
      <p:ext uri="{BB962C8B-B14F-4D97-AF65-F5344CB8AC3E}">
        <p14:creationId xmlns:p14="http://schemas.microsoft.com/office/powerpoint/2010/main" val="10581346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2" grpId="0"/>
      <p:bldP spid="130053" grpId="0"/>
      <p:bldP spid="13108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基本表的修改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2" name="Rectangle 3"/>
          <p:cNvSpPr>
            <a:spLocks noGrp="1"/>
          </p:cNvSpPr>
          <p:nvPr/>
        </p:nvSpPr>
        <p:spPr>
          <a:xfrm>
            <a:off x="245745" y="880110"/>
            <a:ext cx="11184890" cy="51435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171450" indent="-171450" algn="l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18865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2294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25723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2915285" indent="-171450" algn="l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向抢修工程计划表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Salvaging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增加“工程项目负责人”列，数据类型为字符型。</a:t>
            </a:r>
          </a:p>
        </p:txBody>
      </p:sp>
      <p:sp>
        <p:nvSpPr>
          <p:cNvPr id="131076" name="Text Box 4"/>
          <p:cNvSpPr txBox="1"/>
          <p:nvPr/>
        </p:nvSpPr>
        <p:spPr>
          <a:xfrm>
            <a:off x="631825" y="1698625"/>
            <a:ext cx="10238105" cy="46037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 Salvaging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ADD prj_director VARCHAR(10);</a:t>
            </a:r>
          </a:p>
        </p:txBody>
      </p:sp>
      <p:sp>
        <p:nvSpPr>
          <p:cNvPr id="131081" name="Rectangle 9"/>
          <p:cNvSpPr/>
          <p:nvPr/>
        </p:nvSpPr>
        <p:spPr>
          <a:xfrm>
            <a:off x="442119" y="2219166"/>
            <a:ext cx="754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注意：不论基本表中原来是否已有数据，新增加的列一律为空值。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46050" y="2809240"/>
            <a:ext cx="1204595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问题：若表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salvaging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中已有若干记录，再执行如下命令：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ALTER TABLE salvaging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ADD prj_director  VARCHAR(10) not null;        </a:t>
            </a:r>
          </a:p>
          <a:p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会成功吗？</a:t>
            </a:r>
          </a:p>
          <a:p>
            <a:endParaRPr lang="zh-CN" altLang="en-US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问题：若表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salvaging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中已有若干记录，再执行如下命令：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ALTER TABLE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alvaging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ADD prj_director  VARCHAR(10) not null  default  </a:t>
            </a:r>
            <a:r>
              <a:rPr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'张三'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      </a:t>
            </a:r>
          </a:p>
          <a:p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会成功吗？</a:t>
            </a:r>
            <a:endParaRPr lang="zh-CN" altLang="en-US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/>
      <p:bldP spid="13108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15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基本表的修改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077" name="Text Box 5"/>
          <p:cNvSpPr txBox="1"/>
          <p:nvPr/>
        </p:nvSpPr>
        <p:spPr>
          <a:xfrm>
            <a:off x="375285" y="983615"/>
            <a:ext cx="11144250" cy="46037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3.5】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删除抢修工程计划表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Salvaging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中“工程项目负责人”的属性列。</a:t>
            </a:r>
          </a:p>
        </p:txBody>
      </p:sp>
      <p:sp>
        <p:nvSpPr>
          <p:cNvPr id="131078" name="Text Box 6"/>
          <p:cNvSpPr txBox="1"/>
          <p:nvPr/>
        </p:nvSpPr>
        <p:spPr>
          <a:xfrm>
            <a:off x="1005999" y="1666875"/>
            <a:ext cx="7772400" cy="4603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 Salvaging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DROP COLUMN prj_director; </a:t>
            </a:r>
          </a:p>
        </p:txBody>
      </p:sp>
      <p:sp>
        <p:nvSpPr>
          <p:cNvPr id="131082" name="Rectangle 10"/>
          <p:cNvSpPr/>
          <p:nvPr/>
        </p:nvSpPr>
        <p:spPr>
          <a:xfrm>
            <a:off x="658654" y="4346893"/>
            <a:ext cx="577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注意：修改原有的列定义有可能会破坏已有数据。</a:t>
            </a:r>
          </a:p>
        </p:txBody>
      </p:sp>
      <p:sp>
        <p:nvSpPr>
          <p:cNvPr id="11" name="Text Box 7"/>
          <p:cNvSpPr txBox="1"/>
          <p:nvPr/>
        </p:nvSpPr>
        <p:spPr>
          <a:xfrm>
            <a:off x="271145" y="2592070"/>
            <a:ext cx="11352530" cy="82994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【例3.6】将配电物资领料出库表Out_stock中领取部门的数据类型改为可变长度字符类型。</a:t>
            </a:r>
          </a:p>
        </p:txBody>
      </p:sp>
      <p:sp>
        <p:nvSpPr>
          <p:cNvPr id="12" name="Text Box 8"/>
          <p:cNvSpPr txBox="1"/>
          <p:nvPr/>
        </p:nvSpPr>
        <p:spPr>
          <a:xfrm>
            <a:off x="1966595" y="3388995"/>
            <a:ext cx="9571990" cy="829945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 Out_stock </a:t>
            </a:r>
          </a:p>
          <a:p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MODIFY COLUMN department varchar(20) NOT NULL;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7" grpId="0"/>
      <p:bldP spid="131078" grpId="0"/>
      <p:bldP spid="131082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3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基本表的删除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24" name="Rectangle 4"/>
          <p:cNvSpPr/>
          <p:nvPr/>
        </p:nvSpPr>
        <p:spPr>
          <a:xfrm>
            <a:off x="1344375" y="1030050"/>
            <a:ext cx="5818584" cy="42354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DROP TABLE &lt;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表名&gt;</a:t>
            </a:r>
          </a:p>
        </p:txBody>
      </p:sp>
      <p:sp>
        <p:nvSpPr>
          <p:cNvPr id="133125" name="Text Box 5"/>
          <p:cNvSpPr txBox="1"/>
          <p:nvPr/>
        </p:nvSpPr>
        <p:spPr>
          <a:xfrm>
            <a:off x="426720" y="1591310"/>
            <a:ext cx="5029200" cy="4603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lvl="1" indent="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DROP TABLE Out_stock;</a:t>
            </a:r>
            <a:endParaRPr lang="en-US" altLang="zh-CN" sz="2400" dirty="0">
              <a:solidFill>
                <a:srgbClr val="FFFF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26" name="Text Box 6"/>
          <p:cNvSpPr txBox="1">
            <a:spLocks noChangeArrowheads="1"/>
          </p:cNvSpPr>
          <p:nvPr/>
        </p:nvSpPr>
        <p:spPr bwMode="auto">
          <a:xfrm>
            <a:off x="6494780" y="2459990"/>
            <a:ext cx="2978785" cy="19380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R="0" defTabSz="91440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DANGER</a:t>
            </a:r>
            <a:r>
              <a:rPr kumimoji="1" lang="zh-CN" altLang="en-US" sz="2400" kern="1200" cap="none" spc="0" normalizeH="0" baseline="0" noProof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kumimoji="1" lang="zh-CN" altLang="en-US" sz="240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基本表一旦删除，则表中的数据，以及在其基础上建立的索引和视图都将自动删除。</a:t>
            </a:r>
          </a:p>
        </p:txBody>
      </p:sp>
      <p:graphicFrame>
        <p:nvGraphicFramePr>
          <p:cNvPr id="26629" name="Object 7"/>
          <p:cNvGraphicFramePr>
            <a:graphicFrameLocks noChangeAspect="1"/>
          </p:cNvGraphicFramePr>
          <p:nvPr/>
        </p:nvGraphicFramePr>
        <p:xfrm>
          <a:off x="9899015" y="1198880"/>
          <a:ext cx="1369695" cy="1448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r:id="rId4" imgW="4017010" imgH="3945255" progId="MS_ClipArt_Gallery.2">
                  <p:embed/>
                </p:oleObj>
              </mc:Choice>
              <mc:Fallback>
                <p:oleObj r:id="rId4" imgW="4017010" imgH="3945255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99015" y="1198880"/>
                        <a:ext cx="1369695" cy="14484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9" name="Rectangle 9"/>
          <p:cNvSpPr/>
          <p:nvPr/>
        </p:nvSpPr>
        <p:spPr>
          <a:xfrm>
            <a:off x="661670" y="2390775"/>
            <a:ext cx="5407660" cy="30469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00000"/>
              </a:lnSpc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基本表的删除是有限制条件的，欲删除的基本表不能被其他表的约束所引用。如果存在这些依赖该表的对象，则此表不能被删除。</a:t>
            </a:r>
          </a:p>
          <a:p>
            <a:pPr eaLnBrk="1" latinLnBrk="0" hangingPunct="1">
              <a:lnSpc>
                <a:spcPct val="10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若执行：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DROP TABLE Stock;</a:t>
            </a: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因为表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stock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被表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out_stock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外键引用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系统将会弹出提示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不能删除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</a:p>
        </p:txBody>
      </p:sp>
      <p:pic>
        <p:nvPicPr>
          <p:cNvPr id="3083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28" y="5509895"/>
            <a:ext cx="11471564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4" grpId="0"/>
      <p:bldP spid="133125" grpId="0"/>
      <p:bldP spid="133126" grpId="0" bldLvl="0" animBg="1"/>
      <p:bldP spid="1331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3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添加与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24" name="Rectangle 4"/>
          <p:cNvSpPr/>
          <p:nvPr/>
        </p:nvSpPr>
        <p:spPr>
          <a:xfrm>
            <a:off x="434340" y="1030050"/>
            <a:ext cx="10386060" cy="2677656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基本表的约束有：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主键约束、外键约束、非空约束、唯一性约束、用户自定义的约束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等，可以在创建表时创建（列级约束还可以在修改表的结构时创建），也可以在表已经创建完成后再添加或删除约束。</a:t>
            </a:r>
          </a:p>
          <a:p>
            <a:endParaRPr lang="en-US" altLang="zh-CN" sz="2400" dirty="0"/>
          </a:p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其一般格式为：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ALTER TABLE </a:t>
            </a:r>
            <a:r>
              <a:rPr lang="en-US" altLang="zh-CN" sz="2400" dirty="0"/>
              <a:t>&lt;</a:t>
            </a:r>
            <a:r>
              <a:rPr lang="zh-CN" altLang="zh-CN" sz="2400" dirty="0"/>
              <a:t>表名</a:t>
            </a:r>
            <a:r>
              <a:rPr lang="en-US" altLang="zh-CN" sz="2400" dirty="0"/>
              <a:t>&gt; [</a:t>
            </a:r>
            <a:r>
              <a:rPr lang="en-US" altLang="zh-CN" sz="2400" dirty="0">
                <a:solidFill>
                  <a:srgbClr val="FF0000"/>
                </a:solidFill>
              </a:rPr>
              <a:t>ADD CONSTRAINT  </a:t>
            </a:r>
            <a:r>
              <a:rPr lang="en-US" altLang="zh-CN" sz="2400" dirty="0"/>
              <a:t>&lt;</a:t>
            </a:r>
            <a:r>
              <a:rPr lang="zh-CN" altLang="zh-CN" sz="2400" dirty="0"/>
              <a:t>约束名</a:t>
            </a:r>
            <a:r>
              <a:rPr lang="en-US" altLang="zh-CN" sz="2400" dirty="0"/>
              <a:t>&gt;  &lt;</a:t>
            </a:r>
            <a:r>
              <a:rPr lang="zh-CN" altLang="zh-CN" sz="2400" dirty="0"/>
              <a:t>约束表达式</a:t>
            </a:r>
            <a:r>
              <a:rPr lang="en-US" altLang="zh-CN" sz="2400" dirty="0"/>
              <a:t>&gt;]</a:t>
            </a:r>
            <a:endParaRPr lang="zh-CN" altLang="zh-CN" sz="2400" dirty="0"/>
          </a:p>
          <a:p>
            <a:r>
              <a:rPr lang="en-US" altLang="zh-CN" sz="2400" dirty="0"/>
              <a:t>                                     [</a:t>
            </a:r>
            <a:r>
              <a:rPr lang="en-US" altLang="zh-CN" sz="2400" dirty="0">
                <a:solidFill>
                  <a:srgbClr val="FF0000"/>
                </a:solidFill>
              </a:rPr>
              <a:t>DROP CONSTRAINT  </a:t>
            </a:r>
            <a:r>
              <a:rPr lang="en-US" altLang="zh-CN" sz="2400" dirty="0"/>
              <a:t>&lt;</a:t>
            </a:r>
            <a:r>
              <a:rPr lang="zh-CN" altLang="zh-CN" sz="2400" dirty="0"/>
              <a:t>约束名</a:t>
            </a:r>
            <a:r>
              <a:rPr lang="en-US" altLang="zh-CN" sz="2400" dirty="0"/>
              <a:t>&gt;];</a:t>
            </a:r>
            <a:endParaRPr lang="zh-CN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4340" y="4084320"/>
            <a:ext cx="10886698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3.8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 假设创建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out_stock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表时没有同时创建外键，可以再添加外键约束。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ALTER TABLE 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out_stock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ADD  CONSTRAINT 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FK_Salvaging_Out_stock</a:t>
            </a:r>
            <a:endParaRPr lang="zh-CN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FOREIGN KEY (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prj_num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    REFERENCES  salvaging (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prj_num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endParaRPr lang="zh-CN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31689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数据定义语句</a:t>
            </a:r>
          </a:p>
        </p:txBody>
      </p:sp>
      <p:sp>
        <p:nvSpPr>
          <p:cNvPr id="3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添加与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24" name="Rectangle 4"/>
          <p:cNvSpPr/>
          <p:nvPr/>
        </p:nvSpPr>
        <p:spPr>
          <a:xfrm>
            <a:off x="373380" y="930990"/>
            <a:ext cx="10386060" cy="2677656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3.9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】删除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out_stock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表中的外键约束</a:t>
            </a:r>
          </a:p>
          <a:p>
            <a:r>
              <a:rPr lang="en-US" altLang="zh-CN" sz="2400" dirty="0"/>
              <a:t>      </a:t>
            </a:r>
            <a:r>
              <a:rPr lang="en-US" altLang="zh-CN" sz="2400" dirty="0">
                <a:solidFill>
                  <a:srgbClr val="FF0000"/>
                </a:solidFill>
              </a:rPr>
              <a:t>ALTER TABLE  </a:t>
            </a:r>
            <a:r>
              <a:rPr lang="en-US" altLang="zh-CN" sz="2400" dirty="0" err="1">
                <a:solidFill>
                  <a:srgbClr val="FF0000"/>
                </a:solidFill>
              </a:rPr>
              <a:t>out_stock</a:t>
            </a:r>
            <a:r>
              <a:rPr lang="en-US" altLang="zh-CN" sz="2400" dirty="0">
                <a:solidFill>
                  <a:srgbClr val="FF0000"/>
                </a:solidFill>
              </a:rPr>
              <a:t>  </a:t>
            </a:r>
            <a:endParaRPr lang="zh-CN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                               DROP  CONSTRAINT  </a:t>
            </a:r>
            <a:r>
              <a:rPr lang="en-US" altLang="zh-CN" sz="2400" dirty="0" err="1">
                <a:solidFill>
                  <a:srgbClr val="FF0000"/>
                </a:solidFill>
              </a:rPr>
              <a:t>FK_Salvaging_Out_stock</a:t>
            </a:r>
            <a:r>
              <a:rPr lang="en-US" altLang="zh-CN" sz="2400" dirty="0">
                <a:solidFill>
                  <a:srgbClr val="FF0000"/>
                </a:solidFill>
              </a:rPr>
              <a:t> ;</a:t>
            </a:r>
            <a:endParaRPr lang="zh-CN" altLang="zh-CN" sz="2400" dirty="0">
              <a:solidFill>
                <a:srgbClr val="FF0000"/>
              </a:solidFill>
            </a:endParaRPr>
          </a:p>
          <a:p>
            <a:r>
              <a:rPr lang="zh-CN" altLang="zh-CN" sz="2400" dirty="0"/>
              <a:t>或</a:t>
            </a:r>
          </a:p>
          <a:p>
            <a:r>
              <a:rPr lang="en-US" altLang="zh-CN" sz="2400" dirty="0"/>
              <a:t>      </a:t>
            </a:r>
            <a:r>
              <a:rPr lang="en-US" altLang="zh-CN" sz="2400" dirty="0">
                <a:solidFill>
                  <a:srgbClr val="FF0000"/>
                </a:solidFill>
              </a:rPr>
              <a:t>ALTER TABLE  </a:t>
            </a:r>
            <a:r>
              <a:rPr lang="en-US" altLang="zh-CN" sz="2400" dirty="0" err="1">
                <a:solidFill>
                  <a:srgbClr val="FF0000"/>
                </a:solidFill>
              </a:rPr>
              <a:t>out_stock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endParaRPr lang="zh-CN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                             DROP  FOREIGN KEY  </a:t>
            </a:r>
            <a:r>
              <a:rPr lang="en-US" altLang="zh-CN" sz="2400" dirty="0" err="1">
                <a:solidFill>
                  <a:srgbClr val="FF0000"/>
                </a:solidFill>
              </a:rPr>
              <a:t>FK_Salvaging_Out_stock</a:t>
            </a:r>
            <a:r>
              <a:rPr lang="en-US" altLang="zh-CN" sz="2400" dirty="0">
                <a:solidFill>
                  <a:srgbClr val="FF0000"/>
                </a:solidFill>
              </a:rPr>
              <a:t> ;</a:t>
            </a:r>
            <a:endParaRPr lang="zh-CN" altLang="zh-CN" sz="2400" dirty="0">
              <a:solidFill>
                <a:srgbClr val="FF0000"/>
              </a:solidFill>
            </a:endParaRPr>
          </a:p>
          <a:p>
            <a:endParaRPr lang="zh-CN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7710" y="3608646"/>
            <a:ext cx="121310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】给表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stock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添加一个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check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约束：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amount&gt;0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ALTER TABLE stock  ADD  CONSTRAINT 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CK_amount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CHECK(amount&gt;0);</a:t>
            </a:r>
          </a:p>
          <a:p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】给表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salvaging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的列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prj_name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添加一个唯一性约束。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ALTER TABLE salvaging ADD CONSTRAINT 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un_prj_name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UNIQUE(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prj_name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 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8212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1965" y="858982"/>
            <a:ext cx="10985119" cy="170895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基本表的定义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基本表的修改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基本表的删除</a:t>
            </a:r>
          </a:p>
        </p:txBody>
      </p:sp>
      <p:sp>
        <p:nvSpPr>
          <p:cNvPr id="2" name="矩形 1"/>
          <p:cNvSpPr/>
          <p:nvPr/>
        </p:nvSpPr>
        <p:spPr>
          <a:xfrm>
            <a:off x="4313693" y="3600884"/>
            <a:ext cx="3695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谢谢观看！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307dff7-c2d6-4754-b35c-f5612010c853}"/>
  <p:tag name="TABLE_ENDDRAG_ORIGIN_RECT" val="665*257"/>
  <p:tag name="TABLE_ENDDRAG_RECT" val="117*121*665*257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1673</Words>
  <Application>Microsoft Macintosh PowerPoint</Application>
  <PresentationFormat>宽屏</PresentationFormat>
  <Paragraphs>219</Paragraphs>
  <Slides>18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宋体</vt:lpstr>
      <vt:lpstr>微软雅黑</vt:lpstr>
      <vt:lpstr>Arial</vt:lpstr>
      <vt:lpstr>Calibri</vt:lpstr>
      <vt:lpstr>Calibri Light</vt:lpstr>
      <vt:lpstr>Wingdings</vt:lpstr>
      <vt:lpstr>Office 主题</vt:lpstr>
      <vt:lpstr>MS_ClipArt_Gallery.2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1324</cp:revision>
  <dcterms:created xsi:type="dcterms:W3CDTF">2014-07-02T10:42:00Z</dcterms:created>
  <dcterms:modified xsi:type="dcterms:W3CDTF">2025-09-23T14:18:35Z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2052-11.1.0.10700</vt:lpwstr>
  </property>
  <property fmtid="{D5CDD505-2E9C-101B-9397-08002B2CF9AE}" pid="4" name="ICV">
    <vt:lpwstr>08CFA9DF60AB4C2CBE0B67E6D28FBD82</vt:lpwstr>
  </property>
</Properties>
</file>