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86" r:id="rId2"/>
    <p:sldId id="454" r:id="rId3"/>
    <p:sldId id="457" r:id="rId4"/>
    <p:sldId id="458" r:id="rId5"/>
    <p:sldId id="459" r:id="rId6"/>
    <p:sldId id="460" r:id="rId7"/>
    <p:sldId id="461" r:id="rId8"/>
    <p:sldId id="462" r:id="rId9"/>
    <p:sldId id="463" r:id="rId10"/>
    <p:sldId id="468" r:id="rId11"/>
    <p:sldId id="465" r:id="rId12"/>
    <p:sldId id="466" r:id="rId13"/>
    <p:sldId id="467" r:id="rId14"/>
    <p:sldId id="484" r:id="rId15"/>
    <p:sldId id="469" r:id="rId16"/>
    <p:sldId id="485" r:id="rId17"/>
    <p:sldId id="486" r:id="rId18"/>
    <p:sldId id="471" r:id="rId19"/>
    <p:sldId id="487" r:id="rId20"/>
    <p:sldId id="472" r:id="rId21"/>
    <p:sldId id="473" r:id="rId22"/>
    <p:sldId id="488" r:id="rId23"/>
    <p:sldId id="483" r:id="rId24"/>
    <p:sldId id="475" r:id="rId25"/>
    <p:sldId id="476" r:id="rId26"/>
    <p:sldId id="477" r:id="rId27"/>
    <p:sldId id="478" r:id="rId28"/>
    <p:sldId id="479" r:id="rId29"/>
    <p:sldId id="480" r:id="rId30"/>
    <p:sldId id="481" r:id="rId31"/>
    <p:sldId id="482" r:id="rId32"/>
    <p:sldId id="456" r:id="rId33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>
          <p15:clr>
            <a:srgbClr val="A4A3A4"/>
          </p15:clr>
        </p15:guide>
        <p15:guide id="2" orient="horz" pos="2868">
          <p15:clr>
            <a:srgbClr val="A4A3A4"/>
          </p15:clr>
        </p15:guide>
        <p15:guide id="3" orient="horz" pos="1284">
          <p15:clr>
            <a:srgbClr val="A4A3A4"/>
          </p15:clr>
        </p15:guide>
        <p15:guide id="4" pos="3840">
          <p15:clr>
            <a:srgbClr val="A4A3A4"/>
          </p15:clr>
        </p15:guide>
        <p15:guide id="5" pos="12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orient="horz" pos="2907">
          <p15:clr>
            <a:srgbClr val="A4A3A4"/>
          </p15:clr>
        </p15:guide>
        <p15:guide id="3" pos="2880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AD0"/>
    <a:srgbClr val="002060"/>
    <a:srgbClr val="009900"/>
    <a:srgbClr val="1569F0"/>
    <a:srgbClr val="F79646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61413" autoAdjust="0"/>
  </p:normalViewPr>
  <p:slideViewPr>
    <p:cSldViewPr snapToGrid="0">
      <p:cViewPr varScale="1">
        <p:scale>
          <a:sx n="65" d="100"/>
          <a:sy n="65" d="100"/>
        </p:scale>
        <p:origin x="2448" y="200"/>
      </p:cViewPr>
      <p:guideLst>
        <p:guide orient="horz" pos="2144"/>
        <p:guide orient="horz" pos="2868"/>
        <p:guide orient="horz" pos="1284"/>
        <p:guide pos="3840"/>
        <p:guide pos="12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139"/>
        <p:guide orient="horz" pos="2907"/>
        <p:guide pos="2880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2025/9/26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65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4284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2895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296303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第六章    索引及查询优化</a:t>
            </a:r>
            <a:endParaRPr lang="en-US" altLang="zh-CN" sz="4000" b="1" dirty="0">
              <a:solidFill>
                <a:srgbClr val="003300"/>
              </a:solidFill>
            </a:endParaRPr>
          </a:p>
          <a:p>
            <a:pPr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6.1 </a:t>
            </a:r>
            <a:r>
              <a:rPr lang="zh-CN" altLang="en-US" sz="3200" b="1" dirty="0">
                <a:solidFill>
                  <a:srgbClr val="FF0000"/>
                </a:solidFill>
              </a:rPr>
              <a:t>索引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6.2 </a:t>
            </a:r>
            <a:r>
              <a:rPr lang="zh-CN" altLang="en-US" sz="3200" b="1" dirty="0"/>
              <a:t>查询优化技巧</a:t>
            </a:r>
            <a:r>
              <a:rPr lang="en-US" altLang="zh-CN" sz="3200" b="1" dirty="0"/>
              <a:t>	</a:t>
            </a:r>
            <a:endParaRPr lang="zh-CN" altLang="en-US" sz="3200" b="1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833756"/>
            <a:ext cx="10327004" cy="502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6663" name="Text Box 7"/>
          <p:cNvSpPr txBox="1">
            <a:spLocks noChangeArrowheads="1"/>
          </p:cNvSpPr>
          <p:nvPr/>
        </p:nvSpPr>
        <p:spPr bwMode="auto">
          <a:xfrm>
            <a:off x="4368800" y="3213101"/>
            <a:ext cx="7391400" cy="222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2400" b="1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❁</a:t>
            </a:r>
            <a:r>
              <a:rPr lang="zh-CN" altLang="en-US" sz="24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建立索引的目的：</a:t>
            </a: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加快查询速度，提高数据文件访问效率。</a:t>
            </a:r>
            <a:endParaRPr lang="en-US" altLang="zh-CN" sz="240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endParaRPr lang="zh-CN" altLang="en-US" sz="240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i="0" dirty="0"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       </a:t>
            </a:r>
          </a:p>
        </p:txBody>
      </p:sp>
      <p:sp>
        <p:nvSpPr>
          <p:cNvPr id="326664" name="Rectangle 8"/>
          <p:cNvSpPr>
            <a:spLocks noChangeArrowheads="1"/>
          </p:cNvSpPr>
          <p:nvPr/>
        </p:nvSpPr>
        <p:spPr bwMode="auto">
          <a:xfrm>
            <a:off x="4368800" y="4129376"/>
            <a:ext cx="7391400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2400" b="1" i="0" dirty="0">
                <a:solidFill>
                  <a:srgbClr val="FF3300"/>
                </a:solidFill>
                <a:latin typeface="Arial Unicode MS" pitchFamily="34" charset="-122"/>
                <a:ea typeface="楷体_GB2312" pitchFamily="49" charset="-122"/>
                <a:cs typeface="Arial Unicode MS" pitchFamily="34" charset="-122"/>
              </a:rPr>
              <a:t>❁</a:t>
            </a:r>
            <a:r>
              <a:rPr lang="zh-CN" altLang="en-US" sz="24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缺点：</a:t>
            </a: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索引是有代价的（时、空）。为了维护索引，对数据进行插入、更新、删除操作所花费的时间会更长。</a:t>
            </a:r>
          </a:p>
          <a:p>
            <a:pPr eaLnBrk="1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2400" b="1" i="0" dirty="0">
                <a:solidFill>
                  <a:srgbClr val="FF3300"/>
                </a:solidFill>
                <a:latin typeface="Arial Unicode MS" pitchFamily="34" charset="-122"/>
                <a:ea typeface="楷体_GB2312" pitchFamily="49" charset="-122"/>
                <a:cs typeface="Arial Unicode MS" pitchFamily="34" charset="-122"/>
              </a:rPr>
              <a:t>❁</a:t>
            </a: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在设计和创建索引时，应确保对性能的提高程度大于在存储空间和处理资源方面的代价。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索引的概念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0134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6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66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326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326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索引的概念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95654" y="1083946"/>
            <a:ext cx="11430000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DBMS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支持在表中任何列上定义的索引。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、如果一个表没有创建索引，则数据行不按任何特定的顺序存储。这种结构称为</a:t>
            </a:r>
            <a:r>
              <a:rPr lang="zh-CN" altLang="en-US" sz="28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堆集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索引一般的两种类型为：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聚集索引 、非聚集索引</a:t>
            </a:r>
          </a:p>
        </p:txBody>
      </p:sp>
    </p:spTree>
    <p:extLst>
      <p:ext uri="{BB962C8B-B14F-4D97-AF65-F5344CB8AC3E}">
        <p14:creationId xmlns:p14="http://schemas.microsoft.com/office/powerpoint/2010/main" val="21530143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6.1.2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聚集索引 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250825" y="810186"/>
            <a:ext cx="11453495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5000"/>
              </a:spcBef>
              <a:buFontTx/>
              <a:buChar char="•"/>
            </a:pPr>
            <a:r>
              <a:rPr lang="zh-CN" altLang="en-US" sz="2800" b="1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特点：</a:t>
            </a:r>
            <a:r>
              <a:rPr lang="zh-CN" altLang="en-US" sz="2800" b="1" i="0" dirty="0">
                <a:ea typeface="楷体_GB2312" pitchFamily="49" charset="-122"/>
              </a:rPr>
              <a:t>数据文件中的记录按照索引键指定的顺序排序，使得具有相同索引键值的记录在物理上聚集在一起。</a:t>
            </a:r>
          </a:p>
          <a:p>
            <a:pPr eaLnBrk="1" hangingPunct="1">
              <a:spcBef>
                <a:spcPct val="25000"/>
              </a:spcBef>
              <a:buFontTx/>
              <a:buChar char="•"/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一个表只能建立一个聚集索引。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033" y="2531531"/>
            <a:ext cx="8756967" cy="432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形标注 3"/>
          <p:cNvSpPr/>
          <p:nvPr/>
        </p:nvSpPr>
        <p:spPr>
          <a:xfrm>
            <a:off x="96715" y="2919046"/>
            <a:ext cx="3437792" cy="949569"/>
          </a:xfrm>
          <a:prstGeom prst="wedgeEllipseCallout">
            <a:avLst>
              <a:gd name="adj1" fmla="val 46687"/>
              <a:gd name="adj2" fmla="val 1672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创建聚集索引前，</a:t>
            </a:r>
            <a:r>
              <a:rPr lang="en-US" altLang="zh-CN" dirty="0" err="1"/>
              <a:t>mat_no</a:t>
            </a:r>
            <a:r>
              <a:rPr lang="zh-CN" altLang="en-US" dirty="0"/>
              <a:t>无序</a:t>
            </a:r>
          </a:p>
        </p:txBody>
      </p:sp>
    </p:spTree>
    <p:extLst>
      <p:ext uri="{BB962C8B-B14F-4D97-AF65-F5344CB8AC3E}">
        <p14:creationId xmlns:p14="http://schemas.microsoft.com/office/powerpoint/2010/main" val="5302769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6.1.2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聚集索引 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250825" y="810186"/>
            <a:ext cx="11453495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5000"/>
              </a:spcBef>
              <a:buFontTx/>
              <a:buChar char="•"/>
            </a:pPr>
            <a:r>
              <a:rPr lang="zh-CN" altLang="en-US" sz="2800" b="1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特点：</a:t>
            </a:r>
            <a:r>
              <a:rPr lang="zh-CN" altLang="en-US" sz="2800" b="1" i="0" dirty="0">
                <a:ea typeface="楷体_GB2312" pitchFamily="49" charset="-122"/>
              </a:rPr>
              <a:t>数据文件中的记录按照索引键指定的顺序排序，使得具有相同索引键值的记录在物理上聚集在一起。</a:t>
            </a:r>
          </a:p>
          <a:p>
            <a:pPr eaLnBrk="1" hangingPunct="1">
              <a:spcBef>
                <a:spcPct val="25000"/>
              </a:spcBef>
              <a:buFontTx/>
              <a:buChar char="•"/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一个表只能建立一个聚集索引。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1" y="2439708"/>
            <a:ext cx="8943242" cy="4418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形标注 3"/>
          <p:cNvSpPr/>
          <p:nvPr/>
        </p:nvSpPr>
        <p:spPr>
          <a:xfrm>
            <a:off x="70339" y="2951350"/>
            <a:ext cx="3437792" cy="1119488"/>
          </a:xfrm>
          <a:prstGeom prst="wedgeEllipseCallout">
            <a:avLst>
              <a:gd name="adj1" fmla="val 40548"/>
              <a:gd name="adj2" fmla="val 1161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创建聚集索引后，</a:t>
            </a:r>
            <a:r>
              <a:rPr lang="en-US" altLang="zh-CN" dirty="0" err="1"/>
              <a:t>mat_no</a:t>
            </a:r>
            <a:r>
              <a:rPr lang="zh-CN" altLang="en-US" dirty="0"/>
              <a:t>有序</a:t>
            </a:r>
          </a:p>
        </p:txBody>
      </p:sp>
    </p:spTree>
    <p:extLst>
      <p:ext uri="{BB962C8B-B14F-4D97-AF65-F5344CB8AC3E}">
        <p14:creationId xmlns:p14="http://schemas.microsoft.com/office/powerpoint/2010/main" val="24321621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6.1.2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聚集索引 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23850" y="765174"/>
            <a:ext cx="11475427" cy="2074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en-US" altLang="zh-CN" sz="2800" b="1" i="0" dirty="0">
                <a:ea typeface="楷体_GB2312" pitchFamily="49" charset="-122"/>
              </a:rPr>
              <a:t> </a:t>
            </a:r>
            <a:r>
              <a:rPr lang="zh-CN" altLang="en-US" sz="2800" b="1" i="0" dirty="0">
                <a:solidFill>
                  <a:srgbClr val="FF3300"/>
                </a:solidFill>
                <a:ea typeface="楷体_GB2312" pitchFamily="49" charset="-122"/>
              </a:rPr>
              <a:t>聚集索引结构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en-US" altLang="zh-CN" sz="2800" b="1" i="0" dirty="0">
                <a:ea typeface="楷体_GB2312" pitchFamily="49" charset="-122"/>
              </a:rPr>
              <a:t>1</a:t>
            </a:r>
            <a:r>
              <a:rPr lang="zh-CN" altLang="en-US" sz="2800" b="1" i="0" dirty="0">
                <a:ea typeface="楷体_GB2312" pitchFamily="49" charset="-122"/>
              </a:rPr>
              <a:t>） </a:t>
            </a:r>
            <a:r>
              <a:rPr lang="en-US" altLang="zh-CN" sz="2800" b="1" i="0" dirty="0">
                <a:ea typeface="楷体_GB2312" pitchFamily="49" charset="-122"/>
              </a:rPr>
              <a:t>My SQL  </a:t>
            </a:r>
            <a:r>
              <a:rPr lang="zh-CN" altLang="en-US" sz="2800" b="1" i="0" dirty="0">
                <a:ea typeface="楷体_GB2312" pitchFamily="49" charset="-122"/>
              </a:rPr>
              <a:t>将</a:t>
            </a:r>
            <a:r>
              <a:rPr lang="zh-CN" altLang="en-US" sz="2800" b="1" i="0" dirty="0">
                <a:solidFill>
                  <a:srgbClr val="FF3300"/>
                </a:solidFill>
                <a:ea typeface="楷体_GB2312" pitchFamily="49" charset="-122"/>
              </a:rPr>
              <a:t>索引组织为</a:t>
            </a:r>
            <a:r>
              <a:rPr lang="en-US" altLang="zh-CN" sz="2800" b="1" i="0" dirty="0">
                <a:solidFill>
                  <a:srgbClr val="FF3300"/>
                </a:solidFill>
                <a:ea typeface="楷体_GB2312" pitchFamily="49" charset="-122"/>
              </a:rPr>
              <a:t>B</a:t>
            </a:r>
            <a:r>
              <a:rPr lang="en-US" altLang="zh-CN" sz="2800" b="1" i="0" baseline="30000" dirty="0">
                <a:solidFill>
                  <a:srgbClr val="FF3300"/>
                </a:solidFill>
                <a:ea typeface="楷体_GB2312" pitchFamily="49" charset="-122"/>
              </a:rPr>
              <a:t>+</a:t>
            </a:r>
            <a:r>
              <a:rPr lang="zh-CN" altLang="en-US" sz="2800" b="1" i="0" dirty="0">
                <a:solidFill>
                  <a:srgbClr val="FF3300"/>
                </a:solidFill>
                <a:ea typeface="楷体_GB2312" pitchFamily="49" charset="-122"/>
              </a:rPr>
              <a:t>树</a:t>
            </a:r>
            <a:r>
              <a:rPr lang="zh-CN" altLang="en-US" sz="2800" b="1" i="0" dirty="0">
                <a:ea typeface="楷体_GB2312" pitchFamily="49" charset="-122"/>
              </a:rPr>
              <a:t>。索引内的</a:t>
            </a:r>
            <a:r>
              <a:rPr lang="zh-CN" altLang="en-US" sz="2800" b="1" i="0" dirty="0">
                <a:solidFill>
                  <a:srgbClr val="FF3300"/>
                </a:solidFill>
                <a:ea typeface="楷体_GB2312" pitchFamily="49" charset="-122"/>
              </a:rPr>
              <a:t>每一页</a:t>
            </a:r>
            <a:r>
              <a:rPr lang="zh-CN" altLang="en-US" sz="2800" b="1" i="0" dirty="0">
                <a:ea typeface="楷体_GB2312" pitchFamily="49" charset="-122"/>
              </a:rPr>
              <a:t>包含一个</a:t>
            </a:r>
            <a:r>
              <a:rPr lang="zh-CN" altLang="en-US" sz="2800" b="1" i="0" dirty="0">
                <a:solidFill>
                  <a:srgbClr val="FF3300"/>
                </a:solidFill>
                <a:ea typeface="楷体_GB2312" pitchFamily="49" charset="-122"/>
              </a:rPr>
              <a:t>页首</a:t>
            </a:r>
            <a:r>
              <a:rPr lang="zh-CN" altLang="en-US" sz="2800" b="1" i="0" dirty="0">
                <a:ea typeface="楷体_GB2312" pitchFamily="49" charset="-122"/>
              </a:rPr>
              <a:t>，页首后面跟着</a:t>
            </a:r>
            <a:r>
              <a:rPr lang="zh-CN" altLang="en-US" sz="2800" b="1" i="0" dirty="0">
                <a:solidFill>
                  <a:srgbClr val="FF3300"/>
                </a:solidFill>
                <a:ea typeface="楷体_GB2312" pitchFamily="49" charset="-122"/>
              </a:rPr>
              <a:t>索引行</a:t>
            </a:r>
            <a:r>
              <a:rPr lang="zh-CN" altLang="en-US" sz="2800" b="1" i="0" dirty="0"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en-US" altLang="zh-CN" sz="2800" b="1" i="0" dirty="0">
                <a:ea typeface="楷体_GB2312" pitchFamily="49" charset="-122"/>
              </a:rPr>
              <a:t>2</a:t>
            </a:r>
            <a:r>
              <a:rPr lang="zh-CN" altLang="en-US" sz="2800" b="1" i="0" dirty="0">
                <a:ea typeface="楷体_GB2312" pitchFamily="49" charset="-122"/>
              </a:rPr>
              <a:t>）每个</a:t>
            </a:r>
            <a:r>
              <a:rPr lang="zh-CN" altLang="en-US" sz="2800" b="1" i="0" dirty="0">
                <a:solidFill>
                  <a:srgbClr val="FF3300"/>
                </a:solidFill>
                <a:ea typeface="楷体_GB2312" pitchFamily="49" charset="-122"/>
              </a:rPr>
              <a:t>索引行</a:t>
            </a:r>
            <a:r>
              <a:rPr lang="zh-CN" altLang="en-US" sz="2800" b="1" i="0" dirty="0">
                <a:ea typeface="楷体_GB2312" pitchFamily="49" charset="-122"/>
              </a:rPr>
              <a:t>都包含一个</a:t>
            </a:r>
            <a:r>
              <a:rPr lang="zh-CN" altLang="en-US" sz="2800" b="1" i="0" dirty="0">
                <a:solidFill>
                  <a:srgbClr val="CC3300"/>
                </a:solidFill>
                <a:ea typeface="楷体_GB2312" pitchFamily="49" charset="-122"/>
              </a:rPr>
              <a:t>键值</a:t>
            </a:r>
            <a:r>
              <a:rPr lang="zh-CN" altLang="en-US" sz="2800" b="1" i="0" dirty="0">
                <a:ea typeface="楷体_GB2312" pitchFamily="49" charset="-122"/>
              </a:rPr>
              <a:t>以及一个</a:t>
            </a:r>
            <a:r>
              <a:rPr lang="zh-CN" altLang="en-US" sz="2800" b="1" i="0" dirty="0">
                <a:solidFill>
                  <a:srgbClr val="CC3300"/>
                </a:solidFill>
                <a:ea typeface="楷体_GB2312" pitchFamily="49" charset="-122"/>
              </a:rPr>
              <a:t>指向较低级页或数据行的指针</a:t>
            </a:r>
            <a:r>
              <a:rPr lang="zh-CN" altLang="en-US" sz="2800" b="1" i="0" dirty="0">
                <a:ea typeface="楷体_GB2312" pitchFamily="49" charset="-122"/>
              </a:rPr>
              <a:t>。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23850" y="3378197"/>
            <a:ext cx="11149838" cy="2613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800" b="1" i="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）索引的每个页称为</a:t>
            </a:r>
            <a:r>
              <a:rPr lang="zh-CN" altLang="en-US" sz="2800" b="1" i="0" dirty="0">
                <a:solidFill>
                  <a:srgbClr val="CC0066"/>
                </a:solidFill>
                <a:latin typeface="楷体_GB2312" pitchFamily="49" charset="-122"/>
                <a:ea typeface="楷体_GB2312" pitchFamily="49" charset="-122"/>
              </a:rPr>
              <a:t>索引节点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800" b="1" i="0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en-US" altLang="zh-CN" sz="2800" b="1" i="0" baseline="30000" dirty="0"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树的</a:t>
            </a:r>
            <a:r>
              <a:rPr lang="zh-CN" altLang="en-US" sz="28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顶端节点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lang="zh-CN" altLang="en-US" sz="2800" b="1" i="0" dirty="0">
                <a:solidFill>
                  <a:srgbClr val="CC0066"/>
                </a:solidFill>
                <a:latin typeface="楷体_GB2312" pitchFamily="49" charset="-122"/>
                <a:ea typeface="楷体_GB2312" pitchFamily="49" charset="-122"/>
              </a:rPr>
              <a:t>根节点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   索引的</a:t>
            </a:r>
            <a:r>
              <a:rPr lang="zh-CN" altLang="en-US" sz="28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底层节点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lang="zh-CN" altLang="en-US" sz="2800" b="1" i="0" dirty="0">
                <a:solidFill>
                  <a:srgbClr val="CC0066"/>
                </a:solidFill>
                <a:latin typeface="楷体_GB2312" pitchFamily="49" charset="-122"/>
                <a:ea typeface="楷体_GB2312" pitchFamily="49" charset="-122"/>
              </a:rPr>
              <a:t>叶节点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   根和叶之间的</a:t>
            </a:r>
            <a:r>
              <a:rPr lang="zh-CN" altLang="en-US" sz="28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任何索引级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统称为</a:t>
            </a:r>
            <a:r>
              <a:rPr lang="zh-CN" altLang="en-US" sz="2800" b="1" i="0" dirty="0">
                <a:solidFill>
                  <a:srgbClr val="CC0066"/>
                </a:solidFill>
                <a:latin typeface="楷体_GB2312" pitchFamily="49" charset="-122"/>
                <a:ea typeface="楷体_GB2312" pitchFamily="49" charset="-122"/>
              </a:rPr>
              <a:t>中间级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 i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b="1" i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同级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索引中的页链接在</a:t>
            </a:r>
            <a:r>
              <a:rPr lang="zh-CN" altLang="en-US" sz="2800" b="1" i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双向链接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列表中。</a:t>
            </a:r>
          </a:p>
        </p:txBody>
      </p:sp>
    </p:spTree>
    <p:extLst>
      <p:ext uri="{BB962C8B-B14F-4D97-AF65-F5344CB8AC3E}">
        <p14:creationId xmlns:p14="http://schemas.microsoft.com/office/powerpoint/2010/main" val="28915851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2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7" dur="2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6.1.2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聚集索引 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/>
          <p:nvPr/>
        </p:nvPicPr>
        <p:blipFill>
          <a:blip r:embed="rId2"/>
          <a:stretch>
            <a:fillRect/>
          </a:stretch>
        </p:blipFill>
        <p:spPr>
          <a:xfrm>
            <a:off x="2546299" y="808793"/>
            <a:ext cx="5507136" cy="5943697"/>
          </a:xfrm>
          <a:prstGeom prst="rect">
            <a:avLst/>
          </a:prstGeom>
        </p:spPr>
      </p:pic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293935" y="1387231"/>
            <a:ext cx="719137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聚集索引的结构</a:t>
            </a:r>
            <a:r>
              <a:rPr lang="zh-CN" altLang="en-US" sz="2800" i="0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64769" y="2057400"/>
            <a:ext cx="3754316" cy="297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5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zh-CN" sz="2800" b="1" dirty="0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非叶子节点只存储键值信息</a:t>
            </a:r>
            <a:endParaRPr lang="en-US" altLang="zh-CN" sz="2800" b="1" dirty="0">
              <a:solidFill>
                <a:srgbClr val="FF3300"/>
              </a:solidFill>
              <a:latin typeface="Arial" charset="0"/>
              <a:ea typeface="楷体_GB2312" pitchFamily="49" charset="-122"/>
            </a:endParaRPr>
          </a:p>
          <a:p>
            <a:pPr marL="457200" indent="-457200">
              <a:lnSpc>
                <a:spcPct val="105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zh-CN" sz="2800" b="1" dirty="0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数据记录都存放在叶子节点中</a:t>
            </a:r>
            <a:endParaRPr lang="en-US" altLang="zh-CN" sz="2800" b="1" dirty="0">
              <a:solidFill>
                <a:srgbClr val="FF3300"/>
              </a:solidFill>
              <a:latin typeface="Arial" charset="0"/>
              <a:ea typeface="楷体_GB2312" pitchFamily="49" charset="-122"/>
            </a:endParaRPr>
          </a:p>
          <a:p>
            <a:pPr marL="457200" indent="-457200">
              <a:lnSpc>
                <a:spcPct val="105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zh-CN" sz="2800" b="1" dirty="0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所有叶子节点之间形成链式结构</a:t>
            </a:r>
            <a:endParaRPr lang="zh-CN" altLang="en-US" sz="2800" b="1" dirty="0">
              <a:solidFill>
                <a:srgbClr val="FF3300"/>
              </a:solidFill>
              <a:latin typeface="Arial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122273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6.1.2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聚集索引 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836612"/>
            <a:ext cx="9165030" cy="5951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1027019" y="1659793"/>
            <a:ext cx="719137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聚集索引的例子</a:t>
            </a:r>
            <a:r>
              <a:rPr lang="zh-CN" altLang="en-US" sz="2800" i="0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34588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6.1.2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聚集索引 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1112471" y="1071074"/>
            <a:ext cx="8642350" cy="218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zh-CN" sz="2800" b="1" i="0" dirty="0">
                <a:solidFill>
                  <a:srgbClr val="CC0066"/>
                </a:solidFill>
                <a:latin typeface="楷体_GB2312" pitchFamily="49" charset="-122"/>
                <a:ea typeface="楷体_GB2312" pitchFamily="49" charset="-122"/>
              </a:rPr>
              <a:t>◆</a:t>
            </a:r>
            <a:r>
              <a:rPr lang="zh-CN" altLang="en-US" sz="2800" b="1" i="0" dirty="0">
                <a:solidFill>
                  <a:srgbClr val="CC3300"/>
                </a:solidFill>
                <a:latin typeface="Times New Roman" pitchFamily="18" charset="0"/>
                <a:ea typeface="楷体_GB2312" pitchFamily="49" charset="-122"/>
              </a:rPr>
              <a:t>聚集索引适用于：</a:t>
            </a:r>
            <a:r>
              <a:rPr lang="zh-CN" altLang="en-US" sz="2800" b="1" i="0" dirty="0">
                <a:latin typeface="Times New Roman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800" b="1" i="0" dirty="0">
                <a:latin typeface="Times New Roman" pitchFamily="18" charset="0"/>
                <a:ea typeface="楷体_GB2312" pitchFamily="49" charset="-122"/>
              </a:rPr>
              <a:t>• </a:t>
            </a:r>
            <a:r>
              <a:rPr lang="zh-CN" altLang="en-US" sz="2800" b="1" i="0" dirty="0">
                <a:latin typeface="Times New Roman" pitchFamily="18" charset="0"/>
                <a:ea typeface="楷体_GB2312" pitchFamily="49" charset="-122"/>
              </a:rPr>
              <a:t>大量非重复值的列。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800" b="1" i="0" dirty="0">
                <a:latin typeface="Times New Roman" pitchFamily="18" charset="0"/>
                <a:ea typeface="楷体_GB2312" pitchFamily="49" charset="-122"/>
              </a:rPr>
              <a:t>• </a:t>
            </a:r>
            <a:r>
              <a:rPr lang="zh-CN" altLang="en-US" sz="2800" b="1" i="0" dirty="0">
                <a:latin typeface="Times New Roman" pitchFamily="18" charset="0"/>
                <a:ea typeface="楷体_GB2312" pitchFamily="49" charset="-122"/>
              </a:rPr>
              <a:t>经常被连续访问的列。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800" b="1" i="0" dirty="0">
                <a:latin typeface="Times New Roman" pitchFamily="18" charset="0"/>
                <a:ea typeface="楷体_GB2312" pitchFamily="49" charset="-122"/>
              </a:rPr>
              <a:t>• </a:t>
            </a:r>
            <a:r>
              <a:rPr lang="zh-CN" altLang="en-US" sz="2800" b="1" i="0" dirty="0">
                <a:latin typeface="Times New Roman" pitchFamily="18" charset="0"/>
                <a:ea typeface="楷体_GB2312" pitchFamily="49" charset="-122"/>
              </a:rPr>
              <a:t>经常使用</a:t>
            </a:r>
            <a:r>
              <a:rPr lang="zh-CN" altLang="en-US" sz="2800" b="1" i="0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联接</a:t>
            </a:r>
            <a:r>
              <a:rPr lang="zh-CN" altLang="en-US" sz="2800" b="1" i="0" dirty="0">
                <a:latin typeface="Times New Roman" pitchFamily="18" charset="0"/>
                <a:ea typeface="楷体_GB2312" pitchFamily="49" charset="-122"/>
              </a:rPr>
              <a:t>或 </a:t>
            </a:r>
            <a:r>
              <a:rPr lang="en-US" altLang="zh-CN" sz="2800" b="1" i="0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GROUP BY </a:t>
            </a:r>
            <a:r>
              <a:rPr lang="zh-CN" altLang="en-US" sz="2800" b="1" i="0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子句</a:t>
            </a:r>
            <a:r>
              <a:rPr lang="zh-CN" altLang="en-US" sz="2800" b="1" i="0" dirty="0">
                <a:latin typeface="Times New Roman" pitchFamily="18" charset="0"/>
                <a:ea typeface="楷体_GB2312" pitchFamily="49" charset="-122"/>
              </a:rPr>
              <a:t>的查询访问的列。</a:t>
            </a:r>
            <a:endParaRPr lang="zh-CN" altLang="en-US" sz="3200" b="1" i="0" dirty="0">
              <a:latin typeface="宋体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041034" y="3520586"/>
            <a:ext cx="8424862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0" dirty="0">
                <a:solidFill>
                  <a:srgbClr val="CC0066"/>
                </a:solidFill>
                <a:latin typeface="楷体_GB2312" pitchFamily="49" charset="-122"/>
                <a:ea typeface="楷体_GB2312" pitchFamily="49" charset="-122"/>
              </a:rPr>
              <a:t>◆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聚集索引</a:t>
            </a:r>
            <a:r>
              <a:rPr lang="zh-CN" altLang="en-US" sz="2800" b="1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不适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用于：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频繁更改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的列 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800" b="1" i="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7351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6.1.3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非聚集索引 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468313" y="1052513"/>
            <a:ext cx="11119949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en-US" sz="2800" b="1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特点</a:t>
            </a:r>
            <a:r>
              <a:rPr kumimoji="1" lang="zh-CN" altLang="en-US" sz="2800" b="1" i="0" dirty="0"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：</a:t>
            </a:r>
            <a:r>
              <a:rPr kumimoji="1" lang="en-US" altLang="zh-CN" sz="2800" b="1" i="0" dirty="0"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1</a:t>
            </a:r>
            <a:r>
              <a:rPr kumimoji="1" lang="zh-CN" altLang="en-US" sz="2800" b="1" i="0" dirty="0"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）索引与数据行的存放顺序无关</a:t>
            </a:r>
          </a:p>
          <a:p>
            <a:pPr lvl="2" eaLnBrk="1" hangingPunct="1"/>
            <a:r>
              <a:rPr kumimoji="1" lang="zh-CN" altLang="en-US" sz="2800" b="1" i="0" dirty="0"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   </a:t>
            </a:r>
            <a:r>
              <a:rPr kumimoji="1" lang="en-US" altLang="zh-CN" sz="2800" b="1" i="0" dirty="0"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2</a:t>
            </a:r>
            <a:r>
              <a:rPr kumimoji="1" lang="zh-CN" altLang="en-US" sz="2800" b="1" i="0" dirty="0"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）索引作为表的附加信息</a:t>
            </a:r>
          </a:p>
          <a:p>
            <a:pPr lvl="2" eaLnBrk="1" hangingPunct="1"/>
            <a:r>
              <a:rPr kumimoji="1" lang="zh-CN" altLang="en-US" sz="2800" b="1" i="0" dirty="0"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   </a:t>
            </a:r>
            <a:r>
              <a:rPr kumimoji="1" lang="en-US" altLang="zh-CN" sz="2800" b="1" i="0" dirty="0"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3</a:t>
            </a:r>
            <a:r>
              <a:rPr kumimoji="1" lang="zh-CN" altLang="en-US" sz="2800" b="1" i="0" dirty="0">
                <a:latin typeface="楷体_GB2312" pitchFamily="49" charset="-122"/>
                <a:ea typeface="楷体_GB2312" pitchFamily="49" charset="-122"/>
                <a:cs typeface="Arial Unicode MS" pitchFamily="34" charset="-122"/>
              </a:rPr>
              <a:t>）有利于单行查询，不利于范围查询</a:t>
            </a:r>
            <a:endParaRPr lang="zh-CN" altLang="en-US" sz="2800" b="1" i="0" dirty="0">
              <a:latin typeface="楷体_GB2312" pitchFamily="49" charset="-122"/>
              <a:ea typeface="楷体_GB2312" pitchFamily="49" charset="-122"/>
              <a:cs typeface="Arial Unicode MS" pitchFamily="34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 i="0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en-US" sz="2800" b="1" i="0" dirty="0">
                <a:ea typeface="楷体_GB2312" pitchFamily="49" charset="-122"/>
                <a:cs typeface="Arial Unicode MS" pitchFamily="34" charset="-122"/>
              </a:rPr>
              <a:t>一个表可以建立多个非聚集索引。</a:t>
            </a:r>
            <a:endParaRPr kumimoji="1" lang="zh-CN" altLang="en-US" sz="2800" b="1" i="0" dirty="0">
              <a:solidFill>
                <a:srgbClr val="FF3300"/>
              </a:solidFill>
              <a:ea typeface="楷体_GB2312" pitchFamily="49" charset="-122"/>
              <a:cs typeface="Arial Unicode MS" pitchFamily="34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50825" y="3500438"/>
            <a:ext cx="11512597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 i="0" dirty="0">
                <a:solidFill>
                  <a:srgbClr val="FF3300"/>
                </a:solidFill>
              </a:rPr>
              <a:t>❀ 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非聚集索引与聚集索引两个重大区别： </a:t>
            </a:r>
          </a:p>
          <a:p>
            <a:pPr algn="just" eaLnBrk="1" hangingPunct="1">
              <a:spcBef>
                <a:spcPts val="500"/>
              </a:spcBef>
              <a:spcAft>
                <a:spcPts val="1200"/>
              </a:spcAft>
              <a:buFont typeface="Symbol" pitchFamily="18" charset="2"/>
              <a:buNone/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i="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）数据行不按非聚集索引键的顺序排序和存储。</a:t>
            </a:r>
          </a:p>
          <a:p>
            <a:pPr algn="just" eaLnBrk="1" hangingPunct="1"/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i="0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非聚集索引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叶层不包含数据页</a:t>
            </a: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/>
            <a:endParaRPr lang="en-US" altLang="zh-CN" sz="2800" b="1" i="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28632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2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6.1.3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非聚集索引 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2172058" y="738040"/>
            <a:ext cx="5890487" cy="6119960"/>
          </a:xfrm>
          <a:prstGeom prst="rect">
            <a:avLst/>
          </a:prstGeom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293935" y="1387231"/>
            <a:ext cx="719137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聚集索引的结构</a:t>
            </a:r>
            <a:r>
              <a:rPr lang="zh-CN" altLang="en-US" sz="2800" i="0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769" y="2057400"/>
            <a:ext cx="3754316" cy="96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5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solidFill>
                  <a:srgbClr val="FF0000"/>
                </a:solidFill>
              </a:rPr>
              <a:t>叶层是索引行，不包含数据页</a:t>
            </a:r>
            <a:endParaRPr lang="zh-CN" altLang="en-US" sz="2800" b="1" dirty="0">
              <a:solidFill>
                <a:srgbClr val="FF0000"/>
              </a:solidFill>
              <a:latin typeface="Arial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09509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6.1.3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非聚集索引 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021" y="1"/>
            <a:ext cx="8289979" cy="683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548911" y="1659793"/>
            <a:ext cx="719137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i="0" dirty="0">
                <a:latin typeface="楷体_GB2312" pitchFamily="49" charset="-122"/>
                <a:ea typeface="楷体_GB2312" pitchFamily="49" charset="-122"/>
              </a:rPr>
              <a:t>非聚集索引的例子</a:t>
            </a:r>
            <a:r>
              <a:rPr lang="zh-CN" altLang="en-US" sz="2800" i="0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148246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6.1.3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非聚集索引 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27538" y="1169377"/>
            <a:ext cx="1087556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Arial" charset="0"/>
                <a:ea typeface="楷体_GB2312" pitchFamily="49" charset="-122"/>
                <a:cs typeface="Arial Unicode MS" pitchFamily="34" charset="-122"/>
              </a:rPr>
              <a:t>除了聚集索引以外的索引都是非聚集索引，非聚集索引包含如下几种索引：</a:t>
            </a:r>
          </a:p>
          <a:p>
            <a:pPr lvl="0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b="1" dirty="0">
                <a:solidFill>
                  <a:srgbClr val="FF0000"/>
                </a:solidFill>
                <a:latin typeface="Arial" charset="0"/>
                <a:ea typeface="楷体_GB2312" pitchFamily="49" charset="-122"/>
                <a:cs typeface="Arial Unicode MS" pitchFamily="34" charset="-122"/>
              </a:rPr>
              <a:t>唯一索引</a:t>
            </a:r>
            <a:r>
              <a:rPr lang="zh-CN" altLang="zh-CN" sz="2800" b="1" dirty="0">
                <a:latin typeface="Arial" charset="0"/>
                <a:ea typeface="楷体_GB2312" pitchFamily="49" charset="-122"/>
                <a:cs typeface="Arial Unicode MS" pitchFamily="34" charset="-122"/>
              </a:rPr>
              <a:t>：唯一索引列的值必须唯一，允许有空值，但至多只能有一个空值。如果是组合索引，则列值的组合必须唯一。</a:t>
            </a:r>
          </a:p>
          <a:p>
            <a:pPr lvl="0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b="1" dirty="0">
                <a:solidFill>
                  <a:srgbClr val="FF0000"/>
                </a:solidFill>
                <a:latin typeface="Arial" charset="0"/>
                <a:ea typeface="楷体_GB2312" pitchFamily="49" charset="-122"/>
                <a:cs typeface="Arial Unicode MS" pitchFamily="34" charset="-122"/>
              </a:rPr>
              <a:t>单值索引</a:t>
            </a:r>
            <a:r>
              <a:rPr lang="zh-CN" altLang="zh-CN" sz="2800" b="1" dirty="0">
                <a:latin typeface="Arial" charset="0"/>
                <a:ea typeface="楷体_GB2312" pitchFamily="49" charset="-122"/>
                <a:cs typeface="Arial Unicode MS" pitchFamily="34" charset="-122"/>
              </a:rPr>
              <a:t>：这是最基本的非聚集索引，它没有任何限制，但是尽量选择区分度高的列作为索引。例如选择姓名做索引，而不会选择性别来做索引。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b="1" dirty="0">
                <a:solidFill>
                  <a:srgbClr val="FF0000"/>
                </a:solidFill>
                <a:latin typeface="Arial" charset="0"/>
                <a:ea typeface="楷体_GB2312" pitchFamily="49" charset="-122"/>
                <a:cs typeface="Arial Unicode MS" pitchFamily="34" charset="-122"/>
              </a:rPr>
              <a:t>组合索引</a:t>
            </a:r>
            <a:r>
              <a:rPr lang="zh-CN" altLang="zh-CN" sz="2800" b="1" dirty="0">
                <a:latin typeface="Arial" charset="0"/>
                <a:ea typeface="楷体_GB2312" pitchFamily="49" charset="-122"/>
                <a:cs typeface="Arial Unicode MS" pitchFamily="34" charset="-122"/>
              </a:rPr>
              <a:t>：即一个索引包含多个列。</a:t>
            </a:r>
            <a:endParaRPr lang="zh-CN" altLang="en-US" sz="2800" b="1" dirty="0">
              <a:latin typeface="Arial" charset="0"/>
              <a:ea typeface="楷体_GB2312" pitchFamily="49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365892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6.1.4  MYSQL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索引的结构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49161" y="808893"/>
            <a:ext cx="11778716" cy="5812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 </a:t>
            </a:r>
            <a:r>
              <a:rPr kumimoji="1" lang="en-US" altLang="zh-CN" sz="2800" b="1" dirty="0" err="1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InnoDB</a:t>
            </a: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 </a:t>
            </a: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存储引擎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n-ea"/>
                <a:ea typeface="楷体_GB2312"/>
              </a:rPr>
              <a:t>索引类型</a:t>
            </a:r>
            <a:r>
              <a:rPr lang="zh-CN" altLang="en-US" sz="2400" dirty="0">
                <a:latin typeface="+mn-ea"/>
                <a:ea typeface="楷体_GB2312"/>
              </a:rPr>
              <a:t>：</a:t>
            </a:r>
            <a:r>
              <a:rPr lang="en-US" altLang="zh-CN" sz="2400" dirty="0" err="1">
                <a:latin typeface="+mn-ea"/>
                <a:ea typeface="楷体_GB2312"/>
              </a:rPr>
              <a:t>InnoDB</a:t>
            </a:r>
            <a:r>
              <a:rPr lang="en-US" altLang="zh-CN" sz="2400" dirty="0">
                <a:latin typeface="+mn-ea"/>
                <a:ea typeface="楷体_GB2312"/>
              </a:rPr>
              <a:t> </a:t>
            </a:r>
            <a:r>
              <a:rPr lang="zh-CN" altLang="en-US" sz="2400" dirty="0">
                <a:latin typeface="+mn-ea"/>
                <a:ea typeface="楷体_GB2312"/>
              </a:rPr>
              <a:t>存储引擎使用的是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楷体_GB2312"/>
              </a:rPr>
              <a:t>B +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楷体_GB2312"/>
              </a:rPr>
              <a:t>树</a:t>
            </a:r>
            <a:r>
              <a:rPr lang="zh-CN" altLang="en-US" sz="2400" b="1" dirty="0">
                <a:latin typeface="+mn-ea"/>
                <a:ea typeface="楷体_GB2312"/>
              </a:rPr>
              <a:t>索引</a:t>
            </a:r>
            <a:r>
              <a:rPr lang="zh-CN" altLang="en-US" sz="2400" dirty="0">
                <a:latin typeface="+mn-ea"/>
                <a:ea typeface="楷体_GB2312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n-ea"/>
                <a:ea typeface="楷体_GB2312"/>
              </a:rPr>
              <a:t>特点</a:t>
            </a:r>
            <a:r>
              <a:rPr lang="zh-CN" altLang="en-US" sz="2400" dirty="0">
                <a:latin typeface="+mn-ea"/>
                <a:ea typeface="楷体_GB2312"/>
              </a:rPr>
              <a:t>：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dirty="0">
                <a:latin typeface="+mn-ea"/>
                <a:ea typeface="楷体_GB2312"/>
              </a:rPr>
              <a:t>聚集索引（</a:t>
            </a:r>
            <a:r>
              <a:rPr lang="en-US" altLang="zh-CN" sz="2400" b="1" dirty="0">
                <a:latin typeface="+mn-ea"/>
                <a:ea typeface="楷体_GB2312"/>
              </a:rPr>
              <a:t>Clustered Index</a:t>
            </a:r>
            <a:r>
              <a:rPr lang="zh-CN" altLang="en-US" sz="2400" b="1" dirty="0">
                <a:latin typeface="+mn-ea"/>
                <a:ea typeface="楷体_GB2312"/>
              </a:rPr>
              <a:t>）</a:t>
            </a:r>
            <a:r>
              <a:rPr lang="zh-CN" altLang="en-US" sz="2400" dirty="0">
                <a:latin typeface="+mn-ea"/>
                <a:ea typeface="楷体_GB2312"/>
              </a:rPr>
              <a:t>：</a:t>
            </a:r>
            <a:r>
              <a:rPr lang="en-US" altLang="zh-CN" sz="2400" dirty="0" err="1">
                <a:latin typeface="+mn-ea"/>
                <a:ea typeface="楷体_GB2312"/>
              </a:rPr>
              <a:t>InnoDB</a:t>
            </a:r>
            <a:r>
              <a:rPr lang="en-US" altLang="zh-CN" sz="2400" dirty="0">
                <a:latin typeface="+mn-ea"/>
                <a:ea typeface="楷体_GB2312"/>
              </a:rPr>
              <a:t> </a:t>
            </a:r>
            <a:r>
              <a:rPr lang="zh-CN" altLang="en-US" sz="2400" dirty="0">
                <a:latin typeface="+mn-ea"/>
                <a:ea typeface="楷体_GB2312"/>
              </a:rPr>
              <a:t>将表数据和主键索引存储在一起，主键索引就是表的聚集索引。这意味着表数据是按照主键的顺序存储的，主键索引的叶子节点直接存储了表的行数据。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dirty="0">
                <a:latin typeface="+mn-ea"/>
                <a:ea typeface="楷体_GB2312"/>
              </a:rPr>
              <a:t>辅助索引（</a:t>
            </a:r>
            <a:r>
              <a:rPr lang="en-US" altLang="zh-CN" sz="2400" b="1" dirty="0">
                <a:latin typeface="+mn-ea"/>
                <a:ea typeface="楷体_GB2312"/>
              </a:rPr>
              <a:t>Secondary Index</a:t>
            </a:r>
            <a:r>
              <a:rPr lang="zh-CN" altLang="en-US" sz="2400" b="1" dirty="0">
                <a:latin typeface="+mn-ea"/>
                <a:ea typeface="楷体_GB2312"/>
              </a:rPr>
              <a:t>）</a:t>
            </a:r>
            <a:r>
              <a:rPr lang="zh-CN" altLang="en-US" sz="2400" dirty="0">
                <a:latin typeface="+mn-ea"/>
                <a:ea typeface="楷体_GB2312"/>
              </a:rPr>
              <a:t>：除了主键索引之外的其他索引称为辅助索引。辅助索引也是 </a:t>
            </a:r>
            <a:r>
              <a:rPr lang="en-US" altLang="zh-CN" sz="2400" dirty="0">
                <a:latin typeface="+mn-ea"/>
                <a:ea typeface="楷体_GB2312"/>
              </a:rPr>
              <a:t>B + </a:t>
            </a:r>
            <a:r>
              <a:rPr lang="zh-CN" altLang="en-US" sz="2400" dirty="0">
                <a:latin typeface="+mn-ea"/>
                <a:ea typeface="楷体_GB2312"/>
              </a:rPr>
              <a:t>树结构，但其叶子节点存储的是主键值（而不是行数据的直接指针）。通过辅助索引查找数据时，首先找到主键值，然后通过主键值再查找聚集索引以获取完整的行数据。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n-ea"/>
                <a:ea typeface="楷体_GB2312"/>
              </a:rPr>
              <a:t>适用场景</a:t>
            </a:r>
            <a:r>
              <a:rPr lang="zh-CN" altLang="en-US" sz="2400" dirty="0">
                <a:latin typeface="+mn-ea"/>
                <a:ea typeface="楷体_GB2312"/>
              </a:rPr>
              <a:t>：</a:t>
            </a:r>
          </a:p>
          <a:p>
            <a:pPr lvl="1">
              <a:lnSpc>
                <a:spcPct val="110000"/>
              </a:lnSpc>
            </a:pPr>
            <a:r>
              <a:rPr lang="en-US" altLang="zh-CN" sz="2400" dirty="0" err="1">
                <a:latin typeface="Arial" charset="0"/>
                <a:ea typeface="楷体_GB2312"/>
                <a:cs typeface="Arial Unicode MS" pitchFamily="34" charset="-122"/>
              </a:rPr>
              <a:t>InnoDB</a:t>
            </a:r>
            <a:r>
              <a:rPr lang="en-US" altLang="zh-CN" sz="2400" dirty="0">
                <a:latin typeface="Arial" charset="0"/>
                <a:ea typeface="楷体_GB2312"/>
                <a:cs typeface="Arial Unicode MS" pitchFamily="34" charset="-122"/>
              </a:rPr>
              <a:t> </a:t>
            </a:r>
            <a:r>
              <a:rPr lang="zh-CN" altLang="en-US" sz="2400" dirty="0">
                <a:latin typeface="Arial" charset="0"/>
                <a:ea typeface="楷体_GB2312"/>
                <a:cs typeface="Arial Unicode MS" pitchFamily="34" charset="-122"/>
              </a:rPr>
              <a:t>的 </a:t>
            </a:r>
            <a:r>
              <a:rPr lang="en-US" altLang="zh-CN" sz="2400" dirty="0">
                <a:latin typeface="Arial" charset="0"/>
                <a:ea typeface="楷体_GB2312"/>
                <a:cs typeface="Arial Unicode MS" pitchFamily="34" charset="-122"/>
              </a:rPr>
              <a:t>B + </a:t>
            </a:r>
            <a:r>
              <a:rPr lang="zh-CN" altLang="en-US" sz="2400" dirty="0">
                <a:latin typeface="Arial" charset="0"/>
                <a:ea typeface="楷体_GB2312"/>
                <a:cs typeface="Arial Unicode MS" pitchFamily="34" charset="-122"/>
              </a:rPr>
              <a:t>树索引非常适合范围查询（</a:t>
            </a:r>
            <a:r>
              <a:rPr lang="en-US" altLang="zh-CN" sz="2400" dirty="0">
                <a:latin typeface="Arial" charset="0"/>
                <a:ea typeface="楷体_GB2312"/>
                <a:cs typeface="Arial Unicode MS" pitchFamily="34" charset="-122"/>
              </a:rPr>
              <a:t>BETWEEN</a:t>
            </a:r>
            <a:r>
              <a:rPr lang="zh-CN" altLang="en-US" sz="2400" dirty="0">
                <a:latin typeface="Arial" charset="0"/>
                <a:ea typeface="楷体_GB2312"/>
                <a:cs typeface="Arial Unicode MS" pitchFamily="34" charset="-122"/>
              </a:rPr>
              <a:t>、</a:t>
            </a:r>
            <a:r>
              <a:rPr lang="en-US" altLang="zh-CN" sz="2400" dirty="0">
                <a:latin typeface="Arial" charset="0"/>
                <a:ea typeface="楷体_GB2312"/>
                <a:cs typeface="Arial Unicode MS" pitchFamily="34" charset="-122"/>
              </a:rPr>
              <a:t>&gt;</a:t>
            </a:r>
            <a:r>
              <a:rPr lang="zh-CN" altLang="en-US" sz="2400" dirty="0">
                <a:latin typeface="Arial" charset="0"/>
                <a:ea typeface="楷体_GB2312"/>
                <a:cs typeface="Arial Unicode MS" pitchFamily="34" charset="-122"/>
              </a:rPr>
              <a:t>、</a:t>
            </a:r>
            <a:r>
              <a:rPr lang="en-US" altLang="zh-CN" sz="2400" dirty="0">
                <a:latin typeface="Arial" charset="0"/>
                <a:ea typeface="楷体_GB2312"/>
                <a:cs typeface="Arial Unicode MS" pitchFamily="34" charset="-122"/>
              </a:rPr>
              <a:t>&lt;</a:t>
            </a:r>
            <a:r>
              <a:rPr lang="zh-CN" altLang="en-US" sz="2400" dirty="0">
                <a:latin typeface="Arial" charset="0"/>
                <a:ea typeface="楷体_GB2312"/>
                <a:cs typeface="Arial Unicode MS" pitchFamily="34" charset="-122"/>
              </a:rPr>
              <a:t>）和排序操作（</a:t>
            </a:r>
            <a:r>
              <a:rPr lang="en-US" altLang="zh-CN" sz="2400" dirty="0">
                <a:latin typeface="Arial" charset="0"/>
                <a:ea typeface="楷体_GB2312"/>
                <a:cs typeface="Arial Unicode MS" pitchFamily="34" charset="-122"/>
              </a:rPr>
              <a:t>ORDER BY</a:t>
            </a:r>
            <a:r>
              <a:rPr lang="zh-CN" altLang="en-US" sz="2400" dirty="0">
                <a:latin typeface="Arial" charset="0"/>
                <a:ea typeface="楷体_GB2312"/>
                <a:cs typeface="Arial Unicode MS" pitchFamily="34" charset="-122"/>
              </a:rPr>
              <a:t>），因为叶子节点之间通过链表连接，可以高效地进行顺序扫描。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latin typeface="Arial" charset="0"/>
                <a:ea typeface="楷体_GB2312"/>
                <a:cs typeface="Arial Unicode MS" pitchFamily="34" charset="-122"/>
              </a:rPr>
              <a:t>由于主键索引和表数据存储在一起，使用主键进行等值查询（</a:t>
            </a:r>
            <a:r>
              <a:rPr lang="en-US" altLang="zh-CN" sz="2400" dirty="0">
                <a:latin typeface="Arial" charset="0"/>
                <a:ea typeface="楷体_GB2312"/>
                <a:cs typeface="Arial Unicode MS" pitchFamily="34" charset="-122"/>
              </a:rPr>
              <a:t>=</a:t>
            </a:r>
            <a:r>
              <a:rPr lang="zh-CN" altLang="en-US" sz="2400" dirty="0">
                <a:latin typeface="Arial" charset="0"/>
                <a:ea typeface="楷体_GB2312"/>
                <a:cs typeface="Arial Unicode MS" pitchFamily="34" charset="-122"/>
              </a:rPr>
              <a:t>）也非常高效。</a:t>
            </a:r>
          </a:p>
        </p:txBody>
      </p:sp>
    </p:spTree>
    <p:extLst>
      <p:ext uri="{BB962C8B-B14F-4D97-AF65-F5344CB8AC3E}">
        <p14:creationId xmlns:p14="http://schemas.microsoft.com/office/powerpoint/2010/main" val="399809454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6.1.4  MYSQL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索引的结构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49161" y="808893"/>
            <a:ext cx="11717170" cy="499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 </a:t>
            </a:r>
            <a:r>
              <a:rPr lang="en-US" altLang="zh-CN" sz="2800" b="1" dirty="0" err="1">
                <a:solidFill>
                  <a:srgbClr val="FF0000"/>
                </a:solidFill>
                <a:ea typeface="楷体_GB2312"/>
              </a:rPr>
              <a:t>MyISAM</a:t>
            </a:r>
            <a:r>
              <a:rPr lang="en-US" altLang="zh-CN" sz="2800" b="1" dirty="0">
                <a:solidFill>
                  <a:srgbClr val="FF0000"/>
                </a:solidFill>
                <a:ea typeface="楷体_GB231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a typeface="楷体_GB2312"/>
              </a:rPr>
              <a:t>存储引擎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ea typeface="楷体_GB2312"/>
              </a:rPr>
              <a:t>索引类型</a:t>
            </a:r>
            <a:r>
              <a:rPr lang="zh-CN" altLang="en-US" sz="2400" dirty="0">
                <a:ea typeface="楷体_GB2312"/>
              </a:rPr>
              <a:t>：</a:t>
            </a:r>
            <a:r>
              <a:rPr lang="en-US" altLang="zh-CN" sz="2400" dirty="0" err="1">
                <a:ea typeface="楷体_GB2312"/>
              </a:rPr>
              <a:t>MyISAM</a:t>
            </a:r>
            <a:r>
              <a:rPr lang="en-US" altLang="zh-CN" sz="2400" dirty="0">
                <a:ea typeface="楷体_GB2312"/>
              </a:rPr>
              <a:t> </a:t>
            </a:r>
            <a:r>
              <a:rPr lang="zh-CN" altLang="en-US" sz="2400" dirty="0">
                <a:ea typeface="楷体_GB2312"/>
              </a:rPr>
              <a:t>存储引擎使用的是 </a:t>
            </a:r>
            <a:r>
              <a:rPr lang="en-US" altLang="zh-CN" sz="2400" b="1" dirty="0">
                <a:solidFill>
                  <a:srgbClr val="FF0000"/>
                </a:solidFill>
                <a:ea typeface="楷体_GB2312"/>
              </a:rPr>
              <a:t>B - </a:t>
            </a:r>
            <a:r>
              <a:rPr lang="zh-CN" altLang="en-US" sz="2400" b="1" dirty="0">
                <a:solidFill>
                  <a:srgbClr val="FF0000"/>
                </a:solidFill>
                <a:ea typeface="楷体_GB2312"/>
              </a:rPr>
              <a:t>树</a:t>
            </a:r>
            <a:r>
              <a:rPr lang="zh-CN" altLang="en-US" sz="2400" b="1" dirty="0">
                <a:ea typeface="楷体_GB2312"/>
              </a:rPr>
              <a:t>索引</a:t>
            </a:r>
            <a:r>
              <a:rPr lang="zh-CN" altLang="en-US" sz="2400" dirty="0">
                <a:ea typeface="楷体_GB2312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ea typeface="楷体_GB2312"/>
              </a:rPr>
              <a:t>特点</a:t>
            </a:r>
            <a:r>
              <a:rPr lang="zh-CN" altLang="en-US" sz="2400" dirty="0">
                <a:ea typeface="楷体_GB2312"/>
              </a:rPr>
              <a:t>：</a:t>
            </a:r>
          </a:p>
          <a:p>
            <a:pPr lvl="1">
              <a:lnSpc>
                <a:spcPct val="120000"/>
              </a:lnSpc>
            </a:pPr>
            <a:r>
              <a:rPr lang="en-US" altLang="zh-CN" sz="2400" dirty="0" err="1">
                <a:ea typeface="楷体_GB2312"/>
              </a:rPr>
              <a:t>MyISAM</a:t>
            </a:r>
            <a:r>
              <a:rPr lang="en-US" altLang="zh-CN" sz="2400" dirty="0">
                <a:ea typeface="楷体_GB2312"/>
              </a:rPr>
              <a:t> </a:t>
            </a:r>
            <a:r>
              <a:rPr lang="zh-CN" altLang="en-US" sz="2400" dirty="0">
                <a:ea typeface="楷体_GB2312"/>
              </a:rPr>
              <a:t>的索引是典型的 </a:t>
            </a:r>
            <a:r>
              <a:rPr lang="en-US" altLang="zh-CN" sz="2400" dirty="0">
                <a:ea typeface="楷体_GB2312"/>
              </a:rPr>
              <a:t>B - </a:t>
            </a:r>
            <a:r>
              <a:rPr lang="zh-CN" altLang="en-US" sz="2400" dirty="0">
                <a:ea typeface="楷体_GB2312"/>
              </a:rPr>
              <a:t>树结构，数据可以存储在内部节点和叶子节点中。</a:t>
            </a:r>
          </a:p>
          <a:p>
            <a:pPr lvl="1">
              <a:lnSpc>
                <a:spcPct val="120000"/>
              </a:lnSpc>
            </a:pPr>
            <a:r>
              <a:rPr lang="en-US" altLang="zh-CN" sz="2400" dirty="0" err="1">
                <a:ea typeface="楷体_GB2312"/>
              </a:rPr>
              <a:t>MyISAM</a:t>
            </a:r>
            <a:r>
              <a:rPr lang="en-US" altLang="zh-CN" sz="2400" dirty="0">
                <a:ea typeface="楷体_GB2312"/>
              </a:rPr>
              <a:t> </a:t>
            </a:r>
            <a:r>
              <a:rPr lang="zh-CN" altLang="en-US" sz="2400" dirty="0">
                <a:ea typeface="楷体_GB2312"/>
              </a:rPr>
              <a:t>的表数据和索引是分开存储的。索引文件存储索引信息，数据文件存储实际的表数据。索引文件中的叶子节点存储的是指向数据文件中数据行的指针。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ea typeface="楷体_GB2312"/>
              </a:rPr>
              <a:t>适用场景</a:t>
            </a:r>
            <a:r>
              <a:rPr lang="zh-CN" altLang="en-US" sz="2400" dirty="0">
                <a:ea typeface="楷体_GB2312"/>
              </a:rPr>
              <a:t>：</a:t>
            </a:r>
          </a:p>
          <a:p>
            <a:pPr lvl="1">
              <a:lnSpc>
                <a:spcPct val="120000"/>
              </a:lnSpc>
            </a:pPr>
            <a:r>
              <a:rPr lang="en-US" altLang="zh-CN" sz="2400" dirty="0" err="1">
                <a:ea typeface="楷体_GB2312"/>
              </a:rPr>
              <a:t>MyISAM</a:t>
            </a:r>
            <a:r>
              <a:rPr lang="en-US" altLang="zh-CN" sz="2400" dirty="0">
                <a:ea typeface="楷体_GB2312"/>
              </a:rPr>
              <a:t> </a:t>
            </a:r>
            <a:r>
              <a:rPr lang="zh-CN" altLang="en-US" sz="2400" dirty="0">
                <a:ea typeface="楷体_GB2312"/>
              </a:rPr>
              <a:t>的 </a:t>
            </a:r>
            <a:r>
              <a:rPr lang="en-US" altLang="zh-CN" sz="2400" dirty="0">
                <a:ea typeface="楷体_GB2312"/>
              </a:rPr>
              <a:t>B - </a:t>
            </a:r>
            <a:r>
              <a:rPr lang="zh-CN" altLang="en-US" sz="2400" dirty="0">
                <a:ea typeface="楷体_GB2312"/>
              </a:rPr>
              <a:t>树索引适合等值查询（</a:t>
            </a:r>
            <a:r>
              <a:rPr lang="en-US" altLang="zh-CN" sz="2400" dirty="0">
                <a:ea typeface="楷体_GB2312"/>
              </a:rPr>
              <a:t>=</a:t>
            </a:r>
            <a:r>
              <a:rPr lang="zh-CN" altLang="en-US" sz="2400" dirty="0">
                <a:ea typeface="楷体_GB2312"/>
              </a:rPr>
              <a:t>），但在范围查询和排序操作方面可能不如 </a:t>
            </a:r>
            <a:r>
              <a:rPr lang="en-US" altLang="zh-CN" sz="2400" dirty="0">
                <a:ea typeface="楷体_GB2312"/>
              </a:rPr>
              <a:t>B + </a:t>
            </a:r>
            <a:r>
              <a:rPr lang="zh-CN" altLang="en-US" sz="2400" dirty="0">
                <a:ea typeface="楷体_GB2312"/>
              </a:rPr>
              <a:t>树高效。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ea typeface="楷体_GB2312"/>
              </a:rPr>
              <a:t>由于 </a:t>
            </a:r>
            <a:r>
              <a:rPr lang="en-US" altLang="zh-CN" sz="2400" dirty="0" err="1">
                <a:ea typeface="楷体_GB2312"/>
              </a:rPr>
              <a:t>MyISAM</a:t>
            </a:r>
            <a:r>
              <a:rPr lang="en-US" altLang="zh-CN" sz="2400" dirty="0">
                <a:ea typeface="楷体_GB2312"/>
              </a:rPr>
              <a:t> </a:t>
            </a:r>
            <a:r>
              <a:rPr lang="zh-CN" altLang="en-US" sz="2400" dirty="0">
                <a:ea typeface="楷体_GB2312"/>
              </a:rPr>
              <a:t>不支持事务和行级锁，它通常用于读多写少的场景，例如日志表或统计表。</a:t>
            </a:r>
          </a:p>
        </p:txBody>
      </p:sp>
    </p:spTree>
    <p:extLst>
      <p:ext uri="{BB962C8B-B14F-4D97-AF65-F5344CB8AC3E}">
        <p14:creationId xmlns:p14="http://schemas.microsoft.com/office/powerpoint/2010/main" val="167536500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6.1.4  MYSQL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索引的结构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49161" y="808893"/>
            <a:ext cx="1171717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  <a:ea typeface="楷体_GB2312"/>
                <a:cs typeface="Arial Unicode MS" pitchFamily="34" charset="-122"/>
              </a:rPr>
              <a:t>❀</a:t>
            </a:r>
            <a:r>
              <a:rPr lang="zh-CN" altLang="en-US" sz="2800" b="1" dirty="0">
                <a:solidFill>
                  <a:srgbClr val="FF0000"/>
                </a:solidFill>
                <a:ea typeface="楷体_GB2312"/>
              </a:rPr>
              <a:t>其他存储引擎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ea typeface="楷体_GB2312"/>
              </a:rPr>
              <a:t>MEMORY </a:t>
            </a:r>
            <a:r>
              <a:rPr lang="zh-CN" altLang="en-US" sz="2400" b="1" dirty="0">
                <a:ea typeface="楷体_GB2312"/>
              </a:rPr>
              <a:t>存储引擎</a:t>
            </a:r>
            <a:r>
              <a:rPr lang="zh-CN" altLang="en-US" sz="2400" dirty="0">
                <a:ea typeface="楷体_GB231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ea typeface="楷体_GB2312"/>
              </a:rPr>
              <a:t>默认使用</a:t>
            </a:r>
            <a:r>
              <a:rPr lang="zh-CN" altLang="en-US" sz="2400" b="1" dirty="0">
                <a:solidFill>
                  <a:srgbClr val="FF0000"/>
                </a:solidFill>
                <a:ea typeface="楷体_GB2312"/>
              </a:rPr>
              <a:t>哈希索引</a:t>
            </a:r>
            <a:r>
              <a:rPr lang="zh-CN" altLang="en-US" sz="2400" dirty="0">
                <a:ea typeface="楷体_GB2312"/>
              </a:rPr>
              <a:t>，但也可以显式创建 </a:t>
            </a:r>
            <a:r>
              <a:rPr lang="en-US" altLang="zh-CN" sz="2400" b="1" dirty="0">
                <a:solidFill>
                  <a:srgbClr val="FF0000"/>
                </a:solidFill>
                <a:ea typeface="楷体_GB2312"/>
              </a:rPr>
              <a:t>B - </a:t>
            </a:r>
            <a:r>
              <a:rPr lang="zh-CN" altLang="en-US" sz="2400" b="1" dirty="0">
                <a:solidFill>
                  <a:srgbClr val="FF0000"/>
                </a:solidFill>
                <a:ea typeface="楷体_GB2312"/>
              </a:rPr>
              <a:t>树</a:t>
            </a:r>
            <a:r>
              <a:rPr lang="zh-CN" altLang="en-US" sz="2400" dirty="0">
                <a:ea typeface="楷体_GB2312"/>
              </a:rPr>
              <a:t>索引。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ea typeface="楷体_GB2312"/>
              </a:rPr>
              <a:t>其他存储引擎</a:t>
            </a:r>
            <a:r>
              <a:rPr lang="zh-CN" altLang="en-US" sz="2400" dirty="0">
                <a:ea typeface="楷体_GB231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ea typeface="楷体_GB2312"/>
              </a:rPr>
              <a:t>一些其他存储引擎（如 </a:t>
            </a:r>
            <a:r>
              <a:rPr lang="en-US" altLang="zh-CN" sz="2400" dirty="0">
                <a:ea typeface="楷体_GB2312"/>
              </a:rPr>
              <a:t>NDB Cluster</a:t>
            </a:r>
            <a:r>
              <a:rPr lang="zh-CN" altLang="en-US" sz="2400" dirty="0">
                <a:ea typeface="楷体_GB2312"/>
              </a:rPr>
              <a:t>）可能使用不同的索引结构，具体取决于其设计目标和应用场景。</a:t>
            </a:r>
          </a:p>
        </p:txBody>
      </p:sp>
    </p:spTree>
    <p:extLst>
      <p:ext uri="{BB962C8B-B14F-4D97-AF65-F5344CB8AC3E}">
        <p14:creationId xmlns:p14="http://schemas.microsoft.com/office/powerpoint/2010/main" val="182331663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6.1.4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4300" y="852854"/>
            <a:ext cx="1201029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ea typeface="楷体_GB2312"/>
                <a:cs typeface="Arial Unicode MS" pitchFamily="34" charset="-122"/>
              </a:rPr>
              <a:t>❀</a:t>
            </a:r>
            <a:r>
              <a:rPr lang="zh-CN" altLang="en-US" sz="2800" b="1" dirty="0">
                <a:solidFill>
                  <a:srgbClr val="FF0000"/>
                </a:solidFill>
              </a:rPr>
              <a:t>在创建表时创建索引：</a:t>
            </a:r>
            <a:endParaRPr lang="zh-CN" altLang="zh-CN" sz="2800" b="1" dirty="0">
              <a:solidFill>
                <a:srgbClr val="FF0000"/>
              </a:solidFill>
              <a:latin typeface="Arial" charset="0"/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dirty="0"/>
              <a:t>CREATE TABLE </a:t>
            </a:r>
            <a:r>
              <a:rPr lang="en-US" altLang="zh-CN" sz="2800" dirty="0" err="1"/>
              <a:t>table_name</a:t>
            </a:r>
            <a:r>
              <a:rPr lang="en-US" altLang="zh-CN" sz="2800" dirty="0"/>
              <a:t> (</a:t>
            </a:r>
          </a:p>
          <a:p>
            <a:pPr>
              <a:spcBef>
                <a:spcPct val="50000"/>
              </a:spcBef>
            </a:pPr>
            <a:r>
              <a:rPr lang="en-US" altLang="zh-CN" sz="2800" dirty="0"/>
              <a:t> column1 datatype,column2 datatype, ... 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[UNIQUE] INDEX </a:t>
            </a:r>
            <a:r>
              <a:rPr lang="en-US" altLang="zh-CN" sz="2800" dirty="0" err="1">
                <a:solidFill>
                  <a:srgbClr val="FF0000"/>
                </a:solidFill>
              </a:rPr>
              <a:t>index_name</a:t>
            </a:r>
            <a:r>
              <a:rPr lang="en-US" altLang="zh-CN" sz="2800" dirty="0">
                <a:solidFill>
                  <a:srgbClr val="FF0000"/>
                </a:solidFill>
              </a:rPr>
              <a:t> (</a:t>
            </a: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楷体_GB2312" pitchFamily="49" charset="-122"/>
                <a:cs typeface="Arial Unicode MS" pitchFamily="34" charset="-122"/>
              </a:rPr>
              <a:t>column1 [ASC|DESC] </a:t>
            </a:r>
            <a:r>
              <a:rPr lang="en-US" altLang="zh-CN" sz="2800" dirty="0">
                <a:solidFill>
                  <a:srgbClr val="FF0000"/>
                </a:solidFill>
              </a:rPr>
              <a:t>,…) </a:t>
            </a:r>
            <a:r>
              <a:rPr lang="en-US" altLang="zh-CN" sz="2800" dirty="0"/>
              <a:t>);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ea typeface="楷体_GB2312"/>
                <a:cs typeface="Arial Unicode MS" pitchFamily="34" charset="-122"/>
              </a:rPr>
              <a:t>❀</a:t>
            </a:r>
            <a:r>
              <a:rPr lang="zh-CN" altLang="en-US" sz="2800" b="1" dirty="0">
                <a:solidFill>
                  <a:srgbClr val="FF0000"/>
                </a:solidFill>
              </a:rPr>
              <a:t>为已存在的表添加普通索引： 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2800" dirty="0"/>
              <a:t>ALTER TABLE </a:t>
            </a:r>
            <a:r>
              <a:rPr lang="en-US" altLang="zh-CN" sz="2800" dirty="0" err="1"/>
              <a:t>table_name</a:t>
            </a:r>
            <a:r>
              <a:rPr lang="en-US" altLang="zh-CN" sz="2800" dirty="0"/>
              <a:t> ADD [UNIQUE] INDEX </a:t>
            </a:r>
            <a:r>
              <a:rPr lang="en-US" altLang="zh-CN" sz="2800" dirty="0" err="1"/>
              <a:t>index_name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rgbClr val="FF0000"/>
                </a:solidFill>
              </a:rPr>
              <a:t>index_name</a:t>
            </a:r>
            <a:r>
              <a:rPr lang="en-US" altLang="zh-CN" sz="2800" dirty="0">
                <a:solidFill>
                  <a:srgbClr val="FF0000"/>
                </a:solidFill>
              </a:rPr>
              <a:t> (</a:t>
            </a: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楷体_GB2312" pitchFamily="49" charset="-122"/>
                <a:cs typeface="Arial Unicode MS" pitchFamily="34" charset="-122"/>
              </a:rPr>
              <a:t>column1 [ASC|DESC] ,….</a:t>
            </a:r>
            <a:r>
              <a:rPr lang="en-US" altLang="zh-CN" sz="2800" dirty="0">
                <a:solidFill>
                  <a:srgbClr val="FF0000"/>
                </a:solidFill>
              </a:rPr>
              <a:t>) ;</a:t>
            </a:r>
            <a:endParaRPr lang="en-US" altLang="zh-CN" sz="2800" dirty="0"/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ea typeface="楷体_GB2312"/>
                <a:cs typeface="Arial Unicode MS" pitchFamily="34" charset="-122"/>
              </a:rPr>
              <a:t>❀</a:t>
            </a:r>
            <a:r>
              <a:rPr lang="zh-CN" altLang="en-US" sz="2800" dirty="0">
                <a:solidFill>
                  <a:srgbClr val="FF0000"/>
                </a:solidFill>
              </a:rPr>
              <a:t>使用 </a:t>
            </a:r>
            <a:r>
              <a:rPr lang="en-US" altLang="zh-CN" sz="2800" dirty="0">
                <a:solidFill>
                  <a:srgbClr val="FF0000"/>
                </a:solidFill>
              </a:rPr>
              <a:t>CREATE INDEX </a:t>
            </a:r>
            <a:r>
              <a:rPr lang="zh-CN" altLang="en-US" sz="2800" dirty="0">
                <a:solidFill>
                  <a:srgbClr val="FF0000"/>
                </a:solidFill>
              </a:rPr>
              <a:t>语句： 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2800" dirty="0"/>
              <a:t>CREATE INDEX [UNIQUE] </a:t>
            </a:r>
            <a:r>
              <a:rPr lang="en-US" altLang="zh-CN" sz="2800" dirty="0" err="1"/>
              <a:t>index_name</a:t>
            </a:r>
            <a:r>
              <a:rPr lang="en-US" altLang="zh-CN" sz="2800" dirty="0"/>
              <a:t> ON </a:t>
            </a:r>
            <a:r>
              <a:rPr lang="en-US" altLang="zh-CN" sz="2800" dirty="0" err="1"/>
              <a:t>table_name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楷体_GB2312" pitchFamily="49" charset="-122"/>
                <a:cs typeface="Arial Unicode MS" pitchFamily="34" charset="-122"/>
              </a:rPr>
              <a:t>column1 [ASC|DESC] </a:t>
            </a:r>
            <a:r>
              <a:rPr lang="en-US" altLang="zh-CN" sz="2800" dirty="0">
                <a:solidFill>
                  <a:srgbClr val="FF0000"/>
                </a:solidFill>
              </a:rPr>
              <a:t>…) ;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 </a:t>
            </a:r>
            <a:endParaRPr lang="zh-CN" altLang="zh-CN" sz="2800" dirty="0">
              <a:latin typeface="Arial" charset="0"/>
              <a:ea typeface="楷体_GB2312" pitchFamily="49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489829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6.1.4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4300" y="852854"/>
            <a:ext cx="1201029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ea typeface="楷体_GB2312"/>
                <a:cs typeface="Arial Unicode MS" pitchFamily="34" charset="-122"/>
              </a:rPr>
              <a:t>❀</a:t>
            </a:r>
            <a:r>
              <a:rPr lang="zh-CN" altLang="en-US" sz="2800" b="1" dirty="0">
                <a:solidFill>
                  <a:srgbClr val="FF0000"/>
                </a:solidFill>
              </a:rPr>
              <a:t>全文索引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  <a:r>
              <a:rPr lang="zh-CN" altLang="en-US" sz="2400" b="1" dirty="0"/>
              <a:t>全文索引主要用于对文本数据进行全文搜索。它可以快速定位到包含特定单词或短语的文本数据。全文索引适用于对大量文本数据进行搜索的场景，如新闻文章、博客内容等</a:t>
            </a:r>
            <a:endParaRPr lang="zh-CN" altLang="zh-CN" sz="2800" b="1" dirty="0">
              <a:solidFill>
                <a:srgbClr val="FF0000"/>
              </a:solidFill>
              <a:latin typeface="Arial" charset="0"/>
              <a:ea typeface="楷体_GB2312" pitchFamily="49" charset="-122"/>
              <a:cs typeface="Arial Unicode MS" pitchFamily="34" charset="-122"/>
            </a:endParaRPr>
          </a:p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/>
              <a:t>CREATE TABLE </a:t>
            </a:r>
            <a:r>
              <a:rPr lang="en-US" altLang="zh-CN" sz="2800" dirty="0" err="1"/>
              <a:t>table_name</a:t>
            </a:r>
            <a:r>
              <a:rPr lang="en-US" altLang="zh-CN" sz="2800" dirty="0"/>
              <a:t> ( column1 datatype, column2 datatype, ... FULLTEXT INDEX </a:t>
            </a:r>
            <a:r>
              <a:rPr lang="en-US" altLang="zh-CN" sz="2800" dirty="0" err="1"/>
              <a:t>index_name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column_name</a:t>
            </a:r>
            <a:r>
              <a:rPr lang="en-US" altLang="zh-CN" sz="2800" dirty="0"/>
              <a:t>) );</a:t>
            </a:r>
          </a:p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/>
              <a:t>ALTER TABLE </a:t>
            </a:r>
            <a:r>
              <a:rPr lang="en-US" altLang="zh-CN" sz="2800" dirty="0" err="1"/>
              <a:t>table_name</a:t>
            </a:r>
            <a:r>
              <a:rPr lang="en-US" altLang="zh-CN" sz="2800" dirty="0"/>
              <a:t> ADD FULLTEXT INDEX </a:t>
            </a:r>
            <a:r>
              <a:rPr lang="en-US" altLang="zh-CN" sz="2800" dirty="0" err="1"/>
              <a:t>index_name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column_name</a:t>
            </a:r>
            <a:r>
              <a:rPr lang="en-US" altLang="zh-CN" sz="2800" dirty="0"/>
              <a:t>);</a:t>
            </a:r>
          </a:p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/>
              <a:t>CREATE FULLTEXT INDEX </a:t>
            </a:r>
            <a:r>
              <a:rPr lang="en-US" altLang="zh-CN" sz="2800" dirty="0" err="1"/>
              <a:t>index_name</a:t>
            </a:r>
            <a:r>
              <a:rPr lang="en-US" altLang="zh-CN" sz="2800" dirty="0"/>
              <a:t> ON </a:t>
            </a:r>
            <a:r>
              <a:rPr lang="en-US" altLang="zh-CN" sz="2800" dirty="0" err="1"/>
              <a:t>table_name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column_name</a:t>
            </a:r>
            <a:r>
              <a:rPr lang="en-US" altLang="zh-CN" sz="2800" dirty="0"/>
              <a:t>);</a:t>
            </a:r>
            <a:endParaRPr lang="zh-CN" altLang="zh-CN" sz="2800" dirty="0">
              <a:latin typeface="Arial" charset="0"/>
              <a:ea typeface="楷体_GB2312" pitchFamily="49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473168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6.1.4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创建索引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9276" y="852854"/>
            <a:ext cx="115794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】</a:t>
            </a:r>
            <a:r>
              <a:rPr lang="zh-CN" altLang="zh-CN" sz="2800" dirty="0"/>
              <a:t>下列命令在</a:t>
            </a:r>
            <a:r>
              <a:rPr lang="en-US" altLang="zh-CN" sz="2800" dirty="0"/>
              <a:t>Stock</a:t>
            </a:r>
            <a:r>
              <a:rPr lang="zh-CN" altLang="zh-CN" sz="2800" dirty="0"/>
              <a:t>的</a:t>
            </a:r>
            <a:r>
              <a:rPr lang="en-US" altLang="zh-CN" sz="2800" dirty="0" err="1"/>
              <a:t>mat_name</a:t>
            </a:r>
            <a:r>
              <a:rPr lang="en-US" altLang="zh-CN" sz="2800" dirty="0"/>
              <a:t> </a:t>
            </a:r>
            <a:r>
              <a:rPr lang="zh-CN" altLang="zh-CN" sz="2800" dirty="0"/>
              <a:t>列上建立一个非聚簇索引：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CREATE INDEX  </a:t>
            </a:r>
            <a:r>
              <a:rPr lang="en-US" altLang="zh-CN" sz="2800" dirty="0" err="1">
                <a:solidFill>
                  <a:srgbClr val="FF0000"/>
                </a:solidFill>
              </a:rPr>
              <a:t>Index_mat_name</a:t>
            </a:r>
            <a:r>
              <a:rPr lang="en-US" altLang="zh-CN" sz="2800" dirty="0">
                <a:solidFill>
                  <a:srgbClr val="FF0000"/>
                </a:solidFill>
              </a:rPr>
              <a:t>  ON Stock(</a:t>
            </a:r>
            <a:r>
              <a:rPr lang="en-US" altLang="zh-CN" sz="2800" dirty="0" err="1">
                <a:solidFill>
                  <a:srgbClr val="FF0000"/>
                </a:solidFill>
              </a:rPr>
              <a:t>mat_name</a:t>
            </a:r>
            <a:r>
              <a:rPr lang="en-US" altLang="zh-CN" sz="2800" dirty="0">
                <a:solidFill>
                  <a:srgbClr val="FF0000"/>
                </a:solidFill>
              </a:rPr>
              <a:t> DESC);</a:t>
            </a:r>
            <a:endParaRPr lang="zh-CN" altLang="zh-CN" sz="2800" dirty="0">
              <a:solidFill>
                <a:srgbClr val="FF0000"/>
              </a:solidFill>
            </a:endParaRPr>
          </a:p>
          <a:p>
            <a:endParaRPr lang="en-US" altLang="zh-CN" sz="2800" dirty="0"/>
          </a:p>
          <a:p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】</a:t>
            </a:r>
            <a:r>
              <a:rPr lang="zh-CN" altLang="zh-CN" sz="2800" dirty="0"/>
              <a:t>下列命令可以创建一个组合索引：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CREATE INDEX  </a:t>
            </a:r>
            <a:r>
              <a:rPr lang="en-US" altLang="zh-CN" sz="2800" dirty="0" err="1">
                <a:solidFill>
                  <a:srgbClr val="FF0000"/>
                </a:solidFill>
              </a:rPr>
              <a:t>Index_name_spec</a:t>
            </a:r>
            <a:r>
              <a:rPr lang="en-US" altLang="zh-CN" sz="2800" dirty="0">
                <a:solidFill>
                  <a:srgbClr val="FF0000"/>
                </a:solidFill>
              </a:rPr>
              <a:t>  ON Salvaging(</a:t>
            </a:r>
            <a:r>
              <a:rPr lang="en-US" altLang="zh-CN" sz="2800" dirty="0" err="1">
                <a:solidFill>
                  <a:srgbClr val="FF0000"/>
                </a:solidFill>
              </a:rPr>
              <a:t>prj_name,spec</a:t>
            </a:r>
            <a:r>
              <a:rPr lang="en-US" altLang="zh-CN" sz="2800" dirty="0">
                <a:solidFill>
                  <a:srgbClr val="FF0000"/>
                </a:solidFill>
              </a:rPr>
              <a:t>);</a:t>
            </a:r>
            <a:endParaRPr lang="zh-CN" altLang="zh-C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00248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6.1.5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何时创建索引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9276" y="852854"/>
            <a:ext cx="1157947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下列情况，</a:t>
            </a:r>
            <a:r>
              <a:rPr lang="zh-CN" altLang="zh-CN" sz="2800" dirty="0"/>
              <a:t>推荐在该列上创建索引</a:t>
            </a:r>
            <a:r>
              <a:rPr lang="zh-CN" altLang="en-US" sz="2800" dirty="0"/>
              <a:t>：</a:t>
            </a:r>
            <a:endParaRPr kumimoji="1" lang="en-US" altLang="zh-CN" sz="2800" b="1" dirty="0">
              <a:solidFill>
                <a:srgbClr val="FF3300"/>
              </a:solidFill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需要在该列搜索符合特定搜索关键字值的行，即精确匹配查询，如在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WHERE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子句中指定</a:t>
            </a:r>
            <a:r>
              <a:rPr lang="en-US" altLang="zh-CN" sz="2800" dirty="0" err="1">
                <a:latin typeface="Arial" charset="0"/>
                <a:ea typeface="楷体_GB2312" pitchFamily="49" charset="-122"/>
                <a:cs typeface="Arial Unicode MS" pitchFamily="34" charset="-122"/>
              </a:rPr>
              <a:t>mat_no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=' m01'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需要在该列搜索关键字值属于某一特定范围值的行，即查询范围，例如在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WHERE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子句中指定：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amount between 200 and 300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在表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Table1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中搜索根据连接谓词与表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Table2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中的某个行匹配的行。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在不进行显式排序操作的情况下（如不用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order by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子句）产生经排序的查询输出。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使用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Like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进行比较查询，且模式以特定字符串如“</a:t>
            </a:r>
            <a:r>
              <a:rPr lang="en-US" altLang="zh-CN" sz="2800" dirty="0" err="1">
                <a:latin typeface="Arial" charset="0"/>
                <a:ea typeface="楷体_GB2312" pitchFamily="49" charset="-122"/>
                <a:cs typeface="Arial Unicode MS" pitchFamily="34" charset="-122"/>
              </a:rPr>
              <a:t>abc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%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”开头。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搜索已定义了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Foreign Key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约束的两个表之间匹配的行。</a:t>
            </a:r>
          </a:p>
        </p:txBody>
      </p:sp>
    </p:spTree>
    <p:extLst>
      <p:ext uri="{BB962C8B-B14F-4D97-AF65-F5344CB8AC3E}">
        <p14:creationId xmlns:p14="http://schemas.microsoft.com/office/powerpoint/2010/main" val="202674593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6.1.5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何时创建索引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9276" y="852854"/>
            <a:ext cx="1157947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MYSQL</a:t>
            </a:r>
            <a:r>
              <a:rPr lang="zh-CN" altLang="en-US" sz="2800" dirty="0"/>
              <a:t>下查看</a:t>
            </a:r>
            <a:r>
              <a:rPr lang="zh-CN" altLang="zh-CN" sz="2800" dirty="0"/>
              <a:t>索引</a:t>
            </a:r>
            <a:r>
              <a:rPr lang="zh-CN" altLang="en-US" sz="2800" dirty="0"/>
              <a:t>是否起作用：</a:t>
            </a:r>
            <a:endParaRPr lang="en-US" altLang="zh-CN" sz="2800" dirty="0"/>
          </a:p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explain select * from stock 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where </a:t>
            </a:r>
            <a:r>
              <a:rPr kumimoji="1" lang="en-US" altLang="zh-CN" sz="2800" b="1" dirty="0" err="1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mat_num</a:t>
            </a: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&gt;='m001' and </a:t>
            </a:r>
            <a:r>
              <a:rPr kumimoji="1" lang="en-US" altLang="zh-CN" sz="2800" b="1" dirty="0" err="1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mat_num</a:t>
            </a: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&lt;='m003';</a:t>
            </a:r>
          </a:p>
          <a:p>
            <a:pPr>
              <a:spcBef>
                <a:spcPct val="50000"/>
              </a:spcBef>
            </a:pPr>
            <a:endParaRPr kumimoji="1" lang="en-US" altLang="zh-CN" sz="2800" b="1" dirty="0">
              <a:solidFill>
                <a:srgbClr val="FF3300"/>
              </a:solidFill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endParaRPr kumimoji="1" lang="en-US" altLang="zh-CN" sz="2800" b="1" dirty="0">
              <a:solidFill>
                <a:srgbClr val="FF3300"/>
              </a:solidFill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explain select * from stock where </a:t>
            </a:r>
            <a:r>
              <a:rPr kumimoji="1" lang="en-US" altLang="zh-CN" sz="2800" b="1" dirty="0" err="1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mat_name</a:t>
            </a: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 like '</a:t>
            </a: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绝缘</a:t>
            </a: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%';</a:t>
            </a:r>
          </a:p>
          <a:p>
            <a:pPr>
              <a:spcBef>
                <a:spcPct val="50000"/>
              </a:spcBef>
            </a:pPr>
            <a:endParaRPr kumimoji="1" lang="en-US" altLang="zh-CN" sz="2800" b="1" dirty="0">
              <a:solidFill>
                <a:srgbClr val="FF3300"/>
              </a:solidFill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 explain select * from stock where </a:t>
            </a:r>
            <a:r>
              <a:rPr kumimoji="1" lang="en-US" altLang="zh-CN" sz="2800" b="1" dirty="0" err="1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mat_name</a:t>
            </a: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 like '%</a:t>
            </a: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绝缘</a:t>
            </a:r>
            <a:r>
              <a:rPr kumimoji="1" lang="en-US" altLang="zh-CN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%';</a:t>
            </a:r>
          </a:p>
          <a:p>
            <a:pPr>
              <a:spcBef>
                <a:spcPct val="50000"/>
              </a:spcBef>
            </a:pPr>
            <a:endParaRPr kumimoji="1" lang="en-US" altLang="zh-CN" sz="2800" b="1" dirty="0">
              <a:solidFill>
                <a:srgbClr val="FF3300"/>
              </a:solidFill>
              <a:ea typeface="楷体_GB2312" pitchFamily="49" charset="-122"/>
              <a:cs typeface="Arial Unicode MS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94" y="2797802"/>
            <a:ext cx="11556634" cy="103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42" y="4537197"/>
            <a:ext cx="11793538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42" y="5831881"/>
            <a:ext cx="11701340" cy="71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823459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第六章    索引及查询优化</a:t>
            </a:r>
            <a:endParaRPr lang="en-US" altLang="zh-CN" sz="4000" b="1" dirty="0">
              <a:solidFill>
                <a:srgbClr val="003300"/>
              </a:solidFill>
            </a:endParaRPr>
          </a:p>
          <a:p>
            <a:pPr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6.1 </a:t>
            </a:r>
            <a:r>
              <a:rPr lang="zh-CN" altLang="en-US" sz="3200" b="1" dirty="0"/>
              <a:t>索引</a:t>
            </a: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6.2 </a:t>
            </a:r>
            <a:r>
              <a:rPr lang="zh-CN" altLang="en-US" sz="3200" b="1" dirty="0">
                <a:solidFill>
                  <a:srgbClr val="FF0000"/>
                </a:solidFill>
              </a:rPr>
              <a:t>查询优化技巧</a:t>
            </a:r>
            <a:r>
              <a:rPr lang="en-US" altLang="zh-CN" sz="3200" b="1" dirty="0"/>
              <a:t>	</a:t>
            </a:r>
            <a:endParaRPr lang="zh-CN" altLang="en-US" sz="3200" b="1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3294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查询优化技巧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数据库设计方面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9276" y="852854"/>
            <a:ext cx="1157947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对查询进行优化，应尽量避免全表扫描，首先应考虑在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 where 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及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 order by 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涉及的列上建立索引。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应尽量避免在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 where 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子句中对字段进行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 null 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值判断，否则将导致引擎放弃使用索引而进行全表扫描</a:t>
            </a:r>
            <a:r>
              <a:rPr lang="zh-CN" altLang="en-US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。</a:t>
            </a:r>
            <a:endParaRPr lang="en-US" altLang="zh-CN" sz="2800" dirty="0">
              <a:latin typeface="Arial" charset="0"/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【</a:t>
            </a:r>
            <a:r>
              <a:rPr lang="zh-CN" altLang="en-US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例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】 select id from t where </a:t>
            </a:r>
            <a:r>
              <a:rPr lang="en-US" altLang="zh-CN" sz="2800" dirty="0" err="1">
                <a:latin typeface="Arial" charset="0"/>
                <a:ea typeface="楷体_GB2312" pitchFamily="49" charset="-122"/>
                <a:cs typeface="Arial Unicode MS" pitchFamily="34" charset="-122"/>
              </a:rPr>
              <a:t>num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 is null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 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可以在</a:t>
            </a:r>
            <a:r>
              <a:rPr lang="en-US" altLang="zh-CN" sz="2800" dirty="0" err="1">
                <a:latin typeface="Arial" charset="0"/>
                <a:ea typeface="楷体_GB2312" pitchFamily="49" charset="-122"/>
                <a:cs typeface="Arial Unicode MS" pitchFamily="34" charset="-122"/>
              </a:rPr>
              <a:t>num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上设置默认值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0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，确保表中</a:t>
            </a:r>
            <a:r>
              <a:rPr lang="en-US" altLang="zh-CN" sz="2800" dirty="0" err="1">
                <a:latin typeface="Arial" charset="0"/>
                <a:ea typeface="楷体_GB2312" pitchFamily="49" charset="-122"/>
                <a:cs typeface="Arial Unicode MS" pitchFamily="34" charset="-122"/>
              </a:rPr>
              <a:t>num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列没有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null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值</a:t>
            </a:r>
            <a:endParaRPr lang="en-US" altLang="zh-CN" sz="2800" dirty="0">
              <a:latin typeface="Arial" charset="0"/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  select id from t where </a:t>
            </a:r>
            <a:r>
              <a:rPr lang="en-US" altLang="zh-CN" sz="2800" dirty="0" err="1">
                <a:latin typeface="Arial" charset="0"/>
                <a:ea typeface="楷体_GB2312" pitchFamily="49" charset="-122"/>
                <a:cs typeface="Arial Unicode MS" pitchFamily="34" charset="-122"/>
              </a:rPr>
              <a:t>num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=0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并不是所有索引对查询都有效，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SQL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是根据表中数据来进行查询优化的，当索引列有大量数据重复时</a:t>
            </a:r>
            <a:r>
              <a:rPr lang="en-US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,</a:t>
            </a:r>
            <a:r>
              <a:rPr lang="zh-CN" altLang="zh-CN" sz="2800" dirty="0">
                <a:latin typeface="Arial" charset="0"/>
                <a:ea typeface="楷体_GB2312" pitchFamily="49" charset="-122"/>
                <a:cs typeface="Arial Unicode MS" pitchFamily="34" charset="-122"/>
              </a:rPr>
              <a:t>查询可能不会去利用索引。</a:t>
            </a:r>
          </a:p>
          <a:p>
            <a:endParaRPr lang="zh-CN" altLang="zh-CN" sz="2800" dirty="0">
              <a:latin typeface="Arial" charset="0"/>
              <a:ea typeface="楷体_GB2312" pitchFamily="49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959778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查询优化技巧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数据库设计方面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9276" y="852854"/>
            <a:ext cx="1157947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索引并不是越多越好，索引固然可以提高相应的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select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的效率，但同时也降低了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insert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及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update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的效率。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应尽可能的避免更新聚集索引数据列。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尽量使用数字型字段</a:t>
            </a:r>
            <a:r>
              <a:rPr kumimoji="1" lang="zh-CN" altLang="en-US" sz="2800" dirty="0">
                <a:ea typeface="楷体_GB2312" pitchFamily="49" charset="-122"/>
                <a:cs typeface="Arial Unicode MS" pitchFamily="34" charset="-122"/>
              </a:rPr>
              <a:t>，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这是因为引擎在处理查询和连接时会逐个比较字符串中每一个字符，而对于数字型而言只需要比较一次就够了。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尽可能的使用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varchar/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nvarchar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代替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char/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nchar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，因为变长字段存储空间小，可以节省存储空间。</a:t>
            </a:r>
          </a:p>
        </p:txBody>
      </p:sp>
    </p:spTree>
    <p:extLst>
      <p:ext uri="{BB962C8B-B14F-4D97-AF65-F5344CB8AC3E}">
        <p14:creationId xmlns:p14="http://schemas.microsoft.com/office/powerpoint/2010/main" val="14226576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查询优化技巧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 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语句方面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9276" y="852854"/>
            <a:ext cx="11579470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应尽量避免在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where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子句中使用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!=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或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&lt;&gt;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操作符，否则将引擎放弃使用索引而进行全表扫描。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应尽量避免在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where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子句中使用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or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来连接条件，否则将导致引擎放弃使用索引而进行全表扫描，如：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 select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prj_num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fromout_stock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mat_num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=’m001’ or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mat_num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=’m002’;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可以这样查询：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select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prj_num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fromout_stock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mat_num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=’m001’ 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union all 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select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prj_num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fromout_stock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mat_num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=’m002’;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（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3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）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in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和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not in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也要慎用，否则会导致全表扫描，如：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 select id from t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in(1,2,3)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对于连续的数值，能用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between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就不要用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in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了：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 select id from t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between 1 and 3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994457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查询优化技巧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 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语句方面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9276" y="852854"/>
            <a:ext cx="1157947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in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和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not in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也要慎用，否则会导致全表扫描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</a:t>
            </a:r>
            <a:r>
              <a:rPr kumimoji="1" lang="zh-CN" altLang="en-US" sz="2800" dirty="0">
                <a:ea typeface="楷体_GB2312" pitchFamily="49" charset="-122"/>
                <a:cs typeface="Arial Unicode MS" pitchFamily="34" charset="-122"/>
              </a:rPr>
              <a:t>例如：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select id from t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in(1,2,3)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对于连续的数值，能用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between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就不要用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in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 select id from t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between 1 and 3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应尽量避免在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where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子句中对索引字段进行表达式操作，这将导致引擎放弃使用索引而进行全表扫描。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</a:t>
            </a:r>
            <a:r>
              <a:rPr kumimoji="1" lang="zh-CN" altLang="en-US" sz="2800" dirty="0">
                <a:ea typeface="楷体_GB2312" pitchFamily="49" charset="-122"/>
                <a:cs typeface="Arial Unicode MS" pitchFamily="34" charset="-122"/>
              </a:rPr>
              <a:t>例如：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select id from t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/2=100 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           select id from t where name like ‘%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abc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%’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828519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查询优化技巧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 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语句方面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9276" y="852854"/>
            <a:ext cx="1157947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33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应尽量避免在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where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子句中对字段进行函数操作，这将导致引擎放弃使用索引而进行全表扫描。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ea typeface="楷体_GB2312" pitchFamily="49" charset="-122"/>
                <a:cs typeface="Arial Unicode MS" pitchFamily="34" charset="-122"/>
              </a:rPr>
              <a:t>例如：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select id from t where substring(name,1,3)=’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abc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’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          select id from t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datediff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(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day,createdate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,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’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2005-11-30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′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)=0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应改为：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select id from t where name like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‘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abc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%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’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select id from t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createdate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&gt;=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’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2005-11-30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′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                             and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createdate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&lt;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’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2005-12-1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′</a:t>
            </a:r>
          </a:p>
        </p:txBody>
      </p:sp>
    </p:spTree>
    <p:extLst>
      <p:ext uri="{BB962C8B-B14F-4D97-AF65-F5344CB8AC3E}">
        <p14:creationId xmlns:p14="http://schemas.microsoft.com/office/powerpoint/2010/main" val="428247500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查询优化技巧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 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语句方面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6265" y="663388"/>
            <a:ext cx="1157947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很多时候用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exists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代替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in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是一个好的选择： 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</a:t>
            </a:r>
            <a:r>
              <a:rPr kumimoji="1" lang="zh-CN" altLang="en-US" sz="2800" dirty="0">
                <a:ea typeface="楷体_GB2312" pitchFamily="49" charset="-122"/>
                <a:cs typeface="Arial Unicode MS" pitchFamily="34" charset="-122"/>
              </a:rPr>
              <a:t>例如：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select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from a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in(select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from b) 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用下面的语句替换：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select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from a where exists(select 1 from b where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=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a.num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)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任何地方都不要使用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select * from t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，用具体的字段列表代替“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*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”，不要返回用不到的任何字段。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能用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DISTINCT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的就不用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GROUP BY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ea typeface="楷体_GB2312" pitchFamily="49" charset="-122"/>
                <a:cs typeface="Arial Unicode MS" pitchFamily="34" charset="-122"/>
              </a:rPr>
              <a:t>例如：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SELECT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prj_num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FROM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out_stock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GROUP BY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prj_num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可改为：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         SELECT DISTINCT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prj_num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FROM </a:t>
            </a:r>
            <a:r>
              <a:rPr kumimoji="1" lang="en-US" altLang="zh-CN" sz="2800" dirty="0" err="1">
                <a:ea typeface="楷体_GB2312" pitchFamily="49" charset="-122"/>
                <a:cs typeface="Arial Unicode MS" pitchFamily="34" charset="-122"/>
              </a:rPr>
              <a:t>out_stock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325736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查询优化技巧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 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语句方面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6265" y="663388"/>
            <a:ext cx="1157947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如果应用程序有很多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JOIN 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查询，应该确认两个表中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Join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的字段是被建过索引的。</a:t>
            </a:r>
            <a:endParaRPr kumimoji="1" lang="en-US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任何在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order by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语句的非索引项或者有计算表达式都将降低查询速度。</a:t>
            </a:r>
            <a:endParaRPr kumimoji="1" lang="en-US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尽量避免使用游标，因为游标的效率较差。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尽量避免向客户端返回大数据量，若数据量过大，应该考虑相应需求是否合理。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尽量避免大事务操作，提高系统并发能力。</a:t>
            </a:r>
          </a:p>
        </p:txBody>
      </p:sp>
    </p:spTree>
    <p:extLst>
      <p:ext uri="{BB962C8B-B14F-4D97-AF65-F5344CB8AC3E}">
        <p14:creationId xmlns:p14="http://schemas.microsoft.com/office/powerpoint/2010/main" val="305096614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查询优化技巧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优化数据库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45870" y="821649"/>
            <a:ext cx="1157947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硬件调整性能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调整数据库</a:t>
            </a:r>
            <a:endParaRPr kumimoji="1" lang="en-US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使用存储过程</a:t>
            </a:r>
            <a:endParaRPr kumimoji="1" lang="en-US" altLang="zh-CN" sz="2800" dirty="0">
              <a:ea typeface="楷体_GB2312" pitchFamily="49" charset="-122"/>
              <a:cs typeface="Arial Unicode MS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ea typeface="楷体_GB2312" pitchFamily="49" charset="-122"/>
                <a:cs typeface="Arial Unicode MS" pitchFamily="34" charset="-122"/>
              </a:rPr>
              <a:t>❀</a:t>
            </a:r>
            <a:r>
              <a:rPr kumimoji="1" lang="zh-CN" altLang="zh-CN" sz="2800" dirty="0">
                <a:ea typeface="楷体_GB2312" pitchFamily="49" charset="-122"/>
                <a:cs typeface="Arial Unicode MS" pitchFamily="34" charset="-122"/>
              </a:rPr>
              <a:t>应用程序结构和算法</a:t>
            </a:r>
            <a:r>
              <a:rPr kumimoji="1" lang="en-US" altLang="zh-CN" sz="2800" dirty="0">
                <a:ea typeface="楷体_GB2312" pitchFamily="49" charset="-122"/>
                <a:cs typeface="Arial Unicode MS" pitchFamily="34" charset="-122"/>
              </a:rPr>
              <a:t> </a:t>
            </a:r>
            <a:endParaRPr kumimoji="1" lang="zh-CN" altLang="zh-CN" sz="2800" dirty="0">
              <a:ea typeface="楷体_GB2312" pitchFamily="49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405620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965" y="858982"/>
            <a:ext cx="10985119" cy="170895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索引的概念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通过索引提高查询效率</a:t>
            </a:r>
          </a:p>
        </p:txBody>
      </p:sp>
      <p:sp>
        <p:nvSpPr>
          <p:cNvPr id="2" name="矩形 1"/>
          <p:cNvSpPr/>
          <p:nvPr/>
        </p:nvSpPr>
        <p:spPr>
          <a:xfrm>
            <a:off x="4313693" y="360088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2647</Words>
  <Application>Microsoft Macintosh PowerPoint</Application>
  <PresentationFormat>宽屏</PresentationFormat>
  <Paragraphs>231</Paragraphs>
  <Slides>32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楷体_GB2312</vt:lpstr>
      <vt:lpstr>宋体</vt:lpstr>
      <vt:lpstr>微软雅黑</vt:lpstr>
      <vt:lpstr>Arial Unicode MS</vt:lpstr>
      <vt:lpstr>Arial</vt:lpstr>
      <vt:lpstr>Calibri</vt:lpstr>
      <vt:lpstr>Calibri Light</vt:lpstr>
      <vt:lpstr>Symbol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1309</cp:revision>
  <dcterms:created xsi:type="dcterms:W3CDTF">2014-07-02T10:42:00Z</dcterms:created>
  <dcterms:modified xsi:type="dcterms:W3CDTF">2025-09-26T01:15:18Z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2052-11.1.0.10700</vt:lpwstr>
  </property>
  <property fmtid="{D5CDD505-2E9C-101B-9397-08002B2CF9AE}" pid="4" name="ICV">
    <vt:lpwstr>534E12C6160748D2A280F3B1E62BED98</vt:lpwstr>
  </property>
</Properties>
</file>