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6" r:id="rId2"/>
    <p:sldId id="454" r:id="rId3"/>
    <p:sldId id="455" r:id="rId4"/>
    <p:sldId id="457" r:id="rId5"/>
    <p:sldId id="458" r:id="rId6"/>
    <p:sldId id="459" r:id="rId7"/>
    <p:sldId id="460" r:id="rId8"/>
    <p:sldId id="456" r:id="rId9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>
          <p15:clr>
            <a:srgbClr val="A4A3A4"/>
          </p15:clr>
        </p15:guide>
        <p15:guide id="2" orient="horz" pos="2868">
          <p15:clr>
            <a:srgbClr val="A4A3A4"/>
          </p15:clr>
        </p15:guide>
        <p15:guide id="3" orient="horz" pos="1284">
          <p15:clr>
            <a:srgbClr val="A4A3A4"/>
          </p15:clr>
        </p15:guide>
        <p15:guide id="4" pos="3840">
          <p15:clr>
            <a:srgbClr val="A4A3A4"/>
          </p15:clr>
        </p15:guide>
        <p15:guide id="5" pos="12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orient="horz" pos="2907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D0"/>
    <a:srgbClr val="002060"/>
    <a:srgbClr val="009900"/>
    <a:srgbClr val="FF0000"/>
    <a:srgbClr val="1569F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79658" autoAdjust="0"/>
  </p:normalViewPr>
  <p:slideViewPr>
    <p:cSldViewPr snapToGrid="0">
      <p:cViewPr varScale="1">
        <p:scale>
          <a:sx n="87" d="100"/>
          <a:sy n="87" d="100"/>
        </p:scale>
        <p:origin x="1592" y="192"/>
      </p:cViewPr>
      <p:guideLst>
        <p:guide orient="horz" pos="2144"/>
        <p:guide orient="horz" pos="2868"/>
        <p:guide orient="horz" pos="1284"/>
        <p:guide pos="3840"/>
        <p:guide pos="12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39"/>
        <p:guide orient="horz" pos="2907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ClrTx/>
              <a:buSzTx/>
              <a:buFont typeface="Wingdings" panose="05000000000000000000" charset="0"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3.1 SQL</a:t>
            </a:r>
            <a:r>
              <a:rPr lang="zh-CN" altLang="en-US" sz="3200" b="1" dirty="0">
                <a:solidFill>
                  <a:srgbClr val="FF0000"/>
                </a:solidFill>
              </a:rPr>
              <a:t>概述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3.2 </a:t>
            </a:r>
            <a:r>
              <a:rPr lang="zh-CN" altLang="en-US" sz="3200" b="1" dirty="0"/>
              <a:t>数据定义语句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3.3 </a:t>
            </a:r>
            <a:r>
              <a:rPr lang="zh-CN" altLang="en-US" sz="3200" b="1" dirty="0"/>
              <a:t>查询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 </a:t>
            </a:r>
            <a:r>
              <a:rPr lang="en-US" altLang="zh-CN" sz="3200" b="1" dirty="0">
                <a:sym typeface="+mn-ea"/>
              </a:rPr>
              <a:t>3.4 </a:t>
            </a:r>
            <a:r>
              <a:rPr lang="zh-CN" altLang="en-US" sz="3200" b="1" dirty="0"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" name="Rectangle 3"/>
          <p:cNvSpPr/>
          <p:nvPr/>
        </p:nvSpPr>
        <p:spPr>
          <a:xfrm>
            <a:off x="461010" y="941070"/>
            <a:ext cx="11269345" cy="309943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SQL(Structured Query Language)结构化查询语言，197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年Boyce和Chamberlin提出，首先在IBM公司的关系数据库系统System R上实现。</a:t>
            </a:r>
          </a:p>
          <a:p>
            <a:pPr marL="342900" indent="-34290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特点：功能丰富、使用方便、灵活、语言简洁易学，应用系统范围广，统一标准。</a:t>
            </a:r>
          </a:p>
          <a:p>
            <a:pPr marL="342900" indent="-34290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1986年，ANSI数据库委员会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X3H2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批准了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作为数据库语言的美国标准，ISO随后也通过这一标准，使得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成为数据库领域的主流语言。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Rectangle 3"/>
          <p:cNvSpPr/>
          <p:nvPr/>
        </p:nvSpPr>
        <p:spPr>
          <a:xfrm>
            <a:off x="402590" y="3642360"/>
            <a:ext cx="11386820" cy="252158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342900" indent="-34290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有关标准：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SQL/86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SQL/89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SQL/92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SQL99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SQL2003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SQL2006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SQL2008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SQL2011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SQL2016</a:t>
            </a:r>
          </a:p>
          <a:p>
            <a:pPr marL="342900" indent="-34290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现状:大部分DBMS产品都支持SQL，成为数据库的标准语言，是一个通用的、功能极强的关系数据库语言。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Tx/>
              <a:buSzTx/>
              <a:buFont typeface="Wingdings" panose="05000000000000000000" charset="0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/>
      <p:bldP spid="5122" grpId="1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662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6667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语言的特点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4" name="Rectangle 4"/>
          <p:cNvSpPr/>
          <p:nvPr/>
        </p:nvSpPr>
        <p:spPr>
          <a:xfrm>
            <a:off x="702945" y="746760"/>
            <a:ext cx="1084453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l">
              <a:lnSpc>
                <a:spcPct val="115000"/>
              </a:lnSpc>
              <a:spcBef>
                <a:spcPts val="0"/>
              </a:spcBef>
              <a:buClrTx/>
              <a:buSzTx/>
              <a:buFont typeface="Wingdings" panose="05000000000000000000" charset="0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一. 综合统一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ClrTx/>
              <a:buSzTx/>
              <a:buFont typeface="Wingdings" panose="05000000000000000000" charset="0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集数据定义语言DDL、数据操纵语言DML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和数据控制语言DCL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于一体，语言风格统一，可以独立完成数据库生命周期中的全部活动。</a:t>
            </a:r>
          </a:p>
        </p:txBody>
      </p:sp>
      <p:sp>
        <p:nvSpPr>
          <p:cNvPr id="8193" name="Rectangle 2"/>
          <p:cNvSpPr>
            <a:spLocks noGrp="1"/>
          </p:cNvSpPr>
          <p:nvPr/>
        </p:nvSpPr>
        <p:spPr>
          <a:xfrm>
            <a:off x="1127125" y="2201545"/>
            <a:ext cx="5583555" cy="316420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8865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2294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5723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9152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数据定义（DDL）</a:t>
            </a:r>
          </a:p>
          <a:p>
            <a:pPr lvl="1" eaLnBrk="1" latinLnBrk="0" hangingPunct="1">
              <a:lnSpc>
                <a:spcPct val="100000"/>
              </a:lnSpc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定义、删除、修改关系模式</a:t>
            </a:r>
          </a:p>
          <a:p>
            <a:pPr lvl="1" eaLnBrk="1" latinLnBrk="0" hangingPunct="1">
              <a:lnSpc>
                <a:spcPct val="100000"/>
              </a:lnSpc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定义、删除视图（View）</a:t>
            </a:r>
          </a:p>
          <a:p>
            <a:pPr lvl="1" eaLnBrk="1" latinLnBrk="0" hangingPunct="1">
              <a:lnSpc>
                <a:spcPct val="100000"/>
              </a:lnSpc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定义、删除索引（Index）</a:t>
            </a:r>
          </a:p>
          <a:p>
            <a:pPr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数据操纵（DML）</a:t>
            </a:r>
          </a:p>
          <a:p>
            <a:pPr lvl="1"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数据查询</a:t>
            </a:r>
          </a:p>
          <a:p>
            <a:pPr lvl="1"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数据增、删、改</a:t>
            </a:r>
          </a:p>
          <a:p>
            <a:pPr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数据控制（DCL）</a:t>
            </a:r>
          </a:p>
          <a:p>
            <a:pPr lvl="1" eaLnBrk="1" latinLnBrk="0" hangingPunct="1">
              <a:lnSpc>
                <a:spcPct val="100000"/>
              </a:lnSpc>
              <a:buClr>
                <a:srgbClr val="000000"/>
              </a:buClr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用户访问权限的授予、收回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uiExpand="1" build="p"/>
      <p:bldP spid="8193" grpId="0"/>
      <p:bldP spid="819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662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6667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语言的特点</a:t>
            </a:r>
          </a:p>
        </p:txBody>
      </p:sp>
      <p:sp>
        <p:nvSpPr>
          <p:cNvPr id="107525" name="Rectangle 5"/>
          <p:cNvSpPr/>
          <p:nvPr/>
        </p:nvSpPr>
        <p:spPr>
          <a:xfrm>
            <a:off x="703580" y="952500"/>
            <a:ext cx="10784840" cy="472821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0"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二. 高度非过程化</a:t>
            </a:r>
          </a:p>
          <a:p>
            <a:pPr indent="0"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用户只需提出“做什么”，至于“怎么做”由DBMS解决；用户无需了解存取路径，存取路径的选择以及SQL语句的操作过程由系统自动完成。</a:t>
            </a:r>
          </a:p>
          <a:p>
            <a:pPr indent="0"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三. 面向集合的操作方式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每一个SQL的操作对象是一个或多个关系，操作的结果也是关系。</a:t>
            </a:r>
          </a:p>
          <a:p>
            <a:pPr marL="342900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 indent="0"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四. 以同一种语法结构提供两种使用方式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即可独立使用，又可嵌入到高级语言中使用，具有自主型和嵌入型两种特点，且在两种使用方式下，SQL语言的语法结构基本一致。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7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7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245870" y="5662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4737459" y="6667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语言的特点</a:t>
            </a:r>
          </a:p>
        </p:txBody>
      </p:sp>
      <p:sp>
        <p:nvSpPr>
          <p:cNvPr id="10241" name="Text Box 2"/>
          <p:cNvSpPr txBox="1"/>
          <p:nvPr/>
        </p:nvSpPr>
        <p:spPr>
          <a:xfrm>
            <a:off x="697230" y="1078865"/>
            <a:ext cx="8275320" cy="95885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ClrTx/>
              <a:buSzTx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五. 语言简捷、易学易用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核心功能只有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个动词，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语法简单，接近英语。</a:t>
            </a:r>
          </a:p>
        </p:txBody>
      </p:sp>
      <p:graphicFrame>
        <p:nvGraphicFramePr>
          <p:cNvPr id="110595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69465" y="2453005"/>
          <a:ext cx="7590790" cy="2575560"/>
        </p:xfrm>
        <a:graphic>
          <a:graphicData uri="http://schemas.openxmlformats.org/drawingml/2006/table">
            <a:tbl>
              <a:tblPr/>
              <a:tblGrid>
                <a:gridCol w="303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SQL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</a:t>
                      </a: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操作符</a:t>
                      </a: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数据查询</a:t>
                      </a: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SELECT</a:t>
                      </a: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数据定义</a:t>
                      </a: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CREATE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DROP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ALTER</a:t>
                      </a: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数据操纵</a:t>
                      </a: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INSERT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UPDATE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DELETE</a:t>
                      </a: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数据控制</a:t>
                      </a: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GRANT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REVOKE</a:t>
                      </a: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245870" y="5662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4737459" y="6667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3.1.3 SQL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语言的基本概念</a:t>
            </a:r>
          </a:p>
        </p:txBody>
      </p:sp>
      <p:sp>
        <p:nvSpPr>
          <p:cNvPr id="111619" name="Rectangle 3"/>
          <p:cNvSpPr/>
          <p:nvPr/>
        </p:nvSpPr>
        <p:spPr>
          <a:xfrm>
            <a:off x="1229479" y="815856"/>
            <a:ext cx="4754880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支持关系数据库的三级模式结构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1834515" y="1669699"/>
            <a:ext cx="7791450" cy="3541111"/>
            <a:chOff x="384" y="979"/>
            <a:chExt cx="5306" cy="2669"/>
          </a:xfrm>
        </p:grpSpPr>
        <p:sp>
          <p:nvSpPr>
            <p:cNvPr id="11268" name="Rectangle 5" descr="信纸"/>
            <p:cNvSpPr/>
            <p:nvPr/>
          </p:nvSpPr>
          <p:spPr>
            <a:xfrm>
              <a:off x="2208" y="1008"/>
              <a:ext cx="720" cy="288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</a:p>
          </p:txBody>
        </p:sp>
        <p:sp>
          <p:nvSpPr>
            <p:cNvPr id="11269" name="Text Box 6" descr="信纸"/>
            <p:cNvSpPr txBox="1"/>
            <p:nvPr/>
          </p:nvSpPr>
          <p:spPr>
            <a:xfrm>
              <a:off x="4896" y="979"/>
              <a:ext cx="654" cy="3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ctr" anchorCtr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</a:p>
          </p:txBody>
        </p:sp>
        <p:sp>
          <p:nvSpPr>
            <p:cNvPr id="11270" name="Rectangle 7" descr="信纸"/>
            <p:cNvSpPr/>
            <p:nvPr/>
          </p:nvSpPr>
          <p:spPr>
            <a:xfrm>
              <a:off x="480" y="2352"/>
              <a:ext cx="864" cy="33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基本表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271" name="Rectangle 8" descr="信纸"/>
            <p:cNvSpPr/>
            <p:nvPr/>
          </p:nvSpPr>
          <p:spPr>
            <a:xfrm>
              <a:off x="2352" y="1632"/>
              <a:ext cx="720" cy="288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视图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272" name="Rectangle 9" descr="信纸"/>
            <p:cNvSpPr/>
            <p:nvPr/>
          </p:nvSpPr>
          <p:spPr>
            <a:xfrm>
              <a:off x="3600" y="1632"/>
              <a:ext cx="720" cy="288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视图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273" name="Rectangle 10" descr="信纸"/>
            <p:cNvSpPr/>
            <p:nvPr/>
          </p:nvSpPr>
          <p:spPr>
            <a:xfrm>
              <a:off x="1680" y="2352"/>
              <a:ext cx="864" cy="33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基本表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274" name="Rectangle 11" descr="信纸"/>
            <p:cNvSpPr/>
            <p:nvPr/>
          </p:nvSpPr>
          <p:spPr>
            <a:xfrm>
              <a:off x="2832" y="2352"/>
              <a:ext cx="816" cy="33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基本表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</a:p>
            <a:p>
              <a:pPr algn="ctr"/>
              <a:endPara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275" name="Rectangle 12" descr="信纸"/>
            <p:cNvSpPr/>
            <p:nvPr/>
          </p:nvSpPr>
          <p:spPr>
            <a:xfrm>
              <a:off x="3888" y="2352"/>
              <a:ext cx="864" cy="33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基本表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</a:p>
            <a:p>
              <a:pPr algn="ctr"/>
              <a:endPara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276" name="Rectangle 13" descr="信纸"/>
            <p:cNvSpPr/>
            <p:nvPr/>
          </p:nvSpPr>
          <p:spPr>
            <a:xfrm>
              <a:off x="1632" y="3264"/>
              <a:ext cx="1008" cy="384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存储文件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277" name="Rectangle 14" descr="信纸"/>
            <p:cNvSpPr/>
            <p:nvPr/>
          </p:nvSpPr>
          <p:spPr>
            <a:xfrm>
              <a:off x="3840" y="3264"/>
              <a:ext cx="960" cy="33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存储文件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278" name="Line 15" descr="信纸"/>
            <p:cNvSpPr/>
            <p:nvPr/>
          </p:nvSpPr>
          <p:spPr>
            <a:xfrm>
              <a:off x="384" y="2112"/>
              <a:ext cx="4512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1279" name="Line 16" descr="信纸"/>
            <p:cNvSpPr/>
            <p:nvPr/>
          </p:nvSpPr>
          <p:spPr>
            <a:xfrm>
              <a:off x="384" y="2976"/>
              <a:ext cx="4512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cxnSp>
          <p:nvCxnSpPr>
            <p:cNvPr id="11280" name="AutoShape 17" descr="信纸"/>
            <p:cNvCxnSpPr/>
            <p:nvPr/>
          </p:nvCxnSpPr>
          <p:spPr>
            <a:xfrm>
              <a:off x="2544" y="1296"/>
              <a:ext cx="240" cy="320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1" name="AutoShape 18" descr="信纸"/>
            <p:cNvCxnSpPr>
              <a:stCxn id="11268" idx="2"/>
              <a:endCxn id="11270" idx="0"/>
            </p:cNvCxnSpPr>
            <p:nvPr/>
          </p:nvCxnSpPr>
          <p:spPr>
            <a:xfrm flipH="1">
              <a:off x="912" y="1304"/>
              <a:ext cx="1656" cy="1040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2" name="AutoShape 19" descr="信纸"/>
            <p:cNvCxnSpPr>
              <a:stCxn id="11271" idx="2"/>
              <a:endCxn id="11273" idx="0"/>
            </p:cNvCxnSpPr>
            <p:nvPr/>
          </p:nvCxnSpPr>
          <p:spPr>
            <a:xfrm flipH="1">
              <a:off x="2112" y="1928"/>
              <a:ext cx="600" cy="416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3" name="AutoShape 20" descr="信纸"/>
            <p:cNvCxnSpPr>
              <a:stCxn id="11272" idx="2"/>
              <a:endCxn id="11274" idx="0"/>
            </p:cNvCxnSpPr>
            <p:nvPr/>
          </p:nvCxnSpPr>
          <p:spPr>
            <a:xfrm flipH="1">
              <a:off x="3240" y="1928"/>
              <a:ext cx="720" cy="416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4" name="AutoShape 21" descr="信纸"/>
            <p:cNvCxnSpPr>
              <a:stCxn id="11272" idx="2"/>
              <a:endCxn id="11275" idx="0"/>
            </p:cNvCxnSpPr>
            <p:nvPr/>
          </p:nvCxnSpPr>
          <p:spPr>
            <a:xfrm>
              <a:off x="3960" y="1928"/>
              <a:ext cx="360" cy="416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5" name="AutoShape 22" descr="信纸"/>
            <p:cNvCxnSpPr>
              <a:stCxn id="11272" idx="2"/>
              <a:endCxn id="11276" idx="0"/>
            </p:cNvCxnSpPr>
            <p:nvPr/>
          </p:nvCxnSpPr>
          <p:spPr>
            <a:xfrm>
              <a:off x="936" y="2784"/>
              <a:ext cx="1200" cy="472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6" name="AutoShape 23" descr="信纸"/>
            <p:cNvCxnSpPr>
              <a:stCxn id="11273" idx="2"/>
              <a:endCxn id="11276" idx="0"/>
            </p:cNvCxnSpPr>
            <p:nvPr/>
          </p:nvCxnSpPr>
          <p:spPr>
            <a:xfrm>
              <a:off x="2112" y="2696"/>
              <a:ext cx="24" cy="560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7" name="AutoShape 24" descr="信纸"/>
            <p:cNvCxnSpPr>
              <a:stCxn id="11274" idx="2"/>
              <a:endCxn id="11276" idx="0"/>
            </p:cNvCxnSpPr>
            <p:nvPr/>
          </p:nvCxnSpPr>
          <p:spPr>
            <a:xfrm flipH="1">
              <a:off x="2136" y="2696"/>
              <a:ext cx="1104" cy="560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288" name="AutoShape 25" descr="信纸"/>
            <p:cNvCxnSpPr>
              <a:stCxn id="11275" idx="2"/>
              <a:endCxn id="11277" idx="0"/>
            </p:cNvCxnSpPr>
            <p:nvPr/>
          </p:nvCxnSpPr>
          <p:spPr>
            <a:xfrm>
              <a:off x="4320" y="2696"/>
              <a:ext cx="0" cy="560"/>
            </a:xfrm>
            <a:prstGeom prst="straightConnector1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289" name="Text Box 26" descr="信纸"/>
            <p:cNvSpPr txBox="1"/>
            <p:nvPr/>
          </p:nvSpPr>
          <p:spPr>
            <a:xfrm>
              <a:off x="4749" y="1651"/>
              <a:ext cx="893" cy="3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ctr" anchorCtr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外模式</a:t>
              </a:r>
            </a:p>
          </p:txBody>
        </p:sp>
        <p:sp>
          <p:nvSpPr>
            <p:cNvPr id="11290" name="Text Box 27" descr="信纸"/>
            <p:cNvSpPr txBox="1"/>
            <p:nvPr/>
          </p:nvSpPr>
          <p:spPr>
            <a:xfrm>
              <a:off x="4922" y="2371"/>
              <a:ext cx="645" cy="3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ctr" anchorCtr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</a:p>
          </p:txBody>
        </p:sp>
        <p:sp>
          <p:nvSpPr>
            <p:cNvPr id="11291" name="Text Box 28" descr="信纸"/>
            <p:cNvSpPr txBox="1"/>
            <p:nvPr/>
          </p:nvSpPr>
          <p:spPr>
            <a:xfrm>
              <a:off x="4797" y="3235"/>
              <a:ext cx="893" cy="3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ctr" anchorCtr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内模式</a:t>
              </a:r>
            </a:p>
          </p:txBody>
        </p:sp>
        <p:sp>
          <p:nvSpPr>
            <p:cNvPr id="11292" name="Line 29" descr="信纸"/>
            <p:cNvSpPr/>
            <p:nvPr/>
          </p:nvSpPr>
          <p:spPr>
            <a:xfrm>
              <a:off x="384" y="1488"/>
              <a:ext cx="4512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1293" name="Line 30"/>
            <p:cNvSpPr/>
            <p:nvPr/>
          </p:nvSpPr>
          <p:spPr>
            <a:xfrm>
              <a:off x="2544" y="1296"/>
              <a:ext cx="1200" cy="336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语言的特点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语言的基本概念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823a5b7-0307-4565-9583-f9399a5b89ba}"/>
  <p:tag name="TABLE_ENDDRAG_ORIGIN_RECT" val="597*249"/>
  <p:tag name="TABLE_ENDDRAG_RECT" val="162*193*597*24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Macintosh PowerPoint</Application>
  <PresentationFormat>宽屏</PresentationFormat>
  <Paragraphs>87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楷体_GB2312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1292</cp:revision>
  <dcterms:created xsi:type="dcterms:W3CDTF">2014-07-02T10:42:00Z</dcterms:created>
  <dcterms:modified xsi:type="dcterms:W3CDTF">2025-09-23T14:17:40Z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534E12C6160748D2A280F3B1E62BED98</vt:lpwstr>
  </property>
</Properties>
</file>