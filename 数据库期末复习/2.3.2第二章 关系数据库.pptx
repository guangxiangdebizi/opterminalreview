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6" r:id="rId2"/>
    <p:sldId id="454" r:id="rId3"/>
    <p:sldId id="521" r:id="rId4"/>
    <p:sldId id="522" r:id="rId5"/>
    <p:sldId id="523" r:id="rId6"/>
    <p:sldId id="524" r:id="rId7"/>
    <p:sldId id="525" r:id="rId8"/>
    <p:sldId id="526" r:id="rId9"/>
    <p:sldId id="527" r:id="rId10"/>
    <p:sldId id="530" r:id="rId11"/>
    <p:sldId id="531" r:id="rId12"/>
    <p:sldId id="532" r:id="rId13"/>
    <p:sldId id="533" r:id="rId14"/>
    <p:sldId id="534" r:id="rId15"/>
    <p:sldId id="535" r:id="rId16"/>
    <p:sldId id="536" r:id="rId17"/>
    <p:sldId id="528" r:id="rId18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orient="horz" pos="2876">
          <p15:clr>
            <a:srgbClr val="A4A3A4"/>
          </p15:clr>
        </p15:guide>
        <p15:guide id="3" orient="horz" pos="1298">
          <p15:clr>
            <a:srgbClr val="A4A3A4"/>
          </p15:clr>
        </p15:guide>
        <p15:guide id="4" pos="3871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924">
          <p15:clr>
            <a:srgbClr val="A4A3A4"/>
          </p15:clr>
        </p15:guide>
        <p15:guide id="4" pos="22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009900"/>
    <a:srgbClr val="FF0000"/>
    <a:srgbClr val="1569F0"/>
    <a:srgbClr val="F79646"/>
    <a:srgbClr val="009AD0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 autoAdjust="0"/>
    <p:restoredTop sz="75699" autoAdjust="0"/>
  </p:normalViewPr>
  <p:slideViewPr>
    <p:cSldViewPr snapToGrid="0">
      <p:cViewPr varScale="1">
        <p:scale>
          <a:sx n="82" d="100"/>
          <a:sy n="82" d="100"/>
        </p:scale>
        <p:origin x="1752" y="176"/>
      </p:cViewPr>
      <p:guideLst>
        <p:guide orient="horz" pos="2205"/>
        <p:guide orient="horz" pos="2876"/>
        <p:guide orient="horz" pos="1298"/>
        <p:guide pos="3871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60"/>
        <p:guide pos="2880"/>
        <p:guide orient="horz" pos="2924"/>
        <p:guide pos="22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2025/9/23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47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4179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87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993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107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683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433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797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610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727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17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277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497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143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116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670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767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476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59934" y="195462"/>
            <a:ext cx="1968290" cy="366871"/>
          </a:xfrm>
          <a:prstGeom prst="rect">
            <a:avLst/>
          </a:prstGeom>
        </p:spPr>
      </p:pic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8" name="图片 7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59934" y="195462"/>
            <a:ext cx="1968290" cy="3668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6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4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5612688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第二章    关系数据库</a:t>
            </a:r>
            <a:endParaRPr lang="en-US" altLang="zh-CN" sz="4000" b="1" dirty="0">
              <a:solidFill>
                <a:srgbClr val="003300"/>
              </a:solidFill>
            </a:endParaRPr>
          </a:p>
          <a:p>
            <a:pPr algn="ctr"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2.1 </a:t>
            </a:r>
            <a:r>
              <a:rPr lang="zh-CN" altLang="en-US" sz="3200" b="1" dirty="0"/>
              <a:t>关系数据模型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2.2 </a:t>
            </a:r>
            <a:r>
              <a:rPr lang="zh-CN" altLang="en-US" sz="3200" b="1" dirty="0"/>
              <a:t>关系的完整性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2.3 </a:t>
            </a:r>
            <a:r>
              <a:rPr lang="zh-CN" altLang="en-US" sz="3200" b="1" dirty="0">
                <a:solidFill>
                  <a:srgbClr val="FF0000"/>
                </a:solidFill>
              </a:rPr>
              <a:t>关系代数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7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1066800"/>
            <a:ext cx="11547764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在关系代数运算中，把几个基本操作经过有限次复合的式子称为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关系代数表达式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。这个表达式的运算结果依然是一个关系。可以用关系代数表达式表示各种数据查询操作。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187450" y="3284538"/>
            <a:ext cx="685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hlink"/>
                </a:solidFill>
                <a:latin typeface="楷体_GB2312" pitchFamily="49" charset="-122"/>
              </a:rPr>
              <a:t>查询语句的关系代数表达式的一般形式：</a:t>
            </a:r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1403350" y="4005263"/>
            <a:ext cx="6096000" cy="1981200"/>
            <a:chOff x="884" y="2523"/>
            <a:chExt cx="3840" cy="1248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932" y="2523"/>
              <a:ext cx="3792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4800" b="1">
                  <a:solidFill>
                    <a:srgbClr val="FF3300"/>
                  </a:solidFill>
                  <a:latin typeface="楷体_GB2312" pitchFamily="49" charset="-122"/>
                </a:rPr>
                <a:t>Π</a:t>
              </a:r>
              <a:r>
                <a:rPr lang="en-US" altLang="zh-CN" sz="4800" b="1">
                  <a:solidFill>
                    <a:srgbClr val="FF3300"/>
                  </a:solidFill>
                </a:rPr>
                <a:t>…</a:t>
              </a:r>
              <a:r>
                <a:rPr lang="en-US" altLang="zh-CN" sz="4800" b="1">
                  <a:solidFill>
                    <a:srgbClr val="FF3300"/>
                  </a:solidFill>
                  <a:latin typeface="楷体_GB2312" pitchFamily="49" charset="-122"/>
                </a:rPr>
                <a:t> (σ</a:t>
              </a:r>
              <a:r>
                <a:rPr lang="en-US" altLang="zh-CN" sz="4800" b="1">
                  <a:solidFill>
                    <a:srgbClr val="FF3300"/>
                  </a:solidFill>
                </a:rPr>
                <a:t>…</a:t>
              </a:r>
              <a:r>
                <a:rPr lang="en-US" altLang="zh-CN" sz="4800" b="1" baseline="-4000">
                  <a:solidFill>
                    <a:srgbClr val="FF3300"/>
                  </a:solidFill>
                  <a:latin typeface="楷体_GB2312" pitchFamily="49" charset="-122"/>
                </a:rPr>
                <a:t> </a:t>
              </a:r>
              <a:r>
                <a:rPr lang="en-US" altLang="zh-CN" sz="4800" b="1">
                  <a:solidFill>
                    <a:srgbClr val="FF3300"/>
                  </a:solidFill>
                  <a:latin typeface="楷体_GB2312" pitchFamily="49" charset="-122"/>
                </a:rPr>
                <a:t>(R×S))</a:t>
              </a:r>
            </a:p>
          </p:txBody>
        </p:sp>
        <p:grpSp>
          <p:nvGrpSpPr>
            <p:cNvPr id="10" name="Group 8"/>
            <p:cNvGrpSpPr>
              <a:grpSpLocks/>
            </p:cNvGrpSpPr>
            <p:nvPr/>
          </p:nvGrpSpPr>
          <p:grpSpPr bwMode="auto">
            <a:xfrm>
              <a:off x="884" y="3147"/>
              <a:ext cx="3792" cy="624"/>
              <a:chOff x="240" y="3456"/>
              <a:chExt cx="3792" cy="624"/>
            </a:xfrm>
          </p:grpSpPr>
          <p:sp>
            <p:nvSpPr>
              <p:cNvPr id="12" name="Rectangle 9"/>
              <p:cNvSpPr>
                <a:spLocks noChangeArrowheads="1"/>
              </p:cNvSpPr>
              <p:nvPr/>
            </p:nvSpPr>
            <p:spPr bwMode="auto">
              <a:xfrm>
                <a:off x="240" y="3456"/>
                <a:ext cx="3792" cy="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zh-CN" sz="4800" b="1">
                    <a:solidFill>
                      <a:srgbClr val="FF3300"/>
                    </a:solidFill>
                    <a:latin typeface="楷体_GB2312" pitchFamily="49" charset="-122"/>
                  </a:rPr>
                  <a:t>Π</a:t>
                </a:r>
                <a:r>
                  <a:rPr lang="en-US" altLang="zh-CN" sz="4800" b="1">
                    <a:solidFill>
                      <a:srgbClr val="FF3300"/>
                    </a:solidFill>
                  </a:rPr>
                  <a:t>…</a:t>
                </a:r>
                <a:r>
                  <a:rPr lang="en-US" altLang="zh-CN" sz="4800" b="1">
                    <a:solidFill>
                      <a:srgbClr val="FF3300"/>
                    </a:solidFill>
                    <a:latin typeface="楷体_GB2312" pitchFamily="49" charset="-122"/>
                  </a:rPr>
                  <a:t> (σ</a:t>
                </a:r>
                <a:r>
                  <a:rPr lang="en-US" altLang="zh-CN" sz="4800" b="1">
                    <a:solidFill>
                      <a:srgbClr val="FF3300"/>
                    </a:solidFill>
                  </a:rPr>
                  <a:t>…</a:t>
                </a:r>
                <a:r>
                  <a:rPr lang="en-US" altLang="zh-CN" sz="4800" b="1" baseline="-4000">
                    <a:solidFill>
                      <a:srgbClr val="FF3300"/>
                    </a:solidFill>
                    <a:latin typeface="楷体_GB2312" pitchFamily="49" charset="-122"/>
                  </a:rPr>
                  <a:t> </a:t>
                </a:r>
                <a:r>
                  <a:rPr lang="en-US" altLang="zh-CN" sz="4800" b="1">
                    <a:solidFill>
                      <a:srgbClr val="FF3300"/>
                    </a:solidFill>
                    <a:latin typeface="楷体_GB2312" pitchFamily="49" charset="-122"/>
                  </a:rPr>
                  <a:t>(R    S))</a:t>
                </a:r>
              </a:p>
            </p:txBody>
          </p:sp>
          <p:sp>
            <p:nvSpPr>
              <p:cNvPr id="13" name="Freeform 10"/>
              <p:cNvSpPr>
                <a:spLocks/>
              </p:cNvSpPr>
              <p:nvPr/>
            </p:nvSpPr>
            <p:spPr bwMode="auto">
              <a:xfrm>
                <a:off x="2640" y="3600"/>
                <a:ext cx="192" cy="240"/>
              </a:xfrm>
              <a:custGeom>
                <a:avLst/>
                <a:gdLst>
                  <a:gd name="T0" fmla="*/ 0 w 336"/>
                  <a:gd name="T1" fmla="*/ 0 h 336"/>
                  <a:gd name="T2" fmla="*/ 0 w 336"/>
                  <a:gd name="T3" fmla="*/ 22 h 336"/>
                  <a:gd name="T4" fmla="*/ 4 w 336"/>
                  <a:gd name="T5" fmla="*/ 0 h 336"/>
                  <a:gd name="T6" fmla="*/ 4 w 336"/>
                  <a:gd name="T7" fmla="*/ 22 h 336"/>
                  <a:gd name="T8" fmla="*/ 0 w 336"/>
                  <a:gd name="T9" fmla="*/ 0 h 3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6"/>
                  <a:gd name="T16" fmla="*/ 0 h 336"/>
                  <a:gd name="T17" fmla="*/ 336 w 336"/>
                  <a:gd name="T18" fmla="*/ 336 h 3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6" h="336">
                    <a:moveTo>
                      <a:pt x="0" y="0"/>
                    </a:moveTo>
                    <a:lnTo>
                      <a:pt x="0" y="336"/>
                    </a:lnTo>
                    <a:lnTo>
                      <a:pt x="336" y="0"/>
                    </a:lnTo>
                    <a:lnTo>
                      <a:pt x="336" y="33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3560" y="3339"/>
              <a:ext cx="240" cy="144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0 h 336"/>
                <a:gd name="T4" fmla="*/ 22 w 336"/>
                <a:gd name="T5" fmla="*/ 0 h 336"/>
                <a:gd name="T6" fmla="*/ 22 w 336"/>
                <a:gd name="T7" fmla="*/ 0 h 336"/>
                <a:gd name="T8" fmla="*/ 0 w 336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336"/>
                <a:gd name="T17" fmla="*/ 336 w 336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0"/>
                  </a:lnTo>
                  <a:lnTo>
                    <a:pt x="336" y="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049330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09600" y="1066800"/>
            <a:ext cx="10557164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用关系代数表达式写查询语句的方法：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确定查询所涉及的关系。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执行笛卡尔积或自然联接操作得到一张大的表。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根据查询条件对大表格执行水平分割（选择操作）或垂直分割（投影操作）。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11188" y="4005263"/>
            <a:ext cx="8058150" cy="1634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800" b="1" dirty="0">
                <a:solidFill>
                  <a:schemeClr val="hlink"/>
                </a:solidFill>
                <a:latin typeface="楷体_GB2312" pitchFamily="49" charset="-122"/>
              </a:rPr>
              <a:t>注：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  （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1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）当查询涉及</a:t>
            </a: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</a:rPr>
              <a:t>“</a:t>
            </a:r>
            <a:r>
              <a:rPr kumimoji="1"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否定</a:t>
            </a: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</a:rPr>
              <a:t>”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时，要用</a:t>
            </a:r>
            <a:r>
              <a:rPr kumimoji="1"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差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操作；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  （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2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）当查询涉及</a:t>
            </a: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</a:rPr>
              <a:t>“</a:t>
            </a:r>
            <a:r>
              <a:rPr kumimoji="1"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全部值</a:t>
            </a:r>
            <a:r>
              <a:rPr kumimoji="1" lang="zh-CN" altLang="en-US" sz="2800" b="1" dirty="0">
                <a:solidFill>
                  <a:schemeClr val="tx2"/>
                </a:solidFill>
                <a:latin typeface="Tahoma" panose="020B0604030504040204" pitchFamily="34" charset="0"/>
              </a:rPr>
              <a:t>”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时，要用</a:t>
            </a:r>
            <a:r>
              <a:rPr kumimoji="1" lang="zh-CN" altLang="en-US" sz="2800" b="1" dirty="0">
                <a:solidFill>
                  <a:srgbClr val="FF3300"/>
                </a:solidFill>
                <a:latin typeface="楷体_GB2312" pitchFamily="49" charset="-122"/>
              </a:rPr>
              <a:t>除法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操作。</a:t>
            </a:r>
          </a:p>
        </p:txBody>
      </p:sp>
    </p:spTree>
    <p:extLst>
      <p:ext uri="{BB962C8B-B14F-4D97-AF65-F5344CB8AC3E}">
        <p14:creationId xmlns:p14="http://schemas.microsoft.com/office/powerpoint/2010/main" val="13995454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0825" y="799669"/>
            <a:ext cx="11627139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电力抢修工程数据库中有三个关系：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抢修工程计划表 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Salvaging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u="sng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,prj_name,start_date,end_date,Prj_status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各属性列含义分别是：工程项目编号、工程项目名称、开始日期、结束日期、是否按期完成。 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配电物资库存记录表 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u="sng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mat_num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,mat_name,speci,warehouse,amount,unit,total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各属性列含义分别是：物资编号、物资名称、规格、仓库名称、库存数量、单价、总金额。 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配电抢修物资领料出库表 </a:t>
            </a:r>
            <a:r>
              <a:rPr lang="en-US" altLang="zh-CN" sz="2400" b="1" dirty="0" err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endParaRPr lang="en-US" altLang="zh-CN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(</a:t>
            </a:r>
            <a:r>
              <a:rPr lang="en-US" altLang="zh-CN" sz="2400" b="1" u="sng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prj_num,mat_num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,amount,get_date,department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各属性列含义分别为：工程项目编号、物资编号、领取数量、领料日期、领料部门。</a:t>
            </a:r>
          </a:p>
        </p:txBody>
      </p:sp>
    </p:spTree>
    <p:extLst>
      <p:ext uri="{BB962C8B-B14F-4D97-AF65-F5344CB8AC3E}">
        <p14:creationId xmlns:p14="http://schemas.microsoft.com/office/powerpoint/2010/main" val="35566317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3" y="869082"/>
            <a:ext cx="813752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Salvaging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的一个实例：</a:t>
            </a:r>
          </a:p>
        </p:txBody>
      </p:sp>
      <p:graphicFrame>
        <p:nvGraphicFramePr>
          <p:cNvPr id="7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0143245"/>
              </p:ext>
            </p:extLst>
          </p:nvPr>
        </p:nvGraphicFramePr>
        <p:xfrm>
          <a:off x="1691697" y="1877145"/>
          <a:ext cx="8569325" cy="3789360"/>
        </p:xfrm>
        <a:graphic>
          <a:graphicData uri="http://schemas.openxmlformats.org/drawingml/2006/table">
            <a:tbl>
              <a:tblPr/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7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Prj_num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Prj_name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Start_date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End_date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Prj_status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20100015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220KV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清经线接地箱及接地线被盗抢修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2010-10-12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2010-10-13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20100016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沙河站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公变出线电缆老化烧毁抢修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2010-11-05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2010-11-05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7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西丽站电缆短路烧毁抢修工程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2011-01-03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2011-01-03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7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西丽站电缆接地抢修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2011-01-03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2011-01-05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7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观澜站光缆抢修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2011-02-10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2011-02-11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7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小径墩低压线被盗抢修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2011-02-15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2011-02-15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7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明珠立交电缆沟盖板破损抢修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2011-03-02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2011-03-05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76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朝阳围公变低压线被盗抢修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2011-03-08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2011-03-10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09587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23850" y="850608"/>
            <a:ext cx="8351838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配电物资库存记录表 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的一个实例： </a:t>
            </a:r>
          </a:p>
        </p:txBody>
      </p:sp>
      <p:graphicFrame>
        <p:nvGraphicFramePr>
          <p:cNvPr id="7" name="Group 1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9684459"/>
              </p:ext>
            </p:extLst>
          </p:nvPr>
        </p:nvGraphicFramePr>
        <p:xfrm>
          <a:off x="395288" y="1692417"/>
          <a:ext cx="10531330" cy="4071074"/>
        </p:xfrm>
        <a:graphic>
          <a:graphicData uri="http://schemas.openxmlformats.org/drawingml/2006/table">
            <a:tbl>
              <a:tblPr/>
              <a:tblGrid>
                <a:gridCol w="1061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7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4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3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7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76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mat_num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mat_name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speci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warehouse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amount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unit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total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护套绝缘电线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BVV-120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220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89.80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19756.00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m002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架空绝缘导线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10KV-150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17.00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510.00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m003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护套绝缘电线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BVV-35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22.80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1824.00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m004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护套绝缘电线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BVV-50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283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32.00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9056.00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m005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护套绝缘电线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BVV-70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5200.00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m006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护套绝缘电线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BVV-150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m007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架空绝缘导线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10KV-120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14.08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1196.80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m009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护套绝缘电线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BVV-16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2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m011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护套绝缘电线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BVV-95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164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58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m012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交联聚乙烯绝缘电缆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YJV22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cs typeface="Times New Roman" pitchFamily="18" charset="0"/>
                        </a:rPr>
                        <a:t>—</a:t>
                      </a: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15KV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4#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45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719.80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32391.00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1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m013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户外真空断路器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ZW12-12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供电局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4#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仓库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13600.00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13600.00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91403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50825" y="722164"/>
            <a:ext cx="856932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配电抢修物资领料出库表 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的一个实例：</a:t>
            </a:r>
          </a:p>
        </p:txBody>
      </p:sp>
      <p:graphicFrame>
        <p:nvGraphicFramePr>
          <p:cNvPr id="7" name="Group 10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2844412"/>
              </p:ext>
            </p:extLst>
          </p:nvPr>
        </p:nvGraphicFramePr>
        <p:xfrm>
          <a:off x="1660667" y="1341290"/>
          <a:ext cx="8424862" cy="5364224"/>
        </p:xfrm>
        <a:graphic>
          <a:graphicData uri="http://schemas.openxmlformats.org/drawingml/2006/table">
            <a:tbl>
              <a:tblPr/>
              <a:tblGrid>
                <a:gridCol w="1671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prj_num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mat_num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amount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get_date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department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20100015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2010-10-12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20100015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m002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2010-10-12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20100016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2010-11-05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20100016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m003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2010-11-05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2011-01-03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2011-01-03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m013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2011-01-03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2011-02-11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m012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2011-02-11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2011-02-15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m004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2011-02-15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2011-03-02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m003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2011-03-02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20110005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m006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2011-03-02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26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20110010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m001   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2011-03-09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工程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部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43827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809051"/>
            <a:ext cx="11637818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2.7】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对于电力抢修工程数据库，用关系代数表达式表达以下每个查询语句。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8933" y="2029548"/>
            <a:ext cx="11280342" cy="201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检索所有规格的</a:t>
            </a:r>
            <a:r>
              <a:rPr lang="zh-CN" altLang="en-US" b="1" dirty="0">
                <a:ea typeface="楷体_GB2312" pitchFamily="49" charset="-122"/>
              </a:rPr>
              <a:t>”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b="1" dirty="0">
                <a:ea typeface="楷体_GB2312" pitchFamily="49" charset="-122"/>
              </a:rPr>
              <a:t>”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的物资编号、库存数量及库存地点。</a:t>
            </a:r>
          </a:p>
          <a:p>
            <a:pPr algn="ctr" eaLnBrk="1" hangingPunct="1"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18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mat_num,warehouse,amount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</a:t>
            </a:r>
            <a:r>
              <a:rPr lang="en-US" altLang="zh-CN" sz="18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mat_name</a:t>
            </a:r>
            <a:r>
              <a:rPr lang="en-US" altLang="zh-CN" sz="1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18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1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1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sz="18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  <a:p>
            <a:pPr eaLnBrk="1" hangingPunct="1">
              <a:buFontTx/>
              <a:buNone/>
            </a:pPr>
            <a:endParaRPr lang="en-US" altLang="zh-CN" sz="24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410" y="3410673"/>
            <a:ext cx="489743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472690" y="3588473"/>
            <a:ext cx="2087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查询结果：</a:t>
            </a:r>
          </a:p>
        </p:txBody>
      </p:sp>
    </p:spTree>
    <p:extLst>
      <p:ext uri="{BB962C8B-B14F-4D97-AF65-F5344CB8AC3E}">
        <p14:creationId xmlns:p14="http://schemas.microsoft.com/office/powerpoint/2010/main" val="41961577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95288" y="1125538"/>
            <a:ext cx="11547330" cy="287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检索规格为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BVV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-120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的护套绝缘电线的物资编号、库存数量及库存地点。</a:t>
            </a: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endParaRPr lang="en-US" altLang="zh-CN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mat_num,warehouse,amount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∧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speci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BVV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-120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84205" y="3716338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查询结果：</a:t>
            </a:r>
          </a:p>
        </p:txBody>
      </p:sp>
      <p:graphicFrame>
        <p:nvGraphicFramePr>
          <p:cNvPr id="8" name="Group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6494140"/>
              </p:ext>
            </p:extLst>
          </p:nvPr>
        </p:nvGraphicFramePr>
        <p:xfrm>
          <a:off x="3512992" y="3789363"/>
          <a:ext cx="5040313" cy="1204912"/>
        </p:xfrm>
        <a:graphic>
          <a:graphicData uri="http://schemas.openxmlformats.org/drawingml/2006/table">
            <a:tbl>
              <a:tblPr/>
              <a:tblGrid>
                <a:gridCol w="1617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Mat_num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Warehouse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amount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M001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供电局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1#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仓库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220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2369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95288" y="1125538"/>
            <a:ext cx="9072562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检索项目号为</a:t>
            </a:r>
            <a:r>
              <a:rPr lang="zh-CN" altLang="en-US" b="1" dirty="0">
                <a:ea typeface="楷体_GB2312" pitchFamily="49" charset="-122"/>
              </a:rPr>
              <a:t>“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20100015</a:t>
            </a:r>
            <a:r>
              <a:rPr lang="en-US" altLang="zh-CN" b="1" dirty="0">
                <a:ea typeface="楷体_GB2312" pitchFamily="49" charset="-122"/>
              </a:rPr>
              <a:t>”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抢修项目所使用的物资名称。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mat_name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σprj_num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20100015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   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或者：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mat_name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  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σprj_num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20100015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0"/>
            <a:ext cx="3270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1000"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10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 rot="10800000">
            <a:off x="6372225" y="1100138"/>
            <a:ext cx="990600" cy="863600"/>
            <a:chOff x="6431" y="11824"/>
            <a:chExt cx="705" cy="367"/>
          </a:xfrm>
        </p:grpSpPr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7"/>
          <p:cNvGrpSpPr>
            <a:grpSpLocks/>
          </p:cNvGrpSpPr>
          <p:nvPr/>
        </p:nvGrpSpPr>
        <p:grpSpPr bwMode="auto">
          <a:xfrm rot="10800000">
            <a:off x="3203575" y="1938338"/>
            <a:ext cx="990600" cy="914400"/>
            <a:chOff x="6431" y="11824"/>
            <a:chExt cx="705" cy="367"/>
          </a:xfrm>
        </p:grpSpPr>
        <p:sp>
          <p:nvSpPr>
            <p:cNvPr id="12" name="AutoShape 8"/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" name="Group 10"/>
          <p:cNvGraphicFramePr>
            <a:graphicFrameLocks/>
          </p:cNvGraphicFramePr>
          <p:nvPr/>
        </p:nvGraphicFramePr>
        <p:xfrm>
          <a:off x="5219700" y="3789363"/>
          <a:ext cx="2516188" cy="1712912"/>
        </p:xfrm>
        <a:graphic>
          <a:graphicData uri="http://schemas.openxmlformats.org/drawingml/2006/table">
            <a:tbl>
              <a:tblPr/>
              <a:tblGrid>
                <a:gridCol w="2516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1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Mat_name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13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护套绝缘电线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架空绝缘导线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042988" y="3789363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</a:rPr>
              <a:t>查询结果：</a:t>
            </a:r>
          </a:p>
        </p:txBody>
      </p:sp>
    </p:spTree>
    <p:extLst>
      <p:ext uri="{BB962C8B-B14F-4D97-AF65-F5344CB8AC3E}">
        <p14:creationId xmlns:p14="http://schemas.microsoft.com/office/powerpoint/2010/main" val="40640038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32507" y="815687"/>
            <a:ext cx="1133302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检索使用了物资名称为</a:t>
            </a:r>
            <a:r>
              <a:rPr lang="zh-CN" altLang="en-US" b="1" dirty="0">
                <a:ea typeface="楷体_GB2312" pitchFamily="49" charset="-122"/>
              </a:rPr>
              <a:t>“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b="1" dirty="0">
                <a:ea typeface="楷体_GB2312" pitchFamily="49" charset="-122"/>
              </a:rPr>
              <a:t>”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的的所有抢修项目编号、名称、物资编号、规格。</a:t>
            </a:r>
          </a:p>
          <a:p>
            <a:pPr eaLnBrk="1" hangingPunct="1">
              <a:buFontTx/>
              <a:buNone/>
            </a:pP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Πprj_num,prj_name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mat_num,speci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  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Salvaging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或：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prj_num,prj_name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mat_num,speci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σmat_name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’’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  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 Salvaging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 rot="10800000">
            <a:off x="10544175" y="1105623"/>
            <a:ext cx="990600" cy="914400"/>
            <a:chOff x="6431" y="11824"/>
            <a:chExt cx="705" cy="367"/>
          </a:xfrm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6"/>
          <p:cNvGrpSpPr>
            <a:grpSpLocks/>
          </p:cNvGrpSpPr>
          <p:nvPr/>
        </p:nvGrpSpPr>
        <p:grpSpPr bwMode="auto">
          <a:xfrm rot="10800000">
            <a:off x="1993765" y="2716701"/>
            <a:ext cx="990600" cy="914400"/>
            <a:chOff x="6431" y="11824"/>
            <a:chExt cx="705" cy="367"/>
          </a:xfrm>
        </p:grpSpPr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9"/>
          <p:cNvGrpSpPr>
            <a:grpSpLocks/>
          </p:cNvGrpSpPr>
          <p:nvPr/>
        </p:nvGrpSpPr>
        <p:grpSpPr bwMode="auto">
          <a:xfrm rot="10800000">
            <a:off x="10994197" y="2337037"/>
            <a:ext cx="990600" cy="914400"/>
            <a:chOff x="6431" y="11824"/>
            <a:chExt cx="705" cy="367"/>
          </a:xfrm>
        </p:grpSpPr>
        <p:sp>
          <p:nvSpPr>
            <p:cNvPr id="14" name="AutoShape 10"/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Group 12"/>
          <p:cNvGrpSpPr>
            <a:grpSpLocks/>
          </p:cNvGrpSpPr>
          <p:nvPr/>
        </p:nvGrpSpPr>
        <p:grpSpPr bwMode="auto">
          <a:xfrm rot="10800000">
            <a:off x="1782268" y="1432603"/>
            <a:ext cx="990600" cy="914400"/>
            <a:chOff x="6431" y="11824"/>
            <a:chExt cx="705" cy="367"/>
          </a:xfrm>
        </p:grpSpPr>
        <p:sp>
          <p:nvSpPr>
            <p:cNvPr id="17" name="AutoShape 13"/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3927475"/>
            <a:ext cx="5689600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468313" y="4508500"/>
            <a:ext cx="237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</a:rPr>
              <a:t>查询结果：</a:t>
            </a:r>
          </a:p>
        </p:txBody>
      </p:sp>
    </p:spTree>
    <p:extLst>
      <p:ext uri="{BB962C8B-B14F-4D97-AF65-F5344CB8AC3E}">
        <p14:creationId xmlns:p14="http://schemas.microsoft.com/office/powerpoint/2010/main" val="21701978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95287" y="1125538"/>
            <a:ext cx="1127024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5.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检索不用护套绝缘电线的的所有抢修项目编号</a:t>
            </a:r>
          </a:p>
          <a:p>
            <a:pPr eaLnBrk="1" hangingPunct="1">
              <a:buFontTx/>
              <a:buNone/>
            </a:pPr>
            <a:endParaRPr lang="zh-CN" altLang="en-US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0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Salvaging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-π</a:t>
            </a:r>
            <a:r>
              <a:rPr lang="en-US" altLang="zh-CN" sz="18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</a:t>
            </a:r>
            <a:r>
              <a:rPr lang="en-US" altLang="zh-CN" sz="18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mat_name</a:t>
            </a:r>
            <a:r>
              <a:rPr lang="en-US" altLang="zh-CN" sz="1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18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1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18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sz="18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   </a:t>
            </a:r>
            <a:r>
              <a:rPr lang="en-US" altLang="zh-CN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  <a:p>
            <a:pPr eaLnBrk="1" hangingPunct="1">
              <a:buFontTx/>
              <a:buNone/>
            </a:pP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查询结果为空集，因为所有的抢修工程都使用了护套绝缘电线。</a:t>
            </a:r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 rot="10800000">
            <a:off x="9937977" y="1589376"/>
            <a:ext cx="990600" cy="914400"/>
            <a:chOff x="6431" y="11824"/>
            <a:chExt cx="705" cy="367"/>
          </a:xfrm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10800000" vert="eaVert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6877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63143" y="1166813"/>
            <a:ext cx="1063293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检索使用了物资编号为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m001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m002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的抢修工程的工程号。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πprj_num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σmat_num=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m001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∨mat_num=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m002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 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853" y="2416897"/>
            <a:ext cx="2359657" cy="396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720667" y="3324947"/>
            <a:ext cx="262591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查询结果：</a:t>
            </a:r>
          </a:p>
        </p:txBody>
      </p:sp>
    </p:spTree>
    <p:extLst>
      <p:ext uri="{BB962C8B-B14F-4D97-AF65-F5344CB8AC3E}">
        <p14:creationId xmlns:p14="http://schemas.microsoft.com/office/powerpoint/2010/main" val="34146890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50825" y="1052513"/>
            <a:ext cx="1126692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7.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检索同时使用了物资编号为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m001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m002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的抢修工程的工程号。</a:t>
            </a:r>
          </a:p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π1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σ1=6∧2=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‘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m001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∧7=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‘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m002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 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Out_stock×Out_stock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  <a:p>
            <a:pPr eaLnBrk="1" hangingPunct="1">
              <a:buFontTx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eaLnBrk="1" hangingPunct="1">
              <a:buFontTx/>
              <a:buNone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这里（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Out_stock×Out_stock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）表示关系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自身相乘的笛卡儿积操作。</a:t>
            </a:r>
          </a:p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查询结果：</a:t>
            </a:r>
          </a:p>
        </p:txBody>
      </p:sp>
      <p:graphicFrame>
        <p:nvGraphicFramePr>
          <p:cNvPr id="7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1987329"/>
              </p:ext>
            </p:extLst>
          </p:nvPr>
        </p:nvGraphicFramePr>
        <p:xfrm>
          <a:off x="3952443" y="3213245"/>
          <a:ext cx="1800225" cy="1258887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02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Prj_num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20100015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395288" y="4724400"/>
            <a:ext cx="83518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Πprj_num, mat_num(out_stock)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400" b="1">
                <a:solidFill>
                  <a:srgbClr val="FF3300"/>
                </a:solidFill>
              </a:rPr>
              <a:t>÷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000" b="1">
                <a:solidFill>
                  <a:srgbClr val="FF3300"/>
                </a:solidFill>
              </a:rPr>
              <a:t>πmat_num</a:t>
            </a:r>
            <a:r>
              <a:rPr lang="zh-CN" altLang="en-US" sz="2000" b="1">
                <a:solidFill>
                  <a:srgbClr val="FF3300"/>
                </a:solidFill>
              </a:rPr>
              <a:t>（</a:t>
            </a:r>
            <a:r>
              <a:rPr lang="en-US" altLang="zh-CN" sz="2000" b="1">
                <a:solidFill>
                  <a:srgbClr val="FF3300"/>
                </a:solidFill>
              </a:rPr>
              <a:t>σmat_num=’m001’∨mat_num=’m002’</a:t>
            </a:r>
            <a:r>
              <a:rPr lang="zh-CN" altLang="en-US" sz="2000" b="1">
                <a:solidFill>
                  <a:srgbClr val="FF3300"/>
                </a:solidFill>
              </a:rPr>
              <a:t>（</a:t>
            </a:r>
            <a:r>
              <a:rPr lang="en-US" altLang="zh-CN" sz="2000" b="1">
                <a:solidFill>
                  <a:srgbClr val="FF3300"/>
                </a:solidFill>
              </a:rPr>
              <a:t>stock</a:t>
            </a:r>
            <a:r>
              <a:rPr lang="zh-CN" altLang="en-US" sz="2000" b="1">
                <a:solidFill>
                  <a:srgbClr val="FF3300"/>
                </a:solidFill>
              </a:rPr>
              <a:t>））</a:t>
            </a:r>
            <a:r>
              <a:rPr lang="zh-CN" altLang="en-US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30069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94434" y="944130"/>
            <a:ext cx="11203132" cy="525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8.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检索被所有的抢修工程都使用了的物资编号及物资名称、规格。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编写这个查询语句的关系代数表达式过程如下：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①抢修工程使用的物资编号情况：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prj_num,mat_num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②全部抢修工程项目编号：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salaving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③被所有的抢修工程都使用了的物资编号：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prj_num,mat_num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÷π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salaving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④从</a:t>
            </a:r>
            <a:r>
              <a:rPr lang="en-US" altLang="zh-CN" sz="2400" b="1" dirty="0" err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mat_num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求物资名称、规格，可以用自然连接和投影操作组合而成：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mat_num,mat_name,spci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Stock    (π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prj_num,mat_num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÷π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salaving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 rot="10800000">
            <a:off x="5073332" y="4449618"/>
            <a:ext cx="990600" cy="914400"/>
            <a:chOff x="6431" y="11824"/>
            <a:chExt cx="705" cy="367"/>
          </a:xfrm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 flipV="1">
              <a:off x="6431" y="11828"/>
              <a:ext cx="70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600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6748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</a:t>
            </a:r>
          </a:p>
        </p:txBody>
      </p:sp>
      <p:sp>
        <p:nvSpPr>
          <p:cNvPr id="3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2.3.3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关系代数运算的应用实例</a:t>
            </a:r>
          </a:p>
        </p:txBody>
      </p:sp>
      <p:cxnSp>
        <p:nvCxnSpPr>
          <p:cNvPr id="33" name="直接连接符 32"/>
          <p:cNvCxnSpPr/>
          <p:nvPr/>
        </p:nvCxnSpPr>
        <p:spPr>
          <a:xfrm rot="5400000">
            <a:off x="40778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33412" y="859271"/>
            <a:ext cx="10925176" cy="583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9.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检索所用物资包含抢修工程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20100016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所用物资的抢修工程号。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①抢修工程使用的物资编号情况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prj_num,mat_num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②抢修工程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20100016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所用物资编号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σprj_num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20100016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③所用物资包含抢修工程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20100016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所用物资的抢修工程号：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prj_num,mat_num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÷π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mat_num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σprj_num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20100016</a:t>
            </a:r>
            <a:r>
              <a:rPr lang="en-US" altLang="zh-CN" sz="2400" b="1" dirty="0">
                <a:solidFill>
                  <a:srgbClr val="FF3300"/>
                </a:solidFill>
                <a:ea typeface="楷体_GB2312" pitchFamily="49" charset="-122"/>
              </a:rPr>
              <a:t>’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 </a:t>
            </a:r>
            <a:r>
              <a:rPr lang="en-US" altLang="zh-CN" sz="24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Out_stock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查询结果：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559" y="4927889"/>
            <a:ext cx="16573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26182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1684</Words>
  <Application>Microsoft Macintosh PowerPoint</Application>
  <PresentationFormat>宽屏</PresentationFormat>
  <Paragraphs>363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楷体_GB2312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1242</cp:revision>
  <dcterms:created xsi:type="dcterms:W3CDTF">2014-07-02T10:42:00Z</dcterms:created>
  <dcterms:modified xsi:type="dcterms:W3CDTF">2025-09-23T14:16:24Z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2052-11.1.0.8894</vt:lpwstr>
  </property>
</Properties>
</file>